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5B5DC5-8B7F-4A72-9821-0AD091E83A9F}" type="datetimeFigureOut">
              <a:rPr lang="en-US" smtClean="0"/>
              <a:t>2/9/2016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13D0A2-3136-43D4-8A71-CBC45B6DF52E}" type="slidenum">
              <a:rPr lang="en-US" smtClean="0"/>
              <a:t>‹#›</a:t>
            </a:fld>
            <a:endParaRPr lang="en-US"/>
          </a:p>
        </p:txBody>
      </p:sp>
    </p:spTree>
    <p:extLst>
      <p:ext uri="{BB962C8B-B14F-4D97-AF65-F5344CB8AC3E}">
        <p14:creationId xmlns:p14="http://schemas.microsoft.com/office/powerpoint/2010/main" val="3941240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664726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3"/>
          <p:cNvSpPr>
            <a:spLocks noGrp="1" noChangeArrowheads="1"/>
          </p:cNvSpPr>
          <p:nvPr>
            <p:ph type="hdr" sz="quarter"/>
          </p:nvPr>
        </p:nvSpPr>
        <p:spPr>
          <a:noFill/>
        </p:spPr>
        <p:txBody>
          <a:bodyPr/>
          <a:lstStyle/>
          <a:p>
            <a:r>
              <a:rPr lang="en-US" dirty="0" smtClean="0">
                <a:solidFill>
                  <a:prstClr val="black"/>
                </a:solidFill>
              </a:rPr>
              <a:t>Microsoft </a:t>
            </a:r>
            <a:r>
              <a:rPr lang="en-US" b="1" dirty="0" smtClean="0">
                <a:solidFill>
                  <a:prstClr val="black"/>
                </a:solidFill>
              </a:rPr>
              <a:t>Engineering Excellence</a:t>
            </a:r>
            <a:endParaRPr lang="en-US" dirty="0" smtClean="0">
              <a:solidFill>
                <a:prstClr val="black"/>
              </a:solidFill>
            </a:endParaRPr>
          </a:p>
        </p:txBody>
      </p:sp>
      <p:sp>
        <p:nvSpPr>
          <p:cNvPr id="43011" name="Rectangle 25"/>
          <p:cNvSpPr>
            <a:spLocks noGrp="1" noChangeArrowheads="1"/>
          </p:cNvSpPr>
          <p:nvPr>
            <p:ph type="ftr" sz="quarter" idx="4"/>
          </p:nvPr>
        </p:nvSpPr>
        <p:spPr>
          <a:noFill/>
        </p:spPr>
        <p:txBody>
          <a:bodyPr/>
          <a:lstStyle/>
          <a:p>
            <a:r>
              <a:rPr lang="en-US" dirty="0" smtClean="0">
                <a:solidFill>
                  <a:prstClr val="black"/>
                </a:solidFill>
              </a:rPr>
              <a:t>Microsoft Confidential</a:t>
            </a:r>
          </a:p>
        </p:txBody>
      </p:sp>
      <p:sp>
        <p:nvSpPr>
          <p:cNvPr id="43012" name="Rectangle 26"/>
          <p:cNvSpPr>
            <a:spLocks noGrp="1" noChangeArrowheads="1"/>
          </p:cNvSpPr>
          <p:nvPr>
            <p:ph type="sldNum" sz="quarter" idx="5"/>
          </p:nvPr>
        </p:nvSpPr>
        <p:spPr>
          <a:noFill/>
        </p:spPr>
        <p:txBody>
          <a:bodyPr/>
          <a:lstStyle/>
          <a:p>
            <a:fld id="{B5FF76F4-FC11-42FE-9D94-04E3E6D16C06}" type="slidenum">
              <a:rPr lang="en-US" smtClean="0">
                <a:solidFill>
                  <a:prstClr val="black"/>
                </a:solidFill>
              </a:rPr>
              <a:pPr/>
              <a:t>35</a:t>
            </a:fld>
            <a:endParaRPr lang="en-US" dirty="0" smtClean="0">
              <a:solidFill>
                <a:prstClr val="black"/>
              </a:solidFill>
            </a:endParaRPr>
          </a:p>
        </p:txBody>
      </p:sp>
      <p:sp>
        <p:nvSpPr>
          <p:cNvPr id="43013" name="Rectangle 2"/>
          <p:cNvSpPr>
            <a:spLocks noGrp="1" noRot="1" noChangeAspect="1" noChangeArrowheads="1" noTextEdit="1"/>
          </p:cNvSpPr>
          <p:nvPr>
            <p:ph type="sldImg"/>
          </p:nvPr>
        </p:nvSpPr>
        <p:spPr>
          <a:xfrm>
            <a:off x="381000" y="450850"/>
            <a:ext cx="6096000" cy="3429000"/>
          </a:xfrm>
          <a:ln/>
        </p:spPr>
      </p:sp>
      <p:sp>
        <p:nvSpPr>
          <p:cNvPr id="43014" name="Rectangle 3"/>
          <p:cNvSpPr>
            <a:spLocks noGrp="1" noChangeArrowheads="1"/>
          </p:cNvSpPr>
          <p:nvPr>
            <p:ph type="body" idx="1"/>
          </p:nvPr>
        </p:nvSpPr>
        <p:spPr>
          <a:xfrm>
            <a:off x="307492" y="4130103"/>
            <a:ext cx="6261652" cy="4603230"/>
          </a:xfrm>
          <a:noFill/>
          <a:ln/>
        </p:spPr>
        <p:txBody>
          <a:bodyPr/>
          <a:lstStyle/>
          <a:p>
            <a:pPr>
              <a:buFontTx/>
              <a:buNone/>
            </a:pPr>
            <a:endParaRPr lang="en-US" dirty="0" smtClean="0"/>
          </a:p>
          <a:p>
            <a:endParaRPr lang="en-US" dirty="0" smtClean="0"/>
          </a:p>
          <a:p>
            <a:endParaRPr lang="en-US" dirty="0" smtClean="0"/>
          </a:p>
          <a:p>
            <a:endParaRPr lang="en-US" dirty="0" smtClean="0"/>
          </a:p>
        </p:txBody>
      </p:sp>
    </p:spTree>
    <p:extLst>
      <p:ext uri="{BB962C8B-B14F-4D97-AF65-F5344CB8AC3E}">
        <p14:creationId xmlns:p14="http://schemas.microsoft.com/office/powerpoint/2010/main" val="3761005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2/9/2016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2/9/2016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sp>
        <p:nvSpPr>
          <p:cNvPr id="2" name="Title 1"/>
          <p:cNvSpPr>
            <a:spLocks noGrp="1"/>
          </p:cNvSpPr>
          <p:nvPr>
            <p:ph type="ctrTitle" hasCustomPrompt="1"/>
          </p:nvPr>
        </p:nvSpPr>
        <p:spPr>
          <a:xfrm>
            <a:off x="2590801" y="2286002"/>
            <a:ext cx="6180224" cy="1470025"/>
          </a:xfrm>
        </p:spPr>
        <p:txBody>
          <a:bodyPr anchor="t"/>
          <a:lstStyle>
            <a:lvl1pPr algn="r">
              <a:defRPr b="1" cap="small" baseline="0">
                <a:solidFill>
                  <a:srgbClr val="003300"/>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962401" y="40386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251"/>
            <a:ext cx="3721618" cy="6858000"/>
          </a:xfrm>
          <a:prstGeom prst="rect">
            <a:avLst/>
          </a:prstGeom>
        </p:spPr>
      </p:pic>
      <p:sp>
        <p:nvSpPr>
          <p:cNvPr id="10" name="Picture Placeholder 9"/>
          <p:cNvSpPr>
            <a:spLocks noGrp="1"/>
          </p:cNvSpPr>
          <p:nvPr>
            <p:ph type="pic" sz="quarter" idx="13" hasCustomPrompt="1"/>
          </p:nvPr>
        </p:nvSpPr>
        <p:spPr>
          <a:xfrm>
            <a:off x="6858000" y="5105400"/>
            <a:ext cx="1828800" cy="990600"/>
          </a:xfrm>
        </p:spPr>
        <p:txBody>
          <a:bodyPr>
            <a:normAutofit/>
          </a:bodyPr>
          <a:lstStyle>
            <a:lvl1pPr marL="0" indent="0" algn="ctr">
              <a:buNone/>
              <a:defRPr sz="2000" baseline="0"/>
            </a:lvl1pPr>
          </a:lstStyle>
          <a:p>
            <a:r>
              <a:rPr lang="en-US" dirty="0" smtClean="0"/>
              <a:t>Company Logo</a:t>
            </a:r>
            <a:endParaRPr lang="en-US" dirty="0"/>
          </a:p>
        </p:txBody>
      </p:sp>
    </p:spTree>
    <p:extLst>
      <p:ext uri="{BB962C8B-B14F-4D97-AF65-F5344CB8AC3E}">
        <p14:creationId xmlns:p14="http://schemas.microsoft.com/office/powerpoint/2010/main" val="9973392"/>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5400000">
            <a:off x="3161049" y="-3176815"/>
            <a:ext cx="2819400" cy="9173031"/>
          </a:xfrm>
          <a:prstGeom prst="rect">
            <a:avLst/>
          </a:prstGeom>
        </p:spPr>
      </p:pic>
      <p:sp>
        <p:nvSpPr>
          <p:cNvPr id="2" name="Title 1"/>
          <p:cNvSpPr>
            <a:spLocks noGrp="1"/>
          </p:cNvSpPr>
          <p:nvPr>
            <p:ph type="title" hasCustomPrompt="1"/>
          </p:nvPr>
        </p:nvSpPr>
        <p:spPr>
          <a:xfrm>
            <a:off x="4572000" y="3048000"/>
            <a:ext cx="4343400" cy="1362075"/>
          </a:xfrm>
        </p:spPr>
        <p:txBody>
          <a:bodyPr anchor="b" anchorCtr="0">
            <a:normAutofit/>
          </a:bodyPr>
          <a:lstStyle>
            <a:lvl1pPr algn="ctr">
              <a:defRPr sz="3600" b="1" cap="small" baseline="0">
                <a:solidFill>
                  <a:srgbClr val="0AA1C5"/>
                </a:solidFill>
                <a:latin typeface="Segoe UI" panose="020B0502040204020203" pitchFamily="34" charset="0"/>
                <a:cs typeface="Segoe UI" panose="020B0502040204020203" pitchFamily="34" charset="0"/>
              </a:defRPr>
            </a:lvl1pPr>
          </a:lstStyle>
          <a:p>
            <a:r>
              <a:rPr lang="en-US" dirty="0" smtClean="0"/>
              <a:t>Click to edit master title style</a:t>
            </a:r>
            <a:endParaRPr lang="en-US" dirty="0"/>
          </a:p>
        </p:txBody>
      </p:sp>
      <p:sp>
        <p:nvSpPr>
          <p:cNvPr id="4" name="Date Placeholder 3"/>
          <p:cNvSpPr>
            <a:spLocks noGrp="1"/>
          </p:cNvSpPr>
          <p:nvPr>
            <p:ph type="dt" sz="half" idx="10"/>
          </p:nvPr>
        </p:nvSpPr>
        <p:spPr/>
        <p:txBody>
          <a:bodyPr/>
          <a:lstStyle/>
          <a:p>
            <a:fld id="{757B281C-5159-4971-8228-52B9A72E9ED2}" type="datetimeFigureOut">
              <a:rPr lang="en-US" smtClean="0">
                <a:solidFill>
                  <a:prstClr val="black">
                    <a:tint val="75000"/>
                  </a:prstClr>
                </a:solidFill>
              </a:rPr>
              <a:pPr/>
              <a:t>2/9/2016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
        <p:nvSpPr>
          <p:cNvPr id="10" name="Picture Placeholder 9"/>
          <p:cNvSpPr>
            <a:spLocks noGrp="1"/>
          </p:cNvSpPr>
          <p:nvPr>
            <p:ph type="pic" sz="quarter" idx="13" hasCustomPrompt="1"/>
          </p:nvPr>
        </p:nvSpPr>
        <p:spPr>
          <a:xfrm>
            <a:off x="6781800" y="5334000"/>
            <a:ext cx="2133600" cy="990600"/>
          </a:xfrm>
        </p:spPr>
        <p:txBody>
          <a:bodyPr>
            <a:normAutofit/>
          </a:bodyPr>
          <a:lstStyle>
            <a:lvl1pPr marL="0" indent="0" algn="ctr">
              <a:buNone/>
              <a:defRPr sz="1800"/>
            </a:lvl1pPr>
          </a:lstStyle>
          <a:p>
            <a:r>
              <a:rPr lang="en-US" dirty="0" smtClean="0"/>
              <a:t>Company Logo</a:t>
            </a:r>
            <a:endParaRPr lang="en-US" dirty="0"/>
          </a:p>
        </p:txBody>
      </p:sp>
      <p:sp>
        <p:nvSpPr>
          <p:cNvPr id="3" name="TextBox 2"/>
          <p:cNvSpPr txBox="1"/>
          <p:nvPr userDrawn="1"/>
        </p:nvSpPr>
        <p:spPr>
          <a:xfrm>
            <a:off x="4800600" y="959825"/>
            <a:ext cx="3505200" cy="584775"/>
          </a:xfrm>
          <a:prstGeom prst="rect">
            <a:avLst/>
          </a:prstGeom>
          <a:noFill/>
        </p:spPr>
        <p:txBody>
          <a:bodyPr wrap="square" rtlCol="0" anchor="ctr">
            <a:spAutoFit/>
          </a:bodyPr>
          <a:lstStyle/>
          <a:p>
            <a:pPr algn="ctr"/>
            <a:r>
              <a:rPr lang="en-US" sz="3200" b="1" dirty="0" smtClean="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Module # 11</a:t>
            </a:r>
            <a:endParaRPr lang="en-US" sz="3200" b="1" dirty="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693719027"/>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152402"/>
            <a:ext cx="8382000" cy="864207"/>
          </a:xfrm>
          <a:noFill/>
        </p:spPr>
        <p:txBody>
          <a:bodyPr lIns="182880" anchor="ctr" anchorCtr="0">
            <a:normAutofit/>
          </a:bodyPr>
          <a:lstStyle>
            <a:lvl1pPr algn="l">
              <a:defRPr lang="en-US" sz="3600" b="1" dirty="0">
                <a:solidFill>
                  <a:srgbClr val="0AA1C5"/>
                </a:solidFill>
                <a:effectLst/>
                <a:latin typeface="Segoe UI" panose="020B0502040204020203" pitchFamily="34" charset="0"/>
                <a:cs typeface="Segoe UI" panose="020B0502040204020203"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609600" y="1169009"/>
            <a:ext cx="8382000" cy="5536592"/>
          </a:xfrm>
        </p:spPr>
        <p:txBody>
          <a:bodyPr tIns="91440" rIns="365760" bIns="91440">
            <a:normAutofit/>
          </a:bodyPr>
          <a:lstStyle>
            <a:lvl1pPr marL="457200" indent="-457200" algn="just">
              <a:buFont typeface="Wingdings" panose="05000000000000000000" pitchFamily="2" charset="2"/>
              <a:buChar char="q"/>
              <a:defRPr sz="2400">
                <a:solidFill>
                  <a:srgbClr val="0070C0"/>
                </a:solidFill>
                <a:latin typeface="Segoe UI" panose="020B0502040204020203" pitchFamily="34" charset="0"/>
                <a:cs typeface="Segoe UI" panose="020B0502040204020203" pitchFamily="34" charset="0"/>
              </a:defRPr>
            </a:lvl1pPr>
            <a:lvl2pPr marL="806450" indent="-349250" algn="just">
              <a:buFont typeface="Wingdings" panose="05000000000000000000" pitchFamily="2" charset="2"/>
              <a:buChar char="q"/>
              <a:defRPr sz="2000">
                <a:solidFill>
                  <a:srgbClr val="0070C0"/>
                </a:solidFill>
                <a:latin typeface="Segoe UI" panose="020B0502040204020203" pitchFamily="34" charset="0"/>
                <a:cs typeface="Segoe UI" panose="020B0502040204020203" pitchFamily="34" charset="0"/>
              </a:defRPr>
            </a:lvl2pPr>
            <a:lvl3pPr marL="1263650" indent="-349250" algn="just">
              <a:buFont typeface="Wingdings" panose="05000000000000000000" pitchFamily="2" charset="2"/>
              <a:buChar char="q"/>
              <a:defRPr sz="1800">
                <a:solidFill>
                  <a:srgbClr val="0070C0"/>
                </a:solidFill>
                <a:latin typeface="Segoe UI" panose="020B0502040204020203" pitchFamily="34" charset="0"/>
                <a:cs typeface="Segoe UI" panose="020B0502040204020203" pitchFamily="34" charset="0"/>
              </a:defRPr>
            </a:lvl3pPr>
            <a:lvl4pPr marL="1720850" indent="-349250" algn="just">
              <a:buFont typeface="Wingdings" panose="05000000000000000000" pitchFamily="2" charset="2"/>
              <a:buChar char="q"/>
              <a:defRPr sz="1600">
                <a:solidFill>
                  <a:srgbClr val="0070C0"/>
                </a:solidFill>
                <a:latin typeface="Segoe UI" panose="020B0502040204020203" pitchFamily="34" charset="0"/>
                <a:cs typeface="Segoe UI" panose="020B0502040204020203" pitchFamily="34" charset="0"/>
              </a:defRPr>
            </a:lvl4pPr>
            <a:lvl5pPr marL="2057400" indent="-228600" algn="just">
              <a:buFont typeface="Wingdings" panose="05000000000000000000" pitchFamily="2" charset="2"/>
              <a:buChar char="q"/>
              <a:defRPr sz="1400">
                <a:solidFill>
                  <a:srgbClr val="0070C0"/>
                </a:solidFill>
                <a:latin typeface="Segoe UI" panose="020B0502040204020203" pitchFamily="34" charset="0"/>
                <a:cs typeface="Segoe UI" panose="020B0502040204020203"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6" name="Straight Connector 5"/>
          <p:cNvCxnSpPr/>
          <p:nvPr userDrawn="1"/>
        </p:nvCxnSpPr>
        <p:spPr>
          <a:xfrm>
            <a:off x="548640" y="990600"/>
            <a:ext cx="7680960" cy="0"/>
          </a:xfrm>
          <a:prstGeom prst="line">
            <a:avLst/>
          </a:prstGeom>
          <a:ln w="69850">
            <a:solidFill>
              <a:srgbClr val="0AA1C5"/>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72401" y="0"/>
            <a:ext cx="1449845" cy="1280160"/>
          </a:xfrm>
          <a:prstGeom prst="rect">
            <a:avLst/>
          </a:prstGeom>
        </p:spPr>
      </p:pic>
    </p:spTree>
    <p:extLst>
      <p:ext uri="{BB962C8B-B14F-4D97-AF65-F5344CB8AC3E}">
        <p14:creationId xmlns:p14="http://schemas.microsoft.com/office/powerpoint/2010/main" val="25214296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768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57B281C-5159-4971-8228-52B9A72E9ED2}" type="datetimeFigureOut">
              <a:rPr lang="en-US" smtClean="0">
                <a:solidFill>
                  <a:prstClr val="black">
                    <a:tint val="75000"/>
                  </a:prstClr>
                </a:solidFill>
              </a:rPr>
              <a:pPr/>
              <a:t>2/9/2016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014952331"/>
      </p:ext>
    </p:extLst>
  </p:cSld>
  <p:clrMapOvr>
    <a:masterClrMapping/>
  </p:clrMapOvr>
  <p:transition spd="slow">
    <p:wipe dir="d"/>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858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8736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8736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57B281C-5159-4971-8228-52B9A72E9ED2}" type="datetimeFigureOut">
              <a:rPr lang="en-US" smtClean="0">
                <a:solidFill>
                  <a:prstClr val="black">
                    <a:tint val="75000"/>
                  </a:prstClr>
                </a:solidFill>
              </a:rPr>
              <a:pPr/>
              <a:t>2/9/2016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663890704"/>
      </p:ext>
    </p:extLst>
  </p:cSld>
  <p:clrMapOvr>
    <a:masterClrMapping/>
  </p:clrMapOvr>
  <p:transition spd="slow">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036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858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solidFill>
                  <a:prstClr val="black">
                    <a:tint val="75000"/>
                  </a:prstClr>
                </a:solidFill>
              </a:rPr>
              <a:pPr/>
              <a:t>2/9/2016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443817464"/>
      </p:ext>
    </p:extLst>
  </p:cSld>
  <p:clrMapOvr>
    <a:masterClrMapping/>
  </p:clrMapOvr>
  <p:transition spd="slow">
    <p:wipe dir="d"/>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solidFill>
                  <a:prstClr val="black">
                    <a:tint val="75000"/>
                  </a:prstClr>
                </a:solidFill>
              </a:rPr>
              <a:pPr/>
              <a:t>2/9/2016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655500601"/>
      </p:ext>
    </p:extLst>
  </p:cSld>
  <p:clrMapOvr>
    <a:masterClrMapping/>
  </p:clrMapOvr>
  <p:transition spd="slow">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7B281C-5159-4971-8228-52B9A72E9ED2}" type="datetimeFigureOut">
              <a:rPr lang="en-US" smtClean="0">
                <a:solidFill>
                  <a:prstClr val="black">
                    <a:tint val="75000"/>
                  </a:prstClr>
                </a:solidFill>
              </a:rPr>
              <a:pPr/>
              <a:t>2/9/2016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99555157"/>
      </p:ext>
    </p:extLst>
  </p:cSld>
  <p:clrMapOvr>
    <a:masterClrMapping/>
  </p:clrMapOvr>
  <p:transition spd="slow">
    <p:wipe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274640"/>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274640"/>
            <a:ext cx="5867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7B281C-5159-4971-8228-52B9A72E9ED2}" type="datetimeFigureOut">
              <a:rPr lang="en-US" smtClean="0">
                <a:solidFill>
                  <a:prstClr val="black">
                    <a:tint val="75000"/>
                  </a:prstClr>
                </a:solidFill>
              </a:rPr>
              <a:pPr/>
              <a:t>2/9/2016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397257825"/>
      </p:ext>
    </p:extLst>
  </p:cSld>
  <p:clrMapOvr>
    <a:masterClrMapping/>
  </p:clrMapOvr>
  <p:transition spd="slow">
    <p:wipe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7B281C-5159-4971-8228-52B9A72E9ED2}" type="datetimeFigureOut">
              <a:rPr lang="en-US" smtClean="0">
                <a:solidFill>
                  <a:prstClr val="black">
                    <a:tint val="75000"/>
                  </a:prstClr>
                </a:solidFill>
              </a:rPr>
              <a:pPr/>
              <a:t>2/9/2016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34326389"/>
      </p:ext>
    </p:extLst>
  </p:cSld>
  <p:clrMapOvr>
    <a:masterClrMapping/>
  </p:clrMapOvr>
  <p:transition spd="slow">
    <p:wipe dir="d"/>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B281C-5159-4971-8228-52B9A72E9ED2}" type="datetimeFigureOut">
              <a:rPr lang="en-US" smtClean="0">
                <a:solidFill>
                  <a:prstClr val="black">
                    <a:tint val="75000"/>
                  </a:prstClr>
                </a:solidFill>
              </a:rPr>
              <a:pPr/>
              <a:t>2/9/2016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073999817"/>
      </p:ext>
    </p:extLst>
  </p:cSld>
  <p:clrMapOvr>
    <a:masterClrMapping/>
  </p:clrMapOvr>
  <p:transition spd="slow">
    <p:wipe dir="d"/>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ackground Only">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sp>
        <p:nvSpPr>
          <p:cNvPr id="3" name="Date Placeholder 3"/>
          <p:cNvSpPr>
            <a:spLocks noGrp="1"/>
          </p:cNvSpPr>
          <p:nvPr>
            <p:ph type="dt" sz="half" idx="10"/>
          </p:nvPr>
        </p:nvSpPr>
        <p:spPr>
          <a:xfrm>
            <a:off x="762000" y="6356352"/>
            <a:ext cx="2133600" cy="365125"/>
          </a:xfrm>
        </p:spPr>
        <p:txBody>
          <a:bodyPr/>
          <a:lstStyle/>
          <a:p>
            <a:fld id="{757B281C-5159-4971-8228-52B9A72E9ED2}" type="datetimeFigureOut">
              <a:rPr lang="en-US" smtClean="0">
                <a:solidFill>
                  <a:prstClr val="black">
                    <a:tint val="75000"/>
                  </a:prstClr>
                </a:solidFill>
              </a:rPr>
              <a:pPr/>
              <a:t>2/9/2016</a:t>
            </a:fld>
            <a:endParaRPr lang="en-US" dirty="0">
              <a:solidFill>
                <a:prstClr val="black">
                  <a:tint val="75000"/>
                </a:prstClr>
              </a:solidFill>
            </a:endParaRPr>
          </a:p>
        </p:txBody>
      </p:sp>
      <p:sp>
        <p:nvSpPr>
          <p:cNvPr id="4" name="Footer Placeholder 4"/>
          <p:cNvSpPr>
            <a:spLocks noGrp="1"/>
          </p:cNvSpPr>
          <p:nvPr>
            <p:ph type="ftr" sz="quarter" idx="11"/>
          </p:nvPr>
        </p:nvSpPr>
        <p:spPr>
          <a:xfrm>
            <a:off x="3352800" y="6356352"/>
            <a:ext cx="2895600" cy="365125"/>
          </a:xfrm>
        </p:spPr>
        <p:txBody>
          <a:bodyPr/>
          <a:lstStyle/>
          <a:p>
            <a:endParaRPr lang="en-US" dirty="0">
              <a:solidFill>
                <a:prstClr val="black">
                  <a:tint val="75000"/>
                </a:prstClr>
              </a:solidFill>
            </a:endParaRPr>
          </a:p>
        </p:txBody>
      </p:sp>
      <p:sp>
        <p:nvSpPr>
          <p:cNvPr id="5" name="Slide Number Placeholder 5"/>
          <p:cNvSpPr>
            <a:spLocks noGrp="1"/>
          </p:cNvSpPr>
          <p:nvPr>
            <p:ph type="sldNum" sz="quarter" idx="12"/>
          </p:nvPr>
        </p:nvSpPr>
        <p:spPr>
          <a:xfrm>
            <a:off x="6705600" y="6356352"/>
            <a:ext cx="2133600" cy="365125"/>
          </a:xfrm>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965559064"/>
      </p:ext>
    </p:extLst>
  </p:cSld>
  <p:clrMapOvr>
    <a:masterClrMapping/>
  </p:clrMapOvr>
  <p:transition spd="slow">
    <p:wipe dir="d"/>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sp>
        <p:nvSpPr>
          <p:cNvPr id="2" name="Title 1"/>
          <p:cNvSpPr>
            <a:spLocks noGrp="1"/>
          </p:cNvSpPr>
          <p:nvPr>
            <p:ph type="ctrTitle" hasCustomPrompt="1"/>
          </p:nvPr>
        </p:nvSpPr>
        <p:spPr>
          <a:xfrm>
            <a:off x="2532292" y="1969862"/>
            <a:ext cx="6180224" cy="1470025"/>
          </a:xfrm>
        </p:spPr>
        <p:txBody>
          <a:bodyPr anchor="t"/>
          <a:lstStyle>
            <a:lvl1pPr algn="r">
              <a:defRPr b="1" cap="small" baseline="0">
                <a:solidFill>
                  <a:srgbClr val="465F46"/>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4191000" y="57150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1251"/>
            <a:ext cx="2457450" cy="6858000"/>
          </a:xfrm>
          <a:prstGeom prst="rect">
            <a:avLst/>
          </a:prstGeom>
        </p:spPr>
      </p:pic>
    </p:spTree>
    <p:extLst>
      <p:ext uri="{BB962C8B-B14F-4D97-AF65-F5344CB8AC3E}">
        <p14:creationId xmlns:p14="http://schemas.microsoft.com/office/powerpoint/2010/main" val="4003274429"/>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2/9/2016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sp>
        <p:nvSpPr>
          <p:cNvPr id="2" name="Title Placeholder 1"/>
          <p:cNvSpPr>
            <a:spLocks noGrp="1"/>
          </p:cNvSpPr>
          <p:nvPr>
            <p:ph type="title"/>
          </p:nvPr>
        </p:nvSpPr>
        <p:spPr>
          <a:xfrm>
            <a:off x="762000" y="274638"/>
            <a:ext cx="80772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2000" y="1600202"/>
            <a:ext cx="80772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20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7B281C-5159-4971-8228-52B9A72E9ED2}" type="datetimeFigureOut">
              <a:rPr lang="en-US" smtClean="0">
                <a:solidFill>
                  <a:prstClr val="black">
                    <a:tint val="75000"/>
                  </a:prstClr>
                </a:solidFill>
              </a:rPr>
              <a:pPr/>
              <a:t>2/9/2016</a:t>
            </a:fld>
            <a:endParaRPr lang="en-US" dirty="0">
              <a:solidFill>
                <a:prstClr val="black">
                  <a:tint val="75000"/>
                </a:prstClr>
              </a:solidFill>
            </a:endParaRPr>
          </a:p>
        </p:txBody>
      </p:sp>
      <p:sp>
        <p:nvSpPr>
          <p:cNvPr id="5" name="Footer Placeholder 4"/>
          <p:cNvSpPr>
            <a:spLocks noGrp="1"/>
          </p:cNvSpPr>
          <p:nvPr>
            <p:ph type="ftr" sz="quarter" idx="3"/>
          </p:nvPr>
        </p:nvSpPr>
        <p:spPr>
          <a:xfrm>
            <a:off x="33528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7056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pic>
        <p:nvPicPr>
          <p:cNvPr id="8" name="Picture 7"/>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152399" y="-109183"/>
            <a:ext cx="818707" cy="7083189"/>
          </a:xfrm>
          <a:prstGeom prst="rect">
            <a:avLst/>
          </a:prstGeom>
        </p:spPr>
      </p:pic>
    </p:spTree>
    <p:extLst>
      <p:ext uri="{BB962C8B-B14F-4D97-AF65-F5344CB8AC3E}">
        <p14:creationId xmlns:p14="http://schemas.microsoft.com/office/powerpoint/2010/main" val="34341614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slow">
    <p:wipe dir="d"/>
  </p:transition>
  <p:timing>
    <p:tnLst>
      <p:par>
        <p:cTn id="1" dur="indefinite" restart="never" nodeType="tmRoot"/>
      </p:par>
    </p:tnLst>
  </p:timing>
  <p:txStyles>
    <p:titleStyle>
      <a:lvl1pPr algn="l" defTabSz="914400" rtl="0" eaLnBrk="1" latinLnBrk="0" hangingPunct="1">
        <a:spcBef>
          <a:spcPct val="0"/>
        </a:spcBef>
        <a:buNone/>
        <a:defRPr lang="en-US" sz="4400" kern="1200" dirty="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notesSlide" Target="../notesSlides/notesSlide1.xml"/><Relationship Id="rId4"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List_of_TCP_and_UDP_port_numbers" TargetMode="External"/><Relationship Id="rId2" Type="http://schemas.openxmlformats.org/officeDocument/2006/relationships/hyperlink" Target="https://en.wikipedia.org/wiki/List_of_IP_protocol_numbers" TargetMode="Externa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4000502" y="1828800"/>
            <a:ext cx="4025601" cy="762000"/>
          </a:xfrm>
        </p:spPr>
        <p:txBody>
          <a:bodyPr>
            <a:normAutofit fontScale="90000"/>
          </a:bodyPr>
          <a:lstStyle/>
          <a:p>
            <a:r>
              <a:rPr lang="en-US" sz="4000" dirty="0" smtClean="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CSC332 </a:t>
            </a:r>
            <a:r>
              <a:rPr lang="en-US" sz="4000" dirty="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 </a:t>
            </a:r>
            <a:r>
              <a:rPr lang="en-US" sz="4000" dirty="0" smtClean="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Data Security </a:t>
            </a:r>
            <a:br>
              <a:rPr lang="en-US" sz="4000" dirty="0" smtClean="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br>
            <a:r>
              <a:rPr lang="en-US" sz="4000" dirty="0" smtClean="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and Encryption</a:t>
            </a:r>
            <a:endParaRPr lang="en-US" sz="4000" dirty="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
        <p:nvSpPr>
          <p:cNvPr id="3" name="Subtitle 2"/>
          <p:cNvSpPr>
            <a:spLocks noGrp="1"/>
          </p:cNvSpPr>
          <p:nvPr>
            <p:ph type="subTitle" idx="1"/>
            <p:custDataLst>
              <p:tags r:id="rId3"/>
            </p:custDataLst>
          </p:nvPr>
        </p:nvSpPr>
        <p:spPr>
          <a:xfrm>
            <a:off x="5715001" y="4419600"/>
            <a:ext cx="2836446" cy="533400"/>
          </a:xfrm>
        </p:spPr>
        <p:txBody>
          <a:bodyPr>
            <a:normAutofit/>
          </a:bodyPr>
          <a:lstStyle/>
          <a:p>
            <a:r>
              <a:rPr lang="en-US" sz="2400" b="1" dirty="0" smtClean="0">
                <a:solidFill>
                  <a:srgbClr val="0070C0"/>
                </a:solidFill>
                <a:latin typeface="+mn-lt"/>
              </a:rPr>
              <a:t>Dr. Adnan Ahmad</a:t>
            </a:r>
            <a:endParaRPr lang="en-US" sz="2400" b="1" dirty="0">
              <a:solidFill>
                <a:srgbClr val="0070C0"/>
              </a:solidFill>
              <a:latin typeface="+mn-lt"/>
            </a:endParaRPr>
          </a:p>
        </p:txBody>
      </p:sp>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07457" y="1500195"/>
            <a:ext cx="1607344" cy="1419225"/>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21957" y="304803"/>
            <a:ext cx="1607344" cy="1419225"/>
          </a:xfrm>
          <a:prstGeom prst="rect">
            <a:avLst/>
          </a:prstGeom>
        </p:spPr>
      </p:pic>
      <p:sp>
        <p:nvSpPr>
          <p:cNvPr id="10" name="TextBox 9"/>
          <p:cNvSpPr txBox="1"/>
          <p:nvPr/>
        </p:nvSpPr>
        <p:spPr>
          <a:xfrm>
            <a:off x="6468783" y="4889212"/>
            <a:ext cx="2404248" cy="292388"/>
          </a:xfrm>
          <a:prstGeom prst="rect">
            <a:avLst/>
          </a:prstGeom>
          <a:noFill/>
        </p:spPr>
        <p:txBody>
          <a:bodyPr wrap="none" rtlCol="0">
            <a:spAutoFit/>
          </a:bodyPr>
          <a:lstStyle/>
          <a:p>
            <a:pPr algn="ctr"/>
            <a:r>
              <a:rPr lang="en-US" sz="1300" dirty="0" smtClean="0">
                <a:solidFill>
                  <a:srgbClr val="0070C0"/>
                </a:solidFill>
              </a:rPr>
              <a:t>AdnanAhmad@ciitlahore.edu.pk</a:t>
            </a:r>
            <a:endParaRPr lang="en-US" sz="1300" dirty="0">
              <a:solidFill>
                <a:srgbClr val="0070C0"/>
              </a:solidFill>
            </a:endParaRPr>
          </a:p>
        </p:txBody>
      </p:sp>
    </p:spTree>
    <p:custDataLst>
      <p:tags r:id="rId1"/>
    </p:custDataLst>
    <p:extLst>
      <p:ext uri="{BB962C8B-B14F-4D97-AF65-F5344CB8AC3E}">
        <p14:creationId xmlns:p14="http://schemas.microsoft.com/office/powerpoint/2010/main" val="321544272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
                                        <p:tgtEl>
                                          <p:spTgt spid="7"/>
                                        </p:tgtEl>
                                      </p:cBhvr>
                                    </p:animEffect>
                                  </p:childTnLst>
                                </p:cTn>
                              </p:par>
                            </p:childTnLst>
                          </p:cTn>
                        </p:par>
                        <p:par>
                          <p:cTn id="8" fill="hold">
                            <p:stCondLst>
                              <p:cond delay="600"/>
                            </p:stCondLst>
                            <p:childTnLst>
                              <p:par>
                                <p:cTn id="9" presetID="43" presetClass="path" presetSubtype="0" decel="50000" fill="hold" nodeType="afterEffect">
                                  <p:stCondLst>
                                    <p:cond delay="0"/>
                                  </p:stCondLst>
                                  <p:childTnLst>
                                    <p:animMotion origin="layout" path="M 6.25E-7 -0.00092 C 0.04036 -0.00092 0.40469 -0.00185 0.52695 -0.00254 C 0.64909 -0.00301 0.79466 0.00232 0.73294 -0.00509 C 0.67591 -0.03379 0.74687 0.03912 0.74687 -0.00023 " pathEditMode="relative" rAng="0" ptsTypes="AAAA">
                                      <p:cBhvr>
                                        <p:cTn id="10" dur="1500" fill="hold"/>
                                        <p:tgtEl>
                                          <p:spTgt spid="7"/>
                                        </p:tgtEl>
                                        <p:attrNameLst>
                                          <p:attrName>ppt_x</p:attrName>
                                          <p:attrName>ppt_y</p:attrName>
                                        </p:attrNameLst>
                                      </p:cBhvr>
                                      <p:rCtr x="37383" y="93"/>
                                    </p:animMotion>
                                  </p:childTnLst>
                                </p:cTn>
                              </p:par>
                              <p:par>
                                <p:cTn id="11" presetID="22" presetClass="entr" presetSubtype="8"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1100"/>
                                        <p:tgtEl>
                                          <p:spTgt spid="2"/>
                                        </p:tgtEl>
                                      </p:cBhvr>
                                    </p:animEffect>
                                  </p:childTnLst>
                                </p:cTn>
                              </p:par>
                              <p:par>
                                <p:cTn id="14" presetID="1" presetClass="entr" presetSubtype="0" fill="hold" nodeType="withEffect">
                                  <p:stCondLst>
                                    <p:cond delay="1000"/>
                                  </p:stCondLst>
                                  <p:childTnLst>
                                    <p:set>
                                      <p:cBhvr>
                                        <p:cTn id="15" dur="1" fill="hold">
                                          <p:stCondLst>
                                            <p:cond delay="0"/>
                                          </p:stCondLst>
                                        </p:cTn>
                                        <p:tgtEl>
                                          <p:spTgt spid="8"/>
                                        </p:tgtEl>
                                        <p:attrNameLst>
                                          <p:attrName>style.visibility</p:attrName>
                                        </p:attrNameLst>
                                      </p:cBhvr>
                                      <p:to>
                                        <p:strVal val="visible"/>
                                      </p:to>
                                    </p:set>
                                  </p:childTnLst>
                                </p:cTn>
                              </p:par>
                              <p:par>
                                <p:cTn id="16" presetID="26" presetClass="emph" presetSubtype="0" fill="hold" nodeType="withEffect">
                                  <p:stCondLst>
                                    <p:cond delay="1000"/>
                                  </p:stCondLst>
                                  <p:childTnLst>
                                    <p:animEffect transition="out" filter="fade">
                                      <p:cBhvr>
                                        <p:cTn id="17" dur="500" tmFilter="0, 0; .2, .5; .8, .5; 1, 0"/>
                                        <p:tgtEl>
                                          <p:spTgt spid="8"/>
                                        </p:tgtEl>
                                      </p:cBhvr>
                                    </p:animEffect>
                                    <p:animScale>
                                      <p:cBhvr>
                                        <p:cTn id="18" dur="250" autoRev="1" fill="hold"/>
                                        <p:tgtEl>
                                          <p:spTgt spid="8"/>
                                        </p:tgtEl>
                                      </p:cBhvr>
                                      <p:by x="105000" y="105000"/>
                                    </p:animScale>
                                  </p:childTnLst>
                                </p:cTn>
                              </p:par>
                              <p:par>
                                <p:cTn id="19" presetID="26" presetClass="emph" presetSubtype="0" fill="hold" nodeType="withEffect">
                                  <p:stCondLst>
                                    <p:cond delay="1200"/>
                                  </p:stCondLst>
                                  <p:childTnLst>
                                    <p:animEffect transition="out" filter="fade">
                                      <p:cBhvr>
                                        <p:cTn id="20" dur="500" tmFilter="0, 0; .2, .5; .8, .5; 1, 0"/>
                                        <p:tgtEl>
                                          <p:spTgt spid="8"/>
                                        </p:tgtEl>
                                      </p:cBhvr>
                                    </p:animEffect>
                                    <p:animScale>
                                      <p:cBhvr>
                                        <p:cTn id="21" dur="250" autoRev="1" fill="hold"/>
                                        <p:tgtEl>
                                          <p:spTgt spid="8"/>
                                        </p:tgtEl>
                                      </p:cBhvr>
                                      <p:by x="105000" y="105000"/>
                                    </p:animScale>
                                  </p:childTnLst>
                                </p:cTn>
                              </p:par>
                            </p:childTnLst>
                          </p:cTn>
                        </p:par>
                        <p:par>
                          <p:cTn id="22" fill="hold">
                            <p:stCondLst>
                              <p:cond delay="2300"/>
                            </p:stCondLst>
                            <p:childTnLst>
                              <p:par>
                                <p:cTn id="23" presetID="14" presetClass="entr" presetSubtype="10" fill="hold" nodeType="after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randombar(horizontal)">
                                      <p:cBhvr>
                                        <p:cTn id="25" dur="500"/>
                                        <p:tgtEl>
                                          <p:spTgt spid="3">
                                            <p:txEl>
                                              <p:pRg st="0" end="0"/>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down)">
                                      <p:cBhvr>
                                        <p:cTn id="28"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1650" y="3048004"/>
            <a:ext cx="6057900" cy="1362075"/>
          </a:xfrm>
        </p:spPr>
        <p:txBody>
          <a:bodyPr anchor="ctr">
            <a:normAutofit/>
          </a:bodyPr>
          <a:lstStyle/>
          <a:p>
            <a:r>
              <a:rPr lang="en-US" dirty="0" smtClean="0"/>
              <a:t>Firewalls and Access Control Lists</a:t>
            </a:r>
            <a:endParaRPr lang="en-US" dirty="0"/>
          </a:p>
        </p:txBody>
      </p:sp>
    </p:spTree>
    <p:extLst>
      <p:ext uri="{BB962C8B-B14F-4D97-AF65-F5344CB8AC3E}">
        <p14:creationId xmlns:p14="http://schemas.microsoft.com/office/powerpoint/2010/main" val="1478378128"/>
      </p:ext>
    </p:extLst>
  </p:cSld>
  <p:clrMapOvr>
    <a:masterClrMapping/>
  </p:clrMapOvr>
  <p:transition spd="slow">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Firewalls</a:t>
            </a:r>
            <a:endParaRPr lang="en-US" dirty="0"/>
          </a:p>
        </p:txBody>
      </p:sp>
      <p:sp>
        <p:nvSpPr>
          <p:cNvPr id="5" name="Content Placeholder 4"/>
          <p:cNvSpPr>
            <a:spLocks noGrp="1"/>
          </p:cNvSpPr>
          <p:nvPr>
            <p:ph idx="1"/>
          </p:nvPr>
        </p:nvSpPr>
        <p:spPr/>
        <p:txBody>
          <a:bodyPr>
            <a:normAutofit/>
          </a:bodyPr>
          <a:lstStyle/>
          <a:p>
            <a:r>
              <a:rPr lang="en-US" u="sng" dirty="0"/>
              <a:t>A filter that will let through only desirable </a:t>
            </a:r>
            <a:r>
              <a:rPr lang="en-US" u="sng" dirty="0" smtClean="0"/>
              <a:t>interactions</a:t>
            </a:r>
            <a:endParaRPr lang="en-US" u="sng" dirty="0"/>
          </a:p>
          <a:p>
            <a:r>
              <a:rPr lang="en-US" dirty="0" smtClean="0"/>
              <a:t>A </a:t>
            </a:r>
            <a:r>
              <a:rPr lang="en-US" dirty="0"/>
              <a:t>firewall is a computer (device or set of devices) that sits between your internal network and the rest of the network and attempts to prevent bad things from happening without preventing good things from happening</a:t>
            </a:r>
          </a:p>
          <a:p>
            <a:r>
              <a:rPr lang="en-US" dirty="0" smtClean="0"/>
              <a:t>It </a:t>
            </a:r>
            <a:r>
              <a:rPr lang="en-US" dirty="0"/>
              <a:t>is a system designed to prevent unauthorized access to or from a private network</a:t>
            </a:r>
          </a:p>
          <a:p>
            <a:r>
              <a:rPr lang="en-US" dirty="0" smtClean="0"/>
              <a:t>Can </a:t>
            </a:r>
            <a:r>
              <a:rPr lang="en-US" dirty="0"/>
              <a:t>be implemented in both hardware and software, or a combination of </a:t>
            </a:r>
            <a:r>
              <a:rPr lang="en-US" dirty="0" smtClean="0"/>
              <a:t>both</a:t>
            </a:r>
            <a:endParaRPr lang="en-US" dirty="0"/>
          </a:p>
        </p:txBody>
      </p:sp>
    </p:spTree>
    <p:extLst>
      <p:ext uri="{BB962C8B-B14F-4D97-AF65-F5344CB8AC3E}">
        <p14:creationId xmlns:p14="http://schemas.microsoft.com/office/powerpoint/2010/main" val="3134925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Firewalls</a:t>
            </a:r>
            <a:endParaRPr lang="en-US" dirty="0"/>
          </a:p>
        </p:txBody>
      </p:sp>
      <p:sp>
        <p:nvSpPr>
          <p:cNvPr id="5" name="Content Placeholder 4"/>
          <p:cNvSpPr>
            <a:spLocks noGrp="1"/>
          </p:cNvSpPr>
          <p:nvPr>
            <p:ph idx="1"/>
          </p:nvPr>
        </p:nvSpPr>
        <p:spPr/>
        <p:txBody>
          <a:bodyPr>
            <a:normAutofit/>
          </a:bodyPr>
          <a:lstStyle/>
          <a:p>
            <a:r>
              <a:rPr lang="en-US" dirty="0"/>
              <a:t>Isolates an organization’s internal network from a larger external network, allowing some packets to pass, blocking </a:t>
            </a:r>
            <a:r>
              <a:rPr lang="en-US" dirty="0" smtClean="0"/>
              <a:t>others</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a:t>A process that filters all traffic between a protected or “inside” network and a </a:t>
            </a:r>
            <a:r>
              <a:rPr lang="en-US" dirty="0" smtClean="0"/>
              <a:t>less trustworthy </a:t>
            </a:r>
            <a:r>
              <a:rPr lang="en-US" dirty="0"/>
              <a:t>or “outside” </a:t>
            </a:r>
            <a:r>
              <a:rPr lang="en-US" dirty="0" smtClean="0"/>
              <a:t>network</a:t>
            </a:r>
            <a:endParaRPr lang="en-US" dirty="0"/>
          </a:p>
        </p:txBody>
      </p:sp>
      <p:grpSp>
        <p:nvGrpSpPr>
          <p:cNvPr id="4" name="Group 3"/>
          <p:cNvGrpSpPr>
            <a:grpSpLocks/>
          </p:cNvGrpSpPr>
          <p:nvPr/>
        </p:nvGrpSpPr>
        <p:grpSpPr bwMode="auto">
          <a:xfrm>
            <a:off x="2620564" y="2333624"/>
            <a:ext cx="3837386" cy="2543176"/>
            <a:chOff x="1090" y="2000"/>
            <a:chExt cx="3223" cy="1602"/>
          </a:xfrm>
        </p:grpSpPr>
        <p:sp>
          <p:nvSpPr>
            <p:cNvPr id="6" name="Freeform 5"/>
            <p:cNvSpPr>
              <a:spLocks/>
            </p:cNvSpPr>
            <p:nvPr/>
          </p:nvSpPr>
          <p:spPr bwMode="auto">
            <a:xfrm>
              <a:off x="1090" y="2000"/>
              <a:ext cx="1672" cy="977"/>
            </a:xfrm>
            <a:custGeom>
              <a:avLst/>
              <a:gdLst>
                <a:gd name="T0" fmla="*/ 77 w 1672"/>
                <a:gd name="T1" fmla="*/ 3 h 977"/>
                <a:gd name="T2" fmla="*/ 127 w 1672"/>
                <a:gd name="T3" fmla="*/ 1 h 977"/>
                <a:gd name="T4" fmla="*/ 187 w 1672"/>
                <a:gd name="T5" fmla="*/ 17 h 977"/>
                <a:gd name="T6" fmla="*/ 281 w 1672"/>
                <a:gd name="T7" fmla="*/ 54 h 977"/>
                <a:gd name="T8" fmla="*/ 380 w 1672"/>
                <a:gd name="T9" fmla="*/ 90 h 977"/>
                <a:gd name="T10" fmla="*/ 451 w 1672"/>
                <a:gd name="T11" fmla="*/ 104 h 977"/>
                <a:gd name="T12" fmla="*/ 518 w 1672"/>
                <a:gd name="T13" fmla="*/ 104 h 977"/>
                <a:gd name="T14" fmla="*/ 641 w 1672"/>
                <a:gd name="T15" fmla="*/ 90 h 977"/>
                <a:gd name="T16" fmla="*/ 774 w 1672"/>
                <a:gd name="T17" fmla="*/ 76 h 977"/>
                <a:gd name="T18" fmla="*/ 853 w 1672"/>
                <a:gd name="T19" fmla="*/ 76 h 977"/>
                <a:gd name="T20" fmla="*/ 942 w 1672"/>
                <a:gd name="T21" fmla="*/ 88 h 977"/>
                <a:gd name="T22" fmla="*/ 1046 w 1672"/>
                <a:gd name="T23" fmla="*/ 106 h 977"/>
                <a:gd name="T24" fmla="*/ 1190 w 1672"/>
                <a:gd name="T25" fmla="*/ 134 h 977"/>
                <a:gd name="T26" fmla="*/ 1361 w 1672"/>
                <a:gd name="T27" fmla="*/ 180 h 977"/>
                <a:gd name="T28" fmla="*/ 1471 w 1672"/>
                <a:gd name="T29" fmla="*/ 220 h 977"/>
                <a:gd name="T30" fmla="*/ 1543 w 1672"/>
                <a:gd name="T31" fmla="*/ 258 h 977"/>
                <a:gd name="T32" fmla="*/ 1579 w 1672"/>
                <a:gd name="T33" fmla="*/ 284 h 977"/>
                <a:gd name="T34" fmla="*/ 1616 w 1672"/>
                <a:gd name="T35" fmla="*/ 326 h 977"/>
                <a:gd name="T36" fmla="*/ 1651 w 1672"/>
                <a:gd name="T37" fmla="*/ 403 h 977"/>
                <a:gd name="T38" fmla="*/ 1669 w 1672"/>
                <a:gd name="T39" fmla="*/ 493 h 977"/>
                <a:gd name="T40" fmla="*/ 1671 w 1672"/>
                <a:gd name="T41" fmla="*/ 588 h 977"/>
                <a:gd name="T42" fmla="*/ 1660 w 1672"/>
                <a:gd name="T43" fmla="*/ 680 h 977"/>
                <a:gd name="T44" fmla="*/ 1637 w 1672"/>
                <a:gd name="T45" fmla="*/ 762 h 977"/>
                <a:gd name="T46" fmla="*/ 1607 w 1672"/>
                <a:gd name="T47" fmla="*/ 825 h 977"/>
                <a:gd name="T48" fmla="*/ 1564 w 1672"/>
                <a:gd name="T49" fmla="*/ 867 h 977"/>
                <a:gd name="T50" fmla="*/ 1506 w 1672"/>
                <a:gd name="T51" fmla="*/ 895 h 977"/>
                <a:gd name="T52" fmla="*/ 1436 w 1672"/>
                <a:gd name="T53" fmla="*/ 912 h 977"/>
                <a:gd name="T54" fmla="*/ 1293 w 1672"/>
                <a:gd name="T55" fmla="*/ 930 h 977"/>
                <a:gd name="T56" fmla="*/ 1146 w 1672"/>
                <a:gd name="T57" fmla="*/ 946 h 977"/>
                <a:gd name="T58" fmla="*/ 1059 w 1672"/>
                <a:gd name="T59" fmla="*/ 956 h 977"/>
                <a:gd name="T60" fmla="*/ 907 w 1672"/>
                <a:gd name="T61" fmla="*/ 969 h 977"/>
                <a:gd name="T62" fmla="*/ 754 w 1672"/>
                <a:gd name="T63" fmla="*/ 974 h 977"/>
                <a:gd name="T64" fmla="*/ 668 w 1672"/>
                <a:gd name="T65" fmla="*/ 977 h 977"/>
                <a:gd name="T66" fmla="*/ 593 w 1672"/>
                <a:gd name="T67" fmla="*/ 977 h 977"/>
                <a:gd name="T68" fmla="*/ 532 w 1672"/>
                <a:gd name="T69" fmla="*/ 974 h 977"/>
                <a:gd name="T70" fmla="*/ 483 w 1672"/>
                <a:gd name="T71" fmla="*/ 971 h 977"/>
                <a:gd name="T72" fmla="*/ 417 w 1672"/>
                <a:gd name="T73" fmla="*/ 960 h 977"/>
                <a:gd name="T74" fmla="*/ 326 w 1672"/>
                <a:gd name="T75" fmla="*/ 937 h 977"/>
                <a:gd name="T76" fmla="*/ 236 w 1672"/>
                <a:gd name="T77" fmla="*/ 914 h 977"/>
                <a:gd name="T78" fmla="*/ 142 w 1672"/>
                <a:gd name="T79" fmla="*/ 886 h 977"/>
                <a:gd name="T80" fmla="*/ 78 w 1672"/>
                <a:gd name="T81" fmla="*/ 852 h 977"/>
                <a:gd name="T82" fmla="*/ 47 w 1672"/>
                <a:gd name="T83" fmla="*/ 822 h 977"/>
                <a:gd name="T84" fmla="*/ 26 w 1672"/>
                <a:gd name="T85" fmla="*/ 786 h 977"/>
                <a:gd name="T86" fmla="*/ 7 w 1672"/>
                <a:gd name="T87" fmla="*/ 716 h 977"/>
                <a:gd name="T88" fmla="*/ 0 w 1672"/>
                <a:gd name="T89" fmla="*/ 611 h 977"/>
                <a:gd name="T90" fmla="*/ 2 w 1672"/>
                <a:gd name="T91" fmla="*/ 491 h 977"/>
                <a:gd name="T92" fmla="*/ 1 w 1672"/>
                <a:gd name="T93" fmla="*/ 418 h 977"/>
                <a:gd name="T94" fmla="*/ 0 w 1672"/>
                <a:gd name="T95" fmla="*/ 333 h 977"/>
                <a:gd name="T96" fmla="*/ 2 w 1672"/>
                <a:gd name="T97" fmla="*/ 189 h 977"/>
                <a:gd name="T98" fmla="*/ 12 w 1672"/>
                <a:gd name="T99" fmla="*/ 110 h 977"/>
                <a:gd name="T100" fmla="*/ 29 w 1672"/>
                <a:gd name="T101" fmla="*/ 48 h 977"/>
                <a:gd name="T102" fmla="*/ 47 w 1672"/>
                <a:gd name="T103" fmla="*/ 22 h 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72" h="977">
                  <a:moveTo>
                    <a:pt x="54" y="16"/>
                  </a:moveTo>
                  <a:lnTo>
                    <a:pt x="57" y="14"/>
                  </a:lnTo>
                  <a:lnTo>
                    <a:pt x="61" y="10"/>
                  </a:lnTo>
                  <a:lnTo>
                    <a:pt x="69" y="7"/>
                  </a:lnTo>
                  <a:lnTo>
                    <a:pt x="77" y="3"/>
                  </a:lnTo>
                  <a:lnTo>
                    <a:pt x="86" y="1"/>
                  </a:lnTo>
                  <a:lnTo>
                    <a:pt x="96" y="0"/>
                  </a:lnTo>
                  <a:lnTo>
                    <a:pt x="105" y="0"/>
                  </a:lnTo>
                  <a:lnTo>
                    <a:pt x="116" y="0"/>
                  </a:lnTo>
                  <a:lnTo>
                    <a:pt x="127" y="1"/>
                  </a:lnTo>
                  <a:lnTo>
                    <a:pt x="138" y="3"/>
                  </a:lnTo>
                  <a:lnTo>
                    <a:pt x="149" y="6"/>
                  </a:lnTo>
                  <a:lnTo>
                    <a:pt x="161" y="9"/>
                  </a:lnTo>
                  <a:lnTo>
                    <a:pt x="174" y="13"/>
                  </a:lnTo>
                  <a:lnTo>
                    <a:pt x="187" y="17"/>
                  </a:lnTo>
                  <a:lnTo>
                    <a:pt x="200" y="22"/>
                  </a:lnTo>
                  <a:lnTo>
                    <a:pt x="212" y="27"/>
                  </a:lnTo>
                  <a:lnTo>
                    <a:pt x="225" y="31"/>
                  </a:lnTo>
                  <a:lnTo>
                    <a:pt x="253" y="43"/>
                  </a:lnTo>
                  <a:lnTo>
                    <a:pt x="281" y="54"/>
                  </a:lnTo>
                  <a:lnTo>
                    <a:pt x="309" y="65"/>
                  </a:lnTo>
                  <a:lnTo>
                    <a:pt x="338" y="76"/>
                  </a:lnTo>
                  <a:lnTo>
                    <a:pt x="352" y="82"/>
                  </a:lnTo>
                  <a:lnTo>
                    <a:pt x="366" y="86"/>
                  </a:lnTo>
                  <a:lnTo>
                    <a:pt x="380" y="90"/>
                  </a:lnTo>
                  <a:lnTo>
                    <a:pt x="394" y="95"/>
                  </a:lnTo>
                  <a:lnTo>
                    <a:pt x="408" y="97"/>
                  </a:lnTo>
                  <a:lnTo>
                    <a:pt x="422" y="100"/>
                  </a:lnTo>
                  <a:lnTo>
                    <a:pt x="436" y="103"/>
                  </a:lnTo>
                  <a:lnTo>
                    <a:pt x="451" y="104"/>
                  </a:lnTo>
                  <a:lnTo>
                    <a:pt x="465" y="105"/>
                  </a:lnTo>
                  <a:lnTo>
                    <a:pt x="477" y="105"/>
                  </a:lnTo>
                  <a:lnTo>
                    <a:pt x="491" y="105"/>
                  </a:lnTo>
                  <a:lnTo>
                    <a:pt x="504" y="105"/>
                  </a:lnTo>
                  <a:lnTo>
                    <a:pt x="518" y="104"/>
                  </a:lnTo>
                  <a:lnTo>
                    <a:pt x="532" y="104"/>
                  </a:lnTo>
                  <a:lnTo>
                    <a:pt x="559" y="100"/>
                  </a:lnTo>
                  <a:lnTo>
                    <a:pt x="586" y="98"/>
                  </a:lnTo>
                  <a:lnTo>
                    <a:pt x="614" y="95"/>
                  </a:lnTo>
                  <a:lnTo>
                    <a:pt x="641" y="90"/>
                  </a:lnTo>
                  <a:lnTo>
                    <a:pt x="670" y="86"/>
                  </a:lnTo>
                  <a:lnTo>
                    <a:pt x="698" y="83"/>
                  </a:lnTo>
                  <a:lnTo>
                    <a:pt x="727" y="79"/>
                  </a:lnTo>
                  <a:lnTo>
                    <a:pt x="757" y="77"/>
                  </a:lnTo>
                  <a:lnTo>
                    <a:pt x="774" y="76"/>
                  </a:lnTo>
                  <a:lnTo>
                    <a:pt x="789" y="75"/>
                  </a:lnTo>
                  <a:lnTo>
                    <a:pt x="804" y="75"/>
                  </a:lnTo>
                  <a:lnTo>
                    <a:pt x="820" y="75"/>
                  </a:lnTo>
                  <a:lnTo>
                    <a:pt x="837" y="76"/>
                  </a:lnTo>
                  <a:lnTo>
                    <a:pt x="853" y="76"/>
                  </a:lnTo>
                  <a:lnTo>
                    <a:pt x="871" y="77"/>
                  </a:lnTo>
                  <a:lnTo>
                    <a:pt x="888" y="79"/>
                  </a:lnTo>
                  <a:lnTo>
                    <a:pt x="906" y="82"/>
                  </a:lnTo>
                  <a:lnTo>
                    <a:pt x="923" y="84"/>
                  </a:lnTo>
                  <a:lnTo>
                    <a:pt x="942" y="88"/>
                  </a:lnTo>
                  <a:lnTo>
                    <a:pt x="961" y="91"/>
                  </a:lnTo>
                  <a:lnTo>
                    <a:pt x="980" y="95"/>
                  </a:lnTo>
                  <a:lnTo>
                    <a:pt x="1003" y="98"/>
                  </a:lnTo>
                  <a:lnTo>
                    <a:pt x="1024" y="102"/>
                  </a:lnTo>
                  <a:lnTo>
                    <a:pt x="1046" y="106"/>
                  </a:lnTo>
                  <a:lnTo>
                    <a:pt x="1069" y="110"/>
                  </a:lnTo>
                  <a:lnTo>
                    <a:pt x="1092" y="114"/>
                  </a:lnTo>
                  <a:lnTo>
                    <a:pt x="1117" y="119"/>
                  </a:lnTo>
                  <a:lnTo>
                    <a:pt x="1141" y="124"/>
                  </a:lnTo>
                  <a:lnTo>
                    <a:pt x="1190" y="134"/>
                  </a:lnTo>
                  <a:lnTo>
                    <a:pt x="1239" y="146"/>
                  </a:lnTo>
                  <a:lnTo>
                    <a:pt x="1288" y="159"/>
                  </a:lnTo>
                  <a:lnTo>
                    <a:pt x="1313" y="166"/>
                  </a:lnTo>
                  <a:lnTo>
                    <a:pt x="1337" y="173"/>
                  </a:lnTo>
                  <a:lnTo>
                    <a:pt x="1361" y="180"/>
                  </a:lnTo>
                  <a:lnTo>
                    <a:pt x="1384" y="187"/>
                  </a:lnTo>
                  <a:lnTo>
                    <a:pt x="1406" y="195"/>
                  </a:lnTo>
                  <a:lnTo>
                    <a:pt x="1429" y="203"/>
                  </a:lnTo>
                  <a:lnTo>
                    <a:pt x="1450" y="211"/>
                  </a:lnTo>
                  <a:lnTo>
                    <a:pt x="1471" y="220"/>
                  </a:lnTo>
                  <a:lnTo>
                    <a:pt x="1490" y="229"/>
                  </a:lnTo>
                  <a:lnTo>
                    <a:pt x="1509" y="238"/>
                  </a:lnTo>
                  <a:lnTo>
                    <a:pt x="1527" y="248"/>
                  </a:lnTo>
                  <a:lnTo>
                    <a:pt x="1535" y="252"/>
                  </a:lnTo>
                  <a:lnTo>
                    <a:pt x="1543" y="258"/>
                  </a:lnTo>
                  <a:lnTo>
                    <a:pt x="1551" y="263"/>
                  </a:lnTo>
                  <a:lnTo>
                    <a:pt x="1558" y="267"/>
                  </a:lnTo>
                  <a:lnTo>
                    <a:pt x="1565" y="273"/>
                  </a:lnTo>
                  <a:lnTo>
                    <a:pt x="1572" y="279"/>
                  </a:lnTo>
                  <a:lnTo>
                    <a:pt x="1579" y="284"/>
                  </a:lnTo>
                  <a:lnTo>
                    <a:pt x="1585" y="290"/>
                  </a:lnTo>
                  <a:lnTo>
                    <a:pt x="1591" y="296"/>
                  </a:lnTo>
                  <a:lnTo>
                    <a:pt x="1597" y="301"/>
                  </a:lnTo>
                  <a:lnTo>
                    <a:pt x="1607" y="313"/>
                  </a:lnTo>
                  <a:lnTo>
                    <a:pt x="1616" y="326"/>
                  </a:lnTo>
                  <a:lnTo>
                    <a:pt x="1625" y="340"/>
                  </a:lnTo>
                  <a:lnTo>
                    <a:pt x="1633" y="355"/>
                  </a:lnTo>
                  <a:lnTo>
                    <a:pt x="1640" y="370"/>
                  </a:lnTo>
                  <a:lnTo>
                    <a:pt x="1647" y="385"/>
                  </a:lnTo>
                  <a:lnTo>
                    <a:pt x="1651" y="403"/>
                  </a:lnTo>
                  <a:lnTo>
                    <a:pt x="1656" y="419"/>
                  </a:lnTo>
                  <a:lnTo>
                    <a:pt x="1661" y="438"/>
                  </a:lnTo>
                  <a:lnTo>
                    <a:pt x="1664" y="456"/>
                  </a:lnTo>
                  <a:lnTo>
                    <a:pt x="1667" y="474"/>
                  </a:lnTo>
                  <a:lnTo>
                    <a:pt x="1669" y="493"/>
                  </a:lnTo>
                  <a:lnTo>
                    <a:pt x="1671" y="512"/>
                  </a:lnTo>
                  <a:lnTo>
                    <a:pt x="1671" y="530"/>
                  </a:lnTo>
                  <a:lnTo>
                    <a:pt x="1672" y="550"/>
                  </a:lnTo>
                  <a:lnTo>
                    <a:pt x="1671" y="569"/>
                  </a:lnTo>
                  <a:lnTo>
                    <a:pt x="1671" y="588"/>
                  </a:lnTo>
                  <a:lnTo>
                    <a:pt x="1670" y="607"/>
                  </a:lnTo>
                  <a:lnTo>
                    <a:pt x="1668" y="626"/>
                  </a:lnTo>
                  <a:lnTo>
                    <a:pt x="1665" y="645"/>
                  </a:lnTo>
                  <a:lnTo>
                    <a:pt x="1663" y="662"/>
                  </a:lnTo>
                  <a:lnTo>
                    <a:pt x="1660" y="680"/>
                  </a:lnTo>
                  <a:lnTo>
                    <a:pt x="1656" y="697"/>
                  </a:lnTo>
                  <a:lnTo>
                    <a:pt x="1651" y="715"/>
                  </a:lnTo>
                  <a:lnTo>
                    <a:pt x="1648" y="731"/>
                  </a:lnTo>
                  <a:lnTo>
                    <a:pt x="1643" y="747"/>
                  </a:lnTo>
                  <a:lnTo>
                    <a:pt x="1637" y="762"/>
                  </a:lnTo>
                  <a:lnTo>
                    <a:pt x="1632" y="776"/>
                  </a:lnTo>
                  <a:lnTo>
                    <a:pt x="1626" y="790"/>
                  </a:lnTo>
                  <a:lnTo>
                    <a:pt x="1620" y="803"/>
                  </a:lnTo>
                  <a:lnTo>
                    <a:pt x="1614" y="814"/>
                  </a:lnTo>
                  <a:lnTo>
                    <a:pt x="1607" y="825"/>
                  </a:lnTo>
                  <a:lnTo>
                    <a:pt x="1600" y="834"/>
                  </a:lnTo>
                  <a:lnTo>
                    <a:pt x="1592" y="843"/>
                  </a:lnTo>
                  <a:lnTo>
                    <a:pt x="1584" y="852"/>
                  </a:lnTo>
                  <a:lnTo>
                    <a:pt x="1574" y="859"/>
                  </a:lnTo>
                  <a:lnTo>
                    <a:pt x="1564" y="867"/>
                  </a:lnTo>
                  <a:lnTo>
                    <a:pt x="1553" y="873"/>
                  </a:lnTo>
                  <a:lnTo>
                    <a:pt x="1543" y="879"/>
                  </a:lnTo>
                  <a:lnTo>
                    <a:pt x="1531" y="884"/>
                  </a:lnTo>
                  <a:lnTo>
                    <a:pt x="1518" y="890"/>
                  </a:lnTo>
                  <a:lnTo>
                    <a:pt x="1506" y="895"/>
                  </a:lnTo>
                  <a:lnTo>
                    <a:pt x="1493" y="898"/>
                  </a:lnTo>
                  <a:lnTo>
                    <a:pt x="1479" y="902"/>
                  </a:lnTo>
                  <a:lnTo>
                    <a:pt x="1465" y="905"/>
                  </a:lnTo>
                  <a:lnTo>
                    <a:pt x="1451" y="909"/>
                  </a:lnTo>
                  <a:lnTo>
                    <a:pt x="1436" y="912"/>
                  </a:lnTo>
                  <a:lnTo>
                    <a:pt x="1420" y="915"/>
                  </a:lnTo>
                  <a:lnTo>
                    <a:pt x="1390" y="919"/>
                  </a:lnTo>
                  <a:lnTo>
                    <a:pt x="1358" y="923"/>
                  </a:lnTo>
                  <a:lnTo>
                    <a:pt x="1326" y="926"/>
                  </a:lnTo>
                  <a:lnTo>
                    <a:pt x="1293" y="930"/>
                  </a:lnTo>
                  <a:lnTo>
                    <a:pt x="1259" y="932"/>
                  </a:lnTo>
                  <a:lnTo>
                    <a:pt x="1227" y="936"/>
                  </a:lnTo>
                  <a:lnTo>
                    <a:pt x="1194" y="939"/>
                  </a:lnTo>
                  <a:lnTo>
                    <a:pt x="1162" y="944"/>
                  </a:lnTo>
                  <a:lnTo>
                    <a:pt x="1146" y="946"/>
                  </a:lnTo>
                  <a:lnTo>
                    <a:pt x="1130" y="949"/>
                  </a:lnTo>
                  <a:lnTo>
                    <a:pt x="1112" y="950"/>
                  </a:lnTo>
                  <a:lnTo>
                    <a:pt x="1095" y="952"/>
                  </a:lnTo>
                  <a:lnTo>
                    <a:pt x="1077" y="954"/>
                  </a:lnTo>
                  <a:lnTo>
                    <a:pt x="1059" y="956"/>
                  </a:lnTo>
                  <a:lnTo>
                    <a:pt x="1041" y="958"/>
                  </a:lnTo>
                  <a:lnTo>
                    <a:pt x="1022" y="959"/>
                  </a:lnTo>
                  <a:lnTo>
                    <a:pt x="984" y="963"/>
                  </a:lnTo>
                  <a:lnTo>
                    <a:pt x="945" y="966"/>
                  </a:lnTo>
                  <a:lnTo>
                    <a:pt x="907" y="969"/>
                  </a:lnTo>
                  <a:lnTo>
                    <a:pt x="867" y="970"/>
                  </a:lnTo>
                  <a:lnTo>
                    <a:pt x="829" y="972"/>
                  </a:lnTo>
                  <a:lnTo>
                    <a:pt x="791" y="973"/>
                  </a:lnTo>
                  <a:lnTo>
                    <a:pt x="773" y="974"/>
                  </a:lnTo>
                  <a:lnTo>
                    <a:pt x="754" y="974"/>
                  </a:lnTo>
                  <a:lnTo>
                    <a:pt x="736" y="976"/>
                  </a:lnTo>
                  <a:lnTo>
                    <a:pt x="718" y="976"/>
                  </a:lnTo>
                  <a:lnTo>
                    <a:pt x="701" y="976"/>
                  </a:lnTo>
                  <a:lnTo>
                    <a:pt x="684" y="977"/>
                  </a:lnTo>
                  <a:lnTo>
                    <a:pt x="668" y="977"/>
                  </a:lnTo>
                  <a:lnTo>
                    <a:pt x="651" y="977"/>
                  </a:lnTo>
                  <a:lnTo>
                    <a:pt x="636" y="977"/>
                  </a:lnTo>
                  <a:lnTo>
                    <a:pt x="621" y="977"/>
                  </a:lnTo>
                  <a:lnTo>
                    <a:pt x="607" y="977"/>
                  </a:lnTo>
                  <a:lnTo>
                    <a:pt x="593" y="977"/>
                  </a:lnTo>
                  <a:lnTo>
                    <a:pt x="580" y="976"/>
                  </a:lnTo>
                  <a:lnTo>
                    <a:pt x="567" y="976"/>
                  </a:lnTo>
                  <a:lnTo>
                    <a:pt x="556" y="976"/>
                  </a:lnTo>
                  <a:lnTo>
                    <a:pt x="544" y="974"/>
                  </a:lnTo>
                  <a:lnTo>
                    <a:pt x="532" y="974"/>
                  </a:lnTo>
                  <a:lnTo>
                    <a:pt x="522" y="974"/>
                  </a:lnTo>
                  <a:lnTo>
                    <a:pt x="511" y="973"/>
                  </a:lnTo>
                  <a:lnTo>
                    <a:pt x="502" y="972"/>
                  </a:lnTo>
                  <a:lnTo>
                    <a:pt x="493" y="972"/>
                  </a:lnTo>
                  <a:lnTo>
                    <a:pt x="483" y="971"/>
                  </a:lnTo>
                  <a:lnTo>
                    <a:pt x="474" y="970"/>
                  </a:lnTo>
                  <a:lnTo>
                    <a:pt x="465" y="969"/>
                  </a:lnTo>
                  <a:lnTo>
                    <a:pt x="448" y="966"/>
                  </a:lnTo>
                  <a:lnTo>
                    <a:pt x="432" y="964"/>
                  </a:lnTo>
                  <a:lnTo>
                    <a:pt x="417" y="960"/>
                  </a:lnTo>
                  <a:lnTo>
                    <a:pt x="401" y="958"/>
                  </a:lnTo>
                  <a:lnTo>
                    <a:pt x="372" y="950"/>
                  </a:lnTo>
                  <a:lnTo>
                    <a:pt x="357" y="946"/>
                  </a:lnTo>
                  <a:lnTo>
                    <a:pt x="342" y="942"/>
                  </a:lnTo>
                  <a:lnTo>
                    <a:pt x="326" y="937"/>
                  </a:lnTo>
                  <a:lnTo>
                    <a:pt x="308" y="932"/>
                  </a:lnTo>
                  <a:lnTo>
                    <a:pt x="291" y="928"/>
                  </a:lnTo>
                  <a:lnTo>
                    <a:pt x="273" y="923"/>
                  </a:lnTo>
                  <a:lnTo>
                    <a:pt x="254" y="918"/>
                  </a:lnTo>
                  <a:lnTo>
                    <a:pt x="236" y="914"/>
                  </a:lnTo>
                  <a:lnTo>
                    <a:pt x="216" y="908"/>
                  </a:lnTo>
                  <a:lnTo>
                    <a:pt x="197" y="903"/>
                  </a:lnTo>
                  <a:lnTo>
                    <a:pt x="179" y="897"/>
                  </a:lnTo>
                  <a:lnTo>
                    <a:pt x="160" y="891"/>
                  </a:lnTo>
                  <a:lnTo>
                    <a:pt x="142" y="886"/>
                  </a:lnTo>
                  <a:lnTo>
                    <a:pt x="125" y="877"/>
                  </a:lnTo>
                  <a:lnTo>
                    <a:pt x="109" y="870"/>
                  </a:lnTo>
                  <a:lnTo>
                    <a:pt x="92" y="861"/>
                  </a:lnTo>
                  <a:lnTo>
                    <a:pt x="85" y="856"/>
                  </a:lnTo>
                  <a:lnTo>
                    <a:pt x="78" y="852"/>
                  </a:lnTo>
                  <a:lnTo>
                    <a:pt x="71" y="846"/>
                  </a:lnTo>
                  <a:lnTo>
                    <a:pt x="64" y="841"/>
                  </a:lnTo>
                  <a:lnTo>
                    <a:pt x="58" y="835"/>
                  </a:lnTo>
                  <a:lnTo>
                    <a:pt x="53" y="828"/>
                  </a:lnTo>
                  <a:lnTo>
                    <a:pt x="47" y="822"/>
                  </a:lnTo>
                  <a:lnTo>
                    <a:pt x="42" y="815"/>
                  </a:lnTo>
                  <a:lnTo>
                    <a:pt x="37" y="808"/>
                  </a:lnTo>
                  <a:lnTo>
                    <a:pt x="34" y="801"/>
                  </a:lnTo>
                  <a:lnTo>
                    <a:pt x="29" y="793"/>
                  </a:lnTo>
                  <a:lnTo>
                    <a:pt x="26" y="786"/>
                  </a:lnTo>
                  <a:lnTo>
                    <a:pt x="22" y="778"/>
                  </a:lnTo>
                  <a:lnTo>
                    <a:pt x="20" y="770"/>
                  </a:lnTo>
                  <a:lnTo>
                    <a:pt x="14" y="752"/>
                  </a:lnTo>
                  <a:lnTo>
                    <a:pt x="9" y="735"/>
                  </a:lnTo>
                  <a:lnTo>
                    <a:pt x="7" y="716"/>
                  </a:lnTo>
                  <a:lnTo>
                    <a:pt x="5" y="696"/>
                  </a:lnTo>
                  <a:lnTo>
                    <a:pt x="2" y="675"/>
                  </a:lnTo>
                  <a:lnTo>
                    <a:pt x="1" y="654"/>
                  </a:lnTo>
                  <a:lnTo>
                    <a:pt x="1" y="633"/>
                  </a:lnTo>
                  <a:lnTo>
                    <a:pt x="0" y="611"/>
                  </a:lnTo>
                  <a:lnTo>
                    <a:pt x="0" y="588"/>
                  </a:lnTo>
                  <a:lnTo>
                    <a:pt x="1" y="564"/>
                  </a:lnTo>
                  <a:lnTo>
                    <a:pt x="1" y="540"/>
                  </a:lnTo>
                  <a:lnTo>
                    <a:pt x="2" y="515"/>
                  </a:lnTo>
                  <a:lnTo>
                    <a:pt x="2" y="491"/>
                  </a:lnTo>
                  <a:lnTo>
                    <a:pt x="2" y="478"/>
                  </a:lnTo>
                  <a:lnTo>
                    <a:pt x="2" y="464"/>
                  </a:lnTo>
                  <a:lnTo>
                    <a:pt x="2" y="450"/>
                  </a:lnTo>
                  <a:lnTo>
                    <a:pt x="2" y="435"/>
                  </a:lnTo>
                  <a:lnTo>
                    <a:pt x="1" y="418"/>
                  </a:lnTo>
                  <a:lnTo>
                    <a:pt x="1" y="402"/>
                  </a:lnTo>
                  <a:lnTo>
                    <a:pt x="1" y="385"/>
                  </a:lnTo>
                  <a:lnTo>
                    <a:pt x="0" y="368"/>
                  </a:lnTo>
                  <a:lnTo>
                    <a:pt x="0" y="350"/>
                  </a:lnTo>
                  <a:lnTo>
                    <a:pt x="0" y="333"/>
                  </a:lnTo>
                  <a:lnTo>
                    <a:pt x="0" y="297"/>
                  </a:lnTo>
                  <a:lnTo>
                    <a:pt x="0" y="260"/>
                  </a:lnTo>
                  <a:lnTo>
                    <a:pt x="0" y="224"/>
                  </a:lnTo>
                  <a:lnTo>
                    <a:pt x="1" y="207"/>
                  </a:lnTo>
                  <a:lnTo>
                    <a:pt x="2" y="189"/>
                  </a:lnTo>
                  <a:lnTo>
                    <a:pt x="4" y="173"/>
                  </a:lnTo>
                  <a:lnTo>
                    <a:pt x="5" y="156"/>
                  </a:lnTo>
                  <a:lnTo>
                    <a:pt x="7" y="140"/>
                  </a:lnTo>
                  <a:lnTo>
                    <a:pt x="8" y="125"/>
                  </a:lnTo>
                  <a:lnTo>
                    <a:pt x="12" y="110"/>
                  </a:lnTo>
                  <a:lnTo>
                    <a:pt x="14" y="96"/>
                  </a:lnTo>
                  <a:lnTo>
                    <a:pt x="18" y="82"/>
                  </a:lnTo>
                  <a:lnTo>
                    <a:pt x="21" y="70"/>
                  </a:lnTo>
                  <a:lnTo>
                    <a:pt x="26" y="58"/>
                  </a:lnTo>
                  <a:lnTo>
                    <a:pt x="29" y="48"/>
                  </a:lnTo>
                  <a:lnTo>
                    <a:pt x="35" y="37"/>
                  </a:lnTo>
                  <a:lnTo>
                    <a:pt x="37" y="34"/>
                  </a:lnTo>
                  <a:lnTo>
                    <a:pt x="41" y="29"/>
                  </a:lnTo>
                  <a:lnTo>
                    <a:pt x="43" y="26"/>
                  </a:lnTo>
                  <a:lnTo>
                    <a:pt x="47" y="22"/>
                  </a:lnTo>
                  <a:lnTo>
                    <a:pt x="50" y="19"/>
                  </a:lnTo>
                  <a:lnTo>
                    <a:pt x="54" y="16"/>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7" name="Freeform 6"/>
            <p:cNvSpPr>
              <a:spLocks/>
            </p:cNvSpPr>
            <p:nvPr/>
          </p:nvSpPr>
          <p:spPr bwMode="auto">
            <a:xfrm>
              <a:off x="1880" y="2877"/>
              <a:ext cx="112" cy="72"/>
            </a:xfrm>
            <a:custGeom>
              <a:avLst/>
              <a:gdLst>
                <a:gd name="T0" fmla="*/ 43 w 112"/>
                <a:gd name="T1" fmla="*/ 0 h 72"/>
                <a:gd name="T2" fmla="*/ 0 w 112"/>
                <a:gd name="T3" fmla="*/ 72 h 72"/>
                <a:gd name="T4" fmla="*/ 69 w 112"/>
                <a:gd name="T5" fmla="*/ 72 h 72"/>
                <a:gd name="T6" fmla="*/ 112 w 112"/>
                <a:gd name="T7" fmla="*/ 0 h 72"/>
                <a:gd name="T8" fmla="*/ 43 w 112"/>
                <a:gd name="T9" fmla="*/ 0 h 72"/>
              </a:gdLst>
              <a:ahLst/>
              <a:cxnLst>
                <a:cxn ang="0">
                  <a:pos x="T0" y="T1"/>
                </a:cxn>
                <a:cxn ang="0">
                  <a:pos x="T2" y="T3"/>
                </a:cxn>
                <a:cxn ang="0">
                  <a:pos x="T4" y="T5"/>
                </a:cxn>
                <a:cxn ang="0">
                  <a:pos x="T6" y="T7"/>
                </a:cxn>
                <a:cxn ang="0">
                  <a:pos x="T8" y="T9"/>
                </a:cxn>
              </a:cxnLst>
              <a:rect l="0" t="0" r="r" b="b"/>
              <a:pathLst>
                <a:path w="112" h="72">
                  <a:moveTo>
                    <a:pt x="43" y="0"/>
                  </a:moveTo>
                  <a:lnTo>
                    <a:pt x="0" y="72"/>
                  </a:lnTo>
                  <a:lnTo>
                    <a:pt x="69" y="72"/>
                  </a:lnTo>
                  <a:lnTo>
                    <a:pt x="112" y="0"/>
                  </a:lnTo>
                  <a:lnTo>
                    <a:pt x="43" y="0"/>
                  </a:lnTo>
                  <a:close/>
                </a:path>
              </a:pathLst>
            </a:custGeom>
            <a:solidFill>
              <a:srgbClr val="33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8" name="Rectangle 7"/>
            <p:cNvSpPr>
              <a:spLocks noChangeArrowheads="1"/>
            </p:cNvSpPr>
            <p:nvPr/>
          </p:nvSpPr>
          <p:spPr bwMode="auto">
            <a:xfrm>
              <a:off x="1937" y="2644"/>
              <a:ext cx="52"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9" name="Rectangle 8"/>
            <p:cNvSpPr>
              <a:spLocks noChangeArrowheads="1"/>
            </p:cNvSpPr>
            <p:nvPr/>
          </p:nvSpPr>
          <p:spPr bwMode="auto">
            <a:xfrm>
              <a:off x="1881" y="2711"/>
              <a:ext cx="71"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0" name="Rectangle 9"/>
            <p:cNvSpPr>
              <a:spLocks noChangeArrowheads="1"/>
            </p:cNvSpPr>
            <p:nvPr/>
          </p:nvSpPr>
          <p:spPr bwMode="auto">
            <a:xfrm>
              <a:off x="1881" y="2711"/>
              <a:ext cx="71" cy="236"/>
            </a:xfrm>
            <a:prstGeom prst="rect">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1" name="Freeform 10"/>
            <p:cNvSpPr>
              <a:spLocks/>
            </p:cNvSpPr>
            <p:nvPr/>
          </p:nvSpPr>
          <p:spPr bwMode="auto">
            <a:xfrm>
              <a:off x="1880" y="2641"/>
              <a:ext cx="112" cy="72"/>
            </a:xfrm>
            <a:custGeom>
              <a:avLst/>
              <a:gdLst>
                <a:gd name="T0" fmla="*/ 43 w 112"/>
                <a:gd name="T1" fmla="*/ 0 h 72"/>
                <a:gd name="T2" fmla="*/ 0 w 112"/>
                <a:gd name="T3" fmla="*/ 72 h 72"/>
                <a:gd name="T4" fmla="*/ 69 w 112"/>
                <a:gd name="T5" fmla="*/ 72 h 72"/>
                <a:gd name="T6" fmla="*/ 112 w 112"/>
                <a:gd name="T7" fmla="*/ 0 h 72"/>
                <a:gd name="T8" fmla="*/ 43 w 112"/>
                <a:gd name="T9" fmla="*/ 0 h 72"/>
              </a:gdLst>
              <a:ahLst/>
              <a:cxnLst>
                <a:cxn ang="0">
                  <a:pos x="T0" y="T1"/>
                </a:cxn>
                <a:cxn ang="0">
                  <a:pos x="T2" y="T3"/>
                </a:cxn>
                <a:cxn ang="0">
                  <a:pos x="T4" y="T5"/>
                </a:cxn>
                <a:cxn ang="0">
                  <a:pos x="T6" y="T7"/>
                </a:cxn>
                <a:cxn ang="0">
                  <a:pos x="T8" y="T9"/>
                </a:cxn>
              </a:cxnLst>
              <a:rect l="0" t="0" r="r" b="b"/>
              <a:pathLst>
                <a:path w="112" h="72">
                  <a:moveTo>
                    <a:pt x="43" y="0"/>
                  </a:moveTo>
                  <a:lnTo>
                    <a:pt x="0" y="72"/>
                  </a:lnTo>
                  <a:lnTo>
                    <a:pt x="69" y="72"/>
                  </a:lnTo>
                  <a:lnTo>
                    <a:pt x="112" y="0"/>
                  </a:lnTo>
                  <a:lnTo>
                    <a:pt x="43" y="0"/>
                  </a:lnTo>
                  <a:close/>
                </a:path>
              </a:pathLst>
            </a:custGeom>
            <a:solidFill>
              <a:srgbClr val="33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2" name="Freeform 11"/>
            <p:cNvSpPr>
              <a:spLocks/>
            </p:cNvSpPr>
            <p:nvPr/>
          </p:nvSpPr>
          <p:spPr bwMode="auto">
            <a:xfrm>
              <a:off x="1880" y="2641"/>
              <a:ext cx="112" cy="72"/>
            </a:xfrm>
            <a:custGeom>
              <a:avLst/>
              <a:gdLst>
                <a:gd name="T0" fmla="*/ 43 w 112"/>
                <a:gd name="T1" fmla="*/ 0 h 72"/>
                <a:gd name="T2" fmla="*/ 0 w 112"/>
                <a:gd name="T3" fmla="*/ 72 h 72"/>
                <a:gd name="T4" fmla="*/ 69 w 112"/>
                <a:gd name="T5" fmla="*/ 72 h 72"/>
                <a:gd name="T6" fmla="*/ 112 w 112"/>
                <a:gd name="T7" fmla="*/ 0 h 72"/>
                <a:gd name="T8" fmla="*/ 43 w 112"/>
                <a:gd name="T9" fmla="*/ 0 h 72"/>
              </a:gdLst>
              <a:ahLst/>
              <a:cxnLst>
                <a:cxn ang="0">
                  <a:pos x="T0" y="T1"/>
                </a:cxn>
                <a:cxn ang="0">
                  <a:pos x="T2" y="T3"/>
                </a:cxn>
                <a:cxn ang="0">
                  <a:pos x="T4" y="T5"/>
                </a:cxn>
                <a:cxn ang="0">
                  <a:pos x="T6" y="T7"/>
                </a:cxn>
                <a:cxn ang="0">
                  <a:pos x="T8" y="T9"/>
                </a:cxn>
              </a:cxnLst>
              <a:rect l="0" t="0" r="r" b="b"/>
              <a:pathLst>
                <a:path w="112" h="72">
                  <a:moveTo>
                    <a:pt x="43" y="0"/>
                  </a:moveTo>
                  <a:lnTo>
                    <a:pt x="0" y="72"/>
                  </a:lnTo>
                  <a:lnTo>
                    <a:pt x="69" y="72"/>
                  </a:lnTo>
                  <a:lnTo>
                    <a:pt x="112" y="0"/>
                  </a:lnTo>
                  <a:lnTo>
                    <a:pt x="43" y="0"/>
                  </a:lnTo>
                  <a:close/>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3" name="Line 24"/>
            <p:cNvSpPr>
              <a:spLocks noChangeShapeType="1"/>
            </p:cNvSpPr>
            <p:nvPr/>
          </p:nvSpPr>
          <p:spPr bwMode="auto">
            <a:xfrm>
              <a:off x="1992" y="2647"/>
              <a:ext cx="1" cy="23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4" name="Line 25"/>
            <p:cNvSpPr>
              <a:spLocks noChangeShapeType="1"/>
            </p:cNvSpPr>
            <p:nvPr/>
          </p:nvSpPr>
          <p:spPr bwMode="auto">
            <a:xfrm flipH="1">
              <a:off x="1952" y="2877"/>
              <a:ext cx="40" cy="7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5" name="Rectangle 14"/>
            <p:cNvSpPr>
              <a:spLocks noChangeArrowheads="1"/>
            </p:cNvSpPr>
            <p:nvPr/>
          </p:nvSpPr>
          <p:spPr bwMode="auto">
            <a:xfrm>
              <a:off x="1891" y="2742"/>
              <a:ext cx="46" cy="135"/>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6" name="Rectangle 15"/>
            <p:cNvSpPr>
              <a:spLocks noChangeArrowheads="1"/>
            </p:cNvSpPr>
            <p:nvPr/>
          </p:nvSpPr>
          <p:spPr bwMode="auto">
            <a:xfrm>
              <a:off x="1891" y="2742"/>
              <a:ext cx="46" cy="135"/>
            </a:xfrm>
            <a:prstGeom prst="rect">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7" name="Rectangle 16"/>
            <p:cNvSpPr>
              <a:spLocks noChangeArrowheads="1"/>
            </p:cNvSpPr>
            <p:nvPr/>
          </p:nvSpPr>
          <p:spPr bwMode="auto">
            <a:xfrm>
              <a:off x="1898" y="2783"/>
              <a:ext cx="35" cy="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8" name="Freeform 17"/>
            <p:cNvSpPr>
              <a:spLocks/>
            </p:cNvSpPr>
            <p:nvPr/>
          </p:nvSpPr>
          <p:spPr bwMode="auto">
            <a:xfrm>
              <a:off x="1176" y="2645"/>
              <a:ext cx="249" cy="208"/>
            </a:xfrm>
            <a:custGeom>
              <a:avLst/>
              <a:gdLst>
                <a:gd name="T0" fmla="*/ 70 w 249"/>
                <a:gd name="T1" fmla="*/ 14 h 208"/>
                <a:gd name="T2" fmla="*/ 70 w 249"/>
                <a:gd name="T3" fmla="*/ 14 h 208"/>
                <a:gd name="T4" fmla="*/ 73 w 249"/>
                <a:gd name="T5" fmla="*/ 14 h 208"/>
                <a:gd name="T6" fmla="*/ 75 w 249"/>
                <a:gd name="T7" fmla="*/ 13 h 208"/>
                <a:gd name="T8" fmla="*/ 79 w 249"/>
                <a:gd name="T9" fmla="*/ 12 h 208"/>
                <a:gd name="T10" fmla="*/ 83 w 249"/>
                <a:gd name="T11" fmla="*/ 10 h 208"/>
                <a:gd name="T12" fmla="*/ 88 w 249"/>
                <a:gd name="T13" fmla="*/ 9 h 208"/>
                <a:gd name="T14" fmla="*/ 95 w 249"/>
                <a:gd name="T15" fmla="*/ 8 h 208"/>
                <a:gd name="T16" fmla="*/ 103 w 249"/>
                <a:gd name="T17" fmla="*/ 6 h 208"/>
                <a:gd name="T18" fmla="*/ 111 w 249"/>
                <a:gd name="T19" fmla="*/ 5 h 208"/>
                <a:gd name="T20" fmla="*/ 121 w 249"/>
                <a:gd name="T21" fmla="*/ 3 h 208"/>
                <a:gd name="T22" fmla="*/ 132 w 249"/>
                <a:gd name="T23" fmla="*/ 2 h 208"/>
                <a:gd name="T24" fmla="*/ 144 w 249"/>
                <a:gd name="T25" fmla="*/ 1 h 208"/>
                <a:gd name="T26" fmla="*/ 157 w 249"/>
                <a:gd name="T27" fmla="*/ 0 h 208"/>
                <a:gd name="T28" fmla="*/ 170 w 249"/>
                <a:gd name="T29" fmla="*/ 0 h 208"/>
                <a:gd name="T30" fmla="*/ 185 w 249"/>
                <a:gd name="T31" fmla="*/ 0 h 208"/>
                <a:gd name="T32" fmla="*/ 201 w 249"/>
                <a:gd name="T33" fmla="*/ 0 h 208"/>
                <a:gd name="T34" fmla="*/ 208 w 249"/>
                <a:gd name="T35" fmla="*/ 28 h 208"/>
                <a:gd name="T36" fmla="*/ 210 w 249"/>
                <a:gd name="T37" fmla="*/ 29 h 208"/>
                <a:gd name="T38" fmla="*/ 216 w 249"/>
                <a:gd name="T39" fmla="*/ 33 h 208"/>
                <a:gd name="T40" fmla="*/ 222 w 249"/>
                <a:gd name="T41" fmla="*/ 40 h 208"/>
                <a:gd name="T42" fmla="*/ 226 w 249"/>
                <a:gd name="T43" fmla="*/ 50 h 208"/>
                <a:gd name="T44" fmla="*/ 240 w 249"/>
                <a:gd name="T45" fmla="*/ 116 h 208"/>
                <a:gd name="T46" fmla="*/ 247 w 249"/>
                <a:gd name="T47" fmla="*/ 144 h 208"/>
                <a:gd name="T48" fmla="*/ 247 w 249"/>
                <a:gd name="T49" fmla="*/ 146 h 208"/>
                <a:gd name="T50" fmla="*/ 248 w 249"/>
                <a:gd name="T51" fmla="*/ 151 h 208"/>
                <a:gd name="T52" fmla="*/ 248 w 249"/>
                <a:gd name="T53" fmla="*/ 159 h 208"/>
                <a:gd name="T54" fmla="*/ 244 w 249"/>
                <a:gd name="T55" fmla="*/ 169 h 208"/>
                <a:gd name="T56" fmla="*/ 0 w 249"/>
                <a:gd name="T57" fmla="*/ 162 h 208"/>
                <a:gd name="T58" fmla="*/ 25 w 249"/>
                <a:gd name="T59" fmla="*/ 149 h 208"/>
                <a:gd name="T60" fmla="*/ 25 w 249"/>
                <a:gd name="T61" fmla="*/ 28 h 208"/>
                <a:gd name="T62" fmla="*/ 26 w 249"/>
                <a:gd name="T63" fmla="*/ 27 h 208"/>
                <a:gd name="T64" fmla="*/ 28 w 249"/>
                <a:gd name="T65" fmla="*/ 26 h 208"/>
                <a:gd name="T66" fmla="*/ 32 w 249"/>
                <a:gd name="T67" fmla="*/ 24 h 208"/>
                <a:gd name="T68" fmla="*/ 37 w 249"/>
                <a:gd name="T69" fmla="*/ 22 h 208"/>
                <a:gd name="T70" fmla="*/ 42 w 249"/>
                <a:gd name="T71" fmla="*/ 22 h 208"/>
                <a:gd name="T72" fmla="*/ 49 w 249"/>
                <a:gd name="T73" fmla="*/ 22 h 208"/>
                <a:gd name="T74" fmla="*/ 58 w 249"/>
                <a:gd name="T75" fmla="*/ 23 h 208"/>
                <a:gd name="T76" fmla="*/ 68 w 249"/>
                <a:gd name="T77" fmla="*/ 2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9" h="208">
                  <a:moveTo>
                    <a:pt x="68" y="27"/>
                  </a:moveTo>
                  <a:lnTo>
                    <a:pt x="70" y="14"/>
                  </a:lnTo>
                  <a:lnTo>
                    <a:pt x="70" y="14"/>
                  </a:lnTo>
                  <a:lnTo>
                    <a:pt x="70" y="14"/>
                  </a:lnTo>
                  <a:lnTo>
                    <a:pt x="72" y="14"/>
                  </a:lnTo>
                  <a:lnTo>
                    <a:pt x="73" y="14"/>
                  </a:lnTo>
                  <a:lnTo>
                    <a:pt x="74" y="13"/>
                  </a:lnTo>
                  <a:lnTo>
                    <a:pt x="75" y="13"/>
                  </a:lnTo>
                  <a:lnTo>
                    <a:pt x="76" y="13"/>
                  </a:lnTo>
                  <a:lnTo>
                    <a:pt x="79" y="12"/>
                  </a:lnTo>
                  <a:lnTo>
                    <a:pt x="81" y="12"/>
                  </a:lnTo>
                  <a:lnTo>
                    <a:pt x="83" y="10"/>
                  </a:lnTo>
                  <a:lnTo>
                    <a:pt x="86" y="9"/>
                  </a:lnTo>
                  <a:lnTo>
                    <a:pt x="88" y="9"/>
                  </a:lnTo>
                  <a:lnTo>
                    <a:pt x="91" y="8"/>
                  </a:lnTo>
                  <a:lnTo>
                    <a:pt x="95" y="8"/>
                  </a:lnTo>
                  <a:lnTo>
                    <a:pt x="98" y="7"/>
                  </a:lnTo>
                  <a:lnTo>
                    <a:pt x="103" y="6"/>
                  </a:lnTo>
                  <a:lnTo>
                    <a:pt x="107" y="6"/>
                  </a:lnTo>
                  <a:lnTo>
                    <a:pt x="111" y="5"/>
                  </a:lnTo>
                  <a:lnTo>
                    <a:pt x="116" y="5"/>
                  </a:lnTo>
                  <a:lnTo>
                    <a:pt x="121" y="3"/>
                  </a:lnTo>
                  <a:lnTo>
                    <a:pt x="126" y="2"/>
                  </a:lnTo>
                  <a:lnTo>
                    <a:pt x="132" y="2"/>
                  </a:lnTo>
                  <a:lnTo>
                    <a:pt x="137" y="1"/>
                  </a:lnTo>
                  <a:lnTo>
                    <a:pt x="144" y="1"/>
                  </a:lnTo>
                  <a:lnTo>
                    <a:pt x="150" y="1"/>
                  </a:lnTo>
                  <a:lnTo>
                    <a:pt x="157" y="0"/>
                  </a:lnTo>
                  <a:lnTo>
                    <a:pt x="163" y="0"/>
                  </a:lnTo>
                  <a:lnTo>
                    <a:pt x="170" y="0"/>
                  </a:lnTo>
                  <a:lnTo>
                    <a:pt x="178" y="0"/>
                  </a:lnTo>
                  <a:lnTo>
                    <a:pt x="185" y="0"/>
                  </a:lnTo>
                  <a:lnTo>
                    <a:pt x="193" y="0"/>
                  </a:lnTo>
                  <a:lnTo>
                    <a:pt x="201" y="0"/>
                  </a:lnTo>
                  <a:lnTo>
                    <a:pt x="210" y="5"/>
                  </a:lnTo>
                  <a:lnTo>
                    <a:pt x="208" y="28"/>
                  </a:lnTo>
                  <a:lnTo>
                    <a:pt x="208" y="28"/>
                  </a:lnTo>
                  <a:lnTo>
                    <a:pt x="210" y="29"/>
                  </a:lnTo>
                  <a:lnTo>
                    <a:pt x="213" y="31"/>
                  </a:lnTo>
                  <a:lnTo>
                    <a:pt x="216" y="33"/>
                  </a:lnTo>
                  <a:lnTo>
                    <a:pt x="220" y="36"/>
                  </a:lnTo>
                  <a:lnTo>
                    <a:pt x="222" y="40"/>
                  </a:lnTo>
                  <a:lnTo>
                    <a:pt x="224" y="44"/>
                  </a:lnTo>
                  <a:lnTo>
                    <a:pt x="226" y="50"/>
                  </a:lnTo>
                  <a:lnTo>
                    <a:pt x="245" y="68"/>
                  </a:lnTo>
                  <a:lnTo>
                    <a:pt x="240" y="116"/>
                  </a:lnTo>
                  <a:lnTo>
                    <a:pt x="208" y="132"/>
                  </a:lnTo>
                  <a:lnTo>
                    <a:pt x="247" y="144"/>
                  </a:lnTo>
                  <a:lnTo>
                    <a:pt x="247" y="144"/>
                  </a:lnTo>
                  <a:lnTo>
                    <a:pt x="247" y="146"/>
                  </a:lnTo>
                  <a:lnTo>
                    <a:pt x="248" y="148"/>
                  </a:lnTo>
                  <a:lnTo>
                    <a:pt x="248" y="151"/>
                  </a:lnTo>
                  <a:lnTo>
                    <a:pt x="249" y="154"/>
                  </a:lnTo>
                  <a:lnTo>
                    <a:pt x="248" y="159"/>
                  </a:lnTo>
                  <a:lnTo>
                    <a:pt x="247" y="163"/>
                  </a:lnTo>
                  <a:lnTo>
                    <a:pt x="244" y="169"/>
                  </a:lnTo>
                  <a:lnTo>
                    <a:pt x="144" y="208"/>
                  </a:lnTo>
                  <a:lnTo>
                    <a:pt x="0" y="162"/>
                  </a:lnTo>
                  <a:lnTo>
                    <a:pt x="3" y="158"/>
                  </a:lnTo>
                  <a:lnTo>
                    <a:pt x="25" y="149"/>
                  </a:lnTo>
                  <a:lnTo>
                    <a:pt x="25" y="28"/>
                  </a:lnTo>
                  <a:lnTo>
                    <a:pt x="25" y="28"/>
                  </a:lnTo>
                  <a:lnTo>
                    <a:pt x="25" y="28"/>
                  </a:lnTo>
                  <a:lnTo>
                    <a:pt x="26" y="27"/>
                  </a:lnTo>
                  <a:lnTo>
                    <a:pt x="27" y="27"/>
                  </a:lnTo>
                  <a:lnTo>
                    <a:pt x="28" y="26"/>
                  </a:lnTo>
                  <a:lnTo>
                    <a:pt x="31" y="24"/>
                  </a:lnTo>
                  <a:lnTo>
                    <a:pt x="32" y="24"/>
                  </a:lnTo>
                  <a:lnTo>
                    <a:pt x="34" y="23"/>
                  </a:lnTo>
                  <a:lnTo>
                    <a:pt x="37" y="22"/>
                  </a:lnTo>
                  <a:lnTo>
                    <a:pt x="40" y="22"/>
                  </a:lnTo>
                  <a:lnTo>
                    <a:pt x="42" y="22"/>
                  </a:lnTo>
                  <a:lnTo>
                    <a:pt x="46" y="22"/>
                  </a:lnTo>
                  <a:lnTo>
                    <a:pt x="49" y="22"/>
                  </a:lnTo>
                  <a:lnTo>
                    <a:pt x="53" y="22"/>
                  </a:lnTo>
                  <a:lnTo>
                    <a:pt x="58" y="23"/>
                  </a:lnTo>
                  <a:lnTo>
                    <a:pt x="61" y="24"/>
                  </a:lnTo>
                  <a:lnTo>
                    <a:pt x="6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9" name="Freeform 18"/>
            <p:cNvSpPr>
              <a:spLocks/>
            </p:cNvSpPr>
            <p:nvPr/>
          </p:nvSpPr>
          <p:spPr bwMode="auto">
            <a:xfrm>
              <a:off x="1263" y="2660"/>
              <a:ext cx="79" cy="91"/>
            </a:xfrm>
            <a:custGeom>
              <a:avLst/>
              <a:gdLst>
                <a:gd name="T0" fmla="*/ 78 w 79"/>
                <a:gd name="T1" fmla="*/ 4 h 91"/>
                <a:gd name="T2" fmla="*/ 78 w 79"/>
                <a:gd name="T3" fmla="*/ 4 h 91"/>
                <a:gd name="T4" fmla="*/ 77 w 79"/>
                <a:gd name="T5" fmla="*/ 4 h 91"/>
                <a:gd name="T6" fmla="*/ 74 w 79"/>
                <a:gd name="T7" fmla="*/ 2 h 91"/>
                <a:gd name="T8" fmla="*/ 72 w 79"/>
                <a:gd name="T9" fmla="*/ 2 h 91"/>
                <a:gd name="T10" fmla="*/ 69 w 79"/>
                <a:gd name="T11" fmla="*/ 1 h 91"/>
                <a:gd name="T12" fmla="*/ 65 w 79"/>
                <a:gd name="T13" fmla="*/ 1 h 91"/>
                <a:gd name="T14" fmla="*/ 60 w 79"/>
                <a:gd name="T15" fmla="*/ 1 h 91"/>
                <a:gd name="T16" fmla="*/ 56 w 79"/>
                <a:gd name="T17" fmla="*/ 0 h 91"/>
                <a:gd name="T18" fmla="*/ 50 w 79"/>
                <a:gd name="T19" fmla="*/ 0 h 91"/>
                <a:gd name="T20" fmla="*/ 44 w 79"/>
                <a:gd name="T21" fmla="*/ 0 h 91"/>
                <a:gd name="T22" fmla="*/ 38 w 79"/>
                <a:gd name="T23" fmla="*/ 1 h 91"/>
                <a:gd name="T24" fmla="*/ 31 w 79"/>
                <a:gd name="T25" fmla="*/ 2 h 91"/>
                <a:gd name="T26" fmla="*/ 25 w 79"/>
                <a:gd name="T27" fmla="*/ 4 h 91"/>
                <a:gd name="T28" fmla="*/ 18 w 79"/>
                <a:gd name="T29" fmla="*/ 6 h 91"/>
                <a:gd name="T30" fmla="*/ 11 w 79"/>
                <a:gd name="T31" fmla="*/ 8 h 91"/>
                <a:gd name="T32" fmla="*/ 4 w 79"/>
                <a:gd name="T33" fmla="*/ 11 h 91"/>
                <a:gd name="T34" fmla="*/ 4 w 79"/>
                <a:gd name="T35" fmla="*/ 13 h 91"/>
                <a:gd name="T36" fmla="*/ 3 w 79"/>
                <a:gd name="T37" fmla="*/ 18 h 91"/>
                <a:gd name="T38" fmla="*/ 1 w 79"/>
                <a:gd name="T39" fmla="*/ 26 h 91"/>
                <a:gd name="T40" fmla="*/ 0 w 79"/>
                <a:gd name="T41" fmla="*/ 35 h 91"/>
                <a:gd name="T42" fmla="*/ 0 w 79"/>
                <a:gd name="T43" fmla="*/ 47 h 91"/>
                <a:gd name="T44" fmla="*/ 0 w 79"/>
                <a:gd name="T45" fmla="*/ 60 h 91"/>
                <a:gd name="T46" fmla="*/ 2 w 79"/>
                <a:gd name="T47" fmla="*/ 74 h 91"/>
                <a:gd name="T48" fmla="*/ 6 w 79"/>
                <a:gd name="T49" fmla="*/ 89 h 91"/>
                <a:gd name="T50" fmla="*/ 7 w 79"/>
                <a:gd name="T51" fmla="*/ 89 h 91"/>
                <a:gd name="T52" fmla="*/ 8 w 79"/>
                <a:gd name="T53" fmla="*/ 89 h 91"/>
                <a:gd name="T54" fmla="*/ 9 w 79"/>
                <a:gd name="T55" fmla="*/ 88 h 91"/>
                <a:gd name="T56" fmla="*/ 11 w 79"/>
                <a:gd name="T57" fmla="*/ 88 h 91"/>
                <a:gd name="T58" fmla="*/ 15 w 79"/>
                <a:gd name="T59" fmla="*/ 88 h 91"/>
                <a:gd name="T60" fmla="*/ 18 w 79"/>
                <a:gd name="T61" fmla="*/ 88 h 91"/>
                <a:gd name="T62" fmla="*/ 22 w 79"/>
                <a:gd name="T63" fmla="*/ 88 h 91"/>
                <a:gd name="T64" fmla="*/ 27 w 79"/>
                <a:gd name="T65" fmla="*/ 88 h 91"/>
                <a:gd name="T66" fmla="*/ 32 w 79"/>
                <a:gd name="T67" fmla="*/ 87 h 91"/>
                <a:gd name="T68" fmla="*/ 38 w 79"/>
                <a:gd name="T69" fmla="*/ 88 h 91"/>
                <a:gd name="T70" fmla="*/ 44 w 79"/>
                <a:gd name="T71" fmla="*/ 88 h 91"/>
                <a:gd name="T72" fmla="*/ 50 w 79"/>
                <a:gd name="T73" fmla="*/ 88 h 91"/>
                <a:gd name="T74" fmla="*/ 57 w 79"/>
                <a:gd name="T75" fmla="*/ 88 h 91"/>
                <a:gd name="T76" fmla="*/ 64 w 79"/>
                <a:gd name="T77" fmla="*/ 89 h 91"/>
                <a:gd name="T78" fmla="*/ 71 w 79"/>
                <a:gd name="T79" fmla="*/ 90 h 91"/>
                <a:gd name="T80" fmla="*/ 79 w 79"/>
                <a:gd name="T81" fmla="*/ 91 h 91"/>
                <a:gd name="T82" fmla="*/ 79 w 79"/>
                <a:gd name="T83" fmla="*/ 88 h 91"/>
                <a:gd name="T84" fmla="*/ 78 w 79"/>
                <a:gd name="T85" fmla="*/ 81 h 91"/>
                <a:gd name="T86" fmla="*/ 77 w 79"/>
                <a:gd name="T87" fmla="*/ 70 h 91"/>
                <a:gd name="T88" fmla="*/ 76 w 79"/>
                <a:gd name="T89" fmla="*/ 57 h 91"/>
                <a:gd name="T90" fmla="*/ 76 w 79"/>
                <a:gd name="T91" fmla="*/ 43 h 91"/>
                <a:gd name="T92" fmla="*/ 76 w 79"/>
                <a:gd name="T93" fmla="*/ 28 h 91"/>
                <a:gd name="T94" fmla="*/ 77 w 79"/>
                <a:gd name="T95" fmla="*/ 15 h 91"/>
                <a:gd name="T96" fmla="*/ 78 w 79"/>
                <a:gd name="T97" fmla="*/ 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9" h="91">
                  <a:moveTo>
                    <a:pt x="78" y="4"/>
                  </a:moveTo>
                  <a:lnTo>
                    <a:pt x="78" y="4"/>
                  </a:lnTo>
                  <a:lnTo>
                    <a:pt x="77" y="4"/>
                  </a:lnTo>
                  <a:lnTo>
                    <a:pt x="74" y="2"/>
                  </a:lnTo>
                  <a:lnTo>
                    <a:pt x="72" y="2"/>
                  </a:lnTo>
                  <a:lnTo>
                    <a:pt x="69" y="1"/>
                  </a:lnTo>
                  <a:lnTo>
                    <a:pt x="65" y="1"/>
                  </a:lnTo>
                  <a:lnTo>
                    <a:pt x="60" y="1"/>
                  </a:lnTo>
                  <a:lnTo>
                    <a:pt x="56" y="0"/>
                  </a:lnTo>
                  <a:lnTo>
                    <a:pt x="50" y="0"/>
                  </a:lnTo>
                  <a:lnTo>
                    <a:pt x="44" y="0"/>
                  </a:lnTo>
                  <a:lnTo>
                    <a:pt x="38" y="1"/>
                  </a:lnTo>
                  <a:lnTo>
                    <a:pt x="31" y="2"/>
                  </a:lnTo>
                  <a:lnTo>
                    <a:pt x="25" y="4"/>
                  </a:lnTo>
                  <a:lnTo>
                    <a:pt x="18" y="6"/>
                  </a:lnTo>
                  <a:lnTo>
                    <a:pt x="11" y="8"/>
                  </a:lnTo>
                  <a:lnTo>
                    <a:pt x="4" y="11"/>
                  </a:lnTo>
                  <a:lnTo>
                    <a:pt x="4" y="13"/>
                  </a:lnTo>
                  <a:lnTo>
                    <a:pt x="3" y="18"/>
                  </a:lnTo>
                  <a:lnTo>
                    <a:pt x="1" y="26"/>
                  </a:lnTo>
                  <a:lnTo>
                    <a:pt x="0" y="35"/>
                  </a:lnTo>
                  <a:lnTo>
                    <a:pt x="0" y="47"/>
                  </a:lnTo>
                  <a:lnTo>
                    <a:pt x="0" y="60"/>
                  </a:lnTo>
                  <a:lnTo>
                    <a:pt x="2" y="74"/>
                  </a:lnTo>
                  <a:lnTo>
                    <a:pt x="6" y="89"/>
                  </a:lnTo>
                  <a:lnTo>
                    <a:pt x="7" y="89"/>
                  </a:lnTo>
                  <a:lnTo>
                    <a:pt x="8" y="89"/>
                  </a:lnTo>
                  <a:lnTo>
                    <a:pt x="9" y="88"/>
                  </a:lnTo>
                  <a:lnTo>
                    <a:pt x="11" y="88"/>
                  </a:lnTo>
                  <a:lnTo>
                    <a:pt x="15" y="88"/>
                  </a:lnTo>
                  <a:lnTo>
                    <a:pt x="18" y="88"/>
                  </a:lnTo>
                  <a:lnTo>
                    <a:pt x="22" y="88"/>
                  </a:lnTo>
                  <a:lnTo>
                    <a:pt x="27" y="88"/>
                  </a:lnTo>
                  <a:lnTo>
                    <a:pt x="32" y="87"/>
                  </a:lnTo>
                  <a:lnTo>
                    <a:pt x="38" y="88"/>
                  </a:lnTo>
                  <a:lnTo>
                    <a:pt x="44" y="88"/>
                  </a:lnTo>
                  <a:lnTo>
                    <a:pt x="50" y="88"/>
                  </a:lnTo>
                  <a:lnTo>
                    <a:pt x="57" y="88"/>
                  </a:lnTo>
                  <a:lnTo>
                    <a:pt x="64" y="89"/>
                  </a:lnTo>
                  <a:lnTo>
                    <a:pt x="71" y="90"/>
                  </a:lnTo>
                  <a:lnTo>
                    <a:pt x="79" y="91"/>
                  </a:lnTo>
                  <a:lnTo>
                    <a:pt x="79" y="88"/>
                  </a:lnTo>
                  <a:lnTo>
                    <a:pt x="78" y="81"/>
                  </a:lnTo>
                  <a:lnTo>
                    <a:pt x="77" y="70"/>
                  </a:lnTo>
                  <a:lnTo>
                    <a:pt x="76" y="57"/>
                  </a:lnTo>
                  <a:lnTo>
                    <a:pt x="76" y="43"/>
                  </a:lnTo>
                  <a:lnTo>
                    <a:pt x="76" y="28"/>
                  </a:lnTo>
                  <a:lnTo>
                    <a:pt x="77" y="15"/>
                  </a:lnTo>
                  <a:lnTo>
                    <a:pt x="78" y="4"/>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0" name="Freeform 19"/>
            <p:cNvSpPr>
              <a:spLocks/>
            </p:cNvSpPr>
            <p:nvPr/>
          </p:nvSpPr>
          <p:spPr bwMode="auto">
            <a:xfrm>
              <a:off x="1271" y="2685"/>
              <a:ext cx="132" cy="90"/>
            </a:xfrm>
            <a:custGeom>
              <a:avLst/>
              <a:gdLst>
                <a:gd name="T0" fmla="*/ 1 w 132"/>
                <a:gd name="T1" fmla="*/ 67 h 90"/>
                <a:gd name="T2" fmla="*/ 0 w 132"/>
                <a:gd name="T3" fmla="*/ 79 h 90"/>
                <a:gd name="T4" fmla="*/ 86 w 132"/>
                <a:gd name="T5" fmla="*/ 90 h 90"/>
                <a:gd name="T6" fmla="*/ 86 w 132"/>
                <a:gd name="T7" fmla="*/ 90 h 90"/>
                <a:gd name="T8" fmla="*/ 89 w 132"/>
                <a:gd name="T9" fmla="*/ 88 h 90"/>
                <a:gd name="T10" fmla="*/ 91 w 132"/>
                <a:gd name="T11" fmla="*/ 87 h 90"/>
                <a:gd name="T12" fmla="*/ 94 w 132"/>
                <a:gd name="T13" fmla="*/ 85 h 90"/>
                <a:gd name="T14" fmla="*/ 98 w 132"/>
                <a:gd name="T15" fmla="*/ 83 h 90"/>
                <a:gd name="T16" fmla="*/ 103 w 132"/>
                <a:gd name="T17" fmla="*/ 79 h 90"/>
                <a:gd name="T18" fmla="*/ 107 w 132"/>
                <a:gd name="T19" fmla="*/ 76 h 90"/>
                <a:gd name="T20" fmla="*/ 112 w 132"/>
                <a:gd name="T21" fmla="*/ 71 h 90"/>
                <a:gd name="T22" fmla="*/ 117 w 132"/>
                <a:gd name="T23" fmla="*/ 66 h 90"/>
                <a:gd name="T24" fmla="*/ 121 w 132"/>
                <a:gd name="T25" fmla="*/ 60 h 90"/>
                <a:gd name="T26" fmla="*/ 125 w 132"/>
                <a:gd name="T27" fmla="*/ 55 h 90"/>
                <a:gd name="T28" fmla="*/ 128 w 132"/>
                <a:gd name="T29" fmla="*/ 47 h 90"/>
                <a:gd name="T30" fmla="*/ 131 w 132"/>
                <a:gd name="T31" fmla="*/ 39 h 90"/>
                <a:gd name="T32" fmla="*/ 132 w 132"/>
                <a:gd name="T33" fmla="*/ 31 h 90"/>
                <a:gd name="T34" fmla="*/ 132 w 132"/>
                <a:gd name="T35" fmla="*/ 23 h 90"/>
                <a:gd name="T36" fmla="*/ 129 w 132"/>
                <a:gd name="T37" fmla="*/ 14 h 90"/>
                <a:gd name="T38" fmla="*/ 129 w 132"/>
                <a:gd name="T39" fmla="*/ 12 h 90"/>
                <a:gd name="T40" fmla="*/ 128 w 132"/>
                <a:gd name="T41" fmla="*/ 11 h 90"/>
                <a:gd name="T42" fmla="*/ 127 w 132"/>
                <a:gd name="T43" fmla="*/ 9 h 90"/>
                <a:gd name="T44" fmla="*/ 126 w 132"/>
                <a:gd name="T45" fmla="*/ 7 h 90"/>
                <a:gd name="T46" fmla="*/ 124 w 132"/>
                <a:gd name="T47" fmla="*/ 4 h 90"/>
                <a:gd name="T48" fmla="*/ 120 w 132"/>
                <a:gd name="T49" fmla="*/ 2 h 90"/>
                <a:gd name="T50" fmla="*/ 117 w 132"/>
                <a:gd name="T51" fmla="*/ 1 h 90"/>
                <a:gd name="T52" fmla="*/ 113 w 132"/>
                <a:gd name="T53" fmla="*/ 0 h 90"/>
                <a:gd name="T54" fmla="*/ 113 w 132"/>
                <a:gd name="T55" fmla="*/ 2 h 90"/>
                <a:gd name="T56" fmla="*/ 114 w 132"/>
                <a:gd name="T57" fmla="*/ 5 h 90"/>
                <a:gd name="T58" fmla="*/ 117 w 132"/>
                <a:gd name="T59" fmla="*/ 11 h 90"/>
                <a:gd name="T60" fmla="*/ 118 w 132"/>
                <a:gd name="T61" fmla="*/ 19 h 90"/>
                <a:gd name="T62" fmla="*/ 118 w 132"/>
                <a:gd name="T63" fmla="*/ 29 h 90"/>
                <a:gd name="T64" fmla="*/ 117 w 132"/>
                <a:gd name="T65" fmla="*/ 39 h 90"/>
                <a:gd name="T66" fmla="*/ 114 w 132"/>
                <a:gd name="T67" fmla="*/ 51 h 90"/>
                <a:gd name="T68" fmla="*/ 108 w 132"/>
                <a:gd name="T69" fmla="*/ 64 h 90"/>
                <a:gd name="T70" fmla="*/ 108 w 132"/>
                <a:gd name="T71" fmla="*/ 64 h 90"/>
                <a:gd name="T72" fmla="*/ 108 w 132"/>
                <a:gd name="T73" fmla="*/ 64 h 90"/>
                <a:gd name="T74" fmla="*/ 107 w 132"/>
                <a:gd name="T75" fmla="*/ 65 h 90"/>
                <a:gd name="T76" fmla="*/ 106 w 132"/>
                <a:gd name="T77" fmla="*/ 66 h 90"/>
                <a:gd name="T78" fmla="*/ 105 w 132"/>
                <a:gd name="T79" fmla="*/ 66 h 90"/>
                <a:gd name="T80" fmla="*/ 103 w 132"/>
                <a:gd name="T81" fmla="*/ 67 h 90"/>
                <a:gd name="T82" fmla="*/ 100 w 132"/>
                <a:gd name="T83" fmla="*/ 69 h 90"/>
                <a:gd name="T84" fmla="*/ 98 w 132"/>
                <a:gd name="T85" fmla="*/ 70 h 90"/>
                <a:gd name="T86" fmla="*/ 96 w 132"/>
                <a:gd name="T87" fmla="*/ 71 h 90"/>
                <a:gd name="T88" fmla="*/ 92 w 132"/>
                <a:gd name="T89" fmla="*/ 72 h 90"/>
                <a:gd name="T90" fmla="*/ 90 w 132"/>
                <a:gd name="T91" fmla="*/ 72 h 90"/>
                <a:gd name="T92" fmla="*/ 85 w 132"/>
                <a:gd name="T93" fmla="*/ 73 h 90"/>
                <a:gd name="T94" fmla="*/ 82 w 132"/>
                <a:gd name="T95" fmla="*/ 73 h 90"/>
                <a:gd name="T96" fmla="*/ 78 w 132"/>
                <a:gd name="T97" fmla="*/ 73 h 90"/>
                <a:gd name="T98" fmla="*/ 73 w 132"/>
                <a:gd name="T99" fmla="*/ 72 h 90"/>
                <a:gd name="T100" fmla="*/ 69 w 132"/>
                <a:gd name="T101" fmla="*/ 72 h 90"/>
                <a:gd name="T102" fmla="*/ 69 w 132"/>
                <a:gd name="T103" fmla="*/ 84 h 90"/>
                <a:gd name="T104" fmla="*/ 3 w 132"/>
                <a:gd name="T105" fmla="*/ 77 h 90"/>
                <a:gd name="T106" fmla="*/ 1 w 132"/>
                <a:gd name="T107" fmla="*/ 6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2" h="90">
                  <a:moveTo>
                    <a:pt x="1" y="67"/>
                  </a:moveTo>
                  <a:lnTo>
                    <a:pt x="0" y="79"/>
                  </a:lnTo>
                  <a:lnTo>
                    <a:pt x="86" y="90"/>
                  </a:lnTo>
                  <a:lnTo>
                    <a:pt x="86" y="90"/>
                  </a:lnTo>
                  <a:lnTo>
                    <a:pt x="89" y="88"/>
                  </a:lnTo>
                  <a:lnTo>
                    <a:pt x="91" y="87"/>
                  </a:lnTo>
                  <a:lnTo>
                    <a:pt x="94" y="85"/>
                  </a:lnTo>
                  <a:lnTo>
                    <a:pt x="98" y="83"/>
                  </a:lnTo>
                  <a:lnTo>
                    <a:pt x="103" y="79"/>
                  </a:lnTo>
                  <a:lnTo>
                    <a:pt x="107" y="76"/>
                  </a:lnTo>
                  <a:lnTo>
                    <a:pt x="112" y="71"/>
                  </a:lnTo>
                  <a:lnTo>
                    <a:pt x="117" y="66"/>
                  </a:lnTo>
                  <a:lnTo>
                    <a:pt x="121" y="60"/>
                  </a:lnTo>
                  <a:lnTo>
                    <a:pt x="125" y="55"/>
                  </a:lnTo>
                  <a:lnTo>
                    <a:pt x="128" y="47"/>
                  </a:lnTo>
                  <a:lnTo>
                    <a:pt x="131" y="39"/>
                  </a:lnTo>
                  <a:lnTo>
                    <a:pt x="132" y="31"/>
                  </a:lnTo>
                  <a:lnTo>
                    <a:pt x="132" y="23"/>
                  </a:lnTo>
                  <a:lnTo>
                    <a:pt x="129" y="14"/>
                  </a:lnTo>
                  <a:lnTo>
                    <a:pt x="129" y="12"/>
                  </a:lnTo>
                  <a:lnTo>
                    <a:pt x="128" y="11"/>
                  </a:lnTo>
                  <a:lnTo>
                    <a:pt x="127" y="9"/>
                  </a:lnTo>
                  <a:lnTo>
                    <a:pt x="126" y="7"/>
                  </a:lnTo>
                  <a:lnTo>
                    <a:pt x="124" y="4"/>
                  </a:lnTo>
                  <a:lnTo>
                    <a:pt x="120" y="2"/>
                  </a:lnTo>
                  <a:lnTo>
                    <a:pt x="117" y="1"/>
                  </a:lnTo>
                  <a:lnTo>
                    <a:pt x="113" y="0"/>
                  </a:lnTo>
                  <a:lnTo>
                    <a:pt x="113" y="2"/>
                  </a:lnTo>
                  <a:lnTo>
                    <a:pt x="114" y="5"/>
                  </a:lnTo>
                  <a:lnTo>
                    <a:pt x="117" y="11"/>
                  </a:lnTo>
                  <a:lnTo>
                    <a:pt x="118" y="19"/>
                  </a:lnTo>
                  <a:lnTo>
                    <a:pt x="118" y="29"/>
                  </a:lnTo>
                  <a:lnTo>
                    <a:pt x="117" y="39"/>
                  </a:lnTo>
                  <a:lnTo>
                    <a:pt x="114" y="51"/>
                  </a:lnTo>
                  <a:lnTo>
                    <a:pt x="108" y="64"/>
                  </a:lnTo>
                  <a:lnTo>
                    <a:pt x="108" y="64"/>
                  </a:lnTo>
                  <a:lnTo>
                    <a:pt x="108" y="64"/>
                  </a:lnTo>
                  <a:lnTo>
                    <a:pt x="107" y="65"/>
                  </a:lnTo>
                  <a:lnTo>
                    <a:pt x="106" y="66"/>
                  </a:lnTo>
                  <a:lnTo>
                    <a:pt x="105" y="66"/>
                  </a:lnTo>
                  <a:lnTo>
                    <a:pt x="103" y="67"/>
                  </a:lnTo>
                  <a:lnTo>
                    <a:pt x="100" y="69"/>
                  </a:lnTo>
                  <a:lnTo>
                    <a:pt x="98" y="70"/>
                  </a:lnTo>
                  <a:lnTo>
                    <a:pt x="96" y="71"/>
                  </a:lnTo>
                  <a:lnTo>
                    <a:pt x="92" y="72"/>
                  </a:lnTo>
                  <a:lnTo>
                    <a:pt x="90" y="72"/>
                  </a:lnTo>
                  <a:lnTo>
                    <a:pt x="85" y="73"/>
                  </a:lnTo>
                  <a:lnTo>
                    <a:pt x="82" y="73"/>
                  </a:lnTo>
                  <a:lnTo>
                    <a:pt x="78" y="73"/>
                  </a:lnTo>
                  <a:lnTo>
                    <a:pt x="73" y="72"/>
                  </a:lnTo>
                  <a:lnTo>
                    <a:pt x="69" y="72"/>
                  </a:lnTo>
                  <a:lnTo>
                    <a:pt x="69" y="84"/>
                  </a:lnTo>
                  <a:lnTo>
                    <a:pt x="3" y="77"/>
                  </a:lnTo>
                  <a:lnTo>
                    <a:pt x="1" y="67"/>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1" name="Freeform 20"/>
            <p:cNvSpPr>
              <a:spLocks/>
            </p:cNvSpPr>
            <p:nvPr/>
          </p:nvSpPr>
          <p:spPr bwMode="auto">
            <a:xfrm>
              <a:off x="1255" y="2773"/>
              <a:ext cx="96" cy="32"/>
            </a:xfrm>
            <a:custGeom>
              <a:avLst/>
              <a:gdLst>
                <a:gd name="T0" fmla="*/ 96 w 96"/>
                <a:gd name="T1" fmla="*/ 12 h 32"/>
                <a:gd name="T2" fmla="*/ 1 w 96"/>
                <a:gd name="T3" fmla="*/ 0 h 32"/>
                <a:gd name="T4" fmla="*/ 0 w 96"/>
                <a:gd name="T5" fmla="*/ 12 h 32"/>
                <a:gd name="T6" fmla="*/ 93 w 96"/>
                <a:gd name="T7" fmla="*/ 32 h 32"/>
                <a:gd name="T8" fmla="*/ 96 w 96"/>
                <a:gd name="T9" fmla="*/ 12 h 32"/>
              </a:gdLst>
              <a:ahLst/>
              <a:cxnLst>
                <a:cxn ang="0">
                  <a:pos x="T0" y="T1"/>
                </a:cxn>
                <a:cxn ang="0">
                  <a:pos x="T2" y="T3"/>
                </a:cxn>
                <a:cxn ang="0">
                  <a:pos x="T4" y="T5"/>
                </a:cxn>
                <a:cxn ang="0">
                  <a:pos x="T6" y="T7"/>
                </a:cxn>
                <a:cxn ang="0">
                  <a:pos x="T8" y="T9"/>
                </a:cxn>
              </a:cxnLst>
              <a:rect l="0" t="0" r="r" b="b"/>
              <a:pathLst>
                <a:path w="96" h="32">
                  <a:moveTo>
                    <a:pt x="96" y="12"/>
                  </a:moveTo>
                  <a:lnTo>
                    <a:pt x="1" y="0"/>
                  </a:lnTo>
                  <a:lnTo>
                    <a:pt x="0" y="12"/>
                  </a:lnTo>
                  <a:lnTo>
                    <a:pt x="93" y="32"/>
                  </a:lnTo>
                  <a:lnTo>
                    <a:pt x="96"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2" name="Freeform 21"/>
            <p:cNvSpPr>
              <a:spLocks/>
            </p:cNvSpPr>
            <p:nvPr/>
          </p:nvSpPr>
          <p:spPr bwMode="auto">
            <a:xfrm>
              <a:off x="1302" y="2784"/>
              <a:ext cx="42" cy="14"/>
            </a:xfrm>
            <a:custGeom>
              <a:avLst/>
              <a:gdLst>
                <a:gd name="T0" fmla="*/ 42 w 42"/>
                <a:gd name="T1" fmla="*/ 6 h 14"/>
                <a:gd name="T2" fmla="*/ 2 w 42"/>
                <a:gd name="T3" fmla="*/ 0 h 14"/>
                <a:gd name="T4" fmla="*/ 0 w 42"/>
                <a:gd name="T5" fmla="*/ 6 h 14"/>
                <a:gd name="T6" fmla="*/ 40 w 42"/>
                <a:gd name="T7" fmla="*/ 14 h 14"/>
                <a:gd name="T8" fmla="*/ 42 w 42"/>
                <a:gd name="T9" fmla="*/ 6 h 14"/>
              </a:gdLst>
              <a:ahLst/>
              <a:cxnLst>
                <a:cxn ang="0">
                  <a:pos x="T0" y="T1"/>
                </a:cxn>
                <a:cxn ang="0">
                  <a:pos x="T2" y="T3"/>
                </a:cxn>
                <a:cxn ang="0">
                  <a:pos x="T4" y="T5"/>
                </a:cxn>
                <a:cxn ang="0">
                  <a:pos x="T6" y="T7"/>
                </a:cxn>
                <a:cxn ang="0">
                  <a:pos x="T8" y="T9"/>
                </a:cxn>
              </a:cxnLst>
              <a:rect l="0" t="0" r="r" b="b"/>
              <a:pathLst>
                <a:path w="42" h="14">
                  <a:moveTo>
                    <a:pt x="42" y="6"/>
                  </a:moveTo>
                  <a:lnTo>
                    <a:pt x="2" y="0"/>
                  </a:lnTo>
                  <a:lnTo>
                    <a:pt x="0" y="6"/>
                  </a:lnTo>
                  <a:lnTo>
                    <a:pt x="40" y="14"/>
                  </a:lnTo>
                  <a:lnTo>
                    <a:pt x="42" y="6"/>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3" name="Freeform 22"/>
            <p:cNvSpPr>
              <a:spLocks/>
            </p:cNvSpPr>
            <p:nvPr/>
          </p:nvSpPr>
          <p:spPr bwMode="auto">
            <a:xfrm>
              <a:off x="1260" y="2777"/>
              <a:ext cx="28" cy="10"/>
            </a:xfrm>
            <a:custGeom>
              <a:avLst/>
              <a:gdLst>
                <a:gd name="T0" fmla="*/ 28 w 28"/>
                <a:gd name="T1" fmla="*/ 5 h 10"/>
                <a:gd name="T2" fmla="*/ 0 w 28"/>
                <a:gd name="T3" fmla="*/ 0 h 10"/>
                <a:gd name="T4" fmla="*/ 0 w 28"/>
                <a:gd name="T5" fmla="*/ 5 h 10"/>
                <a:gd name="T6" fmla="*/ 27 w 28"/>
                <a:gd name="T7" fmla="*/ 10 h 10"/>
                <a:gd name="T8" fmla="*/ 28 w 28"/>
                <a:gd name="T9" fmla="*/ 5 h 10"/>
              </a:gdLst>
              <a:ahLst/>
              <a:cxnLst>
                <a:cxn ang="0">
                  <a:pos x="T0" y="T1"/>
                </a:cxn>
                <a:cxn ang="0">
                  <a:pos x="T2" y="T3"/>
                </a:cxn>
                <a:cxn ang="0">
                  <a:pos x="T4" y="T5"/>
                </a:cxn>
                <a:cxn ang="0">
                  <a:pos x="T6" y="T7"/>
                </a:cxn>
                <a:cxn ang="0">
                  <a:pos x="T8" y="T9"/>
                </a:cxn>
              </a:cxnLst>
              <a:rect l="0" t="0" r="r" b="b"/>
              <a:pathLst>
                <a:path w="28" h="10">
                  <a:moveTo>
                    <a:pt x="28" y="5"/>
                  </a:moveTo>
                  <a:lnTo>
                    <a:pt x="0" y="0"/>
                  </a:lnTo>
                  <a:lnTo>
                    <a:pt x="0" y="5"/>
                  </a:lnTo>
                  <a:lnTo>
                    <a:pt x="27" y="10"/>
                  </a:lnTo>
                  <a:lnTo>
                    <a:pt x="28" y="5"/>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4" name="Freeform 23"/>
            <p:cNvSpPr>
              <a:spLocks/>
            </p:cNvSpPr>
            <p:nvPr/>
          </p:nvSpPr>
          <p:spPr bwMode="auto">
            <a:xfrm>
              <a:off x="1192" y="2786"/>
              <a:ext cx="162" cy="55"/>
            </a:xfrm>
            <a:custGeom>
              <a:avLst/>
              <a:gdLst>
                <a:gd name="T0" fmla="*/ 0 w 162"/>
                <a:gd name="T1" fmla="*/ 17 h 55"/>
                <a:gd name="T2" fmla="*/ 0 w 162"/>
                <a:gd name="T3" fmla="*/ 17 h 55"/>
                <a:gd name="T4" fmla="*/ 1 w 162"/>
                <a:gd name="T5" fmla="*/ 17 h 55"/>
                <a:gd name="T6" fmla="*/ 2 w 162"/>
                <a:gd name="T7" fmla="*/ 17 h 55"/>
                <a:gd name="T8" fmla="*/ 4 w 162"/>
                <a:gd name="T9" fmla="*/ 15 h 55"/>
                <a:gd name="T10" fmla="*/ 7 w 162"/>
                <a:gd name="T11" fmla="*/ 15 h 55"/>
                <a:gd name="T12" fmla="*/ 10 w 162"/>
                <a:gd name="T13" fmla="*/ 15 h 55"/>
                <a:gd name="T14" fmla="*/ 14 w 162"/>
                <a:gd name="T15" fmla="*/ 14 h 55"/>
                <a:gd name="T16" fmla="*/ 17 w 162"/>
                <a:gd name="T17" fmla="*/ 13 h 55"/>
                <a:gd name="T18" fmla="*/ 21 w 162"/>
                <a:gd name="T19" fmla="*/ 12 h 55"/>
                <a:gd name="T20" fmla="*/ 24 w 162"/>
                <a:gd name="T21" fmla="*/ 11 h 55"/>
                <a:gd name="T22" fmla="*/ 28 w 162"/>
                <a:gd name="T23" fmla="*/ 10 h 55"/>
                <a:gd name="T24" fmla="*/ 31 w 162"/>
                <a:gd name="T25" fmla="*/ 8 h 55"/>
                <a:gd name="T26" fmla="*/ 35 w 162"/>
                <a:gd name="T27" fmla="*/ 6 h 55"/>
                <a:gd name="T28" fmla="*/ 37 w 162"/>
                <a:gd name="T29" fmla="*/ 5 h 55"/>
                <a:gd name="T30" fmla="*/ 40 w 162"/>
                <a:gd name="T31" fmla="*/ 3 h 55"/>
                <a:gd name="T32" fmla="*/ 43 w 162"/>
                <a:gd name="T33" fmla="*/ 0 h 55"/>
                <a:gd name="T34" fmla="*/ 162 w 162"/>
                <a:gd name="T35" fmla="*/ 28 h 55"/>
                <a:gd name="T36" fmla="*/ 162 w 162"/>
                <a:gd name="T37" fmla="*/ 28 h 55"/>
                <a:gd name="T38" fmla="*/ 161 w 162"/>
                <a:gd name="T39" fmla="*/ 29 h 55"/>
                <a:gd name="T40" fmla="*/ 159 w 162"/>
                <a:gd name="T41" fmla="*/ 31 h 55"/>
                <a:gd name="T42" fmla="*/ 158 w 162"/>
                <a:gd name="T43" fmla="*/ 32 h 55"/>
                <a:gd name="T44" fmla="*/ 157 w 162"/>
                <a:gd name="T45" fmla="*/ 33 h 55"/>
                <a:gd name="T46" fmla="*/ 155 w 162"/>
                <a:gd name="T47" fmla="*/ 35 h 55"/>
                <a:gd name="T48" fmla="*/ 152 w 162"/>
                <a:gd name="T49" fmla="*/ 36 h 55"/>
                <a:gd name="T50" fmla="*/ 150 w 162"/>
                <a:gd name="T51" fmla="*/ 39 h 55"/>
                <a:gd name="T52" fmla="*/ 147 w 162"/>
                <a:gd name="T53" fmla="*/ 41 h 55"/>
                <a:gd name="T54" fmla="*/ 144 w 162"/>
                <a:gd name="T55" fmla="*/ 43 h 55"/>
                <a:gd name="T56" fmla="*/ 141 w 162"/>
                <a:gd name="T57" fmla="*/ 46 h 55"/>
                <a:gd name="T58" fmla="*/ 137 w 162"/>
                <a:gd name="T59" fmla="*/ 48 h 55"/>
                <a:gd name="T60" fmla="*/ 135 w 162"/>
                <a:gd name="T61" fmla="*/ 50 h 55"/>
                <a:gd name="T62" fmla="*/ 131 w 162"/>
                <a:gd name="T63" fmla="*/ 52 h 55"/>
                <a:gd name="T64" fmla="*/ 128 w 162"/>
                <a:gd name="T65" fmla="*/ 53 h 55"/>
                <a:gd name="T66" fmla="*/ 126 w 162"/>
                <a:gd name="T67" fmla="*/ 55 h 55"/>
                <a:gd name="T68" fmla="*/ 0 w 162"/>
                <a:gd name="T69"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2" h="55">
                  <a:moveTo>
                    <a:pt x="0" y="17"/>
                  </a:moveTo>
                  <a:lnTo>
                    <a:pt x="0" y="17"/>
                  </a:lnTo>
                  <a:lnTo>
                    <a:pt x="1" y="17"/>
                  </a:lnTo>
                  <a:lnTo>
                    <a:pt x="2" y="17"/>
                  </a:lnTo>
                  <a:lnTo>
                    <a:pt x="4" y="15"/>
                  </a:lnTo>
                  <a:lnTo>
                    <a:pt x="7" y="15"/>
                  </a:lnTo>
                  <a:lnTo>
                    <a:pt x="10" y="15"/>
                  </a:lnTo>
                  <a:lnTo>
                    <a:pt x="14" y="14"/>
                  </a:lnTo>
                  <a:lnTo>
                    <a:pt x="17" y="13"/>
                  </a:lnTo>
                  <a:lnTo>
                    <a:pt x="21" y="12"/>
                  </a:lnTo>
                  <a:lnTo>
                    <a:pt x="24" y="11"/>
                  </a:lnTo>
                  <a:lnTo>
                    <a:pt x="28" y="10"/>
                  </a:lnTo>
                  <a:lnTo>
                    <a:pt x="31" y="8"/>
                  </a:lnTo>
                  <a:lnTo>
                    <a:pt x="35" y="6"/>
                  </a:lnTo>
                  <a:lnTo>
                    <a:pt x="37" y="5"/>
                  </a:lnTo>
                  <a:lnTo>
                    <a:pt x="40" y="3"/>
                  </a:lnTo>
                  <a:lnTo>
                    <a:pt x="43" y="0"/>
                  </a:lnTo>
                  <a:lnTo>
                    <a:pt x="162" y="28"/>
                  </a:lnTo>
                  <a:lnTo>
                    <a:pt x="162" y="28"/>
                  </a:lnTo>
                  <a:lnTo>
                    <a:pt x="161" y="29"/>
                  </a:lnTo>
                  <a:lnTo>
                    <a:pt x="159" y="31"/>
                  </a:lnTo>
                  <a:lnTo>
                    <a:pt x="158" y="32"/>
                  </a:lnTo>
                  <a:lnTo>
                    <a:pt x="157" y="33"/>
                  </a:lnTo>
                  <a:lnTo>
                    <a:pt x="155" y="35"/>
                  </a:lnTo>
                  <a:lnTo>
                    <a:pt x="152" y="36"/>
                  </a:lnTo>
                  <a:lnTo>
                    <a:pt x="150" y="39"/>
                  </a:lnTo>
                  <a:lnTo>
                    <a:pt x="147" y="41"/>
                  </a:lnTo>
                  <a:lnTo>
                    <a:pt x="144" y="43"/>
                  </a:lnTo>
                  <a:lnTo>
                    <a:pt x="141" y="46"/>
                  </a:lnTo>
                  <a:lnTo>
                    <a:pt x="137" y="48"/>
                  </a:lnTo>
                  <a:lnTo>
                    <a:pt x="135" y="50"/>
                  </a:lnTo>
                  <a:lnTo>
                    <a:pt x="131" y="52"/>
                  </a:lnTo>
                  <a:lnTo>
                    <a:pt x="128" y="53"/>
                  </a:lnTo>
                  <a:lnTo>
                    <a:pt x="126" y="55"/>
                  </a:lnTo>
                  <a:lnTo>
                    <a:pt x="0" y="17"/>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5" name="Freeform 24"/>
            <p:cNvSpPr>
              <a:spLocks/>
            </p:cNvSpPr>
            <p:nvPr/>
          </p:nvSpPr>
          <p:spPr bwMode="auto">
            <a:xfrm>
              <a:off x="1354" y="2780"/>
              <a:ext cx="57" cy="26"/>
            </a:xfrm>
            <a:custGeom>
              <a:avLst/>
              <a:gdLst>
                <a:gd name="T0" fmla="*/ 6 w 57"/>
                <a:gd name="T1" fmla="*/ 26 h 26"/>
                <a:gd name="T2" fmla="*/ 57 w 57"/>
                <a:gd name="T3" fmla="*/ 11 h 26"/>
                <a:gd name="T4" fmla="*/ 25 w 57"/>
                <a:gd name="T5" fmla="*/ 0 h 26"/>
                <a:gd name="T6" fmla="*/ 0 w 57"/>
                <a:gd name="T7" fmla="*/ 4 h 26"/>
                <a:gd name="T8" fmla="*/ 0 w 57"/>
                <a:gd name="T9" fmla="*/ 25 h 26"/>
                <a:gd name="T10" fmla="*/ 6 w 57"/>
                <a:gd name="T11" fmla="*/ 26 h 26"/>
              </a:gdLst>
              <a:ahLst/>
              <a:cxnLst>
                <a:cxn ang="0">
                  <a:pos x="T0" y="T1"/>
                </a:cxn>
                <a:cxn ang="0">
                  <a:pos x="T2" y="T3"/>
                </a:cxn>
                <a:cxn ang="0">
                  <a:pos x="T4" y="T5"/>
                </a:cxn>
                <a:cxn ang="0">
                  <a:pos x="T6" y="T7"/>
                </a:cxn>
                <a:cxn ang="0">
                  <a:pos x="T8" y="T9"/>
                </a:cxn>
                <a:cxn ang="0">
                  <a:pos x="T10" y="T11"/>
                </a:cxn>
              </a:cxnLst>
              <a:rect l="0" t="0" r="r" b="b"/>
              <a:pathLst>
                <a:path w="57" h="26">
                  <a:moveTo>
                    <a:pt x="6" y="26"/>
                  </a:moveTo>
                  <a:lnTo>
                    <a:pt x="57" y="11"/>
                  </a:lnTo>
                  <a:lnTo>
                    <a:pt x="25" y="0"/>
                  </a:lnTo>
                  <a:lnTo>
                    <a:pt x="0" y="4"/>
                  </a:lnTo>
                  <a:lnTo>
                    <a:pt x="0" y="25"/>
                  </a:lnTo>
                  <a:lnTo>
                    <a:pt x="6" y="26"/>
                  </a:lnTo>
                  <a:close/>
                </a:path>
              </a:pathLst>
            </a:custGeom>
            <a:solidFill>
              <a:srgbClr val="00199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6" name="Freeform 25"/>
            <p:cNvSpPr>
              <a:spLocks/>
            </p:cNvSpPr>
            <p:nvPr/>
          </p:nvSpPr>
          <p:spPr bwMode="auto">
            <a:xfrm>
              <a:off x="1203" y="2671"/>
              <a:ext cx="32" cy="122"/>
            </a:xfrm>
            <a:custGeom>
              <a:avLst/>
              <a:gdLst>
                <a:gd name="T0" fmla="*/ 32 w 32"/>
                <a:gd name="T1" fmla="*/ 2 h 122"/>
                <a:gd name="T2" fmla="*/ 32 w 32"/>
                <a:gd name="T3" fmla="*/ 2 h 122"/>
                <a:gd name="T4" fmla="*/ 31 w 32"/>
                <a:gd name="T5" fmla="*/ 2 h 122"/>
                <a:gd name="T6" fmla="*/ 31 w 32"/>
                <a:gd name="T7" fmla="*/ 2 h 122"/>
                <a:gd name="T8" fmla="*/ 29 w 32"/>
                <a:gd name="T9" fmla="*/ 1 h 122"/>
                <a:gd name="T10" fmla="*/ 27 w 32"/>
                <a:gd name="T11" fmla="*/ 1 h 122"/>
                <a:gd name="T12" fmla="*/ 26 w 32"/>
                <a:gd name="T13" fmla="*/ 1 h 122"/>
                <a:gd name="T14" fmla="*/ 24 w 32"/>
                <a:gd name="T15" fmla="*/ 0 h 122"/>
                <a:gd name="T16" fmla="*/ 22 w 32"/>
                <a:gd name="T17" fmla="*/ 0 h 122"/>
                <a:gd name="T18" fmla="*/ 20 w 32"/>
                <a:gd name="T19" fmla="*/ 0 h 122"/>
                <a:gd name="T20" fmla="*/ 18 w 32"/>
                <a:gd name="T21" fmla="*/ 0 h 122"/>
                <a:gd name="T22" fmla="*/ 14 w 32"/>
                <a:gd name="T23" fmla="*/ 0 h 122"/>
                <a:gd name="T24" fmla="*/ 12 w 32"/>
                <a:gd name="T25" fmla="*/ 0 h 122"/>
                <a:gd name="T26" fmla="*/ 10 w 32"/>
                <a:gd name="T27" fmla="*/ 1 h 122"/>
                <a:gd name="T28" fmla="*/ 6 w 32"/>
                <a:gd name="T29" fmla="*/ 2 h 122"/>
                <a:gd name="T30" fmla="*/ 4 w 32"/>
                <a:gd name="T31" fmla="*/ 3 h 122"/>
                <a:gd name="T32" fmla="*/ 0 w 32"/>
                <a:gd name="T33" fmla="*/ 5 h 122"/>
                <a:gd name="T34" fmla="*/ 0 w 32"/>
                <a:gd name="T35" fmla="*/ 122 h 122"/>
                <a:gd name="T36" fmla="*/ 1 w 32"/>
                <a:gd name="T37" fmla="*/ 122 h 122"/>
                <a:gd name="T38" fmla="*/ 1 w 32"/>
                <a:gd name="T39" fmla="*/ 122 h 122"/>
                <a:gd name="T40" fmla="*/ 3 w 32"/>
                <a:gd name="T41" fmla="*/ 122 h 122"/>
                <a:gd name="T42" fmla="*/ 4 w 32"/>
                <a:gd name="T43" fmla="*/ 122 h 122"/>
                <a:gd name="T44" fmla="*/ 5 w 32"/>
                <a:gd name="T45" fmla="*/ 122 h 122"/>
                <a:gd name="T46" fmla="*/ 7 w 32"/>
                <a:gd name="T47" fmla="*/ 121 h 122"/>
                <a:gd name="T48" fmla="*/ 8 w 32"/>
                <a:gd name="T49" fmla="*/ 121 h 122"/>
                <a:gd name="T50" fmla="*/ 11 w 32"/>
                <a:gd name="T51" fmla="*/ 121 h 122"/>
                <a:gd name="T52" fmla="*/ 13 w 32"/>
                <a:gd name="T53" fmla="*/ 120 h 122"/>
                <a:gd name="T54" fmla="*/ 15 w 32"/>
                <a:gd name="T55" fmla="*/ 119 h 122"/>
                <a:gd name="T56" fmla="*/ 18 w 32"/>
                <a:gd name="T57" fmla="*/ 119 h 122"/>
                <a:gd name="T58" fmla="*/ 21 w 32"/>
                <a:gd name="T59" fmla="*/ 118 h 122"/>
                <a:gd name="T60" fmla="*/ 24 w 32"/>
                <a:gd name="T61" fmla="*/ 115 h 122"/>
                <a:gd name="T62" fmla="*/ 26 w 32"/>
                <a:gd name="T63" fmla="*/ 114 h 122"/>
                <a:gd name="T64" fmla="*/ 29 w 32"/>
                <a:gd name="T65" fmla="*/ 113 h 122"/>
                <a:gd name="T66" fmla="*/ 32 w 32"/>
                <a:gd name="T67" fmla="*/ 111 h 122"/>
                <a:gd name="T68" fmla="*/ 32 w 32"/>
                <a:gd name="T69" fmla="*/ 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 h="122">
                  <a:moveTo>
                    <a:pt x="32" y="2"/>
                  </a:moveTo>
                  <a:lnTo>
                    <a:pt x="32" y="2"/>
                  </a:lnTo>
                  <a:lnTo>
                    <a:pt x="31" y="2"/>
                  </a:lnTo>
                  <a:lnTo>
                    <a:pt x="31" y="2"/>
                  </a:lnTo>
                  <a:lnTo>
                    <a:pt x="29" y="1"/>
                  </a:lnTo>
                  <a:lnTo>
                    <a:pt x="27" y="1"/>
                  </a:lnTo>
                  <a:lnTo>
                    <a:pt x="26" y="1"/>
                  </a:lnTo>
                  <a:lnTo>
                    <a:pt x="24" y="0"/>
                  </a:lnTo>
                  <a:lnTo>
                    <a:pt x="22" y="0"/>
                  </a:lnTo>
                  <a:lnTo>
                    <a:pt x="20" y="0"/>
                  </a:lnTo>
                  <a:lnTo>
                    <a:pt x="18" y="0"/>
                  </a:lnTo>
                  <a:lnTo>
                    <a:pt x="14" y="0"/>
                  </a:lnTo>
                  <a:lnTo>
                    <a:pt x="12" y="0"/>
                  </a:lnTo>
                  <a:lnTo>
                    <a:pt x="10" y="1"/>
                  </a:lnTo>
                  <a:lnTo>
                    <a:pt x="6" y="2"/>
                  </a:lnTo>
                  <a:lnTo>
                    <a:pt x="4" y="3"/>
                  </a:lnTo>
                  <a:lnTo>
                    <a:pt x="0" y="5"/>
                  </a:lnTo>
                  <a:lnTo>
                    <a:pt x="0" y="122"/>
                  </a:lnTo>
                  <a:lnTo>
                    <a:pt x="1" y="122"/>
                  </a:lnTo>
                  <a:lnTo>
                    <a:pt x="1" y="122"/>
                  </a:lnTo>
                  <a:lnTo>
                    <a:pt x="3" y="122"/>
                  </a:lnTo>
                  <a:lnTo>
                    <a:pt x="4" y="122"/>
                  </a:lnTo>
                  <a:lnTo>
                    <a:pt x="5" y="122"/>
                  </a:lnTo>
                  <a:lnTo>
                    <a:pt x="7" y="121"/>
                  </a:lnTo>
                  <a:lnTo>
                    <a:pt x="8" y="121"/>
                  </a:lnTo>
                  <a:lnTo>
                    <a:pt x="11" y="121"/>
                  </a:lnTo>
                  <a:lnTo>
                    <a:pt x="13" y="120"/>
                  </a:lnTo>
                  <a:lnTo>
                    <a:pt x="15" y="119"/>
                  </a:lnTo>
                  <a:lnTo>
                    <a:pt x="18" y="119"/>
                  </a:lnTo>
                  <a:lnTo>
                    <a:pt x="21" y="118"/>
                  </a:lnTo>
                  <a:lnTo>
                    <a:pt x="24" y="115"/>
                  </a:lnTo>
                  <a:lnTo>
                    <a:pt x="26" y="114"/>
                  </a:lnTo>
                  <a:lnTo>
                    <a:pt x="29" y="113"/>
                  </a:lnTo>
                  <a:lnTo>
                    <a:pt x="32" y="111"/>
                  </a:lnTo>
                  <a:lnTo>
                    <a:pt x="32" y="2"/>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7" name="Freeform 26"/>
            <p:cNvSpPr>
              <a:spLocks/>
            </p:cNvSpPr>
            <p:nvPr/>
          </p:nvSpPr>
          <p:spPr bwMode="auto">
            <a:xfrm>
              <a:off x="1204" y="2672"/>
              <a:ext cx="27" cy="104"/>
            </a:xfrm>
            <a:custGeom>
              <a:avLst/>
              <a:gdLst>
                <a:gd name="T0" fmla="*/ 27 w 27"/>
                <a:gd name="T1" fmla="*/ 2 h 104"/>
                <a:gd name="T2" fmla="*/ 27 w 27"/>
                <a:gd name="T3" fmla="*/ 2 h 104"/>
                <a:gd name="T4" fmla="*/ 26 w 27"/>
                <a:gd name="T5" fmla="*/ 2 h 104"/>
                <a:gd name="T6" fmla="*/ 26 w 27"/>
                <a:gd name="T7" fmla="*/ 1 h 104"/>
                <a:gd name="T8" fmla="*/ 25 w 27"/>
                <a:gd name="T9" fmla="*/ 1 h 104"/>
                <a:gd name="T10" fmla="*/ 24 w 27"/>
                <a:gd name="T11" fmla="*/ 1 h 104"/>
                <a:gd name="T12" fmla="*/ 23 w 27"/>
                <a:gd name="T13" fmla="*/ 0 h 104"/>
                <a:gd name="T14" fmla="*/ 20 w 27"/>
                <a:gd name="T15" fmla="*/ 0 h 104"/>
                <a:gd name="T16" fmla="*/ 19 w 27"/>
                <a:gd name="T17" fmla="*/ 0 h 104"/>
                <a:gd name="T18" fmla="*/ 17 w 27"/>
                <a:gd name="T19" fmla="*/ 0 h 104"/>
                <a:gd name="T20" fmla="*/ 14 w 27"/>
                <a:gd name="T21" fmla="*/ 0 h 104"/>
                <a:gd name="T22" fmla="*/ 12 w 27"/>
                <a:gd name="T23" fmla="*/ 0 h 104"/>
                <a:gd name="T24" fmla="*/ 10 w 27"/>
                <a:gd name="T25" fmla="*/ 0 h 104"/>
                <a:gd name="T26" fmla="*/ 9 w 27"/>
                <a:gd name="T27" fmla="*/ 1 h 104"/>
                <a:gd name="T28" fmla="*/ 5 w 27"/>
                <a:gd name="T29" fmla="*/ 2 h 104"/>
                <a:gd name="T30" fmla="*/ 3 w 27"/>
                <a:gd name="T31" fmla="*/ 3 h 104"/>
                <a:gd name="T32" fmla="*/ 0 w 27"/>
                <a:gd name="T33" fmla="*/ 4 h 104"/>
                <a:gd name="T34" fmla="*/ 0 w 27"/>
                <a:gd name="T35" fmla="*/ 104 h 104"/>
                <a:gd name="T36" fmla="*/ 0 w 27"/>
                <a:gd name="T37" fmla="*/ 104 h 104"/>
                <a:gd name="T38" fmla="*/ 2 w 27"/>
                <a:gd name="T39" fmla="*/ 104 h 104"/>
                <a:gd name="T40" fmla="*/ 2 w 27"/>
                <a:gd name="T41" fmla="*/ 103 h 104"/>
                <a:gd name="T42" fmla="*/ 3 w 27"/>
                <a:gd name="T43" fmla="*/ 103 h 104"/>
                <a:gd name="T44" fmla="*/ 4 w 27"/>
                <a:gd name="T45" fmla="*/ 103 h 104"/>
                <a:gd name="T46" fmla="*/ 6 w 27"/>
                <a:gd name="T47" fmla="*/ 103 h 104"/>
                <a:gd name="T48" fmla="*/ 7 w 27"/>
                <a:gd name="T49" fmla="*/ 103 h 104"/>
                <a:gd name="T50" fmla="*/ 10 w 27"/>
                <a:gd name="T51" fmla="*/ 101 h 104"/>
                <a:gd name="T52" fmla="*/ 11 w 27"/>
                <a:gd name="T53" fmla="*/ 101 h 104"/>
                <a:gd name="T54" fmla="*/ 13 w 27"/>
                <a:gd name="T55" fmla="*/ 100 h 104"/>
                <a:gd name="T56" fmla="*/ 16 w 27"/>
                <a:gd name="T57" fmla="*/ 99 h 104"/>
                <a:gd name="T58" fmla="*/ 18 w 27"/>
                <a:gd name="T59" fmla="*/ 99 h 104"/>
                <a:gd name="T60" fmla="*/ 20 w 27"/>
                <a:gd name="T61" fmla="*/ 98 h 104"/>
                <a:gd name="T62" fmla="*/ 23 w 27"/>
                <a:gd name="T63" fmla="*/ 97 h 104"/>
                <a:gd name="T64" fmla="*/ 25 w 27"/>
                <a:gd name="T65" fmla="*/ 94 h 104"/>
                <a:gd name="T66" fmla="*/ 27 w 27"/>
                <a:gd name="T67" fmla="*/ 93 h 104"/>
                <a:gd name="T68" fmla="*/ 27 w 27"/>
                <a:gd name="T69" fmla="*/ 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 h="104">
                  <a:moveTo>
                    <a:pt x="27" y="2"/>
                  </a:moveTo>
                  <a:lnTo>
                    <a:pt x="27" y="2"/>
                  </a:lnTo>
                  <a:lnTo>
                    <a:pt x="26" y="2"/>
                  </a:lnTo>
                  <a:lnTo>
                    <a:pt x="26" y="1"/>
                  </a:lnTo>
                  <a:lnTo>
                    <a:pt x="25" y="1"/>
                  </a:lnTo>
                  <a:lnTo>
                    <a:pt x="24" y="1"/>
                  </a:lnTo>
                  <a:lnTo>
                    <a:pt x="23" y="0"/>
                  </a:lnTo>
                  <a:lnTo>
                    <a:pt x="20" y="0"/>
                  </a:lnTo>
                  <a:lnTo>
                    <a:pt x="19" y="0"/>
                  </a:lnTo>
                  <a:lnTo>
                    <a:pt x="17" y="0"/>
                  </a:lnTo>
                  <a:lnTo>
                    <a:pt x="14" y="0"/>
                  </a:lnTo>
                  <a:lnTo>
                    <a:pt x="12" y="0"/>
                  </a:lnTo>
                  <a:lnTo>
                    <a:pt x="10" y="0"/>
                  </a:lnTo>
                  <a:lnTo>
                    <a:pt x="9" y="1"/>
                  </a:lnTo>
                  <a:lnTo>
                    <a:pt x="5" y="2"/>
                  </a:lnTo>
                  <a:lnTo>
                    <a:pt x="3" y="3"/>
                  </a:lnTo>
                  <a:lnTo>
                    <a:pt x="0" y="4"/>
                  </a:lnTo>
                  <a:lnTo>
                    <a:pt x="0" y="104"/>
                  </a:lnTo>
                  <a:lnTo>
                    <a:pt x="0" y="104"/>
                  </a:lnTo>
                  <a:lnTo>
                    <a:pt x="2" y="104"/>
                  </a:lnTo>
                  <a:lnTo>
                    <a:pt x="2" y="103"/>
                  </a:lnTo>
                  <a:lnTo>
                    <a:pt x="3" y="103"/>
                  </a:lnTo>
                  <a:lnTo>
                    <a:pt x="4" y="103"/>
                  </a:lnTo>
                  <a:lnTo>
                    <a:pt x="6" y="103"/>
                  </a:lnTo>
                  <a:lnTo>
                    <a:pt x="7" y="103"/>
                  </a:lnTo>
                  <a:lnTo>
                    <a:pt x="10" y="101"/>
                  </a:lnTo>
                  <a:lnTo>
                    <a:pt x="11" y="101"/>
                  </a:lnTo>
                  <a:lnTo>
                    <a:pt x="13" y="100"/>
                  </a:lnTo>
                  <a:lnTo>
                    <a:pt x="16" y="99"/>
                  </a:lnTo>
                  <a:lnTo>
                    <a:pt x="18" y="99"/>
                  </a:lnTo>
                  <a:lnTo>
                    <a:pt x="20" y="98"/>
                  </a:lnTo>
                  <a:lnTo>
                    <a:pt x="23" y="97"/>
                  </a:lnTo>
                  <a:lnTo>
                    <a:pt x="25" y="94"/>
                  </a:lnTo>
                  <a:lnTo>
                    <a:pt x="27" y="93"/>
                  </a:lnTo>
                  <a:lnTo>
                    <a:pt x="27" y="2"/>
                  </a:lnTo>
                  <a:close/>
                </a:path>
              </a:pathLst>
            </a:custGeom>
            <a:solidFill>
              <a:srgbClr val="93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8" name="Freeform 27"/>
            <p:cNvSpPr>
              <a:spLocks/>
            </p:cNvSpPr>
            <p:nvPr/>
          </p:nvSpPr>
          <p:spPr bwMode="auto">
            <a:xfrm>
              <a:off x="1206" y="2673"/>
              <a:ext cx="22" cy="84"/>
            </a:xfrm>
            <a:custGeom>
              <a:avLst/>
              <a:gdLst>
                <a:gd name="T0" fmla="*/ 22 w 22"/>
                <a:gd name="T1" fmla="*/ 1 h 84"/>
                <a:gd name="T2" fmla="*/ 22 w 22"/>
                <a:gd name="T3" fmla="*/ 1 h 84"/>
                <a:gd name="T4" fmla="*/ 21 w 22"/>
                <a:gd name="T5" fmla="*/ 1 h 84"/>
                <a:gd name="T6" fmla="*/ 21 w 22"/>
                <a:gd name="T7" fmla="*/ 1 h 84"/>
                <a:gd name="T8" fmla="*/ 19 w 22"/>
                <a:gd name="T9" fmla="*/ 1 h 84"/>
                <a:gd name="T10" fmla="*/ 18 w 22"/>
                <a:gd name="T11" fmla="*/ 0 h 84"/>
                <a:gd name="T12" fmla="*/ 17 w 22"/>
                <a:gd name="T13" fmla="*/ 0 h 84"/>
                <a:gd name="T14" fmla="*/ 16 w 22"/>
                <a:gd name="T15" fmla="*/ 0 h 84"/>
                <a:gd name="T16" fmla="*/ 15 w 22"/>
                <a:gd name="T17" fmla="*/ 0 h 84"/>
                <a:gd name="T18" fmla="*/ 14 w 22"/>
                <a:gd name="T19" fmla="*/ 0 h 84"/>
                <a:gd name="T20" fmla="*/ 11 w 22"/>
                <a:gd name="T21" fmla="*/ 0 h 84"/>
                <a:gd name="T22" fmla="*/ 9 w 22"/>
                <a:gd name="T23" fmla="*/ 0 h 84"/>
                <a:gd name="T24" fmla="*/ 8 w 22"/>
                <a:gd name="T25" fmla="*/ 0 h 84"/>
                <a:gd name="T26" fmla="*/ 5 w 22"/>
                <a:gd name="T27" fmla="*/ 0 h 84"/>
                <a:gd name="T28" fmla="*/ 3 w 22"/>
                <a:gd name="T29" fmla="*/ 1 h 84"/>
                <a:gd name="T30" fmla="*/ 2 w 22"/>
                <a:gd name="T31" fmla="*/ 2 h 84"/>
                <a:gd name="T32" fmla="*/ 0 w 22"/>
                <a:gd name="T33" fmla="*/ 3 h 84"/>
                <a:gd name="T34" fmla="*/ 0 w 22"/>
                <a:gd name="T35" fmla="*/ 84 h 84"/>
                <a:gd name="T36" fmla="*/ 0 w 22"/>
                <a:gd name="T37" fmla="*/ 84 h 84"/>
                <a:gd name="T38" fmla="*/ 0 w 22"/>
                <a:gd name="T39" fmla="*/ 84 h 84"/>
                <a:gd name="T40" fmla="*/ 1 w 22"/>
                <a:gd name="T41" fmla="*/ 84 h 84"/>
                <a:gd name="T42" fmla="*/ 2 w 22"/>
                <a:gd name="T43" fmla="*/ 84 h 84"/>
                <a:gd name="T44" fmla="*/ 3 w 22"/>
                <a:gd name="T45" fmla="*/ 84 h 84"/>
                <a:gd name="T46" fmla="*/ 4 w 22"/>
                <a:gd name="T47" fmla="*/ 83 h 84"/>
                <a:gd name="T48" fmla="*/ 5 w 22"/>
                <a:gd name="T49" fmla="*/ 83 h 84"/>
                <a:gd name="T50" fmla="*/ 7 w 22"/>
                <a:gd name="T51" fmla="*/ 83 h 84"/>
                <a:gd name="T52" fmla="*/ 9 w 22"/>
                <a:gd name="T53" fmla="*/ 82 h 84"/>
                <a:gd name="T54" fmla="*/ 10 w 22"/>
                <a:gd name="T55" fmla="*/ 82 h 84"/>
                <a:gd name="T56" fmla="*/ 12 w 22"/>
                <a:gd name="T57" fmla="*/ 81 h 84"/>
                <a:gd name="T58" fmla="*/ 14 w 22"/>
                <a:gd name="T59" fmla="*/ 81 h 84"/>
                <a:gd name="T60" fmla="*/ 16 w 22"/>
                <a:gd name="T61" fmla="*/ 79 h 84"/>
                <a:gd name="T62" fmla="*/ 18 w 22"/>
                <a:gd name="T63" fmla="*/ 78 h 84"/>
                <a:gd name="T64" fmla="*/ 19 w 22"/>
                <a:gd name="T65" fmla="*/ 77 h 84"/>
                <a:gd name="T66" fmla="*/ 22 w 22"/>
                <a:gd name="T67" fmla="*/ 76 h 84"/>
                <a:gd name="T68" fmla="*/ 22 w 22"/>
                <a:gd name="T69" fmla="*/ 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 h="84">
                  <a:moveTo>
                    <a:pt x="22" y="1"/>
                  </a:moveTo>
                  <a:lnTo>
                    <a:pt x="22" y="1"/>
                  </a:lnTo>
                  <a:lnTo>
                    <a:pt x="21" y="1"/>
                  </a:lnTo>
                  <a:lnTo>
                    <a:pt x="21" y="1"/>
                  </a:lnTo>
                  <a:lnTo>
                    <a:pt x="19" y="1"/>
                  </a:lnTo>
                  <a:lnTo>
                    <a:pt x="18" y="0"/>
                  </a:lnTo>
                  <a:lnTo>
                    <a:pt x="17" y="0"/>
                  </a:lnTo>
                  <a:lnTo>
                    <a:pt x="16" y="0"/>
                  </a:lnTo>
                  <a:lnTo>
                    <a:pt x="15" y="0"/>
                  </a:lnTo>
                  <a:lnTo>
                    <a:pt x="14" y="0"/>
                  </a:lnTo>
                  <a:lnTo>
                    <a:pt x="11" y="0"/>
                  </a:lnTo>
                  <a:lnTo>
                    <a:pt x="9" y="0"/>
                  </a:lnTo>
                  <a:lnTo>
                    <a:pt x="8" y="0"/>
                  </a:lnTo>
                  <a:lnTo>
                    <a:pt x="5" y="0"/>
                  </a:lnTo>
                  <a:lnTo>
                    <a:pt x="3" y="1"/>
                  </a:lnTo>
                  <a:lnTo>
                    <a:pt x="2" y="2"/>
                  </a:lnTo>
                  <a:lnTo>
                    <a:pt x="0" y="3"/>
                  </a:lnTo>
                  <a:lnTo>
                    <a:pt x="0" y="84"/>
                  </a:lnTo>
                  <a:lnTo>
                    <a:pt x="0" y="84"/>
                  </a:lnTo>
                  <a:lnTo>
                    <a:pt x="0" y="84"/>
                  </a:lnTo>
                  <a:lnTo>
                    <a:pt x="1" y="84"/>
                  </a:lnTo>
                  <a:lnTo>
                    <a:pt x="2" y="84"/>
                  </a:lnTo>
                  <a:lnTo>
                    <a:pt x="3" y="84"/>
                  </a:lnTo>
                  <a:lnTo>
                    <a:pt x="4" y="83"/>
                  </a:lnTo>
                  <a:lnTo>
                    <a:pt x="5" y="83"/>
                  </a:lnTo>
                  <a:lnTo>
                    <a:pt x="7" y="83"/>
                  </a:lnTo>
                  <a:lnTo>
                    <a:pt x="9" y="82"/>
                  </a:lnTo>
                  <a:lnTo>
                    <a:pt x="10" y="82"/>
                  </a:lnTo>
                  <a:lnTo>
                    <a:pt x="12" y="81"/>
                  </a:lnTo>
                  <a:lnTo>
                    <a:pt x="14" y="81"/>
                  </a:lnTo>
                  <a:lnTo>
                    <a:pt x="16" y="79"/>
                  </a:lnTo>
                  <a:lnTo>
                    <a:pt x="18" y="78"/>
                  </a:lnTo>
                  <a:lnTo>
                    <a:pt x="19" y="77"/>
                  </a:lnTo>
                  <a:lnTo>
                    <a:pt x="22" y="76"/>
                  </a:lnTo>
                  <a:lnTo>
                    <a:pt x="22" y="1"/>
                  </a:lnTo>
                  <a:close/>
                </a:path>
              </a:pathLst>
            </a:custGeom>
            <a:solidFill>
              <a:srgbClr val="A8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9" name="Freeform 28"/>
            <p:cNvSpPr>
              <a:spLocks/>
            </p:cNvSpPr>
            <p:nvPr/>
          </p:nvSpPr>
          <p:spPr bwMode="auto">
            <a:xfrm>
              <a:off x="1207" y="2673"/>
              <a:ext cx="17" cy="65"/>
            </a:xfrm>
            <a:custGeom>
              <a:avLst/>
              <a:gdLst>
                <a:gd name="T0" fmla="*/ 17 w 17"/>
                <a:gd name="T1" fmla="*/ 2 h 65"/>
                <a:gd name="T2" fmla="*/ 17 w 17"/>
                <a:gd name="T3" fmla="*/ 2 h 65"/>
                <a:gd name="T4" fmla="*/ 16 w 17"/>
                <a:gd name="T5" fmla="*/ 1 h 65"/>
                <a:gd name="T6" fmla="*/ 14 w 17"/>
                <a:gd name="T7" fmla="*/ 1 h 65"/>
                <a:gd name="T8" fmla="*/ 11 w 17"/>
                <a:gd name="T9" fmla="*/ 1 h 65"/>
                <a:gd name="T10" fmla="*/ 9 w 17"/>
                <a:gd name="T11" fmla="*/ 0 h 65"/>
                <a:gd name="T12" fmla="*/ 6 w 17"/>
                <a:gd name="T13" fmla="*/ 1 h 65"/>
                <a:gd name="T14" fmla="*/ 2 w 17"/>
                <a:gd name="T15" fmla="*/ 2 h 65"/>
                <a:gd name="T16" fmla="*/ 0 w 17"/>
                <a:gd name="T17" fmla="*/ 3 h 65"/>
                <a:gd name="T18" fmla="*/ 0 w 17"/>
                <a:gd name="T19" fmla="*/ 65 h 65"/>
                <a:gd name="T20" fmla="*/ 0 w 17"/>
                <a:gd name="T21" fmla="*/ 65 h 65"/>
                <a:gd name="T22" fmla="*/ 1 w 17"/>
                <a:gd name="T23" fmla="*/ 65 h 65"/>
                <a:gd name="T24" fmla="*/ 3 w 17"/>
                <a:gd name="T25" fmla="*/ 65 h 65"/>
                <a:gd name="T26" fmla="*/ 6 w 17"/>
                <a:gd name="T27" fmla="*/ 64 h 65"/>
                <a:gd name="T28" fmla="*/ 8 w 17"/>
                <a:gd name="T29" fmla="*/ 64 h 65"/>
                <a:gd name="T30" fmla="*/ 11 w 17"/>
                <a:gd name="T31" fmla="*/ 63 h 65"/>
                <a:gd name="T32" fmla="*/ 14 w 17"/>
                <a:gd name="T33" fmla="*/ 61 h 65"/>
                <a:gd name="T34" fmla="*/ 17 w 17"/>
                <a:gd name="T35" fmla="*/ 58 h 65"/>
                <a:gd name="T36" fmla="*/ 17 w 17"/>
                <a:gd name="T37" fmla="*/ 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65">
                  <a:moveTo>
                    <a:pt x="17" y="2"/>
                  </a:moveTo>
                  <a:lnTo>
                    <a:pt x="17" y="2"/>
                  </a:lnTo>
                  <a:lnTo>
                    <a:pt x="16" y="1"/>
                  </a:lnTo>
                  <a:lnTo>
                    <a:pt x="14" y="1"/>
                  </a:lnTo>
                  <a:lnTo>
                    <a:pt x="11" y="1"/>
                  </a:lnTo>
                  <a:lnTo>
                    <a:pt x="9" y="0"/>
                  </a:lnTo>
                  <a:lnTo>
                    <a:pt x="6" y="1"/>
                  </a:lnTo>
                  <a:lnTo>
                    <a:pt x="2" y="2"/>
                  </a:lnTo>
                  <a:lnTo>
                    <a:pt x="0" y="3"/>
                  </a:lnTo>
                  <a:lnTo>
                    <a:pt x="0" y="65"/>
                  </a:lnTo>
                  <a:lnTo>
                    <a:pt x="0" y="65"/>
                  </a:lnTo>
                  <a:lnTo>
                    <a:pt x="1" y="65"/>
                  </a:lnTo>
                  <a:lnTo>
                    <a:pt x="3" y="65"/>
                  </a:lnTo>
                  <a:lnTo>
                    <a:pt x="6" y="64"/>
                  </a:lnTo>
                  <a:lnTo>
                    <a:pt x="8" y="64"/>
                  </a:lnTo>
                  <a:lnTo>
                    <a:pt x="11" y="63"/>
                  </a:lnTo>
                  <a:lnTo>
                    <a:pt x="14" y="61"/>
                  </a:lnTo>
                  <a:lnTo>
                    <a:pt x="17" y="58"/>
                  </a:lnTo>
                  <a:lnTo>
                    <a:pt x="17" y="2"/>
                  </a:lnTo>
                  <a:close/>
                </a:path>
              </a:pathLst>
            </a:custGeom>
            <a:solidFill>
              <a:srgbClr val="BCE5E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0" name="Freeform 29"/>
            <p:cNvSpPr>
              <a:spLocks/>
            </p:cNvSpPr>
            <p:nvPr/>
          </p:nvSpPr>
          <p:spPr bwMode="auto">
            <a:xfrm>
              <a:off x="1207" y="2674"/>
              <a:ext cx="14" cy="47"/>
            </a:xfrm>
            <a:custGeom>
              <a:avLst/>
              <a:gdLst>
                <a:gd name="T0" fmla="*/ 14 w 14"/>
                <a:gd name="T1" fmla="*/ 1 h 47"/>
                <a:gd name="T2" fmla="*/ 14 w 14"/>
                <a:gd name="T3" fmla="*/ 1 h 47"/>
                <a:gd name="T4" fmla="*/ 13 w 14"/>
                <a:gd name="T5" fmla="*/ 1 h 47"/>
                <a:gd name="T6" fmla="*/ 11 w 14"/>
                <a:gd name="T7" fmla="*/ 1 h 47"/>
                <a:gd name="T8" fmla="*/ 9 w 14"/>
                <a:gd name="T9" fmla="*/ 0 h 47"/>
                <a:gd name="T10" fmla="*/ 8 w 14"/>
                <a:gd name="T11" fmla="*/ 0 h 47"/>
                <a:gd name="T12" fmla="*/ 6 w 14"/>
                <a:gd name="T13" fmla="*/ 1 h 47"/>
                <a:gd name="T14" fmla="*/ 2 w 14"/>
                <a:gd name="T15" fmla="*/ 1 h 47"/>
                <a:gd name="T16" fmla="*/ 0 w 14"/>
                <a:gd name="T17" fmla="*/ 4 h 47"/>
                <a:gd name="T18" fmla="*/ 0 w 14"/>
                <a:gd name="T19" fmla="*/ 47 h 47"/>
                <a:gd name="T20" fmla="*/ 1 w 14"/>
                <a:gd name="T21" fmla="*/ 47 h 47"/>
                <a:gd name="T22" fmla="*/ 1 w 14"/>
                <a:gd name="T23" fmla="*/ 46 h 47"/>
                <a:gd name="T24" fmla="*/ 3 w 14"/>
                <a:gd name="T25" fmla="*/ 46 h 47"/>
                <a:gd name="T26" fmla="*/ 4 w 14"/>
                <a:gd name="T27" fmla="*/ 46 h 47"/>
                <a:gd name="T28" fmla="*/ 7 w 14"/>
                <a:gd name="T29" fmla="*/ 44 h 47"/>
                <a:gd name="T30" fmla="*/ 9 w 14"/>
                <a:gd name="T31" fmla="*/ 44 h 47"/>
                <a:gd name="T32" fmla="*/ 11 w 14"/>
                <a:gd name="T33" fmla="*/ 43 h 47"/>
                <a:gd name="T34" fmla="*/ 14 w 14"/>
                <a:gd name="T35" fmla="*/ 41 h 47"/>
                <a:gd name="T36" fmla="*/ 14 w 14"/>
                <a:gd name="T37" fmla="*/ 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 h="47">
                  <a:moveTo>
                    <a:pt x="14" y="1"/>
                  </a:moveTo>
                  <a:lnTo>
                    <a:pt x="14" y="1"/>
                  </a:lnTo>
                  <a:lnTo>
                    <a:pt x="13" y="1"/>
                  </a:lnTo>
                  <a:lnTo>
                    <a:pt x="11" y="1"/>
                  </a:lnTo>
                  <a:lnTo>
                    <a:pt x="9" y="0"/>
                  </a:lnTo>
                  <a:lnTo>
                    <a:pt x="8" y="0"/>
                  </a:lnTo>
                  <a:lnTo>
                    <a:pt x="6" y="1"/>
                  </a:lnTo>
                  <a:lnTo>
                    <a:pt x="2" y="1"/>
                  </a:lnTo>
                  <a:lnTo>
                    <a:pt x="0" y="4"/>
                  </a:lnTo>
                  <a:lnTo>
                    <a:pt x="0" y="47"/>
                  </a:lnTo>
                  <a:lnTo>
                    <a:pt x="1" y="47"/>
                  </a:lnTo>
                  <a:lnTo>
                    <a:pt x="1" y="46"/>
                  </a:lnTo>
                  <a:lnTo>
                    <a:pt x="3" y="46"/>
                  </a:lnTo>
                  <a:lnTo>
                    <a:pt x="4" y="46"/>
                  </a:lnTo>
                  <a:lnTo>
                    <a:pt x="7" y="44"/>
                  </a:lnTo>
                  <a:lnTo>
                    <a:pt x="9" y="44"/>
                  </a:lnTo>
                  <a:lnTo>
                    <a:pt x="11" y="43"/>
                  </a:lnTo>
                  <a:lnTo>
                    <a:pt x="14" y="41"/>
                  </a:lnTo>
                  <a:lnTo>
                    <a:pt x="14" y="1"/>
                  </a:lnTo>
                  <a:close/>
                </a:path>
              </a:pathLst>
            </a:custGeom>
            <a:solidFill>
              <a:srgbClr val="D1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1" name="Freeform 30"/>
            <p:cNvSpPr>
              <a:spLocks/>
            </p:cNvSpPr>
            <p:nvPr/>
          </p:nvSpPr>
          <p:spPr bwMode="auto">
            <a:xfrm>
              <a:off x="1208" y="2675"/>
              <a:ext cx="9" cy="27"/>
            </a:xfrm>
            <a:custGeom>
              <a:avLst/>
              <a:gdLst>
                <a:gd name="T0" fmla="*/ 9 w 9"/>
                <a:gd name="T1" fmla="*/ 1 h 27"/>
                <a:gd name="T2" fmla="*/ 9 w 9"/>
                <a:gd name="T3" fmla="*/ 1 h 27"/>
                <a:gd name="T4" fmla="*/ 8 w 9"/>
                <a:gd name="T5" fmla="*/ 1 h 27"/>
                <a:gd name="T6" fmla="*/ 7 w 9"/>
                <a:gd name="T7" fmla="*/ 1 h 27"/>
                <a:gd name="T8" fmla="*/ 6 w 9"/>
                <a:gd name="T9" fmla="*/ 0 h 27"/>
                <a:gd name="T10" fmla="*/ 5 w 9"/>
                <a:gd name="T11" fmla="*/ 0 h 27"/>
                <a:gd name="T12" fmla="*/ 3 w 9"/>
                <a:gd name="T13" fmla="*/ 0 h 27"/>
                <a:gd name="T14" fmla="*/ 1 w 9"/>
                <a:gd name="T15" fmla="*/ 1 h 27"/>
                <a:gd name="T16" fmla="*/ 0 w 9"/>
                <a:gd name="T17" fmla="*/ 3 h 27"/>
                <a:gd name="T18" fmla="*/ 0 w 9"/>
                <a:gd name="T19" fmla="*/ 27 h 27"/>
                <a:gd name="T20" fmla="*/ 0 w 9"/>
                <a:gd name="T21" fmla="*/ 27 h 27"/>
                <a:gd name="T22" fmla="*/ 1 w 9"/>
                <a:gd name="T23" fmla="*/ 27 h 27"/>
                <a:gd name="T24" fmla="*/ 2 w 9"/>
                <a:gd name="T25" fmla="*/ 27 h 27"/>
                <a:gd name="T26" fmla="*/ 3 w 9"/>
                <a:gd name="T27" fmla="*/ 27 h 27"/>
                <a:gd name="T28" fmla="*/ 5 w 9"/>
                <a:gd name="T29" fmla="*/ 26 h 27"/>
                <a:gd name="T30" fmla="*/ 6 w 9"/>
                <a:gd name="T31" fmla="*/ 26 h 27"/>
                <a:gd name="T32" fmla="*/ 8 w 9"/>
                <a:gd name="T33" fmla="*/ 25 h 27"/>
                <a:gd name="T34" fmla="*/ 9 w 9"/>
                <a:gd name="T35" fmla="*/ 24 h 27"/>
                <a:gd name="T36" fmla="*/ 9 w 9"/>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7">
                  <a:moveTo>
                    <a:pt x="9" y="1"/>
                  </a:moveTo>
                  <a:lnTo>
                    <a:pt x="9" y="1"/>
                  </a:lnTo>
                  <a:lnTo>
                    <a:pt x="8" y="1"/>
                  </a:lnTo>
                  <a:lnTo>
                    <a:pt x="7" y="1"/>
                  </a:lnTo>
                  <a:lnTo>
                    <a:pt x="6" y="0"/>
                  </a:lnTo>
                  <a:lnTo>
                    <a:pt x="5" y="0"/>
                  </a:lnTo>
                  <a:lnTo>
                    <a:pt x="3" y="0"/>
                  </a:lnTo>
                  <a:lnTo>
                    <a:pt x="1" y="1"/>
                  </a:lnTo>
                  <a:lnTo>
                    <a:pt x="0" y="3"/>
                  </a:lnTo>
                  <a:lnTo>
                    <a:pt x="0" y="27"/>
                  </a:lnTo>
                  <a:lnTo>
                    <a:pt x="0" y="27"/>
                  </a:lnTo>
                  <a:lnTo>
                    <a:pt x="1" y="27"/>
                  </a:lnTo>
                  <a:lnTo>
                    <a:pt x="2" y="27"/>
                  </a:lnTo>
                  <a:lnTo>
                    <a:pt x="3" y="27"/>
                  </a:lnTo>
                  <a:lnTo>
                    <a:pt x="5" y="26"/>
                  </a:lnTo>
                  <a:lnTo>
                    <a:pt x="6" y="26"/>
                  </a:lnTo>
                  <a:lnTo>
                    <a:pt x="8" y="25"/>
                  </a:lnTo>
                  <a:lnTo>
                    <a:pt x="9" y="24"/>
                  </a:lnTo>
                  <a:lnTo>
                    <a:pt x="9" y="1"/>
                  </a:lnTo>
                  <a:close/>
                </a:path>
              </a:pathLst>
            </a:custGeom>
            <a:solidFill>
              <a:srgbClr val="E5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2" name="Freeform 31"/>
            <p:cNvSpPr>
              <a:spLocks/>
            </p:cNvSpPr>
            <p:nvPr/>
          </p:nvSpPr>
          <p:spPr bwMode="auto">
            <a:xfrm>
              <a:off x="1319" y="2752"/>
              <a:ext cx="14" cy="13"/>
            </a:xfrm>
            <a:custGeom>
              <a:avLst/>
              <a:gdLst>
                <a:gd name="T0" fmla="*/ 7 w 14"/>
                <a:gd name="T1" fmla="*/ 13 h 13"/>
                <a:gd name="T2" fmla="*/ 8 w 14"/>
                <a:gd name="T3" fmla="*/ 13 h 13"/>
                <a:gd name="T4" fmla="*/ 9 w 14"/>
                <a:gd name="T5" fmla="*/ 13 h 13"/>
                <a:gd name="T6" fmla="*/ 10 w 14"/>
                <a:gd name="T7" fmla="*/ 12 h 13"/>
                <a:gd name="T8" fmla="*/ 11 w 14"/>
                <a:gd name="T9" fmla="*/ 11 h 13"/>
                <a:gd name="T10" fmla="*/ 13 w 14"/>
                <a:gd name="T11" fmla="*/ 11 h 13"/>
                <a:gd name="T12" fmla="*/ 13 w 14"/>
                <a:gd name="T13" fmla="*/ 10 h 13"/>
                <a:gd name="T14" fmla="*/ 14 w 14"/>
                <a:gd name="T15" fmla="*/ 7 h 13"/>
                <a:gd name="T16" fmla="*/ 14 w 14"/>
                <a:gd name="T17" fmla="*/ 6 h 13"/>
                <a:gd name="T18" fmla="*/ 14 w 14"/>
                <a:gd name="T19" fmla="*/ 5 h 13"/>
                <a:gd name="T20" fmla="*/ 13 w 14"/>
                <a:gd name="T21" fmla="*/ 4 h 13"/>
                <a:gd name="T22" fmla="*/ 13 w 14"/>
                <a:gd name="T23" fmla="*/ 3 h 13"/>
                <a:gd name="T24" fmla="*/ 11 w 14"/>
                <a:gd name="T25" fmla="*/ 2 h 13"/>
                <a:gd name="T26" fmla="*/ 10 w 14"/>
                <a:gd name="T27" fmla="*/ 0 h 13"/>
                <a:gd name="T28" fmla="*/ 9 w 14"/>
                <a:gd name="T29" fmla="*/ 0 h 13"/>
                <a:gd name="T30" fmla="*/ 8 w 14"/>
                <a:gd name="T31" fmla="*/ 0 h 13"/>
                <a:gd name="T32" fmla="*/ 7 w 14"/>
                <a:gd name="T33" fmla="*/ 0 h 13"/>
                <a:gd name="T34" fmla="*/ 6 w 14"/>
                <a:gd name="T35" fmla="*/ 0 h 13"/>
                <a:gd name="T36" fmla="*/ 4 w 14"/>
                <a:gd name="T37" fmla="*/ 0 h 13"/>
                <a:gd name="T38" fmla="*/ 3 w 14"/>
                <a:gd name="T39" fmla="*/ 0 h 13"/>
                <a:gd name="T40" fmla="*/ 2 w 14"/>
                <a:gd name="T41" fmla="*/ 2 h 13"/>
                <a:gd name="T42" fmla="*/ 1 w 14"/>
                <a:gd name="T43" fmla="*/ 3 h 13"/>
                <a:gd name="T44" fmla="*/ 1 w 14"/>
                <a:gd name="T45" fmla="*/ 4 h 13"/>
                <a:gd name="T46" fmla="*/ 0 w 14"/>
                <a:gd name="T47" fmla="*/ 5 h 13"/>
                <a:gd name="T48" fmla="*/ 0 w 14"/>
                <a:gd name="T49" fmla="*/ 6 h 13"/>
                <a:gd name="T50" fmla="*/ 0 w 14"/>
                <a:gd name="T51" fmla="*/ 7 h 13"/>
                <a:gd name="T52" fmla="*/ 1 w 14"/>
                <a:gd name="T53" fmla="*/ 10 h 13"/>
                <a:gd name="T54" fmla="*/ 1 w 14"/>
                <a:gd name="T55" fmla="*/ 11 h 13"/>
                <a:gd name="T56" fmla="*/ 2 w 14"/>
                <a:gd name="T57" fmla="*/ 11 h 13"/>
                <a:gd name="T58" fmla="*/ 3 w 14"/>
                <a:gd name="T59" fmla="*/ 12 h 13"/>
                <a:gd name="T60" fmla="*/ 4 w 14"/>
                <a:gd name="T61" fmla="*/ 13 h 13"/>
                <a:gd name="T62" fmla="*/ 6 w 14"/>
                <a:gd name="T63" fmla="*/ 13 h 13"/>
                <a:gd name="T64" fmla="*/ 7 w 14"/>
                <a:gd name="T65"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 h="13">
                  <a:moveTo>
                    <a:pt x="7" y="13"/>
                  </a:moveTo>
                  <a:lnTo>
                    <a:pt x="8" y="13"/>
                  </a:lnTo>
                  <a:lnTo>
                    <a:pt x="9" y="13"/>
                  </a:lnTo>
                  <a:lnTo>
                    <a:pt x="10" y="12"/>
                  </a:lnTo>
                  <a:lnTo>
                    <a:pt x="11" y="11"/>
                  </a:lnTo>
                  <a:lnTo>
                    <a:pt x="13" y="11"/>
                  </a:lnTo>
                  <a:lnTo>
                    <a:pt x="13" y="10"/>
                  </a:lnTo>
                  <a:lnTo>
                    <a:pt x="14" y="7"/>
                  </a:lnTo>
                  <a:lnTo>
                    <a:pt x="14" y="6"/>
                  </a:lnTo>
                  <a:lnTo>
                    <a:pt x="14" y="5"/>
                  </a:lnTo>
                  <a:lnTo>
                    <a:pt x="13" y="4"/>
                  </a:lnTo>
                  <a:lnTo>
                    <a:pt x="13" y="3"/>
                  </a:lnTo>
                  <a:lnTo>
                    <a:pt x="11" y="2"/>
                  </a:lnTo>
                  <a:lnTo>
                    <a:pt x="10" y="0"/>
                  </a:lnTo>
                  <a:lnTo>
                    <a:pt x="9" y="0"/>
                  </a:lnTo>
                  <a:lnTo>
                    <a:pt x="8" y="0"/>
                  </a:lnTo>
                  <a:lnTo>
                    <a:pt x="7" y="0"/>
                  </a:lnTo>
                  <a:lnTo>
                    <a:pt x="6" y="0"/>
                  </a:lnTo>
                  <a:lnTo>
                    <a:pt x="4" y="0"/>
                  </a:lnTo>
                  <a:lnTo>
                    <a:pt x="3" y="0"/>
                  </a:lnTo>
                  <a:lnTo>
                    <a:pt x="2" y="2"/>
                  </a:lnTo>
                  <a:lnTo>
                    <a:pt x="1" y="3"/>
                  </a:lnTo>
                  <a:lnTo>
                    <a:pt x="1" y="4"/>
                  </a:lnTo>
                  <a:lnTo>
                    <a:pt x="0" y="5"/>
                  </a:lnTo>
                  <a:lnTo>
                    <a:pt x="0" y="6"/>
                  </a:lnTo>
                  <a:lnTo>
                    <a:pt x="0" y="7"/>
                  </a:lnTo>
                  <a:lnTo>
                    <a:pt x="1" y="10"/>
                  </a:lnTo>
                  <a:lnTo>
                    <a:pt x="1" y="11"/>
                  </a:lnTo>
                  <a:lnTo>
                    <a:pt x="2" y="11"/>
                  </a:lnTo>
                  <a:lnTo>
                    <a:pt x="3" y="12"/>
                  </a:lnTo>
                  <a:lnTo>
                    <a:pt x="4" y="13"/>
                  </a:lnTo>
                  <a:lnTo>
                    <a:pt x="6" y="13"/>
                  </a:lnTo>
                  <a:lnTo>
                    <a:pt x="7"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3" name="Freeform 32"/>
            <p:cNvSpPr>
              <a:spLocks/>
            </p:cNvSpPr>
            <p:nvPr/>
          </p:nvSpPr>
          <p:spPr bwMode="auto">
            <a:xfrm>
              <a:off x="1278" y="2752"/>
              <a:ext cx="7" cy="7"/>
            </a:xfrm>
            <a:custGeom>
              <a:avLst/>
              <a:gdLst>
                <a:gd name="T0" fmla="*/ 3 w 7"/>
                <a:gd name="T1" fmla="*/ 7 h 7"/>
                <a:gd name="T2" fmla="*/ 5 w 7"/>
                <a:gd name="T3" fmla="*/ 6 h 7"/>
                <a:gd name="T4" fmla="*/ 6 w 7"/>
                <a:gd name="T5" fmla="*/ 6 h 7"/>
                <a:gd name="T6" fmla="*/ 6 w 7"/>
                <a:gd name="T7" fmla="*/ 5 h 7"/>
                <a:gd name="T8" fmla="*/ 7 w 7"/>
                <a:gd name="T9" fmla="*/ 4 h 7"/>
                <a:gd name="T10" fmla="*/ 6 w 7"/>
                <a:gd name="T11" fmla="*/ 2 h 7"/>
                <a:gd name="T12" fmla="*/ 6 w 7"/>
                <a:gd name="T13" fmla="*/ 2 h 7"/>
                <a:gd name="T14" fmla="*/ 5 w 7"/>
                <a:gd name="T15" fmla="*/ 0 h 7"/>
                <a:gd name="T16" fmla="*/ 3 w 7"/>
                <a:gd name="T17" fmla="*/ 0 h 7"/>
                <a:gd name="T18" fmla="*/ 2 w 7"/>
                <a:gd name="T19" fmla="*/ 0 h 7"/>
                <a:gd name="T20" fmla="*/ 1 w 7"/>
                <a:gd name="T21" fmla="*/ 2 h 7"/>
                <a:gd name="T22" fmla="*/ 0 w 7"/>
                <a:gd name="T23" fmla="*/ 2 h 7"/>
                <a:gd name="T24" fmla="*/ 0 w 7"/>
                <a:gd name="T25" fmla="*/ 4 h 7"/>
                <a:gd name="T26" fmla="*/ 0 w 7"/>
                <a:gd name="T27" fmla="*/ 5 h 7"/>
                <a:gd name="T28" fmla="*/ 1 w 7"/>
                <a:gd name="T29" fmla="*/ 6 h 7"/>
                <a:gd name="T30" fmla="*/ 2 w 7"/>
                <a:gd name="T31" fmla="*/ 6 h 7"/>
                <a:gd name="T32" fmla="*/ 3 w 7"/>
                <a:gd name="T33"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 h="7">
                  <a:moveTo>
                    <a:pt x="3" y="7"/>
                  </a:moveTo>
                  <a:lnTo>
                    <a:pt x="5" y="6"/>
                  </a:lnTo>
                  <a:lnTo>
                    <a:pt x="6" y="6"/>
                  </a:lnTo>
                  <a:lnTo>
                    <a:pt x="6" y="5"/>
                  </a:lnTo>
                  <a:lnTo>
                    <a:pt x="7" y="4"/>
                  </a:lnTo>
                  <a:lnTo>
                    <a:pt x="6" y="2"/>
                  </a:lnTo>
                  <a:lnTo>
                    <a:pt x="6" y="2"/>
                  </a:lnTo>
                  <a:lnTo>
                    <a:pt x="5" y="0"/>
                  </a:lnTo>
                  <a:lnTo>
                    <a:pt x="3" y="0"/>
                  </a:lnTo>
                  <a:lnTo>
                    <a:pt x="2" y="0"/>
                  </a:lnTo>
                  <a:lnTo>
                    <a:pt x="1" y="2"/>
                  </a:lnTo>
                  <a:lnTo>
                    <a:pt x="0" y="2"/>
                  </a:lnTo>
                  <a:lnTo>
                    <a:pt x="0" y="4"/>
                  </a:lnTo>
                  <a:lnTo>
                    <a:pt x="0" y="5"/>
                  </a:lnTo>
                  <a:lnTo>
                    <a:pt x="1" y="6"/>
                  </a:lnTo>
                  <a:lnTo>
                    <a:pt x="2" y="6"/>
                  </a:lnTo>
                  <a:lnTo>
                    <a:pt x="3"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4" name="Freeform 33"/>
            <p:cNvSpPr>
              <a:spLocks/>
            </p:cNvSpPr>
            <p:nvPr/>
          </p:nvSpPr>
          <p:spPr bwMode="auto">
            <a:xfrm>
              <a:off x="1290" y="2752"/>
              <a:ext cx="5" cy="7"/>
            </a:xfrm>
            <a:custGeom>
              <a:avLst/>
              <a:gdLst>
                <a:gd name="T0" fmla="*/ 3 w 5"/>
                <a:gd name="T1" fmla="*/ 7 h 7"/>
                <a:gd name="T2" fmla="*/ 4 w 5"/>
                <a:gd name="T3" fmla="*/ 7 h 7"/>
                <a:gd name="T4" fmla="*/ 5 w 5"/>
                <a:gd name="T5" fmla="*/ 6 h 7"/>
                <a:gd name="T6" fmla="*/ 5 w 5"/>
                <a:gd name="T7" fmla="*/ 5 h 7"/>
                <a:gd name="T8" fmla="*/ 5 w 5"/>
                <a:gd name="T9" fmla="*/ 4 h 7"/>
                <a:gd name="T10" fmla="*/ 5 w 5"/>
                <a:gd name="T11" fmla="*/ 3 h 7"/>
                <a:gd name="T12" fmla="*/ 5 w 5"/>
                <a:gd name="T13" fmla="*/ 2 h 7"/>
                <a:gd name="T14" fmla="*/ 4 w 5"/>
                <a:gd name="T15" fmla="*/ 0 h 7"/>
                <a:gd name="T16" fmla="*/ 3 w 5"/>
                <a:gd name="T17" fmla="*/ 0 h 7"/>
                <a:gd name="T18" fmla="*/ 2 w 5"/>
                <a:gd name="T19" fmla="*/ 0 h 7"/>
                <a:gd name="T20" fmla="*/ 1 w 5"/>
                <a:gd name="T21" fmla="*/ 2 h 7"/>
                <a:gd name="T22" fmla="*/ 0 w 5"/>
                <a:gd name="T23" fmla="*/ 3 h 7"/>
                <a:gd name="T24" fmla="*/ 0 w 5"/>
                <a:gd name="T25" fmla="*/ 4 h 7"/>
                <a:gd name="T26" fmla="*/ 0 w 5"/>
                <a:gd name="T27" fmla="*/ 5 h 7"/>
                <a:gd name="T28" fmla="*/ 1 w 5"/>
                <a:gd name="T29" fmla="*/ 6 h 7"/>
                <a:gd name="T30" fmla="*/ 2 w 5"/>
                <a:gd name="T31" fmla="*/ 7 h 7"/>
                <a:gd name="T32" fmla="*/ 3 w 5"/>
                <a:gd name="T33"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 h="7">
                  <a:moveTo>
                    <a:pt x="3" y="7"/>
                  </a:moveTo>
                  <a:lnTo>
                    <a:pt x="4" y="7"/>
                  </a:lnTo>
                  <a:lnTo>
                    <a:pt x="5" y="6"/>
                  </a:lnTo>
                  <a:lnTo>
                    <a:pt x="5" y="5"/>
                  </a:lnTo>
                  <a:lnTo>
                    <a:pt x="5" y="4"/>
                  </a:lnTo>
                  <a:lnTo>
                    <a:pt x="5" y="3"/>
                  </a:lnTo>
                  <a:lnTo>
                    <a:pt x="5" y="2"/>
                  </a:lnTo>
                  <a:lnTo>
                    <a:pt x="4" y="0"/>
                  </a:lnTo>
                  <a:lnTo>
                    <a:pt x="3" y="0"/>
                  </a:lnTo>
                  <a:lnTo>
                    <a:pt x="2" y="0"/>
                  </a:lnTo>
                  <a:lnTo>
                    <a:pt x="1" y="2"/>
                  </a:lnTo>
                  <a:lnTo>
                    <a:pt x="0" y="3"/>
                  </a:lnTo>
                  <a:lnTo>
                    <a:pt x="0" y="4"/>
                  </a:lnTo>
                  <a:lnTo>
                    <a:pt x="0" y="5"/>
                  </a:lnTo>
                  <a:lnTo>
                    <a:pt x="1" y="6"/>
                  </a:lnTo>
                  <a:lnTo>
                    <a:pt x="2" y="7"/>
                  </a:lnTo>
                  <a:lnTo>
                    <a:pt x="3"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5" name="Freeform 34"/>
            <p:cNvSpPr>
              <a:spLocks/>
            </p:cNvSpPr>
            <p:nvPr/>
          </p:nvSpPr>
          <p:spPr bwMode="auto">
            <a:xfrm>
              <a:off x="1244" y="2660"/>
              <a:ext cx="19" cy="92"/>
            </a:xfrm>
            <a:custGeom>
              <a:avLst/>
              <a:gdLst>
                <a:gd name="T0" fmla="*/ 6 w 19"/>
                <a:gd name="T1" fmla="*/ 1 h 92"/>
                <a:gd name="T2" fmla="*/ 6 w 19"/>
                <a:gd name="T3" fmla="*/ 4 h 92"/>
                <a:gd name="T4" fmla="*/ 4 w 19"/>
                <a:gd name="T5" fmla="*/ 8 h 92"/>
                <a:gd name="T6" fmla="*/ 2 w 19"/>
                <a:gd name="T7" fmla="*/ 16 h 92"/>
                <a:gd name="T8" fmla="*/ 1 w 19"/>
                <a:gd name="T9" fmla="*/ 28 h 92"/>
                <a:gd name="T10" fmla="*/ 0 w 19"/>
                <a:gd name="T11" fmla="*/ 41 h 92"/>
                <a:gd name="T12" fmla="*/ 0 w 19"/>
                <a:gd name="T13" fmla="*/ 56 h 92"/>
                <a:gd name="T14" fmla="*/ 1 w 19"/>
                <a:gd name="T15" fmla="*/ 74 h 92"/>
                <a:gd name="T16" fmla="*/ 5 w 19"/>
                <a:gd name="T17" fmla="*/ 92 h 92"/>
                <a:gd name="T18" fmla="*/ 19 w 19"/>
                <a:gd name="T19" fmla="*/ 91 h 92"/>
                <a:gd name="T20" fmla="*/ 18 w 19"/>
                <a:gd name="T21" fmla="*/ 89 h 92"/>
                <a:gd name="T22" fmla="*/ 16 w 19"/>
                <a:gd name="T23" fmla="*/ 81 h 92"/>
                <a:gd name="T24" fmla="*/ 15 w 19"/>
                <a:gd name="T25" fmla="*/ 70 h 92"/>
                <a:gd name="T26" fmla="*/ 14 w 19"/>
                <a:gd name="T27" fmla="*/ 56 h 92"/>
                <a:gd name="T28" fmla="*/ 13 w 19"/>
                <a:gd name="T29" fmla="*/ 42 h 92"/>
                <a:gd name="T30" fmla="*/ 13 w 19"/>
                <a:gd name="T31" fmla="*/ 27 h 92"/>
                <a:gd name="T32" fmla="*/ 15 w 19"/>
                <a:gd name="T33" fmla="*/ 13 h 92"/>
                <a:gd name="T34" fmla="*/ 19 w 19"/>
                <a:gd name="T35" fmla="*/ 1 h 92"/>
                <a:gd name="T36" fmla="*/ 19 w 19"/>
                <a:gd name="T37" fmla="*/ 0 h 92"/>
                <a:gd name="T38" fmla="*/ 19 w 19"/>
                <a:gd name="T39" fmla="*/ 0 h 92"/>
                <a:gd name="T40" fmla="*/ 19 w 19"/>
                <a:gd name="T41" fmla="*/ 0 h 92"/>
                <a:gd name="T42" fmla="*/ 18 w 19"/>
                <a:gd name="T43" fmla="*/ 0 h 92"/>
                <a:gd name="T44" fmla="*/ 16 w 19"/>
                <a:gd name="T45" fmla="*/ 0 h 92"/>
                <a:gd name="T46" fmla="*/ 14 w 19"/>
                <a:gd name="T47" fmla="*/ 0 h 92"/>
                <a:gd name="T48" fmla="*/ 11 w 19"/>
                <a:gd name="T49" fmla="*/ 0 h 92"/>
                <a:gd name="T50" fmla="*/ 6 w 19"/>
                <a:gd name="T51" fmla="*/ 1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92">
                  <a:moveTo>
                    <a:pt x="6" y="1"/>
                  </a:moveTo>
                  <a:lnTo>
                    <a:pt x="6" y="4"/>
                  </a:lnTo>
                  <a:lnTo>
                    <a:pt x="4" y="8"/>
                  </a:lnTo>
                  <a:lnTo>
                    <a:pt x="2" y="16"/>
                  </a:lnTo>
                  <a:lnTo>
                    <a:pt x="1" y="28"/>
                  </a:lnTo>
                  <a:lnTo>
                    <a:pt x="0" y="41"/>
                  </a:lnTo>
                  <a:lnTo>
                    <a:pt x="0" y="56"/>
                  </a:lnTo>
                  <a:lnTo>
                    <a:pt x="1" y="74"/>
                  </a:lnTo>
                  <a:lnTo>
                    <a:pt x="5" y="92"/>
                  </a:lnTo>
                  <a:lnTo>
                    <a:pt x="19" y="91"/>
                  </a:lnTo>
                  <a:lnTo>
                    <a:pt x="18" y="89"/>
                  </a:lnTo>
                  <a:lnTo>
                    <a:pt x="16" y="81"/>
                  </a:lnTo>
                  <a:lnTo>
                    <a:pt x="15" y="70"/>
                  </a:lnTo>
                  <a:lnTo>
                    <a:pt x="14" y="56"/>
                  </a:lnTo>
                  <a:lnTo>
                    <a:pt x="13" y="42"/>
                  </a:lnTo>
                  <a:lnTo>
                    <a:pt x="13" y="27"/>
                  </a:lnTo>
                  <a:lnTo>
                    <a:pt x="15" y="13"/>
                  </a:lnTo>
                  <a:lnTo>
                    <a:pt x="19" y="1"/>
                  </a:lnTo>
                  <a:lnTo>
                    <a:pt x="19" y="0"/>
                  </a:lnTo>
                  <a:lnTo>
                    <a:pt x="19" y="0"/>
                  </a:lnTo>
                  <a:lnTo>
                    <a:pt x="19" y="0"/>
                  </a:lnTo>
                  <a:lnTo>
                    <a:pt x="18" y="0"/>
                  </a:lnTo>
                  <a:lnTo>
                    <a:pt x="16" y="0"/>
                  </a:lnTo>
                  <a:lnTo>
                    <a:pt x="14" y="0"/>
                  </a:lnTo>
                  <a:lnTo>
                    <a:pt x="11" y="0"/>
                  </a:lnTo>
                  <a:lnTo>
                    <a:pt x="6" y="1"/>
                  </a:lnTo>
                  <a:close/>
                </a:path>
              </a:pathLst>
            </a:custGeom>
            <a:solidFill>
              <a:srgbClr val="3F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6" name="Freeform 35"/>
            <p:cNvSpPr>
              <a:spLocks/>
            </p:cNvSpPr>
            <p:nvPr/>
          </p:nvSpPr>
          <p:spPr bwMode="auto">
            <a:xfrm>
              <a:off x="1342" y="2648"/>
              <a:ext cx="27" cy="103"/>
            </a:xfrm>
            <a:custGeom>
              <a:avLst/>
              <a:gdLst>
                <a:gd name="T0" fmla="*/ 27 w 27"/>
                <a:gd name="T1" fmla="*/ 0 h 103"/>
                <a:gd name="T2" fmla="*/ 26 w 27"/>
                <a:gd name="T3" fmla="*/ 2 h 103"/>
                <a:gd name="T4" fmla="*/ 25 w 27"/>
                <a:gd name="T5" fmla="*/ 4 h 103"/>
                <a:gd name="T6" fmla="*/ 22 w 27"/>
                <a:gd name="T7" fmla="*/ 10 h 103"/>
                <a:gd name="T8" fmla="*/ 20 w 27"/>
                <a:gd name="T9" fmla="*/ 18 h 103"/>
                <a:gd name="T10" fmla="*/ 18 w 27"/>
                <a:gd name="T11" fmla="*/ 32 h 103"/>
                <a:gd name="T12" fmla="*/ 16 w 27"/>
                <a:gd name="T13" fmla="*/ 49 h 103"/>
                <a:gd name="T14" fmla="*/ 18 w 27"/>
                <a:gd name="T15" fmla="*/ 73 h 103"/>
                <a:gd name="T16" fmla="*/ 20 w 27"/>
                <a:gd name="T17" fmla="*/ 103 h 103"/>
                <a:gd name="T18" fmla="*/ 5 w 27"/>
                <a:gd name="T19" fmla="*/ 103 h 103"/>
                <a:gd name="T20" fmla="*/ 5 w 27"/>
                <a:gd name="T21" fmla="*/ 101 h 103"/>
                <a:gd name="T22" fmla="*/ 4 w 27"/>
                <a:gd name="T23" fmla="*/ 92 h 103"/>
                <a:gd name="T24" fmla="*/ 2 w 27"/>
                <a:gd name="T25" fmla="*/ 80 h 103"/>
                <a:gd name="T26" fmla="*/ 1 w 27"/>
                <a:gd name="T27" fmla="*/ 65 h 103"/>
                <a:gd name="T28" fmla="*/ 0 w 27"/>
                <a:gd name="T29" fmla="*/ 47 h 103"/>
                <a:gd name="T30" fmla="*/ 1 w 27"/>
                <a:gd name="T31" fmla="*/ 31 h 103"/>
                <a:gd name="T32" fmla="*/ 4 w 27"/>
                <a:gd name="T33" fmla="*/ 14 h 103"/>
                <a:gd name="T34" fmla="*/ 9 w 27"/>
                <a:gd name="T35" fmla="*/ 0 h 103"/>
                <a:gd name="T36" fmla="*/ 27 w 27"/>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103">
                  <a:moveTo>
                    <a:pt x="27" y="0"/>
                  </a:moveTo>
                  <a:lnTo>
                    <a:pt x="26" y="2"/>
                  </a:lnTo>
                  <a:lnTo>
                    <a:pt x="25" y="4"/>
                  </a:lnTo>
                  <a:lnTo>
                    <a:pt x="22" y="10"/>
                  </a:lnTo>
                  <a:lnTo>
                    <a:pt x="20" y="18"/>
                  </a:lnTo>
                  <a:lnTo>
                    <a:pt x="18" y="32"/>
                  </a:lnTo>
                  <a:lnTo>
                    <a:pt x="16" y="49"/>
                  </a:lnTo>
                  <a:lnTo>
                    <a:pt x="18" y="73"/>
                  </a:lnTo>
                  <a:lnTo>
                    <a:pt x="20" y="103"/>
                  </a:lnTo>
                  <a:lnTo>
                    <a:pt x="5" y="103"/>
                  </a:lnTo>
                  <a:lnTo>
                    <a:pt x="5" y="101"/>
                  </a:lnTo>
                  <a:lnTo>
                    <a:pt x="4" y="92"/>
                  </a:lnTo>
                  <a:lnTo>
                    <a:pt x="2" y="80"/>
                  </a:lnTo>
                  <a:lnTo>
                    <a:pt x="1" y="65"/>
                  </a:lnTo>
                  <a:lnTo>
                    <a:pt x="0" y="47"/>
                  </a:lnTo>
                  <a:lnTo>
                    <a:pt x="1" y="31"/>
                  </a:lnTo>
                  <a:lnTo>
                    <a:pt x="4" y="14"/>
                  </a:lnTo>
                  <a:lnTo>
                    <a:pt x="9" y="0"/>
                  </a:lnTo>
                  <a:lnTo>
                    <a:pt x="27" y="0"/>
                  </a:lnTo>
                  <a:close/>
                </a:path>
              </a:pathLst>
            </a:custGeom>
            <a:solidFill>
              <a:srgbClr val="3F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7" name="Freeform 36"/>
            <p:cNvSpPr>
              <a:spLocks/>
            </p:cNvSpPr>
            <p:nvPr/>
          </p:nvSpPr>
          <p:spPr bwMode="auto">
            <a:xfrm>
              <a:off x="1244" y="2665"/>
              <a:ext cx="18" cy="80"/>
            </a:xfrm>
            <a:custGeom>
              <a:avLst/>
              <a:gdLst>
                <a:gd name="T0" fmla="*/ 6 w 18"/>
                <a:gd name="T1" fmla="*/ 2 h 80"/>
                <a:gd name="T2" fmla="*/ 6 w 18"/>
                <a:gd name="T3" fmla="*/ 3 h 80"/>
                <a:gd name="T4" fmla="*/ 5 w 18"/>
                <a:gd name="T5" fmla="*/ 8 h 80"/>
                <a:gd name="T6" fmla="*/ 2 w 18"/>
                <a:gd name="T7" fmla="*/ 15 h 80"/>
                <a:gd name="T8" fmla="*/ 1 w 18"/>
                <a:gd name="T9" fmla="*/ 24 h 80"/>
                <a:gd name="T10" fmla="*/ 0 w 18"/>
                <a:gd name="T11" fmla="*/ 36 h 80"/>
                <a:gd name="T12" fmla="*/ 1 w 18"/>
                <a:gd name="T13" fmla="*/ 50 h 80"/>
                <a:gd name="T14" fmla="*/ 2 w 18"/>
                <a:gd name="T15" fmla="*/ 65 h 80"/>
                <a:gd name="T16" fmla="*/ 5 w 18"/>
                <a:gd name="T17" fmla="*/ 80 h 80"/>
                <a:gd name="T18" fmla="*/ 16 w 18"/>
                <a:gd name="T19" fmla="*/ 80 h 80"/>
                <a:gd name="T20" fmla="*/ 16 w 18"/>
                <a:gd name="T21" fmla="*/ 78 h 80"/>
                <a:gd name="T22" fmla="*/ 15 w 18"/>
                <a:gd name="T23" fmla="*/ 71 h 80"/>
                <a:gd name="T24" fmla="*/ 14 w 18"/>
                <a:gd name="T25" fmla="*/ 62 h 80"/>
                <a:gd name="T26" fmla="*/ 13 w 18"/>
                <a:gd name="T27" fmla="*/ 50 h 80"/>
                <a:gd name="T28" fmla="*/ 12 w 18"/>
                <a:gd name="T29" fmla="*/ 37 h 80"/>
                <a:gd name="T30" fmla="*/ 12 w 18"/>
                <a:gd name="T31" fmla="*/ 24 h 80"/>
                <a:gd name="T32" fmla="*/ 14 w 18"/>
                <a:gd name="T33" fmla="*/ 11 h 80"/>
                <a:gd name="T34" fmla="*/ 18 w 18"/>
                <a:gd name="T35" fmla="*/ 1 h 80"/>
                <a:gd name="T36" fmla="*/ 18 w 18"/>
                <a:gd name="T37" fmla="*/ 1 h 80"/>
                <a:gd name="T38" fmla="*/ 18 w 18"/>
                <a:gd name="T39" fmla="*/ 1 h 80"/>
                <a:gd name="T40" fmla="*/ 18 w 18"/>
                <a:gd name="T41" fmla="*/ 1 h 80"/>
                <a:gd name="T42" fmla="*/ 16 w 18"/>
                <a:gd name="T43" fmla="*/ 0 h 80"/>
                <a:gd name="T44" fmla="*/ 15 w 18"/>
                <a:gd name="T45" fmla="*/ 0 h 80"/>
                <a:gd name="T46" fmla="*/ 13 w 18"/>
                <a:gd name="T47" fmla="*/ 0 h 80"/>
                <a:gd name="T48" fmla="*/ 9 w 18"/>
                <a:gd name="T49" fmla="*/ 1 h 80"/>
                <a:gd name="T50" fmla="*/ 6 w 18"/>
                <a:gd name="T51" fmla="*/ 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 h="80">
                  <a:moveTo>
                    <a:pt x="6" y="2"/>
                  </a:moveTo>
                  <a:lnTo>
                    <a:pt x="6" y="3"/>
                  </a:lnTo>
                  <a:lnTo>
                    <a:pt x="5" y="8"/>
                  </a:lnTo>
                  <a:lnTo>
                    <a:pt x="2" y="15"/>
                  </a:lnTo>
                  <a:lnTo>
                    <a:pt x="1" y="24"/>
                  </a:lnTo>
                  <a:lnTo>
                    <a:pt x="0" y="36"/>
                  </a:lnTo>
                  <a:lnTo>
                    <a:pt x="1" y="50"/>
                  </a:lnTo>
                  <a:lnTo>
                    <a:pt x="2" y="65"/>
                  </a:lnTo>
                  <a:lnTo>
                    <a:pt x="5" y="80"/>
                  </a:lnTo>
                  <a:lnTo>
                    <a:pt x="16" y="80"/>
                  </a:lnTo>
                  <a:lnTo>
                    <a:pt x="16" y="78"/>
                  </a:lnTo>
                  <a:lnTo>
                    <a:pt x="15" y="71"/>
                  </a:lnTo>
                  <a:lnTo>
                    <a:pt x="14" y="62"/>
                  </a:lnTo>
                  <a:lnTo>
                    <a:pt x="13" y="50"/>
                  </a:lnTo>
                  <a:lnTo>
                    <a:pt x="12" y="37"/>
                  </a:lnTo>
                  <a:lnTo>
                    <a:pt x="12" y="24"/>
                  </a:lnTo>
                  <a:lnTo>
                    <a:pt x="14" y="11"/>
                  </a:lnTo>
                  <a:lnTo>
                    <a:pt x="18" y="1"/>
                  </a:lnTo>
                  <a:lnTo>
                    <a:pt x="18" y="1"/>
                  </a:lnTo>
                  <a:lnTo>
                    <a:pt x="18" y="1"/>
                  </a:lnTo>
                  <a:lnTo>
                    <a:pt x="18" y="1"/>
                  </a:lnTo>
                  <a:lnTo>
                    <a:pt x="16" y="0"/>
                  </a:lnTo>
                  <a:lnTo>
                    <a:pt x="15" y="0"/>
                  </a:lnTo>
                  <a:lnTo>
                    <a:pt x="13" y="0"/>
                  </a:lnTo>
                  <a:lnTo>
                    <a:pt x="9" y="1"/>
                  </a:lnTo>
                  <a:lnTo>
                    <a:pt x="6" y="2"/>
                  </a:lnTo>
                  <a:close/>
                </a:path>
              </a:pathLst>
            </a:custGeom>
            <a:solidFill>
              <a:srgbClr val="59B2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8" name="Freeform 37"/>
            <p:cNvSpPr>
              <a:spLocks/>
            </p:cNvSpPr>
            <p:nvPr/>
          </p:nvSpPr>
          <p:spPr bwMode="auto">
            <a:xfrm>
              <a:off x="1245" y="2671"/>
              <a:ext cx="14" cy="69"/>
            </a:xfrm>
            <a:custGeom>
              <a:avLst/>
              <a:gdLst>
                <a:gd name="T0" fmla="*/ 5 w 14"/>
                <a:gd name="T1" fmla="*/ 1 h 69"/>
                <a:gd name="T2" fmla="*/ 5 w 14"/>
                <a:gd name="T3" fmla="*/ 2 h 69"/>
                <a:gd name="T4" fmla="*/ 4 w 14"/>
                <a:gd name="T5" fmla="*/ 7 h 69"/>
                <a:gd name="T6" fmla="*/ 3 w 14"/>
                <a:gd name="T7" fmla="*/ 12 h 69"/>
                <a:gd name="T8" fmla="*/ 1 w 14"/>
                <a:gd name="T9" fmla="*/ 21 h 69"/>
                <a:gd name="T10" fmla="*/ 0 w 14"/>
                <a:gd name="T11" fmla="*/ 30 h 69"/>
                <a:gd name="T12" fmla="*/ 0 w 14"/>
                <a:gd name="T13" fmla="*/ 42 h 69"/>
                <a:gd name="T14" fmla="*/ 1 w 14"/>
                <a:gd name="T15" fmla="*/ 54 h 69"/>
                <a:gd name="T16" fmla="*/ 4 w 14"/>
                <a:gd name="T17" fmla="*/ 69 h 69"/>
                <a:gd name="T18" fmla="*/ 14 w 14"/>
                <a:gd name="T19" fmla="*/ 67 h 69"/>
                <a:gd name="T20" fmla="*/ 13 w 14"/>
                <a:gd name="T21" fmla="*/ 66 h 69"/>
                <a:gd name="T22" fmla="*/ 13 w 14"/>
                <a:gd name="T23" fmla="*/ 60 h 69"/>
                <a:gd name="T24" fmla="*/ 12 w 14"/>
                <a:gd name="T25" fmla="*/ 52 h 69"/>
                <a:gd name="T26" fmla="*/ 11 w 14"/>
                <a:gd name="T27" fmla="*/ 42 h 69"/>
                <a:gd name="T28" fmla="*/ 10 w 14"/>
                <a:gd name="T29" fmla="*/ 31 h 69"/>
                <a:gd name="T30" fmla="*/ 10 w 14"/>
                <a:gd name="T31" fmla="*/ 19 h 69"/>
                <a:gd name="T32" fmla="*/ 12 w 14"/>
                <a:gd name="T33" fmla="*/ 9 h 69"/>
                <a:gd name="T34" fmla="*/ 14 w 14"/>
                <a:gd name="T35" fmla="*/ 1 h 69"/>
                <a:gd name="T36" fmla="*/ 14 w 14"/>
                <a:gd name="T37" fmla="*/ 1 h 69"/>
                <a:gd name="T38" fmla="*/ 14 w 14"/>
                <a:gd name="T39" fmla="*/ 0 h 69"/>
                <a:gd name="T40" fmla="*/ 14 w 14"/>
                <a:gd name="T41" fmla="*/ 0 h 69"/>
                <a:gd name="T42" fmla="*/ 14 w 14"/>
                <a:gd name="T43" fmla="*/ 0 h 69"/>
                <a:gd name="T44" fmla="*/ 13 w 14"/>
                <a:gd name="T45" fmla="*/ 0 h 69"/>
                <a:gd name="T46" fmla="*/ 11 w 14"/>
                <a:gd name="T47" fmla="*/ 0 h 69"/>
                <a:gd name="T48" fmla="*/ 8 w 14"/>
                <a:gd name="T49" fmla="*/ 0 h 69"/>
                <a:gd name="T50" fmla="*/ 5 w 14"/>
                <a:gd name="T51" fmla="*/ 1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 h="69">
                  <a:moveTo>
                    <a:pt x="5" y="1"/>
                  </a:moveTo>
                  <a:lnTo>
                    <a:pt x="5" y="2"/>
                  </a:lnTo>
                  <a:lnTo>
                    <a:pt x="4" y="7"/>
                  </a:lnTo>
                  <a:lnTo>
                    <a:pt x="3" y="12"/>
                  </a:lnTo>
                  <a:lnTo>
                    <a:pt x="1" y="21"/>
                  </a:lnTo>
                  <a:lnTo>
                    <a:pt x="0" y="30"/>
                  </a:lnTo>
                  <a:lnTo>
                    <a:pt x="0" y="42"/>
                  </a:lnTo>
                  <a:lnTo>
                    <a:pt x="1" y="54"/>
                  </a:lnTo>
                  <a:lnTo>
                    <a:pt x="4" y="69"/>
                  </a:lnTo>
                  <a:lnTo>
                    <a:pt x="14" y="67"/>
                  </a:lnTo>
                  <a:lnTo>
                    <a:pt x="13" y="66"/>
                  </a:lnTo>
                  <a:lnTo>
                    <a:pt x="13" y="60"/>
                  </a:lnTo>
                  <a:lnTo>
                    <a:pt x="12" y="52"/>
                  </a:lnTo>
                  <a:lnTo>
                    <a:pt x="11" y="42"/>
                  </a:lnTo>
                  <a:lnTo>
                    <a:pt x="10" y="31"/>
                  </a:lnTo>
                  <a:lnTo>
                    <a:pt x="10" y="19"/>
                  </a:lnTo>
                  <a:lnTo>
                    <a:pt x="12" y="9"/>
                  </a:lnTo>
                  <a:lnTo>
                    <a:pt x="14" y="1"/>
                  </a:lnTo>
                  <a:lnTo>
                    <a:pt x="14" y="1"/>
                  </a:lnTo>
                  <a:lnTo>
                    <a:pt x="14" y="0"/>
                  </a:lnTo>
                  <a:lnTo>
                    <a:pt x="14" y="0"/>
                  </a:lnTo>
                  <a:lnTo>
                    <a:pt x="14" y="0"/>
                  </a:lnTo>
                  <a:lnTo>
                    <a:pt x="13" y="0"/>
                  </a:lnTo>
                  <a:lnTo>
                    <a:pt x="11" y="0"/>
                  </a:lnTo>
                  <a:lnTo>
                    <a:pt x="8" y="0"/>
                  </a:lnTo>
                  <a:lnTo>
                    <a:pt x="5" y="1"/>
                  </a:lnTo>
                  <a:close/>
                </a:path>
              </a:pathLst>
            </a:custGeom>
            <a:solidFill>
              <a:srgbClr val="72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9" name="Freeform 38"/>
            <p:cNvSpPr>
              <a:spLocks/>
            </p:cNvSpPr>
            <p:nvPr/>
          </p:nvSpPr>
          <p:spPr bwMode="auto">
            <a:xfrm>
              <a:off x="1246" y="2676"/>
              <a:ext cx="12" cy="56"/>
            </a:xfrm>
            <a:custGeom>
              <a:avLst/>
              <a:gdLst>
                <a:gd name="T0" fmla="*/ 4 w 12"/>
                <a:gd name="T1" fmla="*/ 2 h 56"/>
                <a:gd name="T2" fmla="*/ 3 w 12"/>
                <a:gd name="T3" fmla="*/ 2 h 56"/>
                <a:gd name="T4" fmla="*/ 3 w 12"/>
                <a:gd name="T5" fmla="*/ 5 h 56"/>
                <a:gd name="T6" fmla="*/ 2 w 12"/>
                <a:gd name="T7" fmla="*/ 11 h 56"/>
                <a:gd name="T8" fmla="*/ 0 w 12"/>
                <a:gd name="T9" fmla="*/ 17 h 56"/>
                <a:gd name="T10" fmla="*/ 0 w 12"/>
                <a:gd name="T11" fmla="*/ 25 h 56"/>
                <a:gd name="T12" fmla="*/ 0 w 12"/>
                <a:gd name="T13" fmla="*/ 35 h 56"/>
                <a:gd name="T14" fmla="*/ 2 w 12"/>
                <a:gd name="T15" fmla="*/ 46 h 56"/>
                <a:gd name="T16" fmla="*/ 3 w 12"/>
                <a:gd name="T17" fmla="*/ 56 h 56"/>
                <a:gd name="T18" fmla="*/ 11 w 12"/>
                <a:gd name="T19" fmla="*/ 56 h 56"/>
                <a:gd name="T20" fmla="*/ 11 w 12"/>
                <a:gd name="T21" fmla="*/ 55 h 56"/>
                <a:gd name="T22" fmla="*/ 10 w 12"/>
                <a:gd name="T23" fmla="*/ 51 h 56"/>
                <a:gd name="T24" fmla="*/ 10 w 12"/>
                <a:gd name="T25" fmla="*/ 44 h 56"/>
                <a:gd name="T26" fmla="*/ 9 w 12"/>
                <a:gd name="T27" fmla="*/ 35 h 56"/>
                <a:gd name="T28" fmla="*/ 7 w 12"/>
                <a:gd name="T29" fmla="*/ 26 h 56"/>
                <a:gd name="T30" fmla="*/ 9 w 12"/>
                <a:gd name="T31" fmla="*/ 17 h 56"/>
                <a:gd name="T32" fmla="*/ 10 w 12"/>
                <a:gd name="T33" fmla="*/ 7 h 56"/>
                <a:gd name="T34" fmla="*/ 12 w 12"/>
                <a:gd name="T35" fmla="*/ 0 h 56"/>
                <a:gd name="T36" fmla="*/ 12 w 12"/>
                <a:gd name="T37" fmla="*/ 0 h 56"/>
                <a:gd name="T38" fmla="*/ 12 w 12"/>
                <a:gd name="T39" fmla="*/ 0 h 56"/>
                <a:gd name="T40" fmla="*/ 12 w 12"/>
                <a:gd name="T41" fmla="*/ 0 h 56"/>
                <a:gd name="T42" fmla="*/ 11 w 12"/>
                <a:gd name="T43" fmla="*/ 0 h 56"/>
                <a:gd name="T44" fmla="*/ 10 w 12"/>
                <a:gd name="T45" fmla="*/ 0 h 56"/>
                <a:gd name="T46" fmla="*/ 9 w 12"/>
                <a:gd name="T47" fmla="*/ 0 h 56"/>
                <a:gd name="T48" fmla="*/ 6 w 12"/>
                <a:gd name="T49" fmla="*/ 0 h 56"/>
                <a:gd name="T50" fmla="*/ 4 w 12"/>
                <a:gd name="T51"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 h="56">
                  <a:moveTo>
                    <a:pt x="4" y="2"/>
                  </a:moveTo>
                  <a:lnTo>
                    <a:pt x="3" y="2"/>
                  </a:lnTo>
                  <a:lnTo>
                    <a:pt x="3" y="5"/>
                  </a:lnTo>
                  <a:lnTo>
                    <a:pt x="2" y="11"/>
                  </a:lnTo>
                  <a:lnTo>
                    <a:pt x="0" y="17"/>
                  </a:lnTo>
                  <a:lnTo>
                    <a:pt x="0" y="25"/>
                  </a:lnTo>
                  <a:lnTo>
                    <a:pt x="0" y="35"/>
                  </a:lnTo>
                  <a:lnTo>
                    <a:pt x="2" y="46"/>
                  </a:lnTo>
                  <a:lnTo>
                    <a:pt x="3" y="56"/>
                  </a:lnTo>
                  <a:lnTo>
                    <a:pt x="11" y="56"/>
                  </a:lnTo>
                  <a:lnTo>
                    <a:pt x="11" y="55"/>
                  </a:lnTo>
                  <a:lnTo>
                    <a:pt x="10" y="51"/>
                  </a:lnTo>
                  <a:lnTo>
                    <a:pt x="10" y="44"/>
                  </a:lnTo>
                  <a:lnTo>
                    <a:pt x="9" y="35"/>
                  </a:lnTo>
                  <a:lnTo>
                    <a:pt x="7" y="26"/>
                  </a:lnTo>
                  <a:lnTo>
                    <a:pt x="9" y="17"/>
                  </a:lnTo>
                  <a:lnTo>
                    <a:pt x="10" y="7"/>
                  </a:lnTo>
                  <a:lnTo>
                    <a:pt x="12" y="0"/>
                  </a:lnTo>
                  <a:lnTo>
                    <a:pt x="12" y="0"/>
                  </a:lnTo>
                  <a:lnTo>
                    <a:pt x="12" y="0"/>
                  </a:lnTo>
                  <a:lnTo>
                    <a:pt x="12" y="0"/>
                  </a:lnTo>
                  <a:lnTo>
                    <a:pt x="11" y="0"/>
                  </a:lnTo>
                  <a:lnTo>
                    <a:pt x="10" y="0"/>
                  </a:lnTo>
                  <a:lnTo>
                    <a:pt x="9" y="0"/>
                  </a:lnTo>
                  <a:lnTo>
                    <a:pt x="6" y="0"/>
                  </a:lnTo>
                  <a:lnTo>
                    <a:pt x="4" y="2"/>
                  </a:lnTo>
                  <a:close/>
                </a:path>
              </a:pathLst>
            </a:custGeom>
            <a:solidFill>
              <a:srgbClr val="8CD8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40" name="Freeform 39"/>
            <p:cNvSpPr>
              <a:spLocks/>
            </p:cNvSpPr>
            <p:nvPr/>
          </p:nvSpPr>
          <p:spPr bwMode="auto">
            <a:xfrm>
              <a:off x="1246" y="2681"/>
              <a:ext cx="10" cy="46"/>
            </a:xfrm>
            <a:custGeom>
              <a:avLst/>
              <a:gdLst>
                <a:gd name="T0" fmla="*/ 4 w 10"/>
                <a:gd name="T1" fmla="*/ 1 h 46"/>
                <a:gd name="T2" fmla="*/ 3 w 10"/>
                <a:gd name="T3" fmla="*/ 2 h 46"/>
                <a:gd name="T4" fmla="*/ 3 w 10"/>
                <a:gd name="T5" fmla="*/ 5 h 46"/>
                <a:gd name="T6" fmla="*/ 2 w 10"/>
                <a:gd name="T7" fmla="*/ 8 h 46"/>
                <a:gd name="T8" fmla="*/ 2 w 10"/>
                <a:gd name="T9" fmla="*/ 14 h 46"/>
                <a:gd name="T10" fmla="*/ 0 w 10"/>
                <a:gd name="T11" fmla="*/ 21 h 46"/>
                <a:gd name="T12" fmla="*/ 0 w 10"/>
                <a:gd name="T13" fmla="*/ 28 h 46"/>
                <a:gd name="T14" fmla="*/ 2 w 10"/>
                <a:gd name="T15" fmla="*/ 36 h 46"/>
                <a:gd name="T16" fmla="*/ 3 w 10"/>
                <a:gd name="T17" fmla="*/ 46 h 46"/>
                <a:gd name="T18" fmla="*/ 10 w 10"/>
                <a:gd name="T19" fmla="*/ 46 h 46"/>
                <a:gd name="T20" fmla="*/ 10 w 10"/>
                <a:gd name="T21" fmla="*/ 43 h 46"/>
                <a:gd name="T22" fmla="*/ 9 w 10"/>
                <a:gd name="T23" fmla="*/ 40 h 46"/>
                <a:gd name="T24" fmla="*/ 7 w 10"/>
                <a:gd name="T25" fmla="*/ 35 h 46"/>
                <a:gd name="T26" fmla="*/ 7 w 10"/>
                <a:gd name="T27" fmla="*/ 28 h 46"/>
                <a:gd name="T28" fmla="*/ 6 w 10"/>
                <a:gd name="T29" fmla="*/ 21 h 46"/>
                <a:gd name="T30" fmla="*/ 7 w 10"/>
                <a:gd name="T31" fmla="*/ 14 h 46"/>
                <a:gd name="T32" fmla="*/ 7 w 10"/>
                <a:gd name="T33" fmla="*/ 7 h 46"/>
                <a:gd name="T34" fmla="*/ 10 w 10"/>
                <a:gd name="T35" fmla="*/ 1 h 46"/>
                <a:gd name="T36" fmla="*/ 10 w 10"/>
                <a:gd name="T37" fmla="*/ 1 h 46"/>
                <a:gd name="T38" fmla="*/ 10 w 10"/>
                <a:gd name="T39" fmla="*/ 1 h 46"/>
                <a:gd name="T40" fmla="*/ 10 w 10"/>
                <a:gd name="T41" fmla="*/ 0 h 46"/>
                <a:gd name="T42" fmla="*/ 10 w 10"/>
                <a:gd name="T43" fmla="*/ 0 h 46"/>
                <a:gd name="T44" fmla="*/ 9 w 10"/>
                <a:gd name="T45" fmla="*/ 0 h 46"/>
                <a:gd name="T46" fmla="*/ 7 w 10"/>
                <a:gd name="T47" fmla="*/ 0 h 46"/>
                <a:gd name="T48" fmla="*/ 6 w 10"/>
                <a:gd name="T49" fmla="*/ 1 h 46"/>
                <a:gd name="T50" fmla="*/ 4 w 10"/>
                <a:gd name="T51" fmla="*/ 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 h="46">
                  <a:moveTo>
                    <a:pt x="4" y="1"/>
                  </a:moveTo>
                  <a:lnTo>
                    <a:pt x="3" y="2"/>
                  </a:lnTo>
                  <a:lnTo>
                    <a:pt x="3" y="5"/>
                  </a:lnTo>
                  <a:lnTo>
                    <a:pt x="2" y="8"/>
                  </a:lnTo>
                  <a:lnTo>
                    <a:pt x="2" y="14"/>
                  </a:lnTo>
                  <a:lnTo>
                    <a:pt x="0" y="21"/>
                  </a:lnTo>
                  <a:lnTo>
                    <a:pt x="0" y="28"/>
                  </a:lnTo>
                  <a:lnTo>
                    <a:pt x="2" y="36"/>
                  </a:lnTo>
                  <a:lnTo>
                    <a:pt x="3" y="46"/>
                  </a:lnTo>
                  <a:lnTo>
                    <a:pt x="10" y="46"/>
                  </a:lnTo>
                  <a:lnTo>
                    <a:pt x="10" y="43"/>
                  </a:lnTo>
                  <a:lnTo>
                    <a:pt x="9" y="40"/>
                  </a:lnTo>
                  <a:lnTo>
                    <a:pt x="7" y="35"/>
                  </a:lnTo>
                  <a:lnTo>
                    <a:pt x="7" y="28"/>
                  </a:lnTo>
                  <a:lnTo>
                    <a:pt x="6" y="21"/>
                  </a:lnTo>
                  <a:lnTo>
                    <a:pt x="7" y="14"/>
                  </a:lnTo>
                  <a:lnTo>
                    <a:pt x="7" y="7"/>
                  </a:lnTo>
                  <a:lnTo>
                    <a:pt x="10" y="1"/>
                  </a:lnTo>
                  <a:lnTo>
                    <a:pt x="10" y="1"/>
                  </a:lnTo>
                  <a:lnTo>
                    <a:pt x="10" y="1"/>
                  </a:lnTo>
                  <a:lnTo>
                    <a:pt x="10" y="0"/>
                  </a:lnTo>
                  <a:lnTo>
                    <a:pt x="10" y="0"/>
                  </a:lnTo>
                  <a:lnTo>
                    <a:pt x="9" y="0"/>
                  </a:lnTo>
                  <a:lnTo>
                    <a:pt x="7" y="0"/>
                  </a:lnTo>
                  <a:lnTo>
                    <a:pt x="6" y="1"/>
                  </a:lnTo>
                  <a:lnTo>
                    <a:pt x="4" y="1"/>
                  </a:lnTo>
                  <a:close/>
                </a:path>
              </a:pathLst>
            </a:custGeom>
            <a:solidFill>
              <a:srgbClr val="A5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41" name="Freeform 40"/>
            <p:cNvSpPr>
              <a:spLocks/>
            </p:cNvSpPr>
            <p:nvPr/>
          </p:nvSpPr>
          <p:spPr bwMode="auto">
            <a:xfrm>
              <a:off x="1248" y="2687"/>
              <a:ext cx="7" cy="33"/>
            </a:xfrm>
            <a:custGeom>
              <a:avLst/>
              <a:gdLst>
                <a:gd name="T0" fmla="*/ 2 w 7"/>
                <a:gd name="T1" fmla="*/ 1 h 33"/>
                <a:gd name="T2" fmla="*/ 1 w 7"/>
                <a:gd name="T3" fmla="*/ 1 h 33"/>
                <a:gd name="T4" fmla="*/ 1 w 7"/>
                <a:gd name="T5" fmla="*/ 3 h 33"/>
                <a:gd name="T6" fmla="*/ 0 w 7"/>
                <a:gd name="T7" fmla="*/ 6 h 33"/>
                <a:gd name="T8" fmla="*/ 0 w 7"/>
                <a:gd name="T9" fmla="*/ 10 h 33"/>
                <a:gd name="T10" fmla="*/ 0 w 7"/>
                <a:gd name="T11" fmla="*/ 15 h 33"/>
                <a:gd name="T12" fmla="*/ 0 w 7"/>
                <a:gd name="T13" fmla="*/ 20 h 33"/>
                <a:gd name="T14" fmla="*/ 0 w 7"/>
                <a:gd name="T15" fmla="*/ 27 h 33"/>
                <a:gd name="T16" fmla="*/ 1 w 7"/>
                <a:gd name="T17" fmla="*/ 33 h 33"/>
                <a:gd name="T18" fmla="*/ 5 w 7"/>
                <a:gd name="T19" fmla="*/ 33 h 33"/>
                <a:gd name="T20" fmla="*/ 5 w 7"/>
                <a:gd name="T21" fmla="*/ 31 h 33"/>
                <a:gd name="T22" fmla="*/ 5 w 7"/>
                <a:gd name="T23" fmla="*/ 29 h 33"/>
                <a:gd name="T24" fmla="*/ 4 w 7"/>
                <a:gd name="T25" fmla="*/ 26 h 33"/>
                <a:gd name="T26" fmla="*/ 4 w 7"/>
                <a:gd name="T27" fmla="*/ 20 h 33"/>
                <a:gd name="T28" fmla="*/ 4 w 7"/>
                <a:gd name="T29" fmla="*/ 15 h 33"/>
                <a:gd name="T30" fmla="*/ 4 w 7"/>
                <a:gd name="T31" fmla="*/ 9 h 33"/>
                <a:gd name="T32" fmla="*/ 4 w 7"/>
                <a:gd name="T33" fmla="*/ 5 h 33"/>
                <a:gd name="T34" fmla="*/ 7 w 7"/>
                <a:gd name="T35" fmla="*/ 0 h 33"/>
                <a:gd name="T36" fmla="*/ 7 w 7"/>
                <a:gd name="T37" fmla="*/ 0 h 33"/>
                <a:gd name="T38" fmla="*/ 7 w 7"/>
                <a:gd name="T39" fmla="*/ 0 h 33"/>
                <a:gd name="T40" fmla="*/ 5 w 7"/>
                <a:gd name="T41" fmla="*/ 0 h 33"/>
                <a:gd name="T42" fmla="*/ 5 w 7"/>
                <a:gd name="T43" fmla="*/ 0 h 33"/>
                <a:gd name="T44" fmla="*/ 5 w 7"/>
                <a:gd name="T45" fmla="*/ 0 h 33"/>
                <a:gd name="T46" fmla="*/ 4 w 7"/>
                <a:gd name="T47" fmla="*/ 0 h 33"/>
                <a:gd name="T48" fmla="*/ 3 w 7"/>
                <a:gd name="T49" fmla="*/ 0 h 33"/>
                <a:gd name="T50" fmla="*/ 2 w 7"/>
                <a:gd name="T51" fmla="*/ 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 h="33">
                  <a:moveTo>
                    <a:pt x="2" y="1"/>
                  </a:moveTo>
                  <a:lnTo>
                    <a:pt x="1" y="1"/>
                  </a:lnTo>
                  <a:lnTo>
                    <a:pt x="1" y="3"/>
                  </a:lnTo>
                  <a:lnTo>
                    <a:pt x="0" y="6"/>
                  </a:lnTo>
                  <a:lnTo>
                    <a:pt x="0" y="10"/>
                  </a:lnTo>
                  <a:lnTo>
                    <a:pt x="0" y="15"/>
                  </a:lnTo>
                  <a:lnTo>
                    <a:pt x="0" y="20"/>
                  </a:lnTo>
                  <a:lnTo>
                    <a:pt x="0" y="27"/>
                  </a:lnTo>
                  <a:lnTo>
                    <a:pt x="1" y="33"/>
                  </a:lnTo>
                  <a:lnTo>
                    <a:pt x="5" y="33"/>
                  </a:lnTo>
                  <a:lnTo>
                    <a:pt x="5" y="31"/>
                  </a:lnTo>
                  <a:lnTo>
                    <a:pt x="5" y="29"/>
                  </a:lnTo>
                  <a:lnTo>
                    <a:pt x="4" y="26"/>
                  </a:lnTo>
                  <a:lnTo>
                    <a:pt x="4" y="20"/>
                  </a:lnTo>
                  <a:lnTo>
                    <a:pt x="4" y="15"/>
                  </a:lnTo>
                  <a:lnTo>
                    <a:pt x="4" y="9"/>
                  </a:lnTo>
                  <a:lnTo>
                    <a:pt x="4" y="5"/>
                  </a:lnTo>
                  <a:lnTo>
                    <a:pt x="7" y="0"/>
                  </a:lnTo>
                  <a:lnTo>
                    <a:pt x="7" y="0"/>
                  </a:lnTo>
                  <a:lnTo>
                    <a:pt x="7" y="0"/>
                  </a:lnTo>
                  <a:lnTo>
                    <a:pt x="5" y="0"/>
                  </a:lnTo>
                  <a:lnTo>
                    <a:pt x="5" y="0"/>
                  </a:lnTo>
                  <a:lnTo>
                    <a:pt x="5" y="0"/>
                  </a:lnTo>
                  <a:lnTo>
                    <a:pt x="4" y="0"/>
                  </a:lnTo>
                  <a:lnTo>
                    <a:pt x="3" y="0"/>
                  </a:lnTo>
                  <a:lnTo>
                    <a:pt x="2" y="1"/>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42" name="Freeform 41"/>
            <p:cNvSpPr>
              <a:spLocks/>
            </p:cNvSpPr>
            <p:nvPr/>
          </p:nvSpPr>
          <p:spPr bwMode="auto">
            <a:xfrm>
              <a:off x="1343" y="2654"/>
              <a:ext cx="24" cy="90"/>
            </a:xfrm>
            <a:custGeom>
              <a:avLst/>
              <a:gdLst>
                <a:gd name="T0" fmla="*/ 24 w 24"/>
                <a:gd name="T1" fmla="*/ 1 h 90"/>
                <a:gd name="T2" fmla="*/ 22 w 24"/>
                <a:gd name="T3" fmla="*/ 1 h 90"/>
                <a:gd name="T4" fmla="*/ 21 w 24"/>
                <a:gd name="T5" fmla="*/ 4 h 90"/>
                <a:gd name="T6" fmla="*/ 19 w 24"/>
                <a:gd name="T7" fmla="*/ 8 h 90"/>
                <a:gd name="T8" fmla="*/ 17 w 24"/>
                <a:gd name="T9" fmla="*/ 17 h 90"/>
                <a:gd name="T10" fmla="*/ 15 w 24"/>
                <a:gd name="T11" fmla="*/ 28 h 90"/>
                <a:gd name="T12" fmla="*/ 14 w 24"/>
                <a:gd name="T13" fmla="*/ 43 h 90"/>
                <a:gd name="T14" fmla="*/ 15 w 24"/>
                <a:gd name="T15" fmla="*/ 64 h 90"/>
                <a:gd name="T16" fmla="*/ 18 w 24"/>
                <a:gd name="T17" fmla="*/ 90 h 90"/>
                <a:gd name="T18" fmla="*/ 5 w 24"/>
                <a:gd name="T19" fmla="*/ 90 h 90"/>
                <a:gd name="T20" fmla="*/ 4 w 24"/>
                <a:gd name="T21" fmla="*/ 88 h 90"/>
                <a:gd name="T22" fmla="*/ 3 w 24"/>
                <a:gd name="T23" fmla="*/ 81 h 90"/>
                <a:gd name="T24" fmla="*/ 1 w 24"/>
                <a:gd name="T25" fmla="*/ 69 h 90"/>
                <a:gd name="T26" fmla="*/ 0 w 24"/>
                <a:gd name="T27" fmla="*/ 56 h 90"/>
                <a:gd name="T28" fmla="*/ 0 w 24"/>
                <a:gd name="T29" fmla="*/ 41 h 90"/>
                <a:gd name="T30" fmla="*/ 1 w 24"/>
                <a:gd name="T31" fmla="*/ 27 h 90"/>
                <a:gd name="T32" fmla="*/ 4 w 24"/>
                <a:gd name="T33" fmla="*/ 13 h 90"/>
                <a:gd name="T34" fmla="*/ 7 w 24"/>
                <a:gd name="T35" fmla="*/ 0 h 90"/>
                <a:gd name="T36" fmla="*/ 24 w 24"/>
                <a:gd name="T37" fmla="*/ 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 h="90">
                  <a:moveTo>
                    <a:pt x="24" y="1"/>
                  </a:moveTo>
                  <a:lnTo>
                    <a:pt x="22" y="1"/>
                  </a:lnTo>
                  <a:lnTo>
                    <a:pt x="21" y="4"/>
                  </a:lnTo>
                  <a:lnTo>
                    <a:pt x="19" y="8"/>
                  </a:lnTo>
                  <a:lnTo>
                    <a:pt x="17" y="17"/>
                  </a:lnTo>
                  <a:lnTo>
                    <a:pt x="15" y="28"/>
                  </a:lnTo>
                  <a:lnTo>
                    <a:pt x="14" y="43"/>
                  </a:lnTo>
                  <a:lnTo>
                    <a:pt x="15" y="64"/>
                  </a:lnTo>
                  <a:lnTo>
                    <a:pt x="18" y="90"/>
                  </a:lnTo>
                  <a:lnTo>
                    <a:pt x="5" y="90"/>
                  </a:lnTo>
                  <a:lnTo>
                    <a:pt x="4" y="88"/>
                  </a:lnTo>
                  <a:lnTo>
                    <a:pt x="3" y="81"/>
                  </a:lnTo>
                  <a:lnTo>
                    <a:pt x="1" y="69"/>
                  </a:lnTo>
                  <a:lnTo>
                    <a:pt x="0" y="56"/>
                  </a:lnTo>
                  <a:lnTo>
                    <a:pt x="0" y="41"/>
                  </a:lnTo>
                  <a:lnTo>
                    <a:pt x="1" y="27"/>
                  </a:lnTo>
                  <a:lnTo>
                    <a:pt x="4" y="13"/>
                  </a:lnTo>
                  <a:lnTo>
                    <a:pt x="7" y="0"/>
                  </a:lnTo>
                  <a:lnTo>
                    <a:pt x="24" y="1"/>
                  </a:lnTo>
                  <a:close/>
                </a:path>
              </a:pathLst>
            </a:custGeom>
            <a:solidFill>
              <a:srgbClr val="59B2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43" name="Freeform 42"/>
            <p:cNvSpPr>
              <a:spLocks/>
            </p:cNvSpPr>
            <p:nvPr/>
          </p:nvSpPr>
          <p:spPr bwMode="auto">
            <a:xfrm>
              <a:off x="1344" y="2661"/>
              <a:ext cx="19" cy="76"/>
            </a:xfrm>
            <a:custGeom>
              <a:avLst/>
              <a:gdLst>
                <a:gd name="T0" fmla="*/ 19 w 19"/>
                <a:gd name="T1" fmla="*/ 0 h 76"/>
                <a:gd name="T2" fmla="*/ 19 w 19"/>
                <a:gd name="T3" fmla="*/ 0 h 76"/>
                <a:gd name="T4" fmla="*/ 18 w 19"/>
                <a:gd name="T5" fmla="*/ 3 h 76"/>
                <a:gd name="T6" fmla="*/ 17 w 19"/>
                <a:gd name="T7" fmla="*/ 7 h 76"/>
                <a:gd name="T8" fmla="*/ 14 w 19"/>
                <a:gd name="T9" fmla="*/ 13 h 76"/>
                <a:gd name="T10" fmla="*/ 13 w 19"/>
                <a:gd name="T11" fmla="*/ 22 h 76"/>
                <a:gd name="T12" fmla="*/ 12 w 19"/>
                <a:gd name="T13" fmla="*/ 36 h 76"/>
                <a:gd name="T14" fmla="*/ 13 w 19"/>
                <a:gd name="T15" fmla="*/ 54 h 76"/>
                <a:gd name="T16" fmla="*/ 14 w 19"/>
                <a:gd name="T17" fmla="*/ 76 h 76"/>
                <a:gd name="T18" fmla="*/ 4 w 19"/>
                <a:gd name="T19" fmla="*/ 76 h 76"/>
                <a:gd name="T20" fmla="*/ 4 w 19"/>
                <a:gd name="T21" fmla="*/ 74 h 76"/>
                <a:gd name="T22" fmla="*/ 3 w 19"/>
                <a:gd name="T23" fmla="*/ 68 h 76"/>
                <a:gd name="T24" fmla="*/ 2 w 19"/>
                <a:gd name="T25" fmla="*/ 59 h 76"/>
                <a:gd name="T26" fmla="*/ 0 w 19"/>
                <a:gd name="T27" fmla="*/ 47 h 76"/>
                <a:gd name="T28" fmla="*/ 0 w 19"/>
                <a:gd name="T29" fmla="*/ 35 h 76"/>
                <a:gd name="T30" fmla="*/ 0 w 19"/>
                <a:gd name="T31" fmla="*/ 22 h 76"/>
                <a:gd name="T32" fmla="*/ 3 w 19"/>
                <a:gd name="T33" fmla="*/ 10 h 76"/>
                <a:gd name="T34" fmla="*/ 6 w 19"/>
                <a:gd name="T35" fmla="*/ 0 h 76"/>
                <a:gd name="T36" fmla="*/ 19 w 19"/>
                <a:gd name="T3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 h="76">
                  <a:moveTo>
                    <a:pt x="19" y="0"/>
                  </a:moveTo>
                  <a:lnTo>
                    <a:pt x="19" y="0"/>
                  </a:lnTo>
                  <a:lnTo>
                    <a:pt x="18" y="3"/>
                  </a:lnTo>
                  <a:lnTo>
                    <a:pt x="17" y="7"/>
                  </a:lnTo>
                  <a:lnTo>
                    <a:pt x="14" y="13"/>
                  </a:lnTo>
                  <a:lnTo>
                    <a:pt x="13" y="22"/>
                  </a:lnTo>
                  <a:lnTo>
                    <a:pt x="12" y="36"/>
                  </a:lnTo>
                  <a:lnTo>
                    <a:pt x="13" y="54"/>
                  </a:lnTo>
                  <a:lnTo>
                    <a:pt x="14" y="76"/>
                  </a:lnTo>
                  <a:lnTo>
                    <a:pt x="4" y="76"/>
                  </a:lnTo>
                  <a:lnTo>
                    <a:pt x="4" y="74"/>
                  </a:lnTo>
                  <a:lnTo>
                    <a:pt x="3" y="68"/>
                  </a:lnTo>
                  <a:lnTo>
                    <a:pt x="2" y="59"/>
                  </a:lnTo>
                  <a:lnTo>
                    <a:pt x="0" y="47"/>
                  </a:lnTo>
                  <a:lnTo>
                    <a:pt x="0" y="35"/>
                  </a:lnTo>
                  <a:lnTo>
                    <a:pt x="0" y="22"/>
                  </a:lnTo>
                  <a:lnTo>
                    <a:pt x="3" y="10"/>
                  </a:lnTo>
                  <a:lnTo>
                    <a:pt x="6" y="0"/>
                  </a:lnTo>
                  <a:lnTo>
                    <a:pt x="19" y="0"/>
                  </a:lnTo>
                  <a:close/>
                </a:path>
              </a:pathLst>
            </a:custGeom>
            <a:solidFill>
              <a:srgbClr val="72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44" name="Freeform 43"/>
            <p:cNvSpPr>
              <a:spLocks/>
            </p:cNvSpPr>
            <p:nvPr/>
          </p:nvSpPr>
          <p:spPr bwMode="auto">
            <a:xfrm>
              <a:off x="1346" y="2667"/>
              <a:ext cx="15" cy="63"/>
            </a:xfrm>
            <a:custGeom>
              <a:avLst/>
              <a:gdLst>
                <a:gd name="T0" fmla="*/ 15 w 15"/>
                <a:gd name="T1" fmla="*/ 0 h 63"/>
                <a:gd name="T2" fmla="*/ 15 w 15"/>
                <a:gd name="T3" fmla="*/ 1 h 63"/>
                <a:gd name="T4" fmla="*/ 14 w 15"/>
                <a:gd name="T5" fmla="*/ 2 h 63"/>
                <a:gd name="T6" fmla="*/ 12 w 15"/>
                <a:gd name="T7" fmla="*/ 6 h 63"/>
                <a:gd name="T8" fmla="*/ 11 w 15"/>
                <a:gd name="T9" fmla="*/ 12 h 63"/>
                <a:gd name="T10" fmla="*/ 10 w 15"/>
                <a:gd name="T11" fmla="*/ 19 h 63"/>
                <a:gd name="T12" fmla="*/ 9 w 15"/>
                <a:gd name="T13" fmla="*/ 30 h 63"/>
                <a:gd name="T14" fmla="*/ 10 w 15"/>
                <a:gd name="T15" fmla="*/ 44 h 63"/>
                <a:gd name="T16" fmla="*/ 11 w 15"/>
                <a:gd name="T17" fmla="*/ 63 h 63"/>
                <a:gd name="T18" fmla="*/ 2 w 15"/>
                <a:gd name="T19" fmla="*/ 63 h 63"/>
                <a:gd name="T20" fmla="*/ 2 w 15"/>
                <a:gd name="T21" fmla="*/ 62 h 63"/>
                <a:gd name="T22" fmla="*/ 1 w 15"/>
                <a:gd name="T23" fmla="*/ 56 h 63"/>
                <a:gd name="T24" fmla="*/ 0 w 15"/>
                <a:gd name="T25" fmla="*/ 49 h 63"/>
                <a:gd name="T26" fmla="*/ 0 w 15"/>
                <a:gd name="T27" fmla="*/ 40 h 63"/>
                <a:gd name="T28" fmla="*/ 0 w 15"/>
                <a:gd name="T29" fmla="*/ 29 h 63"/>
                <a:gd name="T30" fmla="*/ 0 w 15"/>
                <a:gd name="T31" fmla="*/ 19 h 63"/>
                <a:gd name="T32" fmla="*/ 1 w 15"/>
                <a:gd name="T33" fmla="*/ 8 h 63"/>
                <a:gd name="T34" fmla="*/ 4 w 15"/>
                <a:gd name="T35" fmla="*/ 0 h 63"/>
                <a:gd name="T36" fmla="*/ 15 w 15"/>
                <a:gd name="T37"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 h="63">
                  <a:moveTo>
                    <a:pt x="15" y="0"/>
                  </a:moveTo>
                  <a:lnTo>
                    <a:pt x="15" y="1"/>
                  </a:lnTo>
                  <a:lnTo>
                    <a:pt x="14" y="2"/>
                  </a:lnTo>
                  <a:lnTo>
                    <a:pt x="12" y="6"/>
                  </a:lnTo>
                  <a:lnTo>
                    <a:pt x="11" y="12"/>
                  </a:lnTo>
                  <a:lnTo>
                    <a:pt x="10" y="19"/>
                  </a:lnTo>
                  <a:lnTo>
                    <a:pt x="9" y="30"/>
                  </a:lnTo>
                  <a:lnTo>
                    <a:pt x="10" y="44"/>
                  </a:lnTo>
                  <a:lnTo>
                    <a:pt x="11" y="63"/>
                  </a:lnTo>
                  <a:lnTo>
                    <a:pt x="2" y="63"/>
                  </a:lnTo>
                  <a:lnTo>
                    <a:pt x="2" y="62"/>
                  </a:lnTo>
                  <a:lnTo>
                    <a:pt x="1" y="56"/>
                  </a:lnTo>
                  <a:lnTo>
                    <a:pt x="0" y="49"/>
                  </a:lnTo>
                  <a:lnTo>
                    <a:pt x="0" y="40"/>
                  </a:lnTo>
                  <a:lnTo>
                    <a:pt x="0" y="29"/>
                  </a:lnTo>
                  <a:lnTo>
                    <a:pt x="0" y="19"/>
                  </a:lnTo>
                  <a:lnTo>
                    <a:pt x="1" y="8"/>
                  </a:lnTo>
                  <a:lnTo>
                    <a:pt x="4" y="0"/>
                  </a:lnTo>
                  <a:lnTo>
                    <a:pt x="15" y="0"/>
                  </a:lnTo>
                  <a:close/>
                </a:path>
              </a:pathLst>
            </a:custGeom>
            <a:solidFill>
              <a:srgbClr val="8CD8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45" name="Freeform 44"/>
            <p:cNvSpPr>
              <a:spLocks/>
            </p:cNvSpPr>
            <p:nvPr/>
          </p:nvSpPr>
          <p:spPr bwMode="auto">
            <a:xfrm>
              <a:off x="1346" y="2673"/>
              <a:ext cx="12" cy="50"/>
            </a:xfrm>
            <a:custGeom>
              <a:avLst/>
              <a:gdLst>
                <a:gd name="T0" fmla="*/ 12 w 12"/>
                <a:gd name="T1" fmla="*/ 1 h 50"/>
                <a:gd name="T2" fmla="*/ 12 w 12"/>
                <a:gd name="T3" fmla="*/ 1 h 50"/>
                <a:gd name="T4" fmla="*/ 11 w 12"/>
                <a:gd name="T5" fmla="*/ 2 h 50"/>
                <a:gd name="T6" fmla="*/ 10 w 12"/>
                <a:gd name="T7" fmla="*/ 5 h 50"/>
                <a:gd name="T8" fmla="*/ 9 w 12"/>
                <a:gd name="T9" fmla="*/ 9 h 50"/>
                <a:gd name="T10" fmla="*/ 9 w 12"/>
                <a:gd name="T11" fmla="*/ 15 h 50"/>
                <a:gd name="T12" fmla="*/ 8 w 12"/>
                <a:gd name="T13" fmla="*/ 24 h 50"/>
                <a:gd name="T14" fmla="*/ 8 w 12"/>
                <a:gd name="T15" fmla="*/ 36 h 50"/>
                <a:gd name="T16" fmla="*/ 9 w 12"/>
                <a:gd name="T17" fmla="*/ 50 h 50"/>
                <a:gd name="T18" fmla="*/ 2 w 12"/>
                <a:gd name="T19" fmla="*/ 50 h 50"/>
                <a:gd name="T20" fmla="*/ 2 w 12"/>
                <a:gd name="T21" fmla="*/ 49 h 50"/>
                <a:gd name="T22" fmla="*/ 2 w 12"/>
                <a:gd name="T23" fmla="*/ 45 h 50"/>
                <a:gd name="T24" fmla="*/ 1 w 12"/>
                <a:gd name="T25" fmla="*/ 38 h 50"/>
                <a:gd name="T26" fmla="*/ 1 w 12"/>
                <a:gd name="T27" fmla="*/ 31 h 50"/>
                <a:gd name="T28" fmla="*/ 0 w 12"/>
                <a:gd name="T29" fmla="*/ 23 h 50"/>
                <a:gd name="T30" fmla="*/ 1 w 12"/>
                <a:gd name="T31" fmla="*/ 15 h 50"/>
                <a:gd name="T32" fmla="*/ 2 w 12"/>
                <a:gd name="T33" fmla="*/ 7 h 50"/>
                <a:gd name="T34" fmla="*/ 4 w 12"/>
                <a:gd name="T35" fmla="*/ 0 h 50"/>
                <a:gd name="T36" fmla="*/ 12 w 12"/>
                <a:gd name="T37" fmla="*/ 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 h="50">
                  <a:moveTo>
                    <a:pt x="12" y="1"/>
                  </a:moveTo>
                  <a:lnTo>
                    <a:pt x="12" y="1"/>
                  </a:lnTo>
                  <a:lnTo>
                    <a:pt x="11" y="2"/>
                  </a:lnTo>
                  <a:lnTo>
                    <a:pt x="10" y="5"/>
                  </a:lnTo>
                  <a:lnTo>
                    <a:pt x="9" y="9"/>
                  </a:lnTo>
                  <a:lnTo>
                    <a:pt x="9" y="15"/>
                  </a:lnTo>
                  <a:lnTo>
                    <a:pt x="8" y="24"/>
                  </a:lnTo>
                  <a:lnTo>
                    <a:pt x="8" y="36"/>
                  </a:lnTo>
                  <a:lnTo>
                    <a:pt x="9" y="50"/>
                  </a:lnTo>
                  <a:lnTo>
                    <a:pt x="2" y="50"/>
                  </a:lnTo>
                  <a:lnTo>
                    <a:pt x="2" y="49"/>
                  </a:lnTo>
                  <a:lnTo>
                    <a:pt x="2" y="45"/>
                  </a:lnTo>
                  <a:lnTo>
                    <a:pt x="1" y="38"/>
                  </a:lnTo>
                  <a:lnTo>
                    <a:pt x="1" y="31"/>
                  </a:lnTo>
                  <a:lnTo>
                    <a:pt x="0" y="23"/>
                  </a:lnTo>
                  <a:lnTo>
                    <a:pt x="1" y="15"/>
                  </a:lnTo>
                  <a:lnTo>
                    <a:pt x="2" y="7"/>
                  </a:lnTo>
                  <a:lnTo>
                    <a:pt x="4" y="0"/>
                  </a:lnTo>
                  <a:lnTo>
                    <a:pt x="12" y="1"/>
                  </a:lnTo>
                  <a:close/>
                </a:path>
              </a:pathLst>
            </a:custGeom>
            <a:solidFill>
              <a:srgbClr val="A5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46" name="Freeform 45"/>
            <p:cNvSpPr>
              <a:spLocks/>
            </p:cNvSpPr>
            <p:nvPr/>
          </p:nvSpPr>
          <p:spPr bwMode="auto">
            <a:xfrm>
              <a:off x="1347" y="2680"/>
              <a:ext cx="9" cy="36"/>
            </a:xfrm>
            <a:custGeom>
              <a:avLst/>
              <a:gdLst>
                <a:gd name="T0" fmla="*/ 9 w 9"/>
                <a:gd name="T1" fmla="*/ 0 h 36"/>
                <a:gd name="T2" fmla="*/ 9 w 9"/>
                <a:gd name="T3" fmla="*/ 0 h 36"/>
                <a:gd name="T4" fmla="*/ 8 w 9"/>
                <a:gd name="T5" fmla="*/ 1 h 36"/>
                <a:gd name="T6" fmla="*/ 8 w 9"/>
                <a:gd name="T7" fmla="*/ 3 h 36"/>
                <a:gd name="T8" fmla="*/ 7 w 9"/>
                <a:gd name="T9" fmla="*/ 6 h 36"/>
                <a:gd name="T10" fmla="*/ 6 w 9"/>
                <a:gd name="T11" fmla="*/ 10 h 36"/>
                <a:gd name="T12" fmla="*/ 6 w 9"/>
                <a:gd name="T13" fmla="*/ 17 h 36"/>
                <a:gd name="T14" fmla="*/ 6 w 9"/>
                <a:gd name="T15" fmla="*/ 26 h 36"/>
                <a:gd name="T16" fmla="*/ 7 w 9"/>
                <a:gd name="T17" fmla="*/ 36 h 36"/>
                <a:gd name="T18" fmla="*/ 2 w 9"/>
                <a:gd name="T19" fmla="*/ 36 h 36"/>
                <a:gd name="T20" fmla="*/ 1 w 9"/>
                <a:gd name="T21" fmla="*/ 36 h 36"/>
                <a:gd name="T22" fmla="*/ 1 w 9"/>
                <a:gd name="T23" fmla="*/ 33 h 36"/>
                <a:gd name="T24" fmla="*/ 1 w 9"/>
                <a:gd name="T25" fmla="*/ 28 h 36"/>
                <a:gd name="T26" fmla="*/ 0 w 9"/>
                <a:gd name="T27" fmla="*/ 22 h 36"/>
                <a:gd name="T28" fmla="*/ 0 w 9"/>
                <a:gd name="T29" fmla="*/ 16 h 36"/>
                <a:gd name="T30" fmla="*/ 0 w 9"/>
                <a:gd name="T31" fmla="*/ 10 h 36"/>
                <a:gd name="T32" fmla="*/ 1 w 9"/>
                <a:gd name="T33" fmla="*/ 5 h 36"/>
                <a:gd name="T34" fmla="*/ 3 w 9"/>
                <a:gd name="T35" fmla="*/ 0 h 36"/>
                <a:gd name="T36" fmla="*/ 9 w 9"/>
                <a:gd name="T3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36">
                  <a:moveTo>
                    <a:pt x="9" y="0"/>
                  </a:moveTo>
                  <a:lnTo>
                    <a:pt x="9" y="0"/>
                  </a:lnTo>
                  <a:lnTo>
                    <a:pt x="8" y="1"/>
                  </a:lnTo>
                  <a:lnTo>
                    <a:pt x="8" y="3"/>
                  </a:lnTo>
                  <a:lnTo>
                    <a:pt x="7" y="6"/>
                  </a:lnTo>
                  <a:lnTo>
                    <a:pt x="6" y="10"/>
                  </a:lnTo>
                  <a:lnTo>
                    <a:pt x="6" y="17"/>
                  </a:lnTo>
                  <a:lnTo>
                    <a:pt x="6" y="26"/>
                  </a:lnTo>
                  <a:lnTo>
                    <a:pt x="7" y="36"/>
                  </a:lnTo>
                  <a:lnTo>
                    <a:pt x="2" y="36"/>
                  </a:lnTo>
                  <a:lnTo>
                    <a:pt x="1" y="36"/>
                  </a:lnTo>
                  <a:lnTo>
                    <a:pt x="1" y="33"/>
                  </a:lnTo>
                  <a:lnTo>
                    <a:pt x="1" y="28"/>
                  </a:lnTo>
                  <a:lnTo>
                    <a:pt x="0" y="22"/>
                  </a:lnTo>
                  <a:lnTo>
                    <a:pt x="0" y="16"/>
                  </a:lnTo>
                  <a:lnTo>
                    <a:pt x="0" y="10"/>
                  </a:lnTo>
                  <a:lnTo>
                    <a:pt x="1" y="5"/>
                  </a:lnTo>
                  <a:lnTo>
                    <a:pt x="3" y="0"/>
                  </a:lnTo>
                  <a:lnTo>
                    <a:pt x="9" y="0"/>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47" name="Rectangle 46"/>
            <p:cNvSpPr>
              <a:spLocks noChangeArrowheads="1"/>
            </p:cNvSpPr>
            <p:nvPr/>
          </p:nvSpPr>
          <p:spPr bwMode="auto">
            <a:xfrm>
              <a:off x="1224" y="2671"/>
              <a:ext cx="4" cy="1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48" name="Freeform 47"/>
            <p:cNvSpPr>
              <a:spLocks/>
            </p:cNvSpPr>
            <p:nvPr/>
          </p:nvSpPr>
          <p:spPr bwMode="auto">
            <a:xfrm>
              <a:off x="1266" y="2668"/>
              <a:ext cx="46" cy="55"/>
            </a:xfrm>
            <a:custGeom>
              <a:avLst/>
              <a:gdLst>
                <a:gd name="T0" fmla="*/ 4 w 46"/>
                <a:gd name="T1" fmla="*/ 6 h 55"/>
                <a:gd name="T2" fmla="*/ 4 w 46"/>
                <a:gd name="T3" fmla="*/ 7 h 55"/>
                <a:gd name="T4" fmla="*/ 3 w 46"/>
                <a:gd name="T5" fmla="*/ 10 h 55"/>
                <a:gd name="T6" fmla="*/ 1 w 46"/>
                <a:gd name="T7" fmla="*/ 14 h 55"/>
                <a:gd name="T8" fmla="*/ 0 w 46"/>
                <a:gd name="T9" fmla="*/ 20 h 55"/>
                <a:gd name="T10" fmla="*/ 0 w 46"/>
                <a:gd name="T11" fmla="*/ 28 h 55"/>
                <a:gd name="T12" fmla="*/ 0 w 46"/>
                <a:gd name="T13" fmla="*/ 36 h 55"/>
                <a:gd name="T14" fmla="*/ 0 w 46"/>
                <a:gd name="T15" fmla="*/ 46 h 55"/>
                <a:gd name="T16" fmla="*/ 3 w 46"/>
                <a:gd name="T17" fmla="*/ 55 h 55"/>
                <a:gd name="T18" fmla="*/ 3 w 46"/>
                <a:gd name="T19" fmla="*/ 54 h 55"/>
                <a:gd name="T20" fmla="*/ 3 w 46"/>
                <a:gd name="T21" fmla="*/ 53 h 55"/>
                <a:gd name="T22" fmla="*/ 3 w 46"/>
                <a:gd name="T23" fmla="*/ 52 h 55"/>
                <a:gd name="T24" fmla="*/ 3 w 46"/>
                <a:gd name="T25" fmla="*/ 49 h 55"/>
                <a:gd name="T26" fmla="*/ 3 w 46"/>
                <a:gd name="T27" fmla="*/ 46 h 55"/>
                <a:gd name="T28" fmla="*/ 4 w 46"/>
                <a:gd name="T29" fmla="*/ 42 h 55"/>
                <a:gd name="T30" fmla="*/ 4 w 46"/>
                <a:gd name="T31" fmla="*/ 39 h 55"/>
                <a:gd name="T32" fmla="*/ 5 w 46"/>
                <a:gd name="T33" fmla="*/ 35 h 55"/>
                <a:gd name="T34" fmla="*/ 6 w 46"/>
                <a:gd name="T35" fmla="*/ 32 h 55"/>
                <a:gd name="T36" fmla="*/ 7 w 46"/>
                <a:gd name="T37" fmla="*/ 28 h 55"/>
                <a:gd name="T38" fmla="*/ 8 w 46"/>
                <a:gd name="T39" fmla="*/ 25 h 55"/>
                <a:gd name="T40" fmla="*/ 11 w 46"/>
                <a:gd name="T41" fmla="*/ 21 h 55"/>
                <a:gd name="T42" fmla="*/ 14 w 46"/>
                <a:gd name="T43" fmla="*/ 19 h 55"/>
                <a:gd name="T44" fmla="*/ 17 w 46"/>
                <a:gd name="T45" fmla="*/ 17 h 55"/>
                <a:gd name="T46" fmla="*/ 21 w 46"/>
                <a:gd name="T47" fmla="*/ 14 h 55"/>
                <a:gd name="T48" fmla="*/ 26 w 46"/>
                <a:gd name="T49" fmla="*/ 14 h 55"/>
                <a:gd name="T50" fmla="*/ 26 w 46"/>
                <a:gd name="T51" fmla="*/ 13 h 55"/>
                <a:gd name="T52" fmla="*/ 26 w 46"/>
                <a:gd name="T53" fmla="*/ 13 h 55"/>
                <a:gd name="T54" fmla="*/ 28 w 46"/>
                <a:gd name="T55" fmla="*/ 12 h 55"/>
                <a:gd name="T56" fmla="*/ 29 w 46"/>
                <a:gd name="T57" fmla="*/ 11 h 55"/>
                <a:gd name="T58" fmla="*/ 33 w 46"/>
                <a:gd name="T59" fmla="*/ 10 h 55"/>
                <a:gd name="T60" fmla="*/ 36 w 46"/>
                <a:gd name="T61" fmla="*/ 7 h 55"/>
                <a:gd name="T62" fmla="*/ 41 w 46"/>
                <a:gd name="T63" fmla="*/ 5 h 55"/>
                <a:gd name="T64" fmla="*/ 46 w 46"/>
                <a:gd name="T65" fmla="*/ 3 h 55"/>
                <a:gd name="T66" fmla="*/ 46 w 46"/>
                <a:gd name="T67" fmla="*/ 3 h 55"/>
                <a:gd name="T68" fmla="*/ 45 w 46"/>
                <a:gd name="T69" fmla="*/ 3 h 55"/>
                <a:gd name="T70" fmla="*/ 43 w 46"/>
                <a:gd name="T71" fmla="*/ 3 h 55"/>
                <a:gd name="T72" fmla="*/ 42 w 46"/>
                <a:gd name="T73" fmla="*/ 1 h 55"/>
                <a:gd name="T74" fmla="*/ 40 w 46"/>
                <a:gd name="T75" fmla="*/ 1 h 55"/>
                <a:gd name="T76" fmla="*/ 38 w 46"/>
                <a:gd name="T77" fmla="*/ 1 h 55"/>
                <a:gd name="T78" fmla="*/ 35 w 46"/>
                <a:gd name="T79" fmla="*/ 1 h 55"/>
                <a:gd name="T80" fmla="*/ 32 w 46"/>
                <a:gd name="T81" fmla="*/ 0 h 55"/>
                <a:gd name="T82" fmla="*/ 28 w 46"/>
                <a:gd name="T83" fmla="*/ 0 h 55"/>
                <a:gd name="T84" fmla="*/ 26 w 46"/>
                <a:gd name="T85" fmla="*/ 0 h 55"/>
                <a:gd name="T86" fmla="*/ 22 w 46"/>
                <a:gd name="T87" fmla="*/ 1 h 55"/>
                <a:gd name="T88" fmla="*/ 19 w 46"/>
                <a:gd name="T89" fmla="*/ 1 h 55"/>
                <a:gd name="T90" fmla="*/ 14 w 46"/>
                <a:gd name="T91" fmla="*/ 1 h 55"/>
                <a:gd name="T92" fmla="*/ 11 w 46"/>
                <a:gd name="T93" fmla="*/ 3 h 55"/>
                <a:gd name="T94" fmla="*/ 7 w 46"/>
                <a:gd name="T95" fmla="*/ 4 h 55"/>
                <a:gd name="T96" fmla="*/ 4 w 46"/>
                <a:gd name="T97" fmla="*/ 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 h="55">
                  <a:moveTo>
                    <a:pt x="4" y="6"/>
                  </a:moveTo>
                  <a:lnTo>
                    <a:pt x="4" y="7"/>
                  </a:lnTo>
                  <a:lnTo>
                    <a:pt x="3" y="10"/>
                  </a:lnTo>
                  <a:lnTo>
                    <a:pt x="1" y="14"/>
                  </a:lnTo>
                  <a:lnTo>
                    <a:pt x="0" y="20"/>
                  </a:lnTo>
                  <a:lnTo>
                    <a:pt x="0" y="28"/>
                  </a:lnTo>
                  <a:lnTo>
                    <a:pt x="0" y="36"/>
                  </a:lnTo>
                  <a:lnTo>
                    <a:pt x="0" y="46"/>
                  </a:lnTo>
                  <a:lnTo>
                    <a:pt x="3" y="55"/>
                  </a:lnTo>
                  <a:lnTo>
                    <a:pt x="3" y="54"/>
                  </a:lnTo>
                  <a:lnTo>
                    <a:pt x="3" y="53"/>
                  </a:lnTo>
                  <a:lnTo>
                    <a:pt x="3" y="52"/>
                  </a:lnTo>
                  <a:lnTo>
                    <a:pt x="3" y="49"/>
                  </a:lnTo>
                  <a:lnTo>
                    <a:pt x="3" y="46"/>
                  </a:lnTo>
                  <a:lnTo>
                    <a:pt x="4" y="42"/>
                  </a:lnTo>
                  <a:lnTo>
                    <a:pt x="4" y="39"/>
                  </a:lnTo>
                  <a:lnTo>
                    <a:pt x="5" y="35"/>
                  </a:lnTo>
                  <a:lnTo>
                    <a:pt x="6" y="32"/>
                  </a:lnTo>
                  <a:lnTo>
                    <a:pt x="7" y="28"/>
                  </a:lnTo>
                  <a:lnTo>
                    <a:pt x="8" y="25"/>
                  </a:lnTo>
                  <a:lnTo>
                    <a:pt x="11" y="21"/>
                  </a:lnTo>
                  <a:lnTo>
                    <a:pt x="14" y="19"/>
                  </a:lnTo>
                  <a:lnTo>
                    <a:pt x="17" y="17"/>
                  </a:lnTo>
                  <a:lnTo>
                    <a:pt x="21" y="14"/>
                  </a:lnTo>
                  <a:lnTo>
                    <a:pt x="26" y="14"/>
                  </a:lnTo>
                  <a:lnTo>
                    <a:pt x="26" y="13"/>
                  </a:lnTo>
                  <a:lnTo>
                    <a:pt x="26" y="13"/>
                  </a:lnTo>
                  <a:lnTo>
                    <a:pt x="28" y="12"/>
                  </a:lnTo>
                  <a:lnTo>
                    <a:pt x="29" y="11"/>
                  </a:lnTo>
                  <a:lnTo>
                    <a:pt x="33" y="10"/>
                  </a:lnTo>
                  <a:lnTo>
                    <a:pt x="36" y="7"/>
                  </a:lnTo>
                  <a:lnTo>
                    <a:pt x="41" y="5"/>
                  </a:lnTo>
                  <a:lnTo>
                    <a:pt x="46" y="3"/>
                  </a:lnTo>
                  <a:lnTo>
                    <a:pt x="46" y="3"/>
                  </a:lnTo>
                  <a:lnTo>
                    <a:pt x="45" y="3"/>
                  </a:lnTo>
                  <a:lnTo>
                    <a:pt x="43" y="3"/>
                  </a:lnTo>
                  <a:lnTo>
                    <a:pt x="42" y="1"/>
                  </a:lnTo>
                  <a:lnTo>
                    <a:pt x="40" y="1"/>
                  </a:lnTo>
                  <a:lnTo>
                    <a:pt x="38" y="1"/>
                  </a:lnTo>
                  <a:lnTo>
                    <a:pt x="35" y="1"/>
                  </a:lnTo>
                  <a:lnTo>
                    <a:pt x="32" y="0"/>
                  </a:lnTo>
                  <a:lnTo>
                    <a:pt x="28" y="0"/>
                  </a:lnTo>
                  <a:lnTo>
                    <a:pt x="26" y="0"/>
                  </a:lnTo>
                  <a:lnTo>
                    <a:pt x="22" y="1"/>
                  </a:lnTo>
                  <a:lnTo>
                    <a:pt x="19" y="1"/>
                  </a:lnTo>
                  <a:lnTo>
                    <a:pt x="14" y="1"/>
                  </a:lnTo>
                  <a:lnTo>
                    <a:pt x="11" y="3"/>
                  </a:lnTo>
                  <a:lnTo>
                    <a:pt x="7" y="4"/>
                  </a:lnTo>
                  <a:lnTo>
                    <a:pt x="4" y="6"/>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49" name="Freeform 48"/>
            <p:cNvSpPr>
              <a:spLocks/>
            </p:cNvSpPr>
            <p:nvPr/>
          </p:nvSpPr>
          <p:spPr bwMode="auto">
            <a:xfrm>
              <a:off x="1202" y="2709"/>
              <a:ext cx="37" cy="9"/>
            </a:xfrm>
            <a:custGeom>
              <a:avLst/>
              <a:gdLst>
                <a:gd name="T0" fmla="*/ 0 w 37"/>
                <a:gd name="T1" fmla="*/ 6 h 9"/>
                <a:gd name="T2" fmla="*/ 0 w 37"/>
                <a:gd name="T3" fmla="*/ 6 h 9"/>
                <a:gd name="T4" fmla="*/ 0 w 37"/>
                <a:gd name="T5" fmla="*/ 6 h 9"/>
                <a:gd name="T6" fmla="*/ 1 w 37"/>
                <a:gd name="T7" fmla="*/ 5 h 9"/>
                <a:gd name="T8" fmla="*/ 1 w 37"/>
                <a:gd name="T9" fmla="*/ 5 h 9"/>
                <a:gd name="T10" fmla="*/ 2 w 37"/>
                <a:gd name="T11" fmla="*/ 4 h 9"/>
                <a:gd name="T12" fmla="*/ 4 w 37"/>
                <a:gd name="T13" fmla="*/ 2 h 9"/>
                <a:gd name="T14" fmla="*/ 5 w 37"/>
                <a:gd name="T15" fmla="*/ 2 h 9"/>
                <a:gd name="T16" fmla="*/ 7 w 37"/>
                <a:gd name="T17" fmla="*/ 1 h 9"/>
                <a:gd name="T18" fmla="*/ 9 w 37"/>
                <a:gd name="T19" fmla="*/ 0 h 9"/>
                <a:gd name="T20" fmla="*/ 12 w 37"/>
                <a:gd name="T21" fmla="*/ 0 h 9"/>
                <a:gd name="T22" fmla="*/ 15 w 37"/>
                <a:gd name="T23" fmla="*/ 0 h 9"/>
                <a:gd name="T24" fmla="*/ 19 w 37"/>
                <a:gd name="T25" fmla="*/ 0 h 9"/>
                <a:gd name="T26" fmla="*/ 22 w 37"/>
                <a:gd name="T27" fmla="*/ 0 h 9"/>
                <a:gd name="T28" fmla="*/ 27 w 37"/>
                <a:gd name="T29" fmla="*/ 1 h 9"/>
                <a:gd name="T30" fmla="*/ 32 w 37"/>
                <a:gd name="T31" fmla="*/ 1 h 9"/>
                <a:gd name="T32" fmla="*/ 37 w 37"/>
                <a:gd name="T33" fmla="*/ 4 h 9"/>
                <a:gd name="T34" fmla="*/ 37 w 37"/>
                <a:gd name="T35" fmla="*/ 6 h 9"/>
                <a:gd name="T36" fmla="*/ 36 w 37"/>
                <a:gd name="T37" fmla="*/ 6 h 9"/>
                <a:gd name="T38" fmla="*/ 36 w 37"/>
                <a:gd name="T39" fmla="*/ 5 h 9"/>
                <a:gd name="T40" fmla="*/ 34 w 37"/>
                <a:gd name="T41" fmla="*/ 5 h 9"/>
                <a:gd name="T42" fmla="*/ 33 w 37"/>
                <a:gd name="T43" fmla="*/ 5 h 9"/>
                <a:gd name="T44" fmla="*/ 30 w 37"/>
                <a:gd name="T45" fmla="*/ 4 h 9"/>
                <a:gd name="T46" fmla="*/ 28 w 37"/>
                <a:gd name="T47" fmla="*/ 4 h 9"/>
                <a:gd name="T48" fmla="*/ 25 w 37"/>
                <a:gd name="T49" fmla="*/ 2 h 9"/>
                <a:gd name="T50" fmla="*/ 22 w 37"/>
                <a:gd name="T51" fmla="*/ 2 h 9"/>
                <a:gd name="T52" fmla="*/ 19 w 37"/>
                <a:gd name="T53" fmla="*/ 2 h 9"/>
                <a:gd name="T54" fmla="*/ 15 w 37"/>
                <a:gd name="T55" fmla="*/ 2 h 9"/>
                <a:gd name="T56" fmla="*/ 13 w 37"/>
                <a:gd name="T57" fmla="*/ 2 h 9"/>
                <a:gd name="T58" fmla="*/ 9 w 37"/>
                <a:gd name="T59" fmla="*/ 4 h 9"/>
                <a:gd name="T60" fmla="*/ 7 w 37"/>
                <a:gd name="T61" fmla="*/ 5 h 9"/>
                <a:gd name="T62" fmla="*/ 5 w 37"/>
                <a:gd name="T63" fmla="*/ 6 h 9"/>
                <a:gd name="T64" fmla="*/ 2 w 37"/>
                <a:gd name="T65" fmla="*/ 7 h 9"/>
                <a:gd name="T66" fmla="*/ 0 w 37"/>
                <a:gd name="T67" fmla="*/ 9 h 9"/>
                <a:gd name="T68" fmla="*/ 0 w 37"/>
                <a:gd name="T69" fmla="*/ 6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7" h="9">
                  <a:moveTo>
                    <a:pt x="0" y="6"/>
                  </a:moveTo>
                  <a:lnTo>
                    <a:pt x="0" y="6"/>
                  </a:lnTo>
                  <a:lnTo>
                    <a:pt x="0" y="6"/>
                  </a:lnTo>
                  <a:lnTo>
                    <a:pt x="1" y="5"/>
                  </a:lnTo>
                  <a:lnTo>
                    <a:pt x="1" y="5"/>
                  </a:lnTo>
                  <a:lnTo>
                    <a:pt x="2" y="4"/>
                  </a:lnTo>
                  <a:lnTo>
                    <a:pt x="4" y="2"/>
                  </a:lnTo>
                  <a:lnTo>
                    <a:pt x="5" y="2"/>
                  </a:lnTo>
                  <a:lnTo>
                    <a:pt x="7" y="1"/>
                  </a:lnTo>
                  <a:lnTo>
                    <a:pt x="9" y="0"/>
                  </a:lnTo>
                  <a:lnTo>
                    <a:pt x="12" y="0"/>
                  </a:lnTo>
                  <a:lnTo>
                    <a:pt x="15" y="0"/>
                  </a:lnTo>
                  <a:lnTo>
                    <a:pt x="19" y="0"/>
                  </a:lnTo>
                  <a:lnTo>
                    <a:pt x="22" y="0"/>
                  </a:lnTo>
                  <a:lnTo>
                    <a:pt x="27" y="1"/>
                  </a:lnTo>
                  <a:lnTo>
                    <a:pt x="32" y="1"/>
                  </a:lnTo>
                  <a:lnTo>
                    <a:pt x="37" y="4"/>
                  </a:lnTo>
                  <a:lnTo>
                    <a:pt x="37" y="6"/>
                  </a:lnTo>
                  <a:lnTo>
                    <a:pt x="36" y="6"/>
                  </a:lnTo>
                  <a:lnTo>
                    <a:pt x="36" y="5"/>
                  </a:lnTo>
                  <a:lnTo>
                    <a:pt x="34" y="5"/>
                  </a:lnTo>
                  <a:lnTo>
                    <a:pt x="33" y="5"/>
                  </a:lnTo>
                  <a:lnTo>
                    <a:pt x="30" y="4"/>
                  </a:lnTo>
                  <a:lnTo>
                    <a:pt x="28" y="4"/>
                  </a:lnTo>
                  <a:lnTo>
                    <a:pt x="25" y="2"/>
                  </a:lnTo>
                  <a:lnTo>
                    <a:pt x="22" y="2"/>
                  </a:lnTo>
                  <a:lnTo>
                    <a:pt x="19" y="2"/>
                  </a:lnTo>
                  <a:lnTo>
                    <a:pt x="15" y="2"/>
                  </a:lnTo>
                  <a:lnTo>
                    <a:pt x="13" y="2"/>
                  </a:lnTo>
                  <a:lnTo>
                    <a:pt x="9" y="4"/>
                  </a:lnTo>
                  <a:lnTo>
                    <a:pt x="7" y="5"/>
                  </a:lnTo>
                  <a:lnTo>
                    <a:pt x="5" y="6"/>
                  </a:lnTo>
                  <a:lnTo>
                    <a:pt x="2" y="7"/>
                  </a:lnTo>
                  <a:lnTo>
                    <a:pt x="0" y="9"/>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50" name="Freeform 49"/>
            <p:cNvSpPr>
              <a:spLocks/>
            </p:cNvSpPr>
            <p:nvPr/>
          </p:nvSpPr>
          <p:spPr bwMode="auto">
            <a:xfrm>
              <a:off x="1202" y="2685"/>
              <a:ext cx="37" cy="10"/>
            </a:xfrm>
            <a:custGeom>
              <a:avLst/>
              <a:gdLst>
                <a:gd name="T0" fmla="*/ 0 w 37"/>
                <a:gd name="T1" fmla="*/ 5 h 10"/>
                <a:gd name="T2" fmla="*/ 0 w 37"/>
                <a:gd name="T3" fmla="*/ 5 h 10"/>
                <a:gd name="T4" fmla="*/ 0 w 37"/>
                <a:gd name="T5" fmla="*/ 5 h 10"/>
                <a:gd name="T6" fmla="*/ 1 w 37"/>
                <a:gd name="T7" fmla="*/ 5 h 10"/>
                <a:gd name="T8" fmla="*/ 1 w 37"/>
                <a:gd name="T9" fmla="*/ 4 h 10"/>
                <a:gd name="T10" fmla="*/ 2 w 37"/>
                <a:gd name="T11" fmla="*/ 3 h 10"/>
                <a:gd name="T12" fmla="*/ 4 w 37"/>
                <a:gd name="T13" fmla="*/ 3 h 10"/>
                <a:gd name="T14" fmla="*/ 5 w 37"/>
                <a:gd name="T15" fmla="*/ 2 h 10"/>
                <a:gd name="T16" fmla="*/ 7 w 37"/>
                <a:gd name="T17" fmla="*/ 1 h 10"/>
                <a:gd name="T18" fmla="*/ 9 w 37"/>
                <a:gd name="T19" fmla="*/ 1 h 10"/>
                <a:gd name="T20" fmla="*/ 12 w 37"/>
                <a:gd name="T21" fmla="*/ 0 h 10"/>
                <a:gd name="T22" fmla="*/ 15 w 37"/>
                <a:gd name="T23" fmla="*/ 0 h 10"/>
                <a:gd name="T24" fmla="*/ 19 w 37"/>
                <a:gd name="T25" fmla="*/ 0 h 10"/>
                <a:gd name="T26" fmla="*/ 22 w 37"/>
                <a:gd name="T27" fmla="*/ 0 h 10"/>
                <a:gd name="T28" fmla="*/ 27 w 37"/>
                <a:gd name="T29" fmla="*/ 1 h 10"/>
                <a:gd name="T30" fmla="*/ 32 w 37"/>
                <a:gd name="T31" fmla="*/ 2 h 10"/>
                <a:gd name="T32" fmla="*/ 37 w 37"/>
                <a:gd name="T33" fmla="*/ 3 h 10"/>
                <a:gd name="T34" fmla="*/ 37 w 37"/>
                <a:gd name="T35" fmla="*/ 5 h 10"/>
                <a:gd name="T36" fmla="*/ 36 w 37"/>
                <a:gd name="T37" fmla="*/ 5 h 10"/>
                <a:gd name="T38" fmla="*/ 36 w 37"/>
                <a:gd name="T39" fmla="*/ 4 h 10"/>
                <a:gd name="T40" fmla="*/ 34 w 37"/>
                <a:gd name="T41" fmla="*/ 4 h 10"/>
                <a:gd name="T42" fmla="*/ 33 w 37"/>
                <a:gd name="T43" fmla="*/ 4 h 10"/>
                <a:gd name="T44" fmla="*/ 30 w 37"/>
                <a:gd name="T45" fmla="*/ 3 h 10"/>
                <a:gd name="T46" fmla="*/ 28 w 37"/>
                <a:gd name="T47" fmla="*/ 3 h 10"/>
                <a:gd name="T48" fmla="*/ 25 w 37"/>
                <a:gd name="T49" fmla="*/ 3 h 10"/>
                <a:gd name="T50" fmla="*/ 22 w 37"/>
                <a:gd name="T51" fmla="*/ 2 h 10"/>
                <a:gd name="T52" fmla="*/ 19 w 37"/>
                <a:gd name="T53" fmla="*/ 2 h 10"/>
                <a:gd name="T54" fmla="*/ 15 w 37"/>
                <a:gd name="T55" fmla="*/ 2 h 10"/>
                <a:gd name="T56" fmla="*/ 13 w 37"/>
                <a:gd name="T57" fmla="*/ 2 h 10"/>
                <a:gd name="T58" fmla="*/ 9 w 37"/>
                <a:gd name="T59" fmla="*/ 3 h 10"/>
                <a:gd name="T60" fmla="*/ 7 w 37"/>
                <a:gd name="T61" fmla="*/ 4 h 10"/>
                <a:gd name="T62" fmla="*/ 5 w 37"/>
                <a:gd name="T63" fmla="*/ 5 h 10"/>
                <a:gd name="T64" fmla="*/ 2 w 37"/>
                <a:gd name="T65" fmla="*/ 8 h 10"/>
                <a:gd name="T66" fmla="*/ 0 w 37"/>
                <a:gd name="T67" fmla="*/ 10 h 10"/>
                <a:gd name="T68" fmla="*/ 0 w 37"/>
                <a:gd name="T69"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7" h="10">
                  <a:moveTo>
                    <a:pt x="0" y="5"/>
                  </a:moveTo>
                  <a:lnTo>
                    <a:pt x="0" y="5"/>
                  </a:lnTo>
                  <a:lnTo>
                    <a:pt x="0" y="5"/>
                  </a:lnTo>
                  <a:lnTo>
                    <a:pt x="1" y="5"/>
                  </a:lnTo>
                  <a:lnTo>
                    <a:pt x="1" y="4"/>
                  </a:lnTo>
                  <a:lnTo>
                    <a:pt x="2" y="3"/>
                  </a:lnTo>
                  <a:lnTo>
                    <a:pt x="4" y="3"/>
                  </a:lnTo>
                  <a:lnTo>
                    <a:pt x="5" y="2"/>
                  </a:lnTo>
                  <a:lnTo>
                    <a:pt x="7" y="1"/>
                  </a:lnTo>
                  <a:lnTo>
                    <a:pt x="9" y="1"/>
                  </a:lnTo>
                  <a:lnTo>
                    <a:pt x="12" y="0"/>
                  </a:lnTo>
                  <a:lnTo>
                    <a:pt x="15" y="0"/>
                  </a:lnTo>
                  <a:lnTo>
                    <a:pt x="19" y="0"/>
                  </a:lnTo>
                  <a:lnTo>
                    <a:pt x="22" y="0"/>
                  </a:lnTo>
                  <a:lnTo>
                    <a:pt x="27" y="1"/>
                  </a:lnTo>
                  <a:lnTo>
                    <a:pt x="32" y="2"/>
                  </a:lnTo>
                  <a:lnTo>
                    <a:pt x="37" y="3"/>
                  </a:lnTo>
                  <a:lnTo>
                    <a:pt x="37" y="5"/>
                  </a:lnTo>
                  <a:lnTo>
                    <a:pt x="36" y="5"/>
                  </a:lnTo>
                  <a:lnTo>
                    <a:pt x="36" y="4"/>
                  </a:lnTo>
                  <a:lnTo>
                    <a:pt x="34" y="4"/>
                  </a:lnTo>
                  <a:lnTo>
                    <a:pt x="33" y="4"/>
                  </a:lnTo>
                  <a:lnTo>
                    <a:pt x="30" y="3"/>
                  </a:lnTo>
                  <a:lnTo>
                    <a:pt x="28" y="3"/>
                  </a:lnTo>
                  <a:lnTo>
                    <a:pt x="25" y="3"/>
                  </a:lnTo>
                  <a:lnTo>
                    <a:pt x="22" y="2"/>
                  </a:lnTo>
                  <a:lnTo>
                    <a:pt x="19" y="2"/>
                  </a:lnTo>
                  <a:lnTo>
                    <a:pt x="15" y="2"/>
                  </a:lnTo>
                  <a:lnTo>
                    <a:pt x="13" y="2"/>
                  </a:lnTo>
                  <a:lnTo>
                    <a:pt x="9" y="3"/>
                  </a:lnTo>
                  <a:lnTo>
                    <a:pt x="7" y="4"/>
                  </a:lnTo>
                  <a:lnTo>
                    <a:pt x="5" y="5"/>
                  </a:lnTo>
                  <a:lnTo>
                    <a:pt x="2" y="8"/>
                  </a:lnTo>
                  <a:lnTo>
                    <a:pt x="0" y="10"/>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51" name="Freeform 50"/>
            <p:cNvSpPr>
              <a:spLocks/>
            </p:cNvSpPr>
            <p:nvPr/>
          </p:nvSpPr>
          <p:spPr bwMode="auto">
            <a:xfrm>
              <a:off x="1237" y="2673"/>
              <a:ext cx="61" cy="112"/>
            </a:xfrm>
            <a:custGeom>
              <a:avLst/>
              <a:gdLst>
                <a:gd name="T0" fmla="*/ 0 w 61"/>
                <a:gd name="T1" fmla="*/ 0 h 112"/>
                <a:gd name="T2" fmla="*/ 0 w 61"/>
                <a:gd name="T3" fmla="*/ 109 h 112"/>
                <a:gd name="T4" fmla="*/ 19 w 61"/>
                <a:gd name="T5" fmla="*/ 112 h 112"/>
                <a:gd name="T6" fmla="*/ 18 w 61"/>
                <a:gd name="T7" fmla="*/ 98 h 112"/>
                <a:gd name="T8" fmla="*/ 61 w 61"/>
                <a:gd name="T9" fmla="*/ 104 h 112"/>
                <a:gd name="T10" fmla="*/ 61 w 61"/>
                <a:gd name="T11" fmla="*/ 98 h 112"/>
                <a:gd name="T12" fmla="*/ 30 w 61"/>
                <a:gd name="T13" fmla="*/ 95 h 112"/>
                <a:gd name="T14" fmla="*/ 29 w 61"/>
                <a:gd name="T15" fmla="*/ 82 h 112"/>
                <a:gd name="T16" fmla="*/ 9 w 61"/>
                <a:gd name="T17" fmla="*/ 82 h 112"/>
                <a:gd name="T18" fmla="*/ 8 w 61"/>
                <a:gd name="T19" fmla="*/ 81 h 112"/>
                <a:gd name="T20" fmla="*/ 7 w 61"/>
                <a:gd name="T21" fmla="*/ 76 h 112"/>
                <a:gd name="T22" fmla="*/ 6 w 61"/>
                <a:gd name="T23" fmla="*/ 69 h 112"/>
                <a:gd name="T24" fmla="*/ 4 w 61"/>
                <a:gd name="T25" fmla="*/ 58 h 112"/>
                <a:gd name="T26" fmla="*/ 2 w 61"/>
                <a:gd name="T27" fmla="*/ 47 h 112"/>
                <a:gd name="T28" fmla="*/ 1 w 61"/>
                <a:gd name="T29" fmla="*/ 34 h 112"/>
                <a:gd name="T30" fmla="*/ 2 w 61"/>
                <a:gd name="T31" fmla="*/ 19 h 112"/>
                <a:gd name="T32" fmla="*/ 6 w 61"/>
                <a:gd name="T33" fmla="*/ 3 h 112"/>
                <a:gd name="T34" fmla="*/ 0 w 61"/>
                <a:gd name="T35"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112">
                  <a:moveTo>
                    <a:pt x="0" y="0"/>
                  </a:moveTo>
                  <a:lnTo>
                    <a:pt x="0" y="109"/>
                  </a:lnTo>
                  <a:lnTo>
                    <a:pt x="19" y="112"/>
                  </a:lnTo>
                  <a:lnTo>
                    <a:pt x="18" y="98"/>
                  </a:lnTo>
                  <a:lnTo>
                    <a:pt x="61" y="104"/>
                  </a:lnTo>
                  <a:lnTo>
                    <a:pt x="61" y="98"/>
                  </a:lnTo>
                  <a:lnTo>
                    <a:pt x="30" y="95"/>
                  </a:lnTo>
                  <a:lnTo>
                    <a:pt x="29" y="82"/>
                  </a:lnTo>
                  <a:lnTo>
                    <a:pt x="9" y="82"/>
                  </a:lnTo>
                  <a:lnTo>
                    <a:pt x="8" y="81"/>
                  </a:lnTo>
                  <a:lnTo>
                    <a:pt x="7" y="76"/>
                  </a:lnTo>
                  <a:lnTo>
                    <a:pt x="6" y="69"/>
                  </a:lnTo>
                  <a:lnTo>
                    <a:pt x="4" y="58"/>
                  </a:lnTo>
                  <a:lnTo>
                    <a:pt x="2" y="47"/>
                  </a:lnTo>
                  <a:lnTo>
                    <a:pt x="1" y="34"/>
                  </a:lnTo>
                  <a:lnTo>
                    <a:pt x="2" y="19"/>
                  </a:lnTo>
                  <a:lnTo>
                    <a:pt x="6" y="3"/>
                  </a:lnTo>
                  <a:lnTo>
                    <a:pt x="0" y="0"/>
                  </a:lnTo>
                  <a:close/>
                </a:path>
              </a:pathLst>
            </a:custGeom>
            <a:solidFill>
              <a:srgbClr val="00199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52" name="Freeform 51"/>
            <p:cNvSpPr>
              <a:spLocks/>
            </p:cNvSpPr>
            <p:nvPr/>
          </p:nvSpPr>
          <p:spPr bwMode="auto">
            <a:xfrm>
              <a:off x="1267" y="2647"/>
              <a:ext cx="79" cy="15"/>
            </a:xfrm>
            <a:custGeom>
              <a:avLst/>
              <a:gdLst>
                <a:gd name="T0" fmla="*/ 0 w 79"/>
                <a:gd name="T1" fmla="*/ 15 h 15"/>
                <a:gd name="T2" fmla="*/ 0 w 79"/>
                <a:gd name="T3" fmla="*/ 15 h 15"/>
                <a:gd name="T4" fmla="*/ 3 w 79"/>
                <a:gd name="T5" fmla="*/ 14 h 15"/>
                <a:gd name="T6" fmla="*/ 4 w 79"/>
                <a:gd name="T7" fmla="*/ 14 h 15"/>
                <a:gd name="T8" fmla="*/ 7 w 79"/>
                <a:gd name="T9" fmla="*/ 13 h 15"/>
                <a:gd name="T10" fmla="*/ 11 w 79"/>
                <a:gd name="T11" fmla="*/ 12 h 15"/>
                <a:gd name="T12" fmla="*/ 14 w 79"/>
                <a:gd name="T13" fmla="*/ 11 h 15"/>
                <a:gd name="T14" fmla="*/ 19 w 79"/>
                <a:gd name="T15" fmla="*/ 10 h 15"/>
                <a:gd name="T16" fmla="*/ 24 w 79"/>
                <a:gd name="T17" fmla="*/ 8 h 15"/>
                <a:gd name="T18" fmla="*/ 30 w 79"/>
                <a:gd name="T19" fmla="*/ 8 h 15"/>
                <a:gd name="T20" fmla="*/ 35 w 79"/>
                <a:gd name="T21" fmla="*/ 7 h 15"/>
                <a:gd name="T22" fmla="*/ 42 w 79"/>
                <a:gd name="T23" fmla="*/ 7 h 15"/>
                <a:gd name="T24" fmla="*/ 48 w 79"/>
                <a:gd name="T25" fmla="*/ 6 h 15"/>
                <a:gd name="T26" fmla="*/ 55 w 79"/>
                <a:gd name="T27" fmla="*/ 7 h 15"/>
                <a:gd name="T28" fmla="*/ 62 w 79"/>
                <a:gd name="T29" fmla="*/ 7 h 15"/>
                <a:gd name="T30" fmla="*/ 69 w 79"/>
                <a:gd name="T31" fmla="*/ 8 h 15"/>
                <a:gd name="T32" fmla="*/ 76 w 79"/>
                <a:gd name="T33" fmla="*/ 10 h 15"/>
                <a:gd name="T34" fmla="*/ 79 w 79"/>
                <a:gd name="T35" fmla="*/ 0 h 15"/>
                <a:gd name="T36" fmla="*/ 79 w 79"/>
                <a:gd name="T37" fmla="*/ 0 h 15"/>
                <a:gd name="T38" fmla="*/ 76 w 79"/>
                <a:gd name="T39" fmla="*/ 0 h 15"/>
                <a:gd name="T40" fmla="*/ 74 w 79"/>
                <a:gd name="T41" fmla="*/ 0 h 15"/>
                <a:gd name="T42" fmla="*/ 70 w 79"/>
                <a:gd name="T43" fmla="*/ 0 h 15"/>
                <a:gd name="T44" fmla="*/ 66 w 79"/>
                <a:gd name="T45" fmla="*/ 0 h 15"/>
                <a:gd name="T46" fmla="*/ 61 w 79"/>
                <a:gd name="T47" fmla="*/ 0 h 15"/>
                <a:gd name="T48" fmla="*/ 56 w 79"/>
                <a:gd name="T49" fmla="*/ 0 h 15"/>
                <a:gd name="T50" fmla="*/ 51 w 79"/>
                <a:gd name="T51" fmla="*/ 1 h 15"/>
                <a:gd name="T52" fmla="*/ 44 w 79"/>
                <a:gd name="T53" fmla="*/ 1 h 15"/>
                <a:gd name="T54" fmla="*/ 38 w 79"/>
                <a:gd name="T55" fmla="*/ 1 h 15"/>
                <a:gd name="T56" fmla="*/ 31 w 79"/>
                <a:gd name="T57" fmla="*/ 3 h 15"/>
                <a:gd name="T58" fmla="*/ 25 w 79"/>
                <a:gd name="T59" fmla="*/ 4 h 15"/>
                <a:gd name="T60" fmla="*/ 18 w 79"/>
                <a:gd name="T61" fmla="*/ 5 h 15"/>
                <a:gd name="T62" fmla="*/ 12 w 79"/>
                <a:gd name="T63" fmla="*/ 6 h 15"/>
                <a:gd name="T64" fmla="*/ 6 w 79"/>
                <a:gd name="T65" fmla="*/ 7 h 15"/>
                <a:gd name="T66" fmla="*/ 0 w 79"/>
                <a:gd name="T67" fmla="*/ 8 h 15"/>
                <a:gd name="T68" fmla="*/ 0 w 79"/>
                <a:gd name="T6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 h="15">
                  <a:moveTo>
                    <a:pt x="0" y="15"/>
                  </a:moveTo>
                  <a:lnTo>
                    <a:pt x="0" y="15"/>
                  </a:lnTo>
                  <a:lnTo>
                    <a:pt x="3" y="14"/>
                  </a:lnTo>
                  <a:lnTo>
                    <a:pt x="4" y="14"/>
                  </a:lnTo>
                  <a:lnTo>
                    <a:pt x="7" y="13"/>
                  </a:lnTo>
                  <a:lnTo>
                    <a:pt x="11" y="12"/>
                  </a:lnTo>
                  <a:lnTo>
                    <a:pt x="14" y="11"/>
                  </a:lnTo>
                  <a:lnTo>
                    <a:pt x="19" y="10"/>
                  </a:lnTo>
                  <a:lnTo>
                    <a:pt x="24" y="8"/>
                  </a:lnTo>
                  <a:lnTo>
                    <a:pt x="30" y="8"/>
                  </a:lnTo>
                  <a:lnTo>
                    <a:pt x="35" y="7"/>
                  </a:lnTo>
                  <a:lnTo>
                    <a:pt x="42" y="7"/>
                  </a:lnTo>
                  <a:lnTo>
                    <a:pt x="48" y="6"/>
                  </a:lnTo>
                  <a:lnTo>
                    <a:pt x="55" y="7"/>
                  </a:lnTo>
                  <a:lnTo>
                    <a:pt x="62" y="7"/>
                  </a:lnTo>
                  <a:lnTo>
                    <a:pt x="69" y="8"/>
                  </a:lnTo>
                  <a:lnTo>
                    <a:pt x="76" y="10"/>
                  </a:lnTo>
                  <a:lnTo>
                    <a:pt x="79" y="0"/>
                  </a:lnTo>
                  <a:lnTo>
                    <a:pt x="79" y="0"/>
                  </a:lnTo>
                  <a:lnTo>
                    <a:pt x="76" y="0"/>
                  </a:lnTo>
                  <a:lnTo>
                    <a:pt x="74" y="0"/>
                  </a:lnTo>
                  <a:lnTo>
                    <a:pt x="70" y="0"/>
                  </a:lnTo>
                  <a:lnTo>
                    <a:pt x="66" y="0"/>
                  </a:lnTo>
                  <a:lnTo>
                    <a:pt x="61" y="0"/>
                  </a:lnTo>
                  <a:lnTo>
                    <a:pt x="56" y="0"/>
                  </a:lnTo>
                  <a:lnTo>
                    <a:pt x="51" y="1"/>
                  </a:lnTo>
                  <a:lnTo>
                    <a:pt x="44" y="1"/>
                  </a:lnTo>
                  <a:lnTo>
                    <a:pt x="38" y="1"/>
                  </a:lnTo>
                  <a:lnTo>
                    <a:pt x="31" y="3"/>
                  </a:lnTo>
                  <a:lnTo>
                    <a:pt x="25" y="4"/>
                  </a:lnTo>
                  <a:lnTo>
                    <a:pt x="18" y="5"/>
                  </a:lnTo>
                  <a:lnTo>
                    <a:pt x="12" y="6"/>
                  </a:lnTo>
                  <a:lnTo>
                    <a:pt x="6" y="7"/>
                  </a:lnTo>
                  <a:lnTo>
                    <a:pt x="0" y="8"/>
                  </a:lnTo>
                  <a:lnTo>
                    <a:pt x="0" y="15"/>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53" name="Freeform 52"/>
            <p:cNvSpPr>
              <a:spLocks/>
            </p:cNvSpPr>
            <p:nvPr/>
          </p:nvSpPr>
          <p:spPr bwMode="auto">
            <a:xfrm>
              <a:off x="1222" y="2787"/>
              <a:ext cx="132" cy="45"/>
            </a:xfrm>
            <a:custGeom>
              <a:avLst/>
              <a:gdLst>
                <a:gd name="T0" fmla="*/ 55 w 132"/>
                <a:gd name="T1" fmla="*/ 44 h 45"/>
                <a:gd name="T2" fmla="*/ 56 w 132"/>
                <a:gd name="T3" fmla="*/ 44 h 45"/>
                <a:gd name="T4" fmla="*/ 56 w 132"/>
                <a:gd name="T5" fmla="*/ 42 h 45"/>
                <a:gd name="T6" fmla="*/ 57 w 132"/>
                <a:gd name="T7" fmla="*/ 42 h 45"/>
                <a:gd name="T8" fmla="*/ 59 w 132"/>
                <a:gd name="T9" fmla="*/ 41 h 45"/>
                <a:gd name="T10" fmla="*/ 61 w 132"/>
                <a:gd name="T11" fmla="*/ 41 h 45"/>
                <a:gd name="T12" fmla="*/ 63 w 132"/>
                <a:gd name="T13" fmla="*/ 40 h 45"/>
                <a:gd name="T14" fmla="*/ 65 w 132"/>
                <a:gd name="T15" fmla="*/ 39 h 45"/>
                <a:gd name="T16" fmla="*/ 68 w 132"/>
                <a:gd name="T17" fmla="*/ 38 h 45"/>
                <a:gd name="T18" fmla="*/ 71 w 132"/>
                <a:gd name="T19" fmla="*/ 37 h 45"/>
                <a:gd name="T20" fmla="*/ 73 w 132"/>
                <a:gd name="T21" fmla="*/ 34 h 45"/>
                <a:gd name="T22" fmla="*/ 76 w 132"/>
                <a:gd name="T23" fmla="*/ 33 h 45"/>
                <a:gd name="T24" fmla="*/ 78 w 132"/>
                <a:gd name="T25" fmla="*/ 32 h 45"/>
                <a:gd name="T26" fmla="*/ 80 w 132"/>
                <a:gd name="T27" fmla="*/ 30 h 45"/>
                <a:gd name="T28" fmla="*/ 82 w 132"/>
                <a:gd name="T29" fmla="*/ 28 h 45"/>
                <a:gd name="T30" fmla="*/ 84 w 132"/>
                <a:gd name="T31" fmla="*/ 26 h 45"/>
                <a:gd name="T32" fmla="*/ 85 w 132"/>
                <a:gd name="T33" fmla="*/ 24 h 45"/>
                <a:gd name="T34" fmla="*/ 0 w 132"/>
                <a:gd name="T35" fmla="*/ 3 h 45"/>
                <a:gd name="T36" fmla="*/ 6 w 132"/>
                <a:gd name="T37" fmla="*/ 0 h 45"/>
                <a:gd name="T38" fmla="*/ 132 w 132"/>
                <a:gd name="T39" fmla="*/ 32 h 45"/>
                <a:gd name="T40" fmla="*/ 126 w 132"/>
                <a:gd name="T41" fmla="*/ 34 h 45"/>
                <a:gd name="T42" fmla="*/ 90 w 132"/>
                <a:gd name="T43" fmla="*/ 25 h 45"/>
                <a:gd name="T44" fmla="*/ 90 w 132"/>
                <a:gd name="T45" fmla="*/ 25 h 45"/>
                <a:gd name="T46" fmla="*/ 90 w 132"/>
                <a:gd name="T47" fmla="*/ 26 h 45"/>
                <a:gd name="T48" fmla="*/ 89 w 132"/>
                <a:gd name="T49" fmla="*/ 26 h 45"/>
                <a:gd name="T50" fmla="*/ 89 w 132"/>
                <a:gd name="T51" fmla="*/ 27 h 45"/>
                <a:gd name="T52" fmla="*/ 87 w 132"/>
                <a:gd name="T53" fmla="*/ 28 h 45"/>
                <a:gd name="T54" fmla="*/ 86 w 132"/>
                <a:gd name="T55" fmla="*/ 30 h 45"/>
                <a:gd name="T56" fmla="*/ 85 w 132"/>
                <a:gd name="T57" fmla="*/ 31 h 45"/>
                <a:gd name="T58" fmla="*/ 83 w 132"/>
                <a:gd name="T59" fmla="*/ 32 h 45"/>
                <a:gd name="T60" fmla="*/ 80 w 132"/>
                <a:gd name="T61" fmla="*/ 33 h 45"/>
                <a:gd name="T62" fmla="*/ 78 w 132"/>
                <a:gd name="T63" fmla="*/ 35 h 45"/>
                <a:gd name="T64" fmla="*/ 76 w 132"/>
                <a:gd name="T65" fmla="*/ 37 h 45"/>
                <a:gd name="T66" fmla="*/ 72 w 132"/>
                <a:gd name="T67" fmla="*/ 38 h 45"/>
                <a:gd name="T68" fmla="*/ 70 w 132"/>
                <a:gd name="T69" fmla="*/ 40 h 45"/>
                <a:gd name="T70" fmla="*/ 65 w 132"/>
                <a:gd name="T71" fmla="*/ 41 h 45"/>
                <a:gd name="T72" fmla="*/ 62 w 132"/>
                <a:gd name="T73" fmla="*/ 44 h 45"/>
                <a:gd name="T74" fmla="*/ 57 w 132"/>
                <a:gd name="T75" fmla="*/ 45 h 45"/>
                <a:gd name="T76" fmla="*/ 55 w 132"/>
                <a:gd name="T7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45">
                  <a:moveTo>
                    <a:pt x="55" y="44"/>
                  </a:moveTo>
                  <a:lnTo>
                    <a:pt x="56" y="44"/>
                  </a:lnTo>
                  <a:lnTo>
                    <a:pt x="56" y="42"/>
                  </a:lnTo>
                  <a:lnTo>
                    <a:pt x="57" y="42"/>
                  </a:lnTo>
                  <a:lnTo>
                    <a:pt x="59" y="41"/>
                  </a:lnTo>
                  <a:lnTo>
                    <a:pt x="61" y="41"/>
                  </a:lnTo>
                  <a:lnTo>
                    <a:pt x="63" y="40"/>
                  </a:lnTo>
                  <a:lnTo>
                    <a:pt x="65" y="39"/>
                  </a:lnTo>
                  <a:lnTo>
                    <a:pt x="68" y="38"/>
                  </a:lnTo>
                  <a:lnTo>
                    <a:pt x="71" y="37"/>
                  </a:lnTo>
                  <a:lnTo>
                    <a:pt x="73" y="34"/>
                  </a:lnTo>
                  <a:lnTo>
                    <a:pt x="76" y="33"/>
                  </a:lnTo>
                  <a:lnTo>
                    <a:pt x="78" y="32"/>
                  </a:lnTo>
                  <a:lnTo>
                    <a:pt x="80" y="30"/>
                  </a:lnTo>
                  <a:lnTo>
                    <a:pt x="82" y="28"/>
                  </a:lnTo>
                  <a:lnTo>
                    <a:pt x="84" y="26"/>
                  </a:lnTo>
                  <a:lnTo>
                    <a:pt x="85" y="24"/>
                  </a:lnTo>
                  <a:lnTo>
                    <a:pt x="0" y="3"/>
                  </a:lnTo>
                  <a:lnTo>
                    <a:pt x="6" y="0"/>
                  </a:lnTo>
                  <a:lnTo>
                    <a:pt x="132" y="32"/>
                  </a:lnTo>
                  <a:lnTo>
                    <a:pt x="126" y="34"/>
                  </a:lnTo>
                  <a:lnTo>
                    <a:pt x="90" y="25"/>
                  </a:lnTo>
                  <a:lnTo>
                    <a:pt x="90" y="25"/>
                  </a:lnTo>
                  <a:lnTo>
                    <a:pt x="90" y="26"/>
                  </a:lnTo>
                  <a:lnTo>
                    <a:pt x="89" y="26"/>
                  </a:lnTo>
                  <a:lnTo>
                    <a:pt x="89" y="27"/>
                  </a:lnTo>
                  <a:lnTo>
                    <a:pt x="87" y="28"/>
                  </a:lnTo>
                  <a:lnTo>
                    <a:pt x="86" y="30"/>
                  </a:lnTo>
                  <a:lnTo>
                    <a:pt x="85" y="31"/>
                  </a:lnTo>
                  <a:lnTo>
                    <a:pt x="83" y="32"/>
                  </a:lnTo>
                  <a:lnTo>
                    <a:pt x="80" y="33"/>
                  </a:lnTo>
                  <a:lnTo>
                    <a:pt x="78" y="35"/>
                  </a:lnTo>
                  <a:lnTo>
                    <a:pt x="76" y="37"/>
                  </a:lnTo>
                  <a:lnTo>
                    <a:pt x="72" y="38"/>
                  </a:lnTo>
                  <a:lnTo>
                    <a:pt x="70" y="40"/>
                  </a:lnTo>
                  <a:lnTo>
                    <a:pt x="65" y="41"/>
                  </a:lnTo>
                  <a:lnTo>
                    <a:pt x="62" y="44"/>
                  </a:lnTo>
                  <a:lnTo>
                    <a:pt x="57" y="45"/>
                  </a:lnTo>
                  <a:lnTo>
                    <a:pt x="5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54" name="Freeform 53"/>
            <p:cNvSpPr>
              <a:spLocks/>
            </p:cNvSpPr>
            <p:nvPr/>
          </p:nvSpPr>
          <p:spPr bwMode="auto">
            <a:xfrm>
              <a:off x="1194" y="2799"/>
              <a:ext cx="135" cy="40"/>
            </a:xfrm>
            <a:custGeom>
              <a:avLst/>
              <a:gdLst>
                <a:gd name="T0" fmla="*/ 0 w 135"/>
                <a:gd name="T1" fmla="*/ 0 h 40"/>
                <a:gd name="T2" fmla="*/ 132 w 135"/>
                <a:gd name="T3" fmla="*/ 40 h 40"/>
                <a:gd name="T4" fmla="*/ 135 w 135"/>
                <a:gd name="T5" fmla="*/ 40 h 40"/>
                <a:gd name="T6" fmla="*/ 5 w 135"/>
                <a:gd name="T7" fmla="*/ 0 h 40"/>
                <a:gd name="T8" fmla="*/ 0 w 135"/>
                <a:gd name="T9" fmla="*/ 0 h 40"/>
              </a:gdLst>
              <a:ahLst/>
              <a:cxnLst>
                <a:cxn ang="0">
                  <a:pos x="T0" y="T1"/>
                </a:cxn>
                <a:cxn ang="0">
                  <a:pos x="T2" y="T3"/>
                </a:cxn>
                <a:cxn ang="0">
                  <a:pos x="T4" y="T5"/>
                </a:cxn>
                <a:cxn ang="0">
                  <a:pos x="T6" y="T7"/>
                </a:cxn>
                <a:cxn ang="0">
                  <a:pos x="T8" y="T9"/>
                </a:cxn>
              </a:cxnLst>
              <a:rect l="0" t="0" r="r" b="b"/>
              <a:pathLst>
                <a:path w="135" h="40">
                  <a:moveTo>
                    <a:pt x="0" y="0"/>
                  </a:moveTo>
                  <a:lnTo>
                    <a:pt x="132" y="40"/>
                  </a:lnTo>
                  <a:lnTo>
                    <a:pt x="135" y="40"/>
                  </a:lnTo>
                  <a:lnTo>
                    <a:pt x="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55" name="Freeform 54"/>
            <p:cNvSpPr>
              <a:spLocks/>
            </p:cNvSpPr>
            <p:nvPr/>
          </p:nvSpPr>
          <p:spPr bwMode="auto">
            <a:xfrm>
              <a:off x="1217" y="2794"/>
              <a:ext cx="132" cy="35"/>
            </a:xfrm>
            <a:custGeom>
              <a:avLst/>
              <a:gdLst>
                <a:gd name="T0" fmla="*/ 0 w 132"/>
                <a:gd name="T1" fmla="*/ 0 h 35"/>
                <a:gd name="T2" fmla="*/ 130 w 132"/>
                <a:gd name="T3" fmla="*/ 35 h 35"/>
                <a:gd name="T4" fmla="*/ 132 w 132"/>
                <a:gd name="T5" fmla="*/ 35 h 35"/>
                <a:gd name="T6" fmla="*/ 4 w 132"/>
                <a:gd name="T7" fmla="*/ 0 h 35"/>
                <a:gd name="T8" fmla="*/ 0 w 132"/>
                <a:gd name="T9" fmla="*/ 0 h 35"/>
              </a:gdLst>
              <a:ahLst/>
              <a:cxnLst>
                <a:cxn ang="0">
                  <a:pos x="T0" y="T1"/>
                </a:cxn>
                <a:cxn ang="0">
                  <a:pos x="T2" y="T3"/>
                </a:cxn>
                <a:cxn ang="0">
                  <a:pos x="T4" y="T5"/>
                </a:cxn>
                <a:cxn ang="0">
                  <a:pos x="T6" y="T7"/>
                </a:cxn>
                <a:cxn ang="0">
                  <a:pos x="T8" y="T9"/>
                </a:cxn>
              </a:cxnLst>
              <a:rect l="0" t="0" r="r" b="b"/>
              <a:pathLst>
                <a:path w="132" h="35">
                  <a:moveTo>
                    <a:pt x="0" y="0"/>
                  </a:moveTo>
                  <a:lnTo>
                    <a:pt x="130" y="35"/>
                  </a:lnTo>
                  <a:lnTo>
                    <a:pt x="132" y="35"/>
                  </a:lnTo>
                  <a:lnTo>
                    <a:pt x="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56" name="Freeform 55"/>
            <p:cNvSpPr>
              <a:spLocks/>
            </p:cNvSpPr>
            <p:nvPr/>
          </p:nvSpPr>
          <p:spPr bwMode="auto">
            <a:xfrm>
              <a:off x="1207" y="2796"/>
              <a:ext cx="133" cy="38"/>
            </a:xfrm>
            <a:custGeom>
              <a:avLst/>
              <a:gdLst>
                <a:gd name="T0" fmla="*/ 0 w 133"/>
                <a:gd name="T1" fmla="*/ 0 h 38"/>
                <a:gd name="T2" fmla="*/ 130 w 133"/>
                <a:gd name="T3" fmla="*/ 38 h 38"/>
                <a:gd name="T4" fmla="*/ 133 w 133"/>
                <a:gd name="T5" fmla="*/ 38 h 38"/>
                <a:gd name="T6" fmla="*/ 3 w 133"/>
                <a:gd name="T7" fmla="*/ 0 h 38"/>
                <a:gd name="T8" fmla="*/ 0 w 133"/>
                <a:gd name="T9" fmla="*/ 0 h 38"/>
              </a:gdLst>
              <a:ahLst/>
              <a:cxnLst>
                <a:cxn ang="0">
                  <a:pos x="T0" y="T1"/>
                </a:cxn>
                <a:cxn ang="0">
                  <a:pos x="T2" y="T3"/>
                </a:cxn>
                <a:cxn ang="0">
                  <a:pos x="T4" y="T5"/>
                </a:cxn>
                <a:cxn ang="0">
                  <a:pos x="T6" y="T7"/>
                </a:cxn>
                <a:cxn ang="0">
                  <a:pos x="T8" y="T9"/>
                </a:cxn>
              </a:cxnLst>
              <a:rect l="0" t="0" r="r" b="b"/>
              <a:pathLst>
                <a:path w="133" h="38">
                  <a:moveTo>
                    <a:pt x="0" y="0"/>
                  </a:moveTo>
                  <a:lnTo>
                    <a:pt x="130" y="38"/>
                  </a:lnTo>
                  <a:lnTo>
                    <a:pt x="133" y="38"/>
                  </a:lnTo>
                  <a:lnTo>
                    <a:pt x="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57" name="Freeform 56"/>
            <p:cNvSpPr>
              <a:spLocks/>
            </p:cNvSpPr>
            <p:nvPr/>
          </p:nvSpPr>
          <p:spPr bwMode="auto">
            <a:xfrm>
              <a:off x="1692" y="2479"/>
              <a:ext cx="326" cy="65"/>
            </a:xfrm>
            <a:custGeom>
              <a:avLst/>
              <a:gdLst>
                <a:gd name="T0" fmla="*/ 146 w 326"/>
                <a:gd name="T1" fmla="*/ 0 h 65"/>
                <a:gd name="T2" fmla="*/ 115 w 326"/>
                <a:gd name="T3" fmla="*/ 1 h 65"/>
                <a:gd name="T4" fmla="*/ 85 w 326"/>
                <a:gd name="T5" fmla="*/ 3 h 65"/>
                <a:gd name="T6" fmla="*/ 60 w 326"/>
                <a:gd name="T7" fmla="*/ 7 h 65"/>
                <a:gd name="T8" fmla="*/ 38 w 326"/>
                <a:gd name="T9" fmla="*/ 12 h 65"/>
                <a:gd name="T10" fmla="*/ 28 w 326"/>
                <a:gd name="T11" fmla="*/ 14 h 65"/>
                <a:gd name="T12" fmla="*/ 20 w 326"/>
                <a:gd name="T13" fmla="*/ 17 h 65"/>
                <a:gd name="T14" fmla="*/ 13 w 326"/>
                <a:gd name="T15" fmla="*/ 20 h 65"/>
                <a:gd name="T16" fmla="*/ 7 w 326"/>
                <a:gd name="T17" fmla="*/ 23 h 65"/>
                <a:gd name="T18" fmla="*/ 4 w 326"/>
                <a:gd name="T19" fmla="*/ 26 h 65"/>
                <a:gd name="T20" fmla="*/ 0 w 326"/>
                <a:gd name="T21" fmla="*/ 29 h 65"/>
                <a:gd name="T22" fmla="*/ 0 w 326"/>
                <a:gd name="T23" fmla="*/ 33 h 65"/>
                <a:gd name="T24" fmla="*/ 0 w 326"/>
                <a:gd name="T25" fmla="*/ 36 h 65"/>
                <a:gd name="T26" fmla="*/ 4 w 326"/>
                <a:gd name="T27" fmla="*/ 40 h 65"/>
                <a:gd name="T28" fmla="*/ 7 w 326"/>
                <a:gd name="T29" fmla="*/ 43 h 65"/>
                <a:gd name="T30" fmla="*/ 13 w 326"/>
                <a:gd name="T31" fmla="*/ 46 h 65"/>
                <a:gd name="T32" fmla="*/ 20 w 326"/>
                <a:gd name="T33" fmla="*/ 49 h 65"/>
                <a:gd name="T34" fmla="*/ 28 w 326"/>
                <a:gd name="T35" fmla="*/ 51 h 65"/>
                <a:gd name="T36" fmla="*/ 38 w 326"/>
                <a:gd name="T37" fmla="*/ 54 h 65"/>
                <a:gd name="T38" fmla="*/ 60 w 326"/>
                <a:gd name="T39" fmla="*/ 58 h 65"/>
                <a:gd name="T40" fmla="*/ 85 w 326"/>
                <a:gd name="T41" fmla="*/ 62 h 65"/>
                <a:gd name="T42" fmla="*/ 115 w 326"/>
                <a:gd name="T43" fmla="*/ 64 h 65"/>
                <a:gd name="T44" fmla="*/ 146 w 326"/>
                <a:gd name="T45" fmla="*/ 65 h 65"/>
                <a:gd name="T46" fmla="*/ 180 w 326"/>
                <a:gd name="T47" fmla="*/ 65 h 65"/>
                <a:gd name="T48" fmla="*/ 211 w 326"/>
                <a:gd name="T49" fmla="*/ 64 h 65"/>
                <a:gd name="T50" fmla="*/ 241 w 326"/>
                <a:gd name="T51" fmla="*/ 62 h 65"/>
                <a:gd name="T52" fmla="*/ 266 w 326"/>
                <a:gd name="T53" fmla="*/ 58 h 65"/>
                <a:gd name="T54" fmla="*/ 288 w 326"/>
                <a:gd name="T55" fmla="*/ 54 h 65"/>
                <a:gd name="T56" fmla="*/ 298 w 326"/>
                <a:gd name="T57" fmla="*/ 51 h 65"/>
                <a:gd name="T58" fmla="*/ 306 w 326"/>
                <a:gd name="T59" fmla="*/ 49 h 65"/>
                <a:gd name="T60" fmla="*/ 313 w 326"/>
                <a:gd name="T61" fmla="*/ 46 h 65"/>
                <a:gd name="T62" fmla="*/ 319 w 326"/>
                <a:gd name="T63" fmla="*/ 43 h 65"/>
                <a:gd name="T64" fmla="*/ 322 w 326"/>
                <a:gd name="T65" fmla="*/ 40 h 65"/>
                <a:gd name="T66" fmla="*/ 325 w 326"/>
                <a:gd name="T67" fmla="*/ 36 h 65"/>
                <a:gd name="T68" fmla="*/ 326 w 326"/>
                <a:gd name="T69" fmla="*/ 33 h 65"/>
                <a:gd name="T70" fmla="*/ 325 w 326"/>
                <a:gd name="T71" fmla="*/ 29 h 65"/>
                <a:gd name="T72" fmla="*/ 322 w 326"/>
                <a:gd name="T73" fmla="*/ 26 h 65"/>
                <a:gd name="T74" fmla="*/ 319 w 326"/>
                <a:gd name="T75" fmla="*/ 23 h 65"/>
                <a:gd name="T76" fmla="*/ 313 w 326"/>
                <a:gd name="T77" fmla="*/ 20 h 65"/>
                <a:gd name="T78" fmla="*/ 306 w 326"/>
                <a:gd name="T79" fmla="*/ 17 h 65"/>
                <a:gd name="T80" fmla="*/ 298 w 326"/>
                <a:gd name="T81" fmla="*/ 14 h 65"/>
                <a:gd name="T82" fmla="*/ 288 w 326"/>
                <a:gd name="T83" fmla="*/ 12 h 65"/>
                <a:gd name="T84" fmla="*/ 266 w 326"/>
                <a:gd name="T85" fmla="*/ 7 h 65"/>
                <a:gd name="T86" fmla="*/ 241 w 326"/>
                <a:gd name="T87" fmla="*/ 3 h 65"/>
                <a:gd name="T88" fmla="*/ 211 w 326"/>
                <a:gd name="T89" fmla="*/ 1 h 65"/>
                <a:gd name="T90" fmla="*/ 180 w 326"/>
                <a:gd name="T9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6" h="65">
                  <a:moveTo>
                    <a:pt x="162" y="0"/>
                  </a:moveTo>
                  <a:lnTo>
                    <a:pt x="146" y="0"/>
                  </a:lnTo>
                  <a:lnTo>
                    <a:pt x="130" y="0"/>
                  </a:lnTo>
                  <a:lnTo>
                    <a:pt x="115" y="1"/>
                  </a:lnTo>
                  <a:lnTo>
                    <a:pt x="99" y="2"/>
                  </a:lnTo>
                  <a:lnTo>
                    <a:pt x="85" y="3"/>
                  </a:lnTo>
                  <a:lnTo>
                    <a:pt x="71" y="6"/>
                  </a:lnTo>
                  <a:lnTo>
                    <a:pt x="60" y="7"/>
                  </a:lnTo>
                  <a:lnTo>
                    <a:pt x="48" y="9"/>
                  </a:lnTo>
                  <a:lnTo>
                    <a:pt x="38" y="12"/>
                  </a:lnTo>
                  <a:lnTo>
                    <a:pt x="32" y="13"/>
                  </a:lnTo>
                  <a:lnTo>
                    <a:pt x="28" y="14"/>
                  </a:lnTo>
                  <a:lnTo>
                    <a:pt x="24" y="15"/>
                  </a:lnTo>
                  <a:lnTo>
                    <a:pt x="20" y="17"/>
                  </a:lnTo>
                  <a:lnTo>
                    <a:pt x="15" y="19"/>
                  </a:lnTo>
                  <a:lnTo>
                    <a:pt x="13" y="20"/>
                  </a:lnTo>
                  <a:lnTo>
                    <a:pt x="10" y="21"/>
                  </a:lnTo>
                  <a:lnTo>
                    <a:pt x="7" y="23"/>
                  </a:lnTo>
                  <a:lnTo>
                    <a:pt x="5" y="24"/>
                  </a:lnTo>
                  <a:lnTo>
                    <a:pt x="4" y="26"/>
                  </a:lnTo>
                  <a:lnTo>
                    <a:pt x="1" y="28"/>
                  </a:lnTo>
                  <a:lnTo>
                    <a:pt x="0" y="29"/>
                  </a:lnTo>
                  <a:lnTo>
                    <a:pt x="0" y="31"/>
                  </a:lnTo>
                  <a:lnTo>
                    <a:pt x="0" y="33"/>
                  </a:lnTo>
                  <a:lnTo>
                    <a:pt x="0" y="35"/>
                  </a:lnTo>
                  <a:lnTo>
                    <a:pt x="0" y="36"/>
                  </a:lnTo>
                  <a:lnTo>
                    <a:pt x="1" y="37"/>
                  </a:lnTo>
                  <a:lnTo>
                    <a:pt x="4" y="40"/>
                  </a:lnTo>
                  <a:lnTo>
                    <a:pt x="5" y="41"/>
                  </a:lnTo>
                  <a:lnTo>
                    <a:pt x="7" y="43"/>
                  </a:lnTo>
                  <a:lnTo>
                    <a:pt x="10" y="44"/>
                  </a:lnTo>
                  <a:lnTo>
                    <a:pt x="13" y="46"/>
                  </a:lnTo>
                  <a:lnTo>
                    <a:pt x="15" y="47"/>
                  </a:lnTo>
                  <a:lnTo>
                    <a:pt x="20" y="49"/>
                  </a:lnTo>
                  <a:lnTo>
                    <a:pt x="24" y="50"/>
                  </a:lnTo>
                  <a:lnTo>
                    <a:pt x="28" y="51"/>
                  </a:lnTo>
                  <a:lnTo>
                    <a:pt x="32" y="53"/>
                  </a:lnTo>
                  <a:lnTo>
                    <a:pt x="38" y="54"/>
                  </a:lnTo>
                  <a:lnTo>
                    <a:pt x="48" y="56"/>
                  </a:lnTo>
                  <a:lnTo>
                    <a:pt x="60" y="58"/>
                  </a:lnTo>
                  <a:lnTo>
                    <a:pt x="71" y="61"/>
                  </a:lnTo>
                  <a:lnTo>
                    <a:pt x="85" y="62"/>
                  </a:lnTo>
                  <a:lnTo>
                    <a:pt x="99" y="63"/>
                  </a:lnTo>
                  <a:lnTo>
                    <a:pt x="115" y="64"/>
                  </a:lnTo>
                  <a:lnTo>
                    <a:pt x="130" y="65"/>
                  </a:lnTo>
                  <a:lnTo>
                    <a:pt x="146" y="65"/>
                  </a:lnTo>
                  <a:lnTo>
                    <a:pt x="162" y="65"/>
                  </a:lnTo>
                  <a:lnTo>
                    <a:pt x="180" y="65"/>
                  </a:lnTo>
                  <a:lnTo>
                    <a:pt x="195" y="65"/>
                  </a:lnTo>
                  <a:lnTo>
                    <a:pt x="211" y="64"/>
                  </a:lnTo>
                  <a:lnTo>
                    <a:pt x="227" y="63"/>
                  </a:lnTo>
                  <a:lnTo>
                    <a:pt x="241" y="62"/>
                  </a:lnTo>
                  <a:lnTo>
                    <a:pt x="253" y="61"/>
                  </a:lnTo>
                  <a:lnTo>
                    <a:pt x="266" y="58"/>
                  </a:lnTo>
                  <a:lnTo>
                    <a:pt x="278" y="56"/>
                  </a:lnTo>
                  <a:lnTo>
                    <a:pt x="288" y="54"/>
                  </a:lnTo>
                  <a:lnTo>
                    <a:pt x="293" y="53"/>
                  </a:lnTo>
                  <a:lnTo>
                    <a:pt x="298" y="51"/>
                  </a:lnTo>
                  <a:lnTo>
                    <a:pt x="302" y="50"/>
                  </a:lnTo>
                  <a:lnTo>
                    <a:pt x="306" y="49"/>
                  </a:lnTo>
                  <a:lnTo>
                    <a:pt x="309" y="47"/>
                  </a:lnTo>
                  <a:lnTo>
                    <a:pt x="313" y="46"/>
                  </a:lnTo>
                  <a:lnTo>
                    <a:pt x="315" y="44"/>
                  </a:lnTo>
                  <a:lnTo>
                    <a:pt x="319" y="43"/>
                  </a:lnTo>
                  <a:lnTo>
                    <a:pt x="321" y="41"/>
                  </a:lnTo>
                  <a:lnTo>
                    <a:pt x="322" y="40"/>
                  </a:lnTo>
                  <a:lnTo>
                    <a:pt x="324" y="37"/>
                  </a:lnTo>
                  <a:lnTo>
                    <a:pt x="325" y="36"/>
                  </a:lnTo>
                  <a:lnTo>
                    <a:pt x="326" y="35"/>
                  </a:lnTo>
                  <a:lnTo>
                    <a:pt x="326" y="33"/>
                  </a:lnTo>
                  <a:lnTo>
                    <a:pt x="326" y="31"/>
                  </a:lnTo>
                  <a:lnTo>
                    <a:pt x="325" y="29"/>
                  </a:lnTo>
                  <a:lnTo>
                    <a:pt x="324" y="28"/>
                  </a:lnTo>
                  <a:lnTo>
                    <a:pt x="322" y="26"/>
                  </a:lnTo>
                  <a:lnTo>
                    <a:pt x="321" y="24"/>
                  </a:lnTo>
                  <a:lnTo>
                    <a:pt x="319" y="23"/>
                  </a:lnTo>
                  <a:lnTo>
                    <a:pt x="315" y="21"/>
                  </a:lnTo>
                  <a:lnTo>
                    <a:pt x="313" y="20"/>
                  </a:lnTo>
                  <a:lnTo>
                    <a:pt x="309" y="19"/>
                  </a:lnTo>
                  <a:lnTo>
                    <a:pt x="306" y="17"/>
                  </a:lnTo>
                  <a:lnTo>
                    <a:pt x="302" y="15"/>
                  </a:lnTo>
                  <a:lnTo>
                    <a:pt x="298" y="14"/>
                  </a:lnTo>
                  <a:lnTo>
                    <a:pt x="293" y="13"/>
                  </a:lnTo>
                  <a:lnTo>
                    <a:pt x="288" y="12"/>
                  </a:lnTo>
                  <a:lnTo>
                    <a:pt x="278" y="9"/>
                  </a:lnTo>
                  <a:lnTo>
                    <a:pt x="266" y="7"/>
                  </a:lnTo>
                  <a:lnTo>
                    <a:pt x="253" y="6"/>
                  </a:lnTo>
                  <a:lnTo>
                    <a:pt x="241" y="3"/>
                  </a:lnTo>
                  <a:lnTo>
                    <a:pt x="227" y="2"/>
                  </a:lnTo>
                  <a:lnTo>
                    <a:pt x="211" y="1"/>
                  </a:lnTo>
                  <a:lnTo>
                    <a:pt x="195" y="0"/>
                  </a:lnTo>
                  <a:lnTo>
                    <a:pt x="180" y="0"/>
                  </a:lnTo>
                  <a:lnTo>
                    <a:pt x="162" y="0"/>
                  </a:lnTo>
                  <a:close/>
                </a:path>
              </a:pathLst>
            </a:cu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58" name="Freeform 57"/>
            <p:cNvSpPr>
              <a:spLocks/>
            </p:cNvSpPr>
            <p:nvPr/>
          </p:nvSpPr>
          <p:spPr bwMode="auto">
            <a:xfrm>
              <a:off x="1692" y="2479"/>
              <a:ext cx="326" cy="65"/>
            </a:xfrm>
            <a:custGeom>
              <a:avLst/>
              <a:gdLst>
                <a:gd name="T0" fmla="*/ 146 w 326"/>
                <a:gd name="T1" fmla="*/ 0 h 65"/>
                <a:gd name="T2" fmla="*/ 115 w 326"/>
                <a:gd name="T3" fmla="*/ 1 h 65"/>
                <a:gd name="T4" fmla="*/ 85 w 326"/>
                <a:gd name="T5" fmla="*/ 3 h 65"/>
                <a:gd name="T6" fmla="*/ 60 w 326"/>
                <a:gd name="T7" fmla="*/ 7 h 65"/>
                <a:gd name="T8" fmla="*/ 38 w 326"/>
                <a:gd name="T9" fmla="*/ 12 h 65"/>
                <a:gd name="T10" fmla="*/ 28 w 326"/>
                <a:gd name="T11" fmla="*/ 14 h 65"/>
                <a:gd name="T12" fmla="*/ 20 w 326"/>
                <a:gd name="T13" fmla="*/ 17 h 65"/>
                <a:gd name="T14" fmla="*/ 13 w 326"/>
                <a:gd name="T15" fmla="*/ 20 h 65"/>
                <a:gd name="T16" fmla="*/ 7 w 326"/>
                <a:gd name="T17" fmla="*/ 23 h 65"/>
                <a:gd name="T18" fmla="*/ 4 w 326"/>
                <a:gd name="T19" fmla="*/ 26 h 65"/>
                <a:gd name="T20" fmla="*/ 0 w 326"/>
                <a:gd name="T21" fmla="*/ 29 h 65"/>
                <a:gd name="T22" fmla="*/ 0 w 326"/>
                <a:gd name="T23" fmla="*/ 33 h 65"/>
                <a:gd name="T24" fmla="*/ 0 w 326"/>
                <a:gd name="T25" fmla="*/ 36 h 65"/>
                <a:gd name="T26" fmla="*/ 4 w 326"/>
                <a:gd name="T27" fmla="*/ 40 h 65"/>
                <a:gd name="T28" fmla="*/ 7 w 326"/>
                <a:gd name="T29" fmla="*/ 43 h 65"/>
                <a:gd name="T30" fmla="*/ 13 w 326"/>
                <a:gd name="T31" fmla="*/ 46 h 65"/>
                <a:gd name="T32" fmla="*/ 20 w 326"/>
                <a:gd name="T33" fmla="*/ 49 h 65"/>
                <a:gd name="T34" fmla="*/ 28 w 326"/>
                <a:gd name="T35" fmla="*/ 51 h 65"/>
                <a:gd name="T36" fmla="*/ 38 w 326"/>
                <a:gd name="T37" fmla="*/ 54 h 65"/>
                <a:gd name="T38" fmla="*/ 60 w 326"/>
                <a:gd name="T39" fmla="*/ 58 h 65"/>
                <a:gd name="T40" fmla="*/ 85 w 326"/>
                <a:gd name="T41" fmla="*/ 62 h 65"/>
                <a:gd name="T42" fmla="*/ 115 w 326"/>
                <a:gd name="T43" fmla="*/ 64 h 65"/>
                <a:gd name="T44" fmla="*/ 146 w 326"/>
                <a:gd name="T45" fmla="*/ 65 h 65"/>
                <a:gd name="T46" fmla="*/ 180 w 326"/>
                <a:gd name="T47" fmla="*/ 65 h 65"/>
                <a:gd name="T48" fmla="*/ 211 w 326"/>
                <a:gd name="T49" fmla="*/ 64 h 65"/>
                <a:gd name="T50" fmla="*/ 241 w 326"/>
                <a:gd name="T51" fmla="*/ 62 h 65"/>
                <a:gd name="T52" fmla="*/ 266 w 326"/>
                <a:gd name="T53" fmla="*/ 58 h 65"/>
                <a:gd name="T54" fmla="*/ 288 w 326"/>
                <a:gd name="T55" fmla="*/ 54 h 65"/>
                <a:gd name="T56" fmla="*/ 298 w 326"/>
                <a:gd name="T57" fmla="*/ 51 h 65"/>
                <a:gd name="T58" fmla="*/ 306 w 326"/>
                <a:gd name="T59" fmla="*/ 49 h 65"/>
                <a:gd name="T60" fmla="*/ 313 w 326"/>
                <a:gd name="T61" fmla="*/ 46 h 65"/>
                <a:gd name="T62" fmla="*/ 319 w 326"/>
                <a:gd name="T63" fmla="*/ 43 h 65"/>
                <a:gd name="T64" fmla="*/ 322 w 326"/>
                <a:gd name="T65" fmla="*/ 40 h 65"/>
                <a:gd name="T66" fmla="*/ 325 w 326"/>
                <a:gd name="T67" fmla="*/ 36 h 65"/>
                <a:gd name="T68" fmla="*/ 326 w 326"/>
                <a:gd name="T69" fmla="*/ 33 h 65"/>
                <a:gd name="T70" fmla="*/ 325 w 326"/>
                <a:gd name="T71" fmla="*/ 29 h 65"/>
                <a:gd name="T72" fmla="*/ 322 w 326"/>
                <a:gd name="T73" fmla="*/ 26 h 65"/>
                <a:gd name="T74" fmla="*/ 319 w 326"/>
                <a:gd name="T75" fmla="*/ 23 h 65"/>
                <a:gd name="T76" fmla="*/ 313 w 326"/>
                <a:gd name="T77" fmla="*/ 20 h 65"/>
                <a:gd name="T78" fmla="*/ 306 w 326"/>
                <a:gd name="T79" fmla="*/ 17 h 65"/>
                <a:gd name="T80" fmla="*/ 298 w 326"/>
                <a:gd name="T81" fmla="*/ 14 h 65"/>
                <a:gd name="T82" fmla="*/ 288 w 326"/>
                <a:gd name="T83" fmla="*/ 12 h 65"/>
                <a:gd name="T84" fmla="*/ 266 w 326"/>
                <a:gd name="T85" fmla="*/ 7 h 65"/>
                <a:gd name="T86" fmla="*/ 241 w 326"/>
                <a:gd name="T87" fmla="*/ 3 h 65"/>
                <a:gd name="T88" fmla="*/ 211 w 326"/>
                <a:gd name="T89" fmla="*/ 1 h 65"/>
                <a:gd name="T90" fmla="*/ 180 w 326"/>
                <a:gd name="T9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6" h="65">
                  <a:moveTo>
                    <a:pt x="162" y="0"/>
                  </a:moveTo>
                  <a:lnTo>
                    <a:pt x="146" y="0"/>
                  </a:lnTo>
                  <a:lnTo>
                    <a:pt x="130" y="0"/>
                  </a:lnTo>
                  <a:lnTo>
                    <a:pt x="115" y="1"/>
                  </a:lnTo>
                  <a:lnTo>
                    <a:pt x="99" y="2"/>
                  </a:lnTo>
                  <a:lnTo>
                    <a:pt x="85" y="3"/>
                  </a:lnTo>
                  <a:lnTo>
                    <a:pt x="71" y="6"/>
                  </a:lnTo>
                  <a:lnTo>
                    <a:pt x="60" y="7"/>
                  </a:lnTo>
                  <a:lnTo>
                    <a:pt x="48" y="9"/>
                  </a:lnTo>
                  <a:lnTo>
                    <a:pt x="38" y="12"/>
                  </a:lnTo>
                  <a:lnTo>
                    <a:pt x="32" y="13"/>
                  </a:lnTo>
                  <a:lnTo>
                    <a:pt x="28" y="14"/>
                  </a:lnTo>
                  <a:lnTo>
                    <a:pt x="24" y="15"/>
                  </a:lnTo>
                  <a:lnTo>
                    <a:pt x="20" y="17"/>
                  </a:lnTo>
                  <a:lnTo>
                    <a:pt x="15" y="19"/>
                  </a:lnTo>
                  <a:lnTo>
                    <a:pt x="13" y="20"/>
                  </a:lnTo>
                  <a:lnTo>
                    <a:pt x="10" y="21"/>
                  </a:lnTo>
                  <a:lnTo>
                    <a:pt x="7" y="23"/>
                  </a:lnTo>
                  <a:lnTo>
                    <a:pt x="5" y="24"/>
                  </a:lnTo>
                  <a:lnTo>
                    <a:pt x="4" y="26"/>
                  </a:lnTo>
                  <a:lnTo>
                    <a:pt x="1" y="28"/>
                  </a:lnTo>
                  <a:lnTo>
                    <a:pt x="0" y="29"/>
                  </a:lnTo>
                  <a:lnTo>
                    <a:pt x="0" y="31"/>
                  </a:lnTo>
                  <a:lnTo>
                    <a:pt x="0" y="33"/>
                  </a:lnTo>
                  <a:lnTo>
                    <a:pt x="0" y="35"/>
                  </a:lnTo>
                  <a:lnTo>
                    <a:pt x="0" y="36"/>
                  </a:lnTo>
                  <a:lnTo>
                    <a:pt x="1" y="37"/>
                  </a:lnTo>
                  <a:lnTo>
                    <a:pt x="4" y="40"/>
                  </a:lnTo>
                  <a:lnTo>
                    <a:pt x="5" y="41"/>
                  </a:lnTo>
                  <a:lnTo>
                    <a:pt x="7" y="43"/>
                  </a:lnTo>
                  <a:lnTo>
                    <a:pt x="10" y="44"/>
                  </a:lnTo>
                  <a:lnTo>
                    <a:pt x="13" y="46"/>
                  </a:lnTo>
                  <a:lnTo>
                    <a:pt x="15" y="47"/>
                  </a:lnTo>
                  <a:lnTo>
                    <a:pt x="20" y="49"/>
                  </a:lnTo>
                  <a:lnTo>
                    <a:pt x="24" y="50"/>
                  </a:lnTo>
                  <a:lnTo>
                    <a:pt x="28" y="51"/>
                  </a:lnTo>
                  <a:lnTo>
                    <a:pt x="32" y="53"/>
                  </a:lnTo>
                  <a:lnTo>
                    <a:pt x="38" y="54"/>
                  </a:lnTo>
                  <a:lnTo>
                    <a:pt x="48" y="56"/>
                  </a:lnTo>
                  <a:lnTo>
                    <a:pt x="60" y="58"/>
                  </a:lnTo>
                  <a:lnTo>
                    <a:pt x="71" y="61"/>
                  </a:lnTo>
                  <a:lnTo>
                    <a:pt x="85" y="62"/>
                  </a:lnTo>
                  <a:lnTo>
                    <a:pt x="99" y="63"/>
                  </a:lnTo>
                  <a:lnTo>
                    <a:pt x="115" y="64"/>
                  </a:lnTo>
                  <a:lnTo>
                    <a:pt x="130" y="65"/>
                  </a:lnTo>
                  <a:lnTo>
                    <a:pt x="146" y="65"/>
                  </a:lnTo>
                  <a:lnTo>
                    <a:pt x="162" y="65"/>
                  </a:lnTo>
                  <a:lnTo>
                    <a:pt x="180" y="65"/>
                  </a:lnTo>
                  <a:lnTo>
                    <a:pt x="195" y="65"/>
                  </a:lnTo>
                  <a:lnTo>
                    <a:pt x="211" y="64"/>
                  </a:lnTo>
                  <a:lnTo>
                    <a:pt x="227" y="63"/>
                  </a:lnTo>
                  <a:lnTo>
                    <a:pt x="241" y="62"/>
                  </a:lnTo>
                  <a:lnTo>
                    <a:pt x="253" y="61"/>
                  </a:lnTo>
                  <a:lnTo>
                    <a:pt x="266" y="58"/>
                  </a:lnTo>
                  <a:lnTo>
                    <a:pt x="278" y="56"/>
                  </a:lnTo>
                  <a:lnTo>
                    <a:pt x="288" y="54"/>
                  </a:lnTo>
                  <a:lnTo>
                    <a:pt x="293" y="53"/>
                  </a:lnTo>
                  <a:lnTo>
                    <a:pt x="298" y="51"/>
                  </a:lnTo>
                  <a:lnTo>
                    <a:pt x="302" y="50"/>
                  </a:lnTo>
                  <a:lnTo>
                    <a:pt x="306" y="49"/>
                  </a:lnTo>
                  <a:lnTo>
                    <a:pt x="309" y="47"/>
                  </a:lnTo>
                  <a:lnTo>
                    <a:pt x="313" y="46"/>
                  </a:lnTo>
                  <a:lnTo>
                    <a:pt x="315" y="44"/>
                  </a:lnTo>
                  <a:lnTo>
                    <a:pt x="319" y="43"/>
                  </a:lnTo>
                  <a:lnTo>
                    <a:pt x="321" y="41"/>
                  </a:lnTo>
                  <a:lnTo>
                    <a:pt x="322" y="40"/>
                  </a:lnTo>
                  <a:lnTo>
                    <a:pt x="324" y="37"/>
                  </a:lnTo>
                  <a:lnTo>
                    <a:pt x="325" y="36"/>
                  </a:lnTo>
                  <a:lnTo>
                    <a:pt x="326" y="35"/>
                  </a:lnTo>
                  <a:lnTo>
                    <a:pt x="326" y="33"/>
                  </a:lnTo>
                  <a:lnTo>
                    <a:pt x="326" y="31"/>
                  </a:lnTo>
                  <a:lnTo>
                    <a:pt x="325" y="29"/>
                  </a:lnTo>
                  <a:lnTo>
                    <a:pt x="324" y="28"/>
                  </a:lnTo>
                  <a:lnTo>
                    <a:pt x="322" y="26"/>
                  </a:lnTo>
                  <a:lnTo>
                    <a:pt x="321" y="24"/>
                  </a:lnTo>
                  <a:lnTo>
                    <a:pt x="319" y="23"/>
                  </a:lnTo>
                  <a:lnTo>
                    <a:pt x="315" y="21"/>
                  </a:lnTo>
                  <a:lnTo>
                    <a:pt x="313" y="20"/>
                  </a:lnTo>
                  <a:lnTo>
                    <a:pt x="309" y="19"/>
                  </a:lnTo>
                  <a:lnTo>
                    <a:pt x="306" y="17"/>
                  </a:lnTo>
                  <a:lnTo>
                    <a:pt x="302" y="15"/>
                  </a:lnTo>
                  <a:lnTo>
                    <a:pt x="298" y="14"/>
                  </a:lnTo>
                  <a:lnTo>
                    <a:pt x="293" y="13"/>
                  </a:lnTo>
                  <a:lnTo>
                    <a:pt x="288" y="12"/>
                  </a:lnTo>
                  <a:lnTo>
                    <a:pt x="278" y="9"/>
                  </a:lnTo>
                  <a:lnTo>
                    <a:pt x="266" y="7"/>
                  </a:lnTo>
                  <a:lnTo>
                    <a:pt x="253" y="6"/>
                  </a:lnTo>
                  <a:lnTo>
                    <a:pt x="241" y="3"/>
                  </a:lnTo>
                  <a:lnTo>
                    <a:pt x="227" y="2"/>
                  </a:lnTo>
                  <a:lnTo>
                    <a:pt x="211" y="1"/>
                  </a:lnTo>
                  <a:lnTo>
                    <a:pt x="195" y="0"/>
                  </a:lnTo>
                  <a:lnTo>
                    <a:pt x="180" y="0"/>
                  </a:lnTo>
                  <a:lnTo>
                    <a:pt x="162"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59" name="Line 70"/>
            <p:cNvSpPr>
              <a:spLocks noChangeShapeType="1"/>
            </p:cNvSpPr>
            <p:nvPr/>
          </p:nvSpPr>
          <p:spPr bwMode="auto">
            <a:xfrm>
              <a:off x="1692" y="2473"/>
              <a:ext cx="1" cy="4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60" name="Line 71"/>
            <p:cNvSpPr>
              <a:spLocks noChangeShapeType="1"/>
            </p:cNvSpPr>
            <p:nvPr/>
          </p:nvSpPr>
          <p:spPr bwMode="auto">
            <a:xfrm>
              <a:off x="2018" y="2473"/>
              <a:ext cx="1" cy="4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61" name="Rectangle 60"/>
            <p:cNvSpPr>
              <a:spLocks noChangeArrowheads="1"/>
            </p:cNvSpPr>
            <p:nvPr/>
          </p:nvSpPr>
          <p:spPr bwMode="auto">
            <a:xfrm>
              <a:off x="1692" y="2473"/>
              <a:ext cx="322" cy="40"/>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62" name="Rectangle 61"/>
            <p:cNvSpPr>
              <a:spLocks noChangeArrowheads="1"/>
            </p:cNvSpPr>
            <p:nvPr/>
          </p:nvSpPr>
          <p:spPr bwMode="auto">
            <a:xfrm>
              <a:off x="1870" y="2490"/>
              <a:ext cx="35"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r>
                <a:rPr lang="en-US" sz="1300">
                  <a:solidFill>
                    <a:srgbClr val="000000"/>
                  </a:solidFill>
                  <a:latin typeface="Times New Roman" pitchFamily="18" charset="0"/>
                </a:rPr>
                <a:t> </a:t>
              </a:r>
              <a:endParaRPr lang="en-US">
                <a:solidFill>
                  <a:prstClr val="black"/>
                </a:solidFill>
                <a:latin typeface="Times New Roman" pitchFamily="18" charset="0"/>
              </a:endParaRPr>
            </a:p>
          </p:txBody>
        </p:sp>
        <p:sp>
          <p:nvSpPr>
            <p:cNvPr id="63" name="Freeform 62"/>
            <p:cNvSpPr>
              <a:spLocks/>
            </p:cNvSpPr>
            <p:nvPr/>
          </p:nvSpPr>
          <p:spPr bwMode="auto">
            <a:xfrm>
              <a:off x="1689" y="2425"/>
              <a:ext cx="325" cy="77"/>
            </a:xfrm>
            <a:custGeom>
              <a:avLst/>
              <a:gdLst>
                <a:gd name="T0" fmla="*/ 147 w 325"/>
                <a:gd name="T1" fmla="*/ 0 h 77"/>
                <a:gd name="T2" fmla="*/ 114 w 325"/>
                <a:gd name="T3" fmla="*/ 1 h 77"/>
                <a:gd name="T4" fmla="*/ 85 w 325"/>
                <a:gd name="T5" fmla="*/ 5 h 77"/>
                <a:gd name="T6" fmla="*/ 59 w 325"/>
                <a:gd name="T7" fmla="*/ 10 h 77"/>
                <a:gd name="T8" fmla="*/ 37 w 325"/>
                <a:gd name="T9" fmla="*/ 14 h 77"/>
                <a:gd name="T10" fmla="*/ 28 w 325"/>
                <a:gd name="T11" fmla="*/ 18 h 77"/>
                <a:gd name="T12" fmla="*/ 20 w 325"/>
                <a:gd name="T13" fmla="*/ 20 h 77"/>
                <a:gd name="T14" fmla="*/ 13 w 325"/>
                <a:gd name="T15" fmla="*/ 24 h 77"/>
                <a:gd name="T16" fmla="*/ 8 w 325"/>
                <a:gd name="T17" fmla="*/ 27 h 77"/>
                <a:gd name="T18" fmla="*/ 3 w 325"/>
                <a:gd name="T19" fmla="*/ 31 h 77"/>
                <a:gd name="T20" fmla="*/ 1 w 325"/>
                <a:gd name="T21" fmla="*/ 35 h 77"/>
                <a:gd name="T22" fmla="*/ 0 w 325"/>
                <a:gd name="T23" fmla="*/ 39 h 77"/>
                <a:gd name="T24" fmla="*/ 1 w 325"/>
                <a:gd name="T25" fmla="*/ 42 h 77"/>
                <a:gd name="T26" fmla="*/ 3 w 325"/>
                <a:gd name="T27" fmla="*/ 47 h 77"/>
                <a:gd name="T28" fmla="*/ 8 w 325"/>
                <a:gd name="T29" fmla="*/ 50 h 77"/>
                <a:gd name="T30" fmla="*/ 13 w 325"/>
                <a:gd name="T31" fmla="*/ 54 h 77"/>
                <a:gd name="T32" fmla="*/ 20 w 325"/>
                <a:gd name="T33" fmla="*/ 57 h 77"/>
                <a:gd name="T34" fmla="*/ 28 w 325"/>
                <a:gd name="T35" fmla="*/ 61 h 77"/>
                <a:gd name="T36" fmla="*/ 37 w 325"/>
                <a:gd name="T37" fmla="*/ 63 h 77"/>
                <a:gd name="T38" fmla="*/ 59 w 325"/>
                <a:gd name="T39" fmla="*/ 69 h 77"/>
                <a:gd name="T40" fmla="*/ 85 w 325"/>
                <a:gd name="T41" fmla="*/ 73 h 77"/>
                <a:gd name="T42" fmla="*/ 114 w 325"/>
                <a:gd name="T43" fmla="*/ 76 h 77"/>
                <a:gd name="T44" fmla="*/ 146 w 325"/>
                <a:gd name="T45" fmla="*/ 77 h 77"/>
                <a:gd name="T46" fmla="*/ 179 w 325"/>
                <a:gd name="T47" fmla="*/ 77 h 77"/>
                <a:gd name="T48" fmla="*/ 211 w 325"/>
                <a:gd name="T49" fmla="*/ 76 h 77"/>
                <a:gd name="T50" fmla="*/ 240 w 325"/>
                <a:gd name="T51" fmla="*/ 73 h 77"/>
                <a:gd name="T52" fmla="*/ 267 w 325"/>
                <a:gd name="T53" fmla="*/ 69 h 77"/>
                <a:gd name="T54" fmla="*/ 289 w 325"/>
                <a:gd name="T55" fmla="*/ 63 h 77"/>
                <a:gd name="T56" fmla="*/ 298 w 325"/>
                <a:gd name="T57" fmla="*/ 61 h 77"/>
                <a:gd name="T58" fmla="*/ 307 w 325"/>
                <a:gd name="T59" fmla="*/ 57 h 77"/>
                <a:gd name="T60" fmla="*/ 312 w 325"/>
                <a:gd name="T61" fmla="*/ 54 h 77"/>
                <a:gd name="T62" fmla="*/ 318 w 325"/>
                <a:gd name="T63" fmla="*/ 50 h 77"/>
                <a:gd name="T64" fmla="*/ 323 w 325"/>
                <a:gd name="T65" fmla="*/ 47 h 77"/>
                <a:gd name="T66" fmla="*/ 325 w 325"/>
                <a:gd name="T67" fmla="*/ 42 h 77"/>
                <a:gd name="T68" fmla="*/ 325 w 325"/>
                <a:gd name="T69" fmla="*/ 39 h 77"/>
                <a:gd name="T70" fmla="*/ 325 w 325"/>
                <a:gd name="T71" fmla="*/ 35 h 77"/>
                <a:gd name="T72" fmla="*/ 323 w 325"/>
                <a:gd name="T73" fmla="*/ 31 h 77"/>
                <a:gd name="T74" fmla="*/ 318 w 325"/>
                <a:gd name="T75" fmla="*/ 27 h 77"/>
                <a:gd name="T76" fmla="*/ 312 w 325"/>
                <a:gd name="T77" fmla="*/ 24 h 77"/>
                <a:gd name="T78" fmla="*/ 307 w 325"/>
                <a:gd name="T79" fmla="*/ 20 h 77"/>
                <a:gd name="T80" fmla="*/ 298 w 325"/>
                <a:gd name="T81" fmla="*/ 18 h 77"/>
                <a:gd name="T82" fmla="*/ 289 w 325"/>
                <a:gd name="T83" fmla="*/ 14 h 77"/>
                <a:gd name="T84" fmla="*/ 267 w 325"/>
                <a:gd name="T85" fmla="*/ 10 h 77"/>
                <a:gd name="T86" fmla="*/ 240 w 325"/>
                <a:gd name="T87" fmla="*/ 5 h 77"/>
                <a:gd name="T88" fmla="*/ 211 w 325"/>
                <a:gd name="T89" fmla="*/ 1 h 77"/>
                <a:gd name="T90" fmla="*/ 179 w 325"/>
                <a:gd name="T9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5" h="77">
                  <a:moveTo>
                    <a:pt x="163" y="0"/>
                  </a:moveTo>
                  <a:lnTo>
                    <a:pt x="147" y="0"/>
                  </a:lnTo>
                  <a:lnTo>
                    <a:pt x="130" y="1"/>
                  </a:lnTo>
                  <a:lnTo>
                    <a:pt x="114" y="1"/>
                  </a:lnTo>
                  <a:lnTo>
                    <a:pt x="99" y="4"/>
                  </a:lnTo>
                  <a:lnTo>
                    <a:pt x="85" y="5"/>
                  </a:lnTo>
                  <a:lnTo>
                    <a:pt x="72" y="7"/>
                  </a:lnTo>
                  <a:lnTo>
                    <a:pt x="59" y="10"/>
                  </a:lnTo>
                  <a:lnTo>
                    <a:pt x="48" y="12"/>
                  </a:lnTo>
                  <a:lnTo>
                    <a:pt x="37" y="14"/>
                  </a:lnTo>
                  <a:lnTo>
                    <a:pt x="32" y="15"/>
                  </a:lnTo>
                  <a:lnTo>
                    <a:pt x="28" y="18"/>
                  </a:lnTo>
                  <a:lnTo>
                    <a:pt x="23" y="19"/>
                  </a:lnTo>
                  <a:lnTo>
                    <a:pt x="20" y="20"/>
                  </a:lnTo>
                  <a:lnTo>
                    <a:pt x="16" y="22"/>
                  </a:lnTo>
                  <a:lnTo>
                    <a:pt x="13" y="24"/>
                  </a:lnTo>
                  <a:lnTo>
                    <a:pt x="10" y="26"/>
                  </a:lnTo>
                  <a:lnTo>
                    <a:pt x="8" y="27"/>
                  </a:lnTo>
                  <a:lnTo>
                    <a:pt x="6" y="29"/>
                  </a:lnTo>
                  <a:lnTo>
                    <a:pt x="3" y="31"/>
                  </a:lnTo>
                  <a:lnTo>
                    <a:pt x="2" y="33"/>
                  </a:lnTo>
                  <a:lnTo>
                    <a:pt x="1" y="35"/>
                  </a:lnTo>
                  <a:lnTo>
                    <a:pt x="0" y="36"/>
                  </a:lnTo>
                  <a:lnTo>
                    <a:pt x="0" y="39"/>
                  </a:lnTo>
                  <a:lnTo>
                    <a:pt x="0" y="41"/>
                  </a:lnTo>
                  <a:lnTo>
                    <a:pt x="1" y="42"/>
                  </a:lnTo>
                  <a:lnTo>
                    <a:pt x="2" y="45"/>
                  </a:lnTo>
                  <a:lnTo>
                    <a:pt x="3" y="47"/>
                  </a:lnTo>
                  <a:lnTo>
                    <a:pt x="6" y="48"/>
                  </a:lnTo>
                  <a:lnTo>
                    <a:pt x="8" y="50"/>
                  </a:lnTo>
                  <a:lnTo>
                    <a:pt x="10" y="52"/>
                  </a:lnTo>
                  <a:lnTo>
                    <a:pt x="13" y="54"/>
                  </a:lnTo>
                  <a:lnTo>
                    <a:pt x="16" y="55"/>
                  </a:lnTo>
                  <a:lnTo>
                    <a:pt x="20" y="57"/>
                  </a:lnTo>
                  <a:lnTo>
                    <a:pt x="23" y="59"/>
                  </a:lnTo>
                  <a:lnTo>
                    <a:pt x="28" y="61"/>
                  </a:lnTo>
                  <a:lnTo>
                    <a:pt x="32" y="62"/>
                  </a:lnTo>
                  <a:lnTo>
                    <a:pt x="37" y="63"/>
                  </a:lnTo>
                  <a:lnTo>
                    <a:pt x="48" y="67"/>
                  </a:lnTo>
                  <a:lnTo>
                    <a:pt x="59" y="69"/>
                  </a:lnTo>
                  <a:lnTo>
                    <a:pt x="72" y="71"/>
                  </a:lnTo>
                  <a:lnTo>
                    <a:pt x="85" y="73"/>
                  </a:lnTo>
                  <a:lnTo>
                    <a:pt x="99" y="75"/>
                  </a:lnTo>
                  <a:lnTo>
                    <a:pt x="114" y="76"/>
                  </a:lnTo>
                  <a:lnTo>
                    <a:pt x="130" y="77"/>
                  </a:lnTo>
                  <a:lnTo>
                    <a:pt x="146" y="77"/>
                  </a:lnTo>
                  <a:lnTo>
                    <a:pt x="163" y="77"/>
                  </a:lnTo>
                  <a:lnTo>
                    <a:pt x="179" y="77"/>
                  </a:lnTo>
                  <a:lnTo>
                    <a:pt x="196" y="77"/>
                  </a:lnTo>
                  <a:lnTo>
                    <a:pt x="211" y="76"/>
                  </a:lnTo>
                  <a:lnTo>
                    <a:pt x="226" y="75"/>
                  </a:lnTo>
                  <a:lnTo>
                    <a:pt x="240" y="73"/>
                  </a:lnTo>
                  <a:lnTo>
                    <a:pt x="254" y="71"/>
                  </a:lnTo>
                  <a:lnTo>
                    <a:pt x="267" y="69"/>
                  </a:lnTo>
                  <a:lnTo>
                    <a:pt x="279" y="67"/>
                  </a:lnTo>
                  <a:lnTo>
                    <a:pt x="289" y="63"/>
                  </a:lnTo>
                  <a:lnTo>
                    <a:pt x="294" y="62"/>
                  </a:lnTo>
                  <a:lnTo>
                    <a:pt x="298" y="61"/>
                  </a:lnTo>
                  <a:lnTo>
                    <a:pt x="302" y="59"/>
                  </a:lnTo>
                  <a:lnTo>
                    <a:pt x="307" y="57"/>
                  </a:lnTo>
                  <a:lnTo>
                    <a:pt x="310" y="55"/>
                  </a:lnTo>
                  <a:lnTo>
                    <a:pt x="312" y="54"/>
                  </a:lnTo>
                  <a:lnTo>
                    <a:pt x="316" y="52"/>
                  </a:lnTo>
                  <a:lnTo>
                    <a:pt x="318" y="50"/>
                  </a:lnTo>
                  <a:lnTo>
                    <a:pt x="321" y="48"/>
                  </a:lnTo>
                  <a:lnTo>
                    <a:pt x="323" y="47"/>
                  </a:lnTo>
                  <a:lnTo>
                    <a:pt x="324" y="45"/>
                  </a:lnTo>
                  <a:lnTo>
                    <a:pt x="325" y="42"/>
                  </a:lnTo>
                  <a:lnTo>
                    <a:pt x="325" y="41"/>
                  </a:lnTo>
                  <a:lnTo>
                    <a:pt x="325" y="39"/>
                  </a:lnTo>
                  <a:lnTo>
                    <a:pt x="325" y="36"/>
                  </a:lnTo>
                  <a:lnTo>
                    <a:pt x="325" y="35"/>
                  </a:lnTo>
                  <a:lnTo>
                    <a:pt x="324" y="33"/>
                  </a:lnTo>
                  <a:lnTo>
                    <a:pt x="323" y="31"/>
                  </a:lnTo>
                  <a:lnTo>
                    <a:pt x="321" y="29"/>
                  </a:lnTo>
                  <a:lnTo>
                    <a:pt x="318" y="27"/>
                  </a:lnTo>
                  <a:lnTo>
                    <a:pt x="316" y="26"/>
                  </a:lnTo>
                  <a:lnTo>
                    <a:pt x="312" y="24"/>
                  </a:lnTo>
                  <a:lnTo>
                    <a:pt x="310" y="22"/>
                  </a:lnTo>
                  <a:lnTo>
                    <a:pt x="307" y="20"/>
                  </a:lnTo>
                  <a:lnTo>
                    <a:pt x="302" y="19"/>
                  </a:lnTo>
                  <a:lnTo>
                    <a:pt x="298" y="18"/>
                  </a:lnTo>
                  <a:lnTo>
                    <a:pt x="294" y="15"/>
                  </a:lnTo>
                  <a:lnTo>
                    <a:pt x="289" y="14"/>
                  </a:lnTo>
                  <a:lnTo>
                    <a:pt x="279" y="12"/>
                  </a:lnTo>
                  <a:lnTo>
                    <a:pt x="267" y="10"/>
                  </a:lnTo>
                  <a:lnTo>
                    <a:pt x="254" y="7"/>
                  </a:lnTo>
                  <a:lnTo>
                    <a:pt x="240" y="5"/>
                  </a:lnTo>
                  <a:lnTo>
                    <a:pt x="226" y="4"/>
                  </a:lnTo>
                  <a:lnTo>
                    <a:pt x="211" y="1"/>
                  </a:lnTo>
                  <a:lnTo>
                    <a:pt x="196" y="1"/>
                  </a:lnTo>
                  <a:lnTo>
                    <a:pt x="179" y="0"/>
                  </a:lnTo>
                  <a:lnTo>
                    <a:pt x="163" y="0"/>
                  </a:lnTo>
                  <a:close/>
                </a:path>
              </a:pathLst>
            </a:cu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64" name="Freeform 63"/>
            <p:cNvSpPr>
              <a:spLocks/>
            </p:cNvSpPr>
            <p:nvPr/>
          </p:nvSpPr>
          <p:spPr bwMode="auto">
            <a:xfrm>
              <a:off x="1689" y="2425"/>
              <a:ext cx="325" cy="77"/>
            </a:xfrm>
            <a:custGeom>
              <a:avLst/>
              <a:gdLst>
                <a:gd name="T0" fmla="*/ 147 w 325"/>
                <a:gd name="T1" fmla="*/ 0 h 77"/>
                <a:gd name="T2" fmla="*/ 114 w 325"/>
                <a:gd name="T3" fmla="*/ 1 h 77"/>
                <a:gd name="T4" fmla="*/ 85 w 325"/>
                <a:gd name="T5" fmla="*/ 5 h 77"/>
                <a:gd name="T6" fmla="*/ 59 w 325"/>
                <a:gd name="T7" fmla="*/ 10 h 77"/>
                <a:gd name="T8" fmla="*/ 37 w 325"/>
                <a:gd name="T9" fmla="*/ 14 h 77"/>
                <a:gd name="T10" fmla="*/ 28 w 325"/>
                <a:gd name="T11" fmla="*/ 18 h 77"/>
                <a:gd name="T12" fmla="*/ 20 w 325"/>
                <a:gd name="T13" fmla="*/ 20 h 77"/>
                <a:gd name="T14" fmla="*/ 13 w 325"/>
                <a:gd name="T15" fmla="*/ 24 h 77"/>
                <a:gd name="T16" fmla="*/ 8 w 325"/>
                <a:gd name="T17" fmla="*/ 27 h 77"/>
                <a:gd name="T18" fmla="*/ 3 w 325"/>
                <a:gd name="T19" fmla="*/ 31 h 77"/>
                <a:gd name="T20" fmla="*/ 1 w 325"/>
                <a:gd name="T21" fmla="*/ 35 h 77"/>
                <a:gd name="T22" fmla="*/ 0 w 325"/>
                <a:gd name="T23" fmla="*/ 39 h 77"/>
                <a:gd name="T24" fmla="*/ 1 w 325"/>
                <a:gd name="T25" fmla="*/ 42 h 77"/>
                <a:gd name="T26" fmla="*/ 3 w 325"/>
                <a:gd name="T27" fmla="*/ 47 h 77"/>
                <a:gd name="T28" fmla="*/ 8 w 325"/>
                <a:gd name="T29" fmla="*/ 50 h 77"/>
                <a:gd name="T30" fmla="*/ 13 w 325"/>
                <a:gd name="T31" fmla="*/ 54 h 77"/>
                <a:gd name="T32" fmla="*/ 20 w 325"/>
                <a:gd name="T33" fmla="*/ 57 h 77"/>
                <a:gd name="T34" fmla="*/ 28 w 325"/>
                <a:gd name="T35" fmla="*/ 61 h 77"/>
                <a:gd name="T36" fmla="*/ 37 w 325"/>
                <a:gd name="T37" fmla="*/ 63 h 77"/>
                <a:gd name="T38" fmla="*/ 59 w 325"/>
                <a:gd name="T39" fmla="*/ 69 h 77"/>
                <a:gd name="T40" fmla="*/ 85 w 325"/>
                <a:gd name="T41" fmla="*/ 73 h 77"/>
                <a:gd name="T42" fmla="*/ 114 w 325"/>
                <a:gd name="T43" fmla="*/ 76 h 77"/>
                <a:gd name="T44" fmla="*/ 146 w 325"/>
                <a:gd name="T45" fmla="*/ 77 h 77"/>
                <a:gd name="T46" fmla="*/ 179 w 325"/>
                <a:gd name="T47" fmla="*/ 77 h 77"/>
                <a:gd name="T48" fmla="*/ 211 w 325"/>
                <a:gd name="T49" fmla="*/ 76 h 77"/>
                <a:gd name="T50" fmla="*/ 240 w 325"/>
                <a:gd name="T51" fmla="*/ 73 h 77"/>
                <a:gd name="T52" fmla="*/ 267 w 325"/>
                <a:gd name="T53" fmla="*/ 69 h 77"/>
                <a:gd name="T54" fmla="*/ 289 w 325"/>
                <a:gd name="T55" fmla="*/ 63 h 77"/>
                <a:gd name="T56" fmla="*/ 298 w 325"/>
                <a:gd name="T57" fmla="*/ 61 h 77"/>
                <a:gd name="T58" fmla="*/ 307 w 325"/>
                <a:gd name="T59" fmla="*/ 57 h 77"/>
                <a:gd name="T60" fmla="*/ 312 w 325"/>
                <a:gd name="T61" fmla="*/ 54 h 77"/>
                <a:gd name="T62" fmla="*/ 318 w 325"/>
                <a:gd name="T63" fmla="*/ 50 h 77"/>
                <a:gd name="T64" fmla="*/ 323 w 325"/>
                <a:gd name="T65" fmla="*/ 47 h 77"/>
                <a:gd name="T66" fmla="*/ 325 w 325"/>
                <a:gd name="T67" fmla="*/ 42 h 77"/>
                <a:gd name="T68" fmla="*/ 325 w 325"/>
                <a:gd name="T69" fmla="*/ 39 h 77"/>
                <a:gd name="T70" fmla="*/ 325 w 325"/>
                <a:gd name="T71" fmla="*/ 35 h 77"/>
                <a:gd name="T72" fmla="*/ 323 w 325"/>
                <a:gd name="T73" fmla="*/ 31 h 77"/>
                <a:gd name="T74" fmla="*/ 318 w 325"/>
                <a:gd name="T75" fmla="*/ 27 h 77"/>
                <a:gd name="T76" fmla="*/ 312 w 325"/>
                <a:gd name="T77" fmla="*/ 24 h 77"/>
                <a:gd name="T78" fmla="*/ 307 w 325"/>
                <a:gd name="T79" fmla="*/ 20 h 77"/>
                <a:gd name="T80" fmla="*/ 298 w 325"/>
                <a:gd name="T81" fmla="*/ 18 h 77"/>
                <a:gd name="T82" fmla="*/ 289 w 325"/>
                <a:gd name="T83" fmla="*/ 14 h 77"/>
                <a:gd name="T84" fmla="*/ 267 w 325"/>
                <a:gd name="T85" fmla="*/ 10 h 77"/>
                <a:gd name="T86" fmla="*/ 240 w 325"/>
                <a:gd name="T87" fmla="*/ 5 h 77"/>
                <a:gd name="T88" fmla="*/ 211 w 325"/>
                <a:gd name="T89" fmla="*/ 1 h 77"/>
                <a:gd name="T90" fmla="*/ 179 w 325"/>
                <a:gd name="T91"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5" h="77">
                  <a:moveTo>
                    <a:pt x="163" y="0"/>
                  </a:moveTo>
                  <a:lnTo>
                    <a:pt x="147" y="0"/>
                  </a:lnTo>
                  <a:lnTo>
                    <a:pt x="130" y="1"/>
                  </a:lnTo>
                  <a:lnTo>
                    <a:pt x="114" y="1"/>
                  </a:lnTo>
                  <a:lnTo>
                    <a:pt x="99" y="4"/>
                  </a:lnTo>
                  <a:lnTo>
                    <a:pt x="85" y="5"/>
                  </a:lnTo>
                  <a:lnTo>
                    <a:pt x="72" y="7"/>
                  </a:lnTo>
                  <a:lnTo>
                    <a:pt x="59" y="10"/>
                  </a:lnTo>
                  <a:lnTo>
                    <a:pt x="48" y="12"/>
                  </a:lnTo>
                  <a:lnTo>
                    <a:pt x="37" y="14"/>
                  </a:lnTo>
                  <a:lnTo>
                    <a:pt x="32" y="15"/>
                  </a:lnTo>
                  <a:lnTo>
                    <a:pt x="28" y="18"/>
                  </a:lnTo>
                  <a:lnTo>
                    <a:pt x="23" y="19"/>
                  </a:lnTo>
                  <a:lnTo>
                    <a:pt x="20" y="20"/>
                  </a:lnTo>
                  <a:lnTo>
                    <a:pt x="16" y="22"/>
                  </a:lnTo>
                  <a:lnTo>
                    <a:pt x="13" y="24"/>
                  </a:lnTo>
                  <a:lnTo>
                    <a:pt x="10" y="26"/>
                  </a:lnTo>
                  <a:lnTo>
                    <a:pt x="8" y="27"/>
                  </a:lnTo>
                  <a:lnTo>
                    <a:pt x="6" y="29"/>
                  </a:lnTo>
                  <a:lnTo>
                    <a:pt x="3" y="31"/>
                  </a:lnTo>
                  <a:lnTo>
                    <a:pt x="2" y="33"/>
                  </a:lnTo>
                  <a:lnTo>
                    <a:pt x="1" y="35"/>
                  </a:lnTo>
                  <a:lnTo>
                    <a:pt x="0" y="36"/>
                  </a:lnTo>
                  <a:lnTo>
                    <a:pt x="0" y="39"/>
                  </a:lnTo>
                  <a:lnTo>
                    <a:pt x="0" y="41"/>
                  </a:lnTo>
                  <a:lnTo>
                    <a:pt x="1" y="42"/>
                  </a:lnTo>
                  <a:lnTo>
                    <a:pt x="2" y="45"/>
                  </a:lnTo>
                  <a:lnTo>
                    <a:pt x="3" y="47"/>
                  </a:lnTo>
                  <a:lnTo>
                    <a:pt x="6" y="48"/>
                  </a:lnTo>
                  <a:lnTo>
                    <a:pt x="8" y="50"/>
                  </a:lnTo>
                  <a:lnTo>
                    <a:pt x="10" y="52"/>
                  </a:lnTo>
                  <a:lnTo>
                    <a:pt x="13" y="54"/>
                  </a:lnTo>
                  <a:lnTo>
                    <a:pt x="16" y="55"/>
                  </a:lnTo>
                  <a:lnTo>
                    <a:pt x="20" y="57"/>
                  </a:lnTo>
                  <a:lnTo>
                    <a:pt x="23" y="59"/>
                  </a:lnTo>
                  <a:lnTo>
                    <a:pt x="28" y="61"/>
                  </a:lnTo>
                  <a:lnTo>
                    <a:pt x="32" y="62"/>
                  </a:lnTo>
                  <a:lnTo>
                    <a:pt x="37" y="63"/>
                  </a:lnTo>
                  <a:lnTo>
                    <a:pt x="48" y="67"/>
                  </a:lnTo>
                  <a:lnTo>
                    <a:pt x="59" y="69"/>
                  </a:lnTo>
                  <a:lnTo>
                    <a:pt x="72" y="71"/>
                  </a:lnTo>
                  <a:lnTo>
                    <a:pt x="85" y="73"/>
                  </a:lnTo>
                  <a:lnTo>
                    <a:pt x="99" y="75"/>
                  </a:lnTo>
                  <a:lnTo>
                    <a:pt x="114" y="76"/>
                  </a:lnTo>
                  <a:lnTo>
                    <a:pt x="130" y="77"/>
                  </a:lnTo>
                  <a:lnTo>
                    <a:pt x="146" y="77"/>
                  </a:lnTo>
                  <a:lnTo>
                    <a:pt x="163" y="77"/>
                  </a:lnTo>
                  <a:lnTo>
                    <a:pt x="179" y="77"/>
                  </a:lnTo>
                  <a:lnTo>
                    <a:pt x="196" y="77"/>
                  </a:lnTo>
                  <a:lnTo>
                    <a:pt x="211" y="76"/>
                  </a:lnTo>
                  <a:lnTo>
                    <a:pt x="226" y="75"/>
                  </a:lnTo>
                  <a:lnTo>
                    <a:pt x="240" y="73"/>
                  </a:lnTo>
                  <a:lnTo>
                    <a:pt x="254" y="71"/>
                  </a:lnTo>
                  <a:lnTo>
                    <a:pt x="267" y="69"/>
                  </a:lnTo>
                  <a:lnTo>
                    <a:pt x="279" y="67"/>
                  </a:lnTo>
                  <a:lnTo>
                    <a:pt x="289" y="63"/>
                  </a:lnTo>
                  <a:lnTo>
                    <a:pt x="294" y="62"/>
                  </a:lnTo>
                  <a:lnTo>
                    <a:pt x="298" y="61"/>
                  </a:lnTo>
                  <a:lnTo>
                    <a:pt x="302" y="59"/>
                  </a:lnTo>
                  <a:lnTo>
                    <a:pt x="307" y="57"/>
                  </a:lnTo>
                  <a:lnTo>
                    <a:pt x="310" y="55"/>
                  </a:lnTo>
                  <a:lnTo>
                    <a:pt x="312" y="54"/>
                  </a:lnTo>
                  <a:lnTo>
                    <a:pt x="316" y="52"/>
                  </a:lnTo>
                  <a:lnTo>
                    <a:pt x="318" y="50"/>
                  </a:lnTo>
                  <a:lnTo>
                    <a:pt x="321" y="48"/>
                  </a:lnTo>
                  <a:lnTo>
                    <a:pt x="323" y="47"/>
                  </a:lnTo>
                  <a:lnTo>
                    <a:pt x="324" y="45"/>
                  </a:lnTo>
                  <a:lnTo>
                    <a:pt x="325" y="42"/>
                  </a:lnTo>
                  <a:lnTo>
                    <a:pt x="325" y="41"/>
                  </a:lnTo>
                  <a:lnTo>
                    <a:pt x="325" y="39"/>
                  </a:lnTo>
                  <a:lnTo>
                    <a:pt x="325" y="36"/>
                  </a:lnTo>
                  <a:lnTo>
                    <a:pt x="325" y="35"/>
                  </a:lnTo>
                  <a:lnTo>
                    <a:pt x="324" y="33"/>
                  </a:lnTo>
                  <a:lnTo>
                    <a:pt x="323" y="31"/>
                  </a:lnTo>
                  <a:lnTo>
                    <a:pt x="321" y="29"/>
                  </a:lnTo>
                  <a:lnTo>
                    <a:pt x="318" y="27"/>
                  </a:lnTo>
                  <a:lnTo>
                    <a:pt x="316" y="26"/>
                  </a:lnTo>
                  <a:lnTo>
                    <a:pt x="312" y="24"/>
                  </a:lnTo>
                  <a:lnTo>
                    <a:pt x="310" y="22"/>
                  </a:lnTo>
                  <a:lnTo>
                    <a:pt x="307" y="20"/>
                  </a:lnTo>
                  <a:lnTo>
                    <a:pt x="302" y="19"/>
                  </a:lnTo>
                  <a:lnTo>
                    <a:pt x="298" y="18"/>
                  </a:lnTo>
                  <a:lnTo>
                    <a:pt x="294" y="15"/>
                  </a:lnTo>
                  <a:lnTo>
                    <a:pt x="289" y="14"/>
                  </a:lnTo>
                  <a:lnTo>
                    <a:pt x="279" y="12"/>
                  </a:lnTo>
                  <a:lnTo>
                    <a:pt x="267" y="10"/>
                  </a:lnTo>
                  <a:lnTo>
                    <a:pt x="254" y="7"/>
                  </a:lnTo>
                  <a:lnTo>
                    <a:pt x="240" y="5"/>
                  </a:lnTo>
                  <a:lnTo>
                    <a:pt x="226" y="4"/>
                  </a:lnTo>
                  <a:lnTo>
                    <a:pt x="211" y="1"/>
                  </a:lnTo>
                  <a:lnTo>
                    <a:pt x="196" y="1"/>
                  </a:lnTo>
                  <a:lnTo>
                    <a:pt x="179" y="0"/>
                  </a:lnTo>
                  <a:lnTo>
                    <a:pt x="163"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65" name="Line 76"/>
            <p:cNvSpPr>
              <a:spLocks noChangeShapeType="1"/>
            </p:cNvSpPr>
            <p:nvPr/>
          </p:nvSpPr>
          <p:spPr bwMode="auto">
            <a:xfrm>
              <a:off x="1767" y="2443"/>
              <a:ext cx="58"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66" name="Line 77"/>
            <p:cNvSpPr>
              <a:spLocks noChangeShapeType="1"/>
            </p:cNvSpPr>
            <p:nvPr/>
          </p:nvSpPr>
          <p:spPr bwMode="auto">
            <a:xfrm>
              <a:off x="1878" y="2487"/>
              <a:ext cx="51"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67" name="Line 78"/>
            <p:cNvSpPr>
              <a:spLocks noChangeShapeType="1"/>
            </p:cNvSpPr>
            <p:nvPr/>
          </p:nvSpPr>
          <p:spPr bwMode="auto">
            <a:xfrm>
              <a:off x="1821" y="2443"/>
              <a:ext cx="59" cy="44"/>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68" name="Line 79"/>
            <p:cNvSpPr>
              <a:spLocks noChangeShapeType="1"/>
            </p:cNvSpPr>
            <p:nvPr/>
          </p:nvSpPr>
          <p:spPr bwMode="auto">
            <a:xfrm>
              <a:off x="1767" y="2486"/>
              <a:ext cx="58"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69" name="Line 80"/>
            <p:cNvSpPr>
              <a:spLocks noChangeShapeType="1"/>
            </p:cNvSpPr>
            <p:nvPr/>
          </p:nvSpPr>
          <p:spPr bwMode="auto">
            <a:xfrm>
              <a:off x="1878" y="2442"/>
              <a:ext cx="51"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70" name="Line 81"/>
            <p:cNvSpPr>
              <a:spLocks noChangeShapeType="1"/>
            </p:cNvSpPr>
            <p:nvPr/>
          </p:nvSpPr>
          <p:spPr bwMode="auto">
            <a:xfrm flipV="1">
              <a:off x="1821" y="2442"/>
              <a:ext cx="59" cy="44"/>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71" name="Rectangle 70"/>
            <p:cNvSpPr>
              <a:spLocks noChangeArrowheads="1"/>
            </p:cNvSpPr>
            <p:nvPr/>
          </p:nvSpPr>
          <p:spPr bwMode="auto">
            <a:xfrm>
              <a:off x="2716" y="3035"/>
              <a:ext cx="84" cy="567"/>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72" name="Freeform 71"/>
            <p:cNvSpPr>
              <a:spLocks/>
            </p:cNvSpPr>
            <p:nvPr/>
          </p:nvSpPr>
          <p:spPr bwMode="auto">
            <a:xfrm>
              <a:off x="2713" y="3035"/>
              <a:ext cx="86" cy="64"/>
            </a:xfrm>
            <a:custGeom>
              <a:avLst/>
              <a:gdLst>
                <a:gd name="T0" fmla="*/ 0 w 86"/>
                <a:gd name="T1" fmla="*/ 0 h 64"/>
                <a:gd name="T2" fmla="*/ 86 w 86"/>
                <a:gd name="T3" fmla="*/ 0 h 64"/>
                <a:gd name="T4" fmla="*/ 86 w 86"/>
                <a:gd name="T5" fmla="*/ 64 h 64"/>
                <a:gd name="T6" fmla="*/ 0 w 86"/>
                <a:gd name="T7" fmla="*/ 30 h 64"/>
                <a:gd name="T8" fmla="*/ 0 w 86"/>
                <a:gd name="T9" fmla="*/ 0 h 64"/>
              </a:gdLst>
              <a:ahLst/>
              <a:cxnLst>
                <a:cxn ang="0">
                  <a:pos x="T0" y="T1"/>
                </a:cxn>
                <a:cxn ang="0">
                  <a:pos x="T2" y="T3"/>
                </a:cxn>
                <a:cxn ang="0">
                  <a:pos x="T4" y="T5"/>
                </a:cxn>
                <a:cxn ang="0">
                  <a:pos x="T6" y="T7"/>
                </a:cxn>
                <a:cxn ang="0">
                  <a:pos x="T8" y="T9"/>
                </a:cxn>
              </a:cxnLst>
              <a:rect l="0" t="0" r="r" b="b"/>
              <a:pathLst>
                <a:path w="86" h="64">
                  <a:moveTo>
                    <a:pt x="0" y="0"/>
                  </a:moveTo>
                  <a:lnTo>
                    <a:pt x="86" y="0"/>
                  </a:lnTo>
                  <a:lnTo>
                    <a:pt x="86" y="64"/>
                  </a:lnTo>
                  <a:lnTo>
                    <a:pt x="0" y="3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73" name="Rectangle 72"/>
            <p:cNvSpPr>
              <a:spLocks noChangeArrowheads="1"/>
            </p:cNvSpPr>
            <p:nvPr/>
          </p:nvSpPr>
          <p:spPr bwMode="auto">
            <a:xfrm>
              <a:off x="2716" y="3118"/>
              <a:ext cx="41"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74" name="Rectangle 73"/>
            <p:cNvSpPr>
              <a:spLocks noChangeArrowheads="1"/>
            </p:cNvSpPr>
            <p:nvPr/>
          </p:nvSpPr>
          <p:spPr bwMode="auto">
            <a:xfrm>
              <a:off x="2759" y="3117"/>
              <a:ext cx="43" cy="34"/>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75" name="Rectangle 74"/>
            <p:cNvSpPr>
              <a:spLocks noChangeArrowheads="1"/>
            </p:cNvSpPr>
            <p:nvPr/>
          </p:nvSpPr>
          <p:spPr bwMode="auto">
            <a:xfrm>
              <a:off x="2737" y="3080"/>
              <a:ext cx="43" cy="32"/>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76" name="Rectangle 75"/>
            <p:cNvSpPr>
              <a:spLocks noChangeArrowheads="1"/>
            </p:cNvSpPr>
            <p:nvPr/>
          </p:nvSpPr>
          <p:spPr bwMode="auto">
            <a:xfrm>
              <a:off x="2781" y="3080"/>
              <a:ext cx="21"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77" name="Rectangle 76"/>
            <p:cNvSpPr>
              <a:spLocks noChangeArrowheads="1"/>
            </p:cNvSpPr>
            <p:nvPr/>
          </p:nvSpPr>
          <p:spPr bwMode="auto">
            <a:xfrm>
              <a:off x="2712" y="3080"/>
              <a:ext cx="22"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78" name="Rectangle 77"/>
            <p:cNvSpPr>
              <a:spLocks noChangeArrowheads="1"/>
            </p:cNvSpPr>
            <p:nvPr/>
          </p:nvSpPr>
          <p:spPr bwMode="auto">
            <a:xfrm>
              <a:off x="2715" y="3041"/>
              <a:ext cx="43" cy="34"/>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79" name="Rectangle 78"/>
            <p:cNvSpPr>
              <a:spLocks noChangeArrowheads="1"/>
            </p:cNvSpPr>
            <p:nvPr/>
          </p:nvSpPr>
          <p:spPr bwMode="auto">
            <a:xfrm>
              <a:off x="2760" y="3042"/>
              <a:ext cx="43"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80" name="Rectangle 79"/>
            <p:cNvSpPr>
              <a:spLocks noChangeArrowheads="1"/>
            </p:cNvSpPr>
            <p:nvPr/>
          </p:nvSpPr>
          <p:spPr bwMode="auto">
            <a:xfrm>
              <a:off x="2715" y="3193"/>
              <a:ext cx="40"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81" name="Rectangle 80"/>
            <p:cNvSpPr>
              <a:spLocks noChangeArrowheads="1"/>
            </p:cNvSpPr>
            <p:nvPr/>
          </p:nvSpPr>
          <p:spPr bwMode="auto">
            <a:xfrm>
              <a:off x="2759" y="3193"/>
              <a:ext cx="42"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82" name="Rectangle 81"/>
            <p:cNvSpPr>
              <a:spLocks noChangeArrowheads="1"/>
            </p:cNvSpPr>
            <p:nvPr/>
          </p:nvSpPr>
          <p:spPr bwMode="auto">
            <a:xfrm>
              <a:off x="2737" y="3155"/>
              <a:ext cx="42" cy="32"/>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83" name="Rectangle 82"/>
            <p:cNvSpPr>
              <a:spLocks noChangeArrowheads="1"/>
            </p:cNvSpPr>
            <p:nvPr/>
          </p:nvSpPr>
          <p:spPr bwMode="auto">
            <a:xfrm>
              <a:off x="2780" y="3155"/>
              <a:ext cx="22"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84" name="Rectangle 83"/>
            <p:cNvSpPr>
              <a:spLocks noChangeArrowheads="1"/>
            </p:cNvSpPr>
            <p:nvPr/>
          </p:nvSpPr>
          <p:spPr bwMode="auto">
            <a:xfrm>
              <a:off x="2716" y="3155"/>
              <a:ext cx="17"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85" name="Rectangle 84"/>
            <p:cNvSpPr>
              <a:spLocks noChangeArrowheads="1"/>
            </p:cNvSpPr>
            <p:nvPr/>
          </p:nvSpPr>
          <p:spPr bwMode="auto">
            <a:xfrm>
              <a:off x="2715" y="3266"/>
              <a:ext cx="40"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86" name="Rectangle 85"/>
            <p:cNvSpPr>
              <a:spLocks noChangeArrowheads="1"/>
            </p:cNvSpPr>
            <p:nvPr/>
          </p:nvSpPr>
          <p:spPr bwMode="auto">
            <a:xfrm>
              <a:off x="2759" y="3266"/>
              <a:ext cx="42"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87" name="Rectangle 86"/>
            <p:cNvSpPr>
              <a:spLocks noChangeArrowheads="1"/>
            </p:cNvSpPr>
            <p:nvPr/>
          </p:nvSpPr>
          <p:spPr bwMode="auto">
            <a:xfrm>
              <a:off x="2737" y="3229"/>
              <a:ext cx="42"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88" name="Rectangle 87"/>
            <p:cNvSpPr>
              <a:spLocks noChangeArrowheads="1"/>
            </p:cNvSpPr>
            <p:nvPr/>
          </p:nvSpPr>
          <p:spPr bwMode="auto">
            <a:xfrm>
              <a:off x="2780" y="3229"/>
              <a:ext cx="22" cy="32"/>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89" name="Rectangle 88"/>
            <p:cNvSpPr>
              <a:spLocks noChangeArrowheads="1"/>
            </p:cNvSpPr>
            <p:nvPr/>
          </p:nvSpPr>
          <p:spPr bwMode="auto">
            <a:xfrm>
              <a:off x="2715" y="3229"/>
              <a:ext cx="18"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90" name="Rectangle 89"/>
            <p:cNvSpPr>
              <a:spLocks noChangeArrowheads="1"/>
            </p:cNvSpPr>
            <p:nvPr/>
          </p:nvSpPr>
          <p:spPr bwMode="auto">
            <a:xfrm>
              <a:off x="2715" y="3342"/>
              <a:ext cx="40"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91" name="Rectangle 90"/>
            <p:cNvSpPr>
              <a:spLocks noChangeArrowheads="1"/>
            </p:cNvSpPr>
            <p:nvPr/>
          </p:nvSpPr>
          <p:spPr bwMode="auto">
            <a:xfrm>
              <a:off x="2759" y="3342"/>
              <a:ext cx="42"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92" name="Rectangle 91"/>
            <p:cNvSpPr>
              <a:spLocks noChangeArrowheads="1"/>
            </p:cNvSpPr>
            <p:nvPr/>
          </p:nvSpPr>
          <p:spPr bwMode="auto">
            <a:xfrm>
              <a:off x="2736" y="3304"/>
              <a:ext cx="43" cy="33"/>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93" name="Rectangle 92"/>
            <p:cNvSpPr>
              <a:spLocks noChangeArrowheads="1"/>
            </p:cNvSpPr>
            <p:nvPr/>
          </p:nvSpPr>
          <p:spPr bwMode="auto">
            <a:xfrm>
              <a:off x="2780" y="3304"/>
              <a:ext cx="21"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94" name="Rectangle 93"/>
            <p:cNvSpPr>
              <a:spLocks noChangeArrowheads="1"/>
            </p:cNvSpPr>
            <p:nvPr/>
          </p:nvSpPr>
          <p:spPr bwMode="auto">
            <a:xfrm>
              <a:off x="2716" y="3304"/>
              <a:ext cx="17"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95" name="Rectangle 94"/>
            <p:cNvSpPr>
              <a:spLocks noChangeArrowheads="1"/>
            </p:cNvSpPr>
            <p:nvPr/>
          </p:nvSpPr>
          <p:spPr bwMode="auto">
            <a:xfrm>
              <a:off x="2715" y="3417"/>
              <a:ext cx="42"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96" name="Rectangle 95"/>
            <p:cNvSpPr>
              <a:spLocks noChangeArrowheads="1"/>
            </p:cNvSpPr>
            <p:nvPr/>
          </p:nvSpPr>
          <p:spPr bwMode="auto">
            <a:xfrm>
              <a:off x="2759" y="3416"/>
              <a:ext cx="43" cy="34"/>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97" name="Rectangle 96"/>
            <p:cNvSpPr>
              <a:spLocks noChangeArrowheads="1"/>
            </p:cNvSpPr>
            <p:nvPr/>
          </p:nvSpPr>
          <p:spPr bwMode="auto">
            <a:xfrm>
              <a:off x="2737" y="3379"/>
              <a:ext cx="43"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98" name="Rectangle 97"/>
            <p:cNvSpPr>
              <a:spLocks noChangeArrowheads="1"/>
            </p:cNvSpPr>
            <p:nvPr/>
          </p:nvSpPr>
          <p:spPr bwMode="auto">
            <a:xfrm>
              <a:off x="2781" y="3379"/>
              <a:ext cx="21"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99" name="Rectangle 98"/>
            <p:cNvSpPr>
              <a:spLocks noChangeArrowheads="1"/>
            </p:cNvSpPr>
            <p:nvPr/>
          </p:nvSpPr>
          <p:spPr bwMode="auto">
            <a:xfrm>
              <a:off x="2715" y="3492"/>
              <a:ext cx="40" cy="33"/>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00" name="Rectangle 99"/>
            <p:cNvSpPr>
              <a:spLocks noChangeArrowheads="1"/>
            </p:cNvSpPr>
            <p:nvPr/>
          </p:nvSpPr>
          <p:spPr bwMode="auto">
            <a:xfrm>
              <a:off x="2759" y="3492"/>
              <a:ext cx="42"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01" name="Rectangle 100"/>
            <p:cNvSpPr>
              <a:spLocks noChangeArrowheads="1"/>
            </p:cNvSpPr>
            <p:nvPr/>
          </p:nvSpPr>
          <p:spPr bwMode="auto">
            <a:xfrm>
              <a:off x="2737" y="3455"/>
              <a:ext cx="42" cy="31"/>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02" name="Rectangle 101"/>
            <p:cNvSpPr>
              <a:spLocks noChangeArrowheads="1"/>
            </p:cNvSpPr>
            <p:nvPr/>
          </p:nvSpPr>
          <p:spPr bwMode="auto">
            <a:xfrm>
              <a:off x="2780" y="3453"/>
              <a:ext cx="22"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03" name="Rectangle 102"/>
            <p:cNvSpPr>
              <a:spLocks noChangeArrowheads="1"/>
            </p:cNvSpPr>
            <p:nvPr/>
          </p:nvSpPr>
          <p:spPr bwMode="auto">
            <a:xfrm>
              <a:off x="2716" y="3453"/>
              <a:ext cx="17" cy="33"/>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04" name="Rectangle 103"/>
            <p:cNvSpPr>
              <a:spLocks noChangeArrowheads="1"/>
            </p:cNvSpPr>
            <p:nvPr/>
          </p:nvSpPr>
          <p:spPr bwMode="auto">
            <a:xfrm>
              <a:off x="2715" y="3566"/>
              <a:ext cx="40"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05" name="Rectangle 104"/>
            <p:cNvSpPr>
              <a:spLocks noChangeArrowheads="1"/>
            </p:cNvSpPr>
            <p:nvPr/>
          </p:nvSpPr>
          <p:spPr bwMode="auto">
            <a:xfrm>
              <a:off x="2759" y="3566"/>
              <a:ext cx="42" cy="32"/>
            </a:xfrm>
            <a:prstGeom prst="rect">
              <a:avLst/>
            </a:prstGeom>
            <a:solidFill>
              <a:srgbClr val="4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06" name="Rectangle 105"/>
            <p:cNvSpPr>
              <a:spLocks noChangeArrowheads="1"/>
            </p:cNvSpPr>
            <p:nvPr/>
          </p:nvSpPr>
          <p:spPr bwMode="auto">
            <a:xfrm>
              <a:off x="2737" y="3528"/>
              <a:ext cx="42" cy="32"/>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07" name="Rectangle 106"/>
            <p:cNvSpPr>
              <a:spLocks noChangeArrowheads="1"/>
            </p:cNvSpPr>
            <p:nvPr/>
          </p:nvSpPr>
          <p:spPr bwMode="auto">
            <a:xfrm>
              <a:off x="2780" y="3528"/>
              <a:ext cx="22"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08" name="Rectangle 107"/>
            <p:cNvSpPr>
              <a:spLocks noChangeArrowheads="1"/>
            </p:cNvSpPr>
            <p:nvPr/>
          </p:nvSpPr>
          <p:spPr bwMode="auto">
            <a:xfrm>
              <a:off x="2715" y="3528"/>
              <a:ext cx="18" cy="32"/>
            </a:xfrm>
            <a:prstGeom prst="rect">
              <a:avLst/>
            </a:prstGeom>
            <a:solidFill>
              <a:srgbClr val="E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09" name="Freeform 108"/>
            <p:cNvSpPr>
              <a:spLocks/>
            </p:cNvSpPr>
            <p:nvPr/>
          </p:nvSpPr>
          <p:spPr bwMode="auto">
            <a:xfrm>
              <a:off x="2704" y="3555"/>
              <a:ext cx="12" cy="41"/>
            </a:xfrm>
            <a:custGeom>
              <a:avLst/>
              <a:gdLst>
                <a:gd name="T0" fmla="*/ 12 w 12"/>
                <a:gd name="T1" fmla="*/ 11 h 41"/>
                <a:gd name="T2" fmla="*/ 12 w 12"/>
                <a:gd name="T3" fmla="*/ 41 h 41"/>
                <a:gd name="T4" fmla="*/ 0 w 12"/>
                <a:gd name="T5" fmla="*/ 29 h 41"/>
                <a:gd name="T6" fmla="*/ 0 w 12"/>
                <a:gd name="T7" fmla="*/ 0 h 41"/>
                <a:gd name="T8" fmla="*/ 12 w 12"/>
                <a:gd name="T9" fmla="*/ 11 h 41"/>
              </a:gdLst>
              <a:ahLst/>
              <a:cxnLst>
                <a:cxn ang="0">
                  <a:pos x="T0" y="T1"/>
                </a:cxn>
                <a:cxn ang="0">
                  <a:pos x="T2" y="T3"/>
                </a:cxn>
                <a:cxn ang="0">
                  <a:pos x="T4" y="T5"/>
                </a:cxn>
                <a:cxn ang="0">
                  <a:pos x="T6" y="T7"/>
                </a:cxn>
                <a:cxn ang="0">
                  <a:pos x="T8" y="T9"/>
                </a:cxn>
              </a:cxnLst>
              <a:rect l="0" t="0" r="r" b="b"/>
              <a:pathLst>
                <a:path w="12" h="41">
                  <a:moveTo>
                    <a:pt x="12" y="11"/>
                  </a:moveTo>
                  <a:lnTo>
                    <a:pt x="12" y="41"/>
                  </a:lnTo>
                  <a:lnTo>
                    <a:pt x="0" y="29"/>
                  </a:lnTo>
                  <a:lnTo>
                    <a:pt x="0" y="0"/>
                  </a:lnTo>
                  <a:lnTo>
                    <a:pt x="12" y="1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10" name="Freeform 109"/>
            <p:cNvSpPr>
              <a:spLocks/>
            </p:cNvSpPr>
            <p:nvPr/>
          </p:nvSpPr>
          <p:spPr bwMode="auto">
            <a:xfrm>
              <a:off x="2667" y="3513"/>
              <a:ext cx="35" cy="70"/>
            </a:xfrm>
            <a:custGeom>
              <a:avLst/>
              <a:gdLst>
                <a:gd name="T0" fmla="*/ 35 w 35"/>
                <a:gd name="T1" fmla="*/ 40 h 70"/>
                <a:gd name="T2" fmla="*/ 35 w 35"/>
                <a:gd name="T3" fmla="*/ 70 h 70"/>
                <a:gd name="T4" fmla="*/ 0 w 35"/>
                <a:gd name="T5" fmla="*/ 30 h 70"/>
                <a:gd name="T6" fmla="*/ 0 w 35"/>
                <a:gd name="T7" fmla="*/ 0 h 70"/>
                <a:gd name="T8" fmla="*/ 35 w 35"/>
                <a:gd name="T9" fmla="*/ 40 h 70"/>
              </a:gdLst>
              <a:ahLst/>
              <a:cxnLst>
                <a:cxn ang="0">
                  <a:pos x="T0" y="T1"/>
                </a:cxn>
                <a:cxn ang="0">
                  <a:pos x="T2" y="T3"/>
                </a:cxn>
                <a:cxn ang="0">
                  <a:pos x="T4" y="T5"/>
                </a:cxn>
                <a:cxn ang="0">
                  <a:pos x="T6" y="T7"/>
                </a:cxn>
                <a:cxn ang="0">
                  <a:pos x="T8" y="T9"/>
                </a:cxn>
              </a:cxnLst>
              <a:rect l="0" t="0" r="r" b="b"/>
              <a:pathLst>
                <a:path w="35" h="70">
                  <a:moveTo>
                    <a:pt x="35" y="40"/>
                  </a:moveTo>
                  <a:lnTo>
                    <a:pt x="35" y="70"/>
                  </a:lnTo>
                  <a:lnTo>
                    <a:pt x="0" y="30"/>
                  </a:lnTo>
                  <a:lnTo>
                    <a:pt x="0" y="0"/>
                  </a:lnTo>
                  <a:lnTo>
                    <a:pt x="35" y="40"/>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11" name="Freeform 110"/>
            <p:cNvSpPr>
              <a:spLocks/>
            </p:cNvSpPr>
            <p:nvPr/>
          </p:nvSpPr>
          <p:spPr bwMode="auto">
            <a:xfrm>
              <a:off x="2631" y="3474"/>
              <a:ext cx="35" cy="67"/>
            </a:xfrm>
            <a:custGeom>
              <a:avLst/>
              <a:gdLst>
                <a:gd name="T0" fmla="*/ 35 w 35"/>
                <a:gd name="T1" fmla="*/ 39 h 67"/>
                <a:gd name="T2" fmla="*/ 35 w 35"/>
                <a:gd name="T3" fmla="*/ 67 h 67"/>
                <a:gd name="T4" fmla="*/ 0 w 35"/>
                <a:gd name="T5" fmla="*/ 28 h 67"/>
                <a:gd name="T6" fmla="*/ 0 w 35"/>
                <a:gd name="T7" fmla="*/ 0 h 67"/>
                <a:gd name="T8" fmla="*/ 35 w 35"/>
                <a:gd name="T9" fmla="*/ 39 h 67"/>
              </a:gdLst>
              <a:ahLst/>
              <a:cxnLst>
                <a:cxn ang="0">
                  <a:pos x="T0" y="T1"/>
                </a:cxn>
                <a:cxn ang="0">
                  <a:pos x="T2" y="T3"/>
                </a:cxn>
                <a:cxn ang="0">
                  <a:pos x="T4" y="T5"/>
                </a:cxn>
                <a:cxn ang="0">
                  <a:pos x="T6" y="T7"/>
                </a:cxn>
                <a:cxn ang="0">
                  <a:pos x="T8" y="T9"/>
                </a:cxn>
              </a:cxnLst>
              <a:rect l="0" t="0" r="r" b="b"/>
              <a:pathLst>
                <a:path w="35" h="67">
                  <a:moveTo>
                    <a:pt x="35" y="39"/>
                  </a:moveTo>
                  <a:lnTo>
                    <a:pt x="35" y="67"/>
                  </a:lnTo>
                  <a:lnTo>
                    <a:pt x="0" y="28"/>
                  </a:lnTo>
                  <a:lnTo>
                    <a:pt x="0" y="0"/>
                  </a:lnTo>
                  <a:lnTo>
                    <a:pt x="35" y="39"/>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12" name="Freeform 111"/>
            <p:cNvSpPr>
              <a:spLocks/>
            </p:cNvSpPr>
            <p:nvPr/>
          </p:nvSpPr>
          <p:spPr bwMode="auto">
            <a:xfrm>
              <a:off x="2594" y="3435"/>
              <a:ext cx="34" cy="65"/>
            </a:xfrm>
            <a:custGeom>
              <a:avLst/>
              <a:gdLst>
                <a:gd name="T0" fmla="*/ 34 w 34"/>
                <a:gd name="T1" fmla="*/ 37 h 65"/>
                <a:gd name="T2" fmla="*/ 34 w 34"/>
                <a:gd name="T3" fmla="*/ 65 h 65"/>
                <a:gd name="T4" fmla="*/ 0 w 34"/>
                <a:gd name="T5" fmla="*/ 28 h 65"/>
                <a:gd name="T6" fmla="*/ 0 w 34"/>
                <a:gd name="T7" fmla="*/ 0 h 65"/>
                <a:gd name="T8" fmla="*/ 34 w 34"/>
                <a:gd name="T9" fmla="*/ 37 h 65"/>
              </a:gdLst>
              <a:ahLst/>
              <a:cxnLst>
                <a:cxn ang="0">
                  <a:pos x="T0" y="T1"/>
                </a:cxn>
                <a:cxn ang="0">
                  <a:pos x="T2" y="T3"/>
                </a:cxn>
                <a:cxn ang="0">
                  <a:pos x="T4" y="T5"/>
                </a:cxn>
                <a:cxn ang="0">
                  <a:pos x="T6" y="T7"/>
                </a:cxn>
                <a:cxn ang="0">
                  <a:pos x="T8" y="T9"/>
                </a:cxn>
              </a:cxnLst>
              <a:rect l="0" t="0" r="r" b="b"/>
              <a:pathLst>
                <a:path w="34" h="65">
                  <a:moveTo>
                    <a:pt x="34" y="37"/>
                  </a:moveTo>
                  <a:lnTo>
                    <a:pt x="34" y="65"/>
                  </a:lnTo>
                  <a:lnTo>
                    <a:pt x="0" y="28"/>
                  </a:lnTo>
                  <a:lnTo>
                    <a:pt x="0" y="0"/>
                  </a:lnTo>
                  <a:lnTo>
                    <a:pt x="34" y="37"/>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13" name="Freeform 112"/>
            <p:cNvSpPr>
              <a:spLocks/>
            </p:cNvSpPr>
            <p:nvPr/>
          </p:nvSpPr>
          <p:spPr bwMode="auto">
            <a:xfrm>
              <a:off x="2575" y="3414"/>
              <a:ext cx="17" cy="46"/>
            </a:xfrm>
            <a:custGeom>
              <a:avLst/>
              <a:gdLst>
                <a:gd name="T0" fmla="*/ 17 w 17"/>
                <a:gd name="T1" fmla="*/ 18 h 46"/>
                <a:gd name="T2" fmla="*/ 17 w 17"/>
                <a:gd name="T3" fmla="*/ 46 h 46"/>
                <a:gd name="T4" fmla="*/ 0 w 17"/>
                <a:gd name="T5" fmla="*/ 27 h 46"/>
                <a:gd name="T6" fmla="*/ 0 w 17"/>
                <a:gd name="T7" fmla="*/ 0 h 46"/>
                <a:gd name="T8" fmla="*/ 17 w 17"/>
                <a:gd name="T9" fmla="*/ 18 h 46"/>
              </a:gdLst>
              <a:ahLst/>
              <a:cxnLst>
                <a:cxn ang="0">
                  <a:pos x="T0" y="T1"/>
                </a:cxn>
                <a:cxn ang="0">
                  <a:pos x="T2" y="T3"/>
                </a:cxn>
                <a:cxn ang="0">
                  <a:pos x="T4" y="T5"/>
                </a:cxn>
                <a:cxn ang="0">
                  <a:pos x="T6" y="T7"/>
                </a:cxn>
                <a:cxn ang="0">
                  <a:pos x="T8" y="T9"/>
                </a:cxn>
              </a:cxnLst>
              <a:rect l="0" t="0" r="r" b="b"/>
              <a:pathLst>
                <a:path w="17" h="46">
                  <a:moveTo>
                    <a:pt x="17" y="18"/>
                  </a:moveTo>
                  <a:lnTo>
                    <a:pt x="17" y="46"/>
                  </a:lnTo>
                  <a:lnTo>
                    <a:pt x="0" y="27"/>
                  </a:lnTo>
                  <a:lnTo>
                    <a:pt x="0" y="0"/>
                  </a:lnTo>
                  <a:lnTo>
                    <a:pt x="17" y="1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14" name="Freeform 113"/>
            <p:cNvSpPr>
              <a:spLocks/>
            </p:cNvSpPr>
            <p:nvPr/>
          </p:nvSpPr>
          <p:spPr bwMode="auto">
            <a:xfrm>
              <a:off x="2704" y="3036"/>
              <a:ext cx="12" cy="36"/>
            </a:xfrm>
            <a:custGeom>
              <a:avLst/>
              <a:gdLst>
                <a:gd name="T0" fmla="*/ 12 w 12"/>
                <a:gd name="T1" fmla="*/ 5 h 36"/>
                <a:gd name="T2" fmla="*/ 12 w 12"/>
                <a:gd name="T3" fmla="*/ 36 h 36"/>
                <a:gd name="T4" fmla="*/ 0 w 12"/>
                <a:gd name="T5" fmla="*/ 31 h 36"/>
                <a:gd name="T6" fmla="*/ 0 w 12"/>
                <a:gd name="T7" fmla="*/ 0 h 36"/>
                <a:gd name="T8" fmla="*/ 12 w 12"/>
                <a:gd name="T9" fmla="*/ 5 h 36"/>
              </a:gdLst>
              <a:ahLst/>
              <a:cxnLst>
                <a:cxn ang="0">
                  <a:pos x="T0" y="T1"/>
                </a:cxn>
                <a:cxn ang="0">
                  <a:pos x="T2" y="T3"/>
                </a:cxn>
                <a:cxn ang="0">
                  <a:pos x="T4" y="T5"/>
                </a:cxn>
                <a:cxn ang="0">
                  <a:pos x="T6" y="T7"/>
                </a:cxn>
                <a:cxn ang="0">
                  <a:pos x="T8" y="T9"/>
                </a:cxn>
              </a:cxnLst>
              <a:rect l="0" t="0" r="r" b="b"/>
              <a:pathLst>
                <a:path w="12" h="36">
                  <a:moveTo>
                    <a:pt x="12" y="5"/>
                  </a:moveTo>
                  <a:lnTo>
                    <a:pt x="12" y="36"/>
                  </a:lnTo>
                  <a:lnTo>
                    <a:pt x="0" y="31"/>
                  </a:lnTo>
                  <a:lnTo>
                    <a:pt x="0" y="0"/>
                  </a:lnTo>
                  <a:lnTo>
                    <a:pt x="12" y="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15" name="Freeform 114"/>
            <p:cNvSpPr>
              <a:spLocks/>
            </p:cNvSpPr>
            <p:nvPr/>
          </p:nvSpPr>
          <p:spPr bwMode="auto">
            <a:xfrm>
              <a:off x="2667" y="3016"/>
              <a:ext cx="35" cy="49"/>
            </a:xfrm>
            <a:custGeom>
              <a:avLst/>
              <a:gdLst>
                <a:gd name="T0" fmla="*/ 35 w 35"/>
                <a:gd name="T1" fmla="*/ 19 h 49"/>
                <a:gd name="T2" fmla="*/ 35 w 35"/>
                <a:gd name="T3" fmla="*/ 49 h 49"/>
                <a:gd name="T4" fmla="*/ 0 w 35"/>
                <a:gd name="T5" fmla="*/ 30 h 49"/>
                <a:gd name="T6" fmla="*/ 0 w 35"/>
                <a:gd name="T7" fmla="*/ 0 h 49"/>
                <a:gd name="T8" fmla="*/ 35 w 35"/>
                <a:gd name="T9" fmla="*/ 19 h 49"/>
              </a:gdLst>
              <a:ahLst/>
              <a:cxnLst>
                <a:cxn ang="0">
                  <a:pos x="T0" y="T1"/>
                </a:cxn>
                <a:cxn ang="0">
                  <a:pos x="T2" y="T3"/>
                </a:cxn>
                <a:cxn ang="0">
                  <a:pos x="T4" y="T5"/>
                </a:cxn>
                <a:cxn ang="0">
                  <a:pos x="T6" y="T7"/>
                </a:cxn>
                <a:cxn ang="0">
                  <a:pos x="T8" y="T9"/>
                </a:cxn>
              </a:cxnLst>
              <a:rect l="0" t="0" r="r" b="b"/>
              <a:pathLst>
                <a:path w="35" h="49">
                  <a:moveTo>
                    <a:pt x="35" y="19"/>
                  </a:moveTo>
                  <a:lnTo>
                    <a:pt x="35" y="49"/>
                  </a:lnTo>
                  <a:lnTo>
                    <a:pt x="0" y="30"/>
                  </a:lnTo>
                  <a:lnTo>
                    <a:pt x="0" y="0"/>
                  </a:lnTo>
                  <a:lnTo>
                    <a:pt x="35" y="19"/>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16" name="Freeform 115"/>
            <p:cNvSpPr>
              <a:spLocks/>
            </p:cNvSpPr>
            <p:nvPr/>
          </p:nvSpPr>
          <p:spPr bwMode="auto">
            <a:xfrm>
              <a:off x="2631" y="2997"/>
              <a:ext cx="35" cy="46"/>
            </a:xfrm>
            <a:custGeom>
              <a:avLst/>
              <a:gdLst>
                <a:gd name="T0" fmla="*/ 35 w 35"/>
                <a:gd name="T1" fmla="*/ 18 h 46"/>
                <a:gd name="T2" fmla="*/ 35 w 35"/>
                <a:gd name="T3" fmla="*/ 46 h 46"/>
                <a:gd name="T4" fmla="*/ 0 w 35"/>
                <a:gd name="T5" fmla="*/ 28 h 46"/>
                <a:gd name="T6" fmla="*/ 0 w 35"/>
                <a:gd name="T7" fmla="*/ 0 h 46"/>
                <a:gd name="T8" fmla="*/ 35 w 35"/>
                <a:gd name="T9" fmla="*/ 18 h 46"/>
              </a:gdLst>
              <a:ahLst/>
              <a:cxnLst>
                <a:cxn ang="0">
                  <a:pos x="T0" y="T1"/>
                </a:cxn>
                <a:cxn ang="0">
                  <a:pos x="T2" y="T3"/>
                </a:cxn>
                <a:cxn ang="0">
                  <a:pos x="T4" y="T5"/>
                </a:cxn>
                <a:cxn ang="0">
                  <a:pos x="T6" y="T7"/>
                </a:cxn>
                <a:cxn ang="0">
                  <a:pos x="T8" y="T9"/>
                </a:cxn>
              </a:cxnLst>
              <a:rect l="0" t="0" r="r" b="b"/>
              <a:pathLst>
                <a:path w="35" h="46">
                  <a:moveTo>
                    <a:pt x="35" y="18"/>
                  </a:moveTo>
                  <a:lnTo>
                    <a:pt x="35" y="46"/>
                  </a:lnTo>
                  <a:lnTo>
                    <a:pt x="0" y="28"/>
                  </a:lnTo>
                  <a:lnTo>
                    <a:pt x="0" y="0"/>
                  </a:lnTo>
                  <a:lnTo>
                    <a:pt x="35" y="1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17" name="Freeform 116"/>
            <p:cNvSpPr>
              <a:spLocks/>
            </p:cNvSpPr>
            <p:nvPr/>
          </p:nvSpPr>
          <p:spPr bwMode="auto">
            <a:xfrm>
              <a:off x="2594" y="2977"/>
              <a:ext cx="34" cy="46"/>
            </a:xfrm>
            <a:custGeom>
              <a:avLst/>
              <a:gdLst>
                <a:gd name="T0" fmla="*/ 34 w 34"/>
                <a:gd name="T1" fmla="*/ 18 h 46"/>
                <a:gd name="T2" fmla="*/ 34 w 34"/>
                <a:gd name="T3" fmla="*/ 46 h 46"/>
                <a:gd name="T4" fmla="*/ 0 w 34"/>
                <a:gd name="T5" fmla="*/ 28 h 46"/>
                <a:gd name="T6" fmla="*/ 0 w 34"/>
                <a:gd name="T7" fmla="*/ 0 h 46"/>
                <a:gd name="T8" fmla="*/ 34 w 34"/>
                <a:gd name="T9" fmla="*/ 18 h 46"/>
              </a:gdLst>
              <a:ahLst/>
              <a:cxnLst>
                <a:cxn ang="0">
                  <a:pos x="T0" y="T1"/>
                </a:cxn>
                <a:cxn ang="0">
                  <a:pos x="T2" y="T3"/>
                </a:cxn>
                <a:cxn ang="0">
                  <a:pos x="T4" y="T5"/>
                </a:cxn>
                <a:cxn ang="0">
                  <a:pos x="T6" y="T7"/>
                </a:cxn>
                <a:cxn ang="0">
                  <a:pos x="T8" y="T9"/>
                </a:cxn>
              </a:cxnLst>
              <a:rect l="0" t="0" r="r" b="b"/>
              <a:pathLst>
                <a:path w="34" h="46">
                  <a:moveTo>
                    <a:pt x="34" y="18"/>
                  </a:moveTo>
                  <a:lnTo>
                    <a:pt x="34" y="46"/>
                  </a:lnTo>
                  <a:lnTo>
                    <a:pt x="0" y="28"/>
                  </a:lnTo>
                  <a:lnTo>
                    <a:pt x="0" y="0"/>
                  </a:lnTo>
                  <a:lnTo>
                    <a:pt x="34" y="1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18" name="Freeform 117"/>
            <p:cNvSpPr>
              <a:spLocks/>
            </p:cNvSpPr>
            <p:nvPr/>
          </p:nvSpPr>
          <p:spPr bwMode="auto">
            <a:xfrm>
              <a:off x="2575" y="2966"/>
              <a:ext cx="17" cy="36"/>
            </a:xfrm>
            <a:custGeom>
              <a:avLst/>
              <a:gdLst>
                <a:gd name="T0" fmla="*/ 17 w 17"/>
                <a:gd name="T1" fmla="*/ 10 h 36"/>
                <a:gd name="T2" fmla="*/ 17 w 17"/>
                <a:gd name="T3" fmla="*/ 36 h 36"/>
                <a:gd name="T4" fmla="*/ 0 w 17"/>
                <a:gd name="T5" fmla="*/ 28 h 36"/>
                <a:gd name="T6" fmla="*/ 0 w 17"/>
                <a:gd name="T7" fmla="*/ 0 h 36"/>
                <a:gd name="T8" fmla="*/ 17 w 17"/>
                <a:gd name="T9" fmla="*/ 10 h 36"/>
              </a:gdLst>
              <a:ahLst/>
              <a:cxnLst>
                <a:cxn ang="0">
                  <a:pos x="T0" y="T1"/>
                </a:cxn>
                <a:cxn ang="0">
                  <a:pos x="T2" y="T3"/>
                </a:cxn>
                <a:cxn ang="0">
                  <a:pos x="T4" y="T5"/>
                </a:cxn>
                <a:cxn ang="0">
                  <a:pos x="T6" y="T7"/>
                </a:cxn>
                <a:cxn ang="0">
                  <a:pos x="T8" y="T9"/>
                </a:cxn>
              </a:cxnLst>
              <a:rect l="0" t="0" r="r" b="b"/>
              <a:pathLst>
                <a:path w="17" h="36">
                  <a:moveTo>
                    <a:pt x="17" y="10"/>
                  </a:moveTo>
                  <a:lnTo>
                    <a:pt x="17" y="36"/>
                  </a:lnTo>
                  <a:lnTo>
                    <a:pt x="0" y="28"/>
                  </a:lnTo>
                  <a:lnTo>
                    <a:pt x="0" y="0"/>
                  </a:lnTo>
                  <a:lnTo>
                    <a:pt x="17" y="10"/>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19" name="Freeform 118"/>
            <p:cNvSpPr>
              <a:spLocks/>
            </p:cNvSpPr>
            <p:nvPr/>
          </p:nvSpPr>
          <p:spPr bwMode="auto">
            <a:xfrm>
              <a:off x="2667" y="3087"/>
              <a:ext cx="35" cy="52"/>
            </a:xfrm>
            <a:custGeom>
              <a:avLst/>
              <a:gdLst>
                <a:gd name="T0" fmla="*/ 35 w 35"/>
                <a:gd name="T1" fmla="*/ 22 h 52"/>
                <a:gd name="T2" fmla="*/ 35 w 35"/>
                <a:gd name="T3" fmla="*/ 52 h 52"/>
                <a:gd name="T4" fmla="*/ 0 w 35"/>
                <a:gd name="T5" fmla="*/ 29 h 52"/>
                <a:gd name="T6" fmla="*/ 0 w 35"/>
                <a:gd name="T7" fmla="*/ 0 h 52"/>
                <a:gd name="T8" fmla="*/ 35 w 35"/>
                <a:gd name="T9" fmla="*/ 22 h 52"/>
              </a:gdLst>
              <a:ahLst/>
              <a:cxnLst>
                <a:cxn ang="0">
                  <a:pos x="T0" y="T1"/>
                </a:cxn>
                <a:cxn ang="0">
                  <a:pos x="T2" y="T3"/>
                </a:cxn>
                <a:cxn ang="0">
                  <a:pos x="T4" y="T5"/>
                </a:cxn>
                <a:cxn ang="0">
                  <a:pos x="T6" y="T7"/>
                </a:cxn>
                <a:cxn ang="0">
                  <a:pos x="T8" y="T9"/>
                </a:cxn>
              </a:cxnLst>
              <a:rect l="0" t="0" r="r" b="b"/>
              <a:pathLst>
                <a:path w="35" h="52">
                  <a:moveTo>
                    <a:pt x="35" y="22"/>
                  </a:moveTo>
                  <a:lnTo>
                    <a:pt x="35" y="52"/>
                  </a:lnTo>
                  <a:lnTo>
                    <a:pt x="0" y="29"/>
                  </a:lnTo>
                  <a:lnTo>
                    <a:pt x="0" y="0"/>
                  </a:lnTo>
                  <a:lnTo>
                    <a:pt x="35" y="2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20" name="Freeform 119"/>
            <p:cNvSpPr>
              <a:spLocks/>
            </p:cNvSpPr>
            <p:nvPr/>
          </p:nvSpPr>
          <p:spPr bwMode="auto">
            <a:xfrm>
              <a:off x="2631" y="3064"/>
              <a:ext cx="35" cy="52"/>
            </a:xfrm>
            <a:custGeom>
              <a:avLst/>
              <a:gdLst>
                <a:gd name="T0" fmla="*/ 35 w 35"/>
                <a:gd name="T1" fmla="*/ 23 h 52"/>
                <a:gd name="T2" fmla="*/ 35 w 35"/>
                <a:gd name="T3" fmla="*/ 52 h 52"/>
                <a:gd name="T4" fmla="*/ 0 w 35"/>
                <a:gd name="T5" fmla="*/ 30 h 52"/>
                <a:gd name="T6" fmla="*/ 0 w 35"/>
                <a:gd name="T7" fmla="*/ 0 h 52"/>
                <a:gd name="T8" fmla="*/ 35 w 35"/>
                <a:gd name="T9" fmla="*/ 23 h 52"/>
              </a:gdLst>
              <a:ahLst/>
              <a:cxnLst>
                <a:cxn ang="0">
                  <a:pos x="T0" y="T1"/>
                </a:cxn>
                <a:cxn ang="0">
                  <a:pos x="T2" y="T3"/>
                </a:cxn>
                <a:cxn ang="0">
                  <a:pos x="T4" y="T5"/>
                </a:cxn>
                <a:cxn ang="0">
                  <a:pos x="T6" y="T7"/>
                </a:cxn>
                <a:cxn ang="0">
                  <a:pos x="T8" y="T9"/>
                </a:cxn>
              </a:cxnLst>
              <a:rect l="0" t="0" r="r" b="b"/>
              <a:pathLst>
                <a:path w="35" h="52">
                  <a:moveTo>
                    <a:pt x="35" y="23"/>
                  </a:moveTo>
                  <a:lnTo>
                    <a:pt x="35" y="52"/>
                  </a:lnTo>
                  <a:lnTo>
                    <a:pt x="0" y="30"/>
                  </a:lnTo>
                  <a:lnTo>
                    <a:pt x="0" y="0"/>
                  </a:lnTo>
                  <a:lnTo>
                    <a:pt x="35" y="23"/>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21" name="Freeform 120"/>
            <p:cNvSpPr>
              <a:spLocks/>
            </p:cNvSpPr>
            <p:nvPr/>
          </p:nvSpPr>
          <p:spPr bwMode="auto">
            <a:xfrm>
              <a:off x="2594" y="3042"/>
              <a:ext cx="34" cy="49"/>
            </a:xfrm>
            <a:custGeom>
              <a:avLst/>
              <a:gdLst>
                <a:gd name="T0" fmla="*/ 34 w 34"/>
                <a:gd name="T1" fmla="*/ 21 h 49"/>
                <a:gd name="T2" fmla="*/ 34 w 34"/>
                <a:gd name="T3" fmla="*/ 49 h 49"/>
                <a:gd name="T4" fmla="*/ 0 w 34"/>
                <a:gd name="T5" fmla="*/ 27 h 49"/>
                <a:gd name="T6" fmla="*/ 0 w 34"/>
                <a:gd name="T7" fmla="*/ 0 h 49"/>
                <a:gd name="T8" fmla="*/ 34 w 34"/>
                <a:gd name="T9" fmla="*/ 21 h 49"/>
              </a:gdLst>
              <a:ahLst/>
              <a:cxnLst>
                <a:cxn ang="0">
                  <a:pos x="T0" y="T1"/>
                </a:cxn>
                <a:cxn ang="0">
                  <a:pos x="T2" y="T3"/>
                </a:cxn>
                <a:cxn ang="0">
                  <a:pos x="T4" y="T5"/>
                </a:cxn>
                <a:cxn ang="0">
                  <a:pos x="T6" y="T7"/>
                </a:cxn>
                <a:cxn ang="0">
                  <a:pos x="T8" y="T9"/>
                </a:cxn>
              </a:cxnLst>
              <a:rect l="0" t="0" r="r" b="b"/>
              <a:pathLst>
                <a:path w="34" h="49">
                  <a:moveTo>
                    <a:pt x="34" y="21"/>
                  </a:moveTo>
                  <a:lnTo>
                    <a:pt x="34" y="49"/>
                  </a:lnTo>
                  <a:lnTo>
                    <a:pt x="0" y="27"/>
                  </a:lnTo>
                  <a:lnTo>
                    <a:pt x="0" y="0"/>
                  </a:lnTo>
                  <a:lnTo>
                    <a:pt x="34" y="21"/>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22" name="Freeform 121"/>
            <p:cNvSpPr>
              <a:spLocks/>
            </p:cNvSpPr>
            <p:nvPr/>
          </p:nvSpPr>
          <p:spPr bwMode="auto">
            <a:xfrm>
              <a:off x="2575" y="3030"/>
              <a:ext cx="17" cy="39"/>
            </a:xfrm>
            <a:custGeom>
              <a:avLst/>
              <a:gdLst>
                <a:gd name="T0" fmla="*/ 17 w 17"/>
                <a:gd name="T1" fmla="*/ 11 h 39"/>
                <a:gd name="T2" fmla="*/ 17 w 17"/>
                <a:gd name="T3" fmla="*/ 39 h 39"/>
                <a:gd name="T4" fmla="*/ 0 w 17"/>
                <a:gd name="T5" fmla="*/ 27 h 39"/>
                <a:gd name="T6" fmla="*/ 0 w 17"/>
                <a:gd name="T7" fmla="*/ 0 h 39"/>
                <a:gd name="T8" fmla="*/ 17 w 17"/>
                <a:gd name="T9" fmla="*/ 11 h 39"/>
              </a:gdLst>
              <a:ahLst/>
              <a:cxnLst>
                <a:cxn ang="0">
                  <a:pos x="T0" y="T1"/>
                </a:cxn>
                <a:cxn ang="0">
                  <a:pos x="T2" y="T3"/>
                </a:cxn>
                <a:cxn ang="0">
                  <a:pos x="T4" y="T5"/>
                </a:cxn>
                <a:cxn ang="0">
                  <a:pos x="T6" y="T7"/>
                </a:cxn>
                <a:cxn ang="0">
                  <a:pos x="T8" y="T9"/>
                </a:cxn>
              </a:cxnLst>
              <a:rect l="0" t="0" r="r" b="b"/>
              <a:pathLst>
                <a:path w="17" h="39">
                  <a:moveTo>
                    <a:pt x="17" y="11"/>
                  </a:moveTo>
                  <a:lnTo>
                    <a:pt x="17" y="39"/>
                  </a:lnTo>
                  <a:lnTo>
                    <a:pt x="0" y="27"/>
                  </a:lnTo>
                  <a:lnTo>
                    <a:pt x="0" y="0"/>
                  </a:lnTo>
                  <a:lnTo>
                    <a:pt x="17" y="1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23" name="Freeform 122"/>
            <p:cNvSpPr>
              <a:spLocks/>
            </p:cNvSpPr>
            <p:nvPr/>
          </p:nvSpPr>
          <p:spPr bwMode="auto">
            <a:xfrm>
              <a:off x="2704" y="3185"/>
              <a:ext cx="12" cy="38"/>
            </a:xfrm>
            <a:custGeom>
              <a:avLst/>
              <a:gdLst>
                <a:gd name="T0" fmla="*/ 12 w 12"/>
                <a:gd name="T1" fmla="*/ 8 h 38"/>
                <a:gd name="T2" fmla="*/ 12 w 12"/>
                <a:gd name="T3" fmla="*/ 38 h 38"/>
                <a:gd name="T4" fmla="*/ 0 w 12"/>
                <a:gd name="T5" fmla="*/ 30 h 38"/>
                <a:gd name="T6" fmla="*/ 0 w 12"/>
                <a:gd name="T7" fmla="*/ 0 h 38"/>
                <a:gd name="T8" fmla="*/ 12 w 12"/>
                <a:gd name="T9" fmla="*/ 8 h 38"/>
              </a:gdLst>
              <a:ahLst/>
              <a:cxnLst>
                <a:cxn ang="0">
                  <a:pos x="T0" y="T1"/>
                </a:cxn>
                <a:cxn ang="0">
                  <a:pos x="T2" y="T3"/>
                </a:cxn>
                <a:cxn ang="0">
                  <a:pos x="T4" y="T5"/>
                </a:cxn>
                <a:cxn ang="0">
                  <a:pos x="T6" y="T7"/>
                </a:cxn>
                <a:cxn ang="0">
                  <a:pos x="T8" y="T9"/>
                </a:cxn>
              </a:cxnLst>
              <a:rect l="0" t="0" r="r" b="b"/>
              <a:pathLst>
                <a:path w="12" h="38">
                  <a:moveTo>
                    <a:pt x="12" y="8"/>
                  </a:moveTo>
                  <a:lnTo>
                    <a:pt x="12" y="38"/>
                  </a:lnTo>
                  <a:lnTo>
                    <a:pt x="0" y="30"/>
                  </a:lnTo>
                  <a:lnTo>
                    <a:pt x="0" y="0"/>
                  </a:lnTo>
                  <a:lnTo>
                    <a:pt x="12" y="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24" name="Freeform 123"/>
            <p:cNvSpPr>
              <a:spLocks/>
            </p:cNvSpPr>
            <p:nvPr/>
          </p:nvSpPr>
          <p:spPr bwMode="auto">
            <a:xfrm>
              <a:off x="2667" y="3158"/>
              <a:ext cx="35" cy="55"/>
            </a:xfrm>
            <a:custGeom>
              <a:avLst/>
              <a:gdLst>
                <a:gd name="T0" fmla="*/ 35 w 35"/>
                <a:gd name="T1" fmla="*/ 24 h 55"/>
                <a:gd name="T2" fmla="*/ 35 w 35"/>
                <a:gd name="T3" fmla="*/ 55 h 55"/>
                <a:gd name="T4" fmla="*/ 0 w 35"/>
                <a:gd name="T5" fmla="*/ 30 h 55"/>
                <a:gd name="T6" fmla="*/ 0 w 35"/>
                <a:gd name="T7" fmla="*/ 0 h 55"/>
                <a:gd name="T8" fmla="*/ 35 w 35"/>
                <a:gd name="T9" fmla="*/ 24 h 55"/>
              </a:gdLst>
              <a:ahLst/>
              <a:cxnLst>
                <a:cxn ang="0">
                  <a:pos x="T0" y="T1"/>
                </a:cxn>
                <a:cxn ang="0">
                  <a:pos x="T2" y="T3"/>
                </a:cxn>
                <a:cxn ang="0">
                  <a:pos x="T4" y="T5"/>
                </a:cxn>
                <a:cxn ang="0">
                  <a:pos x="T6" y="T7"/>
                </a:cxn>
                <a:cxn ang="0">
                  <a:pos x="T8" y="T9"/>
                </a:cxn>
              </a:cxnLst>
              <a:rect l="0" t="0" r="r" b="b"/>
              <a:pathLst>
                <a:path w="35" h="55">
                  <a:moveTo>
                    <a:pt x="35" y="24"/>
                  </a:moveTo>
                  <a:lnTo>
                    <a:pt x="35" y="55"/>
                  </a:lnTo>
                  <a:lnTo>
                    <a:pt x="0" y="30"/>
                  </a:lnTo>
                  <a:lnTo>
                    <a:pt x="0" y="0"/>
                  </a:lnTo>
                  <a:lnTo>
                    <a:pt x="35" y="24"/>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25" name="Freeform 124"/>
            <p:cNvSpPr>
              <a:spLocks/>
            </p:cNvSpPr>
            <p:nvPr/>
          </p:nvSpPr>
          <p:spPr bwMode="auto">
            <a:xfrm>
              <a:off x="2631" y="3132"/>
              <a:ext cx="35" cy="54"/>
            </a:xfrm>
            <a:custGeom>
              <a:avLst/>
              <a:gdLst>
                <a:gd name="T0" fmla="*/ 35 w 35"/>
                <a:gd name="T1" fmla="*/ 26 h 54"/>
                <a:gd name="T2" fmla="*/ 35 w 35"/>
                <a:gd name="T3" fmla="*/ 54 h 54"/>
                <a:gd name="T4" fmla="*/ 0 w 35"/>
                <a:gd name="T5" fmla="*/ 28 h 54"/>
                <a:gd name="T6" fmla="*/ 0 w 35"/>
                <a:gd name="T7" fmla="*/ 0 h 54"/>
                <a:gd name="T8" fmla="*/ 35 w 35"/>
                <a:gd name="T9" fmla="*/ 26 h 54"/>
              </a:gdLst>
              <a:ahLst/>
              <a:cxnLst>
                <a:cxn ang="0">
                  <a:pos x="T0" y="T1"/>
                </a:cxn>
                <a:cxn ang="0">
                  <a:pos x="T2" y="T3"/>
                </a:cxn>
                <a:cxn ang="0">
                  <a:pos x="T4" y="T5"/>
                </a:cxn>
                <a:cxn ang="0">
                  <a:pos x="T6" y="T7"/>
                </a:cxn>
                <a:cxn ang="0">
                  <a:pos x="T8" y="T9"/>
                </a:cxn>
              </a:cxnLst>
              <a:rect l="0" t="0" r="r" b="b"/>
              <a:pathLst>
                <a:path w="35" h="54">
                  <a:moveTo>
                    <a:pt x="35" y="26"/>
                  </a:moveTo>
                  <a:lnTo>
                    <a:pt x="35" y="54"/>
                  </a:lnTo>
                  <a:lnTo>
                    <a:pt x="0" y="28"/>
                  </a:lnTo>
                  <a:lnTo>
                    <a:pt x="0" y="0"/>
                  </a:lnTo>
                  <a:lnTo>
                    <a:pt x="35" y="26"/>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26" name="Freeform 125"/>
            <p:cNvSpPr>
              <a:spLocks/>
            </p:cNvSpPr>
            <p:nvPr/>
          </p:nvSpPr>
          <p:spPr bwMode="auto">
            <a:xfrm>
              <a:off x="2594" y="3108"/>
              <a:ext cx="34" cy="52"/>
            </a:xfrm>
            <a:custGeom>
              <a:avLst/>
              <a:gdLst>
                <a:gd name="T0" fmla="*/ 34 w 34"/>
                <a:gd name="T1" fmla="*/ 24 h 52"/>
                <a:gd name="T2" fmla="*/ 34 w 34"/>
                <a:gd name="T3" fmla="*/ 52 h 52"/>
                <a:gd name="T4" fmla="*/ 0 w 34"/>
                <a:gd name="T5" fmla="*/ 28 h 52"/>
                <a:gd name="T6" fmla="*/ 0 w 34"/>
                <a:gd name="T7" fmla="*/ 0 h 52"/>
                <a:gd name="T8" fmla="*/ 34 w 34"/>
                <a:gd name="T9" fmla="*/ 24 h 52"/>
              </a:gdLst>
              <a:ahLst/>
              <a:cxnLst>
                <a:cxn ang="0">
                  <a:pos x="T0" y="T1"/>
                </a:cxn>
                <a:cxn ang="0">
                  <a:pos x="T2" y="T3"/>
                </a:cxn>
                <a:cxn ang="0">
                  <a:pos x="T4" y="T5"/>
                </a:cxn>
                <a:cxn ang="0">
                  <a:pos x="T6" y="T7"/>
                </a:cxn>
                <a:cxn ang="0">
                  <a:pos x="T8" y="T9"/>
                </a:cxn>
              </a:cxnLst>
              <a:rect l="0" t="0" r="r" b="b"/>
              <a:pathLst>
                <a:path w="34" h="52">
                  <a:moveTo>
                    <a:pt x="34" y="24"/>
                  </a:moveTo>
                  <a:lnTo>
                    <a:pt x="34" y="52"/>
                  </a:lnTo>
                  <a:lnTo>
                    <a:pt x="0" y="28"/>
                  </a:lnTo>
                  <a:lnTo>
                    <a:pt x="0" y="0"/>
                  </a:lnTo>
                  <a:lnTo>
                    <a:pt x="34" y="24"/>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27" name="Freeform 126"/>
            <p:cNvSpPr>
              <a:spLocks/>
            </p:cNvSpPr>
            <p:nvPr/>
          </p:nvSpPr>
          <p:spPr bwMode="auto">
            <a:xfrm>
              <a:off x="2575" y="3095"/>
              <a:ext cx="17" cy="38"/>
            </a:xfrm>
            <a:custGeom>
              <a:avLst/>
              <a:gdLst>
                <a:gd name="T0" fmla="*/ 17 w 17"/>
                <a:gd name="T1" fmla="*/ 10 h 38"/>
                <a:gd name="T2" fmla="*/ 17 w 17"/>
                <a:gd name="T3" fmla="*/ 38 h 38"/>
                <a:gd name="T4" fmla="*/ 0 w 17"/>
                <a:gd name="T5" fmla="*/ 27 h 38"/>
                <a:gd name="T6" fmla="*/ 0 w 17"/>
                <a:gd name="T7" fmla="*/ 0 h 38"/>
                <a:gd name="T8" fmla="*/ 17 w 17"/>
                <a:gd name="T9" fmla="*/ 10 h 38"/>
              </a:gdLst>
              <a:ahLst/>
              <a:cxnLst>
                <a:cxn ang="0">
                  <a:pos x="T0" y="T1"/>
                </a:cxn>
                <a:cxn ang="0">
                  <a:pos x="T2" y="T3"/>
                </a:cxn>
                <a:cxn ang="0">
                  <a:pos x="T4" y="T5"/>
                </a:cxn>
                <a:cxn ang="0">
                  <a:pos x="T6" y="T7"/>
                </a:cxn>
                <a:cxn ang="0">
                  <a:pos x="T8" y="T9"/>
                </a:cxn>
              </a:cxnLst>
              <a:rect l="0" t="0" r="r" b="b"/>
              <a:pathLst>
                <a:path w="17" h="38">
                  <a:moveTo>
                    <a:pt x="17" y="10"/>
                  </a:moveTo>
                  <a:lnTo>
                    <a:pt x="17" y="38"/>
                  </a:lnTo>
                  <a:lnTo>
                    <a:pt x="0" y="27"/>
                  </a:lnTo>
                  <a:lnTo>
                    <a:pt x="0" y="0"/>
                  </a:lnTo>
                  <a:lnTo>
                    <a:pt x="17" y="1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28" name="Freeform 127"/>
            <p:cNvSpPr>
              <a:spLocks/>
            </p:cNvSpPr>
            <p:nvPr/>
          </p:nvSpPr>
          <p:spPr bwMode="auto">
            <a:xfrm>
              <a:off x="2704" y="3257"/>
              <a:ext cx="11" cy="40"/>
            </a:xfrm>
            <a:custGeom>
              <a:avLst/>
              <a:gdLst>
                <a:gd name="T0" fmla="*/ 11 w 11"/>
                <a:gd name="T1" fmla="*/ 9 h 40"/>
                <a:gd name="T2" fmla="*/ 11 w 11"/>
                <a:gd name="T3" fmla="*/ 40 h 40"/>
                <a:gd name="T4" fmla="*/ 0 w 11"/>
                <a:gd name="T5" fmla="*/ 32 h 40"/>
                <a:gd name="T6" fmla="*/ 0 w 11"/>
                <a:gd name="T7" fmla="*/ 0 h 40"/>
                <a:gd name="T8" fmla="*/ 11 w 11"/>
                <a:gd name="T9" fmla="*/ 9 h 40"/>
              </a:gdLst>
              <a:ahLst/>
              <a:cxnLst>
                <a:cxn ang="0">
                  <a:pos x="T0" y="T1"/>
                </a:cxn>
                <a:cxn ang="0">
                  <a:pos x="T2" y="T3"/>
                </a:cxn>
                <a:cxn ang="0">
                  <a:pos x="T4" y="T5"/>
                </a:cxn>
                <a:cxn ang="0">
                  <a:pos x="T6" y="T7"/>
                </a:cxn>
                <a:cxn ang="0">
                  <a:pos x="T8" y="T9"/>
                </a:cxn>
              </a:cxnLst>
              <a:rect l="0" t="0" r="r" b="b"/>
              <a:pathLst>
                <a:path w="11" h="40">
                  <a:moveTo>
                    <a:pt x="11" y="9"/>
                  </a:moveTo>
                  <a:lnTo>
                    <a:pt x="11" y="40"/>
                  </a:lnTo>
                  <a:lnTo>
                    <a:pt x="0" y="32"/>
                  </a:lnTo>
                  <a:lnTo>
                    <a:pt x="0" y="0"/>
                  </a:lnTo>
                  <a:lnTo>
                    <a:pt x="11" y="9"/>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29" name="Freeform 128"/>
            <p:cNvSpPr>
              <a:spLocks/>
            </p:cNvSpPr>
            <p:nvPr/>
          </p:nvSpPr>
          <p:spPr bwMode="auto">
            <a:xfrm>
              <a:off x="2667" y="3229"/>
              <a:ext cx="35" cy="57"/>
            </a:xfrm>
            <a:custGeom>
              <a:avLst/>
              <a:gdLst>
                <a:gd name="T0" fmla="*/ 35 w 35"/>
                <a:gd name="T1" fmla="*/ 27 h 57"/>
                <a:gd name="T2" fmla="*/ 35 w 35"/>
                <a:gd name="T3" fmla="*/ 57 h 57"/>
                <a:gd name="T4" fmla="*/ 0 w 35"/>
                <a:gd name="T5" fmla="*/ 29 h 57"/>
                <a:gd name="T6" fmla="*/ 0 w 35"/>
                <a:gd name="T7" fmla="*/ 0 h 57"/>
                <a:gd name="T8" fmla="*/ 35 w 35"/>
                <a:gd name="T9" fmla="*/ 27 h 57"/>
              </a:gdLst>
              <a:ahLst/>
              <a:cxnLst>
                <a:cxn ang="0">
                  <a:pos x="T0" y="T1"/>
                </a:cxn>
                <a:cxn ang="0">
                  <a:pos x="T2" y="T3"/>
                </a:cxn>
                <a:cxn ang="0">
                  <a:pos x="T4" y="T5"/>
                </a:cxn>
                <a:cxn ang="0">
                  <a:pos x="T6" y="T7"/>
                </a:cxn>
                <a:cxn ang="0">
                  <a:pos x="T8" y="T9"/>
                </a:cxn>
              </a:cxnLst>
              <a:rect l="0" t="0" r="r" b="b"/>
              <a:pathLst>
                <a:path w="35" h="57">
                  <a:moveTo>
                    <a:pt x="35" y="27"/>
                  </a:moveTo>
                  <a:lnTo>
                    <a:pt x="35" y="57"/>
                  </a:lnTo>
                  <a:lnTo>
                    <a:pt x="0" y="29"/>
                  </a:lnTo>
                  <a:lnTo>
                    <a:pt x="0" y="0"/>
                  </a:lnTo>
                  <a:lnTo>
                    <a:pt x="35" y="27"/>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30" name="Freeform 129"/>
            <p:cNvSpPr>
              <a:spLocks/>
            </p:cNvSpPr>
            <p:nvPr/>
          </p:nvSpPr>
          <p:spPr bwMode="auto">
            <a:xfrm>
              <a:off x="2631" y="3201"/>
              <a:ext cx="35" cy="56"/>
            </a:xfrm>
            <a:custGeom>
              <a:avLst/>
              <a:gdLst>
                <a:gd name="T0" fmla="*/ 35 w 35"/>
                <a:gd name="T1" fmla="*/ 28 h 56"/>
                <a:gd name="T2" fmla="*/ 35 w 35"/>
                <a:gd name="T3" fmla="*/ 56 h 56"/>
                <a:gd name="T4" fmla="*/ 0 w 35"/>
                <a:gd name="T5" fmla="*/ 28 h 56"/>
                <a:gd name="T6" fmla="*/ 0 w 35"/>
                <a:gd name="T7" fmla="*/ 0 h 56"/>
                <a:gd name="T8" fmla="*/ 35 w 35"/>
                <a:gd name="T9" fmla="*/ 28 h 56"/>
              </a:gdLst>
              <a:ahLst/>
              <a:cxnLst>
                <a:cxn ang="0">
                  <a:pos x="T0" y="T1"/>
                </a:cxn>
                <a:cxn ang="0">
                  <a:pos x="T2" y="T3"/>
                </a:cxn>
                <a:cxn ang="0">
                  <a:pos x="T4" y="T5"/>
                </a:cxn>
                <a:cxn ang="0">
                  <a:pos x="T6" y="T7"/>
                </a:cxn>
                <a:cxn ang="0">
                  <a:pos x="T8" y="T9"/>
                </a:cxn>
              </a:cxnLst>
              <a:rect l="0" t="0" r="r" b="b"/>
              <a:pathLst>
                <a:path w="35" h="56">
                  <a:moveTo>
                    <a:pt x="35" y="28"/>
                  </a:moveTo>
                  <a:lnTo>
                    <a:pt x="35" y="56"/>
                  </a:lnTo>
                  <a:lnTo>
                    <a:pt x="0" y="28"/>
                  </a:lnTo>
                  <a:lnTo>
                    <a:pt x="0" y="0"/>
                  </a:lnTo>
                  <a:lnTo>
                    <a:pt x="35" y="2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31" name="Freeform 130"/>
            <p:cNvSpPr>
              <a:spLocks/>
            </p:cNvSpPr>
            <p:nvPr/>
          </p:nvSpPr>
          <p:spPr bwMode="auto">
            <a:xfrm>
              <a:off x="2594" y="3172"/>
              <a:ext cx="34" cy="56"/>
            </a:xfrm>
            <a:custGeom>
              <a:avLst/>
              <a:gdLst>
                <a:gd name="T0" fmla="*/ 34 w 34"/>
                <a:gd name="T1" fmla="*/ 28 h 56"/>
                <a:gd name="T2" fmla="*/ 34 w 34"/>
                <a:gd name="T3" fmla="*/ 56 h 56"/>
                <a:gd name="T4" fmla="*/ 0 w 34"/>
                <a:gd name="T5" fmla="*/ 28 h 56"/>
                <a:gd name="T6" fmla="*/ 0 w 34"/>
                <a:gd name="T7" fmla="*/ 0 h 56"/>
                <a:gd name="T8" fmla="*/ 34 w 34"/>
                <a:gd name="T9" fmla="*/ 28 h 56"/>
              </a:gdLst>
              <a:ahLst/>
              <a:cxnLst>
                <a:cxn ang="0">
                  <a:pos x="T0" y="T1"/>
                </a:cxn>
                <a:cxn ang="0">
                  <a:pos x="T2" y="T3"/>
                </a:cxn>
                <a:cxn ang="0">
                  <a:pos x="T4" y="T5"/>
                </a:cxn>
                <a:cxn ang="0">
                  <a:pos x="T6" y="T7"/>
                </a:cxn>
                <a:cxn ang="0">
                  <a:pos x="T8" y="T9"/>
                </a:cxn>
              </a:cxnLst>
              <a:rect l="0" t="0" r="r" b="b"/>
              <a:pathLst>
                <a:path w="34" h="56">
                  <a:moveTo>
                    <a:pt x="34" y="28"/>
                  </a:moveTo>
                  <a:lnTo>
                    <a:pt x="34" y="56"/>
                  </a:lnTo>
                  <a:lnTo>
                    <a:pt x="0" y="28"/>
                  </a:lnTo>
                  <a:lnTo>
                    <a:pt x="0" y="0"/>
                  </a:lnTo>
                  <a:lnTo>
                    <a:pt x="34" y="2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32" name="Freeform 131"/>
            <p:cNvSpPr>
              <a:spLocks/>
            </p:cNvSpPr>
            <p:nvPr/>
          </p:nvSpPr>
          <p:spPr bwMode="auto">
            <a:xfrm>
              <a:off x="2575" y="3158"/>
              <a:ext cx="17" cy="41"/>
            </a:xfrm>
            <a:custGeom>
              <a:avLst/>
              <a:gdLst>
                <a:gd name="T0" fmla="*/ 17 w 17"/>
                <a:gd name="T1" fmla="*/ 13 h 41"/>
                <a:gd name="T2" fmla="*/ 17 w 17"/>
                <a:gd name="T3" fmla="*/ 41 h 41"/>
                <a:gd name="T4" fmla="*/ 0 w 17"/>
                <a:gd name="T5" fmla="*/ 25 h 41"/>
                <a:gd name="T6" fmla="*/ 0 w 17"/>
                <a:gd name="T7" fmla="*/ 0 h 41"/>
                <a:gd name="T8" fmla="*/ 17 w 17"/>
                <a:gd name="T9" fmla="*/ 13 h 41"/>
              </a:gdLst>
              <a:ahLst/>
              <a:cxnLst>
                <a:cxn ang="0">
                  <a:pos x="T0" y="T1"/>
                </a:cxn>
                <a:cxn ang="0">
                  <a:pos x="T2" y="T3"/>
                </a:cxn>
                <a:cxn ang="0">
                  <a:pos x="T4" y="T5"/>
                </a:cxn>
                <a:cxn ang="0">
                  <a:pos x="T6" y="T7"/>
                </a:cxn>
                <a:cxn ang="0">
                  <a:pos x="T8" y="T9"/>
                </a:cxn>
              </a:cxnLst>
              <a:rect l="0" t="0" r="r" b="b"/>
              <a:pathLst>
                <a:path w="17" h="41">
                  <a:moveTo>
                    <a:pt x="17" y="13"/>
                  </a:moveTo>
                  <a:lnTo>
                    <a:pt x="17" y="41"/>
                  </a:lnTo>
                  <a:lnTo>
                    <a:pt x="0" y="25"/>
                  </a:lnTo>
                  <a:lnTo>
                    <a:pt x="0" y="0"/>
                  </a:lnTo>
                  <a:lnTo>
                    <a:pt x="17" y="13"/>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33" name="Freeform 132"/>
            <p:cNvSpPr>
              <a:spLocks/>
            </p:cNvSpPr>
            <p:nvPr/>
          </p:nvSpPr>
          <p:spPr bwMode="auto">
            <a:xfrm>
              <a:off x="2704" y="3332"/>
              <a:ext cx="12" cy="41"/>
            </a:xfrm>
            <a:custGeom>
              <a:avLst/>
              <a:gdLst>
                <a:gd name="T0" fmla="*/ 12 w 12"/>
                <a:gd name="T1" fmla="*/ 10 h 41"/>
                <a:gd name="T2" fmla="*/ 12 w 12"/>
                <a:gd name="T3" fmla="*/ 41 h 41"/>
                <a:gd name="T4" fmla="*/ 0 w 12"/>
                <a:gd name="T5" fmla="*/ 30 h 41"/>
                <a:gd name="T6" fmla="*/ 0 w 12"/>
                <a:gd name="T7" fmla="*/ 0 h 41"/>
                <a:gd name="T8" fmla="*/ 12 w 12"/>
                <a:gd name="T9" fmla="*/ 10 h 41"/>
              </a:gdLst>
              <a:ahLst/>
              <a:cxnLst>
                <a:cxn ang="0">
                  <a:pos x="T0" y="T1"/>
                </a:cxn>
                <a:cxn ang="0">
                  <a:pos x="T2" y="T3"/>
                </a:cxn>
                <a:cxn ang="0">
                  <a:pos x="T4" y="T5"/>
                </a:cxn>
                <a:cxn ang="0">
                  <a:pos x="T6" y="T7"/>
                </a:cxn>
                <a:cxn ang="0">
                  <a:pos x="T8" y="T9"/>
                </a:cxn>
              </a:cxnLst>
              <a:rect l="0" t="0" r="r" b="b"/>
              <a:pathLst>
                <a:path w="12" h="41">
                  <a:moveTo>
                    <a:pt x="12" y="10"/>
                  </a:moveTo>
                  <a:lnTo>
                    <a:pt x="12" y="41"/>
                  </a:lnTo>
                  <a:lnTo>
                    <a:pt x="0" y="30"/>
                  </a:lnTo>
                  <a:lnTo>
                    <a:pt x="0" y="0"/>
                  </a:lnTo>
                  <a:lnTo>
                    <a:pt x="12" y="1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34" name="Freeform 133"/>
            <p:cNvSpPr>
              <a:spLocks/>
            </p:cNvSpPr>
            <p:nvPr/>
          </p:nvSpPr>
          <p:spPr bwMode="auto">
            <a:xfrm>
              <a:off x="2667" y="3300"/>
              <a:ext cx="35" cy="59"/>
            </a:xfrm>
            <a:custGeom>
              <a:avLst/>
              <a:gdLst>
                <a:gd name="T0" fmla="*/ 35 w 35"/>
                <a:gd name="T1" fmla="*/ 30 h 59"/>
                <a:gd name="T2" fmla="*/ 35 w 35"/>
                <a:gd name="T3" fmla="*/ 59 h 59"/>
                <a:gd name="T4" fmla="*/ 0 w 35"/>
                <a:gd name="T5" fmla="*/ 30 h 59"/>
                <a:gd name="T6" fmla="*/ 0 w 35"/>
                <a:gd name="T7" fmla="*/ 0 h 59"/>
                <a:gd name="T8" fmla="*/ 35 w 35"/>
                <a:gd name="T9" fmla="*/ 30 h 59"/>
              </a:gdLst>
              <a:ahLst/>
              <a:cxnLst>
                <a:cxn ang="0">
                  <a:pos x="T0" y="T1"/>
                </a:cxn>
                <a:cxn ang="0">
                  <a:pos x="T2" y="T3"/>
                </a:cxn>
                <a:cxn ang="0">
                  <a:pos x="T4" y="T5"/>
                </a:cxn>
                <a:cxn ang="0">
                  <a:pos x="T6" y="T7"/>
                </a:cxn>
                <a:cxn ang="0">
                  <a:pos x="T8" y="T9"/>
                </a:cxn>
              </a:cxnLst>
              <a:rect l="0" t="0" r="r" b="b"/>
              <a:pathLst>
                <a:path w="35" h="59">
                  <a:moveTo>
                    <a:pt x="35" y="30"/>
                  </a:moveTo>
                  <a:lnTo>
                    <a:pt x="35" y="59"/>
                  </a:lnTo>
                  <a:lnTo>
                    <a:pt x="0" y="30"/>
                  </a:lnTo>
                  <a:lnTo>
                    <a:pt x="0" y="0"/>
                  </a:lnTo>
                  <a:lnTo>
                    <a:pt x="35" y="3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35" name="Freeform 134"/>
            <p:cNvSpPr>
              <a:spLocks/>
            </p:cNvSpPr>
            <p:nvPr/>
          </p:nvSpPr>
          <p:spPr bwMode="auto">
            <a:xfrm>
              <a:off x="2631" y="3269"/>
              <a:ext cx="35" cy="59"/>
            </a:xfrm>
            <a:custGeom>
              <a:avLst/>
              <a:gdLst>
                <a:gd name="T0" fmla="*/ 35 w 35"/>
                <a:gd name="T1" fmla="*/ 30 h 59"/>
                <a:gd name="T2" fmla="*/ 35 w 35"/>
                <a:gd name="T3" fmla="*/ 59 h 59"/>
                <a:gd name="T4" fmla="*/ 0 w 35"/>
                <a:gd name="T5" fmla="*/ 28 h 59"/>
                <a:gd name="T6" fmla="*/ 0 w 35"/>
                <a:gd name="T7" fmla="*/ 0 h 59"/>
                <a:gd name="T8" fmla="*/ 35 w 35"/>
                <a:gd name="T9" fmla="*/ 30 h 59"/>
              </a:gdLst>
              <a:ahLst/>
              <a:cxnLst>
                <a:cxn ang="0">
                  <a:pos x="T0" y="T1"/>
                </a:cxn>
                <a:cxn ang="0">
                  <a:pos x="T2" y="T3"/>
                </a:cxn>
                <a:cxn ang="0">
                  <a:pos x="T4" y="T5"/>
                </a:cxn>
                <a:cxn ang="0">
                  <a:pos x="T6" y="T7"/>
                </a:cxn>
                <a:cxn ang="0">
                  <a:pos x="T8" y="T9"/>
                </a:cxn>
              </a:cxnLst>
              <a:rect l="0" t="0" r="r" b="b"/>
              <a:pathLst>
                <a:path w="35" h="59">
                  <a:moveTo>
                    <a:pt x="35" y="30"/>
                  </a:moveTo>
                  <a:lnTo>
                    <a:pt x="35" y="59"/>
                  </a:lnTo>
                  <a:lnTo>
                    <a:pt x="0" y="28"/>
                  </a:lnTo>
                  <a:lnTo>
                    <a:pt x="0" y="0"/>
                  </a:lnTo>
                  <a:lnTo>
                    <a:pt x="35" y="3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36" name="Freeform 135"/>
            <p:cNvSpPr>
              <a:spLocks/>
            </p:cNvSpPr>
            <p:nvPr/>
          </p:nvSpPr>
          <p:spPr bwMode="auto">
            <a:xfrm>
              <a:off x="2594" y="3237"/>
              <a:ext cx="34" cy="59"/>
            </a:xfrm>
            <a:custGeom>
              <a:avLst/>
              <a:gdLst>
                <a:gd name="T0" fmla="*/ 34 w 34"/>
                <a:gd name="T1" fmla="*/ 31 h 59"/>
                <a:gd name="T2" fmla="*/ 34 w 34"/>
                <a:gd name="T3" fmla="*/ 59 h 59"/>
                <a:gd name="T4" fmla="*/ 0 w 34"/>
                <a:gd name="T5" fmla="*/ 28 h 59"/>
                <a:gd name="T6" fmla="*/ 0 w 34"/>
                <a:gd name="T7" fmla="*/ 0 h 59"/>
                <a:gd name="T8" fmla="*/ 34 w 34"/>
                <a:gd name="T9" fmla="*/ 31 h 59"/>
              </a:gdLst>
              <a:ahLst/>
              <a:cxnLst>
                <a:cxn ang="0">
                  <a:pos x="T0" y="T1"/>
                </a:cxn>
                <a:cxn ang="0">
                  <a:pos x="T2" y="T3"/>
                </a:cxn>
                <a:cxn ang="0">
                  <a:pos x="T4" y="T5"/>
                </a:cxn>
                <a:cxn ang="0">
                  <a:pos x="T6" y="T7"/>
                </a:cxn>
                <a:cxn ang="0">
                  <a:pos x="T8" y="T9"/>
                </a:cxn>
              </a:cxnLst>
              <a:rect l="0" t="0" r="r" b="b"/>
              <a:pathLst>
                <a:path w="34" h="59">
                  <a:moveTo>
                    <a:pt x="34" y="31"/>
                  </a:moveTo>
                  <a:lnTo>
                    <a:pt x="34" y="59"/>
                  </a:lnTo>
                  <a:lnTo>
                    <a:pt x="0" y="28"/>
                  </a:lnTo>
                  <a:lnTo>
                    <a:pt x="0" y="0"/>
                  </a:lnTo>
                  <a:lnTo>
                    <a:pt x="34" y="3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37" name="Freeform 136"/>
            <p:cNvSpPr>
              <a:spLocks/>
            </p:cNvSpPr>
            <p:nvPr/>
          </p:nvSpPr>
          <p:spPr bwMode="auto">
            <a:xfrm>
              <a:off x="2575" y="3222"/>
              <a:ext cx="17" cy="42"/>
            </a:xfrm>
            <a:custGeom>
              <a:avLst/>
              <a:gdLst>
                <a:gd name="T0" fmla="*/ 17 w 17"/>
                <a:gd name="T1" fmla="*/ 14 h 42"/>
                <a:gd name="T2" fmla="*/ 17 w 17"/>
                <a:gd name="T3" fmla="*/ 42 h 42"/>
                <a:gd name="T4" fmla="*/ 0 w 17"/>
                <a:gd name="T5" fmla="*/ 27 h 42"/>
                <a:gd name="T6" fmla="*/ 0 w 17"/>
                <a:gd name="T7" fmla="*/ 0 h 42"/>
                <a:gd name="T8" fmla="*/ 17 w 17"/>
                <a:gd name="T9" fmla="*/ 14 h 42"/>
              </a:gdLst>
              <a:ahLst/>
              <a:cxnLst>
                <a:cxn ang="0">
                  <a:pos x="T0" y="T1"/>
                </a:cxn>
                <a:cxn ang="0">
                  <a:pos x="T2" y="T3"/>
                </a:cxn>
                <a:cxn ang="0">
                  <a:pos x="T4" y="T5"/>
                </a:cxn>
                <a:cxn ang="0">
                  <a:pos x="T6" y="T7"/>
                </a:cxn>
                <a:cxn ang="0">
                  <a:pos x="T8" y="T9"/>
                </a:cxn>
              </a:cxnLst>
              <a:rect l="0" t="0" r="r" b="b"/>
              <a:pathLst>
                <a:path w="17" h="42">
                  <a:moveTo>
                    <a:pt x="17" y="14"/>
                  </a:moveTo>
                  <a:lnTo>
                    <a:pt x="17" y="42"/>
                  </a:lnTo>
                  <a:lnTo>
                    <a:pt x="0" y="27"/>
                  </a:lnTo>
                  <a:lnTo>
                    <a:pt x="0" y="0"/>
                  </a:lnTo>
                  <a:lnTo>
                    <a:pt x="17" y="14"/>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38" name="Freeform 137"/>
            <p:cNvSpPr>
              <a:spLocks/>
            </p:cNvSpPr>
            <p:nvPr/>
          </p:nvSpPr>
          <p:spPr bwMode="auto">
            <a:xfrm>
              <a:off x="2704" y="3408"/>
              <a:ext cx="11" cy="38"/>
            </a:xfrm>
            <a:custGeom>
              <a:avLst/>
              <a:gdLst>
                <a:gd name="T0" fmla="*/ 11 w 11"/>
                <a:gd name="T1" fmla="*/ 8 h 38"/>
                <a:gd name="T2" fmla="*/ 11 w 11"/>
                <a:gd name="T3" fmla="*/ 38 h 38"/>
                <a:gd name="T4" fmla="*/ 0 w 11"/>
                <a:gd name="T5" fmla="*/ 27 h 38"/>
                <a:gd name="T6" fmla="*/ 0 w 11"/>
                <a:gd name="T7" fmla="*/ 0 h 38"/>
                <a:gd name="T8" fmla="*/ 11 w 11"/>
                <a:gd name="T9" fmla="*/ 8 h 38"/>
              </a:gdLst>
              <a:ahLst/>
              <a:cxnLst>
                <a:cxn ang="0">
                  <a:pos x="T0" y="T1"/>
                </a:cxn>
                <a:cxn ang="0">
                  <a:pos x="T2" y="T3"/>
                </a:cxn>
                <a:cxn ang="0">
                  <a:pos x="T4" y="T5"/>
                </a:cxn>
                <a:cxn ang="0">
                  <a:pos x="T6" y="T7"/>
                </a:cxn>
                <a:cxn ang="0">
                  <a:pos x="T8" y="T9"/>
                </a:cxn>
              </a:cxnLst>
              <a:rect l="0" t="0" r="r" b="b"/>
              <a:pathLst>
                <a:path w="11" h="38">
                  <a:moveTo>
                    <a:pt x="11" y="8"/>
                  </a:moveTo>
                  <a:lnTo>
                    <a:pt x="11" y="38"/>
                  </a:lnTo>
                  <a:lnTo>
                    <a:pt x="0" y="27"/>
                  </a:lnTo>
                  <a:lnTo>
                    <a:pt x="0" y="0"/>
                  </a:lnTo>
                  <a:lnTo>
                    <a:pt x="11" y="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39" name="Freeform 138"/>
            <p:cNvSpPr>
              <a:spLocks/>
            </p:cNvSpPr>
            <p:nvPr/>
          </p:nvSpPr>
          <p:spPr bwMode="auto">
            <a:xfrm>
              <a:off x="2667" y="3372"/>
              <a:ext cx="35" cy="63"/>
            </a:xfrm>
            <a:custGeom>
              <a:avLst/>
              <a:gdLst>
                <a:gd name="T0" fmla="*/ 35 w 35"/>
                <a:gd name="T1" fmla="*/ 32 h 63"/>
                <a:gd name="T2" fmla="*/ 35 w 35"/>
                <a:gd name="T3" fmla="*/ 63 h 63"/>
                <a:gd name="T4" fmla="*/ 0 w 35"/>
                <a:gd name="T5" fmla="*/ 29 h 63"/>
                <a:gd name="T6" fmla="*/ 0 w 35"/>
                <a:gd name="T7" fmla="*/ 0 h 63"/>
                <a:gd name="T8" fmla="*/ 35 w 35"/>
                <a:gd name="T9" fmla="*/ 32 h 63"/>
              </a:gdLst>
              <a:ahLst/>
              <a:cxnLst>
                <a:cxn ang="0">
                  <a:pos x="T0" y="T1"/>
                </a:cxn>
                <a:cxn ang="0">
                  <a:pos x="T2" y="T3"/>
                </a:cxn>
                <a:cxn ang="0">
                  <a:pos x="T4" y="T5"/>
                </a:cxn>
                <a:cxn ang="0">
                  <a:pos x="T6" y="T7"/>
                </a:cxn>
                <a:cxn ang="0">
                  <a:pos x="T8" y="T9"/>
                </a:cxn>
              </a:cxnLst>
              <a:rect l="0" t="0" r="r" b="b"/>
              <a:pathLst>
                <a:path w="35" h="63">
                  <a:moveTo>
                    <a:pt x="35" y="32"/>
                  </a:moveTo>
                  <a:lnTo>
                    <a:pt x="35" y="63"/>
                  </a:lnTo>
                  <a:lnTo>
                    <a:pt x="0" y="29"/>
                  </a:lnTo>
                  <a:lnTo>
                    <a:pt x="0" y="0"/>
                  </a:lnTo>
                  <a:lnTo>
                    <a:pt x="35" y="3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40" name="Freeform 139"/>
            <p:cNvSpPr>
              <a:spLocks/>
            </p:cNvSpPr>
            <p:nvPr/>
          </p:nvSpPr>
          <p:spPr bwMode="auto">
            <a:xfrm>
              <a:off x="2631" y="3338"/>
              <a:ext cx="35" cy="60"/>
            </a:xfrm>
            <a:custGeom>
              <a:avLst/>
              <a:gdLst>
                <a:gd name="T0" fmla="*/ 35 w 35"/>
                <a:gd name="T1" fmla="*/ 32 h 60"/>
                <a:gd name="T2" fmla="*/ 35 w 35"/>
                <a:gd name="T3" fmla="*/ 60 h 60"/>
                <a:gd name="T4" fmla="*/ 0 w 35"/>
                <a:gd name="T5" fmla="*/ 28 h 60"/>
                <a:gd name="T6" fmla="*/ 0 w 35"/>
                <a:gd name="T7" fmla="*/ 0 h 60"/>
                <a:gd name="T8" fmla="*/ 35 w 35"/>
                <a:gd name="T9" fmla="*/ 32 h 60"/>
              </a:gdLst>
              <a:ahLst/>
              <a:cxnLst>
                <a:cxn ang="0">
                  <a:pos x="T0" y="T1"/>
                </a:cxn>
                <a:cxn ang="0">
                  <a:pos x="T2" y="T3"/>
                </a:cxn>
                <a:cxn ang="0">
                  <a:pos x="T4" y="T5"/>
                </a:cxn>
                <a:cxn ang="0">
                  <a:pos x="T6" y="T7"/>
                </a:cxn>
                <a:cxn ang="0">
                  <a:pos x="T8" y="T9"/>
                </a:cxn>
              </a:cxnLst>
              <a:rect l="0" t="0" r="r" b="b"/>
              <a:pathLst>
                <a:path w="35" h="60">
                  <a:moveTo>
                    <a:pt x="35" y="32"/>
                  </a:moveTo>
                  <a:lnTo>
                    <a:pt x="35" y="60"/>
                  </a:lnTo>
                  <a:lnTo>
                    <a:pt x="0" y="28"/>
                  </a:lnTo>
                  <a:lnTo>
                    <a:pt x="0" y="0"/>
                  </a:lnTo>
                  <a:lnTo>
                    <a:pt x="35" y="3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41" name="Freeform 140"/>
            <p:cNvSpPr>
              <a:spLocks/>
            </p:cNvSpPr>
            <p:nvPr/>
          </p:nvSpPr>
          <p:spPr bwMode="auto">
            <a:xfrm>
              <a:off x="2593" y="3302"/>
              <a:ext cx="35" cy="61"/>
            </a:xfrm>
            <a:custGeom>
              <a:avLst/>
              <a:gdLst>
                <a:gd name="T0" fmla="*/ 35 w 35"/>
                <a:gd name="T1" fmla="*/ 35 h 61"/>
                <a:gd name="T2" fmla="*/ 35 w 35"/>
                <a:gd name="T3" fmla="*/ 61 h 61"/>
                <a:gd name="T4" fmla="*/ 0 w 35"/>
                <a:gd name="T5" fmla="*/ 29 h 61"/>
                <a:gd name="T6" fmla="*/ 0 w 35"/>
                <a:gd name="T7" fmla="*/ 0 h 61"/>
                <a:gd name="T8" fmla="*/ 35 w 35"/>
                <a:gd name="T9" fmla="*/ 35 h 61"/>
              </a:gdLst>
              <a:ahLst/>
              <a:cxnLst>
                <a:cxn ang="0">
                  <a:pos x="T0" y="T1"/>
                </a:cxn>
                <a:cxn ang="0">
                  <a:pos x="T2" y="T3"/>
                </a:cxn>
                <a:cxn ang="0">
                  <a:pos x="T4" y="T5"/>
                </a:cxn>
                <a:cxn ang="0">
                  <a:pos x="T6" y="T7"/>
                </a:cxn>
                <a:cxn ang="0">
                  <a:pos x="T8" y="T9"/>
                </a:cxn>
              </a:cxnLst>
              <a:rect l="0" t="0" r="r" b="b"/>
              <a:pathLst>
                <a:path w="35" h="61">
                  <a:moveTo>
                    <a:pt x="35" y="35"/>
                  </a:moveTo>
                  <a:lnTo>
                    <a:pt x="35" y="61"/>
                  </a:lnTo>
                  <a:lnTo>
                    <a:pt x="0" y="29"/>
                  </a:lnTo>
                  <a:lnTo>
                    <a:pt x="0" y="0"/>
                  </a:lnTo>
                  <a:lnTo>
                    <a:pt x="35" y="3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42" name="Freeform 141"/>
            <p:cNvSpPr>
              <a:spLocks/>
            </p:cNvSpPr>
            <p:nvPr/>
          </p:nvSpPr>
          <p:spPr bwMode="auto">
            <a:xfrm>
              <a:off x="2575" y="3286"/>
              <a:ext cx="17" cy="42"/>
            </a:xfrm>
            <a:custGeom>
              <a:avLst/>
              <a:gdLst>
                <a:gd name="T0" fmla="*/ 17 w 17"/>
                <a:gd name="T1" fmla="*/ 14 h 42"/>
                <a:gd name="T2" fmla="*/ 17 w 17"/>
                <a:gd name="T3" fmla="*/ 42 h 42"/>
                <a:gd name="T4" fmla="*/ 0 w 17"/>
                <a:gd name="T5" fmla="*/ 26 h 42"/>
                <a:gd name="T6" fmla="*/ 0 w 17"/>
                <a:gd name="T7" fmla="*/ 0 h 42"/>
                <a:gd name="T8" fmla="*/ 17 w 17"/>
                <a:gd name="T9" fmla="*/ 14 h 42"/>
              </a:gdLst>
              <a:ahLst/>
              <a:cxnLst>
                <a:cxn ang="0">
                  <a:pos x="T0" y="T1"/>
                </a:cxn>
                <a:cxn ang="0">
                  <a:pos x="T2" y="T3"/>
                </a:cxn>
                <a:cxn ang="0">
                  <a:pos x="T4" y="T5"/>
                </a:cxn>
                <a:cxn ang="0">
                  <a:pos x="T6" y="T7"/>
                </a:cxn>
                <a:cxn ang="0">
                  <a:pos x="T8" y="T9"/>
                </a:cxn>
              </a:cxnLst>
              <a:rect l="0" t="0" r="r" b="b"/>
              <a:pathLst>
                <a:path w="17" h="42">
                  <a:moveTo>
                    <a:pt x="17" y="14"/>
                  </a:moveTo>
                  <a:lnTo>
                    <a:pt x="17" y="42"/>
                  </a:lnTo>
                  <a:lnTo>
                    <a:pt x="0" y="26"/>
                  </a:lnTo>
                  <a:lnTo>
                    <a:pt x="0" y="0"/>
                  </a:lnTo>
                  <a:lnTo>
                    <a:pt x="17" y="1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43" name="Freeform 142"/>
            <p:cNvSpPr>
              <a:spLocks/>
            </p:cNvSpPr>
            <p:nvPr/>
          </p:nvSpPr>
          <p:spPr bwMode="auto">
            <a:xfrm>
              <a:off x="2704" y="3479"/>
              <a:ext cx="11" cy="44"/>
            </a:xfrm>
            <a:custGeom>
              <a:avLst/>
              <a:gdLst>
                <a:gd name="T0" fmla="*/ 11 w 11"/>
                <a:gd name="T1" fmla="*/ 13 h 44"/>
                <a:gd name="T2" fmla="*/ 11 w 11"/>
                <a:gd name="T3" fmla="*/ 44 h 44"/>
                <a:gd name="T4" fmla="*/ 0 w 11"/>
                <a:gd name="T5" fmla="*/ 32 h 44"/>
                <a:gd name="T6" fmla="*/ 0 w 11"/>
                <a:gd name="T7" fmla="*/ 0 h 44"/>
                <a:gd name="T8" fmla="*/ 11 w 11"/>
                <a:gd name="T9" fmla="*/ 13 h 44"/>
              </a:gdLst>
              <a:ahLst/>
              <a:cxnLst>
                <a:cxn ang="0">
                  <a:pos x="T0" y="T1"/>
                </a:cxn>
                <a:cxn ang="0">
                  <a:pos x="T2" y="T3"/>
                </a:cxn>
                <a:cxn ang="0">
                  <a:pos x="T4" y="T5"/>
                </a:cxn>
                <a:cxn ang="0">
                  <a:pos x="T6" y="T7"/>
                </a:cxn>
                <a:cxn ang="0">
                  <a:pos x="T8" y="T9"/>
                </a:cxn>
              </a:cxnLst>
              <a:rect l="0" t="0" r="r" b="b"/>
              <a:pathLst>
                <a:path w="11" h="44">
                  <a:moveTo>
                    <a:pt x="11" y="13"/>
                  </a:moveTo>
                  <a:lnTo>
                    <a:pt x="11" y="44"/>
                  </a:lnTo>
                  <a:lnTo>
                    <a:pt x="0" y="32"/>
                  </a:lnTo>
                  <a:lnTo>
                    <a:pt x="0" y="0"/>
                  </a:lnTo>
                  <a:lnTo>
                    <a:pt x="11" y="1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44" name="Freeform 143"/>
            <p:cNvSpPr>
              <a:spLocks/>
            </p:cNvSpPr>
            <p:nvPr/>
          </p:nvSpPr>
          <p:spPr bwMode="auto">
            <a:xfrm>
              <a:off x="2667" y="3443"/>
              <a:ext cx="35" cy="65"/>
            </a:xfrm>
            <a:custGeom>
              <a:avLst/>
              <a:gdLst>
                <a:gd name="T0" fmla="*/ 35 w 35"/>
                <a:gd name="T1" fmla="*/ 35 h 65"/>
                <a:gd name="T2" fmla="*/ 35 w 35"/>
                <a:gd name="T3" fmla="*/ 65 h 65"/>
                <a:gd name="T4" fmla="*/ 0 w 35"/>
                <a:gd name="T5" fmla="*/ 29 h 65"/>
                <a:gd name="T6" fmla="*/ 0 w 35"/>
                <a:gd name="T7" fmla="*/ 0 h 65"/>
                <a:gd name="T8" fmla="*/ 35 w 35"/>
                <a:gd name="T9" fmla="*/ 35 h 65"/>
              </a:gdLst>
              <a:ahLst/>
              <a:cxnLst>
                <a:cxn ang="0">
                  <a:pos x="T0" y="T1"/>
                </a:cxn>
                <a:cxn ang="0">
                  <a:pos x="T2" y="T3"/>
                </a:cxn>
                <a:cxn ang="0">
                  <a:pos x="T4" y="T5"/>
                </a:cxn>
                <a:cxn ang="0">
                  <a:pos x="T6" y="T7"/>
                </a:cxn>
                <a:cxn ang="0">
                  <a:pos x="T8" y="T9"/>
                </a:cxn>
              </a:cxnLst>
              <a:rect l="0" t="0" r="r" b="b"/>
              <a:pathLst>
                <a:path w="35" h="65">
                  <a:moveTo>
                    <a:pt x="35" y="35"/>
                  </a:moveTo>
                  <a:lnTo>
                    <a:pt x="35" y="65"/>
                  </a:lnTo>
                  <a:lnTo>
                    <a:pt x="0" y="29"/>
                  </a:lnTo>
                  <a:lnTo>
                    <a:pt x="0" y="0"/>
                  </a:lnTo>
                  <a:lnTo>
                    <a:pt x="35" y="3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45" name="Freeform 144"/>
            <p:cNvSpPr>
              <a:spLocks/>
            </p:cNvSpPr>
            <p:nvPr/>
          </p:nvSpPr>
          <p:spPr bwMode="auto">
            <a:xfrm>
              <a:off x="2631" y="3405"/>
              <a:ext cx="35" cy="65"/>
            </a:xfrm>
            <a:custGeom>
              <a:avLst/>
              <a:gdLst>
                <a:gd name="T0" fmla="*/ 35 w 35"/>
                <a:gd name="T1" fmla="*/ 37 h 65"/>
                <a:gd name="T2" fmla="*/ 35 w 35"/>
                <a:gd name="T3" fmla="*/ 65 h 65"/>
                <a:gd name="T4" fmla="*/ 0 w 35"/>
                <a:gd name="T5" fmla="*/ 30 h 65"/>
                <a:gd name="T6" fmla="*/ 0 w 35"/>
                <a:gd name="T7" fmla="*/ 0 h 65"/>
                <a:gd name="T8" fmla="*/ 35 w 35"/>
                <a:gd name="T9" fmla="*/ 37 h 65"/>
              </a:gdLst>
              <a:ahLst/>
              <a:cxnLst>
                <a:cxn ang="0">
                  <a:pos x="T0" y="T1"/>
                </a:cxn>
                <a:cxn ang="0">
                  <a:pos x="T2" y="T3"/>
                </a:cxn>
                <a:cxn ang="0">
                  <a:pos x="T4" y="T5"/>
                </a:cxn>
                <a:cxn ang="0">
                  <a:pos x="T6" y="T7"/>
                </a:cxn>
                <a:cxn ang="0">
                  <a:pos x="T8" y="T9"/>
                </a:cxn>
              </a:cxnLst>
              <a:rect l="0" t="0" r="r" b="b"/>
              <a:pathLst>
                <a:path w="35" h="65">
                  <a:moveTo>
                    <a:pt x="35" y="37"/>
                  </a:moveTo>
                  <a:lnTo>
                    <a:pt x="35" y="65"/>
                  </a:lnTo>
                  <a:lnTo>
                    <a:pt x="0" y="30"/>
                  </a:lnTo>
                  <a:lnTo>
                    <a:pt x="0" y="0"/>
                  </a:lnTo>
                  <a:lnTo>
                    <a:pt x="35" y="37"/>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46" name="Freeform 145"/>
            <p:cNvSpPr>
              <a:spLocks/>
            </p:cNvSpPr>
            <p:nvPr/>
          </p:nvSpPr>
          <p:spPr bwMode="auto">
            <a:xfrm>
              <a:off x="2594" y="3369"/>
              <a:ext cx="34" cy="63"/>
            </a:xfrm>
            <a:custGeom>
              <a:avLst/>
              <a:gdLst>
                <a:gd name="T0" fmla="*/ 34 w 34"/>
                <a:gd name="T1" fmla="*/ 35 h 63"/>
                <a:gd name="T2" fmla="*/ 34 w 34"/>
                <a:gd name="T3" fmla="*/ 63 h 63"/>
                <a:gd name="T4" fmla="*/ 0 w 34"/>
                <a:gd name="T5" fmla="*/ 28 h 63"/>
                <a:gd name="T6" fmla="*/ 0 w 34"/>
                <a:gd name="T7" fmla="*/ 0 h 63"/>
                <a:gd name="T8" fmla="*/ 34 w 34"/>
                <a:gd name="T9" fmla="*/ 35 h 63"/>
              </a:gdLst>
              <a:ahLst/>
              <a:cxnLst>
                <a:cxn ang="0">
                  <a:pos x="T0" y="T1"/>
                </a:cxn>
                <a:cxn ang="0">
                  <a:pos x="T2" y="T3"/>
                </a:cxn>
                <a:cxn ang="0">
                  <a:pos x="T4" y="T5"/>
                </a:cxn>
                <a:cxn ang="0">
                  <a:pos x="T6" y="T7"/>
                </a:cxn>
                <a:cxn ang="0">
                  <a:pos x="T8" y="T9"/>
                </a:cxn>
              </a:cxnLst>
              <a:rect l="0" t="0" r="r" b="b"/>
              <a:pathLst>
                <a:path w="34" h="63">
                  <a:moveTo>
                    <a:pt x="34" y="35"/>
                  </a:moveTo>
                  <a:lnTo>
                    <a:pt x="34" y="63"/>
                  </a:lnTo>
                  <a:lnTo>
                    <a:pt x="0" y="28"/>
                  </a:lnTo>
                  <a:lnTo>
                    <a:pt x="0" y="0"/>
                  </a:lnTo>
                  <a:lnTo>
                    <a:pt x="34" y="35"/>
                  </a:lnTo>
                  <a:close/>
                </a:path>
              </a:pathLst>
            </a:custGeom>
            <a:solidFill>
              <a:srgbClr val="2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47" name="Freeform 146"/>
            <p:cNvSpPr>
              <a:spLocks/>
            </p:cNvSpPr>
            <p:nvPr/>
          </p:nvSpPr>
          <p:spPr bwMode="auto">
            <a:xfrm>
              <a:off x="2575" y="3352"/>
              <a:ext cx="17" cy="44"/>
            </a:xfrm>
            <a:custGeom>
              <a:avLst/>
              <a:gdLst>
                <a:gd name="T0" fmla="*/ 17 w 17"/>
                <a:gd name="T1" fmla="*/ 16 h 44"/>
                <a:gd name="T2" fmla="*/ 17 w 17"/>
                <a:gd name="T3" fmla="*/ 44 h 44"/>
                <a:gd name="T4" fmla="*/ 0 w 17"/>
                <a:gd name="T5" fmla="*/ 24 h 44"/>
                <a:gd name="T6" fmla="*/ 0 w 17"/>
                <a:gd name="T7" fmla="*/ 0 h 44"/>
                <a:gd name="T8" fmla="*/ 17 w 17"/>
                <a:gd name="T9" fmla="*/ 16 h 44"/>
              </a:gdLst>
              <a:ahLst/>
              <a:cxnLst>
                <a:cxn ang="0">
                  <a:pos x="T0" y="T1"/>
                </a:cxn>
                <a:cxn ang="0">
                  <a:pos x="T2" y="T3"/>
                </a:cxn>
                <a:cxn ang="0">
                  <a:pos x="T4" y="T5"/>
                </a:cxn>
                <a:cxn ang="0">
                  <a:pos x="T6" y="T7"/>
                </a:cxn>
                <a:cxn ang="0">
                  <a:pos x="T8" y="T9"/>
                </a:cxn>
              </a:cxnLst>
              <a:rect l="0" t="0" r="r" b="b"/>
              <a:pathLst>
                <a:path w="17" h="44">
                  <a:moveTo>
                    <a:pt x="17" y="16"/>
                  </a:moveTo>
                  <a:lnTo>
                    <a:pt x="17" y="44"/>
                  </a:lnTo>
                  <a:lnTo>
                    <a:pt x="0" y="24"/>
                  </a:lnTo>
                  <a:lnTo>
                    <a:pt x="0" y="0"/>
                  </a:lnTo>
                  <a:lnTo>
                    <a:pt x="17" y="16"/>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48" name="Freeform 147"/>
            <p:cNvSpPr>
              <a:spLocks/>
            </p:cNvSpPr>
            <p:nvPr/>
          </p:nvSpPr>
          <p:spPr bwMode="auto">
            <a:xfrm>
              <a:off x="2575" y="3383"/>
              <a:ext cx="29" cy="55"/>
            </a:xfrm>
            <a:custGeom>
              <a:avLst/>
              <a:gdLst>
                <a:gd name="T0" fmla="*/ 29 w 29"/>
                <a:gd name="T1" fmla="*/ 30 h 55"/>
                <a:gd name="T2" fmla="*/ 29 w 29"/>
                <a:gd name="T3" fmla="*/ 55 h 55"/>
                <a:gd name="T4" fmla="*/ 0 w 29"/>
                <a:gd name="T5" fmla="*/ 27 h 55"/>
                <a:gd name="T6" fmla="*/ 0 w 29"/>
                <a:gd name="T7" fmla="*/ 0 h 55"/>
                <a:gd name="T8" fmla="*/ 29 w 29"/>
                <a:gd name="T9" fmla="*/ 30 h 55"/>
              </a:gdLst>
              <a:ahLst/>
              <a:cxnLst>
                <a:cxn ang="0">
                  <a:pos x="T0" y="T1"/>
                </a:cxn>
                <a:cxn ang="0">
                  <a:pos x="T2" y="T3"/>
                </a:cxn>
                <a:cxn ang="0">
                  <a:pos x="T4" y="T5"/>
                </a:cxn>
                <a:cxn ang="0">
                  <a:pos x="T6" y="T7"/>
                </a:cxn>
                <a:cxn ang="0">
                  <a:pos x="T8" y="T9"/>
                </a:cxn>
              </a:cxnLst>
              <a:rect l="0" t="0" r="r" b="b"/>
              <a:pathLst>
                <a:path w="29" h="55">
                  <a:moveTo>
                    <a:pt x="29" y="30"/>
                  </a:moveTo>
                  <a:lnTo>
                    <a:pt x="29" y="55"/>
                  </a:lnTo>
                  <a:lnTo>
                    <a:pt x="0" y="27"/>
                  </a:lnTo>
                  <a:lnTo>
                    <a:pt x="0" y="0"/>
                  </a:lnTo>
                  <a:lnTo>
                    <a:pt x="29" y="3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49" name="Freeform 148"/>
            <p:cNvSpPr>
              <a:spLocks/>
            </p:cNvSpPr>
            <p:nvPr/>
          </p:nvSpPr>
          <p:spPr bwMode="auto">
            <a:xfrm>
              <a:off x="2676" y="3486"/>
              <a:ext cx="39" cy="71"/>
            </a:xfrm>
            <a:custGeom>
              <a:avLst/>
              <a:gdLst>
                <a:gd name="T0" fmla="*/ 39 w 39"/>
                <a:gd name="T1" fmla="*/ 43 h 71"/>
                <a:gd name="T2" fmla="*/ 39 w 39"/>
                <a:gd name="T3" fmla="*/ 71 h 71"/>
                <a:gd name="T4" fmla="*/ 0 w 39"/>
                <a:gd name="T5" fmla="*/ 30 h 71"/>
                <a:gd name="T6" fmla="*/ 0 w 39"/>
                <a:gd name="T7" fmla="*/ 0 h 71"/>
                <a:gd name="T8" fmla="*/ 39 w 39"/>
                <a:gd name="T9" fmla="*/ 43 h 71"/>
              </a:gdLst>
              <a:ahLst/>
              <a:cxnLst>
                <a:cxn ang="0">
                  <a:pos x="T0" y="T1"/>
                </a:cxn>
                <a:cxn ang="0">
                  <a:pos x="T2" y="T3"/>
                </a:cxn>
                <a:cxn ang="0">
                  <a:pos x="T4" y="T5"/>
                </a:cxn>
                <a:cxn ang="0">
                  <a:pos x="T6" y="T7"/>
                </a:cxn>
                <a:cxn ang="0">
                  <a:pos x="T8" y="T9"/>
                </a:cxn>
              </a:cxnLst>
              <a:rect l="0" t="0" r="r" b="b"/>
              <a:pathLst>
                <a:path w="39" h="71">
                  <a:moveTo>
                    <a:pt x="39" y="43"/>
                  </a:moveTo>
                  <a:lnTo>
                    <a:pt x="39" y="71"/>
                  </a:lnTo>
                  <a:lnTo>
                    <a:pt x="0" y="30"/>
                  </a:lnTo>
                  <a:lnTo>
                    <a:pt x="0" y="0"/>
                  </a:lnTo>
                  <a:lnTo>
                    <a:pt x="39" y="4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50" name="Freeform 149"/>
            <p:cNvSpPr>
              <a:spLocks/>
            </p:cNvSpPr>
            <p:nvPr/>
          </p:nvSpPr>
          <p:spPr bwMode="auto">
            <a:xfrm>
              <a:off x="2642" y="3451"/>
              <a:ext cx="32" cy="64"/>
            </a:xfrm>
            <a:custGeom>
              <a:avLst/>
              <a:gdLst>
                <a:gd name="T0" fmla="*/ 32 w 32"/>
                <a:gd name="T1" fmla="*/ 34 h 64"/>
                <a:gd name="T2" fmla="*/ 32 w 32"/>
                <a:gd name="T3" fmla="*/ 64 h 64"/>
                <a:gd name="T4" fmla="*/ 0 w 32"/>
                <a:gd name="T5" fmla="*/ 29 h 64"/>
                <a:gd name="T6" fmla="*/ 0 w 32"/>
                <a:gd name="T7" fmla="*/ 0 h 64"/>
                <a:gd name="T8" fmla="*/ 32 w 32"/>
                <a:gd name="T9" fmla="*/ 34 h 64"/>
              </a:gdLst>
              <a:ahLst/>
              <a:cxnLst>
                <a:cxn ang="0">
                  <a:pos x="T0" y="T1"/>
                </a:cxn>
                <a:cxn ang="0">
                  <a:pos x="T2" y="T3"/>
                </a:cxn>
                <a:cxn ang="0">
                  <a:pos x="T4" y="T5"/>
                </a:cxn>
                <a:cxn ang="0">
                  <a:pos x="T6" y="T7"/>
                </a:cxn>
                <a:cxn ang="0">
                  <a:pos x="T8" y="T9"/>
                </a:cxn>
              </a:cxnLst>
              <a:rect l="0" t="0" r="r" b="b"/>
              <a:pathLst>
                <a:path w="32" h="64">
                  <a:moveTo>
                    <a:pt x="32" y="34"/>
                  </a:moveTo>
                  <a:lnTo>
                    <a:pt x="32" y="64"/>
                  </a:lnTo>
                  <a:lnTo>
                    <a:pt x="0" y="29"/>
                  </a:lnTo>
                  <a:lnTo>
                    <a:pt x="0" y="0"/>
                  </a:lnTo>
                  <a:lnTo>
                    <a:pt x="32" y="3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51" name="Freeform 150"/>
            <p:cNvSpPr>
              <a:spLocks/>
            </p:cNvSpPr>
            <p:nvPr/>
          </p:nvSpPr>
          <p:spPr bwMode="auto">
            <a:xfrm>
              <a:off x="2606" y="3415"/>
              <a:ext cx="34" cy="62"/>
            </a:xfrm>
            <a:custGeom>
              <a:avLst/>
              <a:gdLst>
                <a:gd name="T0" fmla="*/ 34 w 34"/>
                <a:gd name="T1" fmla="*/ 34 h 62"/>
                <a:gd name="T2" fmla="*/ 34 w 34"/>
                <a:gd name="T3" fmla="*/ 62 h 62"/>
                <a:gd name="T4" fmla="*/ 0 w 34"/>
                <a:gd name="T5" fmla="*/ 26 h 62"/>
                <a:gd name="T6" fmla="*/ 0 w 34"/>
                <a:gd name="T7" fmla="*/ 0 h 62"/>
                <a:gd name="T8" fmla="*/ 34 w 34"/>
                <a:gd name="T9" fmla="*/ 34 h 62"/>
              </a:gdLst>
              <a:ahLst/>
              <a:cxnLst>
                <a:cxn ang="0">
                  <a:pos x="T0" y="T1"/>
                </a:cxn>
                <a:cxn ang="0">
                  <a:pos x="T2" y="T3"/>
                </a:cxn>
                <a:cxn ang="0">
                  <a:pos x="T4" y="T5"/>
                </a:cxn>
                <a:cxn ang="0">
                  <a:pos x="T6" y="T7"/>
                </a:cxn>
                <a:cxn ang="0">
                  <a:pos x="T8" y="T9"/>
                </a:cxn>
              </a:cxnLst>
              <a:rect l="0" t="0" r="r" b="b"/>
              <a:pathLst>
                <a:path w="34" h="62">
                  <a:moveTo>
                    <a:pt x="34" y="34"/>
                  </a:moveTo>
                  <a:lnTo>
                    <a:pt x="34" y="62"/>
                  </a:lnTo>
                  <a:lnTo>
                    <a:pt x="0" y="26"/>
                  </a:lnTo>
                  <a:lnTo>
                    <a:pt x="0" y="0"/>
                  </a:lnTo>
                  <a:lnTo>
                    <a:pt x="34" y="3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52" name="Freeform 151"/>
            <p:cNvSpPr>
              <a:spLocks/>
            </p:cNvSpPr>
            <p:nvPr/>
          </p:nvSpPr>
          <p:spPr bwMode="auto">
            <a:xfrm>
              <a:off x="2575" y="2999"/>
              <a:ext cx="30" cy="44"/>
            </a:xfrm>
            <a:custGeom>
              <a:avLst/>
              <a:gdLst>
                <a:gd name="T0" fmla="*/ 30 w 30"/>
                <a:gd name="T1" fmla="*/ 17 h 44"/>
                <a:gd name="T2" fmla="*/ 30 w 30"/>
                <a:gd name="T3" fmla="*/ 44 h 44"/>
                <a:gd name="T4" fmla="*/ 0 w 30"/>
                <a:gd name="T5" fmla="*/ 27 h 44"/>
                <a:gd name="T6" fmla="*/ 0 w 30"/>
                <a:gd name="T7" fmla="*/ 0 h 44"/>
                <a:gd name="T8" fmla="*/ 30 w 30"/>
                <a:gd name="T9" fmla="*/ 17 h 44"/>
              </a:gdLst>
              <a:ahLst/>
              <a:cxnLst>
                <a:cxn ang="0">
                  <a:pos x="T0" y="T1"/>
                </a:cxn>
                <a:cxn ang="0">
                  <a:pos x="T2" y="T3"/>
                </a:cxn>
                <a:cxn ang="0">
                  <a:pos x="T4" y="T5"/>
                </a:cxn>
                <a:cxn ang="0">
                  <a:pos x="T6" y="T7"/>
                </a:cxn>
                <a:cxn ang="0">
                  <a:pos x="T8" y="T9"/>
                </a:cxn>
              </a:cxnLst>
              <a:rect l="0" t="0" r="r" b="b"/>
              <a:pathLst>
                <a:path w="30" h="44">
                  <a:moveTo>
                    <a:pt x="30" y="17"/>
                  </a:moveTo>
                  <a:lnTo>
                    <a:pt x="30" y="44"/>
                  </a:lnTo>
                  <a:lnTo>
                    <a:pt x="0" y="27"/>
                  </a:lnTo>
                  <a:lnTo>
                    <a:pt x="0" y="0"/>
                  </a:lnTo>
                  <a:lnTo>
                    <a:pt x="30" y="17"/>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53" name="Freeform 152"/>
            <p:cNvSpPr>
              <a:spLocks/>
            </p:cNvSpPr>
            <p:nvPr/>
          </p:nvSpPr>
          <p:spPr bwMode="auto">
            <a:xfrm>
              <a:off x="2643" y="3037"/>
              <a:ext cx="33" cy="50"/>
            </a:xfrm>
            <a:custGeom>
              <a:avLst/>
              <a:gdLst>
                <a:gd name="T0" fmla="*/ 33 w 33"/>
                <a:gd name="T1" fmla="*/ 19 h 50"/>
                <a:gd name="T2" fmla="*/ 33 w 33"/>
                <a:gd name="T3" fmla="*/ 50 h 50"/>
                <a:gd name="T4" fmla="*/ 0 w 33"/>
                <a:gd name="T5" fmla="*/ 30 h 50"/>
                <a:gd name="T6" fmla="*/ 0 w 33"/>
                <a:gd name="T7" fmla="*/ 0 h 50"/>
                <a:gd name="T8" fmla="*/ 33 w 33"/>
                <a:gd name="T9" fmla="*/ 19 h 50"/>
              </a:gdLst>
              <a:ahLst/>
              <a:cxnLst>
                <a:cxn ang="0">
                  <a:pos x="T0" y="T1"/>
                </a:cxn>
                <a:cxn ang="0">
                  <a:pos x="T2" y="T3"/>
                </a:cxn>
                <a:cxn ang="0">
                  <a:pos x="T4" y="T5"/>
                </a:cxn>
                <a:cxn ang="0">
                  <a:pos x="T6" y="T7"/>
                </a:cxn>
                <a:cxn ang="0">
                  <a:pos x="T8" y="T9"/>
                </a:cxn>
              </a:cxnLst>
              <a:rect l="0" t="0" r="r" b="b"/>
              <a:pathLst>
                <a:path w="33" h="50">
                  <a:moveTo>
                    <a:pt x="33" y="19"/>
                  </a:moveTo>
                  <a:lnTo>
                    <a:pt x="33" y="50"/>
                  </a:lnTo>
                  <a:lnTo>
                    <a:pt x="0" y="30"/>
                  </a:lnTo>
                  <a:lnTo>
                    <a:pt x="0" y="0"/>
                  </a:lnTo>
                  <a:lnTo>
                    <a:pt x="33" y="19"/>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54" name="Freeform 153"/>
            <p:cNvSpPr>
              <a:spLocks/>
            </p:cNvSpPr>
            <p:nvPr/>
          </p:nvSpPr>
          <p:spPr bwMode="auto">
            <a:xfrm>
              <a:off x="2607" y="3016"/>
              <a:ext cx="34" cy="49"/>
            </a:xfrm>
            <a:custGeom>
              <a:avLst/>
              <a:gdLst>
                <a:gd name="T0" fmla="*/ 34 w 34"/>
                <a:gd name="T1" fmla="*/ 21 h 49"/>
                <a:gd name="T2" fmla="*/ 34 w 34"/>
                <a:gd name="T3" fmla="*/ 49 h 49"/>
                <a:gd name="T4" fmla="*/ 0 w 34"/>
                <a:gd name="T5" fmla="*/ 28 h 49"/>
                <a:gd name="T6" fmla="*/ 0 w 34"/>
                <a:gd name="T7" fmla="*/ 0 h 49"/>
                <a:gd name="T8" fmla="*/ 34 w 34"/>
                <a:gd name="T9" fmla="*/ 21 h 49"/>
              </a:gdLst>
              <a:ahLst/>
              <a:cxnLst>
                <a:cxn ang="0">
                  <a:pos x="T0" y="T1"/>
                </a:cxn>
                <a:cxn ang="0">
                  <a:pos x="T2" y="T3"/>
                </a:cxn>
                <a:cxn ang="0">
                  <a:pos x="T4" y="T5"/>
                </a:cxn>
                <a:cxn ang="0">
                  <a:pos x="T6" y="T7"/>
                </a:cxn>
                <a:cxn ang="0">
                  <a:pos x="T8" y="T9"/>
                </a:cxn>
              </a:cxnLst>
              <a:rect l="0" t="0" r="r" b="b"/>
              <a:pathLst>
                <a:path w="34" h="49">
                  <a:moveTo>
                    <a:pt x="34" y="21"/>
                  </a:moveTo>
                  <a:lnTo>
                    <a:pt x="34" y="49"/>
                  </a:lnTo>
                  <a:lnTo>
                    <a:pt x="0" y="28"/>
                  </a:lnTo>
                  <a:lnTo>
                    <a:pt x="0" y="0"/>
                  </a:lnTo>
                  <a:lnTo>
                    <a:pt x="34" y="2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55" name="Freeform 154"/>
            <p:cNvSpPr>
              <a:spLocks/>
            </p:cNvSpPr>
            <p:nvPr/>
          </p:nvSpPr>
          <p:spPr bwMode="auto">
            <a:xfrm>
              <a:off x="2575" y="3062"/>
              <a:ext cx="30" cy="48"/>
            </a:xfrm>
            <a:custGeom>
              <a:avLst/>
              <a:gdLst>
                <a:gd name="T0" fmla="*/ 30 w 30"/>
                <a:gd name="T1" fmla="*/ 21 h 48"/>
                <a:gd name="T2" fmla="*/ 30 w 30"/>
                <a:gd name="T3" fmla="*/ 48 h 48"/>
                <a:gd name="T4" fmla="*/ 0 w 30"/>
                <a:gd name="T5" fmla="*/ 27 h 48"/>
                <a:gd name="T6" fmla="*/ 0 w 30"/>
                <a:gd name="T7" fmla="*/ 0 h 48"/>
                <a:gd name="T8" fmla="*/ 30 w 30"/>
                <a:gd name="T9" fmla="*/ 21 h 48"/>
              </a:gdLst>
              <a:ahLst/>
              <a:cxnLst>
                <a:cxn ang="0">
                  <a:pos x="T0" y="T1"/>
                </a:cxn>
                <a:cxn ang="0">
                  <a:pos x="T2" y="T3"/>
                </a:cxn>
                <a:cxn ang="0">
                  <a:pos x="T4" y="T5"/>
                </a:cxn>
                <a:cxn ang="0">
                  <a:pos x="T6" y="T7"/>
                </a:cxn>
                <a:cxn ang="0">
                  <a:pos x="T8" y="T9"/>
                </a:cxn>
              </a:cxnLst>
              <a:rect l="0" t="0" r="r" b="b"/>
              <a:pathLst>
                <a:path w="30" h="48">
                  <a:moveTo>
                    <a:pt x="30" y="21"/>
                  </a:moveTo>
                  <a:lnTo>
                    <a:pt x="30" y="48"/>
                  </a:lnTo>
                  <a:lnTo>
                    <a:pt x="0" y="27"/>
                  </a:lnTo>
                  <a:lnTo>
                    <a:pt x="0" y="0"/>
                  </a:lnTo>
                  <a:lnTo>
                    <a:pt x="30" y="2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56" name="Freeform 155"/>
            <p:cNvSpPr>
              <a:spLocks/>
            </p:cNvSpPr>
            <p:nvPr/>
          </p:nvSpPr>
          <p:spPr bwMode="auto">
            <a:xfrm>
              <a:off x="2677" y="3130"/>
              <a:ext cx="39" cy="56"/>
            </a:xfrm>
            <a:custGeom>
              <a:avLst/>
              <a:gdLst>
                <a:gd name="T0" fmla="*/ 39 w 39"/>
                <a:gd name="T1" fmla="*/ 25 h 56"/>
                <a:gd name="T2" fmla="*/ 39 w 39"/>
                <a:gd name="T3" fmla="*/ 56 h 56"/>
                <a:gd name="T4" fmla="*/ 0 w 39"/>
                <a:gd name="T5" fmla="*/ 30 h 56"/>
                <a:gd name="T6" fmla="*/ 0 w 39"/>
                <a:gd name="T7" fmla="*/ 0 h 56"/>
                <a:gd name="T8" fmla="*/ 39 w 39"/>
                <a:gd name="T9" fmla="*/ 25 h 56"/>
              </a:gdLst>
              <a:ahLst/>
              <a:cxnLst>
                <a:cxn ang="0">
                  <a:pos x="T0" y="T1"/>
                </a:cxn>
                <a:cxn ang="0">
                  <a:pos x="T2" y="T3"/>
                </a:cxn>
                <a:cxn ang="0">
                  <a:pos x="T4" y="T5"/>
                </a:cxn>
                <a:cxn ang="0">
                  <a:pos x="T6" y="T7"/>
                </a:cxn>
                <a:cxn ang="0">
                  <a:pos x="T8" y="T9"/>
                </a:cxn>
              </a:cxnLst>
              <a:rect l="0" t="0" r="r" b="b"/>
              <a:pathLst>
                <a:path w="39" h="56">
                  <a:moveTo>
                    <a:pt x="39" y="25"/>
                  </a:moveTo>
                  <a:lnTo>
                    <a:pt x="39" y="56"/>
                  </a:lnTo>
                  <a:lnTo>
                    <a:pt x="0" y="30"/>
                  </a:lnTo>
                  <a:lnTo>
                    <a:pt x="0" y="0"/>
                  </a:lnTo>
                  <a:lnTo>
                    <a:pt x="39" y="2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57" name="Freeform 156"/>
            <p:cNvSpPr>
              <a:spLocks/>
            </p:cNvSpPr>
            <p:nvPr/>
          </p:nvSpPr>
          <p:spPr bwMode="auto">
            <a:xfrm>
              <a:off x="2643" y="3108"/>
              <a:ext cx="33" cy="51"/>
            </a:xfrm>
            <a:custGeom>
              <a:avLst/>
              <a:gdLst>
                <a:gd name="T0" fmla="*/ 33 w 33"/>
                <a:gd name="T1" fmla="*/ 21 h 51"/>
                <a:gd name="T2" fmla="*/ 33 w 33"/>
                <a:gd name="T3" fmla="*/ 51 h 51"/>
                <a:gd name="T4" fmla="*/ 0 w 33"/>
                <a:gd name="T5" fmla="*/ 29 h 51"/>
                <a:gd name="T6" fmla="*/ 0 w 33"/>
                <a:gd name="T7" fmla="*/ 0 h 51"/>
                <a:gd name="T8" fmla="*/ 33 w 33"/>
                <a:gd name="T9" fmla="*/ 21 h 51"/>
              </a:gdLst>
              <a:ahLst/>
              <a:cxnLst>
                <a:cxn ang="0">
                  <a:pos x="T0" y="T1"/>
                </a:cxn>
                <a:cxn ang="0">
                  <a:pos x="T2" y="T3"/>
                </a:cxn>
                <a:cxn ang="0">
                  <a:pos x="T4" y="T5"/>
                </a:cxn>
                <a:cxn ang="0">
                  <a:pos x="T6" y="T7"/>
                </a:cxn>
                <a:cxn ang="0">
                  <a:pos x="T8" y="T9"/>
                </a:cxn>
              </a:cxnLst>
              <a:rect l="0" t="0" r="r" b="b"/>
              <a:pathLst>
                <a:path w="33" h="51">
                  <a:moveTo>
                    <a:pt x="33" y="21"/>
                  </a:moveTo>
                  <a:lnTo>
                    <a:pt x="33" y="51"/>
                  </a:lnTo>
                  <a:lnTo>
                    <a:pt x="0" y="29"/>
                  </a:lnTo>
                  <a:lnTo>
                    <a:pt x="0" y="0"/>
                  </a:lnTo>
                  <a:lnTo>
                    <a:pt x="33" y="21"/>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58" name="Freeform 157"/>
            <p:cNvSpPr>
              <a:spLocks/>
            </p:cNvSpPr>
            <p:nvPr/>
          </p:nvSpPr>
          <p:spPr bwMode="auto">
            <a:xfrm>
              <a:off x="2607" y="3084"/>
              <a:ext cx="34" cy="50"/>
            </a:xfrm>
            <a:custGeom>
              <a:avLst/>
              <a:gdLst>
                <a:gd name="T0" fmla="*/ 34 w 34"/>
                <a:gd name="T1" fmla="*/ 22 h 50"/>
                <a:gd name="T2" fmla="*/ 34 w 34"/>
                <a:gd name="T3" fmla="*/ 50 h 50"/>
                <a:gd name="T4" fmla="*/ 0 w 34"/>
                <a:gd name="T5" fmla="*/ 27 h 50"/>
                <a:gd name="T6" fmla="*/ 0 w 34"/>
                <a:gd name="T7" fmla="*/ 0 h 50"/>
                <a:gd name="T8" fmla="*/ 34 w 34"/>
                <a:gd name="T9" fmla="*/ 22 h 50"/>
              </a:gdLst>
              <a:ahLst/>
              <a:cxnLst>
                <a:cxn ang="0">
                  <a:pos x="T0" y="T1"/>
                </a:cxn>
                <a:cxn ang="0">
                  <a:pos x="T2" y="T3"/>
                </a:cxn>
                <a:cxn ang="0">
                  <a:pos x="T4" y="T5"/>
                </a:cxn>
                <a:cxn ang="0">
                  <a:pos x="T6" y="T7"/>
                </a:cxn>
                <a:cxn ang="0">
                  <a:pos x="T8" y="T9"/>
                </a:cxn>
              </a:cxnLst>
              <a:rect l="0" t="0" r="r" b="b"/>
              <a:pathLst>
                <a:path w="34" h="50">
                  <a:moveTo>
                    <a:pt x="34" y="22"/>
                  </a:moveTo>
                  <a:lnTo>
                    <a:pt x="34" y="50"/>
                  </a:lnTo>
                  <a:lnTo>
                    <a:pt x="0" y="27"/>
                  </a:lnTo>
                  <a:lnTo>
                    <a:pt x="0" y="0"/>
                  </a:lnTo>
                  <a:lnTo>
                    <a:pt x="34" y="2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59" name="Freeform 158"/>
            <p:cNvSpPr>
              <a:spLocks/>
            </p:cNvSpPr>
            <p:nvPr/>
          </p:nvSpPr>
          <p:spPr bwMode="auto">
            <a:xfrm>
              <a:off x="2575" y="3126"/>
              <a:ext cx="30" cy="49"/>
            </a:xfrm>
            <a:custGeom>
              <a:avLst/>
              <a:gdLst>
                <a:gd name="T0" fmla="*/ 30 w 30"/>
                <a:gd name="T1" fmla="*/ 24 h 49"/>
                <a:gd name="T2" fmla="*/ 30 w 30"/>
                <a:gd name="T3" fmla="*/ 49 h 49"/>
                <a:gd name="T4" fmla="*/ 0 w 30"/>
                <a:gd name="T5" fmla="*/ 27 h 49"/>
                <a:gd name="T6" fmla="*/ 0 w 30"/>
                <a:gd name="T7" fmla="*/ 0 h 49"/>
                <a:gd name="T8" fmla="*/ 30 w 30"/>
                <a:gd name="T9" fmla="*/ 24 h 49"/>
              </a:gdLst>
              <a:ahLst/>
              <a:cxnLst>
                <a:cxn ang="0">
                  <a:pos x="T0" y="T1"/>
                </a:cxn>
                <a:cxn ang="0">
                  <a:pos x="T2" y="T3"/>
                </a:cxn>
                <a:cxn ang="0">
                  <a:pos x="T4" y="T5"/>
                </a:cxn>
                <a:cxn ang="0">
                  <a:pos x="T6" y="T7"/>
                </a:cxn>
                <a:cxn ang="0">
                  <a:pos x="T8" y="T9"/>
                </a:cxn>
              </a:cxnLst>
              <a:rect l="0" t="0" r="r" b="b"/>
              <a:pathLst>
                <a:path w="30" h="49">
                  <a:moveTo>
                    <a:pt x="30" y="24"/>
                  </a:moveTo>
                  <a:lnTo>
                    <a:pt x="30" y="49"/>
                  </a:lnTo>
                  <a:lnTo>
                    <a:pt x="0" y="27"/>
                  </a:lnTo>
                  <a:lnTo>
                    <a:pt x="0" y="0"/>
                  </a:lnTo>
                  <a:lnTo>
                    <a:pt x="30" y="2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60" name="Freeform 159"/>
            <p:cNvSpPr>
              <a:spLocks/>
            </p:cNvSpPr>
            <p:nvPr/>
          </p:nvSpPr>
          <p:spPr bwMode="auto">
            <a:xfrm>
              <a:off x="2643" y="3176"/>
              <a:ext cx="33" cy="54"/>
            </a:xfrm>
            <a:custGeom>
              <a:avLst/>
              <a:gdLst>
                <a:gd name="T0" fmla="*/ 33 w 33"/>
                <a:gd name="T1" fmla="*/ 24 h 54"/>
                <a:gd name="T2" fmla="*/ 33 w 33"/>
                <a:gd name="T3" fmla="*/ 54 h 54"/>
                <a:gd name="T4" fmla="*/ 0 w 33"/>
                <a:gd name="T5" fmla="*/ 30 h 54"/>
                <a:gd name="T6" fmla="*/ 0 w 33"/>
                <a:gd name="T7" fmla="*/ 0 h 54"/>
                <a:gd name="T8" fmla="*/ 33 w 33"/>
                <a:gd name="T9" fmla="*/ 24 h 54"/>
              </a:gdLst>
              <a:ahLst/>
              <a:cxnLst>
                <a:cxn ang="0">
                  <a:pos x="T0" y="T1"/>
                </a:cxn>
                <a:cxn ang="0">
                  <a:pos x="T2" y="T3"/>
                </a:cxn>
                <a:cxn ang="0">
                  <a:pos x="T4" y="T5"/>
                </a:cxn>
                <a:cxn ang="0">
                  <a:pos x="T6" y="T7"/>
                </a:cxn>
                <a:cxn ang="0">
                  <a:pos x="T8" y="T9"/>
                </a:cxn>
              </a:cxnLst>
              <a:rect l="0" t="0" r="r" b="b"/>
              <a:pathLst>
                <a:path w="33" h="54">
                  <a:moveTo>
                    <a:pt x="33" y="24"/>
                  </a:moveTo>
                  <a:lnTo>
                    <a:pt x="33" y="54"/>
                  </a:lnTo>
                  <a:lnTo>
                    <a:pt x="0" y="30"/>
                  </a:lnTo>
                  <a:lnTo>
                    <a:pt x="0" y="0"/>
                  </a:lnTo>
                  <a:lnTo>
                    <a:pt x="33" y="2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61" name="Freeform 160"/>
            <p:cNvSpPr>
              <a:spLocks/>
            </p:cNvSpPr>
            <p:nvPr/>
          </p:nvSpPr>
          <p:spPr bwMode="auto">
            <a:xfrm>
              <a:off x="2607" y="3150"/>
              <a:ext cx="34" cy="53"/>
            </a:xfrm>
            <a:custGeom>
              <a:avLst/>
              <a:gdLst>
                <a:gd name="T0" fmla="*/ 34 w 34"/>
                <a:gd name="T1" fmla="*/ 25 h 53"/>
                <a:gd name="T2" fmla="*/ 34 w 34"/>
                <a:gd name="T3" fmla="*/ 53 h 53"/>
                <a:gd name="T4" fmla="*/ 0 w 34"/>
                <a:gd name="T5" fmla="*/ 28 h 53"/>
                <a:gd name="T6" fmla="*/ 0 w 34"/>
                <a:gd name="T7" fmla="*/ 0 h 53"/>
                <a:gd name="T8" fmla="*/ 34 w 34"/>
                <a:gd name="T9" fmla="*/ 25 h 53"/>
              </a:gdLst>
              <a:ahLst/>
              <a:cxnLst>
                <a:cxn ang="0">
                  <a:pos x="T0" y="T1"/>
                </a:cxn>
                <a:cxn ang="0">
                  <a:pos x="T2" y="T3"/>
                </a:cxn>
                <a:cxn ang="0">
                  <a:pos x="T4" y="T5"/>
                </a:cxn>
                <a:cxn ang="0">
                  <a:pos x="T6" y="T7"/>
                </a:cxn>
                <a:cxn ang="0">
                  <a:pos x="T8" y="T9"/>
                </a:cxn>
              </a:cxnLst>
              <a:rect l="0" t="0" r="r" b="b"/>
              <a:pathLst>
                <a:path w="34" h="53">
                  <a:moveTo>
                    <a:pt x="34" y="25"/>
                  </a:moveTo>
                  <a:lnTo>
                    <a:pt x="34" y="53"/>
                  </a:lnTo>
                  <a:lnTo>
                    <a:pt x="0" y="28"/>
                  </a:lnTo>
                  <a:lnTo>
                    <a:pt x="0" y="0"/>
                  </a:lnTo>
                  <a:lnTo>
                    <a:pt x="34" y="2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62" name="Freeform 161"/>
            <p:cNvSpPr>
              <a:spLocks/>
            </p:cNvSpPr>
            <p:nvPr/>
          </p:nvSpPr>
          <p:spPr bwMode="auto">
            <a:xfrm>
              <a:off x="2575" y="3191"/>
              <a:ext cx="29" cy="50"/>
            </a:xfrm>
            <a:custGeom>
              <a:avLst/>
              <a:gdLst>
                <a:gd name="T0" fmla="*/ 29 w 29"/>
                <a:gd name="T1" fmla="*/ 23 h 50"/>
                <a:gd name="T2" fmla="*/ 29 w 29"/>
                <a:gd name="T3" fmla="*/ 50 h 50"/>
                <a:gd name="T4" fmla="*/ 0 w 29"/>
                <a:gd name="T5" fmla="*/ 26 h 50"/>
                <a:gd name="T6" fmla="*/ 0 w 29"/>
                <a:gd name="T7" fmla="*/ 0 h 50"/>
                <a:gd name="T8" fmla="*/ 29 w 29"/>
                <a:gd name="T9" fmla="*/ 23 h 50"/>
              </a:gdLst>
              <a:ahLst/>
              <a:cxnLst>
                <a:cxn ang="0">
                  <a:pos x="T0" y="T1"/>
                </a:cxn>
                <a:cxn ang="0">
                  <a:pos x="T2" y="T3"/>
                </a:cxn>
                <a:cxn ang="0">
                  <a:pos x="T4" y="T5"/>
                </a:cxn>
                <a:cxn ang="0">
                  <a:pos x="T6" y="T7"/>
                </a:cxn>
                <a:cxn ang="0">
                  <a:pos x="T8" y="T9"/>
                </a:cxn>
              </a:cxnLst>
              <a:rect l="0" t="0" r="r" b="b"/>
              <a:pathLst>
                <a:path w="29" h="50">
                  <a:moveTo>
                    <a:pt x="29" y="23"/>
                  </a:moveTo>
                  <a:lnTo>
                    <a:pt x="29" y="50"/>
                  </a:lnTo>
                  <a:lnTo>
                    <a:pt x="0" y="26"/>
                  </a:lnTo>
                  <a:lnTo>
                    <a:pt x="0" y="0"/>
                  </a:lnTo>
                  <a:lnTo>
                    <a:pt x="29" y="2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63" name="Freeform 162"/>
            <p:cNvSpPr>
              <a:spLocks/>
            </p:cNvSpPr>
            <p:nvPr/>
          </p:nvSpPr>
          <p:spPr bwMode="auto">
            <a:xfrm>
              <a:off x="2676" y="3271"/>
              <a:ext cx="40" cy="63"/>
            </a:xfrm>
            <a:custGeom>
              <a:avLst/>
              <a:gdLst>
                <a:gd name="T0" fmla="*/ 40 w 40"/>
                <a:gd name="T1" fmla="*/ 33 h 63"/>
                <a:gd name="T2" fmla="*/ 40 w 40"/>
                <a:gd name="T3" fmla="*/ 63 h 63"/>
                <a:gd name="T4" fmla="*/ 0 w 40"/>
                <a:gd name="T5" fmla="*/ 32 h 63"/>
                <a:gd name="T6" fmla="*/ 0 w 40"/>
                <a:gd name="T7" fmla="*/ 0 h 63"/>
                <a:gd name="T8" fmla="*/ 40 w 40"/>
                <a:gd name="T9" fmla="*/ 33 h 63"/>
              </a:gdLst>
              <a:ahLst/>
              <a:cxnLst>
                <a:cxn ang="0">
                  <a:pos x="T0" y="T1"/>
                </a:cxn>
                <a:cxn ang="0">
                  <a:pos x="T2" y="T3"/>
                </a:cxn>
                <a:cxn ang="0">
                  <a:pos x="T4" y="T5"/>
                </a:cxn>
                <a:cxn ang="0">
                  <a:pos x="T6" y="T7"/>
                </a:cxn>
                <a:cxn ang="0">
                  <a:pos x="T8" y="T9"/>
                </a:cxn>
              </a:cxnLst>
              <a:rect l="0" t="0" r="r" b="b"/>
              <a:pathLst>
                <a:path w="40" h="63">
                  <a:moveTo>
                    <a:pt x="40" y="33"/>
                  </a:moveTo>
                  <a:lnTo>
                    <a:pt x="40" y="63"/>
                  </a:lnTo>
                  <a:lnTo>
                    <a:pt x="0" y="32"/>
                  </a:lnTo>
                  <a:lnTo>
                    <a:pt x="0" y="0"/>
                  </a:lnTo>
                  <a:lnTo>
                    <a:pt x="40" y="33"/>
                  </a:lnTo>
                  <a:close/>
                </a:path>
              </a:pathLst>
            </a:custGeom>
            <a:solidFill>
              <a:srgbClr val="4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64" name="Freeform 163"/>
            <p:cNvSpPr>
              <a:spLocks/>
            </p:cNvSpPr>
            <p:nvPr/>
          </p:nvSpPr>
          <p:spPr bwMode="auto">
            <a:xfrm>
              <a:off x="2642" y="3244"/>
              <a:ext cx="32" cy="58"/>
            </a:xfrm>
            <a:custGeom>
              <a:avLst/>
              <a:gdLst>
                <a:gd name="T0" fmla="*/ 32 w 32"/>
                <a:gd name="T1" fmla="*/ 26 h 58"/>
                <a:gd name="T2" fmla="*/ 32 w 32"/>
                <a:gd name="T3" fmla="*/ 58 h 58"/>
                <a:gd name="T4" fmla="*/ 0 w 32"/>
                <a:gd name="T5" fmla="*/ 29 h 58"/>
                <a:gd name="T6" fmla="*/ 0 w 32"/>
                <a:gd name="T7" fmla="*/ 0 h 58"/>
                <a:gd name="T8" fmla="*/ 32 w 32"/>
                <a:gd name="T9" fmla="*/ 26 h 58"/>
              </a:gdLst>
              <a:ahLst/>
              <a:cxnLst>
                <a:cxn ang="0">
                  <a:pos x="T0" y="T1"/>
                </a:cxn>
                <a:cxn ang="0">
                  <a:pos x="T2" y="T3"/>
                </a:cxn>
                <a:cxn ang="0">
                  <a:pos x="T4" y="T5"/>
                </a:cxn>
                <a:cxn ang="0">
                  <a:pos x="T6" y="T7"/>
                </a:cxn>
                <a:cxn ang="0">
                  <a:pos x="T8" y="T9"/>
                </a:cxn>
              </a:cxnLst>
              <a:rect l="0" t="0" r="r" b="b"/>
              <a:pathLst>
                <a:path w="32" h="58">
                  <a:moveTo>
                    <a:pt x="32" y="26"/>
                  </a:moveTo>
                  <a:lnTo>
                    <a:pt x="32" y="58"/>
                  </a:lnTo>
                  <a:lnTo>
                    <a:pt x="0" y="29"/>
                  </a:lnTo>
                  <a:lnTo>
                    <a:pt x="0" y="0"/>
                  </a:lnTo>
                  <a:lnTo>
                    <a:pt x="32" y="26"/>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65" name="Freeform 164"/>
            <p:cNvSpPr>
              <a:spLocks/>
            </p:cNvSpPr>
            <p:nvPr/>
          </p:nvSpPr>
          <p:spPr bwMode="auto">
            <a:xfrm>
              <a:off x="2606" y="3215"/>
              <a:ext cx="34" cy="56"/>
            </a:xfrm>
            <a:custGeom>
              <a:avLst/>
              <a:gdLst>
                <a:gd name="T0" fmla="*/ 34 w 34"/>
                <a:gd name="T1" fmla="*/ 28 h 56"/>
                <a:gd name="T2" fmla="*/ 34 w 34"/>
                <a:gd name="T3" fmla="*/ 56 h 56"/>
                <a:gd name="T4" fmla="*/ 0 w 34"/>
                <a:gd name="T5" fmla="*/ 29 h 56"/>
                <a:gd name="T6" fmla="*/ 0 w 34"/>
                <a:gd name="T7" fmla="*/ 0 h 56"/>
                <a:gd name="T8" fmla="*/ 34 w 34"/>
                <a:gd name="T9" fmla="*/ 28 h 56"/>
              </a:gdLst>
              <a:ahLst/>
              <a:cxnLst>
                <a:cxn ang="0">
                  <a:pos x="T0" y="T1"/>
                </a:cxn>
                <a:cxn ang="0">
                  <a:pos x="T2" y="T3"/>
                </a:cxn>
                <a:cxn ang="0">
                  <a:pos x="T4" y="T5"/>
                </a:cxn>
                <a:cxn ang="0">
                  <a:pos x="T6" y="T7"/>
                </a:cxn>
                <a:cxn ang="0">
                  <a:pos x="T8" y="T9"/>
                </a:cxn>
              </a:cxnLst>
              <a:rect l="0" t="0" r="r" b="b"/>
              <a:pathLst>
                <a:path w="34" h="56">
                  <a:moveTo>
                    <a:pt x="34" y="28"/>
                  </a:moveTo>
                  <a:lnTo>
                    <a:pt x="34" y="56"/>
                  </a:lnTo>
                  <a:lnTo>
                    <a:pt x="0" y="29"/>
                  </a:lnTo>
                  <a:lnTo>
                    <a:pt x="0" y="0"/>
                  </a:lnTo>
                  <a:lnTo>
                    <a:pt x="34" y="28"/>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66" name="Freeform 165"/>
            <p:cNvSpPr>
              <a:spLocks/>
            </p:cNvSpPr>
            <p:nvPr/>
          </p:nvSpPr>
          <p:spPr bwMode="auto">
            <a:xfrm>
              <a:off x="2575" y="3255"/>
              <a:ext cx="29" cy="51"/>
            </a:xfrm>
            <a:custGeom>
              <a:avLst/>
              <a:gdLst>
                <a:gd name="T0" fmla="*/ 29 w 29"/>
                <a:gd name="T1" fmla="*/ 24 h 51"/>
                <a:gd name="T2" fmla="*/ 29 w 29"/>
                <a:gd name="T3" fmla="*/ 51 h 51"/>
                <a:gd name="T4" fmla="*/ 0 w 29"/>
                <a:gd name="T5" fmla="*/ 25 h 51"/>
                <a:gd name="T6" fmla="*/ 0 w 29"/>
                <a:gd name="T7" fmla="*/ 0 h 51"/>
                <a:gd name="T8" fmla="*/ 29 w 29"/>
                <a:gd name="T9" fmla="*/ 24 h 51"/>
              </a:gdLst>
              <a:ahLst/>
              <a:cxnLst>
                <a:cxn ang="0">
                  <a:pos x="T0" y="T1"/>
                </a:cxn>
                <a:cxn ang="0">
                  <a:pos x="T2" y="T3"/>
                </a:cxn>
                <a:cxn ang="0">
                  <a:pos x="T4" y="T5"/>
                </a:cxn>
                <a:cxn ang="0">
                  <a:pos x="T6" y="T7"/>
                </a:cxn>
                <a:cxn ang="0">
                  <a:pos x="T8" y="T9"/>
                </a:cxn>
              </a:cxnLst>
              <a:rect l="0" t="0" r="r" b="b"/>
              <a:pathLst>
                <a:path w="29" h="51">
                  <a:moveTo>
                    <a:pt x="29" y="24"/>
                  </a:moveTo>
                  <a:lnTo>
                    <a:pt x="29" y="51"/>
                  </a:lnTo>
                  <a:lnTo>
                    <a:pt x="0" y="25"/>
                  </a:lnTo>
                  <a:lnTo>
                    <a:pt x="0" y="0"/>
                  </a:lnTo>
                  <a:lnTo>
                    <a:pt x="29" y="2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67" name="Freeform 166"/>
            <p:cNvSpPr>
              <a:spLocks/>
            </p:cNvSpPr>
            <p:nvPr/>
          </p:nvSpPr>
          <p:spPr bwMode="auto">
            <a:xfrm>
              <a:off x="2676" y="3344"/>
              <a:ext cx="40" cy="64"/>
            </a:xfrm>
            <a:custGeom>
              <a:avLst/>
              <a:gdLst>
                <a:gd name="T0" fmla="*/ 40 w 40"/>
                <a:gd name="T1" fmla="*/ 35 h 64"/>
                <a:gd name="T2" fmla="*/ 40 w 40"/>
                <a:gd name="T3" fmla="*/ 64 h 64"/>
                <a:gd name="T4" fmla="*/ 0 w 40"/>
                <a:gd name="T5" fmla="*/ 30 h 64"/>
                <a:gd name="T6" fmla="*/ 0 w 40"/>
                <a:gd name="T7" fmla="*/ 0 h 64"/>
                <a:gd name="T8" fmla="*/ 40 w 40"/>
                <a:gd name="T9" fmla="*/ 35 h 64"/>
              </a:gdLst>
              <a:ahLst/>
              <a:cxnLst>
                <a:cxn ang="0">
                  <a:pos x="T0" y="T1"/>
                </a:cxn>
                <a:cxn ang="0">
                  <a:pos x="T2" y="T3"/>
                </a:cxn>
                <a:cxn ang="0">
                  <a:pos x="T4" y="T5"/>
                </a:cxn>
                <a:cxn ang="0">
                  <a:pos x="T6" y="T7"/>
                </a:cxn>
                <a:cxn ang="0">
                  <a:pos x="T8" y="T9"/>
                </a:cxn>
              </a:cxnLst>
              <a:rect l="0" t="0" r="r" b="b"/>
              <a:pathLst>
                <a:path w="40" h="64">
                  <a:moveTo>
                    <a:pt x="40" y="35"/>
                  </a:moveTo>
                  <a:lnTo>
                    <a:pt x="40" y="64"/>
                  </a:lnTo>
                  <a:lnTo>
                    <a:pt x="0" y="30"/>
                  </a:lnTo>
                  <a:lnTo>
                    <a:pt x="0" y="0"/>
                  </a:lnTo>
                  <a:lnTo>
                    <a:pt x="40" y="35"/>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68" name="Freeform 167"/>
            <p:cNvSpPr>
              <a:spLocks/>
            </p:cNvSpPr>
            <p:nvPr/>
          </p:nvSpPr>
          <p:spPr bwMode="auto">
            <a:xfrm>
              <a:off x="2642" y="3313"/>
              <a:ext cx="32" cy="60"/>
            </a:xfrm>
            <a:custGeom>
              <a:avLst/>
              <a:gdLst>
                <a:gd name="T0" fmla="*/ 32 w 32"/>
                <a:gd name="T1" fmla="*/ 29 h 60"/>
                <a:gd name="T2" fmla="*/ 32 w 32"/>
                <a:gd name="T3" fmla="*/ 60 h 60"/>
                <a:gd name="T4" fmla="*/ 0 w 32"/>
                <a:gd name="T5" fmla="*/ 29 h 60"/>
                <a:gd name="T6" fmla="*/ 0 w 32"/>
                <a:gd name="T7" fmla="*/ 0 h 60"/>
                <a:gd name="T8" fmla="*/ 32 w 32"/>
                <a:gd name="T9" fmla="*/ 29 h 60"/>
              </a:gdLst>
              <a:ahLst/>
              <a:cxnLst>
                <a:cxn ang="0">
                  <a:pos x="T0" y="T1"/>
                </a:cxn>
                <a:cxn ang="0">
                  <a:pos x="T2" y="T3"/>
                </a:cxn>
                <a:cxn ang="0">
                  <a:pos x="T4" y="T5"/>
                </a:cxn>
                <a:cxn ang="0">
                  <a:pos x="T6" y="T7"/>
                </a:cxn>
                <a:cxn ang="0">
                  <a:pos x="T8" y="T9"/>
                </a:cxn>
              </a:cxnLst>
              <a:rect l="0" t="0" r="r" b="b"/>
              <a:pathLst>
                <a:path w="32" h="60">
                  <a:moveTo>
                    <a:pt x="32" y="29"/>
                  </a:moveTo>
                  <a:lnTo>
                    <a:pt x="32" y="60"/>
                  </a:lnTo>
                  <a:lnTo>
                    <a:pt x="0" y="29"/>
                  </a:lnTo>
                  <a:lnTo>
                    <a:pt x="0" y="0"/>
                  </a:lnTo>
                  <a:lnTo>
                    <a:pt x="32" y="29"/>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69" name="Freeform 168"/>
            <p:cNvSpPr>
              <a:spLocks/>
            </p:cNvSpPr>
            <p:nvPr/>
          </p:nvSpPr>
          <p:spPr bwMode="auto">
            <a:xfrm>
              <a:off x="2606" y="3280"/>
              <a:ext cx="34" cy="60"/>
            </a:xfrm>
            <a:custGeom>
              <a:avLst/>
              <a:gdLst>
                <a:gd name="T0" fmla="*/ 34 w 34"/>
                <a:gd name="T1" fmla="*/ 32 h 60"/>
                <a:gd name="T2" fmla="*/ 34 w 34"/>
                <a:gd name="T3" fmla="*/ 60 h 60"/>
                <a:gd name="T4" fmla="*/ 0 w 34"/>
                <a:gd name="T5" fmla="*/ 30 h 60"/>
                <a:gd name="T6" fmla="*/ 0 w 34"/>
                <a:gd name="T7" fmla="*/ 0 h 60"/>
                <a:gd name="T8" fmla="*/ 34 w 34"/>
                <a:gd name="T9" fmla="*/ 32 h 60"/>
              </a:gdLst>
              <a:ahLst/>
              <a:cxnLst>
                <a:cxn ang="0">
                  <a:pos x="T0" y="T1"/>
                </a:cxn>
                <a:cxn ang="0">
                  <a:pos x="T2" y="T3"/>
                </a:cxn>
                <a:cxn ang="0">
                  <a:pos x="T4" y="T5"/>
                </a:cxn>
                <a:cxn ang="0">
                  <a:pos x="T6" y="T7"/>
                </a:cxn>
                <a:cxn ang="0">
                  <a:pos x="T8" y="T9"/>
                </a:cxn>
              </a:cxnLst>
              <a:rect l="0" t="0" r="r" b="b"/>
              <a:pathLst>
                <a:path w="34" h="60">
                  <a:moveTo>
                    <a:pt x="34" y="32"/>
                  </a:moveTo>
                  <a:lnTo>
                    <a:pt x="34" y="60"/>
                  </a:lnTo>
                  <a:lnTo>
                    <a:pt x="0" y="30"/>
                  </a:lnTo>
                  <a:lnTo>
                    <a:pt x="0" y="0"/>
                  </a:lnTo>
                  <a:lnTo>
                    <a:pt x="34" y="3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70" name="Freeform 169"/>
            <p:cNvSpPr>
              <a:spLocks/>
            </p:cNvSpPr>
            <p:nvPr/>
          </p:nvSpPr>
          <p:spPr bwMode="auto">
            <a:xfrm>
              <a:off x="2575" y="3318"/>
              <a:ext cx="29" cy="56"/>
            </a:xfrm>
            <a:custGeom>
              <a:avLst/>
              <a:gdLst>
                <a:gd name="T0" fmla="*/ 29 w 29"/>
                <a:gd name="T1" fmla="*/ 29 h 56"/>
                <a:gd name="T2" fmla="*/ 29 w 29"/>
                <a:gd name="T3" fmla="*/ 56 h 56"/>
                <a:gd name="T4" fmla="*/ 0 w 29"/>
                <a:gd name="T5" fmla="*/ 28 h 56"/>
                <a:gd name="T6" fmla="*/ 0 w 29"/>
                <a:gd name="T7" fmla="*/ 0 h 56"/>
                <a:gd name="T8" fmla="*/ 29 w 29"/>
                <a:gd name="T9" fmla="*/ 29 h 56"/>
              </a:gdLst>
              <a:ahLst/>
              <a:cxnLst>
                <a:cxn ang="0">
                  <a:pos x="T0" y="T1"/>
                </a:cxn>
                <a:cxn ang="0">
                  <a:pos x="T2" y="T3"/>
                </a:cxn>
                <a:cxn ang="0">
                  <a:pos x="T4" y="T5"/>
                </a:cxn>
                <a:cxn ang="0">
                  <a:pos x="T6" y="T7"/>
                </a:cxn>
                <a:cxn ang="0">
                  <a:pos x="T8" y="T9"/>
                </a:cxn>
              </a:cxnLst>
              <a:rect l="0" t="0" r="r" b="b"/>
              <a:pathLst>
                <a:path w="29" h="56">
                  <a:moveTo>
                    <a:pt x="29" y="29"/>
                  </a:moveTo>
                  <a:lnTo>
                    <a:pt x="29" y="56"/>
                  </a:lnTo>
                  <a:lnTo>
                    <a:pt x="0" y="28"/>
                  </a:lnTo>
                  <a:lnTo>
                    <a:pt x="0" y="0"/>
                  </a:lnTo>
                  <a:lnTo>
                    <a:pt x="29" y="29"/>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71" name="Freeform 170"/>
            <p:cNvSpPr>
              <a:spLocks/>
            </p:cNvSpPr>
            <p:nvPr/>
          </p:nvSpPr>
          <p:spPr bwMode="auto">
            <a:xfrm>
              <a:off x="2676" y="3415"/>
              <a:ext cx="40" cy="70"/>
            </a:xfrm>
            <a:custGeom>
              <a:avLst/>
              <a:gdLst>
                <a:gd name="T0" fmla="*/ 40 w 40"/>
                <a:gd name="T1" fmla="*/ 38 h 70"/>
                <a:gd name="T2" fmla="*/ 40 w 40"/>
                <a:gd name="T3" fmla="*/ 70 h 70"/>
                <a:gd name="T4" fmla="*/ 0 w 40"/>
                <a:gd name="T5" fmla="*/ 31 h 70"/>
                <a:gd name="T6" fmla="*/ 0 w 40"/>
                <a:gd name="T7" fmla="*/ 0 h 70"/>
                <a:gd name="T8" fmla="*/ 40 w 40"/>
                <a:gd name="T9" fmla="*/ 38 h 70"/>
              </a:gdLst>
              <a:ahLst/>
              <a:cxnLst>
                <a:cxn ang="0">
                  <a:pos x="T0" y="T1"/>
                </a:cxn>
                <a:cxn ang="0">
                  <a:pos x="T2" y="T3"/>
                </a:cxn>
                <a:cxn ang="0">
                  <a:pos x="T4" y="T5"/>
                </a:cxn>
                <a:cxn ang="0">
                  <a:pos x="T6" y="T7"/>
                </a:cxn>
                <a:cxn ang="0">
                  <a:pos x="T8" y="T9"/>
                </a:cxn>
              </a:cxnLst>
              <a:rect l="0" t="0" r="r" b="b"/>
              <a:pathLst>
                <a:path w="40" h="70">
                  <a:moveTo>
                    <a:pt x="40" y="38"/>
                  </a:moveTo>
                  <a:lnTo>
                    <a:pt x="40" y="70"/>
                  </a:lnTo>
                  <a:lnTo>
                    <a:pt x="0" y="31"/>
                  </a:lnTo>
                  <a:lnTo>
                    <a:pt x="0" y="0"/>
                  </a:lnTo>
                  <a:lnTo>
                    <a:pt x="40" y="3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72" name="Freeform 171"/>
            <p:cNvSpPr>
              <a:spLocks/>
            </p:cNvSpPr>
            <p:nvPr/>
          </p:nvSpPr>
          <p:spPr bwMode="auto">
            <a:xfrm>
              <a:off x="2642" y="3383"/>
              <a:ext cx="32" cy="62"/>
            </a:xfrm>
            <a:custGeom>
              <a:avLst/>
              <a:gdLst>
                <a:gd name="T0" fmla="*/ 32 w 32"/>
                <a:gd name="T1" fmla="*/ 31 h 62"/>
                <a:gd name="T2" fmla="*/ 32 w 32"/>
                <a:gd name="T3" fmla="*/ 62 h 62"/>
                <a:gd name="T4" fmla="*/ 0 w 32"/>
                <a:gd name="T5" fmla="*/ 30 h 62"/>
                <a:gd name="T6" fmla="*/ 0 w 32"/>
                <a:gd name="T7" fmla="*/ 0 h 62"/>
                <a:gd name="T8" fmla="*/ 32 w 32"/>
                <a:gd name="T9" fmla="*/ 31 h 62"/>
              </a:gdLst>
              <a:ahLst/>
              <a:cxnLst>
                <a:cxn ang="0">
                  <a:pos x="T0" y="T1"/>
                </a:cxn>
                <a:cxn ang="0">
                  <a:pos x="T2" y="T3"/>
                </a:cxn>
                <a:cxn ang="0">
                  <a:pos x="T4" y="T5"/>
                </a:cxn>
                <a:cxn ang="0">
                  <a:pos x="T6" y="T7"/>
                </a:cxn>
                <a:cxn ang="0">
                  <a:pos x="T8" y="T9"/>
                </a:cxn>
              </a:cxnLst>
              <a:rect l="0" t="0" r="r" b="b"/>
              <a:pathLst>
                <a:path w="32" h="62">
                  <a:moveTo>
                    <a:pt x="32" y="31"/>
                  </a:moveTo>
                  <a:lnTo>
                    <a:pt x="32" y="62"/>
                  </a:lnTo>
                  <a:lnTo>
                    <a:pt x="0" y="30"/>
                  </a:lnTo>
                  <a:lnTo>
                    <a:pt x="0" y="0"/>
                  </a:lnTo>
                  <a:lnTo>
                    <a:pt x="32" y="31"/>
                  </a:lnTo>
                  <a:close/>
                </a:path>
              </a:pathLst>
            </a:custGeom>
            <a:solidFill>
              <a:srgbClr val="6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73" name="Freeform 172"/>
            <p:cNvSpPr>
              <a:spLocks/>
            </p:cNvSpPr>
            <p:nvPr/>
          </p:nvSpPr>
          <p:spPr bwMode="auto">
            <a:xfrm>
              <a:off x="2606" y="3348"/>
              <a:ext cx="34" cy="62"/>
            </a:xfrm>
            <a:custGeom>
              <a:avLst/>
              <a:gdLst>
                <a:gd name="T0" fmla="*/ 34 w 34"/>
                <a:gd name="T1" fmla="*/ 34 h 62"/>
                <a:gd name="T2" fmla="*/ 34 w 34"/>
                <a:gd name="T3" fmla="*/ 62 h 62"/>
                <a:gd name="T4" fmla="*/ 0 w 34"/>
                <a:gd name="T5" fmla="*/ 28 h 62"/>
                <a:gd name="T6" fmla="*/ 0 w 34"/>
                <a:gd name="T7" fmla="*/ 0 h 62"/>
                <a:gd name="T8" fmla="*/ 34 w 34"/>
                <a:gd name="T9" fmla="*/ 34 h 62"/>
              </a:gdLst>
              <a:ahLst/>
              <a:cxnLst>
                <a:cxn ang="0">
                  <a:pos x="T0" y="T1"/>
                </a:cxn>
                <a:cxn ang="0">
                  <a:pos x="T2" y="T3"/>
                </a:cxn>
                <a:cxn ang="0">
                  <a:pos x="T4" y="T5"/>
                </a:cxn>
                <a:cxn ang="0">
                  <a:pos x="T6" y="T7"/>
                </a:cxn>
                <a:cxn ang="0">
                  <a:pos x="T8" y="T9"/>
                </a:cxn>
              </a:cxnLst>
              <a:rect l="0" t="0" r="r" b="b"/>
              <a:pathLst>
                <a:path w="34" h="62">
                  <a:moveTo>
                    <a:pt x="34" y="34"/>
                  </a:moveTo>
                  <a:lnTo>
                    <a:pt x="34" y="62"/>
                  </a:lnTo>
                  <a:lnTo>
                    <a:pt x="0" y="28"/>
                  </a:lnTo>
                  <a:lnTo>
                    <a:pt x="0" y="0"/>
                  </a:lnTo>
                  <a:lnTo>
                    <a:pt x="34" y="3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74" name="Freeform 173"/>
            <p:cNvSpPr>
              <a:spLocks/>
            </p:cNvSpPr>
            <p:nvPr/>
          </p:nvSpPr>
          <p:spPr bwMode="auto">
            <a:xfrm>
              <a:off x="2677" y="3057"/>
              <a:ext cx="38" cy="54"/>
            </a:xfrm>
            <a:custGeom>
              <a:avLst/>
              <a:gdLst>
                <a:gd name="T0" fmla="*/ 38 w 38"/>
                <a:gd name="T1" fmla="*/ 23 h 54"/>
                <a:gd name="T2" fmla="*/ 38 w 38"/>
                <a:gd name="T3" fmla="*/ 54 h 54"/>
                <a:gd name="T4" fmla="*/ 0 w 38"/>
                <a:gd name="T5" fmla="*/ 31 h 54"/>
                <a:gd name="T6" fmla="*/ 0 w 38"/>
                <a:gd name="T7" fmla="*/ 0 h 54"/>
                <a:gd name="T8" fmla="*/ 38 w 38"/>
                <a:gd name="T9" fmla="*/ 23 h 54"/>
              </a:gdLst>
              <a:ahLst/>
              <a:cxnLst>
                <a:cxn ang="0">
                  <a:pos x="T0" y="T1"/>
                </a:cxn>
                <a:cxn ang="0">
                  <a:pos x="T2" y="T3"/>
                </a:cxn>
                <a:cxn ang="0">
                  <a:pos x="T4" y="T5"/>
                </a:cxn>
                <a:cxn ang="0">
                  <a:pos x="T6" y="T7"/>
                </a:cxn>
                <a:cxn ang="0">
                  <a:pos x="T8" y="T9"/>
                </a:cxn>
              </a:cxnLst>
              <a:rect l="0" t="0" r="r" b="b"/>
              <a:pathLst>
                <a:path w="38" h="54">
                  <a:moveTo>
                    <a:pt x="38" y="23"/>
                  </a:moveTo>
                  <a:lnTo>
                    <a:pt x="38" y="54"/>
                  </a:lnTo>
                  <a:lnTo>
                    <a:pt x="0" y="31"/>
                  </a:lnTo>
                  <a:lnTo>
                    <a:pt x="0" y="0"/>
                  </a:lnTo>
                  <a:lnTo>
                    <a:pt x="38" y="2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75" name="Freeform 174"/>
            <p:cNvSpPr>
              <a:spLocks/>
            </p:cNvSpPr>
            <p:nvPr/>
          </p:nvSpPr>
          <p:spPr bwMode="auto">
            <a:xfrm>
              <a:off x="2704" y="3110"/>
              <a:ext cx="12" cy="38"/>
            </a:xfrm>
            <a:custGeom>
              <a:avLst/>
              <a:gdLst>
                <a:gd name="T0" fmla="*/ 12 w 12"/>
                <a:gd name="T1" fmla="*/ 8 h 38"/>
                <a:gd name="T2" fmla="*/ 12 w 12"/>
                <a:gd name="T3" fmla="*/ 38 h 38"/>
                <a:gd name="T4" fmla="*/ 0 w 12"/>
                <a:gd name="T5" fmla="*/ 30 h 38"/>
                <a:gd name="T6" fmla="*/ 0 w 12"/>
                <a:gd name="T7" fmla="*/ 0 h 38"/>
                <a:gd name="T8" fmla="*/ 12 w 12"/>
                <a:gd name="T9" fmla="*/ 8 h 38"/>
              </a:gdLst>
              <a:ahLst/>
              <a:cxnLst>
                <a:cxn ang="0">
                  <a:pos x="T0" y="T1"/>
                </a:cxn>
                <a:cxn ang="0">
                  <a:pos x="T2" y="T3"/>
                </a:cxn>
                <a:cxn ang="0">
                  <a:pos x="T4" y="T5"/>
                </a:cxn>
                <a:cxn ang="0">
                  <a:pos x="T6" y="T7"/>
                </a:cxn>
                <a:cxn ang="0">
                  <a:pos x="T8" y="T9"/>
                </a:cxn>
              </a:cxnLst>
              <a:rect l="0" t="0" r="r" b="b"/>
              <a:pathLst>
                <a:path w="12" h="38">
                  <a:moveTo>
                    <a:pt x="12" y="8"/>
                  </a:moveTo>
                  <a:lnTo>
                    <a:pt x="12" y="38"/>
                  </a:lnTo>
                  <a:lnTo>
                    <a:pt x="0" y="30"/>
                  </a:lnTo>
                  <a:lnTo>
                    <a:pt x="0" y="0"/>
                  </a:lnTo>
                  <a:lnTo>
                    <a:pt x="12" y="8"/>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76" name="Freeform 175"/>
            <p:cNvSpPr>
              <a:spLocks/>
            </p:cNvSpPr>
            <p:nvPr/>
          </p:nvSpPr>
          <p:spPr bwMode="auto">
            <a:xfrm>
              <a:off x="2677" y="3201"/>
              <a:ext cx="38" cy="58"/>
            </a:xfrm>
            <a:custGeom>
              <a:avLst/>
              <a:gdLst>
                <a:gd name="T0" fmla="*/ 38 w 38"/>
                <a:gd name="T1" fmla="*/ 27 h 58"/>
                <a:gd name="T2" fmla="*/ 38 w 38"/>
                <a:gd name="T3" fmla="*/ 58 h 58"/>
                <a:gd name="T4" fmla="*/ 0 w 38"/>
                <a:gd name="T5" fmla="*/ 30 h 58"/>
                <a:gd name="T6" fmla="*/ 0 w 38"/>
                <a:gd name="T7" fmla="*/ 0 h 58"/>
                <a:gd name="T8" fmla="*/ 38 w 38"/>
                <a:gd name="T9" fmla="*/ 27 h 58"/>
              </a:gdLst>
              <a:ahLst/>
              <a:cxnLst>
                <a:cxn ang="0">
                  <a:pos x="T0" y="T1"/>
                </a:cxn>
                <a:cxn ang="0">
                  <a:pos x="T2" y="T3"/>
                </a:cxn>
                <a:cxn ang="0">
                  <a:pos x="T4" y="T5"/>
                </a:cxn>
                <a:cxn ang="0">
                  <a:pos x="T6" y="T7"/>
                </a:cxn>
                <a:cxn ang="0">
                  <a:pos x="T8" y="T9"/>
                </a:cxn>
              </a:cxnLst>
              <a:rect l="0" t="0" r="r" b="b"/>
              <a:pathLst>
                <a:path w="38" h="58">
                  <a:moveTo>
                    <a:pt x="38" y="27"/>
                  </a:moveTo>
                  <a:lnTo>
                    <a:pt x="38" y="58"/>
                  </a:lnTo>
                  <a:lnTo>
                    <a:pt x="0" y="30"/>
                  </a:lnTo>
                  <a:lnTo>
                    <a:pt x="0" y="0"/>
                  </a:lnTo>
                  <a:lnTo>
                    <a:pt x="38" y="27"/>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77" name="Rectangle 176"/>
            <p:cNvSpPr>
              <a:spLocks noChangeArrowheads="1"/>
            </p:cNvSpPr>
            <p:nvPr/>
          </p:nvSpPr>
          <p:spPr bwMode="auto">
            <a:xfrm>
              <a:off x="2715" y="3379"/>
              <a:ext cx="18" cy="32"/>
            </a:xfrm>
            <a:prstGeom prst="rect">
              <a:avLst/>
            </a:prstGeom>
            <a:solidFill>
              <a:srgbClr val="6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78" name="Freeform 177"/>
            <p:cNvSpPr>
              <a:spLocks/>
            </p:cNvSpPr>
            <p:nvPr/>
          </p:nvSpPr>
          <p:spPr bwMode="auto">
            <a:xfrm>
              <a:off x="2550" y="2912"/>
              <a:ext cx="278" cy="79"/>
            </a:xfrm>
            <a:custGeom>
              <a:avLst/>
              <a:gdLst>
                <a:gd name="T0" fmla="*/ 0 w 278"/>
                <a:gd name="T1" fmla="*/ 0 h 79"/>
                <a:gd name="T2" fmla="*/ 119 w 278"/>
                <a:gd name="T3" fmla="*/ 6 h 79"/>
                <a:gd name="T4" fmla="*/ 278 w 278"/>
                <a:gd name="T5" fmla="*/ 75 h 79"/>
                <a:gd name="T6" fmla="*/ 168 w 278"/>
                <a:gd name="T7" fmla="*/ 79 h 79"/>
                <a:gd name="T8" fmla="*/ 0 w 278"/>
                <a:gd name="T9" fmla="*/ 0 h 79"/>
              </a:gdLst>
              <a:ahLst/>
              <a:cxnLst>
                <a:cxn ang="0">
                  <a:pos x="T0" y="T1"/>
                </a:cxn>
                <a:cxn ang="0">
                  <a:pos x="T2" y="T3"/>
                </a:cxn>
                <a:cxn ang="0">
                  <a:pos x="T4" y="T5"/>
                </a:cxn>
                <a:cxn ang="0">
                  <a:pos x="T6" y="T7"/>
                </a:cxn>
                <a:cxn ang="0">
                  <a:pos x="T8" y="T9"/>
                </a:cxn>
              </a:cxnLst>
              <a:rect l="0" t="0" r="r" b="b"/>
              <a:pathLst>
                <a:path w="278" h="79">
                  <a:moveTo>
                    <a:pt x="0" y="0"/>
                  </a:moveTo>
                  <a:lnTo>
                    <a:pt x="119" y="6"/>
                  </a:lnTo>
                  <a:lnTo>
                    <a:pt x="278" y="75"/>
                  </a:lnTo>
                  <a:lnTo>
                    <a:pt x="168" y="79"/>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79" name="Freeform 178"/>
            <p:cNvSpPr>
              <a:spLocks/>
            </p:cNvSpPr>
            <p:nvPr/>
          </p:nvSpPr>
          <p:spPr bwMode="auto">
            <a:xfrm>
              <a:off x="2719" y="2985"/>
              <a:ext cx="108" cy="59"/>
            </a:xfrm>
            <a:custGeom>
              <a:avLst/>
              <a:gdLst>
                <a:gd name="T0" fmla="*/ 1 w 108"/>
                <a:gd name="T1" fmla="*/ 1 h 59"/>
                <a:gd name="T2" fmla="*/ 108 w 108"/>
                <a:gd name="T3" fmla="*/ 0 h 59"/>
                <a:gd name="T4" fmla="*/ 108 w 108"/>
                <a:gd name="T5" fmla="*/ 59 h 59"/>
                <a:gd name="T6" fmla="*/ 0 w 108"/>
                <a:gd name="T7" fmla="*/ 59 h 59"/>
                <a:gd name="T8" fmla="*/ 1 w 108"/>
                <a:gd name="T9" fmla="*/ 1 h 59"/>
              </a:gdLst>
              <a:ahLst/>
              <a:cxnLst>
                <a:cxn ang="0">
                  <a:pos x="T0" y="T1"/>
                </a:cxn>
                <a:cxn ang="0">
                  <a:pos x="T2" y="T3"/>
                </a:cxn>
                <a:cxn ang="0">
                  <a:pos x="T4" y="T5"/>
                </a:cxn>
                <a:cxn ang="0">
                  <a:pos x="T6" y="T7"/>
                </a:cxn>
                <a:cxn ang="0">
                  <a:pos x="T8" y="T9"/>
                </a:cxn>
              </a:cxnLst>
              <a:rect l="0" t="0" r="r" b="b"/>
              <a:pathLst>
                <a:path w="108" h="59">
                  <a:moveTo>
                    <a:pt x="1" y="1"/>
                  </a:moveTo>
                  <a:lnTo>
                    <a:pt x="108" y="0"/>
                  </a:lnTo>
                  <a:lnTo>
                    <a:pt x="108" y="59"/>
                  </a:lnTo>
                  <a:lnTo>
                    <a:pt x="0" y="59"/>
                  </a:lnTo>
                  <a:lnTo>
                    <a:pt x="1" y="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80" name="Freeform 179"/>
            <p:cNvSpPr>
              <a:spLocks/>
            </p:cNvSpPr>
            <p:nvPr/>
          </p:nvSpPr>
          <p:spPr bwMode="auto">
            <a:xfrm>
              <a:off x="2551" y="2912"/>
              <a:ext cx="172" cy="131"/>
            </a:xfrm>
            <a:custGeom>
              <a:avLst/>
              <a:gdLst>
                <a:gd name="T0" fmla="*/ 0 w 172"/>
                <a:gd name="T1" fmla="*/ 0 h 131"/>
                <a:gd name="T2" fmla="*/ 0 w 172"/>
                <a:gd name="T3" fmla="*/ 45 h 131"/>
                <a:gd name="T4" fmla="*/ 172 w 172"/>
                <a:gd name="T5" fmla="*/ 131 h 131"/>
                <a:gd name="T6" fmla="*/ 172 w 172"/>
                <a:gd name="T7" fmla="*/ 73 h 131"/>
                <a:gd name="T8" fmla="*/ 0 w 172"/>
                <a:gd name="T9" fmla="*/ 0 h 131"/>
              </a:gdLst>
              <a:ahLst/>
              <a:cxnLst>
                <a:cxn ang="0">
                  <a:pos x="T0" y="T1"/>
                </a:cxn>
                <a:cxn ang="0">
                  <a:pos x="T2" y="T3"/>
                </a:cxn>
                <a:cxn ang="0">
                  <a:pos x="T4" y="T5"/>
                </a:cxn>
                <a:cxn ang="0">
                  <a:pos x="T6" y="T7"/>
                </a:cxn>
                <a:cxn ang="0">
                  <a:pos x="T8" y="T9"/>
                </a:cxn>
              </a:cxnLst>
              <a:rect l="0" t="0" r="r" b="b"/>
              <a:pathLst>
                <a:path w="172" h="131">
                  <a:moveTo>
                    <a:pt x="0" y="0"/>
                  </a:moveTo>
                  <a:lnTo>
                    <a:pt x="0" y="45"/>
                  </a:lnTo>
                  <a:lnTo>
                    <a:pt x="172" y="131"/>
                  </a:lnTo>
                  <a:lnTo>
                    <a:pt x="172" y="73"/>
                  </a:lnTo>
                  <a:lnTo>
                    <a:pt x="0" y="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81" name="Freeform 180"/>
            <p:cNvSpPr>
              <a:spLocks/>
            </p:cNvSpPr>
            <p:nvPr/>
          </p:nvSpPr>
          <p:spPr bwMode="auto">
            <a:xfrm>
              <a:off x="2401" y="2585"/>
              <a:ext cx="403" cy="77"/>
            </a:xfrm>
            <a:custGeom>
              <a:avLst/>
              <a:gdLst>
                <a:gd name="T0" fmla="*/ 181 w 403"/>
                <a:gd name="T1" fmla="*/ 0 h 77"/>
                <a:gd name="T2" fmla="*/ 142 w 403"/>
                <a:gd name="T3" fmla="*/ 1 h 77"/>
                <a:gd name="T4" fmla="*/ 106 w 403"/>
                <a:gd name="T5" fmla="*/ 5 h 77"/>
                <a:gd name="T6" fmla="*/ 81 w 403"/>
                <a:gd name="T7" fmla="*/ 7 h 77"/>
                <a:gd name="T8" fmla="*/ 66 w 403"/>
                <a:gd name="T9" fmla="*/ 10 h 77"/>
                <a:gd name="T10" fmla="*/ 52 w 403"/>
                <a:gd name="T11" fmla="*/ 13 h 77"/>
                <a:gd name="T12" fmla="*/ 40 w 403"/>
                <a:gd name="T13" fmla="*/ 15 h 77"/>
                <a:gd name="T14" fmla="*/ 29 w 403"/>
                <a:gd name="T15" fmla="*/ 19 h 77"/>
                <a:gd name="T16" fmla="*/ 19 w 403"/>
                <a:gd name="T17" fmla="*/ 22 h 77"/>
                <a:gd name="T18" fmla="*/ 12 w 403"/>
                <a:gd name="T19" fmla="*/ 26 h 77"/>
                <a:gd name="T20" fmla="*/ 7 w 403"/>
                <a:gd name="T21" fmla="*/ 29 h 77"/>
                <a:gd name="T22" fmla="*/ 2 w 403"/>
                <a:gd name="T23" fmla="*/ 33 h 77"/>
                <a:gd name="T24" fmla="*/ 0 w 403"/>
                <a:gd name="T25" fmla="*/ 36 h 77"/>
                <a:gd name="T26" fmla="*/ 0 w 403"/>
                <a:gd name="T27" fmla="*/ 41 h 77"/>
                <a:gd name="T28" fmla="*/ 2 w 403"/>
                <a:gd name="T29" fmla="*/ 45 h 77"/>
                <a:gd name="T30" fmla="*/ 7 w 403"/>
                <a:gd name="T31" fmla="*/ 48 h 77"/>
                <a:gd name="T32" fmla="*/ 12 w 403"/>
                <a:gd name="T33" fmla="*/ 52 h 77"/>
                <a:gd name="T34" fmla="*/ 19 w 403"/>
                <a:gd name="T35" fmla="*/ 55 h 77"/>
                <a:gd name="T36" fmla="*/ 29 w 403"/>
                <a:gd name="T37" fmla="*/ 59 h 77"/>
                <a:gd name="T38" fmla="*/ 40 w 403"/>
                <a:gd name="T39" fmla="*/ 62 h 77"/>
                <a:gd name="T40" fmla="*/ 52 w 403"/>
                <a:gd name="T41" fmla="*/ 65 h 77"/>
                <a:gd name="T42" fmla="*/ 66 w 403"/>
                <a:gd name="T43" fmla="*/ 68 h 77"/>
                <a:gd name="T44" fmla="*/ 81 w 403"/>
                <a:gd name="T45" fmla="*/ 70 h 77"/>
                <a:gd name="T46" fmla="*/ 106 w 403"/>
                <a:gd name="T47" fmla="*/ 73 h 77"/>
                <a:gd name="T48" fmla="*/ 142 w 403"/>
                <a:gd name="T49" fmla="*/ 76 h 77"/>
                <a:gd name="T50" fmla="*/ 181 w 403"/>
                <a:gd name="T51" fmla="*/ 77 h 77"/>
                <a:gd name="T52" fmla="*/ 223 w 403"/>
                <a:gd name="T53" fmla="*/ 77 h 77"/>
                <a:gd name="T54" fmla="*/ 261 w 403"/>
                <a:gd name="T55" fmla="*/ 76 h 77"/>
                <a:gd name="T56" fmla="*/ 297 w 403"/>
                <a:gd name="T57" fmla="*/ 73 h 77"/>
                <a:gd name="T58" fmla="*/ 322 w 403"/>
                <a:gd name="T59" fmla="*/ 70 h 77"/>
                <a:gd name="T60" fmla="*/ 337 w 403"/>
                <a:gd name="T61" fmla="*/ 68 h 77"/>
                <a:gd name="T62" fmla="*/ 351 w 403"/>
                <a:gd name="T63" fmla="*/ 65 h 77"/>
                <a:gd name="T64" fmla="*/ 363 w 403"/>
                <a:gd name="T65" fmla="*/ 62 h 77"/>
                <a:gd name="T66" fmla="*/ 374 w 403"/>
                <a:gd name="T67" fmla="*/ 59 h 77"/>
                <a:gd name="T68" fmla="*/ 384 w 403"/>
                <a:gd name="T69" fmla="*/ 55 h 77"/>
                <a:gd name="T70" fmla="*/ 391 w 403"/>
                <a:gd name="T71" fmla="*/ 52 h 77"/>
                <a:gd name="T72" fmla="*/ 396 w 403"/>
                <a:gd name="T73" fmla="*/ 48 h 77"/>
                <a:gd name="T74" fmla="*/ 401 w 403"/>
                <a:gd name="T75" fmla="*/ 45 h 77"/>
                <a:gd name="T76" fmla="*/ 402 w 403"/>
                <a:gd name="T77" fmla="*/ 41 h 77"/>
                <a:gd name="T78" fmla="*/ 402 w 403"/>
                <a:gd name="T79" fmla="*/ 36 h 77"/>
                <a:gd name="T80" fmla="*/ 401 w 403"/>
                <a:gd name="T81" fmla="*/ 33 h 77"/>
                <a:gd name="T82" fmla="*/ 396 w 403"/>
                <a:gd name="T83" fmla="*/ 29 h 77"/>
                <a:gd name="T84" fmla="*/ 391 w 403"/>
                <a:gd name="T85" fmla="*/ 26 h 77"/>
                <a:gd name="T86" fmla="*/ 384 w 403"/>
                <a:gd name="T87" fmla="*/ 22 h 77"/>
                <a:gd name="T88" fmla="*/ 374 w 403"/>
                <a:gd name="T89" fmla="*/ 19 h 77"/>
                <a:gd name="T90" fmla="*/ 363 w 403"/>
                <a:gd name="T91" fmla="*/ 15 h 77"/>
                <a:gd name="T92" fmla="*/ 351 w 403"/>
                <a:gd name="T93" fmla="*/ 13 h 77"/>
                <a:gd name="T94" fmla="*/ 337 w 403"/>
                <a:gd name="T95" fmla="*/ 10 h 77"/>
                <a:gd name="T96" fmla="*/ 322 w 403"/>
                <a:gd name="T97" fmla="*/ 7 h 77"/>
                <a:gd name="T98" fmla="*/ 297 w 403"/>
                <a:gd name="T99" fmla="*/ 5 h 77"/>
                <a:gd name="T100" fmla="*/ 261 w 403"/>
                <a:gd name="T101" fmla="*/ 1 h 77"/>
                <a:gd name="T102" fmla="*/ 223 w 403"/>
                <a:gd name="T103"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3" h="77">
                  <a:moveTo>
                    <a:pt x="202" y="0"/>
                  </a:moveTo>
                  <a:lnTo>
                    <a:pt x="181" y="0"/>
                  </a:lnTo>
                  <a:lnTo>
                    <a:pt x="161" y="0"/>
                  </a:lnTo>
                  <a:lnTo>
                    <a:pt x="142" y="1"/>
                  </a:lnTo>
                  <a:lnTo>
                    <a:pt x="123" y="3"/>
                  </a:lnTo>
                  <a:lnTo>
                    <a:pt x="106" y="5"/>
                  </a:lnTo>
                  <a:lnTo>
                    <a:pt x="88" y="6"/>
                  </a:lnTo>
                  <a:lnTo>
                    <a:pt x="81" y="7"/>
                  </a:lnTo>
                  <a:lnTo>
                    <a:pt x="73" y="8"/>
                  </a:lnTo>
                  <a:lnTo>
                    <a:pt x="66" y="10"/>
                  </a:lnTo>
                  <a:lnTo>
                    <a:pt x="59" y="11"/>
                  </a:lnTo>
                  <a:lnTo>
                    <a:pt x="52" y="13"/>
                  </a:lnTo>
                  <a:lnTo>
                    <a:pt x="46" y="14"/>
                  </a:lnTo>
                  <a:lnTo>
                    <a:pt x="40" y="15"/>
                  </a:lnTo>
                  <a:lnTo>
                    <a:pt x="35" y="17"/>
                  </a:lnTo>
                  <a:lnTo>
                    <a:pt x="29" y="19"/>
                  </a:lnTo>
                  <a:lnTo>
                    <a:pt x="24" y="20"/>
                  </a:lnTo>
                  <a:lnTo>
                    <a:pt x="19" y="22"/>
                  </a:lnTo>
                  <a:lnTo>
                    <a:pt x="16" y="24"/>
                  </a:lnTo>
                  <a:lnTo>
                    <a:pt x="12" y="26"/>
                  </a:lnTo>
                  <a:lnTo>
                    <a:pt x="9" y="27"/>
                  </a:lnTo>
                  <a:lnTo>
                    <a:pt x="7" y="29"/>
                  </a:lnTo>
                  <a:lnTo>
                    <a:pt x="4" y="31"/>
                  </a:lnTo>
                  <a:lnTo>
                    <a:pt x="2" y="33"/>
                  </a:lnTo>
                  <a:lnTo>
                    <a:pt x="1" y="35"/>
                  </a:lnTo>
                  <a:lnTo>
                    <a:pt x="0" y="36"/>
                  </a:lnTo>
                  <a:lnTo>
                    <a:pt x="0" y="39"/>
                  </a:lnTo>
                  <a:lnTo>
                    <a:pt x="0" y="41"/>
                  </a:lnTo>
                  <a:lnTo>
                    <a:pt x="1" y="42"/>
                  </a:lnTo>
                  <a:lnTo>
                    <a:pt x="2" y="45"/>
                  </a:lnTo>
                  <a:lnTo>
                    <a:pt x="4" y="47"/>
                  </a:lnTo>
                  <a:lnTo>
                    <a:pt x="7" y="48"/>
                  </a:lnTo>
                  <a:lnTo>
                    <a:pt x="9" y="51"/>
                  </a:lnTo>
                  <a:lnTo>
                    <a:pt x="12" y="52"/>
                  </a:lnTo>
                  <a:lnTo>
                    <a:pt x="16" y="54"/>
                  </a:lnTo>
                  <a:lnTo>
                    <a:pt x="19" y="55"/>
                  </a:lnTo>
                  <a:lnTo>
                    <a:pt x="24" y="58"/>
                  </a:lnTo>
                  <a:lnTo>
                    <a:pt x="29" y="59"/>
                  </a:lnTo>
                  <a:lnTo>
                    <a:pt x="35" y="61"/>
                  </a:lnTo>
                  <a:lnTo>
                    <a:pt x="40" y="62"/>
                  </a:lnTo>
                  <a:lnTo>
                    <a:pt x="46" y="63"/>
                  </a:lnTo>
                  <a:lnTo>
                    <a:pt x="52" y="65"/>
                  </a:lnTo>
                  <a:lnTo>
                    <a:pt x="59" y="67"/>
                  </a:lnTo>
                  <a:lnTo>
                    <a:pt x="66" y="68"/>
                  </a:lnTo>
                  <a:lnTo>
                    <a:pt x="73" y="69"/>
                  </a:lnTo>
                  <a:lnTo>
                    <a:pt x="81" y="70"/>
                  </a:lnTo>
                  <a:lnTo>
                    <a:pt x="88" y="72"/>
                  </a:lnTo>
                  <a:lnTo>
                    <a:pt x="106" y="73"/>
                  </a:lnTo>
                  <a:lnTo>
                    <a:pt x="123" y="75"/>
                  </a:lnTo>
                  <a:lnTo>
                    <a:pt x="142" y="76"/>
                  </a:lnTo>
                  <a:lnTo>
                    <a:pt x="161" y="77"/>
                  </a:lnTo>
                  <a:lnTo>
                    <a:pt x="181" y="77"/>
                  </a:lnTo>
                  <a:lnTo>
                    <a:pt x="202" y="77"/>
                  </a:lnTo>
                  <a:lnTo>
                    <a:pt x="223" y="77"/>
                  </a:lnTo>
                  <a:lnTo>
                    <a:pt x="242" y="77"/>
                  </a:lnTo>
                  <a:lnTo>
                    <a:pt x="261" y="76"/>
                  </a:lnTo>
                  <a:lnTo>
                    <a:pt x="280" y="75"/>
                  </a:lnTo>
                  <a:lnTo>
                    <a:pt x="297" y="73"/>
                  </a:lnTo>
                  <a:lnTo>
                    <a:pt x="315" y="72"/>
                  </a:lnTo>
                  <a:lnTo>
                    <a:pt x="322" y="70"/>
                  </a:lnTo>
                  <a:lnTo>
                    <a:pt x="330" y="69"/>
                  </a:lnTo>
                  <a:lnTo>
                    <a:pt x="337" y="68"/>
                  </a:lnTo>
                  <a:lnTo>
                    <a:pt x="344" y="67"/>
                  </a:lnTo>
                  <a:lnTo>
                    <a:pt x="351" y="65"/>
                  </a:lnTo>
                  <a:lnTo>
                    <a:pt x="357" y="63"/>
                  </a:lnTo>
                  <a:lnTo>
                    <a:pt x="363" y="62"/>
                  </a:lnTo>
                  <a:lnTo>
                    <a:pt x="368" y="61"/>
                  </a:lnTo>
                  <a:lnTo>
                    <a:pt x="374" y="59"/>
                  </a:lnTo>
                  <a:lnTo>
                    <a:pt x="379" y="58"/>
                  </a:lnTo>
                  <a:lnTo>
                    <a:pt x="384" y="55"/>
                  </a:lnTo>
                  <a:lnTo>
                    <a:pt x="387" y="54"/>
                  </a:lnTo>
                  <a:lnTo>
                    <a:pt x="391" y="52"/>
                  </a:lnTo>
                  <a:lnTo>
                    <a:pt x="394" y="51"/>
                  </a:lnTo>
                  <a:lnTo>
                    <a:pt x="396" y="48"/>
                  </a:lnTo>
                  <a:lnTo>
                    <a:pt x="399" y="47"/>
                  </a:lnTo>
                  <a:lnTo>
                    <a:pt x="401" y="45"/>
                  </a:lnTo>
                  <a:lnTo>
                    <a:pt x="402" y="42"/>
                  </a:lnTo>
                  <a:lnTo>
                    <a:pt x="402" y="41"/>
                  </a:lnTo>
                  <a:lnTo>
                    <a:pt x="403" y="39"/>
                  </a:lnTo>
                  <a:lnTo>
                    <a:pt x="402" y="36"/>
                  </a:lnTo>
                  <a:lnTo>
                    <a:pt x="402" y="35"/>
                  </a:lnTo>
                  <a:lnTo>
                    <a:pt x="401" y="33"/>
                  </a:lnTo>
                  <a:lnTo>
                    <a:pt x="399" y="31"/>
                  </a:lnTo>
                  <a:lnTo>
                    <a:pt x="396" y="29"/>
                  </a:lnTo>
                  <a:lnTo>
                    <a:pt x="394" y="27"/>
                  </a:lnTo>
                  <a:lnTo>
                    <a:pt x="391" y="26"/>
                  </a:lnTo>
                  <a:lnTo>
                    <a:pt x="387" y="24"/>
                  </a:lnTo>
                  <a:lnTo>
                    <a:pt x="384" y="22"/>
                  </a:lnTo>
                  <a:lnTo>
                    <a:pt x="379" y="20"/>
                  </a:lnTo>
                  <a:lnTo>
                    <a:pt x="374" y="19"/>
                  </a:lnTo>
                  <a:lnTo>
                    <a:pt x="368" y="17"/>
                  </a:lnTo>
                  <a:lnTo>
                    <a:pt x="363" y="15"/>
                  </a:lnTo>
                  <a:lnTo>
                    <a:pt x="357" y="14"/>
                  </a:lnTo>
                  <a:lnTo>
                    <a:pt x="351" y="13"/>
                  </a:lnTo>
                  <a:lnTo>
                    <a:pt x="344" y="11"/>
                  </a:lnTo>
                  <a:lnTo>
                    <a:pt x="337" y="10"/>
                  </a:lnTo>
                  <a:lnTo>
                    <a:pt x="330" y="8"/>
                  </a:lnTo>
                  <a:lnTo>
                    <a:pt x="322" y="7"/>
                  </a:lnTo>
                  <a:lnTo>
                    <a:pt x="315" y="6"/>
                  </a:lnTo>
                  <a:lnTo>
                    <a:pt x="297" y="5"/>
                  </a:lnTo>
                  <a:lnTo>
                    <a:pt x="280" y="3"/>
                  </a:lnTo>
                  <a:lnTo>
                    <a:pt x="261" y="1"/>
                  </a:lnTo>
                  <a:lnTo>
                    <a:pt x="242" y="0"/>
                  </a:lnTo>
                  <a:lnTo>
                    <a:pt x="223" y="0"/>
                  </a:lnTo>
                  <a:lnTo>
                    <a:pt x="202" y="0"/>
                  </a:lnTo>
                  <a:close/>
                </a:path>
              </a:pathLst>
            </a:cu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82" name="Freeform 181"/>
            <p:cNvSpPr>
              <a:spLocks/>
            </p:cNvSpPr>
            <p:nvPr/>
          </p:nvSpPr>
          <p:spPr bwMode="auto">
            <a:xfrm>
              <a:off x="2401" y="2585"/>
              <a:ext cx="403" cy="77"/>
            </a:xfrm>
            <a:custGeom>
              <a:avLst/>
              <a:gdLst>
                <a:gd name="T0" fmla="*/ 181 w 403"/>
                <a:gd name="T1" fmla="*/ 0 h 77"/>
                <a:gd name="T2" fmla="*/ 142 w 403"/>
                <a:gd name="T3" fmla="*/ 1 h 77"/>
                <a:gd name="T4" fmla="*/ 106 w 403"/>
                <a:gd name="T5" fmla="*/ 5 h 77"/>
                <a:gd name="T6" fmla="*/ 81 w 403"/>
                <a:gd name="T7" fmla="*/ 7 h 77"/>
                <a:gd name="T8" fmla="*/ 66 w 403"/>
                <a:gd name="T9" fmla="*/ 10 h 77"/>
                <a:gd name="T10" fmla="*/ 52 w 403"/>
                <a:gd name="T11" fmla="*/ 13 h 77"/>
                <a:gd name="T12" fmla="*/ 40 w 403"/>
                <a:gd name="T13" fmla="*/ 15 h 77"/>
                <a:gd name="T14" fmla="*/ 29 w 403"/>
                <a:gd name="T15" fmla="*/ 19 h 77"/>
                <a:gd name="T16" fmla="*/ 19 w 403"/>
                <a:gd name="T17" fmla="*/ 22 h 77"/>
                <a:gd name="T18" fmla="*/ 12 w 403"/>
                <a:gd name="T19" fmla="*/ 26 h 77"/>
                <a:gd name="T20" fmla="*/ 7 w 403"/>
                <a:gd name="T21" fmla="*/ 29 h 77"/>
                <a:gd name="T22" fmla="*/ 2 w 403"/>
                <a:gd name="T23" fmla="*/ 33 h 77"/>
                <a:gd name="T24" fmla="*/ 0 w 403"/>
                <a:gd name="T25" fmla="*/ 36 h 77"/>
                <a:gd name="T26" fmla="*/ 0 w 403"/>
                <a:gd name="T27" fmla="*/ 41 h 77"/>
                <a:gd name="T28" fmla="*/ 2 w 403"/>
                <a:gd name="T29" fmla="*/ 45 h 77"/>
                <a:gd name="T30" fmla="*/ 7 w 403"/>
                <a:gd name="T31" fmla="*/ 48 h 77"/>
                <a:gd name="T32" fmla="*/ 12 w 403"/>
                <a:gd name="T33" fmla="*/ 52 h 77"/>
                <a:gd name="T34" fmla="*/ 19 w 403"/>
                <a:gd name="T35" fmla="*/ 55 h 77"/>
                <a:gd name="T36" fmla="*/ 29 w 403"/>
                <a:gd name="T37" fmla="*/ 59 h 77"/>
                <a:gd name="T38" fmla="*/ 40 w 403"/>
                <a:gd name="T39" fmla="*/ 62 h 77"/>
                <a:gd name="T40" fmla="*/ 52 w 403"/>
                <a:gd name="T41" fmla="*/ 65 h 77"/>
                <a:gd name="T42" fmla="*/ 66 w 403"/>
                <a:gd name="T43" fmla="*/ 68 h 77"/>
                <a:gd name="T44" fmla="*/ 81 w 403"/>
                <a:gd name="T45" fmla="*/ 70 h 77"/>
                <a:gd name="T46" fmla="*/ 106 w 403"/>
                <a:gd name="T47" fmla="*/ 73 h 77"/>
                <a:gd name="T48" fmla="*/ 142 w 403"/>
                <a:gd name="T49" fmla="*/ 76 h 77"/>
                <a:gd name="T50" fmla="*/ 181 w 403"/>
                <a:gd name="T51" fmla="*/ 77 h 77"/>
                <a:gd name="T52" fmla="*/ 223 w 403"/>
                <a:gd name="T53" fmla="*/ 77 h 77"/>
                <a:gd name="T54" fmla="*/ 261 w 403"/>
                <a:gd name="T55" fmla="*/ 76 h 77"/>
                <a:gd name="T56" fmla="*/ 297 w 403"/>
                <a:gd name="T57" fmla="*/ 73 h 77"/>
                <a:gd name="T58" fmla="*/ 322 w 403"/>
                <a:gd name="T59" fmla="*/ 70 h 77"/>
                <a:gd name="T60" fmla="*/ 337 w 403"/>
                <a:gd name="T61" fmla="*/ 68 h 77"/>
                <a:gd name="T62" fmla="*/ 351 w 403"/>
                <a:gd name="T63" fmla="*/ 65 h 77"/>
                <a:gd name="T64" fmla="*/ 363 w 403"/>
                <a:gd name="T65" fmla="*/ 62 h 77"/>
                <a:gd name="T66" fmla="*/ 374 w 403"/>
                <a:gd name="T67" fmla="*/ 59 h 77"/>
                <a:gd name="T68" fmla="*/ 384 w 403"/>
                <a:gd name="T69" fmla="*/ 55 h 77"/>
                <a:gd name="T70" fmla="*/ 391 w 403"/>
                <a:gd name="T71" fmla="*/ 52 h 77"/>
                <a:gd name="T72" fmla="*/ 396 w 403"/>
                <a:gd name="T73" fmla="*/ 48 h 77"/>
                <a:gd name="T74" fmla="*/ 401 w 403"/>
                <a:gd name="T75" fmla="*/ 45 h 77"/>
                <a:gd name="T76" fmla="*/ 402 w 403"/>
                <a:gd name="T77" fmla="*/ 41 h 77"/>
                <a:gd name="T78" fmla="*/ 402 w 403"/>
                <a:gd name="T79" fmla="*/ 36 h 77"/>
                <a:gd name="T80" fmla="*/ 401 w 403"/>
                <a:gd name="T81" fmla="*/ 33 h 77"/>
                <a:gd name="T82" fmla="*/ 396 w 403"/>
                <a:gd name="T83" fmla="*/ 29 h 77"/>
                <a:gd name="T84" fmla="*/ 391 w 403"/>
                <a:gd name="T85" fmla="*/ 26 h 77"/>
                <a:gd name="T86" fmla="*/ 384 w 403"/>
                <a:gd name="T87" fmla="*/ 22 h 77"/>
                <a:gd name="T88" fmla="*/ 374 w 403"/>
                <a:gd name="T89" fmla="*/ 19 h 77"/>
                <a:gd name="T90" fmla="*/ 363 w 403"/>
                <a:gd name="T91" fmla="*/ 15 h 77"/>
                <a:gd name="T92" fmla="*/ 351 w 403"/>
                <a:gd name="T93" fmla="*/ 13 h 77"/>
                <a:gd name="T94" fmla="*/ 337 w 403"/>
                <a:gd name="T95" fmla="*/ 10 h 77"/>
                <a:gd name="T96" fmla="*/ 322 w 403"/>
                <a:gd name="T97" fmla="*/ 7 h 77"/>
                <a:gd name="T98" fmla="*/ 297 w 403"/>
                <a:gd name="T99" fmla="*/ 5 h 77"/>
                <a:gd name="T100" fmla="*/ 261 w 403"/>
                <a:gd name="T101" fmla="*/ 1 h 77"/>
                <a:gd name="T102" fmla="*/ 223 w 403"/>
                <a:gd name="T103"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3" h="77">
                  <a:moveTo>
                    <a:pt x="202" y="0"/>
                  </a:moveTo>
                  <a:lnTo>
                    <a:pt x="181" y="0"/>
                  </a:lnTo>
                  <a:lnTo>
                    <a:pt x="161" y="0"/>
                  </a:lnTo>
                  <a:lnTo>
                    <a:pt x="142" y="1"/>
                  </a:lnTo>
                  <a:lnTo>
                    <a:pt x="123" y="3"/>
                  </a:lnTo>
                  <a:lnTo>
                    <a:pt x="106" y="5"/>
                  </a:lnTo>
                  <a:lnTo>
                    <a:pt x="88" y="6"/>
                  </a:lnTo>
                  <a:lnTo>
                    <a:pt x="81" y="7"/>
                  </a:lnTo>
                  <a:lnTo>
                    <a:pt x="73" y="8"/>
                  </a:lnTo>
                  <a:lnTo>
                    <a:pt x="66" y="10"/>
                  </a:lnTo>
                  <a:lnTo>
                    <a:pt x="59" y="11"/>
                  </a:lnTo>
                  <a:lnTo>
                    <a:pt x="52" y="13"/>
                  </a:lnTo>
                  <a:lnTo>
                    <a:pt x="46" y="14"/>
                  </a:lnTo>
                  <a:lnTo>
                    <a:pt x="40" y="15"/>
                  </a:lnTo>
                  <a:lnTo>
                    <a:pt x="35" y="17"/>
                  </a:lnTo>
                  <a:lnTo>
                    <a:pt x="29" y="19"/>
                  </a:lnTo>
                  <a:lnTo>
                    <a:pt x="24" y="20"/>
                  </a:lnTo>
                  <a:lnTo>
                    <a:pt x="19" y="22"/>
                  </a:lnTo>
                  <a:lnTo>
                    <a:pt x="16" y="24"/>
                  </a:lnTo>
                  <a:lnTo>
                    <a:pt x="12" y="26"/>
                  </a:lnTo>
                  <a:lnTo>
                    <a:pt x="9" y="27"/>
                  </a:lnTo>
                  <a:lnTo>
                    <a:pt x="7" y="29"/>
                  </a:lnTo>
                  <a:lnTo>
                    <a:pt x="4" y="31"/>
                  </a:lnTo>
                  <a:lnTo>
                    <a:pt x="2" y="33"/>
                  </a:lnTo>
                  <a:lnTo>
                    <a:pt x="1" y="35"/>
                  </a:lnTo>
                  <a:lnTo>
                    <a:pt x="0" y="36"/>
                  </a:lnTo>
                  <a:lnTo>
                    <a:pt x="0" y="39"/>
                  </a:lnTo>
                  <a:lnTo>
                    <a:pt x="0" y="41"/>
                  </a:lnTo>
                  <a:lnTo>
                    <a:pt x="1" y="42"/>
                  </a:lnTo>
                  <a:lnTo>
                    <a:pt x="2" y="45"/>
                  </a:lnTo>
                  <a:lnTo>
                    <a:pt x="4" y="47"/>
                  </a:lnTo>
                  <a:lnTo>
                    <a:pt x="7" y="48"/>
                  </a:lnTo>
                  <a:lnTo>
                    <a:pt x="9" y="51"/>
                  </a:lnTo>
                  <a:lnTo>
                    <a:pt x="12" y="52"/>
                  </a:lnTo>
                  <a:lnTo>
                    <a:pt x="16" y="54"/>
                  </a:lnTo>
                  <a:lnTo>
                    <a:pt x="19" y="55"/>
                  </a:lnTo>
                  <a:lnTo>
                    <a:pt x="24" y="58"/>
                  </a:lnTo>
                  <a:lnTo>
                    <a:pt x="29" y="59"/>
                  </a:lnTo>
                  <a:lnTo>
                    <a:pt x="35" y="61"/>
                  </a:lnTo>
                  <a:lnTo>
                    <a:pt x="40" y="62"/>
                  </a:lnTo>
                  <a:lnTo>
                    <a:pt x="46" y="63"/>
                  </a:lnTo>
                  <a:lnTo>
                    <a:pt x="52" y="65"/>
                  </a:lnTo>
                  <a:lnTo>
                    <a:pt x="59" y="67"/>
                  </a:lnTo>
                  <a:lnTo>
                    <a:pt x="66" y="68"/>
                  </a:lnTo>
                  <a:lnTo>
                    <a:pt x="73" y="69"/>
                  </a:lnTo>
                  <a:lnTo>
                    <a:pt x="81" y="70"/>
                  </a:lnTo>
                  <a:lnTo>
                    <a:pt x="88" y="72"/>
                  </a:lnTo>
                  <a:lnTo>
                    <a:pt x="106" y="73"/>
                  </a:lnTo>
                  <a:lnTo>
                    <a:pt x="123" y="75"/>
                  </a:lnTo>
                  <a:lnTo>
                    <a:pt x="142" y="76"/>
                  </a:lnTo>
                  <a:lnTo>
                    <a:pt x="161" y="77"/>
                  </a:lnTo>
                  <a:lnTo>
                    <a:pt x="181" y="77"/>
                  </a:lnTo>
                  <a:lnTo>
                    <a:pt x="202" y="77"/>
                  </a:lnTo>
                  <a:lnTo>
                    <a:pt x="223" y="77"/>
                  </a:lnTo>
                  <a:lnTo>
                    <a:pt x="242" y="77"/>
                  </a:lnTo>
                  <a:lnTo>
                    <a:pt x="261" y="76"/>
                  </a:lnTo>
                  <a:lnTo>
                    <a:pt x="280" y="75"/>
                  </a:lnTo>
                  <a:lnTo>
                    <a:pt x="297" y="73"/>
                  </a:lnTo>
                  <a:lnTo>
                    <a:pt x="315" y="72"/>
                  </a:lnTo>
                  <a:lnTo>
                    <a:pt x="322" y="70"/>
                  </a:lnTo>
                  <a:lnTo>
                    <a:pt x="330" y="69"/>
                  </a:lnTo>
                  <a:lnTo>
                    <a:pt x="337" y="68"/>
                  </a:lnTo>
                  <a:lnTo>
                    <a:pt x="344" y="67"/>
                  </a:lnTo>
                  <a:lnTo>
                    <a:pt x="351" y="65"/>
                  </a:lnTo>
                  <a:lnTo>
                    <a:pt x="357" y="63"/>
                  </a:lnTo>
                  <a:lnTo>
                    <a:pt x="363" y="62"/>
                  </a:lnTo>
                  <a:lnTo>
                    <a:pt x="368" y="61"/>
                  </a:lnTo>
                  <a:lnTo>
                    <a:pt x="374" y="59"/>
                  </a:lnTo>
                  <a:lnTo>
                    <a:pt x="379" y="58"/>
                  </a:lnTo>
                  <a:lnTo>
                    <a:pt x="384" y="55"/>
                  </a:lnTo>
                  <a:lnTo>
                    <a:pt x="387" y="54"/>
                  </a:lnTo>
                  <a:lnTo>
                    <a:pt x="391" y="52"/>
                  </a:lnTo>
                  <a:lnTo>
                    <a:pt x="394" y="51"/>
                  </a:lnTo>
                  <a:lnTo>
                    <a:pt x="396" y="48"/>
                  </a:lnTo>
                  <a:lnTo>
                    <a:pt x="399" y="47"/>
                  </a:lnTo>
                  <a:lnTo>
                    <a:pt x="401" y="45"/>
                  </a:lnTo>
                  <a:lnTo>
                    <a:pt x="402" y="42"/>
                  </a:lnTo>
                  <a:lnTo>
                    <a:pt x="402" y="41"/>
                  </a:lnTo>
                  <a:lnTo>
                    <a:pt x="403" y="39"/>
                  </a:lnTo>
                  <a:lnTo>
                    <a:pt x="402" y="36"/>
                  </a:lnTo>
                  <a:lnTo>
                    <a:pt x="402" y="35"/>
                  </a:lnTo>
                  <a:lnTo>
                    <a:pt x="401" y="33"/>
                  </a:lnTo>
                  <a:lnTo>
                    <a:pt x="399" y="31"/>
                  </a:lnTo>
                  <a:lnTo>
                    <a:pt x="396" y="29"/>
                  </a:lnTo>
                  <a:lnTo>
                    <a:pt x="394" y="27"/>
                  </a:lnTo>
                  <a:lnTo>
                    <a:pt x="391" y="26"/>
                  </a:lnTo>
                  <a:lnTo>
                    <a:pt x="387" y="24"/>
                  </a:lnTo>
                  <a:lnTo>
                    <a:pt x="384" y="22"/>
                  </a:lnTo>
                  <a:lnTo>
                    <a:pt x="379" y="20"/>
                  </a:lnTo>
                  <a:lnTo>
                    <a:pt x="374" y="19"/>
                  </a:lnTo>
                  <a:lnTo>
                    <a:pt x="368" y="17"/>
                  </a:lnTo>
                  <a:lnTo>
                    <a:pt x="363" y="15"/>
                  </a:lnTo>
                  <a:lnTo>
                    <a:pt x="357" y="14"/>
                  </a:lnTo>
                  <a:lnTo>
                    <a:pt x="351" y="13"/>
                  </a:lnTo>
                  <a:lnTo>
                    <a:pt x="344" y="11"/>
                  </a:lnTo>
                  <a:lnTo>
                    <a:pt x="337" y="10"/>
                  </a:lnTo>
                  <a:lnTo>
                    <a:pt x="330" y="8"/>
                  </a:lnTo>
                  <a:lnTo>
                    <a:pt x="322" y="7"/>
                  </a:lnTo>
                  <a:lnTo>
                    <a:pt x="315" y="6"/>
                  </a:lnTo>
                  <a:lnTo>
                    <a:pt x="297" y="5"/>
                  </a:lnTo>
                  <a:lnTo>
                    <a:pt x="280" y="3"/>
                  </a:lnTo>
                  <a:lnTo>
                    <a:pt x="261" y="1"/>
                  </a:lnTo>
                  <a:lnTo>
                    <a:pt x="242" y="0"/>
                  </a:lnTo>
                  <a:lnTo>
                    <a:pt x="223" y="0"/>
                  </a:lnTo>
                  <a:lnTo>
                    <a:pt x="202"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83" name="Line 195"/>
            <p:cNvSpPr>
              <a:spLocks noChangeShapeType="1"/>
            </p:cNvSpPr>
            <p:nvPr/>
          </p:nvSpPr>
          <p:spPr bwMode="auto">
            <a:xfrm>
              <a:off x="2401" y="2578"/>
              <a:ext cx="1" cy="4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84" name="Line 196"/>
            <p:cNvSpPr>
              <a:spLocks noChangeShapeType="1"/>
            </p:cNvSpPr>
            <p:nvPr/>
          </p:nvSpPr>
          <p:spPr bwMode="auto">
            <a:xfrm>
              <a:off x="2804" y="2578"/>
              <a:ext cx="1" cy="4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85" name="Rectangle 184"/>
            <p:cNvSpPr>
              <a:spLocks noChangeArrowheads="1"/>
            </p:cNvSpPr>
            <p:nvPr/>
          </p:nvSpPr>
          <p:spPr bwMode="auto">
            <a:xfrm>
              <a:off x="2401" y="2578"/>
              <a:ext cx="400" cy="4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86" name="Rectangle 185"/>
            <p:cNvSpPr>
              <a:spLocks noChangeArrowheads="1"/>
            </p:cNvSpPr>
            <p:nvPr/>
          </p:nvSpPr>
          <p:spPr bwMode="auto">
            <a:xfrm>
              <a:off x="2617" y="2596"/>
              <a:ext cx="35"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r>
                <a:rPr lang="en-US" sz="1300">
                  <a:solidFill>
                    <a:srgbClr val="000000"/>
                  </a:solidFill>
                  <a:latin typeface="Times New Roman" pitchFamily="18" charset="0"/>
                </a:rPr>
                <a:t> </a:t>
              </a:r>
              <a:endParaRPr lang="en-US">
                <a:solidFill>
                  <a:prstClr val="black"/>
                </a:solidFill>
                <a:latin typeface="Times New Roman" pitchFamily="18" charset="0"/>
              </a:endParaRPr>
            </a:p>
          </p:txBody>
        </p:sp>
        <p:sp>
          <p:nvSpPr>
            <p:cNvPr id="187" name="Freeform 186"/>
            <p:cNvSpPr>
              <a:spLocks/>
            </p:cNvSpPr>
            <p:nvPr/>
          </p:nvSpPr>
          <p:spPr bwMode="auto">
            <a:xfrm>
              <a:off x="2397" y="2522"/>
              <a:ext cx="404" cy="91"/>
            </a:xfrm>
            <a:custGeom>
              <a:avLst/>
              <a:gdLst>
                <a:gd name="T0" fmla="*/ 181 w 404"/>
                <a:gd name="T1" fmla="*/ 0 h 91"/>
                <a:gd name="T2" fmla="*/ 143 w 404"/>
                <a:gd name="T3" fmla="*/ 3 h 91"/>
                <a:gd name="T4" fmla="*/ 106 w 404"/>
                <a:gd name="T5" fmla="*/ 6 h 91"/>
                <a:gd name="T6" fmla="*/ 82 w 404"/>
                <a:gd name="T7" fmla="*/ 10 h 91"/>
                <a:gd name="T8" fmla="*/ 67 w 404"/>
                <a:gd name="T9" fmla="*/ 12 h 91"/>
                <a:gd name="T10" fmla="*/ 53 w 404"/>
                <a:gd name="T11" fmla="*/ 15 h 91"/>
                <a:gd name="T12" fmla="*/ 41 w 404"/>
                <a:gd name="T13" fmla="*/ 19 h 91"/>
                <a:gd name="T14" fmla="*/ 29 w 404"/>
                <a:gd name="T15" fmla="*/ 22 h 91"/>
                <a:gd name="T16" fmla="*/ 20 w 404"/>
                <a:gd name="T17" fmla="*/ 26 h 91"/>
                <a:gd name="T18" fmla="*/ 13 w 404"/>
                <a:gd name="T19" fmla="*/ 29 h 91"/>
                <a:gd name="T20" fmla="*/ 7 w 404"/>
                <a:gd name="T21" fmla="*/ 34 h 91"/>
                <a:gd name="T22" fmla="*/ 2 w 404"/>
                <a:gd name="T23" fmla="*/ 39 h 91"/>
                <a:gd name="T24" fmla="*/ 0 w 404"/>
                <a:gd name="T25" fmla="*/ 43 h 91"/>
                <a:gd name="T26" fmla="*/ 0 w 404"/>
                <a:gd name="T27" fmla="*/ 48 h 91"/>
                <a:gd name="T28" fmla="*/ 2 w 404"/>
                <a:gd name="T29" fmla="*/ 53 h 91"/>
                <a:gd name="T30" fmla="*/ 7 w 404"/>
                <a:gd name="T31" fmla="*/ 57 h 91"/>
                <a:gd name="T32" fmla="*/ 13 w 404"/>
                <a:gd name="T33" fmla="*/ 61 h 91"/>
                <a:gd name="T34" fmla="*/ 20 w 404"/>
                <a:gd name="T35" fmla="*/ 66 h 91"/>
                <a:gd name="T36" fmla="*/ 29 w 404"/>
                <a:gd name="T37" fmla="*/ 69 h 91"/>
                <a:gd name="T38" fmla="*/ 41 w 404"/>
                <a:gd name="T39" fmla="*/ 73 h 91"/>
                <a:gd name="T40" fmla="*/ 53 w 404"/>
                <a:gd name="T41" fmla="*/ 76 h 91"/>
                <a:gd name="T42" fmla="*/ 67 w 404"/>
                <a:gd name="T43" fmla="*/ 80 h 91"/>
                <a:gd name="T44" fmla="*/ 82 w 404"/>
                <a:gd name="T45" fmla="*/ 82 h 91"/>
                <a:gd name="T46" fmla="*/ 106 w 404"/>
                <a:gd name="T47" fmla="*/ 85 h 91"/>
                <a:gd name="T48" fmla="*/ 143 w 404"/>
                <a:gd name="T49" fmla="*/ 89 h 91"/>
                <a:gd name="T50" fmla="*/ 181 w 404"/>
                <a:gd name="T51" fmla="*/ 91 h 91"/>
                <a:gd name="T52" fmla="*/ 223 w 404"/>
                <a:gd name="T53" fmla="*/ 91 h 91"/>
                <a:gd name="T54" fmla="*/ 262 w 404"/>
                <a:gd name="T55" fmla="*/ 89 h 91"/>
                <a:gd name="T56" fmla="*/ 298 w 404"/>
                <a:gd name="T57" fmla="*/ 85 h 91"/>
                <a:gd name="T58" fmla="*/ 322 w 404"/>
                <a:gd name="T59" fmla="*/ 82 h 91"/>
                <a:gd name="T60" fmla="*/ 337 w 404"/>
                <a:gd name="T61" fmla="*/ 80 h 91"/>
                <a:gd name="T62" fmla="*/ 351 w 404"/>
                <a:gd name="T63" fmla="*/ 76 h 91"/>
                <a:gd name="T64" fmla="*/ 363 w 404"/>
                <a:gd name="T65" fmla="*/ 73 h 91"/>
                <a:gd name="T66" fmla="*/ 375 w 404"/>
                <a:gd name="T67" fmla="*/ 69 h 91"/>
                <a:gd name="T68" fmla="*/ 384 w 404"/>
                <a:gd name="T69" fmla="*/ 66 h 91"/>
                <a:gd name="T70" fmla="*/ 391 w 404"/>
                <a:gd name="T71" fmla="*/ 61 h 91"/>
                <a:gd name="T72" fmla="*/ 397 w 404"/>
                <a:gd name="T73" fmla="*/ 57 h 91"/>
                <a:gd name="T74" fmla="*/ 402 w 404"/>
                <a:gd name="T75" fmla="*/ 53 h 91"/>
                <a:gd name="T76" fmla="*/ 404 w 404"/>
                <a:gd name="T77" fmla="*/ 48 h 91"/>
                <a:gd name="T78" fmla="*/ 404 w 404"/>
                <a:gd name="T79" fmla="*/ 43 h 91"/>
                <a:gd name="T80" fmla="*/ 402 w 404"/>
                <a:gd name="T81" fmla="*/ 39 h 91"/>
                <a:gd name="T82" fmla="*/ 397 w 404"/>
                <a:gd name="T83" fmla="*/ 34 h 91"/>
                <a:gd name="T84" fmla="*/ 391 w 404"/>
                <a:gd name="T85" fmla="*/ 29 h 91"/>
                <a:gd name="T86" fmla="*/ 384 w 404"/>
                <a:gd name="T87" fmla="*/ 26 h 91"/>
                <a:gd name="T88" fmla="*/ 375 w 404"/>
                <a:gd name="T89" fmla="*/ 22 h 91"/>
                <a:gd name="T90" fmla="*/ 363 w 404"/>
                <a:gd name="T91" fmla="*/ 19 h 91"/>
                <a:gd name="T92" fmla="*/ 351 w 404"/>
                <a:gd name="T93" fmla="*/ 15 h 91"/>
                <a:gd name="T94" fmla="*/ 337 w 404"/>
                <a:gd name="T95" fmla="*/ 12 h 91"/>
                <a:gd name="T96" fmla="*/ 322 w 404"/>
                <a:gd name="T97" fmla="*/ 10 h 91"/>
                <a:gd name="T98" fmla="*/ 298 w 404"/>
                <a:gd name="T99" fmla="*/ 6 h 91"/>
                <a:gd name="T100" fmla="*/ 262 w 404"/>
                <a:gd name="T101" fmla="*/ 3 h 91"/>
                <a:gd name="T102" fmla="*/ 223 w 404"/>
                <a:gd name="T103"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4" h="91">
                  <a:moveTo>
                    <a:pt x="202" y="0"/>
                  </a:moveTo>
                  <a:lnTo>
                    <a:pt x="181" y="0"/>
                  </a:lnTo>
                  <a:lnTo>
                    <a:pt x="161" y="1"/>
                  </a:lnTo>
                  <a:lnTo>
                    <a:pt x="143" y="3"/>
                  </a:lnTo>
                  <a:lnTo>
                    <a:pt x="124" y="4"/>
                  </a:lnTo>
                  <a:lnTo>
                    <a:pt x="106" y="6"/>
                  </a:lnTo>
                  <a:lnTo>
                    <a:pt x="89" y="8"/>
                  </a:lnTo>
                  <a:lnTo>
                    <a:pt x="82" y="10"/>
                  </a:lnTo>
                  <a:lnTo>
                    <a:pt x="74" y="11"/>
                  </a:lnTo>
                  <a:lnTo>
                    <a:pt x="67" y="12"/>
                  </a:lnTo>
                  <a:lnTo>
                    <a:pt x="60" y="13"/>
                  </a:lnTo>
                  <a:lnTo>
                    <a:pt x="53" y="15"/>
                  </a:lnTo>
                  <a:lnTo>
                    <a:pt x="47" y="17"/>
                  </a:lnTo>
                  <a:lnTo>
                    <a:pt x="41" y="19"/>
                  </a:lnTo>
                  <a:lnTo>
                    <a:pt x="35" y="20"/>
                  </a:lnTo>
                  <a:lnTo>
                    <a:pt x="29" y="22"/>
                  </a:lnTo>
                  <a:lnTo>
                    <a:pt x="25" y="24"/>
                  </a:lnTo>
                  <a:lnTo>
                    <a:pt x="20" y="26"/>
                  </a:lnTo>
                  <a:lnTo>
                    <a:pt x="16" y="28"/>
                  </a:lnTo>
                  <a:lnTo>
                    <a:pt x="13" y="29"/>
                  </a:lnTo>
                  <a:lnTo>
                    <a:pt x="9" y="32"/>
                  </a:lnTo>
                  <a:lnTo>
                    <a:pt x="7" y="34"/>
                  </a:lnTo>
                  <a:lnTo>
                    <a:pt x="5" y="36"/>
                  </a:lnTo>
                  <a:lnTo>
                    <a:pt x="2" y="39"/>
                  </a:lnTo>
                  <a:lnTo>
                    <a:pt x="1" y="41"/>
                  </a:lnTo>
                  <a:lnTo>
                    <a:pt x="0" y="43"/>
                  </a:lnTo>
                  <a:lnTo>
                    <a:pt x="0" y="46"/>
                  </a:lnTo>
                  <a:lnTo>
                    <a:pt x="0" y="48"/>
                  </a:lnTo>
                  <a:lnTo>
                    <a:pt x="1" y="50"/>
                  </a:lnTo>
                  <a:lnTo>
                    <a:pt x="2" y="53"/>
                  </a:lnTo>
                  <a:lnTo>
                    <a:pt x="5" y="55"/>
                  </a:lnTo>
                  <a:lnTo>
                    <a:pt x="7" y="57"/>
                  </a:lnTo>
                  <a:lnTo>
                    <a:pt x="9" y="59"/>
                  </a:lnTo>
                  <a:lnTo>
                    <a:pt x="13" y="61"/>
                  </a:lnTo>
                  <a:lnTo>
                    <a:pt x="16" y="63"/>
                  </a:lnTo>
                  <a:lnTo>
                    <a:pt x="20" y="66"/>
                  </a:lnTo>
                  <a:lnTo>
                    <a:pt x="25" y="67"/>
                  </a:lnTo>
                  <a:lnTo>
                    <a:pt x="29" y="69"/>
                  </a:lnTo>
                  <a:lnTo>
                    <a:pt x="35" y="71"/>
                  </a:lnTo>
                  <a:lnTo>
                    <a:pt x="41" y="73"/>
                  </a:lnTo>
                  <a:lnTo>
                    <a:pt x="47" y="75"/>
                  </a:lnTo>
                  <a:lnTo>
                    <a:pt x="53" y="76"/>
                  </a:lnTo>
                  <a:lnTo>
                    <a:pt x="60" y="77"/>
                  </a:lnTo>
                  <a:lnTo>
                    <a:pt x="67" y="80"/>
                  </a:lnTo>
                  <a:lnTo>
                    <a:pt x="74" y="81"/>
                  </a:lnTo>
                  <a:lnTo>
                    <a:pt x="82" y="82"/>
                  </a:lnTo>
                  <a:lnTo>
                    <a:pt x="89" y="83"/>
                  </a:lnTo>
                  <a:lnTo>
                    <a:pt x="106" y="85"/>
                  </a:lnTo>
                  <a:lnTo>
                    <a:pt x="124" y="88"/>
                  </a:lnTo>
                  <a:lnTo>
                    <a:pt x="143" y="89"/>
                  </a:lnTo>
                  <a:lnTo>
                    <a:pt x="161" y="90"/>
                  </a:lnTo>
                  <a:lnTo>
                    <a:pt x="181" y="91"/>
                  </a:lnTo>
                  <a:lnTo>
                    <a:pt x="202" y="91"/>
                  </a:lnTo>
                  <a:lnTo>
                    <a:pt x="223" y="91"/>
                  </a:lnTo>
                  <a:lnTo>
                    <a:pt x="243" y="90"/>
                  </a:lnTo>
                  <a:lnTo>
                    <a:pt x="262" y="89"/>
                  </a:lnTo>
                  <a:lnTo>
                    <a:pt x="280" y="88"/>
                  </a:lnTo>
                  <a:lnTo>
                    <a:pt x="298" y="85"/>
                  </a:lnTo>
                  <a:lnTo>
                    <a:pt x="315" y="83"/>
                  </a:lnTo>
                  <a:lnTo>
                    <a:pt x="322" y="82"/>
                  </a:lnTo>
                  <a:lnTo>
                    <a:pt x="330" y="81"/>
                  </a:lnTo>
                  <a:lnTo>
                    <a:pt x="337" y="80"/>
                  </a:lnTo>
                  <a:lnTo>
                    <a:pt x="344" y="77"/>
                  </a:lnTo>
                  <a:lnTo>
                    <a:pt x="351" y="76"/>
                  </a:lnTo>
                  <a:lnTo>
                    <a:pt x="357" y="75"/>
                  </a:lnTo>
                  <a:lnTo>
                    <a:pt x="363" y="73"/>
                  </a:lnTo>
                  <a:lnTo>
                    <a:pt x="369" y="71"/>
                  </a:lnTo>
                  <a:lnTo>
                    <a:pt x="375" y="69"/>
                  </a:lnTo>
                  <a:lnTo>
                    <a:pt x="379" y="67"/>
                  </a:lnTo>
                  <a:lnTo>
                    <a:pt x="384" y="66"/>
                  </a:lnTo>
                  <a:lnTo>
                    <a:pt x="388" y="63"/>
                  </a:lnTo>
                  <a:lnTo>
                    <a:pt x="391" y="61"/>
                  </a:lnTo>
                  <a:lnTo>
                    <a:pt x="395" y="59"/>
                  </a:lnTo>
                  <a:lnTo>
                    <a:pt x="397" y="57"/>
                  </a:lnTo>
                  <a:lnTo>
                    <a:pt x="399" y="55"/>
                  </a:lnTo>
                  <a:lnTo>
                    <a:pt x="402" y="53"/>
                  </a:lnTo>
                  <a:lnTo>
                    <a:pt x="403" y="50"/>
                  </a:lnTo>
                  <a:lnTo>
                    <a:pt x="404" y="48"/>
                  </a:lnTo>
                  <a:lnTo>
                    <a:pt x="404" y="46"/>
                  </a:lnTo>
                  <a:lnTo>
                    <a:pt x="404" y="43"/>
                  </a:lnTo>
                  <a:lnTo>
                    <a:pt x="403" y="41"/>
                  </a:lnTo>
                  <a:lnTo>
                    <a:pt x="402" y="39"/>
                  </a:lnTo>
                  <a:lnTo>
                    <a:pt x="399" y="36"/>
                  </a:lnTo>
                  <a:lnTo>
                    <a:pt x="397" y="34"/>
                  </a:lnTo>
                  <a:lnTo>
                    <a:pt x="395" y="32"/>
                  </a:lnTo>
                  <a:lnTo>
                    <a:pt x="391" y="29"/>
                  </a:lnTo>
                  <a:lnTo>
                    <a:pt x="388" y="28"/>
                  </a:lnTo>
                  <a:lnTo>
                    <a:pt x="384" y="26"/>
                  </a:lnTo>
                  <a:lnTo>
                    <a:pt x="379" y="24"/>
                  </a:lnTo>
                  <a:lnTo>
                    <a:pt x="375" y="22"/>
                  </a:lnTo>
                  <a:lnTo>
                    <a:pt x="369" y="20"/>
                  </a:lnTo>
                  <a:lnTo>
                    <a:pt x="363" y="19"/>
                  </a:lnTo>
                  <a:lnTo>
                    <a:pt x="357" y="17"/>
                  </a:lnTo>
                  <a:lnTo>
                    <a:pt x="351" y="15"/>
                  </a:lnTo>
                  <a:lnTo>
                    <a:pt x="344" y="13"/>
                  </a:lnTo>
                  <a:lnTo>
                    <a:pt x="337" y="12"/>
                  </a:lnTo>
                  <a:lnTo>
                    <a:pt x="330" y="11"/>
                  </a:lnTo>
                  <a:lnTo>
                    <a:pt x="322" y="10"/>
                  </a:lnTo>
                  <a:lnTo>
                    <a:pt x="315" y="8"/>
                  </a:lnTo>
                  <a:lnTo>
                    <a:pt x="298" y="6"/>
                  </a:lnTo>
                  <a:lnTo>
                    <a:pt x="280" y="4"/>
                  </a:lnTo>
                  <a:lnTo>
                    <a:pt x="262" y="3"/>
                  </a:lnTo>
                  <a:lnTo>
                    <a:pt x="243" y="1"/>
                  </a:lnTo>
                  <a:lnTo>
                    <a:pt x="223" y="0"/>
                  </a:lnTo>
                  <a:lnTo>
                    <a:pt x="202" y="0"/>
                  </a:lnTo>
                  <a:close/>
                </a:path>
              </a:pathLst>
            </a:custGeom>
            <a:solidFill>
              <a:srgbClr val="CC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88" name="Freeform 187"/>
            <p:cNvSpPr>
              <a:spLocks/>
            </p:cNvSpPr>
            <p:nvPr/>
          </p:nvSpPr>
          <p:spPr bwMode="auto">
            <a:xfrm>
              <a:off x="2397" y="2522"/>
              <a:ext cx="404" cy="91"/>
            </a:xfrm>
            <a:custGeom>
              <a:avLst/>
              <a:gdLst>
                <a:gd name="T0" fmla="*/ 181 w 404"/>
                <a:gd name="T1" fmla="*/ 0 h 91"/>
                <a:gd name="T2" fmla="*/ 143 w 404"/>
                <a:gd name="T3" fmla="*/ 3 h 91"/>
                <a:gd name="T4" fmla="*/ 106 w 404"/>
                <a:gd name="T5" fmla="*/ 6 h 91"/>
                <a:gd name="T6" fmla="*/ 82 w 404"/>
                <a:gd name="T7" fmla="*/ 10 h 91"/>
                <a:gd name="T8" fmla="*/ 67 w 404"/>
                <a:gd name="T9" fmla="*/ 12 h 91"/>
                <a:gd name="T10" fmla="*/ 53 w 404"/>
                <a:gd name="T11" fmla="*/ 15 h 91"/>
                <a:gd name="T12" fmla="*/ 41 w 404"/>
                <a:gd name="T13" fmla="*/ 19 h 91"/>
                <a:gd name="T14" fmla="*/ 29 w 404"/>
                <a:gd name="T15" fmla="*/ 22 h 91"/>
                <a:gd name="T16" fmla="*/ 20 w 404"/>
                <a:gd name="T17" fmla="*/ 26 h 91"/>
                <a:gd name="T18" fmla="*/ 13 w 404"/>
                <a:gd name="T19" fmla="*/ 29 h 91"/>
                <a:gd name="T20" fmla="*/ 7 w 404"/>
                <a:gd name="T21" fmla="*/ 34 h 91"/>
                <a:gd name="T22" fmla="*/ 2 w 404"/>
                <a:gd name="T23" fmla="*/ 39 h 91"/>
                <a:gd name="T24" fmla="*/ 0 w 404"/>
                <a:gd name="T25" fmla="*/ 43 h 91"/>
                <a:gd name="T26" fmla="*/ 0 w 404"/>
                <a:gd name="T27" fmla="*/ 48 h 91"/>
                <a:gd name="T28" fmla="*/ 2 w 404"/>
                <a:gd name="T29" fmla="*/ 53 h 91"/>
                <a:gd name="T30" fmla="*/ 7 w 404"/>
                <a:gd name="T31" fmla="*/ 57 h 91"/>
                <a:gd name="T32" fmla="*/ 13 w 404"/>
                <a:gd name="T33" fmla="*/ 61 h 91"/>
                <a:gd name="T34" fmla="*/ 20 w 404"/>
                <a:gd name="T35" fmla="*/ 66 h 91"/>
                <a:gd name="T36" fmla="*/ 29 w 404"/>
                <a:gd name="T37" fmla="*/ 69 h 91"/>
                <a:gd name="T38" fmla="*/ 41 w 404"/>
                <a:gd name="T39" fmla="*/ 73 h 91"/>
                <a:gd name="T40" fmla="*/ 53 w 404"/>
                <a:gd name="T41" fmla="*/ 76 h 91"/>
                <a:gd name="T42" fmla="*/ 67 w 404"/>
                <a:gd name="T43" fmla="*/ 80 h 91"/>
                <a:gd name="T44" fmla="*/ 82 w 404"/>
                <a:gd name="T45" fmla="*/ 82 h 91"/>
                <a:gd name="T46" fmla="*/ 106 w 404"/>
                <a:gd name="T47" fmla="*/ 85 h 91"/>
                <a:gd name="T48" fmla="*/ 143 w 404"/>
                <a:gd name="T49" fmla="*/ 89 h 91"/>
                <a:gd name="T50" fmla="*/ 181 w 404"/>
                <a:gd name="T51" fmla="*/ 91 h 91"/>
                <a:gd name="T52" fmla="*/ 223 w 404"/>
                <a:gd name="T53" fmla="*/ 91 h 91"/>
                <a:gd name="T54" fmla="*/ 262 w 404"/>
                <a:gd name="T55" fmla="*/ 89 h 91"/>
                <a:gd name="T56" fmla="*/ 298 w 404"/>
                <a:gd name="T57" fmla="*/ 85 h 91"/>
                <a:gd name="T58" fmla="*/ 322 w 404"/>
                <a:gd name="T59" fmla="*/ 82 h 91"/>
                <a:gd name="T60" fmla="*/ 337 w 404"/>
                <a:gd name="T61" fmla="*/ 80 h 91"/>
                <a:gd name="T62" fmla="*/ 351 w 404"/>
                <a:gd name="T63" fmla="*/ 76 h 91"/>
                <a:gd name="T64" fmla="*/ 363 w 404"/>
                <a:gd name="T65" fmla="*/ 73 h 91"/>
                <a:gd name="T66" fmla="*/ 375 w 404"/>
                <a:gd name="T67" fmla="*/ 69 h 91"/>
                <a:gd name="T68" fmla="*/ 384 w 404"/>
                <a:gd name="T69" fmla="*/ 66 h 91"/>
                <a:gd name="T70" fmla="*/ 391 w 404"/>
                <a:gd name="T71" fmla="*/ 61 h 91"/>
                <a:gd name="T72" fmla="*/ 397 w 404"/>
                <a:gd name="T73" fmla="*/ 57 h 91"/>
                <a:gd name="T74" fmla="*/ 402 w 404"/>
                <a:gd name="T75" fmla="*/ 53 h 91"/>
                <a:gd name="T76" fmla="*/ 404 w 404"/>
                <a:gd name="T77" fmla="*/ 48 h 91"/>
                <a:gd name="T78" fmla="*/ 404 w 404"/>
                <a:gd name="T79" fmla="*/ 43 h 91"/>
                <a:gd name="T80" fmla="*/ 402 w 404"/>
                <a:gd name="T81" fmla="*/ 39 h 91"/>
                <a:gd name="T82" fmla="*/ 397 w 404"/>
                <a:gd name="T83" fmla="*/ 34 h 91"/>
                <a:gd name="T84" fmla="*/ 391 w 404"/>
                <a:gd name="T85" fmla="*/ 29 h 91"/>
                <a:gd name="T86" fmla="*/ 384 w 404"/>
                <a:gd name="T87" fmla="*/ 26 h 91"/>
                <a:gd name="T88" fmla="*/ 375 w 404"/>
                <a:gd name="T89" fmla="*/ 22 h 91"/>
                <a:gd name="T90" fmla="*/ 363 w 404"/>
                <a:gd name="T91" fmla="*/ 19 h 91"/>
                <a:gd name="T92" fmla="*/ 351 w 404"/>
                <a:gd name="T93" fmla="*/ 15 h 91"/>
                <a:gd name="T94" fmla="*/ 337 w 404"/>
                <a:gd name="T95" fmla="*/ 12 h 91"/>
                <a:gd name="T96" fmla="*/ 322 w 404"/>
                <a:gd name="T97" fmla="*/ 10 h 91"/>
                <a:gd name="T98" fmla="*/ 298 w 404"/>
                <a:gd name="T99" fmla="*/ 6 h 91"/>
                <a:gd name="T100" fmla="*/ 262 w 404"/>
                <a:gd name="T101" fmla="*/ 3 h 91"/>
                <a:gd name="T102" fmla="*/ 223 w 404"/>
                <a:gd name="T103"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4" h="91">
                  <a:moveTo>
                    <a:pt x="202" y="0"/>
                  </a:moveTo>
                  <a:lnTo>
                    <a:pt x="181" y="0"/>
                  </a:lnTo>
                  <a:lnTo>
                    <a:pt x="161" y="1"/>
                  </a:lnTo>
                  <a:lnTo>
                    <a:pt x="143" y="3"/>
                  </a:lnTo>
                  <a:lnTo>
                    <a:pt x="124" y="4"/>
                  </a:lnTo>
                  <a:lnTo>
                    <a:pt x="106" y="6"/>
                  </a:lnTo>
                  <a:lnTo>
                    <a:pt x="89" y="8"/>
                  </a:lnTo>
                  <a:lnTo>
                    <a:pt x="82" y="10"/>
                  </a:lnTo>
                  <a:lnTo>
                    <a:pt x="74" y="11"/>
                  </a:lnTo>
                  <a:lnTo>
                    <a:pt x="67" y="12"/>
                  </a:lnTo>
                  <a:lnTo>
                    <a:pt x="60" y="13"/>
                  </a:lnTo>
                  <a:lnTo>
                    <a:pt x="53" y="15"/>
                  </a:lnTo>
                  <a:lnTo>
                    <a:pt x="47" y="17"/>
                  </a:lnTo>
                  <a:lnTo>
                    <a:pt x="41" y="19"/>
                  </a:lnTo>
                  <a:lnTo>
                    <a:pt x="35" y="20"/>
                  </a:lnTo>
                  <a:lnTo>
                    <a:pt x="29" y="22"/>
                  </a:lnTo>
                  <a:lnTo>
                    <a:pt x="25" y="24"/>
                  </a:lnTo>
                  <a:lnTo>
                    <a:pt x="20" y="26"/>
                  </a:lnTo>
                  <a:lnTo>
                    <a:pt x="16" y="28"/>
                  </a:lnTo>
                  <a:lnTo>
                    <a:pt x="13" y="29"/>
                  </a:lnTo>
                  <a:lnTo>
                    <a:pt x="9" y="32"/>
                  </a:lnTo>
                  <a:lnTo>
                    <a:pt x="7" y="34"/>
                  </a:lnTo>
                  <a:lnTo>
                    <a:pt x="5" y="36"/>
                  </a:lnTo>
                  <a:lnTo>
                    <a:pt x="2" y="39"/>
                  </a:lnTo>
                  <a:lnTo>
                    <a:pt x="1" y="41"/>
                  </a:lnTo>
                  <a:lnTo>
                    <a:pt x="0" y="43"/>
                  </a:lnTo>
                  <a:lnTo>
                    <a:pt x="0" y="46"/>
                  </a:lnTo>
                  <a:lnTo>
                    <a:pt x="0" y="48"/>
                  </a:lnTo>
                  <a:lnTo>
                    <a:pt x="1" y="50"/>
                  </a:lnTo>
                  <a:lnTo>
                    <a:pt x="2" y="53"/>
                  </a:lnTo>
                  <a:lnTo>
                    <a:pt x="5" y="55"/>
                  </a:lnTo>
                  <a:lnTo>
                    <a:pt x="7" y="57"/>
                  </a:lnTo>
                  <a:lnTo>
                    <a:pt x="9" y="59"/>
                  </a:lnTo>
                  <a:lnTo>
                    <a:pt x="13" y="61"/>
                  </a:lnTo>
                  <a:lnTo>
                    <a:pt x="16" y="63"/>
                  </a:lnTo>
                  <a:lnTo>
                    <a:pt x="20" y="66"/>
                  </a:lnTo>
                  <a:lnTo>
                    <a:pt x="25" y="67"/>
                  </a:lnTo>
                  <a:lnTo>
                    <a:pt x="29" y="69"/>
                  </a:lnTo>
                  <a:lnTo>
                    <a:pt x="35" y="71"/>
                  </a:lnTo>
                  <a:lnTo>
                    <a:pt x="41" y="73"/>
                  </a:lnTo>
                  <a:lnTo>
                    <a:pt x="47" y="75"/>
                  </a:lnTo>
                  <a:lnTo>
                    <a:pt x="53" y="76"/>
                  </a:lnTo>
                  <a:lnTo>
                    <a:pt x="60" y="77"/>
                  </a:lnTo>
                  <a:lnTo>
                    <a:pt x="67" y="80"/>
                  </a:lnTo>
                  <a:lnTo>
                    <a:pt x="74" y="81"/>
                  </a:lnTo>
                  <a:lnTo>
                    <a:pt x="82" y="82"/>
                  </a:lnTo>
                  <a:lnTo>
                    <a:pt x="89" y="83"/>
                  </a:lnTo>
                  <a:lnTo>
                    <a:pt x="106" y="85"/>
                  </a:lnTo>
                  <a:lnTo>
                    <a:pt x="124" y="88"/>
                  </a:lnTo>
                  <a:lnTo>
                    <a:pt x="143" y="89"/>
                  </a:lnTo>
                  <a:lnTo>
                    <a:pt x="161" y="90"/>
                  </a:lnTo>
                  <a:lnTo>
                    <a:pt x="181" y="91"/>
                  </a:lnTo>
                  <a:lnTo>
                    <a:pt x="202" y="91"/>
                  </a:lnTo>
                  <a:lnTo>
                    <a:pt x="223" y="91"/>
                  </a:lnTo>
                  <a:lnTo>
                    <a:pt x="243" y="90"/>
                  </a:lnTo>
                  <a:lnTo>
                    <a:pt x="262" y="89"/>
                  </a:lnTo>
                  <a:lnTo>
                    <a:pt x="280" y="88"/>
                  </a:lnTo>
                  <a:lnTo>
                    <a:pt x="298" y="85"/>
                  </a:lnTo>
                  <a:lnTo>
                    <a:pt x="315" y="83"/>
                  </a:lnTo>
                  <a:lnTo>
                    <a:pt x="322" y="82"/>
                  </a:lnTo>
                  <a:lnTo>
                    <a:pt x="330" y="81"/>
                  </a:lnTo>
                  <a:lnTo>
                    <a:pt x="337" y="80"/>
                  </a:lnTo>
                  <a:lnTo>
                    <a:pt x="344" y="77"/>
                  </a:lnTo>
                  <a:lnTo>
                    <a:pt x="351" y="76"/>
                  </a:lnTo>
                  <a:lnTo>
                    <a:pt x="357" y="75"/>
                  </a:lnTo>
                  <a:lnTo>
                    <a:pt x="363" y="73"/>
                  </a:lnTo>
                  <a:lnTo>
                    <a:pt x="369" y="71"/>
                  </a:lnTo>
                  <a:lnTo>
                    <a:pt x="375" y="69"/>
                  </a:lnTo>
                  <a:lnTo>
                    <a:pt x="379" y="67"/>
                  </a:lnTo>
                  <a:lnTo>
                    <a:pt x="384" y="66"/>
                  </a:lnTo>
                  <a:lnTo>
                    <a:pt x="388" y="63"/>
                  </a:lnTo>
                  <a:lnTo>
                    <a:pt x="391" y="61"/>
                  </a:lnTo>
                  <a:lnTo>
                    <a:pt x="395" y="59"/>
                  </a:lnTo>
                  <a:lnTo>
                    <a:pt x="397" y="57"/>
                  </a:lnTo>
                  <a:lnTo>
                    <a:pt x="399" y="55"/>
                  </a:lnTo>
                  <a:lnTo>
                    <a:pt x="402" y="53"/>
                  </a:lnTo>
                  <a:lnTo>
                    <a:pt x="403" y="50"/>
                  </a:lnTo>
                  <a:lnTo>
                    <a:pt x="404" y="48"/>
                  </a:lnTo>
                  <a:lnTo>
                    <a:pt x="404" y="46"/>
                  </a:lnTo>
                  <a:lnTo>
                    <a:pt x="404" y="43"/>
                  </a:lnTo>
                  <a:lnTo>
                    <a:pt x="403" y="41"/>
                  </a:lnTo>
                  <a:lnTo>
                    <a:pt x="402" y="39"/>
                  </a:lnTo>
                  <a:lnTo>
                    <a:pt x="399" y="36"/>
                  </a:lnTo>
                  <a:lnTo>
                    <a:pt x="397" y="34"/>
                  </a:lnTo>
                  <a:lnTo>
                    <a:pt x="395" y="32"/>
                  </a:lnTo>
                  <a:lnTo>
                    <a:pt x="391" y="29"/>
                  </a:lnTo>
                  <a:lnTo>
                    <a:pt x="388" y="28"/>
                  </a:lnTo>
                  <a:lnTo>
                    <a:pt x="384" y="26"/>
                  </a:lnTo>
                  <a:lnTo>
                    <a:pt x="379" y="24"/>
                  </a:lnTo>
                  <a:lnTo>
                    <a:pt x="375" y="22"/>
                  </a:lnTo>
                  <a:lnTo>
                    <a:pt x="369" y="20"/>
                  </a:lnTo>
                  <a:lnTo>
                    <a:pt x="363" y="19"/>
                  </a:lnTo>
                  <a:lnTo>
                    <a:pt x="357" y="17"/>
                  </a:lnTo>
                  <a:lnTo>
                    <a:pt x="351" y="15"/>
                  </a:lnTo>
                  <a:lnTo>
                    <a:pt x="344" y="13"/>
                  </a:lnTo>
                  <a:lnTo>
                    <a:pt x="337" y="12"/>
                  </a:lnTo>
                  <a:lnTo>
                    <a:pt x="330" y="11"/>
                  </a:lnTo>
                  <a:lnTo>
                    <a:pt x="322" y="10"/>
                  </a:lnTo>
                  <a:lnTo>
                    <a:pt x="315" y="8"/>
                  </a:lnTo>
                  <a:lnTo>
                    <a:pt x="298" y="6"/>
                  </a:lnTo>
                  <a:lnTo>
                    <a:pt x="280" y="4"/>
                  </a:lnTo>
                  <a:lnTo>
                    <a:pt x="262" y="3"/>
                  </a:lnTo>
                  <a:lnTo>
                    <a:pt x="243" y="1"/>
                  </a:lnTo>
                  <a:lnTo>
                    <a:pt x="223" y="0"/>
                  </a:lnTo>
                  <a:lnTo>
                    <a:pt x="202"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89" name="Line 201"/>
            <p:cNvSpPr>
              <a:spLocks noChangeShapeType="1"/>
            </p:cNvSpPr>
            <p:nvPr/>
          </p:nvSpPr>
          <p:spPr bwMode="auto">
            <a:xfrm flipV="1">
              <a:off x="2495" y="2542"/>
              <a:ext cx="71"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90" name="Line 202"/>
            <p:cNvSpPr>
              <a:spLocks noChangeShapeType="1"/>
            </p:cNvSpPr>
            <p:nvPr/>
          </p:nvSpPr>
          <p:spPr bwMode="auto">
            <a:xfrm>
              <a:off x="2632" y="2595"/>
              <a:ext cx="63"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91" name="Line 203"/>
            <p:cNvSpPr>
              <a:spLocks noChangeShapeType="1"/>
            </p:cNvSpPr>
            <p:nvPr/>
          </p:nvSpPr>
          <p:spPr bwMode="auto">
            <a:xfrm>
              <a:off x="2561" y="2543"/>
              <a:ext cx="74" cy="52"/>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92" name="Line 204"/>
            <p:cNvSpPr>
              <a:spLocks noChangeShapeType="1"/>
            </p:cNvSpPr>
            <p:nvPr/>
          </p:nvSpPr>
          <p:spPr bwMode="auto">
            <a:xfrm>
              <a:off x="2495" y="2593"/>
              <a:ext cx="71" cy="2"/>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93" name="Line 205"/>
            <p:cNvSpPr>
              <a:spLocks noChangeShapeType="1"/>
            </p:cNvSpPr>
            <p:nvPr/>
          </p:nvSpPr>
          <p:spPr bwMode="auto">
            <a:xfrm>
              <a:off x="2632" y="2542"/>
              <a:ext cx="63"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94" name="Line 206"/>
            <p:cNvSpPr>
              <a:spLocks noChangeShapeType="1"/>
            </p:cNvSpPr>
            <p:nvPr/>
          </p:nvSpPr>
          <p:spPr bwMode="auto">
            <a:xfrm flipV="1">
              <a:off x="2561" y="2542"/>
              <a:ext cx="74" cy="5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95" name="Line 207"/>
            <p:cNvSpPr>
              <a:spLocks noChangeShapeType="1"/>
            </p:cNvSpPr>
            <p:nvPr/>
          </p:nvSpPr>
          <p:spPr bwMode="auto">
            <a:xfrm>
              <a:off x="1573" y="2188"/>
              <a:ext cx="1" cy="54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96" name="Line 208"/>
            <p:cNvSpPr>
              <a:spLocks noChangeShapeType="1"/>
            </p:cNvSpPr>
            <p:nvPr/>
          </p:nvSpPr>
          <p:spPr bwMode="auto">
            <a:xfrm>
              <a:off x="1428" y="2188"/>
              <a:ext cx="145"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97" name="Line 209"/>
            <p:cNvSpPr>
              <a:spLocks noChangeShapeType="1"/>
            </p:cNvSpPr>
            <p:nvPr/>
          </p:nvSpPr>
          <p:spPr bwMode="auto">
            <a:xfrm>
              <a:off x="1428" y="2509"/>
              <a:ext cx="145"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98" name="Line 210"/>
            <p:cNvSpPr>
              <a:spLocks noChangeShapeType="1"/>
            </p:cNvSpPr>
            <p:nvPr/>
          </p:nvSpPr>
          <p:spPr bwMode="auto">
            <a:xfrm>
              <a:off x="1428" y="2732"/>
              <a:ext cx="145"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199" name="Line 211"/>
            <p:cNvSpPr>
              <a:spLocks noChangeShapeType="1"/>
            </p:cNvSpPr>
            <p:nvPr/>
          </p:nvSpPr>
          <p:spPr bwMode="auto">
            <a:xfrm>
              <a:off x="1573" y="2475"/>
              <a:ext cx="116"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00" name="Line 212"/>
            <p:cNvSpPr>
              <a:spLocks noChangeShapeType="1"/>
            </p:cNvSpPr>
            <p:nvPr/>
          </p:nvSpPr>
          <p:spPr bwMode="auto">
            <a:xfrm>
              <a:off x="2018" y="2487"/>
              <a:ext cx="115"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01" name="Line 213"/>
            <p:cNvSpPr>
              <a:spLocks noChangeShapeType="1"/>
            </p:cNvSpPr>
            <p:nvPr/>
          </p:nvSpPr>
          <p:spPr bwMode="auto">
            <a:xfrm>
              <a:off x="2135" y="2245"/>
              <a:ext cx="1" cy="49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02" name="Line 214"/>
            <p:cNvSpPr>
              <a:spLocks noChangeShapeType="1"/>
            </p:cNvSpPr>
            <p:nvPr/>
          </p:nvSpPr>
          <p:spPr bwMode="auto">
            <a:xfrm>
              <a:off x="1989" y="2245"/>
              <a:ext cx="144"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03" name="Line 215"/>
            <p:cNvSpPr>
              <a:spLocks noChangeShapeType="1"/>
            </p:cNvSpPr>
            <p:nvPr/>
          </p:nvSpPr>
          <p:spPr bwMode="auto">
            <a:xfrm>
              <a:off x="1989" y="2735"/>
              <a:ext cx="144"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04" name="Freeform 203"/>
            <p:cNvSpPr>
              <a:spLocks/>
            </p:cNvSpPr>
            <p:nvPr/>
          </p:nvSpPr>
          <p:spPr bwMode="auto">
            <a:xfrm>
              <a:off x="1176" y="2396"/>
              <a:ext cx="249" cy="208"/>
            </a:xfrm>
            <a:custGeom>
              <a:avLst/>
              <a:gdLst>
                <a:gd name="T0" fmla="*/ 70 w 249"/>
                <a:gd name="T1" fmla="*/ 14 h 208"/>
                <a:gd name="T2" fmla="*/ 70 w 249"/>
                <a:gd name="T3" fmla="*/ 14 h 208"/>
                <a:gd name="T4" fmla="*/ 73 w 249"/>
                <a:gd name="T5" fmla="*/ 14 h 208"/>
                <a:gd name="T6" fmla="*/ 75 w 249"/>
                <a:gd name="T7" fmla="*/ 12 h 208"/>
                <a:gd name="T8" fmla="*/ 79 w 249"/>
                <a:gd name="T9" fmla="*/ 11 h 208"/>
                <a:gd name="T10" fmla="*/ 83 w 249"/>
                <a:gd name="T11" fmla="*/ 10 h 208"/>
                <a:gd name="T12" fmla="*/ 88 w 249"/>
                <a:gd name="T13" fmla="*/ 9 h 208"/>
                <a:gd name="T14" fmla="*/ 95 w 249"/>
                <a:gd name="T15" fmla="*/ 8 h 208"/>
                <a:gd name="T16" fmla="*/ 103 w 249"/>
                <a:gd name="T17" fmla="*/ 5 h 208"/>
                <a:gd name="T18" fmla="*/ 111 w 249"/>
                <a:gd name="T19" fmla="*/ 4 h 208"/>
                <a:gd name="T20" fmla="*/ 121 w 249"/>
                <a:gd name="T21" fmla="*/ 3 h 208"/>
                <a:gd name="T22" fmla="*/ 132 w 249"/>
                <a:gd name="T23" fmla="*/ 2 h 208"/>
                <a:gd name="T24" fmla="*/ 144 w 249"/>
                <a:gd name="T25" fmla="*/ 1 h 208"/>
                <a:gd name="T26" fmla="*/ 157 w 249"/>
                <a:gd name="T27" fmla="*/ 0 h 208"/>
                <a:gd name="T28" fmla="*/ 170 w 249"/>
                <a:gd name="T29" fmla="*/ 0 h 208"/>
                <a:gd name="T30" fmla="*/ 185 w 249"/>
                <a:gd name="T31" fmla="*/ 0 h 208"/>
                <a:gd name="T32" fmla="*/ 201 w 249"/>
                <a:gd name="T33" fmla="*/ 0 h 208"/>
                <a:gd name="T34" fmla="*/ 208 w 249"/>
                <a:gd name="T35" fmla="*/ 28 h 208"/>
                <a:gd name="T36" fmla="*/ 210 w 249"/>
                <a:gd name="T37" fmla="*/ 29 h 208"/>
                <a:gd name="T38" fmla="*/ 216 w 249"/>
                <a:gd name="T39" fmla="*/ 32 h 208"/>
                <a:gd name="T40" fmla="*/ 222 w 249"/>
                <a:gd name="T41" fmla="*/ 39 h 208"/>
                <a:gd name="T42" fmla="*/ 226 w 249"/>
                <a:gd name="T43" fmla="*/ 50 h 208"/>
                <a:gd name="T44" fmla="*/ 240 w 249"/>
                <a:gd name="T45" fmla="*/ 115 h 208"/>
                <a:gd name="T46" fmla="*/ 247 w 249"/>
                <a:gd name="T47" fmla="*/ 143 h 208"/>
                <a:gd name="T48" fmla="*/ 247 w 249"/>
                <a:gd name="T49" fmla="*/ 146 h 208"/>
                <a:gd name="T50" fmla="*/ 248 w 249"/>
                <a:gd name="T51" fmla="*/ 150 h 208"/>
                <a:gd name="T52" fmla="*/ 248 w 249"/>
                <a:gd name="T53" fmla="*/ 159 h 208"/>
                <a:gd name="T54" fmla="*/ 244 w 249"/>
                <a:gd name="T55" fmla="*/ 169 h 208"/>
                <a:gd name="T56" fmla="*/ 0 w 249"/>
                <a:gd name="T57" fmla="*/ 162 h 208"/>
                <a:gd name="T58" fmla="*/ 25 w 249"/>
                <a:gd name="T59" fmla="*/ 149 h 208"/>
                <a:gd name="T60" fmla="*/ 25 w 249"/>
                <a:gd name="T61" fmla="*/ 28 h 208"/>
                <a:gd name="T62" fmla="*/ 26 w 249"/>
                <a:gd name="T63" fmla="*/ 27 h 208"/>
                <a:gd name="T64" fmla="*/ 28 w 249"/>
                <a:gd name="T65" fmla="*/ 25 h 208"/>
                <a:gd name="T66" fmla="*/ 32 w 249"/>
                <a:gd name="T67" fmla="*/ 24 h 208"/>
                <a:gd name="T68" fmla="*/ 37 w 249"/>
                <a:gd name="T69" fmla="*/ 22 h 208"/>
                <a:gd name="T70" fmla="*/ 42 w 249"/>
                <a:gd name="T71" fmla="*/ 22 h 208"/>
                <a:gd name="T72" fmla="*/ 49 w 249"/>
                <a:gd name="T73" fmla="*/ 22 h 208"/>
                <a:gd name="T74" fmla="*/ 58 w 249"/>
                <a:gd name="T75" fmla="*/ 23 h 208"/>
                <a:gd name="T76" fmla="*/ 68 w 249"/>
                <a:gd name="T77" fmla="*/ 2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9" h="208">
                  <a:moveTo>
                    <a:pt x="68" y="27"/>
                  </a:moveTo>
                  <a:lnTo>
                    <a:pt x="70" y="14"/>
                  </a:lnTo>
                  <a:lnTo>
                    <a:pt x="70" y="14"/>
                  </a:lnTo>
                  <a:lnTo>
                    <a:pt x="70" y="14"/>
                  </a:lnTo>
                  <a:lnTo>
                    <a:pt x="72" y="14"/>
                  </a:lnTo>
                  <a:lnTo>
                    <a:pt x="73" y="14"/>
                  </a:lnTo>
                  <a:lnTo>
                    <a:pt x="74" y="12"/>
                  </a:lnTo>
                  <a:lnTo>
                    <a:pt x="75" y="12"/>
                  </a:lnTo>
                  <a:lnTo>
                    <a:pt x="76" y="12"/>
                  </a:lnTo>
                  <a:lnTo>
                    <a:pt x="79" y="11"/>
                  </a:lnTo>
                  <a:lnTo>
                    <a:pt x="81" y="11"/>
                  </a:lnTo>
                  <a:lnTo>
                    <a:pt x="83" y="10"/>
                  </a:lnTo>
                  <a:lnTo>
                    <a:pt x="86" y="9"/>
                  </a:lnTo>
                  <a:lnTo>
                    <a:pt x="88" y="9"/>
                  </a:lnTo>
                  <a:lnTo>
                    <a:pt x="91" y="8"/>
                  </a:lnTo>
                  <a:lnTo>
                    <a:pt x="95" y="8"/>
                  </a:lnTo>
                  <a:lnTo>
                    <a:pt x="98" y="7"/>
                  </a:lnTo>
                  <a:lnTo>
                    <a:pt x="103" y="5"/>
                  </a:lnTo>
                  <a:lnTo>
                    <a:pt x="107" y="5"/>
                  </a:lnTo>
                  <a:lnTo>
                    <a:pt x="111" y="4"/>
                  </a:lnTo>
                  <a:lnTo>
                    <a:pt x="116" y="4"/>
                  </a:lnTo>
                  <a:lnTo>
                    <a:pt x="121" y="3"/>
                  </a:lnTo>
                  <a:lnTo>
                    <a:pt x="126" y="2"/>
                  </a:lnTo>
                  <a:lnTo>
                    <a:pt x="132" y="2"/>
                  </a:lnTo>
                  <a:lnTo>
                    <a:pt x="137" y="1"/>
                  </a:lnTo>
                  <a:lnTo>
                    <a:pt x="144" y="1"/>
                  </a:lnTo>
                  <a:lnTo>
                    <a:pt x="150" y="1"/>
                  </a:lnTo>
                  <a:lnTo>
                    <a:pt x="157" y="0"/>
                  </a:lnTo>
                  <a:lnTo>
                    <a:pt x="163" y="0"/>
                  </a:lnTo>
                  <a:lnTo>
                    <a:pt x="170" y="0"/>
                  </a:lnTo>
                  <a:lnTo>
                    <a:pt x="178" y="0"/>
                  </a:lnTo>
                  <a:lnTo>
                    <a:pt x="185" y="0"/>
                  </a:lnTo>
                  <a:lnTo>
                    <a:pt x="193" y="0"/>
                  </a:lnTo>
                  <a:lnTo>
                    <a:pt x="201" y="0"/>
                  </a:lnTo>
                  <a:lnTo>
                    <a:pt x="210" y="4"/>
                  </a:lnTo>
                  <a:lnTo>
                    <a:pt x="208" y="28"/>
                  </a:lnTo>
                  <a:lnTo>
                    <a:pt x="208" y="28"/>
                  </a:lnTo>
                  <a:lnTo>
                    <a:pt x="210" y="29"/>
                  </a:lnTo>
                  <a:lnTo>
                    <a:pt x="213" y="31"/>
                  </a:lnTo>
                  <a:lnTo>
                    <a:pt x="216" y="32"/>
                  </a:lnTo>
                  <a:lnTo>
                    <a:pt x="220" y="36"/>
                  </a:lnTo>
                  <a:lnTo>
                    <a:pt x="222" y="39"/>
                  </a:lnTo>
                  <a:lnTo>
                    <a:pt x="224" y="44"/>
                  </a:lnTo>
                  <a:lnTo>
                    <a:pt x="226" y="50"/>
                  </a:lnTo>
                  <a:lnTo>
                    <a:pt x="245" y="67"/>
                  </a:lnTo>
                  <a:lnTo>
                    <a:pt x="240" y="115"/>
                  </a:lnTo>
                  <a:lnTo>
                    <a:pt x="208" y="132"/>
                  </a:lnTo>
                  <a:lnTo>
                    <a:pt x="247" y="143"/>
                  </a:lnTo>
                  <a:lnTo>
                    <a:pt x="247" y="143"/>
                  </a:lnTo>
                  <a:lnTo>
                    <a:pt x="247" y="146"/>
                  </a:lnTo>
                  <a:lnTo>
                    <a:pt x="248" y="148"/>
                  </a:lnTo>
                  <a:lnTo>
                    <a:pt x="248" y="150"/>
                  </a:lnTo>
                  <a:lnTo>
                    <a:pt x="249" y="154"/>
                  </a:lnTo>
                  <a:lnTo>
                    <a:pt x="248" y="159"/>
                  </a:lnTo>
                  <a:lnTo>
                    <a:pt x="247" y="163"/>
                  </a:lnTo>
                  <a:lnTo>
                    <a:pt x="244" y="169"/>
                  </a:lnTo>
                  <a:lnTo>
                    <a:pt x="144" y="208"/>
                  </a:lnTo>
                  <a:lnTo>
                    <a:pt x="0" y="162"/>
                  </a:lnTo>
                  <a:lnTo>
                    <a:pt x="3" y="157"/>
                  </a:lnTo>
                  <a:lnTo>
                    <a:pt x="25" y="149"/>
                  </a:lnTo>
                  <a:lnTo>
                    <a:pt x="25" y="28"/>
                  </a:lnTo>
                  <a:lnTo>
                    <a:pt x="25" y="28"/>
                  </a:lnTo>
                  <a:lnTo>
                    <a:pt x="25" y="28"/>
                  </a:lnTo>
                  <a:lnTo>
                    <a:pt x="26" y="27"/>
                  </a:lnTo>
                  <a:lnTo>
                    <a:pt x="27" y="27"/>
                  </a:lnTo>
                  <a:lnTo>
                    <a:pt x="28" y="25"/>
                  </a:lnTo>
                  <a:lnTo>
                    <a:pt x="31" y="24"/>
                  </a:lnTo>
                  <a:lnTo>
                    <a:pt x="32" y="24"/>
                  </a:lnTo>
                  <a:lnTo>
                    <a:pt x="34" y="23"/>
                  </a:lnTo>
                  <a:lnTo>
                    <a:pt x="37" y="22"/>
                  </a:lnTo>
                  <a:lnTo>
                    <a:pt x="40" y="22"/>
                  </a:lnTo>
                  <a:lnTo>
                    <a:pt x="42" y="22"/>
                  </a:lnTo>
                  <a:lnTo>
                    <a:pt x="46" y="22"/>
                  </a:lnTo>
                  <a:lnTo>
                    <a:pt x="49" y="22"/>
                  </a:lnTo>
                  <a:lnTo>
                    <a:pt x="53" y="22"/>
                  </a:lnTo>
                  <a:lnTo>
                    <a:pt x="58" y="23"/>
                  </a:lnTo>
                  <a:lnTo>
                    <a:pt x="61" y="24"/>
                  </a:lnTo>
                  <a:lnTo>
                    <a:pt x="6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05" name="Freeform 204"/>
            <p:cNvSpPr>
              <a:spLocks/>
            </p:cNvSpPr>
            <p:nvPr/>
          </p:nvSpPr>
          <p:spPr bwMode="auto">
            <a:xfrm>
              <a:off x="1263" y="2411"/>
              <a:ext cx="79" cy="91"/>
            </a:xfrm>
            <a:custGeom>
              <a:avLst/>
              <a:gdLst>
                <a:gd name="T0" fmla="*/ 78 w 79"/>
                <a:gd name="T1" fmla="*/ 3 h 91"/>
                <a:gd name="T2" fmla="*/ 78 w 79"/>
                <a:gd name="T3" fmla="*/ 3 h 91"/>
                <a:gd name="T4" fmla="*/ 77 w 79"/>
                <a:gd name="T5" fmla="*/ 3 h 91"/>
                <a:gd name="T6" fmla="*/ 74 w 79"/>
                <a:gd name="T7" fmla="*/ 2 h 91"/>
                <a:gd name="T8" fmla="*/ 72 w 79"/>
                <a:gd name="T9" fmla="*/ 2 h 91"/>
                <a:gd name="T10" fmla="*/ 69 w 79"/>
                <a:gd name="T11" fmla="*/ 1 h 91"/>
                <a:gd name="T12" fmla="*/ 65 w 79"/>
                <a:gd name="T13" fmla="*/ 1 h 91"/>
                <a:gd name="T14" fmla="*/ 60 w 79"/>
                <a:gd name="T15" fmla="*/ 1 h 91"/>
                <a:gd name="T16" fmla="*/ 56 w 79"/>
                <a:gd name="T17" fmla="*/ 0 h 91"/>
                <a:gd name="T18" fmla="*/ 50 w 79"/>
                <a:gd name="T19" fmla="*/ 0 h 91"/>
                <a:gd name="T20" fmla="*/ 44 w 79"/>
                <a:gd name="T21" fmla="*/ 0 h 91"/>
                <a:gd name="T22" fmla="*/ 38 w 79"/>
                <a:gd name="T23" fmla="*/ 1 h 91"/>
                <a:gd name="T24" fmla="*/ 31 w 79"/>
                <a:gd name="T25" fmla="*/ 2 h 91"/>
                <a:gd name="T26" fmla="*/ 25 w 79"/>
                <a:gd name="T27" fmla="*/ 3 h 91"/>
                <a:gd name="T28" fmla="*/ 18 w 79"/>
                <a:gd name="T29" fmla="*/ 6 h 91"/>
                <a:gd name="T30" fmla="*/ 11 w 79"/>
                <a:gd name="T31" fmla="*/ 8 h 91"/>
                <a:gd name="T32" fmla="*/ 4 w 79"/>
                <a:gd name="T33" fmla="*/ 10 h 91"/>
                <a:gd name="T34" fmla="*/ 4 w 79"/>
                <a:gd name="T35" fmla="*/ 13 h 91"/>
                <a:gd name="T36" fmla="*/ 3 w 79"/>
                <a:gd name="T37" fmla="*/ 17 h 91"/>
                <a:gd name="T38" fmla="*/ 1 w 79"/>
                <a:gd name="T39" fmla="*/ 26 h 91"/>
                <a:gd name="T40" fmla="*/ 0 w 79"/>
                <a:gd name="T41" fmla="*/ 35 h 91"/>
                <a:gd name="T42" fmla="*/ 0 w 79"/>
                <a:gd name="T43" fmla="*/ 47 h 91"/>
                <a:gd name="T44" fmla="*/ 0 w 79"/>
                <a:gd name="T45" fmla="*/ 59 h 91"/>
                <a:gd name="T46" fmla="*/ 2 w 79"/>
                <a:gd name="T47" fmla="*/ 73 h 91"/>
                <a:gd name="T48" fmla="*/ 6 w 79"/>
                <a:gd name="T49" fmla="*/ 89 h 91"/>
                <a:gd name="T50" fmla="*/ 7 w 79"/>
                <a:gd name="T51" fmla="*/ 89 h 91"/>
                <a:gd name="T52" fmla="*/ 8 w 79"/>
                <a:gd name="T53" fmla="*/ 89 h 91"/>
                <a:gd name="T54" fmla="*/ 9 w 79"/>
                <a:gd name="T55" fmla="*/ 87 h 91"/>
                <a:gd name="T56" fmla="*/ 11 w 79"/>
                <a:gd name="T57" fmla="*/ 87 h 91"/>
                <a:gd name="T58" fmla="*/ 15 w 79"/>
                <a:gd name="T59" fmla="*/ 87 h 91"/>
                <a:gd name="T60" fmla="*/ 18 w 79"/>
                <a:gd name="T61" fmla="*/ 87 h 91"/>
                <a:gd name="T62" fmla="*/ 22 w 79"/>
                <a:gd name="T63" fmla="*/ 87 h 91"/>
                <a:gd name="T64" fmla="*/ 27 w 79"/>
                <a:gd name="T65" fmla="*/ 87 h 91"/>
                <a:gd name="T66" fmla="*/ 32 w 79"/>
                <a:gd name="T67" fmla="*/ 86 h 91"/>
                <a:gd name="T68" fmla="*/ 38 w 79"/>
                <a:gd name="T69" fmla="*/ 87 h 91"/>
                <a:gd name="T70" fmla="*/ 44 w 79"/>
                <a:gd name="T71" fmla="*/ 87 h 91"/>
                <a:gd name="T72" fmla="*/ 50 w 79"/>
                <a:gd name="T73" fmla="*/ 87 h 91"/>
                <a:gd name="T74" fmla="*/ 57 w 79"/>
                <a:gd name="T75" fmla="*/ 87 h 91"/>
                <a:gd name="T76" fmla="*/ 64 w 79"/>
                <a:gd name="T77" fmla="*/ 89 h 91"/>
                <a:gd name="T78" fmla="*/ 71 w 79"/>
                <a:gd name="T79" fmla="*/ 90 h 91"/>
                <a:gd name="T80" fmla="*/ 79 w 79"/>
                <a:gd name="T81" fmla="*/ 91 h 91"/>
                <a:gd name="T82" fmla="*/ 79 w 79"/>
                <a:gd name="T83" fmla="*/ 87 h 91"/>
                <a:gd name="T84" fmla="*/ 78 w 79"/>
                <a:gd name="T85" fmla="*/ 80 h 91"/>
                <a:gd name="T86" fmla="*/ 77 w 79"/>
                <a:gd name="T87" fmla="*/ 70 h 91"/>
                <a:gd name="T88" fmla="*/ 76 w 79"/>
                <a:gd name="T89" fmla="*/ 57 h 91"/>
                <a:gd name="T90" fmla="*/ 76 w 79"/>
                <a:gd name="T91" fmla="*/ 43 h 91"/>
                <a:gd name="T92" fmla="*/ 76 w 79"/>
                <a:gd name="T93" fmla="*/ 28 h 91"/>
                <a:gd name="T94" fmla="*/ 77 w 79"/>
                <a:gd name="T95" fmla="*/ 15 h 91"/>
                <a:gd name="T96" fmla="*/ 78 w 79"/>
                <a:gd name="T97" fmla="*/ 3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9" h="91">
                  <a:moveTo>
                    <a:pt x="78" y="3"/>
                  </a:moveTo>
                  <a:lnTo>
                    <a:pt x="78" y="3"/>
                  </a:lnTo>
                  <a:lnTo>
                    <a:pt x="77" y="3"/>
                  </a:lnTo>
                  <a:lnTo>
                    <a:pt x="74" y="2"/>
                  </a:lnTo>
                  <a:lnTo>
                    <a:pt x="72" y="2"/>
                  </a:lnTo>
                  <a:lnTo>
                    <a:pt x="69" y="1"/>
                  </a:lnTo>
                  <a:lnTo>
                    <a:pt x="65" y="1"/>
                  </a:lnTo>
                  <a:lnTo>
                    <a:pt x="60" y="1"/>
                  </a:lnTo>
                  <a:lnTo>
                    <a:pt x="56" y="0"/>
                  </a:lnTo>
                  <a:lnTo>
                    <a:pt x="50" y="0"/>
                  </a:lnTo>
                  <a:lnTo>
                    <a:pt x="44" y="0"/>
                  </a:lnTo>
                  <a:lnTo>
                    <a:pt x="38" y="1"/>
                  </a:lnTo>
                  <a:lnTo>
                    <a:pt x="31" y="2"/>
                  </a:lnTo>
                  <a:lnTo>
                    <a:pt x="25" y="3"/>
                  </a:lnTo>
                  <a:lnTo>
                    <a:pt x="18" y="6"/>
                  </a:lnTo>
                  <a:lnTo>
                    <a:pt x="11" y="8"/>
                  </a:lnTo>
                  <a:lnTo>
                    <a:pt x="4" y="10"/>
                  </a:lnTo>
                  <a:lnTo>
                    <a:pt x="4" y="13"/>
                  </a:lnTo>
                  <a:lnTo>
                    <a:pt x="3" y="17"/>
                  </a:lnTo>
                  <a:lnTo>
                    <a:pt x="1" y="26"/>
                  </a:lnTo>
                  <a:lnTo>
                    <a:pt x="0" y="35"/>
                  </a:lnTo>
                  <a:lnTo>
                    <a:pt x="0" y="47"/>
                  </a:lnTo>
                  <a:lnTo>
                    <a:pt x="0" y="59"/>
                  </a:lnTo>
                  <a:lnTo>
                    <a:pt x="2" y="73"/>
                  </a:lnTo>
                  <a:lnTo>
                    <a:pt x="6" y="89"/>
                  </a:lnTo>
                  <a:lnTo>
                    <a:pt x="7" y="89"/>
                  </a:lnTo>
                  <a:lnTo>
                    <a:pt x="8" y="89"/>
                  </a:lnTo>
                  <a:lnTo>
                    <a:pt x="9" y="87"/>
                  </a:lnTo>
                  <a:lnTo>
                    <a:pt x="11" y="87"/>
                  </a:lnTo>
                  <a:lnTo>
                    <a:pt x="15" y="87"/>
                  </a:lnTo>
                  <a:lnTo>
                    <a:pt x="18" y="87"/>
                  </a:lnTo>
                  <a:lnTo>
                    <a:pt x="22" y="87"/>
                  </a:lnTo>
                  <a:lnTo>
                    <a:pt x="27" y="87"/>
                  </a:lnTo>
                  <a:lnTo>
                    <a:pt x="32" y="86"/>
                  </a:lnTo>
                  <a:lnTo>
                    <a:pt x="38" y="87"/>
                  </a:lnTo>
                  <a:lnTo>
                    <a:pt x="44" y="87"/>
                  </a:lnTo>
                  <a:lnTo>
                    <a:pt x="50" y="87"/>
                  </a:lnTo>
                  <a:lnTo>
                    <a:pt x="57" y="87"/>
                  </a:lnTo>
                  <a:lnTo>
                    <a:pt x="64" y="89"/>
                  </a:lnTo>
                  <a:lnTo>
                    <a:pt x="71" y="90"/>
                  </a:lnTo>
                  <a:lnTo>
                    <a:pt x="79" y="91"/>
                  </a:lnTo>
                  <a:lnTo>
                    <a:pt x="79" y="87"/>
                  </a:lnTo>
                  <a:lnTo>
                    <a:pt x="78" y="80"/>
                  </a:lnTo>
                  <a:lnTo>
                    <a:pt x="77" y="70"/>
                  </a:lnTo>
                  <a:lnTo>
                    <a:pt x="76" y="57"/>
                  </a:lnTo>
                  <a:lnTo>
                    <a:pt x="76" y="43"/>
                  </a:lnTo>
                  <a:lnTo>
                    <a:pt x="76" y="28"/>
                  </a:lnTo>
                  <a:lnTo>
                    <a:pt x="77" y="15"/>
                  </a:lnTo>
                  <a:lnTo>
                    <a:pt x="78" y="3"/>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06" name="Freeform 205"/>
            <p:cNvSpPr>
              <a:spLocks/>
            </p:cNvSpPr>
            <p:nvPr/>
          </p:nvSpPr>
          <p:spPr bwMode="auto">
            <a:xfrm>
              <a:off x="1271" y="2435"/>
              <a:ext cx="132" cy="90"/>
            </a:xfrm>
            <a:custGeom>
              <a:avLst/>
              <a:gdLst>
                <a:gd name="T0" fmla="*/ 1 w 132"/>
                <a:gd name="T1" fmla="*/ 68 h 90"/>
                <a:gd name="T2" fmla="*/ 0 w 132"/>
                <a:gd name="T3" fmla="*/ 80 h 90"/>
                <a:gd name="T4" fmla="*/ 86 w 132"/>
                <a:gd name="T5" fmla="*/ 90 h 90"/>
                <a:gd name="T6" fmla="*/ 86 w 132"/>
                <a:gd name="T7" fmla="*/ 90 h 90"/>
                <a:gd name="T8" fmla="*/ 89 w 132"/>
                <a:gd name="T9" fmla="*/ 89 h 90"/>
                <a:gd name="T10" fmla="*/ 91 w 132"/>
                <a:gd name="T11" fmla="*/ 88 h 90"/>
                <a:gd name="T12" fmla="*/ 94 w 132"/>
                <a:gd name="T13" fmla="*/ 86 h 90"/>
                <a:gd name="T14" fmla="*/ 98 w 132"/>
                <a:gd name="T15" fmla="*/ 83 h 90"/>
                <a:gd name="T16" fmla="*/ 103 w 132"/>
                <a:gd name="T17" fmla="*/ 80 h 90"/>
                <a:gd name="T18" fmla="*/ 107 w 132"/>
                <a:gd name="T19" fmla="*/ 76 h 90"/>
                <a:gd name="T20" fmla="*/ 112 w 132"/>
                <a:gd name="T21" fmla="*/ 72 h 90"/>
                <a:gd name="T22" fmla="*/ 117 w 132"/>
                <a:gd name="T23" fmla="*/ 67 h 90"/>
                <a:gd name="T24" fmla="*/ 121 w 132"/>
                <a:gd name="T25" fmla="*/ 61 h 90"/>
                <a:gd name="T26" fmla="*/ 125 w 132"/>
                <a:gd name="T27" fmla="*/ 55 h 90"/>
                <a:gd name="T28" fmla="*/ 128 w 132"/>
                <a:gd name="T29" fmla="*/ 48 h 90"/>
                <a:gd name="T30" fmla="*/ 131 w 132"/>
                <a:gd name="T31" fmla="*/ 40 h 90"/>
                <a:gd name="T32" fmla="*/ 132 w 132"/>
                <a:gd name="T33" fmla="*/ 32 h 90"/>
                <a:gd name="T34" fmla="*/ 132 w 132"/>
                <a:gd name="T35" fmla="*/ 24 h 90"/>
                <a:gd name="T36" fmla="*/ 129 w 132"/>
                <a:gd name="T37" fmla="*/ 14 h 90"/>
                <a:gd name="T38" fmla="*/ 129 w 132"/>
                <a:gd name="T39" fmla="*/ 13 h 90"/>
                <a:gd name="T40" fmla="*/ 128 w 132"/>
                <a:gd name="T41" fmla="*/ 12 h 90"/>
                <a:gd name="T42" fmla="*/ 127 w 132"/>
                <a:gd name="T43" fmla="*/ 10 h 90"/>
                <a:gd name="T44" fmla="*/ 126 w 132"/>
                <a:gd name="T45" fmla="*/ 7 h 90"/>
                <a:gd name="T46" fmla="*/ 124 w 132"/>
                <a:gd name="T47" fmla="*/ 5 h 90"/>
                <a:gd name="T48" fmla="*/ 120 w 132"/>
                <a:gd name="T49" fmla="*/ 3 h 90"/>
                <a:gd name="T50" fmla="*/ 117 w 132"/>
                <a:gd name="T51" fmla="*/ 2 h 90"/>
                <a:gd name="T52" fmla="*/ 113 w 132"/>
                <a:gd name="T53" fmla="*/ 0 h 90"/>
                <a:gd name="T54" fmla="*/ 113 w 132"/>
                <a:gd name="T55" fmla="*/ 3 h 90"/>
                <a:gd name="T56" fmla="*/ 114 w 132"/>
                <a:gd name="T57" fmla="*/ 6 h 90"/>
                <a:gd name="T58" fmla="*/ 117 w 132"/>
                <a:gd name="T59" fmla="*/ 12 h 90"/>
                <a:gd name="T60" fmla="*/ 118 w 132"/>
                <a:gd name="T61" fmla="*/ 20 h 90"/>
                <a:gd name="T62" fmla="*/ 118 w 132"/>
                <a:gd name="T63" fmla="*/ 30 h 90"/>
                <a:gd name="T64" fmla="*/ 117 w 132"/>
                <a:gd name="T65" fmla="*/ 40 h 90"/>
                <a:gd name="T66" fmla="*/ 114 w 132"/>
                <a:gd name="T67" fmla="*/ 52 h 90"/>
                <a:gd name="T68" fmla="*/ 108 w 132"/>
                <a:gd name="T69" fmla="*/ 65 h 90"/>
                <a:gd name="T70" fmla="*/ 108 w 132"/>
                <a:gd name="T71" fmla="*/ 65 h 90"/>
                <a:gd name="T72" fmla="*/ 108 w 132"/>
                <a:gd name="T73" fmla="*/ 65 h 90"/>
                <a:gd name="T74" fmla="*/ 107 w 132"/>
                <a:gd name="T75" fmla="*/ 66 h 90"/>
                <a:gd name="T76" fmla="*/ 106 w 132"/>
                <a:gd name="T77" fmla="*/ 67 h 90"/>
                <a:gd name="T78" fmla="*/ 105 w 132"/>
                <a:gd name="T79" fmla="*/ 67 h 90"/>
                <a:gd name="T80" fmla="*/ 103 w 132"/>
                <a:gd name="T81" fmla="*/ 68 h 90"/>
                <a:gd name="T82" fmla="*/ 100 w 132"/>
                <a:gd name="T83" fmla="*/ 69 h 90"/>
                <a:gd name="T84" fmla="*/ 98 w 132"/>
                <a:gd name="T85" fmla="*/ 70 h 90"/>
                <a:gd name="T86" fmla="*/ 96 w 132"/>
                <a:gd name="T87" fmla="*/ 72 h 90"/>
                <a:gd name="T88" fmla="*/ 92 w 132"/>
                <a:gd name="T89" fmla="*/ 73 h 90"/>
                <a:gd name="T90" fmla="*/ 90 w 132"/>
                <a:gd name="T91" fmla="*/ 73 h 90"/>
                <a:gd name="T92" fmla="*/ 85 w 132"/>
                <a:gd name="T93" fmla="*/ 74 h 90"/>
                <a:gd name="T94" fmla="*/ 82 w 132"/>
                <a:gd name="T95" fmla="*/ 74 h 90"/>
                <a:gd name="T96" fmla="*/ 78 w 132"/>
                <a:gd name="T97" fmla="*/ 74 h 90"/>
                <a:gd name="T98" fmla="*/ 73 w 132"/>
                <a:gd name="T99" fmla="*/ 73 h 90"/>
                <a:gd name="T100" fmla="*/ 69 w 132"/>
                <a:gd name="T101" fmla="*/ 73 h 90"/>
                <a:gd name="T102" fmla="*/ 69 w 132"/>
                <a:gd name="T103" fmla="*/ 84 h 90"/>
                <a:gd name="T104" fmla="*/ 3 w 132"/>
                <a:gd name="T105" fmla="*/ 77 h 90"/>
                <a:gd name="T106" fmla="*/ 1 w 132"/>
                <a:gd name="T107" fmla="*/ 6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2" h="90">
                  <a:moveTo>
                    <a:pt x="1" y="68"/>
                  </a:moveTo>
                  <a:lnTo>
                    <a:pt x="0" y="80"/>
                  </a:lnTo>
                  <a:lnTo>
                    <a:pt x="86" y="90"/>
                  </a:lnTo>
                  <a:lnTo>
                    <a:pt x="86" y="90"/>
                  </a:lnTo>
                  <a:lnTo>
                    <a:pt x="89" y="89"/>
                  </a:lnTo>
                  <a:lnTo>
                    <a:pt x="91" y="88"/>
                  </a:lnTo>
                  <a:lnTo>
                    <a:pt x="94" y="86"/>
                  </a:lnTo>
                  <a:lnTo>
                    <a:pt x="98" y="83"/>
                  </a:lnTo>
                  <a:lnTo>
                    <a:pt x="103" y="80"/>
                  </a:lnTo>
                  <a:lnTo>
                    <a:pt x="107" y="76"/>
                  </a:lnTo>
                  <a:lnTo>
                    <a:pt x="112" y="72"/>
                  </a:lnTo>
                  <a:lnTo>
                    <a:pt x="117" y="67"/>
                  </a:lnTo>
                  <a:lnTo>
                    <a:pt x="121" y="61"/>
                  </a:lnTo>
                  <a:lnTo>
                    <a:pt x="125" y="55"/>
                  </a:lnTo>
                  <a:lnTo>
                    <a:pt x="128" y="48"/>
                  </a:lnTo>
                  <a:lnTo>
                    <a:pt x="131" y="40"/>
                  </a:lnTo>
                  <a:lnTo>
                    <a:pt x="132" y="32"/>
                  </a:lnTo>
                  <a:lnTo>
                    <a:pt x="132" y="24"/>
                  </a:lnTo>
                  <a:lnTo>
                    <a:pt x="129" y="14"/>
                  </a:lnTo>
                  <a:lnTo>
                    <a:pt x="129" y="13"/>
                  </a:lnTo>
                  <a:lnTo>
                    <a:pt x="128" y="12"/>
                  </a:lnTo>
                  <a:lnTo>
                    <a:pt x="127" y="10"/>
                  </a:lnTo>
                  <a:lnTo>
                    <a:pt x="126" y="7"/>
                  </a:lnTo>
                  <a:lnTo>
                    <a:pt x="124" y="5"/>
                  </a:lnTo>
                  <a:lnTo>
                    <a:pt x="120" y="3"/>
                  </a:lnTo>
                  <a:lnTo>
                    <a:pt x="117" y="2"/>
                  </a:lnTo>
                  <a:lnTo>
                    <a:pt x="113" y="0"/>
                  </a:lnTo>
                  <a:lnTo>
                    <a:pt x="113" y="3"/>
                  </a:lnTo>
                  <a:lnTo>
                    <a:pt x="114" y="6"/>
                  </a:lnTo>
                  <a:lnTo>
                    <a:pt x="117" y="12"/>
                  </a:lnTo>
                  <a:lnTo>
                    <a:pt x="118" y="20"/>
                  </a:lnTo>
                  <a:lnTo>
                    <a:pt x="118" y="30"/>
                  </a:lnTo>
                  <a:lnTo>
                    <a:pt x="117" y="40"/>
                  </a:lnTo>
                  <a:lnTo>
                    <a:pt x="114" y="52"/>
                  </a:lnTo>
                  <a:lnTo>
                    <a:pt x="108" y="65"/>
                  </a:lnTo>
                  <a:lnTo>
                    <a:pt x="108" y="65"/>
                  </a:lnTo>
                  <a:lnTo>
                    <a:pt x="108" y="65"/>
                  </a:lnTo>
                  <a:lnTo>
                    <a:pt x="107" y="66"/>
                  </a:lnTo>
                  <a:lnTo>
                    <a:pt x="106" y="67"/>
                  </a:lnTo>
                  <a:lnTo>
                    <a:pt x="105" y="67"/>
                  </a:lnTo>
                  <a:lnTo>
                    <a:pt x="103" y="68"/>
                  </a:lnTo>
                  <a:lnTo>
                    <a:pt x="100" y="69"/>
                  </a:lnTo>
                  <a:lnTo>
                    <a:pt x="98" y="70"/>
                  </a:lnTo>
                  <a:lnTo>
                    <a:pt x="96" y="72"/>
                  </a:lnTo>
                  <a:lnTo>
                    <a:pt x="92" y="73"/>
                  </a:lnTo>
                  <a:lnTo>
                    <a:pt x="90" y="73"/>
                  </a:lnTo>
                  <a:lnTo>
                    <a:pt x="85" y="74"/>
                  </a:lnTo>
                  <a:lnTo>
                    <a:pt x="82" y="74"/>
                  </a:lnTo>
                  <a:lnTo>
                    <a:pt x="78" y="74"/>
                  </a:lnTo>
                  <a:lnTo>
                    <a:pt x="73" y="73"/>
                  </a:lnTo>
                  <a:lnTo>
                    <a:pt x="69" y="73"/>
                  </a:lnTo>
                  <a:lnTo>
                    <a:pt x="69" y="84"/>
                  </a:lnTo>
                  <a:lnTo>
                    <a:pt x="3" y="77"/>
                  </a:lnTo>
                  <a:lnTo>
                    <a:pt x="1" y="68"/>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07" name="Freeform 206"/>
            <p:cNvSpPr>
              <a:spLocks/>
            </p:cNvSpPr>
            <p:nvPr/>
          </p:nvSpPr>
          <p:spPr bwMode="auto">
            <a:xfrm>
              <a:off x="1255" y="2524"/>
              <a:ext cx="96" cy="32"/>
            </a:xfrm>
            <a:custGeom>
              <a:avLst/>
              <a:gdLst>
                <a:gd name="T0" fmla="*/ 96 w 96"/>
                <a:gd name="T1" fmla="*/ 12 h 32"/>
                <a:gd name="T2" fmla="*/ 1 w 96"/>
                <a:gd name="T3" fmla="*/ 0 h 32"/>
                <a:gd name="T4" fmla="*/ 0 w 96"/>
                <a:gd name="T5" fmla="*/ 12 h 32"/>
                <a:gd name="T6" fmla="*/ 93 w 96"/>
                <a:gd name="T7" fmla="*/ 32 h 32"/>
                <a:gd name="T8" fmla="*/ 96 w 96"/>
                <a:gd name="T9" fmla="*/ 12 h 32"/>
              </a:gdLst>
              <a:ahLst/>
              <a:cxnLst>
                <a:cxn ang="0">
                  <a:pos x="T0" y="T1"/>
                </a:cxn>
                <a:cxn ang="0">
                  <a:pos x="T2" y="T3"/>
                </a:cxn>
                <a:cxn ang="0">
                  <a:pos x="T4" y="T5"/>
                </a:cxn>
                <a:cxn ang="0">
                  <a:pos x="T6" y="T7"/>
                </a:cxn>
                <a:cxn ang="0">
                  <a:pos x="T8" y="T9"/>
                </a:cxn>
              </a:cxnLst>
              <a:rect l="0" t="0" r="r" b="b"/>
              <a:pathLst>
                <a:path w="96" h="32">
                  <a:moveTo>
                    <a:pt x="96" y="12"/>
                  </a:moveTo>
                  <a:lnTo>
                    <a:pt x="1" y="0"/>
                  </a:lnTo>
                  <a:lnTo>
                    <a:pt x="0" y="12"/>
                  </a:lnTo>
                  <a:lnTo>
                    <a:pt x="93" y="32"/>
                  </a:lnTo>
                  <a:lnTo>
                    <a:pt x="96"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08" name="Freeform 207"/>
            <p:cNvSpPr>
              <a:spLocks/>
            </p:cNvSpPr>
            <p:nvPr/>
          </p:nvSpPr>
          <p:spPr bwMode="auto">
            <a:xfrm>
              <a:off x="1302" y="2535"/>
              <a:ext cx="42" cy="14"/>
            </a:xfrm>
            <a:custGeom>
              <a:avLst/>
              <a:gdLst>
                <a:gd name="T0" fmla="*/ 42 w 42"/>
                <a:gd name="T1" fmla="*/ 6 h 14"/>
                <a:gd name="T2" fmla="*/ 2 w 42"/>
                <a:gd name="T3" fmla="*/ 0 h 14"/>
                <a:gd name="T4" fmla="*/ 0 w 42"/>
                <a:gd name="T5" fmla="*/ 6 h 14"/>
                <a:gd name="T6" fmla="*/ 40 w 42"/>
                <a:gd name="T7" fmla="*/ 14 h 14"/>
                <a:gd name="T8" fmla="*/ 42 w 42"/>
                <a:gd name="T9" fmla="*/ 6 h 14"/>
              </a:gdLst>
              <a:ahLst/>
              <a:cxnLst>
                <a:cxn ang="0">
                  <a:pos x="T0" y="T1"/>
                </a:cxn>
                <a:cxn ang="0">
                  <a:pos x="T2" y="T3"/>
                </a:cxn>
                <a:cxn ang="0">
                  <a:pos x="T4" y="T5"/>
                </a:cxn>
                <a:cxn ang="0">
                  <a:pos x="T6" y="T7"/>
                </a:cxn>
                <a:cxn ang="0">
                  <a:pos x="T8" y="T9"/>
                </a:cxn>
              </a:cxnLst>
              <a:rect l="0" t="0" r="r" b="b"/>
              <a:pathLst>
                <a:path w="42" h="14">
                  <a:moveTo>
                    <a:pt x="42" y="6"/>
                  </a:moveTo>
                  <a:lnTo>
                    <a:pt x="2" y="0"/>
                  </a:lnTo>
                  <a:lnTo>
                    <a:pt x="0" y="6"/>
                  </a:lnTo>
                  <a:lnTo>
                    <a:pt x="40" y="14"/>
                  </a:lnTo>
                  <a:lnTo>
                    <a:pt x="42" y="6"/>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09" name="Freeform 208"/>
            <p:cNvSpPr>
              <a:spLocks/>
            </p:cNvSpPr>
            <p:nvPr/>
          </p:nvSpPr>
          <p:spPr bwMode="auto">
            <a:xfrm>
              <a:off x="1260" y="2528"/>
              <a:ext cx="28" cy="10"/>
            </a:xfrm>
            <a:custGeom>
              <a:avLst/>
              <a:gdLst>
                <a:gd name="T0" fmla="*/ 28 w 28"/>
                <a:gd name="T1" fmla="*/ 4 h 10"/>
                <a:gd name="T2" fmla="*/ 0 w 28"/>
                <a:gd name="T3" fmla="*/ 0 h 10"/>
                <a:gd name="T4" fmla="*/ 0 w 28"/>
                <a:gd name="T5" fmla="*/ 4 h 10"/>
                <a:gd name="T6" fmla="*/ 27 w 28"/>
                <a:gd name="T7" fmla="*/ 10 h 10"/>
                <a:gd name="T8" fmla="*/ 28 w 28"/>
                <a:gd name="T9" fmla="*/ 4 h 10"/>
              </a:gdLst>
              <a:ahLst/>
              <a:cxnLst>
                <a:cxn ang="0">
                  <a:pos x="T0" y="T1"/>
                </a:cxn>
                <a:cxn ang="0">
                  <a:pos x="T2" y="T3"/>
                </a:cxn>
                <a:cxn ang="0">
                  <a:pos x="T4" y="T5"/>
                </a:cxn>
                <a:cxn ang="0">
                  <a:pos x="T6" y="T7"/>
                </a:cxn>
                <a:cxn ang="0">
                  <a:pos x="T8" y="T9"/>
                </a:cxn>
              </a:cxnLst>
              <a:rect l="0" t="0" r="r" b="b"/>
              <a:pathLst>
                <a:path w="28" h="10">
                  <a:moveTo>
                    <a:pt x="28" y="4"/>
                  </a:moveTo>
                  <a:lnTo>
                    <a:pt x="0" y="0"/>
                  </a:lnTo>
                  <a:lnTo>
                    <a:pt x="0" y="4"/>
                  </a:lnTo>
                  <a:lnTo>
                    <a:pt x="27" y="10"/>
                  </a:lnTo>
                  <a:lnTo>
                    <a:pt x="28" y="4"/>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10" name="Freeform 209"/>
            <p:cNvSpPr>
              <a:spLocks/>
            </p:cNvSpPr>
            <p:nvPr/>
          </p:nvSpPr>
          <p:spPr bwMode="auto">
            <a:xfrm>
              <a:off x="1192" y="2537"/>
              <a:ext cx="162" cy="55"/>
            </a:xfrm>
            <a:custGeom>
              <a:avLst/>
              <a:gdLst>
                <a:gd name="T0" fmla="*/ 0 w 162"/>
                <a:gd name="T1" fmla="*/ 16 h 55"/>
                <a:gd name="T2" fmla="*/ 0 w 162"/>
                <a:gd name="T3" fmla="*/ 16 h 55"/>
                <a:gd name="T4" fmla="*/ 1 w 162"/>
                <a:gd name="T5" fmla="*/ 16 h 55"/>
                <a:gd name="T6" fmla="*/ 2 w 162"/>
                <a:gd name="T7" fmla="*/ 16 h 55"/>
                <a:gd name="T8" fmla="*/ 4 w 162"/>
                <a:gd name="T9" fmla="*/ 15 h 55"/>
                <a:gd name="T10" fmla="*/ 7 w 162"/>
                <a:gd name="T11" fmla="*/ 15 h 55"/>
                <a:gd name="T12" fmla="*/ 10 w 162"/>
                <a:gd name="T13" fmla="*/ 15 h 55"/>
                <a:gd name="T14" fmla="*/ 14 w 162"/>
                <a:gd name="T15" fmla="*/ 14 h 55"/>
                <a:gd name="T16" fmla="*/ 17 w 162"/>
                <a:gd name="T17" fmla="*/ 13 h 55"/>
                <a:gd name="T18" fmla="*/ 21 w 162"/>
                <a:gd name="T19" fmla="*/ 12 h 55"/>
                <a:gd name="T20" fmla="*/ 24 w 162"/>
                <a:gd name="T21" fmla="*/ 11 h 55"/>
                <a:gd name="T22" fmla="*/ 28 w 162"/>
                <a:gd name="T23" fmla="*/ 9 h 55"/>
                <a:gd name="T24" fmla="*/ 31 w 162"/>
                <a:gd name="T25" fmla="*/ 8 h 55"/>
                <a:gd name="T26" fmla="*/ 35 w 162"/>
                <a:gd name="T27" fmla="*/ 6 h 55"/>
                <a:gd name="T28" fmla="*/ 37 w 162"/>
                <a:gd name="T29" fmla="*/ 5 h 55"/>
                <a:gd name="T30" fmla="*/ 40 w 162"/>
                <a:gd name="T31" fmla="*/ 2 h 55"/>
                <a:gd name="T32" fmla="*/ 43 w 162"/>
                <a:gd name="T33" fmla="*/ 0 h 55"/>
                <a:gd name="T34" fmla="*/ 162 w 162"/>
                <a:gd name="T35" fmla="*/ 28 h 55"/>
                <a:gd name="T36" fmla="*/ 162 w 162"/>
                <a:gd name="T37" fmla="*/ 28 h 55"/>
                <a:gd name="T38" fmla="*/ 161 w 162"/>
                <a:gd name="T39" fmla="*/ 29 h 55"/>
                <a:gd name="T40" fmla="*/ 159 w 162"/>
                <a:gd name="T41" fmla="*/ 30 h 55"/>
                <a:gd name="T42" fmla="*/ 158 w 162"/>
                <a:gd name="T43" fmla="*/ 32 h 55"/>
                <a:gd name="T44" fmla="*/ 157 w 162"/>
                <a:gd name="T45" fmla="*/ 33 h 55"/>
                <a:gd name="T46" fmla="*/ 155 w 162"/>
                <a:gd name="T47" fmla="*/ 35 h 55"/>
                <a:gd name="T48" fmla="*/ 152 w 162"/>
                <a:gd name="T49" fmla="*/ 36 h 55"/>
                <a:gd name="T50" fmla="*/ 150 w 162"/>
                <a:gd name="T51" fmla="*/ 39 h 55"/>
                <a:gd name="T52" fmla="*/ 147 w 162"/>
                <a:gd name="T53" fmla="*/ 41 h 55"/>
                <a:gd name="T54" fmla="*/ 144 w 162"/>
                <a:gd name="T55" fmla="*/ 43 h 55"/>
                <a:gd name="T56" fmla="*/ 141 w 162"/>
                <a:gd name="T57" fmla="*/ 46 h 55"/>
                <a:gd name="T58" fmla="*/ 137 w 162"/>
                <a:gd name="T59" fmla="*/ 48 h 55"/>
                <a:gd name="T60" fmla="*/ 135 w 162"/>
                <a:gd name="T61" fmla="*/ 50 h 55"/>
                <a:gd name="T62" fmla="*/ 131 w 162"/>
                <a:gd name="T63" fmla="*/ 51 h 55"/>
                <a:gd name="T64" fmla="*/ 128 w 162"/>
                <a:gd name="T65" fmla="*/ 53 h 55"/>
                <a:gd name="T66" fmla="*/ 126 w 162"/>
                <a:gd name="T67" fmla="*/ 55 h 55"/>
                <a:gd name="T68" fmla="*/ 0 w 162"/>
                <a:gd name="T69" fmla="*/ 1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2" h="55">
                  <a:moveTo>
                    <a:pt x="0" y="16"/>
                  </a:moveTo>
                  <a:lnTo>
                    <a:pt x="0" y="16"/>
                  </a:lnTo>
                  <a:lnTo>
                    <a:pt x="1" y="16"/>
                  </a:lnTo>
                  <a:lnTo>
                    <a:pt x="2" y="16"/>
                  </a:lnTo>
                  <a:lnTo>
                    <a:pt x="4" y="15"/>
                  </a:lnTo>
                  <a:lnTo>
                    <a:pt x="7" y="15"/>
                  </a:lnTo>
                  <a:lnTo>
                    <a:pt x="10" y="15"/>
                  </a:lnTo>
                  <a:lnTo>
                    <a:pt x="14" y="14"/>
                  </a:lnTo>
                  <a:lnTo>
                    <a:pt x="17" y="13"/>
                  </a:lnTo>
                  <a:lnTo>
                    <a:pt x="21" y="12"/>
                  </a:lnTo>
                  <a:lnTo>
                    <a:pt x="24" y="11"/>
                  </a:lnTo>
                  <a:lnTo>
                    <a:pt x="28" y="9"/>
                  </a:lnTo>
                  <a:lnTo>
                    <a:pt x="31" y="8"/>
                  </a:lnTo>
                  <a:lnTo>
                    <a:pt x="35" y="6"/>
                  </a:lnTo>
                  <a:lnTo>
                    <a:pt x="37" y="5"/>
                  </a:lnTo>
                  <a:lnTo>
                    <a:pt x="40" y="2"/>
                  </a:lnTo>
                  <a:lnTo>
                    <a:pt x="43" y="0"/>
                  </a:lnTo>
                  <a:lnTo>
                    <a:pt x="162" y="28"/>
                  </a:lnTo>
                  <a:lnTo>
                    <a:pt x="162" y="28"/>
                  </a:lnTo>
                  <a:lnTo>
                    <a:pt x="161" y="29"/>
                  </a:lnTo>
                  <a:lnTo>
                    <a:pt x="159" y="30"/>
                  </a:lnTo>
                  <a:lnTo>
                    <a:pt x="158" y="32"/>
                  </a:lnTo>
                  <a:lnTo>
                    <a:pt x="157" y="33"/>
                  </a:lnTo>
                  <a:lnTo>
                    <a:pt x="155" y="35"/>
                  </a:lnTo>
                  <a:lnTo>
                    <a:pt x="152" y="36"/>
                  </a:lnTo>
                  <a:lnTo>
                    <a:pt x="150" y="39"/>
                  </a:lnTo>
                  <a:lnTo>
                    <a:pt x="147" y="41"/>
                  </a:lnTo>
                  <a:lnTo>
                    <a:pt x="144" y="43"/>
                  </a:lnTo>
                  <a:lnTo>
                    <a:pt x="141" y="46"/>
                  </a:lnTo>
                  <a:lnTo>
                    <a:pt x="137" y="48"/>
                  </a:lnTo>
                  <a:lnTo>
                    <a:pt x="135" y="50"/>
                  </a:lnTo>
                  <a:lnTo>
                    <a:pt x="131" y="51"/>
                  </a:lnTo>
                  <a:lnTo>
                    <a:pt x="128" y="53"/>
                  </a:lnTo>
                  <a:lnTo>
                    <a:pt x="126" y="55"/>
                  </a:lnTo>
                  <a:lnTo>
                    <a:pt x="0" y="16"/>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11" name="Freeform 210"/>
            <p:cNvSpPr>
              <a:spLocks/>
            </p:cNvSpPr>
            <p:nvPr/>
          </p:nvSpPr>
          <p:spPr bwMode="auto">
            <a:xfrm>
              <a:off x="1354" y="2531"/>
              <a:ext cx="57" cy="26"/>
            </a:xfrm>
            <a:custGeom>
              <a:avLst/>
              <a:gdLst>
                <a:gd name="T0" fmla="*/ 6 w 57"/>
                <a:gd name="T1" fmla="*/ 26 h 26"/>
                <a:gd name="T2" fmla="*/ 57 w 57"/>
                <a:gd name="T3" fmla="*/ 11 h 26"/>
                <a:gd name="T4" fmla="*/ 25 w 57"/>
                <a:gd name="T5" fmla="*/ 0 h 26"/>
                <a:gd name="T6" fmla="*/ 0 w 57"/>
                <a:gd name="T7" fmla="*/ 4 h 26"/>
                <a:gd name="T8" fmla="*/ 0 w 57"/>
                <a:gd name="T9" fmla="*/ 25 h 26"/>
                <a:gd name="T10" fmla="*/ 6 w 57"/>
                <a:gd name="T11" fmla="*/ 26 h 26"/>
              </a:gdLst>
              <a:ahLst/>
              <a:cxnLst>
                <a:cxn ang="0">
                  <a:pos x="T0" y="T1"/>
                </a:cxn>
                <a:cxn ang="0">
                  <a:pos x="T2" y="T3"/>
                </a:cxn>
                <a:cxn ang="0">
                  <a:pos x="T4" y="T5"/>
                </a:cxn>
                <a:cxn ang="0">
                  <a:pos x="T6" y="T7"/>
                </a:cxn>
                <a:cxn ang="0">
                  <a:pos x="T8" y="T9"/>
                </a:cxn>
                <a:cxn ang="0">
                  <a:pos x="T10" y="T11"/>
                </a:cxn>
              </a:cxnLst>
              <a:rect l="0" t="0" r="r" b="b"/>
              <a:pathLst>
                <a:path w="57" h="26">
                  <a:moveTo>
                    <a:pt x="6" y="26"/>
                  </a:moveTo>
                  <a:lnTo>
                    <a:pt x="57" y="11"/>
                  </a:lnTo>
                  <a:lnTo>
                    <a:pt x="25" y="0"/>
                  </a:lnTo>
                  <a:lnTo>
                    <a:pt x="0" y="4"/>
                  </a:lnTo>
                  <a:lnTo>
                    <a:pt x="0" y="25"/>
                  </a:lnTo>
                  <a:lnTo>
                    <a:pt x="6" y="26"/>
                  </a:lnTo>
                  <a:close/>
                </a:path>
              </a:pathLst>
            </a:custGeom>
            <a:solidFill>
              <a:srgbClr val="00199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12" name="Freeform 211"/>
            <p:cNvSpPr>
              <a:spLocks/>
            </p:cNvSpPr>
            <p:nvPr/>
          </p:nvSpPr>
          <p:spPr bwMode="auto">
            <a:xfrm>
              <a:off x="1203" y="2421"/>
              <a:ext cx="32" cy="123"/>
            </a:xfrm>
            <a:custGeom>
              <a:avLst/>
              <a:gdLst>
                <a:gd name="T0" fmla="*/ 32 w 32"/>
                <a:gd name="T1" fmla="*/ 3 h 123"/>
                <a:gd name="T2" fmla="*/ 32 w 32"/>
                <a:gd name="T3" fmla="*/ 3 h 123"/>
                <a:gd name="T4" fmla="*/ 31 w 32"/>
                <a:gd name="T5" fmla="*/ 3 h 123"/>
                <a:gd name="T6" fmla="*/ 31 w 32"/>
                <a:gd name="T7" fmla="*/ 3 h 123"/>
                <a:gd name="T8" fmla="*/ 29 w 32"/>
                <a:gd name="T9" fmla="*/ 2 h 123"/>
                <a:gd name="T10" fmla="*/ 27 w 32"/>
                <a:gd name="T11" fmla="*/ 2 h 123"/>
                <a:gd name="T12" fmla="*/ 26 w 32"/>
                <a:gd name="T13" fmla="*/ 2 h 123"/>
                <a:gd name="T14" fmla="*/ 24 w 32"/>
                <a:gd name="T15" fmla="*/ 0 h 123"/>
                <a:gd name="T16" fmla="*/ 22 w 32"/>
                <a:gd name="T17" fmla="*/ 0 h 123"/>
                <a:gd name="T18" fmla="*/ 20 w 32"/>
                <a:gd name="T19" fmla="*/ 0 h 123"/>
                <a:gd name="T20" fmla="*/ 18 w 32"/>
                <a:gd name="T21" fmla="*/ 0 h 123"/>
                <a:gd name="T22" fmla="*/ 14 w 32"/>
                <a:gd name="T23" fmla="*/ 0 h 123"/>
                <a:gd name="T24" fmla="*/ 12 w 32"/>
                <a:gd name="T25" fmla="*/ 0 h 123"/>
                <a:gd name="T26" fmla="*/ 10 w 32"/>
                <a:gd name="T27" fmla="*/ 2 h 123"/>
                <a:gd name="T28" fmla="*/ 6 w 32"/>
                <a:gd name="T29" fmla="*/ 3 h 123"/>
                <a:gd name="T30" fmla="*/ 4 w 32"/>
                <a:gd name="T31" fmla="*/ 4 h 123"/>
                <a:gd name="T32" fmla="*/ 0 w 32"/>
                <a:gd name="T33" fmla="*/ 6 h 123"/>
                <a:gd name="T34" fmla="*/ 0 w 32"/>
                <a:gd name="T35" fmla="*/ 123 h 123"/>
                <a:gd name="T36" fmla="*/ 1 w 32"/>
                <a:gd name="T37" fmla="*/ 123 h 123"/>
                <a:gd name="T38" fmla="*/ 1 w 32"/>
                <a:gd name="T39" fmla="*/ 123 h 123"/>
                <a:gd name="T40" fmla="*/ 3 w 32"/>
                <a:gd name="T41" fmla="*/ 123 h 123"/>
                <a:gd name="T42" fmla="*/ 4 w 32"/>
                <a:gd name="T43" fmla="*/ 123 h 123"/>
                <a:gd name="T44" fmla="*/ 5 w 32"/>
                <a:gd name="T45" fmla="*/ 123 h 123"/>
                <a:gd name="T46" fmla="*/ 7 w 32"/>
                <a:gd name="T47" fmla="*/ 122 h 123"/>
                <a:gd name="T48" fmla="*/ 8 w 32"/>
                <a:gd name="T49" fmla="*/ 122 h 123"/>
                <a:gd name="T50" fmla="*/ 11 w 32"/>
                <a:gd name="T51" fmla="*/ 122 h 123"/>
                <a:gd name="T52" fmla="*/ 13 w 32"/>
                <a:gd name="T53" fmla="*/ 121 h 123"/>
                <a:gd name="T54" fmla="*/ 15 w 32"/>
                <a:gd name="T55" fmla="*/ 120 h 123"/>
                <a:gd name="T56" fmla="*/ 18 w 32"/>
                <a:gd name="T57" fmla="*/ 120 h 123"/>
                <a:gd name="T58" fmla="*/ 21 w 32"/>
                <a:gd name="T59" fmla="*/ 118 h 123"/>
                <a:gd name="T60" fmla="*/ 24 w 32"/>
                <a:gd name="T61" fmla="*/ 116 h 123"/>
                <a:gd name="T62" fmla="*/ 26 w 32"/>
                <a:gd name="T63" fmla="*/ 115 h 123"/>
                <a:gd name="T64" fmla="*/ 29 w 32"/>
                <a:gd name="T65" fmla="*/ 114 h 123"/>
                <a:gd name="T66" fmla="*/ 32 w 32"/>
                <a:gd name="T67" fmla="*/ 111 h 123"/>
                <a:gd name="T68" fmla="*/ 32 w 32"/>
                <a:gd name="T69" fmla="*/ 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 h="123">
                  <a:moveTo>
                    <a:pt x="32" y="3"/>
                  </a:moveTo>
                  <a:lnTo>
                    <a:pt x="32" y="3"/>
                  </a:lnTo>
                  <a:lnTo>
                    <a:pt x="31" y="3"/>
                  </a:lnTo>
                  <a:lnTo>
                    <a:pt x="31" y="3"/>
                  </a:lnTo>
                  <a:lnTo>
                    <a:pt x="29" y="2"/>
                  </a:lnTo>
                  <a:lnTo>
                    <a:pt x="27" y="2"/>
                  </a:lnTo>
                  <a:lnTo>
                    <a:pt x="26" y="2"/>
                  </a:lnTo>
                  <a:lnTo>
                    <a:pt x="24" y="0"/>
                  </a:lnTo>
                  <a:lnTo>
                    <a:pt x="22" y="0"/>
                  </a:lnTo>
                  <a:lnTo>
                    <a:pt x="20" y="0"/>
                  </a:lnTo>
                  <a:lnTo>
                    <a:pt x="18" y="0"/>
                  </a:lnTo>
                  <a:lnTo>
                    <a:pt x="14" y="0"/>
                  </a:lnTo>
                  <a:lnTo>
                    <a:pt x="12" y="0"/>
                  </a:lnTo>
                  <a:lnTo>
                    <a:pt x="10" y="2"/>
                  </a:lnTo>
                  <a:lnTo>
                    <a:pt x="6" y="3"/>
                  </a:lnTo>
                  <a:lnTo>
                    <a:pt x="4" y="4"/>
                  </a:lnTo>
                  <a:lnTo>
                    <a:pt x="0" y="6"/>
                  </a:lnTo>
                  <a:lnTo>
                    <a:pt x="0" y="123"/>
                  </a:lnTo>
                  <a:lnTo>
                    <a:pt x="1" y="123"/>
                  </a:lnTo>
                  <a:lnTo>
                    <a:pt x="1" y="123"/>
                  </a:lnTo>
                  <a:lnTo>
                    <a:pt x="3" y="123"/>
                  </a:lnTo>
                  <a:lnTo>
                    <a:pt x="4" y="123"/>
                  </a:lnTo>
                  <a:lnTo>
                    <a:pt x="5" y="123"/>
                  </a:lnTo>
                  <a:lnTo>
                    <a:pt x="7" y="122"/>
                  </a:lnTo>
                  <a:lnTo>
                    <a:pt x="8" y="122"/>
                  </a:lnTo>
                  <a:lnTo>
                    <a:pt x="11" y="122"/>
                  </a:lnTo>
                  <a:lnTo>
                    <a:pt x="13" y="121"/>
                  </a:lnTo>
                  <a:lnTo>
                    <a:pt x="15" y="120"/>
                  </a:lnTo>
                  <a:lnTo>
                    <a:pt x="18" y="120"/>
                  </a:lnTo>
                  <a:lnTo>
                    <a:pt x="21" y="118"/>
                  </a:lnTo>
                  <a:lnTo>
                    <a:pt x="24" y="116"/>
                  </a:lnTo>
                  <a:lnTo>
                    <a:pt x="26" y="115"/>
                  </a:lnTo>
                  <a:lnTo>
                    <a:pt x="29" y="114"/>
                  </a:lnTo>
                  <a:lnTo>
                    <a:pt x="32" y="111"/>
                  </a:lnTo>
                  <a:lnTo>
                    <a:pt x="32" y="3"/>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13" name="Freeform 212"/>
            <p:cNvSpPr>
              <a:spLocks/>
            </p:cNvSpPr>
            <p:nvPr/>
          </p:nvSpPr>
          <p:spPr bwMode="auto">
            <a:xfrm>
              <a:off x="1204" y="2423"/>
              <a:ext cx="27" cy="104"/>
            </a:xfrm>
            <a:custGeom>
              <a:avLst/>
              <a:gdLst>
                <a:gd name="T0" fmla="*/ 27 w 27"/>
                <a:gd name="T1" fmla="*/ 2 h 104"/>
                <a:gd name="T2" fmla="*/ 27 w 27"/>
                <a:gd name="T3" fmla="*/ 2 h 104"/>
                <a:gd name="T4" fmla="*/ 26 w 27"/>
                <a:gd name="T5" fmla="*/ 2 h 104"/>
                <a:gd name="T6" fmla="*/ 26 w 27"/>
                <a:gd name="T7" fmla="*/ 1 h 104"/>
                <a:gd name="T8" fmla="*/ 25 w 27"/>
                <a:gd name="T9" fmla="*/ 1 h 104"/>
                <a:gd name="T10" fmla="*/ 24 w 27"/>
                <a:gd name="T11" fmla="*/ 1 h 104"/>
                <a:gd name="T12" fmla="*/ 23 w 27"/>
                <a:gd name="T13" fmla="*/ 0 h 104"/>
                <a:gd name="T14" fmla="*/ 20 w 27"/>
                <a:gd name="T15" fmla="*/ 0 h 104"/>
                <a:gd name="T16" fmla="*/ 19 w 27"/>
                <a:gd name="T17" fmla="*/ 0 h 104"/>
                <a:gd name="T18" fmla="*/ 17 w 27"/>
                <a:gd name="T19" fmla="*/ 0 h 104"/>
                <a:gd name="T20" fmla="*/ 14 w 27"/>
                <a:gd name="T21" fmla="*/ 0 h 104"/>
                <a:gd name="T22" fmla="*/ 12 w 27"/>
                <a:gd name="T23" fmla="*/ 0 h 104"/>
                <a:gd name="T24" fmla="*/ 10 w 27"/>
                <a:gd name="T25" fmla="*/ 0 h 104"/>
                <a:gd name="T26" fmla="*/ 9 w 27"/>
                <a:gd name="T27" fmla="*/ 1 h 104"/>
                <a:gd name="T28" fmla="*/ 5 w 27"/>
                <a:gd name="T29" fmla="*/ 2 h 104"/>
                <a:gd name="T30" fmla="*/ 3 w 27"/>
                <a:gd name="T31" fmla="*/ 3 h 104"/>
                <a:gd name="T32" fmla="*/ 0 w 27"/>
                <a:gd name="T33" fmla="*/ 4 h 104"/>
                <a:gd name="T34" fmla="*/ 0 w 27"/>
                <a:gd name="T35" fmla="*/ 104 h 104"/>
                <a:gd name="T36" fmla="*/ 0 w 27"/>
                <a:gd name="T37" fmla="*/ 104 h 104"/>
                <a:gd name="T38" fmla="*/ 2 w 27"/>
                <a:gd name="T39" fmla="*/ 104 h 104"/>
                <a:gd name="T40" fmla="*/ 2 w 27"/>
                <a:gd name="T41" fmla="*/ 102 h 104"/>
                <a:gd name="T42" fmla="*/ 3 w 27"/>
                <a:gd name="T43" fmla="*/ 102 h 104"/>
                <a:gd name="T44" fmla="*/ 4 w 27"/>
                <a:gd name="T45" fmla="*/ 102 h 104"/>
                <a:gd name="T46" fmla="*/ 6 w 27"/>
                <a:gd name="T47" fmla="*/ 102 h 104"/>
                <a:gd name="T48" fmla="*/ 7 w 27"/>
                <a:gd name="T49" fmla="*/ 102 h 104"/>
                <a:gd name="T50" fmla="*/ 10 w 27"/>
                <a:gd name="T51" fmla="*/ 101 h 104"/>
                <a:gd name="T52" fmla="*/ 11 w 27"/>
                <a:gd name="T53" fmla="*/ 101 h 104"/>
                <a:gd name="T54" fmla="*/ 13 w 27"/>
                <a:gd name="T55" fmla="*/ 100 h 104"/>
                <a:gd name="T56" fmla="*/ 16 w 27"/>
                <a:gd name="T57" fmla="*/ 99 h 104"/>
                <a:gd name="T58" fmla="*/ 18 w 27"/>
                <a:gd name="T59" fmla="*/ 99 h 104"/>
                <a:gd name="T60" fmla="*/ 20 w 27"/>
                <a:gd name="T61" fmla="*/ 98 h 104"/>
                <a:gd name="T62" fmla="*/ 23 w 27"/>
                <a:gd name="T63" fmla="*/ 96 h 104"/>
                <a:gd name="T64" fmla="*/ 25 w 27"/>
                <a:gd name="T65" fmla="*/ 94 h 104"/>
                <a:gd name="T66" fmla="*/ 27 w 27"/>
                <a:gd name="T67" fmla="*/ 93 h 104"/>
                <a:gd name="T68" fmla="*/ 27 w 27"/>
                <a:gd name="T69" fmla="*/ 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 h="104">
                  <a:moveTo>
                    <a:pt x="27" y="2"/>
                  </a:moveTo>
                  <a:lnTo>
                    <a:pt x="27" y="2"/>
                  </a:lnTo>
                  <a:lnTo>
                    <a:pt x="26" y="2"/>
                  </a:lnTo>
                  <a:lnTo>
                    <a:pt x="26" y="1"/>
                  </a:lnTo>
                  <a:lnTo>
                    <a:pt x="25" y="1"/>
                  </a:lnTo>
                  <a:lnTo>
                    <a:pt x="24" y="1"/>
                  </a:lnTo>
                  <a:lnTo>
                    <a:pt x="23" y="0"/>
                  </a:lnTo>
                  <a:lnTo>
                    <a:pt x="20" y="0"/>
                  </a:lnTo>
                  <a:lnTo>
                    <a:pt x="19" y="0"/>
                  </a:lnTo>
                  <a:lnTo>
                    <a:pt x="17" y="0"/>
                  </a:lnTo>
                  <a:lnTo>
                    <a:pt x="14" y="0"/>
                  </a:lnTo>
                  <a:lnTo>
                    <a:pt x="12" y="0"/>
                  </a:lnTo>
                  <a:lnTo>
                    <a:pt x="10" y="0"/>
                  </a:lnTo>
                  <a:lnTo>
                    <a:pt x="9" y="1"/>
                  </a:lnTo>
                  <a:lnTo>
                    <a:pt x="5" y="2"/>
                  </a:lnTo>
                  <a:lnTo>
                    <a:pt x="3" y="3"/>
                  </a:lnTo>
                  <a:lnTo>
                    <a:pt x="0" y="4"/>
                  </a:lnTo>
                  <a:lnTo>
                    <a:pt x="0" y="104"/>
                  </a:lnTo>
                  <a:lnTo>
                    <a:pt x="0" y="104"/>
                  </a:lnTo>
                  <a:lnTo>
                    <a:pt x="2" y="104"/>
                  </a:lnTo>
                  <a:lnTo>
                    <a:pt x="2" y="102"/>
                  </a:lnTo>
                  <a:lnTo>
                    <a:pt x="3" y="102"/>
                  </a:lnTo>
                  <a:lnTo>
                    <a:pt x="4" y="102"/>
                  </a:lnTo>
                  <a:lnTo>
                    <a:pt x="6" y="102"/>
                  </a:lnTo>
                  <a:lnTo>
                    <a:pt x="7" y="102"/>
                  </a:lnTo>
                  <a:lnTo>
                    <a:pt x="10" y="101"/>
                  </a:lnTo>
                  <a:lnTo>
                    <a:pt x="11" y="101"/>
                  </a:lnTo>
                  <a:lnTo>
                    <a:pt x="13" y="100"/>
                  </a:lnTo>
                  <a:lnTo>
                    <a:pt x="16" y="99"/>
                  </a:lnTo>
                  <a:lnTo>
                    <a:pt x="18" y="99"/>
                  </a:lnTo>
                  <a:lnTo>
                    <a:pt x="20" y="98"/>
                  </a:lnTo>
                  <a:lnTo>
                    <a:pt x="23" y="96"/>
                  </a:lnTo>
                  <a:lnTo>
                    <a:pt x="25" y="94"/>
                  </a:lnTo>
                  <a:lnTo>
                    <a:pt x="27" y="93"/>
                  </a:lnTo>
                  <a:lnTo>
                    <a:pt x="27" y="2"/>
                  </a:lnTo>
                  <a:close/>
                </a:path>
              </a:pathLst>
            </a:custGeom>
            <a:solidFill>
              <a:srgbClr val="93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14" name="Freeform 213"/>
            <p:cNvSpPr>
              <a:spLocks/>
            </p:cNvSpPr>
            <p:nvPr/>
          </p:nvSpPr>
          <p:spPr bwMode="auto">
            <a:xfrm>
              <a:off x="1206" y="2424"/>
              <a:ext cx="22" cy="84"/>
            </a:xfrm>
            <a:custGeom>
              <a:avLst/>
              <a:gdLst>
                <a:gd name="T0" fmla="*/ 22 w 22"/>
                <a:gd name="T1" fmla="*/ 1 h 84"/>
                <a:gd name="T2" fmla="*/ 22 w 22"/>
                <a:gd name="T3" fmla="*/ 1 h 84"/>
                <a:gd name="T4" fmla="*/ 21 w 22"/>
                <a:gd name="T5" fmla="*/ 1 h 84"/>
                <a:gd name="T6" fmla="*/ 21 w 22"/>
                <a:gd name="T7" fmla="*/ 1 h 84"/>
                <a:gd name="T8" fmla="*/ 19 w 22"/>
                <a:gd name="T9" fmla="*/ 1 h 84"/>
                <a:gd name="T10" fmla="*/ 18 w 22"/>
                <a:gd name="T11" fmla="*/ 0 h 84"/>
                <a:gd name="T12" fmla="*/ 17 w 22"/>
                <a:gd name="T13" fmla="*/ 0 h 84"/>
                <a:gd name="T14" fmla="*/ 16 w 22"/>
                <a:gd name="T15" fmla="*/ 0 h 84"/>
                <a:gd name="T16" fmla="*/ 15 w 22"/>
                <a:gd name="T17" fmla="*/ 0 h 84"/>
                <a:gd name="T18" fmla="*/ 14 w 22"/>
                <a:gd name="T19" fmla="*/ 0 h 84"/>
                <a:gd name="T20" fmla="*/ 11 w 22"/>
                <a:gd name="T21" fmla="*/ 0 h 84"/>
                <a:gd name="T22" fmla="*/ 9 w 22"/>
                <a:gd name="T23" fmla="*/ 0 h 84"/>
                <a:gd name="T24" fmla="*/ 8 w 22"/>
                <a:gd name="T25" fmla="*/ 0 h 84"/>
                <a:gd name="T26" fmla="*/ 5 w 22"/>
                <a:gd name="T27" fmla="*/ 0 h 84"/>
                <a:gd name="T28" fmla="*/ 3 w 22"/>
                <a:gd name="T29" fmla="*/ 1 h 84"/>
                <a:gd name="T30" fmla="*/ 2 w 22"/>
                <a:gd name="T31" fmla="*/ 2 h 84"/>
                <a:gd name="T32" fmla="*/ 0 w 22"/>
                <a:gd name="T33" fmla="*/ 3 h 84"/>
                <a:gd name="T34" fmla="*/ 0 w 22"/>
                <a:gd name="T35" fmla="*/ 84 h 84"/>
                <a:gd name="T36" fmla="*/ 0 w 22"/>
                <a:gd name="T37" fmla="*/ 84 h 84"/>
                <a:gd name="T38" fmla="*/ 0 w 22"/>
                <a:gd name="T39" fmla="*/ 84 h 84"/>
                <a:gd name="T40" fmla="*/ 1 w 22"/>
                <a:gd name="T41" fmla="*/ 84 h 84"/>
                <a:gd name="T42" fmla="*/ 2 w 22"/>
                <a:gd name="T43" fmla="*/ 84 h 84"/>
                <a:gd name="T44" fmla="*/ 3 w 22"/>
                <a:gd name="T45" fmla="*/ 84 h 84"/>
                <a:gd name="T46" fmla="*/ 4 w 22"/>
                <a:gd name="T47" fmla="*/ 83 h 84"/>
                <a:gd name="T48" fmla="*/ 5 w 22"/>
                <a:gd name="T49" fmla="*/ 83 h 84"/>
                <a:gd name="T50" fmla="*/ 7 w 22"/>
                <a:gd name="T51" fmla="*/ 83 h 84"/>
                <a:gd name="T52" fmla="*/ 9 w 22"/>
                <a:gd name="T53" fmla="*/ 81 h 84"/>
                <a:gd name="T54" fmla="*/ 10 w 22"/>
                <a:gd name="T55" fmla="*/ 81 h 84"/>
                <a:gd name="T56" fmla="*/ 12 w 22"/>
                <a:gd name="T57" fmla="*/ 80 h 84"/>
                <a:gd name="T58" fmla="*/ 14 w 22"/>
                <a:gd name="T59" fmla="*/ 80 h 84"/>
                <a:gd name="T60" fmla="*/ 16 w 22"/>
                <a:gd name="T61" fmla="*/ 79 h 84"/>
                <a:gd name="T62" fmla="*/ 18 w 22"/>
                <a:gd name="T63" fmla="*/ 78 h 84"/>
                <a:gd name="T64" fmla="*/ 19 w 22"/>
                <a:gd name="T65" fmla="*/ 77 h 84"/>
                <a:gd name="T66" fmla="*/ 22 w 22"/>
                <a:gd name="T67" fmla="*/ 76 h 84"/>
                <a:gd name="T68" fmla="*/ 22 w 22"/>
                <a:gd name="T69" fmla="*/ 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 h="84">
                  <a:moveTo>
                    <a:pt x="22" y="1"/>
                  </a:moveTo>
                  <a:lnTo>
                    <a:pt x="22" y="1"/>
                  </a:lnTo>
                  <a:lnTo>
                    <a:pt x="21" y="1"/>
                  </a:lnTo>
                  <a:lnTo>
                    <a:pt x="21" y="1"/>
                  </a:lnTo>
                  <a:lnTo>
                    <a:pt x="19" y="1"/>
                  </a:lnTo>
                  <a:lnTo>
                    <a:pt x="18" y="0"/>
                  </a:lnTo>
                  <a:lnTo>
                    <a:pt x="17" y="0"/>
                  </a:lnTo>
                  <a:lnTo>
                    <a:pt x="16" y="0"/>
                  </a:lnTo>
                  <a:lnTo>
                    <a:pt x="15" y="0"/>
                  </a:lnTo>
                  <a:lnTo>
                    <a:pt x="14" y="0"/>
                  </a:lnTo>
                  <a:lnTo>
                    <a:pt x="11" y="0"/>
                  </a:lnTo>
                  <a:lnTo>
                    <a:pt x="9" y="0"/>
                  </a:lnTo>
                  <a:lnTo>
                    <a:pt x="8" y="0"/>
                  </a:lnTo>
                  <a:lnTo>
                    <a:pt x="5" y="0"/>
                  </a:lnTo>
                  <a:lnTo>
                    <a:pt x="3" y="1"/>
                  </a:lnTo>
                  <a:lnTo>
                    <a:pt x="2" y="2"/>
                  </a:lnTo>
                  <a:lnTo>
                    <a:pt x="0" y="3"/>
                  </a:lnTo>
                  <a:lnTo>
                    <a:pt x="0" y="84"/>
                  </a:lnTo>
                  <a:lnTo>
                    <a:pt x="0" y="84"/>
                  </a:lnTo>
                  <a:lnTo>
                    <a:pt x="0" y="84"/>
                  </a:lnTo>
                  <a:lnTo>
                    <a:pt x="1" y="84"/>
                  </a:lnTo>
                  <a:lnTo>
                    <a:pt x="2" y="84"/>
                  </a:lnTo>
                  <a:lnTo>
                    <a:pt x="3" y="84"/>
                  </a:lnTo>
                  <a:lnTo>
                    <a:pt x="4" y="83"/>
                  </a:lnTo>
                  <a:lnTo>
                    <a:pt x="5" y="83"/>
                  </a:lnTo>
                  <a:lnTo>
                    <a:pt x="7" y="83"/>
                  </a:lnTo>
                  <a:lnTo>
                    <a:pt x="9" y="81"/>
                  </a:lnTo>
                  <a:lnTo>
                    <a:pt x="10" y="81"/>
                  </a:lnTo>
                  <a:lnTo>
                    <a:pt x="12" y="80"/>
                  </a:lnTo>
                  <a:lnTo>
                    <a:pt x="14" y="80"/>
                  </a:lnTo>
                  <a:lnTo>
                    <a:pt x="16" y="79"/>
                  </a:lnTo>
                  <a:lnTo>
                    <a:pt x="18" y="78"/>
                  </a:lnTo>
                  <a:lnTo>
                    <a:pt x="19" y="77"/>
                  </a:lnTo>
                  <a:lnTo>
                    <a:pt x="22" y="76"/>
                  </a:lnTo>
                  <a:lnTo>
                    <a:pt x="22" y="1"/>
                  </a:lnTo>
                  <a:close/>
                </a:path>
              </a:pathLst>
            </a:custGeom>
            <a:solidFill>
              <a:srgbClr val="A8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15" name="Freeform 214"/>
            <p:cNvSpPr>
              <a:spLocks/>
            </p:cNvSpPr>
            <p:nvPr/>
          </p:nvSpPr>
          <p:spPr bwMode="auto">
            <a:xfrm>
              <a:off x="1207" y="2424"/>
              <a:ext cx="17" cy="65"/>
            </a:xfrm>
            <a:custGeom>
              <a:avLst/>
              <a:gdLst>
                <a:gd name="T0" fmla="*/ 17 w 17"/>
                <a:gd name="T1" fmla="*/ 2 h 65"/>
                <a:gd name="T2" fmla="*/ 17 w 17"/>
                <a:gd name="T3" fmla="*/ 2 h 65"/>
                <a:gd name="T4" fmla="*/ 16 w 17"/>
                <a:gd name="T5" fmla="*/ 1 h 65"/>
                <a:gd name="T6" fmla="*/ 14 w 17"/>
                <a:gd name="T7" fmla="*/ 1 h 65"/>
                <a:gd name="T8" fmla="*/ 11 w 17"/>
                <a:gd name="T9" fmla="*/ 1 h 65"/>
                <a:gd name="T10" fmla="*/ 9 w 17"/>
                <a:gd name="T11" fmla="*/ 0 h 65"/>
                <a:gd name="T12" fmla="*/ 6 w 17"/>
                <a:gd name="T13" fmla="*/ 1 h 65"/>
                <a:gd name="T14" fmla="*/ 2 w 17"/>
                <a:gd name="T15" fmla="*/ 2 h 65"/>
                <a:gd name="T16" fmla="*/ 0 w 17"/>
                <a:gd name="T17" fmla="*/ 3 h 65"/>
                <a:gd name="T18" fmla="*/ 0 w 17"/>
                <a:gd name="T19" fmla="*/ 65 h 65"/>
                <a:gd name="T20" fmla="*/ 0 w 17"/>
                <a:gd name="T21" fmla="*/ 65 h 65"/>
                <a:gd name="T22" fmla="*/ 1 w 17"/>
                <a:gd name="T23" fmla="*/ 65 h 65"/>
                <a:gd name="T24" fmla="*/ 3 w 17"/>
                <a:gd name="T25" fmla="*/ 65 h 65"/>
                <a:gd name="T26" fmla="*/ 6 w 17"/>
                <a:gd name="T27" fmla="*/ 64 h 65"/>
                <a:gd name="T28" fmla="*/ 8 w 17"/>
                <a:gd name="T29" fmla="*/ 64 h 65"/>
                <a:gd name="T30" fmla="*/ 11 w 17"/>
                <a:gd name="T31" fmla="*/ 63 h 65"/>
                <a:gd name="T32" fmla="*/ 14 w 17"/>
                <a:gd name="T33" fmla="*/ 60 h 65"/>
                <a:gd name="T34" fmla="*/ 17 w 17"/>
                <a:gd name="T35" fmla="*/ 58 h 65"/>
                <a:gd name="T36" fmla="*/ 17 w 17"/>
                <a:gd name="T37" fmla="*/ 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65">
                  <a:moveTo>
                    <a:pt x="17" y="2"/>
                  </a:moveTo>
                  <a:lnTo>
                    <a:pt x="17" y="2"/>
                  </a:lnTo>
                  <a:lnTo>
                    <a:pt x="16" y="1"/>
                  </a:lnTo>
                  <a:lnTo>
                    <a:pt x="14" y="1"/>
                  </a:lnTo>
                  <a:lnTo>
                    <a:pt x="11" y="1"/>
                  </a:lnTo>
                  <a:lnTo>
                    <a:pt x="9" y="0"/>
                  </a:lnTo>
                  <a:lnTo>
                    <a:pt x="6" y="1"/>
                  </a:lnTo>
                  <a:lnTo>
                    <a:pt x="2" y="2"/>
                  </a:lnTo>
                  <a:lnTo>
                    <a:pt x="0" y="3"/>
                  </a:lnTo>
                  <a:lnTo>
                    <a:pt x="0" y="65"/>
                  </a:lnTo>
                  <a:lnTo>
                    <a:pt x="0" y="65"/>
                  </a:lnTo>
                  <a:lnTo>
                    <a:pt x="1" y="65"/>
                  </a:lnTo>
                  <a:lnTo>
                    <a:pt x="3" y="65"/>
                  </a:lnTo>
                  <a:lnTo>
                    <a:pt x="6" y="64"/>
                  </a:lnTo>
                  <a:lnTo>
                    <a:pt x="8" y="64"/>
                  </a:lnTo>
                  <a:lnTo>
                    <a:pt x="11" y="63"/>
                  </a:lnTo>
                  <a:lnTo>
                    <a:pt x="14" y="60"/>
                  </a:lnTo>
                  <a:lnTo>
                    <a:pt x="17" y="58"/>
                  </a:lnTo>
                  <a:lnTo>
                    <a:pt x="17" y="2"/>
                  </a:lnTo>
                  <a:close/>
                </a:path>
              </a:pathLst>
            </a:custGeom>
            <a:solidFill>
              <a:srgbClr val="BCE5E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16" name="Freeform 215"/>
            <p:cNvSpPr>
              <a:spLocks/>
            </p:cNvSpPr>
            <p:nvPr/>
          </p:nvSpPr>
          <p:spPr bwMode="auto">
            <a:xfrm>
              <a:off x="1207" y="2425"/>
              <a:ext cx="14" cy="47"/>
            </a:xfrm>
            <a:custGeom>
              <a:avLst/>
              <a:gdLst>
                <a:gd name="T0" fmla="*/ 14 w 14"/>
                <a:gd name="T1" fmla="*/ 1 h 47"/>
                <a:gd name="T2" fmla="*/ 14 w 14"/>
                <a:gd name="T3" fmla="*/ 1 h 47"/>
                <a:gd name="T4" fmla="*/ 13 w 14"/>
                <a:gd name="T5" fmla="*/ 1 h 47"/>
                <a:gd name="T6" fmla="*/ 11 w 14"/>
                <a:gd name="T7" fmla="*/ 1 h 47"/>
                <a:gd name="T8" fmla="*/ 9 w 14"/>
                <a:gd name="T9" fmla="*/ 0 h 47"/>
                <a:gd name="T10" fmla="*/ 8 w 14"/>
                <a:gd name="T11" fmla="*/ 0 h 47"/>
                <a:gd name="T12" fmla="*/ 6 w 14"/>
                <a:gd name="T13" fmla="*/ 1 h 47"/>
                <a:gd name="T14" fmla="*/ 2 w 14"/>
                <a:gd name="T15" fmla="*/ 1 h 47"/>
                <a:gd name="T16" fmla="*/ 0 w 14"/>
                <a:gd name="T17" fmla="*/ 3 h 47"/>
                <a:gd name="T18" fmla="*/ 0 w 14"/>
                <a:gd name="T19" fmla="*/ 47 h 47"/>
                <a:gd name="T20" fmla="*/ 1 w 14"/>
                <a:gd name="T21" fmla="*/ 47 h 47"/>
                <a:gd name="T22" fmla="*/ 1 w 14"/>
                <a:gd name="T23" fmla="*/ 45 h 47"/>
                <a:gd name="T24" fmla="*/ 3 w 14"/>
                <a:gd name="T25" fmla="*/ 45 h 47"/>
                <a:gd name="T26" fmla="*/ 4 w 14"/>
                <a:gd name="T27" fmla="*/ 45 h 47"/>
                <a:gd name="T28" fmla="*/ 7 w 14"/>
                <a:gd name="T29" fmla="*/ 44 h 47"/>
                <a:gd name="T30" fmla="*/ 9 w 14"/>
                <a:gd name="T31" fmla="*/ 44 h 47"/>
                <a:gd name="T32" fmla="*/ 11 w 14"/>
                <a:gd name="T33" fmla="*/ 43 h 47"/>
                <a:gd name="T34" fmla="*/ 14 w 14"/>
                <a:gd name="T35" fmla="*/ 41 h 47"/>
                <a:gd name="T36" fmla="*/ 14 w 14"/>
                <a:gd name="T37" fmla="*/ 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 h="47">
                  <a:moveTo>
                    <a:pt x="14" y="1"/>
                  </a:moveTo>
                  <a:lnTo>
                    <a:pt x="14" y="1"/>
                  </a:lnTo>
                  <a:lnTo>
                    <a:pt x="13" y="1"/>
                  </a:lnTo>
                  <a:lnTo>
                    <a:pt x="11" y="1"/>
                  </a:lnTo>
                  <a:lnTo>
                    <a:pt x="9" y="0"/>
                  </a:lnTo>
                  <a:lnTo>
                    <a:pt x="8" y="0"/>
                  </a:lnTo>
                  <a:lnTo>
                    <a:pt x="6" y="1"/>
                  </a:lnTo>
                  <a:lnTo>
                    <a:pt x="2" y="1"/>
                  </a:lnTo>
                  <a:lnTo>
                    <a:pt x="0" y="3"/>
                  </a:lnTo>
                  <a:lnTo>
                    <a:pt x="0" y="47"/>
                  </a:lnTo>
                  <a:lnTo>
                    <a:pt x="1" y="47"/>
                  </a:lnTo>
                  <a:lnTo>
                    <a:pt x="1" y="45"/>
                  </a:lnTo>
                  <a:lnTo>
                    <a:pt x="3" y="45"/>
                  </a:lnTo>
                  <a:lnTo>
                    <a:pt x="4" y="45"/>
                  </a:lnTo>
                  <a:lnTo>
                    <a:pt x="7" y="44"/>
                  </a:lnTo>
                  <a:lnTo>
                    <a:pt x="9" y="44"/>
                  </a:lnTo>
                  <a:lnTo>
                    <a:pt x="11" y="43"/>
                  </a:lnTo>
                  <a:lnTo>
                    <a:pt x="14" y="41"/>
                  </a:lnTo>
                  <a:lnTo>
                    <a:pt x="14" y="1"/>
                  </a:lnTo>
                  <a:close/>
                </a:path>
              </a:pathLst>
            </a:custGeom>
            <a:solidFill>
              <a:srgbClr val="D1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17" name="Freeform 216"/>
            <p:cNvSpPr>
              <a:spLocks/>
            </p:cNvSpPr>
            <p:nvPr/>
          </p:nvSpPr>
          <p:spPr bwMode="auto">
            <a:xfrm>
              <a:off x="1208" y="2426"/>
              <a:ext cx="9" cy="27"/>
            </a:xfrm>
            <a:custGeom>
              <a:avLst/>
              <a:gdLst>
                <a:gd name="T0" fmla="*/ 9 w 9"/>
                <a:gd name="T1" fmla="*/ 1 h 27"/>
                <a:gd name="T2" fmla="*/ 9 w 9"/>
                <a:gd name="T3" fmla="*/ 1 h 27"/>
                <a:gd name="T4" fmla="*/ 8 w 9"/>
                <a:gd name="T5" fmla="*/ 1 h 27"/>
                <a:gd name="T6" fmla="*/ 7 w 9"/>
                <a:gd name="T7" fmla="*/ 1 h 27"/>
                <a:gd name="T8" fmla="*/ 6 w 9"/>
                <a:gd name="T9" fmla="*/ 0 h 27"/>
                <a:gd name="T10" fmla="*/ 5 w 9"/>
                <a:gd name="T11" fmla="*/ 0 h 27"/>
                <a:gd name="T12" fmla="*/ 3 w 9"/>
                <a:gd name="T13" fmla="*/ 0 h 27"/>
                <a:gd name="T14" fmla="*/ 1 w 9"/>
                <a:gd name="T15" fmla="*/ 1 h 27"/>
                <a:gd name="T16" fmla="*/ 0 w 9"/>
                <a:gd name="T17" fmla="*/ 2 h 27"/>
                <a:gd name="T18" fmla="*/ 0 w 9"/>
                <a:gd name="T19" fmla="*/ 27 h 27"/>
                <a:gd name="T20" fmla="*/ 0 w 9"/>
                <a:gd name="T21" fmla="*/ 27 h 27"/>
                <a:gd name="T22" fmla="*/ 1 w 9"/>
                <a:gd name="T23" fmla="*/ 27 h 27"/>
                <a:gd name="T24" fmla="*/ 2 w 9"/>
                <a:gd name="T25" fmla="*/ 27 h 27"/>
                <a:gd name="T26" fmla="*/ 3 w 9"/>
                <a:gd name="T27" fmla="*/ 27 h 27"/>
                <a:gd name="T28" fmla="*/ 5 w 9"/>
                <a:gd name="T29" fmla="*/ 26 h 27"/>
                <a:gd name="T30" fmla="*/ 6 w 9"/>
                <a:gd name="T31" fmla="*/ 26 h 27"/>
                <a:gd name="T32" fmla="*/ 8 w 9"/>
                <a:gd name="T33" fmla="*/ 25 h 27"/>
                <a:gd name="T34" fmla="*/ 9 w 9"/>
                <a:gd name="T35" fmla="*/ 23 h 27"/>
                <a:gd name="T36" fmla="*/ 9 w 9"/>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7">
                  <a:moveTo>
                    <a:pt x="9" y="1"/>
                  </a:moveTo>
                  <a:lnTo>
                    <a:pt x="9" y="1"/>
                  </a:lnTo>
                  <a:lnTo>
                    <a:pt x="8" y="1"/>
                  </a:lnTo>
                  <a:lnTo>
                    <a:pt x="7" y="1"/>
                  </a:lnTo>
                  <a:lnTo>
                    <a:pt x="6" y="0"/>
                  </a:lnTo>
                  <a:lnTo>
                    <a:pt x="5" y="0"/>
                  </a:lnTo>
                  <a:lnTo>
                    <a:pt x="3" y="0"/>
                  </a:lnTo>
                  <a:lnTo>
                    <a:pt x="1" y="1"/>
                  </a:lnTo>
                  <a:lnTo>
                    <a:pt x="0" y="2"/>
                  </a:lnTo>
                  <a:lnTo>
                    <a:pt x="0" y="27"/>
                  </a:lnTo>
                  <a:lnTo>
                    <a:pt x="0" y="27"/>
                  </a:lnTo>
                  <a:lnTo>
                    <a:pt x="1" y="27"/>
                  </a:lnTo>
                  <a:lnTo>
                    <a:pt x="2" y="27"/>
                  </a:lnTo>
                  <a:lnTo>
                    <a:pt x="3" y="27"/>
                  </a:lnTo>
                  <a:lnTo>
                    <a:pt x="5" y="26"/>
                  </a:lnTo>
                  <a:lnTo>
                    <a:pt x="6" y="26"/>
                  </a:lnTo>
                  <a:lnTo>
                    <a:pt x="8" y="25"/>
                  </a:lnTo>
                  <a:lnTo>
                    <a:pt x="9" y="23"/>
                  </a:lnTo>
                  <a:lnTo>
                    <a:pt x="9" y="1"/>
                  </a:lnTo>
                  <a:close/>
                </a:path>
              </a:pathLst>
            </a:custGeom>
            <a:solidFill>
              <a:srgbClr val="E5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18" name="Freeform 217"/>
            <p:cNvSpPr>
              <a:spLocks/>
            </p:cNvSpPr>
            <p:nvPr/>
          </p:nvSpPr>
          <p:spPr bwMode="auto">
            <a:xfrm>
              <a:off x="1319" y="2503"/>
              <a:ext cx="14" cy="13"/>
            </a:xfrm>
            <a:custGeom>
              <a:avLst/>
              <a:gdLst>
                <a:gd name="T0" fmla="*/ 7 w 14"/>
                <a:gd name="T1" fmla="*/ 13 h 13"/>
                <a:gd name="T2" fmla="*/ 8 w 14"/>
                <a:gd name="T3" fmla="*/ 13 h 13"/>
                <a:gd name="T4" fmla="*/ 9 w 14"/>
                <a:gd name="T5" fmla="*/ 13 h 13"/>
                <a:gd name="T6" fmla="*/ 10 w 14"/>
                <a:gd name="T7" fmla="*/ 12 h 13"/>
                <a:gd name="T8" fmla="*/ 11 w 14"/>
                <a:gd name="T9" fmla="*/ 11 h 13"/>
                <a:gd name="T10" fmla="*/ 13 w 14"/>
                <a:gd name="T11" fmla="*/ 11 h 13"/>
                <a:gd name="T12" fmla="*/ 13 w 14"/>
                <a:gd name="T13" fmla="*/ 9 h 13"/>
                <a:gd name="T14" fmla="*/ 14 w 14"/>
                <a:gd name="T15" fmla="*/ 7 h 13"/>
                <a:gd name="T16" fmla="*/ 14 w 14"/>
                <a:gd name="T17" fmla="*/ 6 h 13"/>
                <a:gd name="T18" fmla="*/ 14 w 14"/>
                <a:gd name="T19" fmla="*/ 5 h 13"/>
                <a:gd name="T20" fmla="*/ 13 w 14"/>
                <a:gd name="T21" fmla="*/ 4 h 13"/>
                <a:gd name="T22" fmla="*/ 13 w 14"/>
                <a:gd name="T23" fmla="*/ 2 h 13"/>
                <a:gd name="T24" fmla="*/ 11 w 14"/>
                <a:gd name="T25" fmla="*/ 1 h 13"/>
                <a:gd name="T26" fmla="*/ 10 w 14"/>
                <a:gd name="T27" fmla="*/ 0 h 13"/>
                <a:gd name="T28" fmla="*/ 9 w 14"/>
                <a:gd name="T29" fmla="*/ 0 h 13"/>
                <a:gd name="T30" fmla="*/ 8 w 14"/>
                <a:gd name="T31" fmla="*/ 0 h 13"/>
                <a:gd name="T32" fmla="*/ 7 w 14"/>
                <a:gd name="T33" fmla="*/ 0 h 13"/>
                <a:gd name="T34" fmla="*/ 6 w 14"/>
                <a:gd name="T35" fmla="*/ 0 h 13"/>
                <a:gd name="T36" fmla="*/ 4 w 14"/>
                <a:gd name="T37" fmla="*/ 0 h 13"/>
                <a:gd name="T38" fmla="*/ 3 w 14"/>
                <a:gd name="T39" fmla="*/ 0 h 13"/>
                <a:gd name="T40" fmla="*/ 2 w 14"/>
                <a:gd name="T41" fmla="*/ 1 h 13"/>
                <a:gd name="T42" fmla="*/ 1 w 14"/>
                <a:gd name="T43" fmla="*/ 2 h 13"/>
                <a:gd name="T44" fmla="*/ 1 w 14"/>
                <a:gd name="T45" fmla="*/ 4 h 13"/>
                <a:gd name="T46" fmla="*/ 0 w 14"/>
                <a:gd name="T47" fmla="*/ 5 h 13"/>
                <a:gd name="T48" fmla="*/ 0 w 14"/>
                <a:gd name="T49" fmla="*/ 6 h 13"/>
                <a:gd name="T50" fmla="*/ 0 w 14"/>
                <a:gd name="T51" fmla="*/ 7 h 13"/>
                <a:gd name="T52" fmla="*/ 1 w 14"/>
                <a:gd name="T53" fmla="*/ 9 h 13"/>
                <a:gd name="T54" fmla="*/ 1 w 14"/>
                <a:gd name="T55" fmla="*/ 11 h 13"/>
                <a:gd name="T56" fmla="*/ 2 w 14"/>
                <a:gd name="T57" fmla="*/ 11 h 13"/>
                <a:gd name="T58" fmla="*/ 3 w 14"/>
                <a:gd name="T59" fmla="*/ 12 h 13"/>
                <a:gd name="T60" fmla="*/ 4 w 14"/>
                <a:gd name="T61" fmla="*/ 13 h 13"/>
                <a:gd name="T62" fmla="*/ 6 w 14"/>
                <a:gd name="T63" fmla="*/ 13 h 13"/>
                <a:gd name="T64" fmla="*/ 7 w 14"/>
                <a:gd name="T65"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 h="13">
                  <a:moveTo>
                    <a:pt x="7" y="13"/>
                  </a:moveTo>
                  <a:lnTo>
                    <a:pt x="8" y="13"/>
                  </a:lnTo>
                  <a:lnTo>
                    <a:pt x="9" y="13"/>
                  </a:lnTo>
                  <a:lnTo>
                    <a:pt x="10" y="12"/>
                  </a:lnTo>
                  <a:lnTo>
                    <a:pt x="11" y="11"/>
                  </a:lnTo>
                  <a:lnTo>
                    <a:pt x="13" y="11"/>
                  </a:lnTo>
                  <a:lnTo>
                    <a:pt x="13" y="9"/>
                  </a:lnTo>
                  <a:lnTo>
                    <a:pt x="14" y="7"/>
                  </a:lnTo>
                  <a:lnTo>
                    <a:pt x="14" y="6"/>
                  </a:lnTo>
                  <a:lnTo>
                    <a:pt x="14" y="5"/>
                  </a:lnTo>
                  <a:lnTo>
                    <a:pt x="13" y="4"/>
                  </a:lnTo>
                  <a:lnTo>
                    <a:pt x="13" y="2"/>
                  </a:lnTo>
                  <a:lnTo>
                    <a:pt x="11" y="1"/>
                  </a:lnTo>
                  <a:lnTo>
                    <a:pt x="10" y="0"/>
                  </a:lnTo>
                  <a:lnTo>
                    <a:pt x="9" y="0"/>
                  </a:lnTo>
                  <a:lnTo>
                    <a:pt x="8" y="0"/>
                  </a:lnTo>
                  <a:lnTo>
                    <a:pt x="7" y="0"/>
                  </a:lnTo>
                  <a:lnTo>
                    <a:pt x="6" y="0"/>
                  </a:lnTo>
                  <a:lnTo>
                    <a:pt x="4" y="0"/>
                  </a:lnTo>
                  <a:lnTo>
                    <a:pt x="3" y="0"/>
                  </a:lnTo>
                  <a:lnTo>
                    <a:pt x="2" y="1"/>
                  </a:lnTo>
                  <a:lnTo>
                    <a:pt x="1" y="2"/>
                  </a:lnTo>
                  <a:lnTo>
                    <a:pt x="1" y="4"/>
                  </a:lnTo>
                  <a:lnTo>
                    <a:pt x="0" y="5"/>
                  </a:lnTo>
                  <a:lnTo>
                    <a:pt x="0" y="6"/>
                  </a:lnTo>
                  <a:lnTo>
                    <a:pt x="0" y="7"/>
                  </a:lnTo>
                  <a:lnTo>
                    <a:pt x="1" y="9"/>
                  </a:lnTo>
                  <a:lnTo>
                    <a:pt x="1" y="11"/>
                  </a:lnTo>
                  <a:lnTo>
                    <a:pt x="2" y="11"/>
                  </a:lnTo>
                  <a:lnTo>
                    <a:pt x="3" y="12"/>
                  </a:lnTo>
                  <a:lnTo>
                    <a:pt x="4" y="13"/>
                  </a:lnTo>
                  <a:lnTo>
                    <a:pt x="6" y="13"/>
                  </a:lnTo>
                  <a:lnTo>
                    <a:pt x="7"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19" name="Freeform 218"/>
            <p:cNvSpPr>
              <a:spLocks/>
            </p:cNvSpPr>
            <p:nvPr/>
          </p:nvSpPr>
          <p:spPr bwMode="auto">
            <a:xfrm>
              <a:off x="1278" y="2503"/>
              <a:ext cx="7" cy="7"/>
            </a:xfrm>
            <a:custGeom>
              <a:avLst/>
              <a:gdLst>
                <a:gd name="T0" fmla="*/ 3 w 7"/>
                <a:gd name="T1" fmla="*/ 7 h 7"/>
                <a:gd name="T2" fmla="*/ 5 w 7"/>
                <a:gd name="T3" fmla="*/ 6 h 7"/>
                <a:gd name="T4" fmla="*/ 6 w 7"/>
                <a:gd name="T5" fmla="*/ 6 h 7"/>
                <a:gd name="T6" fmla="*/ 6 w 7"/>
                <a:gd name="T7" fmla="*/ 5 h 7"/>
                <a:gd name="T8" fmla="*/ 7 w 7"/>
                <a:gd name="T9" fmla="*/ 4 h 7"/>
                <a:gd name="T10" fmla="*/ 6 w 7"/>
                <a:gd name="T11" fmla="*/ 1 h 7"/>
                <a:gd name="T12" fmla="*/ 6 w 7"/>
                <a:gd name="T13" fmla="*/ 1 h 7"/>
                <a:gd name="T14" fmla="*/ 5 w 7"/>
                <a:gd name="T15" fmla="*/ 0 h 7"/>
                <a:gd name="T16" fmla="*/ 3 w 7"/>
                <a:gd name="T17" fmla="*/ 0 h 7"/>
                <a:gd name="T18" fmla="*/ 2 w 7"/>
                <a:gd name="T19" fmla="*/ 0 h 7"/>
                <a:gd name="T20" fmla="*/ 1 w 7"/>
                <a:gd name="T21" fmla="*/ 1 h 7"/>
                <a:gd name="T22" fmla="*/ 0 w 7"/>
                <a:gd name="T23" fmla="*/ 1 h 7"/>
                <a:gd name="T24" fmla="*/ 0 w 7"/>
                <a:gd name="T25" fmla="*/ 4 h 7"/>
                <a:gd name="T26" fmla="*/ 0 w 7"/>
                <a:gd name="T27" fmla="*/ 5 h 7"/>
                <a:gd name="T28" fmla="*/ 1 w 7"/>
                <a:gd name="T29" fmla="*/ 6 h 7"/>
                <a:gd name="T30" fmla="*/ 2 w 7"/>
                <a:gd name="T31" fmla="*/ 6 h 7"/>
                <a:gd name="T32" fmla="*/ 3 w 7"/>
                <a:gd name="T33"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 h="7">
                  <a:moveTo>
                    <a:pt x="3" y="7"/>
                  </a:moveTo>
                  <a:lnTo>
                    <a:pt x="5" y="6"/>
                  </a:lnTo>
                  <a:lnTo>
                    <a:pt x="6" y="6"/>
                  </a:lnTo>
                  <a:lnTo>
                    <a:pt x="6" y="5"/>
                  </a:lnTo>
                  <a:lnTo>
                    <a:pt x="7" y="4"/>
                  </a:lnTo>
                  <a:lnTo>
                    <a:pt x="6" y="1"/>
                  </a:lnTo>
                  <a:lnTo>
                    <a:pt x="6" y="1"/>
                  </a:lnTo>
                  <a:lnTo>
                    <a:pt x="5" y="0"/>
                  </a:lnTo>
                  <a:lnTo>
                    <a:pt x="3" y="0"/>
                  </a:lnTo>
                  <a:lnTo>
                    <a:pt x="2" y="0"/>
                  </a:lnTo>
                  <a:lnTo>
                    <a:pt x="1" y="1"/>
                  </a:lnTo>
                  <a:lnTo>
                    <a:pt x="0" y="1"/>
                  </a:lnTo>
                  <a:lnTo>
                    <a:pt x="0" y="4"/>
                  </a:lnTo>
                  <a:lnTo>
                    <a:pt x="0" y="5"/>
                  </a:lnTo>
                  <a:lnTo>
                    <a:pt x="1" y="6"/>
                  </a:lnTo>
                  <a:lnTo>
                    <a:pt x="2" y="6"/>
                  </a:lnTo>
                  <a:lnTo>
                    <a:pt x="3"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20" name="Freeform 219"/>
            <p:cNvSpPr>
              <a:spLocks/>
            </p:cNvSpPr>
            <p:nvPr/>
          </p:nvSpPr>
          <p:spPr bwMode="auto">
            <a:xfrm>
              <a:off x="1290" y="2503"/>
              <a:ext cx="5" cy="7"/>
            </a:xfrm>
            <a:custGeom>
              <a:avLst/>
              <a:gdLst>
                <a:gd name="T0" fmla="*/ 3 w 5"/>
                <a:gd name="T1" fmla="*/ 7 h 7"/>
                <a:gd name="T2" fmla="*/ 4 w 5"/>
                <a:gd name="T3" fmla="*/ 7 h 7"/>
                <a:gd name="T4" fmla="*/ 5 w 5"/>
                <a:gd name="T5" fmla="*/ 6 h 7"/>
                <a:gd name="T6" fmla="*/ 5 w 5"/>
                <a:gd name="T7" fmla="*/ 5 h 7"/>
                <a:gd name="T8" fmla="*/ 5 w 5"/>
                <a:gd name="T9" fmla="*/ 4 h 7"/>
                <a:gd name="T10" fmla="*/ 5 w 5"/>
                <a:gd name="T11" fmla="*/ 2 h 7"/>
                <a:gd name="T12" fmla="*/ 5 w 5"/>
                <a:gd name="T13" fmla="*/ 1 h 7"/>
                <a:gd name="T14" fmla="*/ 4 w 5"/>
                <a:gd name="T15" fmla="*/ 0 h 7"/>
                <a:gd name="T16" fmla="*/ 3 w 5"/>
                <a:gd name="T17" fmla="*/ 0 h 7"/>
                <a:gd name="T18" fmla="*/ 2 w 5"/>
                <a:gd name="T19" fmla="*/ 0 h 7"/>
                <a:gd name="T20" fmla="*/ 1 w 5"/>
                <a:gd name="T21" fmla="*/ 1 h 7"/>
                <a:gd name="T22" fmla="*/ 0 w 5"/>
                <a:gd name="T23" fmla="*/ 2 h 7"/>
                <a:gd name="T24" fmla="*/ 0 w 5"/>
                <a:gd name="T25" fmla="*/ 4 h 7"/>
                <a:gd name="T26" fmla="*/ 0 w 5"/>
                <a:gd name="T27" fmla="*/ 5 h 7"/>
                <a:gd name="T28" fmla="*/ 1 w 5"/>
                <a:gd name="T29" fmla="*/ 6 h 7"/>
                <a:gd name="T30" fmla="*/ 2 w 5"/>
                <a:gd name="T31" fmla="*/ 7 h 7"/>
                <a:gd name="T32" fmla="*/ 3 w 5"/>
                <a:gd name="T33"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 h="7">
                  <a:moveTo>
                    <a:pt x="3" y="7"/>
                  </a:moveTo>
                  <a:lnTo>
                    <a:pt x="4" y="7"/>
                  </a:lnTo>
                  <a:lnTo>
                    <a:pt x="5" y="6"/>
                  </a:lnTo>
                  <a:lnTo>
                    <a:pt x="5" y="5"/>
                  </a:lnTo>
                  <a:lnTo>
                    <a:pt x="5" y="4"/>
                  </a:lnTo>
                  <a:lnTo>
                    <a:pt x="5" y="2"/>
                  </a:lnTo>
                  <a:lnTo>
                    <a:pt x="5" y="1"/>
                  </a:lnTo>
                  <a:lnTo>
                    <a:pt x="4" y="0"/>
                  </a:lnTo>
                  <a:lnTo>
                    <a:pt x="3" y="0"/>
                  </a:lnTo>
                  <a:lnTo>
                    <a:pt x="2" y="0"/>
                  </a:lnTo>
                  <a:lnTo>
                    <a:pt x="1" y="1"/>
                  </a:lnTo>
                  <a:lnTo>
                    <a:pt x="0" y="2"/>
                  </a:lnTo>
                  <a:lnTo>
                    <a:pt x="0" y="4"/>
                  </a:lnTo>
                  <a:lnTo>
                    <a:pt x="0" y="5"/>
                  </a:lnTo>
                  <a:lnTo>
                    <a:pt x="1" y="6"/>
                  </a:lnTo>
                  <a:lnTo>
                    <a:pt x="2" y="7"/>
                  </a:lnTo>
                  <a:lnTo>
                    <a:pt x="3"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21" name="Freeform 220"/>
            <p:cNvSpPr>
              <a:spLocks/>
            </p:cNvSpPr>
            <p:nvPr/>
          </p:nvSpPr>
          <p:spPr bwMode="auto">
            <a:xfrm>
              <a:off x="1244" y="2411"/>
              <a:ext cx="19" cy="92"/>
            </a:xfrm>
            <a:custGeom>
              <a:avLst/>
              <a:gdLst>
                <a:gd name="T0" fmla="*/ 6 w 19"/>
                <a:gd name="T1" fmla="*/ 1 h 92"/>
                <a:gd name="T2" fmla="*/ 6 w 19"/>
                <a:gd name="T3" fmla="*/ 3 h 92"/>
                <a:gd name="T4" fmla="*/ 4 w 19"/>
                <a:gd name="T5" fmla="*/ 8 h 92"/>
                <a:gd name="T6" fmla="*/ 2 w 19"/>
                <a:gd name="T7" fmla="*/ 16 h 92"/>
                <a:gd name="T8" fmla="*/ 1 w 19"/>
                <a:gd name="T9" fmla="*/ 28 h 92"/>
                <a:gd name="T10" fmla="*/ 0 w 19"/>
                <a:gd name="T11" fmla="*/ 41 h 92"/>
                <a:gd name="T12" fmla="*/ 0 w 19"/>
                <a:gd name="T13" fmla="*/ 56 h 92"/>
                <a:gd name="T14" fmla="*/ 1 w 19"/>
                <a:gd name="T15" fmla="*/ 73 h 92"/>
                <a:gd name="T16" fmla="*/ 5 w 19"/>
                <a:gd name="T17" fmla="*/ 92 h 92"/>
                <a:gd name="T18" fmla="*/ 19 w 19"/>
                <a:gd name="T19" fmla="*/ 91 h 92"/>
                <a:gd name="T20" fmla="*/ 18 w 19"/>
                <a:gd name="T21" fmla="*/ 89 h 92"/>
                <a:gd name="T22" fmla="*/ 16 w 19"/>
                <a:gd name="T23" fmla="*/ 80 h 92"/>
                <a:gd name="T24" fmla="*/ 15 w 19"/>
                <a:gd name="T25" fmla="*/ 70 h 92"/>
                <a:gd name="T26" fmla="*/ 14 w 19"/>
                <a:gd name="T27" fmla="*/ 56 h 92"/>
                <a:gd name="T28" fmla="*/ 13 w 19"/>
                <a:gd name="T29" fmla="*/ 42 h 92"/>
                <a:gd name="T30" fmla="*/ 13 w 19"/>
                <a:gd name="T31" fmla="*/ 27 h 92"/>
                <a:gd name="T32" fmla="*/ 15 w 19"/>
                <a:gd name="T33" fmla="*/ 13 h 92"/>
                <a:gd name="T34" fmla="*/ 19 w 19"/>
                <a:gd name="T35" fmla="*/ 1 h 92"/>
                <a:gd name="T36" fmla="*/ 19 w 19"/>
                <a:gd name="T37" fmla="*/ 0 h 92"/>
                <a:gd name="T38" fmla="*/ 19 w 19"/>
                <a:gd name="T39" fmla="*/ 0 h 92"/>
                <a:gd name="T40" fmla="*/ 19 w 19"/>
                <a:gd name="T41" fmla="*/ 0 h 92"/>
                <a:gd name="T42" fmla="*/ 18 w 19"/>
                <a:gd name="T43" fmla="*/ 0 h 92"/>
                <a:gd name="T44" fmla="*/ 16 w 19"/>
                <a:gd name="T45" fmla="*/ 0 h 92"/>
                <a:gd name="T46" fmla="*/ 14 w 19"/>
                <a:gd name="T47" fmla="*/ 0 h 92"/>
                <a:gd name="T48" fmla="*/ 11 w 19"/>
                <a:gd name="T49" fmla="*/ 0 h 92"/>
                <a:gd name="T50" fmla="*/ 6 w 19"/>
                <a:gd name="T51" fmla="*/ 1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92">
                  <a:moveTo>
                    <a:pt x="6" y="1"/>
                  </a:moveTo>
                  <a:lnTo>
                    <a:pt x="6" y="3"/>
                  </a:lnTo>
                  <a:lnTo>
                    <a:pt x="4" y="8"/>
                  </a:lnTo>
                  <a:lnTo>
                    <a:pt x="2" y="16"/>
                  </a:lnTo>
                  <a:lnTo>
                    <a:pt x="1" y="28"/>
                  </a:lnTo>
                  <a:lnTo>
                    <a:pt x="0" y="41"/>
                  </a:lnTo>
                  <a:lnTo>
                    <a:pt x="0" y="56"/>
                  </a:lnTo>
                  <a:lnTo>
                    <a:pt x="1" y="73"/>
                  </a:lnTo>
                  <a:lnTo>
                    <a:pt x="5" y="92"/>
                  </a:lnTo>
                  <a:lnTo>
                    <a:pt x="19" y="91"/>
                  </a:lnTo>
                  <a:lnTo>
                    <a:pt x="18" y="89"/>
                  </a:lnTo>
                  <a:lnTo>
                    <a:pt x="16" y="80"/>
                  </a:lnTo>
                  <a:lnTo>
                    <a:pt x="15" y="70"/>
                  </a:lnTo>
                  <a:lnTo>
                    <a:pt x="14" y="56"/>
                  </a:lnTo>
                  <a:lnTo>
                    <a:pt x="13" y="42"/>
                  </a:lnTo>
                  <a:lnTo>
                    <a:pt x="13" y="27"/>
                  </a:lnTo>
                  <a:lnTo>
                    <a:pt x="15" y="13"/>
                  </a:lnTo>
                  <a:lnTo>
                    <a:pt x="19" y="1"/>
                  </a:lnTo>
                  <a:lnTo>
                    <a:pt x="19" y="0"/>
                  </a:lnTo>
                  <a:lnTo>
                    <a:pt x="19" y="0"/>
                  </a:lnTo>
                  <a:lnTo>
                    <a:pt x="19" y="0"/>
                  </a:lnTo>
                  <a:lnTo>
                    <a:pt x="18" y="0"/>
                  </a:lnTo>
                  <a:lnTo>
                    <a:pt x="16" y="0"/>
                  </a:lnTo>
                  <a:lnTo>
                    <a:pt x="14" y="0"/>
                  </a:lnTo>
                  <a:lnTo>
                    <a:pt x="11" y="0"/>
                  </a:lnTo>
                  <a:lnTo>
                    <a:pt x="6" y="1"/>
                  </a:lnTo>
                  <a:close/>
                </a:path>
              </a:pathLst>
            </a:custGeom>
            <a:solidFill>
              <a:srgbClr val="3F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22" name="Freeform 221"/>
            <p:cNvSpPr>
              <a:spLocks/>
            </p:cNvSpPr>
            <p:nvPr/>
          </p:nvSpPr>
          <p:spPr bwMode="auto">
            <a:xfrm>
              <a:off x="1342" y="2399"/>
              <a:ext cx="27" cy="103"/>
            </a:xfrm>
            <a:custGeom>
              <a:avLst/>
              <a:gdLst>
                <a:gd name="T0" fmla="*/ 27 w 27"/>
                <a:gd name="T1" fmla="*/ 0 h 103"/>
                <a:gd name="T2" fmla="*/ 26 w 27"/>
                <a:gd name="T3" fmla="*/ 1 h 103"/>
                <a:gd name="T4" fmla="*/ 25 w 27"/>
                <a:gd name="T5" fmla="*/ 4 h 103"/>
                <a:gd name="T6" fmla="*/ 22 w 27"/>
                <a:gd name="T7" fmla="*/ 9 h 103"/>
                <a:gd name="T8" fmla="*/ 20 w 27"/>
                <a:gd name="T9" fmla="*/ 18 h 103"/>
                <a:gd name="T10" fmla="*/ 18 w 27"/>
                <a:gd name="T11" fmla="*/ 32 h 103"/>
                <a:gd name="T12" fmla="*/ 16 w 27"/>
                <a:gd name="T13" fmla="*/ 49 h 103"/>
                <a:gd name="T14" fmla="*/ 18 w 27"/>
                <a:gd name="T15" fmla="*/ 73 h 103"/>
                <a:gd name="T16" fmla="*/ 20 w 27"/>
                <a:gd name="T17" fmla="*/ 103 h 103"/>
                <a:gd name="T18" fmla="*/ 5 w 27"/>
                <a:gd name="T19" fmla="*/ 103 h 103"/>
                <a:gd name="T20" fmla="*/ 5 w 27"/>
                <a:gd name="T21" fmla="*/ 101 h 103"/>
                <a:gd name="T22" fmla="*/ 4 w 27"/>
                <a:gd name="T23" fmla="*/ 91 h 103"/>
                <a:gd name="T24" fmla="*/ 2 w 27"/>
                <a:gd name="T25" fmla="*/ 80 h 103"/>
                <a:gd name="T26" fmla="*/ 1 w 27"/>
                <a:gd name="T27" fmla="*/ 64 h 103"/>
                <a:gd name="T28" fmla="*/ 0 w 27"/>
                <a:gd name="T29" fmla="*/ 47 h 103"/>
                <a:gd name="T30" fmla="*/ 1 w 27"/>
                <a:gd name="T31" fmla="*/ 31 h 103"/>
                <a:gd name="T32" fmla="*/ 4 w 27"/>
                <a:gd name="T33" fmla="*/ 14 h 103"/>
                <a:gd name="T34" fmla="*/ 9 w 27"/>
                <a:gd name="T35" fmla="*/ 0 h 103"/>
                <a:gd name="T36" fmla="*/ 27 w 27"/>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103">
                  <a:moveTo>
                    <a:pt x="27" y="0"/>
                  </a:moveTo>
                  <a:lnTo>
                    <a:pt x="26" y="1"/>
                  </a:lnTo>
                  <a:lnTo>
                    <a:pt x="25" y="4"/>
                  </a:lnTo>
                  <a:lnTo>
                    <a:pt x="22" y="9"/>
                  </a:lnTo>
                  <a:lnTo>
                    <a:pt x="20" y="18"/>
                  </a:lnTo>
                  <a:lnTo>
                    <a:pt x="18" y="32"/>
                  </a:lnTo>
                  <a:lnTo>
                    <a:pt x="16" y="49"/>
                  </a:lnTo>
                  <a:lnTo>
                    <a:pt x="18" y="73"/>
                  </a:lnTo>
                  <a:lnTo>
                    <a:pt x="20" y="103"/>
                  </a:lnTo>
                  <a:lnTo>
                    <a:pt x="5" y="103"/>
                  </a:lnTo>
                  <a:lnTo>
                    <a:pt x="5" y="101"/>
                  </a:lnTo>
                  <a:lnTo>
                    <a:pt x="4" y="91"/>
                  </a:lnTo>
                  <a:lnTo>
                    <a:pt x="2" y="80"/>
                  </a:lnTo>
                  <a:lnTo>
                    <a:pt x="1" y="64"/>
                  </a:lnTo>
                  <a:lnTo>
                    <a:pt x="0" y="47"/>
                  </a:lnTo>
                  <a:lnTo>
                    <a:pt x="1" y="31"/>
                  </a:lnTo>
                  <a:lnTo>
                    <a:pt x="4" y="14"/>
                  </a:lnTo>
                  <a:lnTo>
                    <a:pt x="9" y="0"/>
                  </a:lnTo>
                  <a:lnTo>
                    <a:pt x="27" y="0"/>
                  </a:lnTo>
                  <a:close/>
                </a:path>
              </a:pathLst>
            </a:custGeom>
            <a:solidFill>
              <a:srgbClr val="3F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23" name="Freeform 222"/>
            <p:cNvSpPr>
              <a:spLocks/>
            </p:cNvSpPr>
            <p:nvPr/>
          </p:nvSpPr>
          <p:spPr bwMode="auto">
            <a:xfrm>
              <a:off x="1244" y="2416"/>
              <a:ext cx="18" cy="80"/>
            </a:xfrm>
            <a:custGeom>
              <a:avLst/>
              <a:gdLst>
                <a:gd name="T0" fmla="*/ 6 w 18"/>
                <a:gd name="T1" fmla="*/ 2 h 80"/>
                <a:gd name="T2" fmla="*/ 6 w 18"/>
                <a:gd name="T3" fmla="*/ 3 h 80"/>
                <a:gd name="T4" fmla="*/ 5 w 18"/>
                <a:gd name="T5" fmla="*/ 8 h 80"/>
                <a:gd name="T6" fmla="*/ 2 w 18"/>
                <a:gd name="T7" fmla="*/ 15 h 80"/>
                <a:gd name="T8" fmla="*/ 1 w 18"/>
                <a:gd name="T9" fmla="*/ 24 h 80"/>
                <a:gd name="T10" fmla="*/ 0 w 18"/>
                <a:gd name="T11" fmla="*/ 36 h 80"/>
                <a:gd name="T12" fmla="*/ 1 w 18"/>
                <a:gd name="T13" fmla="*/ 50 h 80"/>
                <a:gd name="T14" fmla="*/ 2 w 18"/>
                <a:gd name="T15" fmla="*/ 65 h 80"/>
                <a:gd name="T16" fmla="*/ 5 w 18"/>
                <a:gd name="T17" fmla="*/ 80 h 80"/>
                <a:gd name="T18" fmla="*/ 16 w 18"/>
                <a:gd name="T19" fmla="*/ 80 h 80"/>
                <a:gd name="T20" fmla="*/ 16 w 18"/>
                <a:gd name="T21" fmla="*/ 78 h 80"/>
                <a:gd name="T22" fmla="*/ 15 w 18"/>
                <a:gd name="T23" fmla="*/ 71 h 80"/>
                <a:gd name="T24" fmla="*/ 14 w 18"/>
                <a:gd name="T25" fmla="*/ 61 h 80"/>
                <a:gd name="T26" fmla="*/ 13 w 18"/>
                <a:gd name="T27" fmla="*/ 50 h 80"/>
                <a:gd name="T28" fmla="*/ 12 w 18"/>
                <a:gd name="T29" fmla="*/ 37 h 80"/>
                <a:gd name="T30" fmla="*/ 12 w 18"/>
                <a:gd name="T31" fmla="*/ 24 h 80"/>
                <a:gd name="T32" fmla="*/ 14 w 18"/>
                <a:gd name="T33" fmla="*/ 11 h 80"/>
                <a:gd name="T34" fmla="*/ 18 w 18"/>
                <a:gd name="T35" fmla="*/ 1 h 80"/>
                <a:gd name="T36" fmla="*/ 18 w 18"/>
                <a:gd name="T37" fmla="*/ 1 h 80"/>
                <a:gd name="T38" fmla="*/ 18 w 18"/>
                <a:gd name="T39" fmla="*/ 1 h 80"/>
                <a:gd name="T40" fmla="*/ 18 w 18"/>
                <a:gd name="T41" fmla="*/ 1 h 80"/>
                <a:gd name="T42" fmla="*/ 16 w 18"/>
                <a:gd name="T43" fmla="*/ 0 h 80"/>
                <a:gd name="T44" fmla="*/ 15 w 18"/>
                <a:gd name="T45" fmla="*/ 0 h 80"/>
                <a:gd name="T46" fmla="*/ 13 w 18"/>
                <a:gd name="T47" fmla="*/ 0 h 80"/>
                <a:gd name="T48" fmla="*/ 9 w 18"/>
                <a:gd name="T49" fmla="*/ 1 h 80"/>
                <a:gd name="T50" fmla="*/ 6 w 18"/>
                <a:gd name="T51" fmla="*/ 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 h="80">
                  <a:moveTo>
                    <a:pt x="6" y="2"/>
                  </a:moveTo>
                  <a:lnTo>
                    <a:pt x="6" y="3"/>
                  </a:lnTo>
                  <a:lnTo>
                    <a:pt x="5" y="8"/>
                  </a:lnTo>
                  <a:lnTo>
                    <a:pt x="2" y="15"/>
                  </a:lnTo>
                  <a:lnTo>
                    <a:pt x="1" y="24"/>
                  </a:lnTo>
                  <a:lnTo>
                    <a:pt x="0" y="36"/>
                  </a:lnTo>
                  <a:lnTo>
                    <a:pt x="1" y="50"/>
                  </a:lnTo>
                  <a:lnTo>
                    <a:pt x="2" y="65"/>
                  </a:lnTo>
                  <a:lnTo>
                    <a:pt x="5" y="80"/>
                  </a:lnTo>
                  <a:lnTo>
                    <a:pt x="16" y="80"/>
                  </a:lnTo>
                  <a:lnTo>
                    <a:pt x="16" y="78"/>
                  </a:lnTo>
                  <a:lnTo>
                    <a:pt x="15" y="71"/>
                  </a:lnTo>
                  <a:lnTo>
                    <a:pt x="14" y="61"/>
                  </a:lnTo>
                  <a:lnTo>
                    <a:pt x="13" y="50"/>
                  </a:lnTo>
                  <a:lnTo>
                    <a:pt x="12" y="37"/>
                  </a:lnTo>
                  <a:lnTo>
                    <a:pt x="12" y="24"/>
                  </a:lnTo>
                  <a:lnTo>
                    <a:pt x="14" y="11"/>
                  </a:lnTo>
                  <a:lnTo>
                    <a:pt x="18" y="1"/>
                  </a:lnTo>
                  <a:lnTo>
                    <a:pt x="18" y="1"/>
                  </a:lnTo>
                  <a:lnTo>
                    <a:pt x="18" y="1"/>
                  </a:lnTo>
                  <a:lnTo>
                    <a:pt x="18" y="1"/>
                  </a:lnTo>
                  <a:lnTo>
                    <a:pt x="16" y="0"/>
                  </a:lnTo>
                  <a:lnTo>
                    <a:pt x="15" y="0"/>
                  </a:lnTo>
                  <a:lnTo>
                    <a:pt x="13" y="0"/>
                  </a:lnTo>
                  <a:lnTo>
                    <a:pt x="9" y="1"/>
                  </a:lnTo>
                  <a:lnTo>
                    <a:pt x="6" y="2"/>
                  </a:lnTo>
                  <a:close/>
                </a:path>
              </a:pathLst>
            </a:custGeom>
            <a:solidFill>
              <a:srgbClr val="59B2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24" name="Freeform 223"/>
            <p:cNvSpPr>
              <a:spLocks/>
            </p:cNvSpPr>
            <p:nvPr/>
          </p:nvSpPr>
          <p:spPr bwMode="auto">
            <a:xfrm>
              <a:off x="1245" y="2421"/>
              <a:ext cx="14" cy="69"/>
            </a:xfrm>
            <a:custGeom>
              <a:avLst/>
              <a:gdLst>
                <a:gd name="T0" fmla="*/ 5 w 14"/>
                <a:gd name="T1" fmla="*/ 2 h 69"/>
                <a:gd name="T2" fmla="*/ 5 w 14"/>
                <a:gd name="T3" fmla="*/ 3 h 69"/>
                <a:gd name="T4" fmla="*/ 4 w 14"/>
                <a:gd name="T5" fmla="*/ 7 h 69"/>
                <a:gd name="T6" fmla="*/ 3 w 14"/>
                <a:gd name="T7" fmla="*/ 13 h 69"/>
                <a:gd name="T8" fmla="*/ 1 w 14"/>
                <a:gd name="T9" fmla="*/ 21 h 69"/>
                <a:gd name="T10" fmla="*/ 0 w 14"/>
                <a:gd name="T11" fmla="*/ 31 h 69"/>
                <a:gd name="T12" fmla="*/ 0 w 14"/>
                <a:gd name="T13" fmla="*/ 42 h 69"/>
                <a:gd name="T14" fmla="*/ 1 w 14"/>
                <a:gd name="T15" fmla="*/ 55 h 69"/>
                <a:gd name="T16" fmla="*/ 4 w 14"/>
                <a:gd name="T17" fmla="*/ 69 h 69"/>
                <a:gd name="T18" fmla="*/ 14 w 14"/>
                <a:gd name="T19" fmla="*/ 68 h 69"/>
                <a:gd name="T20" fmla="*/ 13 w 14"/>
                <a:gd name="T21" fmla="*/ 67 h 69"/>
                <a:gd name="T22" fmla="*/ 13 w 14"/>
                <a:gd name="T23" fmla="*/ 61 h 69"/>
                <a:gd name="T24" fmla="*/ 12 w 14"/>
                <a:gd name="T25" fmla="*/ 53 h 69"/>
                <a:gd name="T26" fmla="*/ 11 w 14"/>
                <a:gd name="T27" fmla="*/ 42 h 69"/>
                <a:gd name="T28" fmla="*/ 10 w 14"/>
                <a:gd name="T29" fmla="*/ 32 h 69"/>
                <a:gd name="T30" fmla="*/ 10 w 14"/>
                <a:gd name="T31" fmla="*/ 20 h 69"/>
                <a:gd name="T32" fmla="*/ 12 w 14"/>
                <a:gd name="T33" fmla="*/ 10 h 69"/>
                <a:gd name="T34" fmla="*/ 14 w 14"/>
                <a:gd name="T35" fmla="*/ 2 h 69"/>
                <a:gd name="T36" fmla="*/ 14 w 14"/>
                <a:gd name="T37" fmla="*/ 2 h 69"/>
                <a:gd name="T38" fmla="*/ 14 w 14"/>
                <a:gd name="T39" fmla="*/ 0 h 69"/>
                <a:gd name="T40" fmla="*/ 14 w 14"/>
                <a:gd name="T41" fmla="*/ 0 h 69"/>
                <a:gd name="T42" fmla="*/ 14 w 14"/>
                <a:gd name="T43" fmla="*/ 0 h 69"/>
                <a:gd name="T44" fmla="*/ 13 w 14"/>
                <a:gd name="T45" fmla="*/ 0 h 69"/>
                <a:gd name="T46" fmla="*/ 11 w 14"/>
                <a:gd name="T47" fmla="*/ 0 h 69"/>
                <a:gd name="T48" fmla="*/ 8 w 14"/>
                <a:gd name="T49" fmla="*/ 0 h 69"/>
                <a:gd name="T50" fmla="*/ 5 w 14"/>
                <a:gd name="T51" fmla="*/ 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 h="69">
                  <a:moveTo>
                    <a:pt x="5" y="2"/>
                  </a:moveTo>
                  <a:lnTo>
                    <a:pt x="5" y="3"/>
                  </a:lnTo>
                  <a:lnTo>
                    <a:pt x="4" y="7"/>
                  </a:lnTo>
                  <a:lnTo>
                    <a:pt x="3" y="13"/>
                  </a:lnTo>
                  <a:lnTo>
                    <a:pt x="1" y="21"/>
                  </a:lnTo>
                  <a:lnTo>
                    <a:pt x="0" y="31"/>
                  </a:lnTo>
                  <a:lnTo>
                    <a:pt x="0" y="42"/>
                  </a:lnTo>
                  <a:lnTo>
                    <a:pt x="1" y="55"/>
                  </a:lnTo>
                  <a:lnTo>
                    <a:pt x="4" y="69"/>
                  </a:lnTo>
                  <a:lnTo>
                    <a:pt x="14" y="68"/>
                  </a:lnTo>
                  <a:lnTo>
                    <a:pt x="13" y="67"/>
                  </a:lnTo>
                  <a:lnTo>
                    <a:pt x="13" y="61"/>
                  </a:lnTo>
                  <a:lnTo>
                    <a:pt x="12" y="53"/>
                  </a:lnTo>
                  <a:lnTo>
                    <a:pt x="11" y="42"/>
                  </a:lnTo>
                  <a:lnTo>
                    <a:pt x="10" y="32"/>
                  </a:lnTo>
                  <a:lnTo>
                    <a:pt x="10" y="20"/>
                  </a:lnTo>
                  <a:lnTo>
                    <a:pt x="12" y="10"/>
                  </a:lnTo>
                  <a:lnTo>
                    <a:pt x="14" y="2"/>
                  </a:lnTo>
                  <a:lnTo>
                    <a:pt x="14" y="2"/>
                  </a:lnTo>
                  <a:lnTo>
                    <a:pt x="14" y="0"/>
                  </a:lnTo>
                  <a:lnTo>
                    <a:pt x="14" y="0"/>
                  </a:lnTo>
                  <a:lnTo>
                    <a:pt x="14" y="0"/>
                  </a:lnTo>
                  <a:lnTo>
                    <a:pt x="13" y="0"/>
                  </a:lnTo>
                  <a:lnTo>
                    <a:pt x="11" y="0"/>
                  </a:lnTo>
                  <a:lnTo>
                    <a:pt x="8" y="0"/>
                  </a:lnTo>
                  <a:lnTo>
                    <a:pt x="5" y="2"/>
                  </a:lnTo>
                  <a:close/>
                </a:path>
              </a:pathLst>
            </a:custGeom>
            <a:solidFill>
              <a:srgbClr val="72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25" name="Freeform 224"/>
            <p:cNvSpPr>
              <a:spLocks/>
            </p:cNvSpPr>
            <p:nvPr/>
          </p:nvSpPr>
          <p:spPr bwMode="auto">
            <a:xfrm>
              <a:off x="1246" y="2427"/>
              <a:ext cx="12" cy="56"/>
            </a:xfrm>
            <a:custGeom>
              <a:avLst/>
              <a:gdLst>
                <a:gd name="T0" fmla="*/ 4 w 12"/>
                <a:gd name="T1" fmla="*/ 1 h 56"/>
                <a:gd name="T2" fmla="*/ 3 w 12"/>
                <a:gd name="T3" fmla="*/ 1 h 56"/>
                <a:gd name="T4" fmla="*/ 3 w 12"/>
                <a:gd name="T5" fmla="*/ 5 h 56"/>
                <a:gd name="T6" fmla="*/ 2 w 12"/>
                <a:gd name="T7" fmla="*/ 11 h 56"/>
                <a:gd name="T8" fmla="*/ 0 w 12"/>
                <a:gd name="T9" fmla="*/ 17 h 56"/>
                <a:gd name="T10" fmla="*/ 0 w 12"/>
                <a:gd name="T11" fmla="*/ 25 h 56"/>
                <a:gd name="T12" fmla="*/ 0 w 12"/>
                <a:gd name="T13" fmla="*/ 35 h 56"/>
                <a:gd name="T14" fmla="*/ 2 w 12"/>
                <a:gd name="T15" fmla="*/ 46 h 56"/>
                <a:gd name="T16" fmla="*/ 3 w 12"/>
                <a:gd name="T17" fmla="*/ 56 h 56"/>
                <a:gd name="T18" fmla="*/ 11 w 12"/>
                <a:gd name="T19" fmla="*/ 56 h 56"/>
                <a:gd name="T20" fmla="*/ 11 w 12"/>
                <a:gd name="T21" fmla="*/ 55 h 56"/>
                <a:gd name="T22" fmla="*/ 10 w 12"/>
                <a:gd name="T23" fmla="*/ 50 h 56"/>
                <a:gd name="T24" fmla="*/ 10 w 12"/>
                <a:gd name="T25" fmla="*/ 43 h 56"/>
                <a:gd name="T26" fmla="*/ 9 w 12"/>
                <a:gd name="T27" fmla="*/ 35 h 56"/>
                <a:gd name="T28" fmla="*/ 7 w 12"/>
                <a:gd name="T29" fmla="*/ 26 h 56"/>
                <a:gd name="T30" fmla="*/ 9 w 12"/>
                <a:gd name="T31" fmla="*/ 17 h 56"/>
                <a:gd name="T32" fmla="*/ 10 w 12"/>
                <a:gd name="T33" fmla="*/ 7 h 56"/>
                <a:gd name="T34" fmla="*/ 12 w 12"/>
                <a:gd name="T35" fmla="*/ 0 h 56"/>
                <a:gd name="T36" fmla="*/ 12 w 12"/>
                <a:gd name="T37" fmla="*/ 0 h 56"/>
                <a:gd name="T38" fmla="*/ 12 w 12"/>
                <a:gd name="T39" fmla="*/ 0 h 56"/>
                <a:gd name="T40" fmla="*/ 12 w 12"/>
                <a:gd name="T41" fmla="*/ 0 h 56"/>
                <a:gd name="T42" fmla="*/ 11 w 12"/>
                <a:gd name="T43" fmla="*/ 0 h 56"/>
                <a:gd name="T44" fmla="*/ 10 w 12"/>
                <a:gd name="T45" fmla="*/ 0 h 56"/>
                <a:gd name="T46" fmla="*/ 9 w 12"/>
                <a:gd name="T47" fmla="*/ 0 h 56"/>
                <a:gd name="T48" fmla="*/ 6 w 12"/>
                <a:gd name="T49" fmla="*/ 0 h 56"/>
                <a:gd name="T50" fmla="*/ 4 w 12"/>
                <a:gd name="T51"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 h="56">
                  <a:moveTo>
                    <a:pt x="4" y="1"/>
                  </a:moveTo>
                  <a:lnTo>
                    <a:pt x="3" y="1"/>
                  </a:lnTo>
                  <a:lnTo>
                    <a:pt x="3" y="5"/>
                  </a:lnTo>
                  <a:lnTo>
                    <a:pt x="2" y="11"/>
                  </a:lnTo>
                  <a:lnTo>
                    <a:pt x="0" y="17"/>
                  </a:lnTo>
                  <a:lnTo>
                    <a:pt x="0" y="25"/>
                  </a:lnTo>
                  <a:lnTo>
                    <a:pt x="0" y="35"/>
                  </a:lnTo>
                  <a:lnTo>
                    <a:pt x="2" y="46"/>
                  </a:lnTo>
                  <a:lnTo>
                    <a:pt x="3" y="56"/>
                  </a:lnTo>
                  <a:lnTo>
                    <a:pt x="11" y="56"/>
                  </a:lnTo>
                  <a:lnTo>
                    <a:pt x="11" y="55"/>
                  </a:lnTo>
                  <a:lnTo>
                    <a:pt x="10" y="50"/>
                  </a:lnTo>
                  <a:lnTo>
                    <a:pt x="10" y="43"/>
                  </a:lnTo>
                  <a:lnTo>
                    <a:pt x="9" y="35"/>
                  </a:lnTo>
                  <a:lnTo>
                    <a:pt x="7" y="26"/>
                  </a:lnTo>
                  <a:lnTo>
                    <a:pt x="9" y="17"/>
                  </a:lnTo>
                  <a:lnTo>
                    <a:pt x="10" y="7"/>
                  </a:lnTo>
                  <a:lnTo>
                    <a:pt x="12" y="0"/>
                  </a:lnTo>
                  <a:lnTo>
                    <a:pt x="12" y="0"/>
                  </a:lnTo>
                  <a:lnTo>
                    <a:pt x="12" y="0"/>
                  </a:lnTo>
                  <a:lnTo>
                    <a:pt x="12" y="0"/>
                  </a:lnTo>
                  <a:lnTo>
                    <a:pt x="11" y="0"/>
                  </a:lnTo>
                  <a:lnTo>
                    <a:pt x="10" y="0"/>
                  </a:lnTo>
                  <a:lnTo>
                    <a:pt x="9" y="0"/>
                  </a:lnTo>
                  <a:lnTo>
                    <a:pt x="6" y="0"/>
                  </a:lnTo>
                  <a:lnTo>
                    <a:pt x="4" y="1"/>
                  </a:lnTo>
                  <a:close/>
                </a:path>
              </a:pathLst>
            </a:custGeom>
            <a:solidFill>
              <a:srgbClr val="8CD8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26" name="Freeform 225"/>
            <p:cNvSpPr>
              <a:spLocks/>
            </p:cNvSpPr>
            <p:nvPr/>
          </p:nvSpPr>
          <p:spPr bwMode="auto">
            <a:xfrm>
              <a:off x="1246" y="2432"/>
              <a:ext cx="10" cy="45"/>
            </a:xfrm>
            <a:custGeom>
              <a:avLst/>
              <a:gdLst>
                <a:gd name="T0" fmla="*/ 4 w 10"/>
                <a:gd name="T1" fmla="*/ 1 h 45"/>
                <a:gd name="T2" fmla="*/ 3 w 10"/>
                <a:gd name="T3" fmla="*/ 2 h 45"/>
                <a:gd name="T4" fmla="*/ 3 w 10"/>
                <a:gd name="T5" fmla="*/ 5 h 45"/>
                <a:gd name="T6" fmla="*/ 2 w 10"/>
                <a:gd name="T7" fmla="*/ 8 h 45"/>
                <a:gd name="T8" fmla="*/ 2 w 10"/>
                <a:gd name="T9" fmla="*/ 14 h 45"/>
                <a:gd name="T10" fmla="*/ 0 w 10"/>
                <a:gd name="T11" fmla="*/ 21 h 45"/>
                <a:gd name="T12" fmla="*/ 0 w 10"/>
                <a:gd name="T13" fmla="*/ 28 h 45"/>
                <a:gd name="T14" fmla="*/ 2 w 10"/>
                <a:gd name="T15" fmla="*/ 36 h 45"/>
                <a:gd name="T16" fmla="*/ 3 w 10"/>
                <a:gd name="T17" fmla="*/ 45 h 45"/>
                <a:gd name="T18" fmla="*/ 10 w 10"/>
                <a:gd name="T19" fmla="*/ 45 h 45"/>
                <a:gd name="T20" fmla="*/ 10 w 10"/>
                <a:gd name="T21" fmla="*/ 43 h 45"/>
                <a:gd name="T22" fmla="*/ 9 w 10"/>
                <a:gd name="T23" fmla="*/ 40 h 45"/>
                <a:gd name="T24" fmla="*/ 7 w 10"/>
                <a:gd name="T25" fmla="*/ 35 h 45"/>
                <a:gd name="T26" fmla="*/ 7 w 10"/>
                <a:gd name="T27" fmla="*/ 28 h 45"/>
                <a:gd name="T28" fmla="*/ 6 w 10"/>
                <a:gd name="T29" fmla="*/ 21 h 45"/>
                <a:gd name="T30" fmla="*/ 7 w 10"/>
                <a:gd name="T31" fmla="*/ 14 h 45"/>
                <a:gd name="T32" fmla="*/ 7 w 10"/>
                <a:gd name="T33" fmla="*/ 7 h 45"/>
                <a:gd name="T34" fmla="*/ 10 w 10"/>
                <a:gd name="T35" fmla="*/ 1 h 45"/>
                <a:gd name="T36" fmla="*/ 10 w 10"/>
                <a:gd name="T37" fmla="*/ 1 h 45"/>
                <a:gd name="T38" fmla="*/ 10 w 10"/>
                <a:gd name="T39" fmla="*/ 1 h 45"/>
                <a:gd name="T40" fmla="*/ 10 w 10"/>
                <a:gd name="T41" fmla="*/ 0 h 45"/>
                <a:gd name="T42" fmla="*/ 10 w 10"/>
                <a:gd name="T43" fmla="*/ 0 h 45"/>
                <a:gd name="T44" fmla="*/ 9 w 10"/>
                <a:gd name="T45" fmla="*/ 0 h 45"/>
                <a:gd name="T46" fmla="*/ 7 w 10"/>
                <a:gd name="T47" fmla="*/ 0 h 45"/>
                <a:gd name="T48" fmla="*/ 6 w 10"/>
                <a:gd name="T49" fmla="*/ 1 h 45"/>
                <a:gd name="T50" fmla="*/ 4 w 10"/>
                <a:gd name="T51"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 h="45">
                  <a:moveTo>
                    <a:pt x="4" y="1"/>
                  </a:moveTo>
                  <a:lnTo>
                    <a:pt x="3" y="2"/>
                  </a:lnTo>
                  <a:lnTo>
                    <a:pt x="3" y="5"/>
                  </a:lnTo>
                  <a:lnTo>
                    <a:pt x="2" y="8"/>
                  </a:lnTo>
                  <a:lnTo>
                    <a:pt x="2" y="14"/>
                  </a:lnTo>
                  <a:lnTo>
                    <a:pt x="0" y="21"/>
                  </a:lnTo>
                  <a:lnTo>
                    <a:pt x="0" y="28"/>
                  </a:lnTo>
                  <a:lnTo>
                    <a:pt x="2" y="36"/>
                  </a:lnTo>
                  <a:lnTo>
                    <a:pt x="3" y="45"/>
                  </a:lnTo>
                  <a:lnTo>
                    <a:pt x="10" y="45"/>
                  </a:lnTo>
                  <a:lnTo>
                    <a:pt x="10" y="43"/>
                  </a:lnTo>
                  <a:lnTo>
                    <a:pt x="9" y="40"/>
                  </a:lnTo>
                  <a:lnTo>
                    <a:pt x="7" y="35"/>
                  </a:lnTo>
                  <a:lnTo>
                    <a:pt x="7" y="28"/>
                  </a:lnTo>
                  <a:lnTo>
                    <a:pt x="6" y="21"/>
                  </a:lnTo>
                  <a:lnTo>
                    <a:pt x="7" y="14"/>
                  </a:lnTo>
                  <a:lnTo>
                    <a:pt x="7" y="7"/>
                  </a:lnTo>
                  <a:lnTo>
                    <a:pt x="10" y="1"/>
                  </a:lnTo>
                  <a:lnTo>
                    <a:pt x="10" y="1"/>
                  </a:lnTo>
                  <a:lnTo>
                    <a:pt x="10" y="1"/>
                  </a:lnTo>
                  <a:lnTo>
                    <a:pt x="10" y="0"/>
                  </a:lnTo>
                  <a:lnTo>
                    <a:pt x="10" y="0"/>
                  </a:lnTo>
                  <a:lnTo>
                    <a:pt x="9" y="0"/>
                  </a:lnTo>
                  <a:lnTo>
                    <a:pt x="7" y="0"/>
                  </a:lnTo>
                  <a:lnTo>
                    <a:pt x="6" y="1"/>
                  </a:lnTo>
                  <a:lnTo>
                    <a:pt x="4" y="1"/>
                  </a:lnTo>
                  <a:close/>
                </a:path>
              </a:pathLst>
            </a:custGeom>
            <a:solidFill>
              <a:srgbClr val="A5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27" name="Freeform 226"/>
            <p:cNvSpPr>
              <a:spLocks/>
            </p:cNvSpPr>
            <p:nvPr/>
          </p:nvSpPr>
          <p:spPr bwMode="auto">
            <a:xfrm>
              <a:off x="1248" y="2438"/>
              <a:ext cx="7" cy="32"/>
            </a:xfrm>
            <a:custGeom>
              <a:avLst/>
              <a:gdLst>
                <a:gd name="T0" fmla="*/ 2 w 7"/>
                <a:gd name="T1" fmla="*/ 1 h 32"/>
                <a:gd name="T2" fmla="*/ 1 w 7"/>
                <a:gd name="T3" fmla="*/ 1 h 32"/>
                <a:gd name="T4" fmla="*/ 1 w 7"/>
                <a:gd name="T5" fmla="*/ 3 h 32"/>
                <a:gd name="T6" fmla="*/ 0 w 7"/>
                <a:gd name="T7" fmla="*/ 6 h 32"/>
                <a:gd name="T8" fmla="*/ 0 w 7"/>
                <a:gd name="T9" fmla="*/ 10 h 32"/>
                <a:gd name="T10" fmla="*/ 0 w 7"/>
                <a:gd name="T11" fmla="*/ 15 h 32"/>
                <a:gd name="T12" fmla="*/ 0 w 7"/>
                <a:gd name="T13" fmla="*/ 20 h 32"/>
                <a:gd name="T14" fmla="*/ 0 w 7"/>
                <a:gd name="T15" fmla="*/ 27 h 32"/>
                <a:gd name="T16" fmla="*/ 1 w 7"/>
                <a:gd name="T17" fmla="*/ 32 h 32"/>
                <a:gd name="T18" fmla="*/ 5 w 7"/>
                <a:gd name="T19" fmla="*/ 32 h 32"/>
                <a:gd name="T20" fmla="*/ 5 w 7"/>
                <a:gd name="T21" fmla="*/ 31 h 32"/>
                <a:gd name="T22" fmla="*/ 5 w 7"/>
                <a:gd name="T23" fmla="*/ 29 h 32"/>
                <a:gd name="T24" fmla="*/ 4 w 7"/>
                <a:gd name="T25" fmla="*/ 25 h 32"/>
                <a:gd name="T26" fmla="*/ 4 w 7"/>
                <a:gd name="T27" fmla="*/ 20 h 32"/>
                <a:gd name="T28" fmla="*/ 4 w 7"/>
                <a:gd name="T29" fmla="*/ 15 h 32"/>
                <a:gd name="T30" fmla="*/ 4 w 7"/>
                <a:gd name="T31" fmla="*/ 9 h 32"/>
                <a:gd name="T32" fmla="*/ 4 w 7"/>
                <a:gd name="T33" fmla="*/ 4 h 32"/>
                <a:gd name="T34" fmla="*/ 7 w 7"/>
                <a:gd name="T35" fmla="*/ 0 h 32"/>
                <a:gd name="T36" fmla="*/ 7 w 7"/>
                <a:gd name="T37" fmla="*/ 0 h 32"/>
                <a:gd name="T38" fmla="*/ 7 w 7"/>
                <a:gd name="T39" fmla="*/ 0 h 32"/>
                <a:gd name="T40" fmla="*/ 5 w 7"/>
                <a:gd name="T41" fmla="*/ 0 h 32"/>
                <a:gd name="T42" fmla="*/ 5 w 7"/>
                <a:gd name="T43" fmla="*/ 0 h 32"/>
                <a:gd name="T44" fmla="*/ 5 w 7"/>
                <a:gd name="T45" fmla="*/ 0 h 32"/>
                <a:gd name="T46" fmla="*/ 4 w 7"/>
                <a:gd name="T47" fmla="*/ 0 h 32"/>
                <a:gd name="T48" fmla="*/ 3 w 7"/>
                <a:gd name="T49" fmla="*/ 0 h 32"/>
                <a:gd name="T50" fmla="*/ 2 w 7"/>
                <a:gd name="T51" fmla="*/ 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 h="32">
                  <a:moveTo>
                    <a:pt x="2" y="1"/>
                  </a:moveTo>
                  <a:lnTo>
                    <a:pt x="1" y="1"/>
                  </a:lnTo>
                  <a:lnTo>
                    <a:pt x="1" y="3"/>
                  </a:lnTo>
                  <a:lnTo>
                    <a:pt x="0" y="6"/>
                  </a:lnTo>
                  <a:lnTo>
                    <a:pt x="0" y="10"/>
                  </a:lnTo>
                  <a:lnTo>
                    <a:pt x="0" y="15"/>
                  </a:lnTo>
                  <a:lnTo>
                    <a:pt x="0" y="20"/>
                  </a:lnTo>
                  <a:lnTo>
                    <a:pt x="0" y="27"/>
                  </a:lnTo>
                  <a:lnTo>
                    <a:pt x="1" y="32"/>
                  </a:lnTo>
                  <a:lnTo>
                    <a:pt x="5" y="32"/>
                  </a:lnTo>
                  <a:lnTo>
                    <a:pt x="5" y="31"/>
                  </a:lnTo>
                  <a:lnTo>
                    <a:pt x="5" y="29"/>
                  </a:lnTo>
                  <a:lnTo>
                    <a:pt x="4" y="25"/>
                  </a:lnTo>
                  <a:lnTo>
                    <a:pt x="4" y="20"/>
                  </a:lnTo>
                  <a:lnTo>
                    <a:pt x="4" y="15"/>
                  </a:lnTo>
                  <a:lnTo>
                    <a:pt x="4" y="9"/>
                  </a:lnTo>
                  <a:lnTo>
                    <a:pt x="4" y="4"/>
                  </a:lnTo>
                  <a:lnTo>
                    <a:pt x="7" y="0"/>
                  </a:lnTo>
                  <a:lnTo>
                    <a:pt x="7" y="0"/>
                  </a:lnTo>
                  <a:lnTo>
                    <a:pt x="7" y="0"/>
                  </a:lnTo>
                  <a:lnTo>
                    <a:pt x="5" y="0"/>
                  </a:lnTo>
                  <a:lnTo>
                    <a:pt x="5" y="0"/>
                  </a:lnTo>
                  <a:lnTo>
                    <a:pt x="5" y="0"/>
                  </a:lnTo>
                  <a:lnTo>
                    <a:pt x="4" y="0"/>
                  </a:lnTo>
                  <a:lnTo>
                    <a:pt x="3" y="0"/>
                  </a:lnTo>
                  <a:lnTo>
                    <a:pt x="2" y="1"/>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28" name="Freeform 227"/>
            <p:cNvSpPr>
              <a:spLocks/>
            </p:cNvSpPr>
            <p:nvPr/>
          </p:nvSpPr>
          <p:spPr bwMode="auto">
            <a:xfrm>
              <a:off x="1343" y="2405"/>
              <a:ext cx="24" cy="90"/>
            </a:xfrm>
            <a:custGeom>
              <a:avLst/>
              <a:gdLst>
                <a:gd name="T0" fmla="*/ 24 w 24"/>
                <a:gd name="T1" fmla="*/ 1 h 90"/>
                <a:gd name="T2" fmla="*/ 22 w 24"/>
                <a:gd name="T3" fmla="*/ 1 h 90"/>
                <a:gd name="T4" fmla="*/ 21 w 24"/>
                <a:gd name="T5" fmla="*/ 3 h 90"/>
                <a:gd name="T6" fmla="*/ 19 w 24"/>
                <a:gd name="T7" fmla="*/ 8 h 90"/>
                <a:gd name="T8" fmla="*/ 17 w 24"/>
                <a:gd name="T9" fmla="*/ 16 h 90"/>
                <a:gd name="T10" fmla="*/ 15 w 24"/>
                <a:gd name="T11" fmla="*/ 28 h 90"/>
                <a:gd name="T12" fmla="*/ 14 w 24"/>
                <a:gd name="T13" fmla="*/ 43 h 90"/>
                <a:gd name="T14" fmla="*/ 15 w 24"/>
                <a:gd name="T15" fmla="*/ 64 h 90"/>
                <a:gd name="T16" fmla="*/ 18 w 24"/>
                <a:gd name="T17" fmla="*/ 90 h 90"/>
                <a:gd name="T18" fmla="*/ 5 w 24"/>
                <a:gd name="T19" fmla="*/ 90 h 90"/>
                <a:gd name="T20" fmla="*/ 4 w 24"/>
                <a:gd name="T21" fmla="*/ 88 h 90"/>
                <a:gd name="T22" fmla="*/ 3 w 24"/>
                <a:gd name="T23" fmla="*/ 81 h 90"/>
                <a:gd name="T24" fmla="*/ 1 w 24"/>
                <a:gd name="T25" fmla="*/ 69 h 90"/>
                <a:gd name="T26" fmla="*/ 0 w 24"/>
                <a:gd name="T27" fmla="*/ 56 h 90"/>
                <a:gd name="T28" fmla="*/ 0 w 24"/>
                <a:gd name="T29" fmla="*/ 41 h 90"/>
                <a:gd name="T30" fmla="*/ 1 w 24"/>
                <a:gd name="T31" fmla="*/ 27 h 90"/>
                <a:gd name="T32" fmla="*/ 4 w 24"/>
                <a:gd name="T33" fmla="*/ 13 h 90"/>
                <a:gd name="T34" fmla="*/ 7 w 24"/>
                <a:gd name="T35" fmla="*/ 0 h 90"/>
                <a:gd name="T36" fmla="*/ 24 w 24"/>
                <a:gd name="T37" fmla="*/ 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 h="90">
                  <a:moveTo>
                    <a:pt x="24" y="1"/>
                  </a:moveTo>
                  <a:lnTo>
                    <a:pt x="22" y="1"/>
                  </a:lnTo>
                  <a:lnTo>
                    <a:pt x="21" y="3"/>
                  </a:lnTo>
                  <a:lnTo>
                    <a:pt x="19" y="8"/>
                  </a:lnTo>
                  <a:lnTo>
                    <a:pt x="17" y="16"/>
                  </a:lnTo>
                  <a:lnTo>
                    <a:pt x="15" y="28"/>
                  </a:lnTo>
                  <a:lnTo>
                    <a:pt x="14" y="43"/>
                  </a:lnTo>
                  <a:lnTo>
                    <a:pt x="15" y="64"/>
                  </a:lnTo>
                  <a:lnTo>
                    <a:pt x="18" y="90"/>
                  </a:lnTo>
                  <a:lnTo>
                    <a:pt x="5" y="90"/>
                  </a:lnTo>
                  <a:lnTo>
                    <a:pt x="4" y="88"/>
                  </a:lnTo>
                  <a:lnTo>
                    <a:pt x="3" y="81"/>
                  </a:lnTo>
                  <a:lnTo>
                    <a:pt x="1" y="69"/>
                  </a:lnTo>
                  <a:lnTo>
                    <a:pt x="0" y="56"/>
                  </a:lnTo>
                  <a:lnTo>
                    <a:pt x="0" y="41"/>
                  </a:lnTo>
                  <a:lnTo>
                    <a:pt x="1" y="27"/>
                  </a:lnTo>
                  <a:lnTo>
                    <a:pt x="4" y="13"/>
                  </a:lnTo>
                  <a:lnTo>
                    <a:pt x="7" y="0"/>
                  </a:lnTo>
                  <a:lnTo>
                    <a:pt x="24" y="1"/>
                  </a:lnTo>
                  <a:close/>
                </a:path>
              </a:pathLst>
            </a:custGeom>
            <a:solidFill>
              <a:srgbClr val="59B2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29" name="Freeform 228"/>
            <p:cNvSpPr>
              <a:spLocks/>
            </p:cNvSpPr>
            <p:nvPr/>
          </p:nvSpPr>
          <p:spPr bwMode="auto">
            <a:xfrm>
              <a:off x="1344" y="2412"/>
              <a:ext cx="19" cy="76"/>
            </a:xfrm>
            <a:custGeom>
              <a:avLst/>
              <a:gdLst>
                <a:gd name="T0" fmla="*/ 19 w 19"/>
                <a:gd name="T1" fmla="*/ 0 h 76"/>
                <a:gd name="T2" fmla="*/ 19 w 19"/>
                <a:gd name="T3" fmla="*/ 0 h 76"/>
                <a:gd name="T4" fmla="*/ 18 w 19"/>
                <a:gd name="T5" fmla="*/ 2 h 76"/>
                <a:gd name="T6" fmla="*/ 17 w 19"/>
                <a:gd name="T7" fmla="*/ 7 h 76"/>
                <a:gd name="T8" fmla="*/ 14 w 19"/>
                <a:gd name="T9" fmla="*/ 13 h 76"/>
                <a:gd name="T10" fmla="*/ 13 w 19"/>
                <a:gd name="T11" fmla="*/ 22 h 76"/>
                <a:gd name="T12" fmla="*/ 12 w 19"/>
                <a:gd name="T13" fmla="*/ 36 h 76"/>
                <a:gd name="T14" fmla="*/ 13 w 19"/>
                <a:gd name="T15" fmla="*/ 54 h 76"/>
                <a:gd name="T16" fmla="*/ 14 w 19"/>
                <a:gd name="T17" fmla="*/ 76 h 76"/>
                <a:gd name="T18" fmla="*/ 4 w 19"/>
                <a:gd name="T19" fmla="*/ 76 h 76"/>
                <a:gd name="T20" fmla="*/ 4 w 19"/>
                <a:gd name="T21" fmla="*/ 74 h 76"/>
                <a:gd name="T22" fmla="*/ 3 w 19"/>
                <a:gd name="T23" fmla="*/ 68 h 76"/>
                <a:gd name="T24" fmla="*/ 2 w 19"/>
                <a:gd name="T25" fmla="*/ 58 h 76"/>
                <a:gd name="T26" fmla="*/ 0 w 19"/>
                <a:gd name="T27" fmla="*/ 47 h 76"/>
                <a:gd name="T28" fmla="*/ 0 w 19"/>
                <a:gd name="T29" fmla="*/ 35 h 76"/>
                <a:gd name="T30" fmla="*/ 0 w 19"/>
                <a:gd name="T31" fmla="*/ 22 h 76"/>
                <a:gd name="T32" fmla="*/ 3 w 19"/>
                <a:gd name="T33" fmla="*/ 9 h 76"/>
                <a:gd name="T34" fmla="*/ 6 w 19"/>
                <a:gd name="T35" fmla="*/ 0 h 76"/>
                <a:gd name="T36" fmla="*/ 19 w 19"/>
                <a:gd name="T3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 h="76">
                  <a:moveTo>
                    <a:pt x="19" y="0"/>
                  </a:moveTo>
                  <a:lnTo>
                    <a:pt x="19" y="0"/>
                  </a:lnTo>
                  <a:lnTo>
                    <a:pt x="18" y="2"/>
                  </a:lnTo>
                  <a:lnTo>
                    <a:pt x="17" y="7"/>
                  </a:lnTo>
                  <a:lnTo>
                    <a:pt x="14" y="13"/>
                  </a:lnTo>
                  <a:lnTo>
                    <a:pt x="13" y="22"/>
                  </a:lnTo>
                  <a:lnTo>
                    <a:pt x="12" y="36"/>
                  </a:lnTo>
                  <a:lnTo>
                    <a:pt x="13" y="54"/>
                  </a:lnTo>
                  <a:lnTo>
                    <a:pt x="14" y="76"/>
                  </a:lnTo>
                  <a:lnTo>
                    <a:pt x="4" y="76"/>
                  </a:lnTo>
                  <a:lnTo>
                    <a:pt x="4" y="74"/>
                  </a:lnTo>
                  <a:lnTo>
                    <a:pt x="3" y="68"/>
                  </a:lnTo>
                  <a:lnTo>
                    <a:pt x="2" y="58"/>
                  </a:lnTo>
                  <a:lnTo>
                    <a:pt x="0" y="47"/>
                  </a:lnTo>
                  <a:lnTo>
                    <a:pt x="0" y="35"/>
                  </a:lnTo>
                  <a:lnTo>
                    <a:pt x="0" y="22"/>
                  </a:lnTo>
                  <a:lnTo>
                    <a:pt x="3" y="9"/>
                  </a:lnTo>
                  <a:lnTo>
                    <a:pt x="6" y="0"/>
                  </a:lnTo>
                  <a:lnTo>
                    <a:pt x="19" y="0"/>
                  </a:lnTo>
                  <a:close/>
                </a:path>
              </a:pathLst>
            </a:custGeom>
            <a:solidFill>
              <a:srgbClr val="72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30" name="Freeform 229"/>
            <p:cNvSpPr>
              <a:spLocks/>
            </p:cNvSpPr>
            <p:nvPr/>
          </p:nvSpPr>
          <p:spPr bwMode="auto">
            <a:xfrm>
              <a:off x="1346" y="2418"/>
              <a:ext cx="15" cy="63"/>
            </a:xfrm>
            <a:custGeom>
              <a:avLst/>
              <a:gdLst>
                <a:gd name="T0" fmla="*/ 15 w 15"/>
                <a:gd name="T1" fmla="*/ 0 h 63"/>
                <a:gd name="T2" fmla="*/ 15 w 15"/>
                <a:gd name="T3" fmla="*/ 1 h 63"/>
                <a:gd name="T4" fmla="*/ 14 w 15"/>
                <a:gd name="T5" fmla="*/ 2 h 63"/>
                <a:gd name="T6" fmla="*/ 12 w 15"/>
                <a:gd name="T7" fmla="*/ 6 h 63"/>
                <a:gd name="T8" fmla="*/ 11 w 15"/>
                <a:gd name="T9" fmla="*/ 12 h 63"/>
                <a:gd name="T10" fmla="*/ 10 w 15"/>
                <a:gd name="T11" fmla="*/ 19 h 63"/>
                <a:gd name="T12" fmla="*/ 9 w 15"/>
                <a:gd name="T13" fmla="*/ 30 h 63"/>
                <a:gd name="T14" fmla="*/ 10 w 15"/>
                <a:gd name="T15" fmla="*/ 44 h 63"/>
                <a:gd name="T16" fmla="*/ 11 w 15"/>
                <a:gd name="T17" fmla="*/ 63 h 63"/>
                <a:gd name="T18" fmla="*/ 2 w 15"/>
                <a:gd name="T19" fmla="*/ 63 h 63"/>
                <a:gd name="T20" fmla="*/ 2 w 15"/>
                <a:gd name="T21" fmla="*/ 62 h 63"/>
                <a:gd name="T22" fmla="*/ 1 w 15"/>
                <a:gd name="T23" fmla="*/ 56 h 63"/>
                <a:gd name="T24" fmla="*/ 0 w 15"/>
                <a:gd name="T25" fmla="*/ 49 h 63"/>
                <a:gd name="T26" fmla="*/ 0 w 15"/>
                <a:gd name="T27" fmla="*/ 40 h 63"/>
                <a:gd name="T28" fmla="*/ 0 w 15"/>
                <a:gd name="T29" fmla="*/ 29 h 63"/>
                <a:gd name="T30" fmla="*/ 0 w 15"/>
                <a:gd name="T31" fmla="*/ 19 h 63"/>
                <a:gd name="T32" fmla="*/ 1 w 15"/>
                <a:gd name="T33" fmla="*/ 8 h 63"/>
                <a:gd name="T34" fmla="*/ 4 w 15"/>
                <a:gd name="T35" fmla="*/ 0 h 63"/>
                <a:gd name="T36" fmla="*/ 15 w 15"/>
                <a:gd name="T37"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 h="63">
                  <a:moveTo>
                    <a:pt x="15" y="0"/>
                  </a:moveTo>
                  <a:lnTo>
                    <a:pt x="15" y="1"/>
                  </a:lnTo>
                  <a:lnTo>
                    <a:pt x="14" y="2"/>
                  </a:lnTo>
                  <a:lnTo>
                    <a:pt x="12" y="6"/>
                  </a:lnTo>
                  <a:lnTo>
                    <a:pt x="11" y="12"/>
                  </a:lnTo>
                  <a:lnTo>
                    <a:pt x="10" y="19"/>
                  </a:lnTo>
                  <a:lnTo>
                    <a:pt x="9" y="30"/>
                  </a:lnTo>
                  <a:lnTo>
                    <a:pt x="10" y="44"/>
                  </a:lnTo>
                  <a:lnTo>
                    <a:pt x="11" y="63"/>
                  </a:lnTo>
                  <a:lnTo>
                    <a:pt x="2" y="63"/>
                  </a:lnTo>
                  <a:lnTo>
                    <a:pt x="2" y="62"/>
                  </a:lnTo>
                  <a:lnTo>
                    <a:pt x="1" y="56"/>
                  </a:lnTo>
                  <a:lnTo>
                    <a:pt x="0" y="49"/>
                  </a:lnTo>
                  <a:lnTo>
                    <a:pt x="0" y="40"/>
                  </a:lnTo>
                  <a:lnTo>
                    <a:pt x="0" y="29"/>
                  </a:lnTo>
                  <a:lnTo>
                    <a:pt x="0" y="19"/>
                  </a:lnTo>
                  <a:lnTo>
                    <a:pt x="1" y="8"/>
                  </a:lnTo>
                  <a:lnTo>
                    <a:pt x="4" y="0"/>
                  </a:lnTo>
                  <a:lnTo>
                    <a:pt x="15" y="0"/>
                  </a:lnTo>
                  <a:close/>
                </a:path>
              </a:pathLst>
            </a:custGeom>
            <a:solidFill>
              <a:srgbClr val="8CD8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31" name="Freeform 230"/>
            <p:cNvSpPr>
              <a:spLocks/>
            </p:cNvSpPr>
            <p:nvPr/>
          </p:nvSpPr>
          <p:spPr bwMode="auto">
            <a:xfrm>
              <a:off x="1346" y="2424"/>
              <a:ext cx="12" cy="50"/>
            </a:xfrm>
            <a:custGeom>
              <a:avLst/>
              <a:gdLst>
                <a:gd name="T0" fmla="*/ 12 w 12"/>
                <a:gd name="T1" fmla="*/ 1 h 50"/>
                <a:gd name="T2" fmla="*/ 12 w 12"/>
                <a:gd name="T3" fmla="*/ 1 h 50"/>
                <a:gd name="T4" fmla="*/ 11 w 12"/>
                <a:gd name="T5" fmla="*/ 2 h 50"/>
                <a:gd name="T6" fmla="*/ 10 w 12"/>
                <a:gd name="T7" fmla="*/ 4 h 50"/>
                <a:gd name="T8" fmla="*/ 9 w 12"/>
                <a:gd name="T9" fmla="*/ 9 h 50"/>
                <a:gd name="T10" fmla="*/ 9 w 12"/>
                <a:gd name="T11" fmla="*/ 15 h 50"/>
                <a:gd name="T12" fmla="*/ 8 w 12"/>
                <a:gd name="T13" fmla="*/ 24 h 50"/>
                <a:gd name="T14" fmla="*/ 8 w 12"/>
                <a:gd name="T15" fmla="*/ 36 h 50"/>
                <a:gd name="T16" fmla="*/ 9 w 12"/>
                <a:gd name="T17" fmla="*/ 50 h 50"/>
                <a:gd name="T18" fmla="*/ 2 w 12"/>
                <a:gd name="T19" fmla="*/ 50 h 50"/>
                <a:gd name="T20" fmla="*/ 2 w 12"/>
                <a:gd name="T21" fmla="*/ 49 h 50"/>
                <a:gd name="T22" fmla="*/ 2 w 12"/>
                <a:gd name="T23" fmla="*/ 45 h 50"/>
                <a:gd name="T24" fmla="*/ 1 w 12"/>
                <a:gd name="T25" fmla="*/ 38 h 50"/>
                <a:gd name="T26" fmla="*/ 1 w 12"/>
                <a:gd name="T27" fmla="*/ 31 h 50"/>
                <a:gd name="T28" fmla="*/ 0 w 12"/>
                <a:gd name="T29" fmla="*/ 23 h 50"/>
                <a:gd name="T30" fmla="*/ 1 w 12"/>
                <a:gd name="T31" fmla="*/ 15 h 50"/>
                <a:gd name="T32" fmla="*/ 2 w 12"/>
                <a:gd name="T33" fmla="*/ 7 h 50"/>
                <a:gd name="T34" fmla="*/ 4 w 12"/>
                <a:gd name="T35" fmla="*/ 0 h 50"/>
                <a:gd name="T36" fmla="*/ 12 w 12"/>
                <a:gd name="T37" fmla="*/ 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 h="50">
                  <a:moveTo>
                    <a:pt x="12" y="1"/>
                  </a:moveTo>
                  <a:lnTo>
                    <a:pt x="12" y="1"/>
                  </a:lnTo>
                  <a:lnTo>
                    <a:pt x="11" y="2"/>
                  </a:lnTo>
                  <a:lnTo>
                    <a:pt x="10" y="4"/>
                  </a:lnTo>
                  <a:lnTo>
                    <a:pt x="9" y="9"/>
                  </a:lnTo>
                  <a:lnTo>
                    <a:pt x="9" y="15"/>
                  </a:lnTo>
                  <a:lnTo>
                    <a:pt x="8" y="24"/>
                  </a:lnTo>
                  <a:lnTo>
                    <a:pt x="8" y="36"/>
                  </a:lnTo>
                  <a:lnTo>
                    <a:pt x="9" y="50"/>
                  </a:lnTo>
                  <a:lnTo>
                    <a:pt x="2" y="50"/>
                  </a:lnTo>
                  <a:lnTo>
                    <a:pt x="2" y="49"/>
                  </a:lnTo>
                  <a:lnTo>
                    <a:pt x="2" y="45"/>
                  </a:lnTo>
                  <a:lnTo>
                    <a:pt x="1" y="38"/>
                  </a:lnTo>
                  <a:lnTo>
                    <a:pt x="1" y="31"/>
                  </a:lnTo>
                  <a:lnTo>
                    <a:pt x="0" y="23"/>
                  </a:lnTo>
                  <a:lnTo>
                    <a:pt x="1" y="15"/>
                  </a:lnTo>
                  <a:lnTo>
                    <a:pt x="2" y="7"/>
                  </a:lnTo>
                  <a:lnTo>
                    <a:pt x="4" y="0"/>
                  </a:lnTo>
                  <a:lnTo>
                    <a:pt x="12" y="1"/>
                  </a:lnTo>
                  <a:close/>
                </a:path>
              </a:pathLst>
            </a:custGeom>
            <a:solidFill>
              <a:srgbClr val="A5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32" name="Freeform 231"/>
            <p:cNvSpPr>
              <a:spLocks/>
            </p:cNvSpPr>
            <p:nvPr/>
          </p:nvSpPr>
          <p:spPr bwMode="auto">
            <a:xfrm>
              <a:off x="1347" y="2431"/>
              <a:ext cx="9" cy="36"/>
            </a:xfrm>
            <a:custGeom>
              <a:avLst/>
              <a:gdLst>
                <a:gd name="T0" fmla="*/ 9 w 9"/>
                <a:gd name="T1" fmla="*/ 0 h 36"/>
                <a:gd name="T2" fmla="*/ 9 w 9"/>
                <a:gd name="T3" fmla="*/ 0 h 36"/>
                <a:gd name="T4" fmla="*/ 8 w 9"/>
                <a:gd name="T5" fmla="*/ 1 h 36"/>
                <a:gd name="T6" fmla="*/ 8 w 9"/>
                <a:gd name="T7" fmla="*/ 3 h 36"/>
                <a:gd name="T8" fmla="*/ 7 w 9"/>
                <a:gd name="T9" fmla="*/ 6 h 36"/>
                <a:gd name="T10" fmla="*/ 6 w 9"/>
                <a:gd name="T11" fmla="*/ 10 h 36"/>
                <a:gd name="T12" fmla="*/ 6 w 9"/>
                <a:gd name="T13" fmla="*/ 17 h 36"/>
                <a:gd name="T14" fmla="*/ 6 w 9"/>
                <a:gd name="T15" fmla="*/ 25 h 36"/>
                <a:gd name="T16" fmla="*/ 7 w 9"/>
                <a:gd name="T17" fmla="*/ 36 h 36"/>
                <a:gd name="T18" fmla="*/ 2 w 9"/>
                <a:gd name="T19" fmla="*/ 36 h 36"/>
                <a:gd name="T20" fmla="*/ 1 w 9"/>
                <a:gd name="T21" fmla="*/ 36 h 36"/>
                <a:gd name="T22" fmla="*/ 1 w 9"/>
                <a:gd name="T23" fmla="*/ 32 h 36"/>
                <a:gd name="T24" fmla="*/ 1 w 9"/>
                <a:gd name="T25" fmla="*/ 28 h 36"/>
                <a:gd name="T26" fmla="*/ 0 w 9"/>
                <a:gd name="T27" fmla="*/ 22 h 36"/>
                <a:gd name="T28" fmla="*/ 0 w 9"/>
                <a:gd name="T29" fmla="*/ 16 h 36"/>
                <a:gd name="T30" fmla="*/ 0 w 9"/>
                <a:gd name="T31" fmla="*/ 10 h 36"/>
                <a:gd name="T32" fmla="*/ 1 w 9"/>
                <a:gd name="T33" fmla="*/ 4 h 36"/>
                <a:gd name="T34" fmla="*/ 3 w 9"/>
                <a:gd name="T35" fmla="*/ 0 h 36"/>
                <a:gd name="T36" fmla="*/ 9 w 9"/>
                <a:gd name="T3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36">
                  <a:moveTo>
                    <a:pt x="9" y="0"/>
                  </a:moveTo>
                  <a:lnTo>
                    <a:pt x="9" y="0"/>
                  </a:lnTo>
                  <a:lnTo>
                    <a:pt x="8" y="1"/>
                  </a:lnTo>
                  <a:lnTo>
                    <a:pt x="8" y="3"/>
                  </a:lnTo>
                  <a:lnTo>
                    <a:pt x="7" y="6"/>
                  </a:lnTo>
                  <a:lnTo>
                    <a:pt x="6" y="10"/>
                  </a:lnTo>
                  <a:lnTo>
                    <a:pt x="6" y="17"/>
                  </a:lnTo>
                  <a:lnTo>
                    <a:pt x="6" y="25"/>
                  </a:lnTo>
                  <a:lnTo>
                    <a:pt x="7" y="36"/>
                  </a:lnTo>
                  <a:lnTo>
                    <a:pt x="2" y="36"/>
                  </a:lnTo>
                  <a:lnTo>
                    <a:pt x="1" y="36"/>
                  </a:lnTo>
                  <a:lnTo>
                    <a:pt x="1" y="32"/>
                  </a:lnTo>
                  <a:lnTo>
                    <a:pt x="1" y="28"/>
                  </a:lnTo>
                  <a:lnTo>
                    <a:pt x="0" y="22"/>
                  </a:lnTo>
                  <a:lnTo>
                    <a:pt x="0" y="16"/>
                  </a:lnTo>
                  <a:lnTo>
                    <a:pt x="0" y="10"/>
                  </a:lnTo>
                  <a:lnTo>
                    <a:pt x="1" y="4"/>
                  </a:lnTo>
                  <a:lnTo>
                    <a:pt x="3" y="0"/>
                  </a:lnTo>
                  <a:lnTo>
                    <a:pt x="9" y="0"/>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33" name="Rectangle 232"/>
            <p:cNvSpPr>
              <a:spLocks noChangeArrowheads="1"/>
            </p:cNvSpPr>
            <p:nvPr/>
          </p:nvSpPr>
          <p:spPr bwMode="auto">
            <a:xfrm>
              <a:off x="1224" y="2421"/>
              <a:ext cx="4" cy="1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34" name="Freeform 233"/>
            <p:cNvSpPr>
              <a:spLocks/>
            </p:cNvSpPr>
            <p:nvPr/>
          </p:nvSpPr>
          <p:spPr bwMode="auto">
            <a:xfrm>
              <a:off x="1266" y="2419"/>
              <a:ext cx="46" cy="55"/>
            </a:xfrm>
            <a:custGeom>
              <a:avLst/>
              <a:gdLst>
                <a:gd name="T0" fmla="*/ 4 w 46"/>
                <a:gd name="T1" fmla="*/ 6 h 55"/>
                <a:gd name="T2" fmla="*/ 4 w 46"/>
                <a:gd name="T3" fmla="*/ 7 h 55"/>
                <a:gd name="T4" fmla="*/ 3 w 46"/>
                <a:gd name="T5" fmla="*/ 9 h 55"/>
                <a:gd name="T6" fmla="*/ 1 w 46"/>
                <a:gd name="T7" fmla="*/ 14 h 55"/>
                <a:gd name="T8" fmla="*/ 0 w 46"/>
                <a:gd name="T9" fmla="*/ 20 h 55"/>
                <a:gd name="T10" fmla="*/ 0 w 46"/>
                <a:gd name="T11" fmla="*/ 28 h 55"/>
                <a:gd name="T12" fmla="*/ 0 w 46"/>
                <a:gd name="T13" fmla="*/ 36 h 55"/>
                <a:gd name="T14" fmla="*/ 0 w 46"/>
                <a:gd name="T15" fmla="*/ 46 h 55"/>
                <a:gd name="T16" fmla="*/ 3 w 46"/>
                <a:gd name="T17" fmla="*/ 55 h 55"/>
                <a:gd name="T18" fmla="*/ 3 w 46"/>
                <a:gd name="T19" fmla="*/ 54 h 55"/>
                <a:gd name="T20" fmla="*/ 3 w 46"/>
                <a:gd name="T21" fmla="*/ 53 h 55"/>
                <a:gd name="T22" fmla="*/ 3 w 46"/>
                <a:gd name="T23" fmla="*/ 51 h 55"/>
                <a:gd name="T24" fmla="*/ 3 w 46"/>
                <a:gd name="T25" fmla="*/ 49 h 55"/>
                <a:gd name="T26" fmla="*/ 3 w 46"/>
                <a:gd name="T27" fmla="*/ 46 h 55"/>
                <a:gd name="T28" fmla="*/ 4 w 46"/>
                <a:gd name="T29" fmla="*/ 42 h 55"/>
                <a:gd name="T30" fmla="*/ 4 w 46"/>
                <a:gd name="T31" fmla="*/ 39 h 55"/>
                <a:gd name="T32" fmla="*/ 5 w 46"/>
                <a:gd name="T33" fmla="*/ 35 h 55"/>
                <a:gd name="T34" fmla="*/ 6 w 46"/>
                <a:gd name="T35" fmla="*/ 32 h 55"/>
                <a:gd name="T36" fmla="*/ 7 w 46"/>
                <a:gd name="T37" fmla="*/ 28 h 55"/>
                <a:gd name="T38" fmla="*/ 8 w 46"/>
                <a:gd name="T39" fmla="*/ 25 h 55"/>
                <a:gd name="T40" fmla="*/ 11 w 46"/>
                <a:gd name="T41" fmla="*/ 21 h 55"/>
                <a:gd name="T42" fmla="*/ 14 w 46"/>
                <a:gd name="T43" fmla="*/ 19 h 55"/>
                <a:gd name="T44" fmla="*/ 17 w 46"/>
                <a:gd name="T45" fmla="*/ 16 h 55"/>
                <a:gd name="T46" fmla="*/ 21 w 46"/>
                <a:gd name="T47" fmla="*/ 14 h 55"/>
                <a:gd name="T48" fmla="*/ 26 w 46"/>
                <a:gd name="T49" fmla="*/ 14 h 55"/>
                <a:gd name="T50" fmla="*/ 26 w 46"/>
                <a:gd name="T51" fmla="*/ 13 h 55"/>
                <a:gd name="T52" fmla="*/ 26 w 46"/>
                <a:gd name="T53" fmla="*/ 13 h 55"/>
                <a:gd name="T54" fmla="*/ 28 w 46"/>
                <a:gd name="T55" fmla="*/ 12 h 55"/>
                <a:gd name="T56" fmla="*/ 29 w 46"/>
                <a:gd name="T57" fmla="*/ 11 h 55"/>
                <a:gd name="T58" fmla="*/ 33 w 46"/>
                <a:gd name="T59" fmla="*/ 9 h 55"/>
                <a:gd name="T60" fmla="*/ 36 w 46"/>
                <a:gd name="T61" fmla="*/ 7 h 55"/>
                <a:gd name="T62" fmla="*/ 41 w 46"/>
                <a:gd name="T63" fmla="*/ 5 h 55"/>
                <a:gd name="T64" fmla="*/ 46 w 46"/>
                <a:gd name="T65" fmla="*/ 2 h 55"/>
                <a:gd name="T66" fmla="*/ 46 w 46"/>
                <a:gd name="T67" fmla="*/ 2 h 55"/>
                <a:gd name="T68" fmla="*/ 45 w 46"/>
                <a:gd name="T69" fmla="*/ 2 h 55"/>
                <a:gd name="T70" fmla="*/ 43 w 46"/>
                <a:gd name="T71" fmla="*/ 2 h 55"/>
                <a:gd name="T72" fmla="*/ 42 w 46"/>
                <a:gd name="T73" fmla="*/ 1 h 55"/>
                <a:gd name="T74" fmla="*/ 40 w 46"/>
                <a:gd name="T75" fmla="*/ 1 h 55"/>
                <a:gd name="T76" fmla="*/ 38 w 46"/>
                <a:gd name="T77" fmla="*/ 1 h 55"/>
                <a:gd name="T78" fmla="*/ 35 w 46"/>
                <a:gd name="T79" fmla="*/ 1 h 55"/>
                <a:gd name="T80" fmla="*/ 32 w 46"/>
                <a:gd name="T81" fmla="*/ 0 h 55"/>
                <a:gd name="T82" fmla="*/ 28 w 46"/>
                <a:gd name="T83" fmla="*/ 0 h 55"/>
                <a:gd name="T84" fmla="*/ 26 w 46"/>
                <a:gd name="T85" fmla="*/ 0 h 55"/>
                <a:gd name="T86" fmla="*/ 22 w 46"/>
                <a:gd name="T87" fmla="*/ 1 h 55"/>
                <a:gd name="T88" fmla="*/ 19 w 46"/>
                <a:gd name="T89" fmla="*/ 1 h 55"/>
                <a:gd name="T90" fmla="*/ 14 w 46"/>
                <a:gd name="T91" fmla="*/ 1 h 55"/>
                <a:gd name="T92" fmla="*/ 11 w 46"/>
                <a:gd name="T93" fmla="*/ 2 h 55"/>
                <a:gd name="T94" fmla="*/ 7 w 46"/>
                <a:gd name="T95" fmla="*/ 4 h 55"/>
                <a:gd name="T96" fmla="*/ 4 w 46"/>
                <a:gd name="T97" fmla="*/ 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 h="55">
                  <a:moveTo>
                    <a:pt x="4" y="6"/>
                  </a:moveTo>
                  <a:lnTo>
                    <a:pt x="4" y="7"/>
                  </a:lnTo>
                  <a:lnTo>
                    <a:pt x="3" y="9"/>
                  </a:lnTo>
                  <a:lnTo>
                    <a:pt x="1" y="14"/>
                  </a:lnTo>
                  <a:lnTo>
                    <a:pt x="0" y="20"/>
                  </a:lnTo>
                  <a:lnTo>
                    <a:pt x="0" y="28"/>
                  </a:lnTo>
                  <a:lnTo>
                    <a:pt x="0" y="36"/>
                  </a:lnTo>
                  <a:lnTo>
                    <a:pt x="0" y="46"/>
                  </a:lnTo>
                  <a:lnTo>
                    <a:pt x="3" y="55"/>
                  </a:lnTo>
                  <a:lnTo>
                    <a:pt x="3" y="54"/>
                  </a:lnTo>
                  <a:lnTo>
                    <a:pt x="3" y="53"/>
                  </a:lnTo>
                  <a:lnTo>
                    <a:pt x="3" y="51"/>
                  </a:lnTo>
                  <a:lnTo>
                    <a:pt x="3" y="49"/>
                  </a:lnTo>
                  <a:lnTo>
                    <a:pt x="3" y="46"/>
                  </a:lnTo>
                  <a:lnTo>
                    <a:pt x="4" y="42"/>
                  </a:lnTo>
                  <a:lnTo>
                    <a:pt x="4" y="39"/>
                  </a:lnTo>
                  <a:lnTo>
                    <a:pt x="5" y="35"/>
                  </a:lnTo>
                  <a:lnTo>
                    <a:pt x="6" y="32"/>
                  </a:lnTo>
                  <a:lnTo>
                    <a:pt x="7" y="28"/>
                  </a:lnTo>
                  <a:lnTo>
                    <a:pt x="8" y="25"/>
                  </a:lnTo>
                  <a:lnTo>
                    <a:pt x="11" y="21"/>
                  </a:lnTo>
                  <a:lnTo>
                    <a:pt x="14" y="19"/>
                  </a:lnTo>
                  <a:lnTo>
                    <a:pt x="17" y="16"/>
                  </a:lnTo>
                  <a:lnTo>
                    <a:pt x="21" y="14"/>
                  </a:lnTo>
                  <a:lnTo>
                    <a:pt x="26" y="14"/>
                  </a:lnTo>
                  <a:lnTo>
                    <a:pt x="26" y="13"/>
                  </a:lnTo>
                  <a:lnTo>
                    <a:pt x="26" y="13"/>
                  </a:lnTo>
                  <a:lnTo>
                    <a:pt x="28" y="12"/>
                  </a:lnTo>
                  <a:lnTo>
                    <a:pt x="29" y="11"/>
                  </a:lnTo>
                  <a:lnTo>
                    <a:pt x="33" y="9"/>
                  </a:lnTo>
                  <a:lnTo>
                    <a:pt x="36" y="7"/>
                  </a:lnTo>
                  <a:lnTo>
                    <a:pt x="41" y="5"/>
                  </a:lnTo>
                  <a:lnTo>
                    <a:pt x="46" y="2"/>
                  </a:lnTo>
                  <a:lnTo>
                    <a:pt x="46" y="2"/>
                  </a:lnTo>
                  <a:lnTo>
                    <a:pt x="45" y="2"/>
                  </a:lnTo>
                  <a:lnTo>
                    <a:pt x="43" y="2"/>
                  </a:lnTo>
                  <a:lnTo>
                    <a:pt x="42" y="1"/>
                  </a:lnTo>
                  <a:lnTo>
                    <a:pt x="40" y="1"/>
                  </a:lnTo>
                  <a:lnTo>
                    <a:pt x="38" y="1"/>
                  </a:lnTo>
                  <a:lnTo>
                    <a:pt x="35" y="1"/>
                  </a:lnTo>
                  <a:lnTo>
                    <a:pt x="32" y="0"/>
                  </a:lnTo>
                  <a:lnTo>
                    <a:pt x="28" y="0"/>
                  </a:lnTo>
                  <a:lnTo>
                    <a:pt x="26" y="0"/>
                  </a:lnTo>
                  <a:lnTo>
                    <a:pt x="22" y="1"/>
                  </a:lnTo>
                  <a:lnTo>
                    <a:pt x="19" y="1"/>
                  </a:lnTo>
                  <a:lnTo>
                    <a:pt x="14" y="1"/>
                  </a:lnTo>
                  <a:lnTo>
                    <a:pt x="11" y="2"/>
                  </a:lnTo>
                  <a:lnTo>
                    <a:pt x="7" y="4"/>
                  </a:lnTo>
                  <a:lnTo>
                    <a:pt x="4" y="6"/>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35" name="Freeform 234"/>
            <p:cNvSpPr>
              <a:spLocks/>
            </p:cNvSpPr>
            <p:nvPr/>
          </p:nvSpPr>
          <p:spPr bwMode="auto">
            <a:xfrm>
              <a:off x="1202" y="2460"/>
              <a:ext cx="37" cy="9"/>
            </a:xfrm>
            <a:custGeom>
              <a:avLst/>
              <a:gdLst>
                <a:gd name="T0" fmla="*/ 0 w 37"/>
                <a:gd name="T1" fmla="*/ 6 h 9"/>
                <a:gd name="T2" fmla="*/ 0 w 37"/>
                <a:gd name="T3" fmla="*/ 6 h 9"/>
                <a:gd name="T4" fmla="*/ 0 w 37"/>
                <a:gd name="T5" fmla="*/ 6 h 9"/>
                <a:gd name="T6" fmla="*/ 1 w 37"/>
                <a:gd name="T7" fmla="*/ 5 h 9"/>
                <a:gd name="T8" fmla="*/ 1 w 37"/>
                <a:gd name="T9" fmla="*/ 5 h 9"/>
                <a:gd name="T10" fmla="*/ 2 w 37"/>
                <a:gd name="T11" fmla="*/ 3 h 9"/>
                <a:gd name="T12" fmla="*/ 4 w 37"/>
                <a:gd name="T13" fmla="*/ 2 h 9"/>
                <a:gd name="T14" fmla="*/ 5 w 37"/>
                <a:gd name="T15" fmla="*/ 2 h 9"/>
                <a:gd name="T16" fmla="*/ 7 w 37"/>
                <a:gd name="T17" fmla="*/ 1 h 9"/>
                <a:gd name="T18" fmla="*/ 9 w 37"/>
                <a:gd name="T19" fmla="*/ 0 h 9"/>
                <a:gd name="T20" fmla="*/ 12 w 37"/>
                <a:gd name="T21" fmla="*/ 0 h 9"/>
                <a:gd name="T22" fmla="*/ 15 w 37"/>
                <a:gd name="T23" fmla="*/ 0 h 9"/>
                <a:gd name="T24" fmla="*/ 19 w 37"/>
                <a:gd name="T25" fmla="*/ 0 h 9"/>
                <a:gd name="T26" fmla="*/ 22 w 37"/>
                <a:gd name="T27" fmla="*/ 0 h 9"/>
                <a:gd name="T28" fmla="*/ 27 w 37"/>
                <a:gd name="T29" fmla="*/ 1 h 9"/>
                <a:gd name="T30" fmla="*/ 32 w 37"/>
                <a:gd name="T31" fmla="*/ 1 h 9"/>
                <a:gd name="T32" fmla="*/ 37 w 37"/>
                <a:gd name="T33" fmla="*/ 3 h 9"/>
                <a:gd name="T34" fmla="*/ 37 w 37"/>
                <a:gd name="T35" fmla="*/ 6 h 9"/>
                <a:gd name="T36" fmla="*/ 36 w 37"/>
                <a:gd name="T37" fmla="*/ 6 h 9"/>
                <a:gd name="T38" fmla="*/ 36 w 37"/>
                <a:gd name="T39" fmla="*/ 5 h 9"/>
                <a:gd name="T40" fmla="*/ 34 w 37"/>
                <a:gd name="T41" fmla="*/ 5 h 9"/>
                <a:gd name="T42" fmla="*/ 33 w 37"/>
                <a:gd name="T43" fmla="*/ 5 h 9"/>
                <a:gd name="T44" fmla="*/ 30 w 37"/>
                <a:gd name="T45" fmla="*/ 3 h 9"/>
                <a:gd name="T46" fmla="*/ 28 w 37"/>
                <a:gd name="T47" fmla="*/ 3 h 9"/>
                <a:gd name="T48" fmla="*/ 25 w 37"/>
                <a:gd name="T49" fmla="*/ 2 h 9"/>
                <a:gd name="T50" fmla="*/ 22 w 37"/>
                <a:gd name="T51" fmla="*/ 2 h 9"/>
                <a:gd name="T52" fmla="*/ 19 w 37"/>
                <a:gd name="T53" fmla="*/ 2 h 9"/>
                <a:gd name="T54" fmla="*/ 15 w 37"/>
                <a:gd name="T55" fmla="*/ 2 h 9"/>
                <a:gd name="T56" fmla="*/ 13 w 37"/>
                <a:gd name="T57" fmla="*/ 2 h 9"/>
                <a:gd name="T58" fmla="*/ 9 w 37"/>
                <a:gd name="T59" fmla="*/ 3 h 9"/>
                <a:gd name="T60" fmla="*/ 7 w 37"/>
                <a:gd name="T61" fmla="*/ 5 h 9"/>
                <a:gd name="T62" fmla="*/ 5 w 37"/>
                <a:gd name="T63" fmla="*/ 6 h 9"/>
                <a:gd name="T64" fmla="*/ 2 w 37"/>
                <a:gd name="T65" fmla="*/ 7 h 9"/>
                <a:gd name="T66" fmla="*/ 0 w 37"/>
                <a:gd name="T67" fmla="*/ 9 h 9"/>
                <a:gd name="T68" fmla="*/ 0 w 37"/>
                <a:gd name="T69" fmla="*/ 6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7" h="9">
                  <a:moveTo>
                    <a:pt x="0" y="6"/>
                  </a:moveTo>
                  <a:lnTo>
                    <a:pt x="0" y="6"/>
                  </a:lnTo>
                  <a:lnTo>
                    <a:pt x="0" y="6"/>
                  </a:lnTo>
                  <a:lnTo>
                    <a:pt x="1" y="5"/>
                  </a:lnTo>
                  <a:lnTo>
                    <a:pt x="1" y="5"/>
                  </a:lnTo>
                  <a:lnTo>
                    <a:pt x="2" y="3"/>
                  </a:lnTo>
                  <a:lnTo>
                    <a:pt x="4" y="2"/>
                  </a:lnTo>
                  <a:lnTo>
                    <a:pt x="5" y="2"/>
                  </a:lnTo>
                  <a:lnTo>
                    <a:pt x="7" y="1"/>
                  </a:lnTo>
                  <a:lnTo>
                    <a:pt x="9" y="0"/>
                  </a:lnTo>
                  <a:lnTo>
                    <a:pt x="12" y="0"/>
                  </a:lnTo>
                  <a:lnTo>
                    <a:pt x="15" y="0"/>
                  </a:lnTo>
                  <a:lnTo>
                    <a:pt x="19" y="0"/>
                  </a:lnTo>
                  <a:lnTo>
                    <a:pt x="22" y="0"/>
                  </a:lnTo>
                  <a:lnTo>
                    <a:pt x="27" y="1"/>
                  </a:lnTo>
                  <a:lnTo>
                    <a:pt x="32" y="1"/>
                  </a:lnTo>
                  <a:lnTo>
                    <a:pt x="37" y="3"/>
                  </a:lnTo>
                  <a:lnTo>
                    <a:pt x="37" y="6"/>
                  </a:lnTo>
                  <a:lnTo>
                    <a:pt x="36" y="6"/>
                  </a:lnTo>
                  <a:lnTo>
                    <a:pt x="36" y="5"/>
                  </a:lnTo>
                  <a:lnTo>
                    <a:pt x="34" y="5"/>
                  </a:lnTo>
                  <a:lnTo>
                    <a:pt x="33" y="5"/>
                  </a:lnTo>
                  <a:lnTo>
                    <a:pt x="30" y="3"/>
                  </a:lnTo>
                  <a:lnTo>
                    <a:pt x="28" y="3"/>
                  </a:lnTo>
                  <a:lnTo>
                    <a:pt x="25" y="2"/>
                  </a:lnTo>
                  <a:lnTo>
                    <a:pt x="22" y="2"/>
                  </a:lnTo>
                  <a:lnTo>
                    <a:pt x="19" y="2"/>
                  </a:lnTo>
                  <a:lnTo>
                    <a:pt x="15" y="2"/>
                  </a:lnTo>
                  <a:lnTo>
                    <a:pt x="13" y="2"/>
                  </a:lnTo>
                  <a:lnTo>
                    <a:pt x="9" y="3"/>
                  </a:lnTo>
                  <a:lnTo>
                    <a:pt x="7" y="5"/>
                  </a:lnTo>
                  <a:lnTo>
                    <a:pt x="5" y="6"/>
                  </a:lnTo>
                  <a:lnTo>
                    <a:pt x="2" y="7"/>
                  </a:lnTo>
                  <a:lnTo>
                    <a:pt x="0" y="9"/>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36" name="Freeform 235"/>
            <p:cNvSpPr>
              <a:spLocks/>
            </p:cNvSpPr>
            <p:nvPr/>
          </p:nvSpPr>
          <p:spPr bwMode="auto">
            <a:xfrm>
              <a:off x="1202" y="2435"/>
              <a:ext cx="37" cy="11"/>
            </a:xfrm>
            <a:custGeom>
              <a:avLst/>
              <a:gdLst>
                <a:gd name="T0" fmla="*/ 0 w 37"/>
                <a:gd name="T1" fmla="*/ 6 h 11"/>
                <a:gd name="T2" fmla="*/ 0 w 37"/>
                <a:gd name="T3" fmla="*/ 6 h 11"/>
                <a:gd name="T4" fmla="*/ 0 w 37"/>
                <a:gd name="T5" fmla="*/ 6 h 11"/>
                <a:gd name="T6" fmla="*/ 1 w 37"/>
                <a:gd name="T7" fmla="*/ 6 h 11"/>
                <a:gd name="T8" fmla="*/ 1 w 37"/>
                <a:gd name="T9" fmla="*/ 5 h 11"/>
                <a:gd name="T10" fmla="*/ 2 w 37"/>
                <a:gd name="T11" fmla="*/ 4 h 11"/>
                <a:gd name="T12" fmla="*/ 4 w 37"/>
                <a:gd name="T13" fmla="*/ 4 h 11"/>
                <a:gd name="T14" fmla="*/ 5 w 37"/>
                <a:gd name="T15" fmla="*/ 3 h 11"/>
                <a:gd name="T16" fmla="*/ 7 w 37"/>
                <a:gd name="T17" fmla="*/ 2 h 11"/>
                <a:gd name="T18" fmla="*/ 9 w 37"/>
                <a:gd name="T19" fmla="*/ 2 h 11"/>
                <a:gd name="T20" fmla="*/ 12 w 37"/>
                <a:gd name="T21" fmla="*/ 0 h 11"/>
                <a:gd name="T22" fmla="*/ 15 w 37"/>
                <a:gd name="T23" fmla="*/ 0 h 11"/>
                <a:gd name="T24" fmla="*/ 19 w 37"/>
                <a:gd name="T25" fmla="*/ 0 h 11"/>
                <a:gd name="T26" fmla="*/ 22 w 37"/>
                <a:gd name="T27" fmla="*/ 0 h 11"/>
                <a:gd name="T28" fmla="*/ 27 w 37"/>
                <a:gd name="T29" fmla="*/ 2 h 11"/>
                <a:gd name="T30" fmla="*/ 32 w 37"/>
                <a:gd name="T31" fmla="*/ 3 h 11"/>
                <a:gd name="T32" fmla="*/ 37 w 37"/>
                <a:gd name="T33" fmla="*/ 4 h 11"/>
                <a:gd name="T34" fmla="*/ 37 w 37"/>
                <a:gd name="T35" fmla="*/ 6 h 11"/>
                <a:gd name="T36" fmla="*/ 36 w 37"/>
                <a:gd name="T37" fmla="*/ 6 h 11"/>
                <a:gd name="T38" fmla="*/ 36 w 37"/>
                <a:gd name="T39" fmla="*/ 5 h 11"/>
                <a:gd name="T40" fmla="*/ 34 w 37"/>
                <a:gd name="T41" fmla="*/ 5 h 11"/>
                <a:gd name="T42" fmla="*/ 33 w 37"/>
                <a:gd name="T43" fmla="*/ 5 h 11"/>
                <a:gd name="T44" fmla="*/ 30 w 37"/>
                <a:gd name="T45" fmla="*/ 4 h 11"/>
                <a:gd name="T46" fmla="*/ 28 w 37"/>
                <a:gd name="T47" fmla="*/ 4 h 11"/>
                <a:gd name="T48" fmla="*/ 25 w 37"/>
                <a:gd name="T49" fmla="*/ 4 h 11"/>
                <a:gd name="T50" fmla="*/ 22 w 37"/>
                <a:gd name="T51" fmla="*/ 3 h 11"/>
                <a:gd name="T52" fmla="*/ 19 w 37"/>
                <a:gd name="T53" fmla="*/ 3 h 11"/>
                <a:gd name="T54" fmla="*/ 15 w 37"/>
                <a:gd name="T55" fmla="*/ 3 h 11"/>
                <a:gd name="T56" fmla="*/ 13 w 37"/>
                <a:gd name="T57" fmla="*/ 3 h 11"/>
                <a:gd name="T58" fmla="*/ 9 w 37"/>
                <a:gd name="T59" fmla="*/ 4 h 11"/>
                <a:gd name="T60" fmla="*/ 7 w 37"/>
                <a:gd name="T61" fmla="*/ 5 h 11"/>
                <a:gd name="T62" fmla="*/ 5 w 37"/>
                <a:gd name="T63" fmla="*/ 6 h 11"/>
                <a:gd name="T64" fmla="*/ 2 w 37"/>
                <a:gd name="T65" fmla="*/ 9 h 11"/>
                <a:gd name="T66" fmla="*/ 0 w 37"/>
                <a:gd name="T67" fmla="*/ 11 h 11"/>
                <a:gd name="T68" fmla="*/ 0 w 37"/>
                <a:gd name="T69"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7" h="11">
                  <a:moveTo>
                    <a:pt x="0" y="6"/>
                  </a:moveTo>
                  <a:lnTo>
                    <a:pt x="0" y="6"/>
                  </a:lnTo>
                  <a:lnTo>
                    <a:pt x="0" y="6"/>
                  </a:lnTo>
                  <a:lnTo>
                    <a:pt x="1" y="6"/>
                  </a:lnTo>
                  <a:lnTo>
                    <a:pt x="1" y="5"/>
                  </a:lnTo>
                  <a:lnTo>
                    <a:pt x="2" y="4"/>
                  </a:lnTo>
                  <a:lnTo>
                    <a:pt x="4" y="4"/>
                  </a:lnTo>
                  <a:lnTo>
                    <a:pt x="5" y="3"/>
                  </a:lnTo>
                  <a:lnTo>
                    <a:pt x="7" y="2"/>
                  </a:lnTo>
                  <a:lnTo>
                    <a:pt x="9" y="2"/>
                  </a:lnTo>
                  <a:lnTo>
                    <a:pt x="12" y="0"/>
                  </a:lnTo>
                  <a:lnTo>
                    <a:pt x="15" y="0"/>
                  </a:lnTo>
                  <a:lnTo>
                    <a:pt x="19" y="0"/>
                  </a:lnTo>
                  <a:lnTo>
                    <a:pt x="22" y="0"/>
                  </a:lnTo>
                  <a:lnTo>
                    <a:pt x="27" y="2"/>
                  </a:lnTo>
                  <a:lnTo>
                    <a:pt x="32" y="3"/>
                  </a:lnTo>
                  <a:lnTo>
                    <a:pt x="37" y="4"/>
                  </a:lnTo>
                  <a:lnTo>
                    <a:pt x="37" y="6"/>
                  </a:lnTo>
                  <a:lnTo>
                    <a:pt x="36" y="6"/>
                  </a:lnTo>
                  <a:lnTo>
                    <a:pt x="36" y="5"/>
                  </a:lnTo>
                  <a:lnTo>
                    <a:pt x="34" y="5"/>
                  </a:lnTo>
                  <a:lnTo>
                    <a:pt x="33" y="5"/>
                  </a:lnTo>
                  <a:lnTo>
                    <a:pt x="30" y="4"/>
                  </a:lnTo>
                  <a:lnTo>
                    <a:pt x="28" y="4"/>
                  </a:lnTo>
                  <a:lnTo>
                    <a:pt x="25" y="4"/>
                  </a:lnTo>
                  <a:lnTo>
                    <a:pt x="22" y="3"/>
                  </a:lnTo>
                  <a:lnTo>
                    <a:pt x="19" y="3"/>
                  </a:lnTo>
                  <a:lnTo>
                    <a:pt x="15" y="3"/>
                  </a:lnTo>
                  <a:lnTo>
                    <a:pt x="13" y="3"/>
                  </a:lnTo>
                  <a:lnTo>
                    <a:pt x="9" y="4"/>
                  </a:lnTo>
                  <a:lnTo>
                    <a:pt x="7" y="5"/>
                  </a:lnTo>
                  <a:lnTo>
                    <a:pt x="5" y="6"/>
                  </a:lnTo>
                  <a:lnTo>
                    <a:pt x="2" y="9"/>
                  </a:lnTo>
                  <a:lnTo>
                    <a:pt x="0" y="11"/>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37" name="Freeform 236"/>
            <p:cNvSpPr>
              <a:spLocks/>
            </p:cNvSpPr>
            <p:nvPr/>
          </p:nvSpPr>
          <p:spPr bwMode="auto">
            <a:xfrm>
              <a:off x="1237" y="2424"/>
              <a:ext cx="61" cy="112"/>
            </a:xfrm>
            <a:custGeom>
              <a:avLst/>
              <a:gdLst>
                <a:gd name="T0" fmla="*/ 0 w 61"/>
                <a:gd name="T1" fmla="*/ 0 h 112"/>
                <a:gd name="T2" fmla="*/ 0 w 61"/>
                <a:gd name="T3" fmla="*/ 108 h 112"/>
                <a:gd name="T4" fmla="*/ 19 w 61"/>
                <a:gd name="T5" fmla="*/ 112 h 112"/>
                <a:gd name="T6" fmla="*/ 18 w 61"/>
                <a:gd name="T7" fmla="*/ 98 h 112"/>
                <a:gd name="T8" fmla="*/ 61 w 61"/>
                <a:gd name="T9" fmla="*/ 104 h 112"/>
                <a:gd name="T10" fmla="*/ 61 w 61"/>
                <a:gd name="T11" fmla="*/ 98 h 112"/>
                <a:gd name="T12" fmla="*/ 30 w 61"/>
                <a:gd name="T13" fmla="*/ 94 h 112"/>
                <a:gd name="T14" fmla="*/ 29 w 61"/>
                <a:gd name="T15" fmla="*/ 81 h 112"/>
                <a:gd name="T16" fmla="*/ 9 w 61"/>
                <a:gd name="T17" fmla="*/ 81 h 112"/>
                <a:gd name="T18" fmla="*/ 8 w 61"/>
                <a:gd name="T19" fmla="*/ 80 h 112"/>
                <a:gd name="T20" fmla="*/ 7 w 61"/>
                <a:gd name="T21" fmla="*/ 76 h 112"/>
                <a:gd name="T22" fmla="*/ 6 w 61"/>
                <a:gd name="T23" fmla="*/ 69 h 112"/>
                <a:gd name="T24" fmla="*/ 4 w 61"/>
                <a:gd name="T25" fmla="*/ 58 h 112"/>
                <a:gd name="T26" fmla="*/ 2 w 61"/>
                <a:gd name="T27" fmla="*/ 46 h 112"/>
                <a:gd name="T28" fmla="*/ 1 w 61"/>
                <a:gd name="T29" fmla="*/ 34 h 112"/>
                <a:gd name="T30" fmla="*/ 2 w 61"/>
                <a:gd name="T31" fmla="*/ 18 h 112"/>
                <a:gd name="T32" fmla="*/ 6 w 61"/>
                <a:gd name="T33" fmla="*/ 3 h 112"/>
                <a:gd name="T34" fmla="*/ 0 w 61"/>
                <a:gd name="T35"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112">
                  <a:moveTo>
                    <a:pt x="0" y="0"/>
                  </a:moveTo>
                  <a:lnTo>
                    <a:pt x="0" y="108"/>
                  </a:lnTo>
                  <a:lnTo>
                    <a:pt x="19" y="112"/>
                  </a:lnTo>
                  <a:lnTo>
                    <a:pt x="18" y="98"/>
                  </a:lnTo>
                  <a:lnTo>
                    <a:pt x="61" y="104"/>
                  </a:lnTo>
                  <a:lnTo>
                    <a:pt x="61" y="98"/>
                  </a:lnTo>
                  <a:lnTo>
                    <a:pt x="30" y="94"/>
                  </a:lnTo>
                  <a:lnTo>
                    <a:pt x="29" y="81"/>
                  </a:lnTo>
                  <a:lnTo>
                    <a:pt x="9" y="81"/>
                  </a:lnTo>
                  <a:lnTo>
                    <a:pt x="8" y="80"/>
                  </a:lnTo>
                  <a:lnTo>
                    <a:pt x="7" y="76"/>
                  </a:lnTo>
                  <a:lnTo>
                    <a:pt x="6" y="69"/>
                  </a:lnTo>
                  <a:lnTo>
                    <a:pt x="4" y="58"/>
                  </a:lnTo>
                  <a:lnTo>
                    <a:pt x="2" y="46"/>
                  </a:lnTo>
                  <a:lnTo>
                    <a:pt x="1" y="34"/>
                  </a:lnTo>
                  <a:lnTo>
                    <a:pt x="2" y="18"/>
                  </a:lnTo>
                  <a:lnTo>
                    <a:pt x="6" y="3"/>
                  </a:lnTo>
                  <a:lnTo>
                    <a:pt x="0" y="0"/>
                  </a:lnTo>
                  <a:close/>
                </a:path>
              </a:pathLst>
            </a:custGeom>
            <a:solidFill>
              <a:srgbClr val="00199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38" name="Freeform 237"/>
            <p:cNvSpPr>
              <a:spLocks/>
            </p:cNvSpPr>
            <p:nvPr/>
          </p:nvSpPr>
          <p:spPr bwMode="auto">
            <a:xfrm>
              <a:off x="1267" y="2398"/>
              <a:ext cx="79" cy="15"/>
            </a:xfrm>
            <a:custGeom>
              <a:avLst/>
              <a:gdLst>
                <a:gd name="T0" fmla="*/ 0 w 79"/>
                <a:gd name="T1" fmla="*/ 15 h 15"/>
                <a:gd name="T2" fmla="*/ 0 w 79"/>
                <a:gd name="T3" fmla="*/ 15 h 15"/>
                <a:gd name="T4" fmla="*/ 3 w 79"/>
                <a:gd name="T5" fmla="*/ 14 h 15"/>
                <a:gd name="T6" fmla="*/ 4 w 79"/>
                <a:gd name="T7" fmla="*/ 14 h 15"/>
                <a:gd name="T8" fmla="*/ 7 w 79"/>
                <a:gd name="T9" fmla="*/ 13 h 15"/>
                <a:gd name="T10" fmla="*/ 11 w 79"/>
                <a:gd name="T11" fmla="*/ 12 h 15"/>
                <a:gd name="T12" fmla="*/ 14 w 79"/>
                <a:gd name="T13" fmla="*/ 10 h 15"/>
                <a:gd name="T14" fmla="*/ 19 w 79"/>
                <a:gd name="T15" fmla="*/ 9 h 15"/>
                <a:gd name="T16" fmla="*/ 24 w 79"/>
                <a:gd name="T17" fmla="*/ 8 h 15"/>
                <a:gd name="T18" fmla="*/ 30 w 79"/>
                <a:gd name="T19" fmla="*/ 8 h 15"/>
                <a:gd name="T20" fmla="*/ 35 w 79"/>
                <a:gd name="T21" fmla="*/ 7 h 15"/>
                <a:gd name="T22" fmla="*/ 42 w 79"/>
                <a:gd name="T23" fmla="*/ 7 h 15"/>
                <a:gd name="T24" fmla="*/ 48 w 79"/>
                <a:gd name="T25" fmla="*/ 6 h 15"/>
                <a:gd name="T26" fmla="*/ 55 w 79"/>
                <a:gd name="T27" fmla="*/ 7 h 15"/>
                <a:gd name="T28" fmla="*/ 62 w 79"/>
                <a:gd name="T29" fmla="*/ 7 h 15"/>
                <a:gd name="T30" fmla="*/ 69 w 79"/>
                <a:gd name="T31" fmla="*/ 8 h 15"/>
                <a:gd name="T32" fmla="*/ 76 w 79"/>
                <a:gd name="T33" fmla="*/ 9 h 15"/>
                <a:gd name="T34" fmla="*/ 79 w 79"/>
                <a:gd name="T35" fmla="*/ 0 h 15"/>
                <a:gd name="T36" fmla="*/ 79 w 79"/>
                <a:gd name="T37" fmla="*/ 0 h 15"/>
                <a:gd name="T38" fmla="*/ 76 w 79"/>
                <a:gd name="T39" fmla="*/ 0 h 15"/>
                <a:gd name="T40" fmla="*/ 74 w 79"/>
                <a:gd name="T41" fmla="*/ 0 h 15"/>
                <a:gd name="T42" fmla="*/ 70 w 79"/>
                <a:gd name="T43" fmla="*/ 0 h 15"/>
                <a:gd name="T44" fmla="*/ 66 w 79"/>
                <a:gd name="T45" fmla="*/ 0 h 15"/>
                <a:gd name="T46" fmla="*/ 61 w 79"/>
                <a:gd name="T47" fmla="*/ 0 h 15"/>
                <a:gd name="T48" fmla="*/ 56 w 79"/>
                <a:gd name="T49" fmla="*/ 0 h 15"/>
                <a:gd name="T50" fmla="*/ 51 w 79"/>
                <a:gd name="T51" fmla="*/ 1 h 15"/>
                <a:gd name="T52" fmla="*/ 44 w 79"/>
                <a:gd name="T53" fmla="*/ 1 h 15"/>
                <a:gd name="T54" fmla="*/ 38 w 79"/>
                <a:gd name="T55" fmla="*/ 1 h 15"/>
                <a:gd name="T56" fmla="*/ 31 w 79"/>
                <a:gd name="T57" fmla="*/ 2 h 15"/>
                <a:gd name="T58" fmla="*/ 25 w 79"/>
                <a:gd name="T59" fmla="*/ 3 h 15"/>
                <a:gd name="T60" fmla="*/ 18 w 79"/>
                <a:gd name="T61" fmla="*/ 5 h 15"/>
                <a:gd name="T62" fmla="*/ 12 w 79"/>
                <a:gd name="T63" fmla="*/ 6 h 15"/>
                <a:gd name="T64" fmla="*/ 6 w 79"/>
                <a:gd name="T65" fmla="*/ 7 h 15"/>
                <a:gd name="T66" fmla="*/ 0 w 79"/>
                <a:gd name="T67" fmla="*/ 8 h 15"/>
                <a:gd name="T68" fmla="*/ 0 w 79"/>
                <a:gd name="T6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 h="15">
                  <a:moveTo>
                    <a:pt x="0" y="15"/>
                  </a:moveTo>
                  <a:lnTo>
                    <a:pt x="0" y="15"/>
                  </a:lnTo>
                  <a:lnTo>
                    <a:pt x="3" y="14"/>
                  </a:lnTo>
                  <a:lnTo>
                    <a:pt x="4" y="14"/>
                  </a:lnTo>
                  <a:lnTo>
                    <a:pt x="7" y="13"/>
                  </a:lnTo>
                  <a:lnTo>
                    <a:pt x="11" y="12"/>
                  </a:lnTo>
                  <a:lnTo>
                    <a:pt x="14" y="10"/>
                  </a:lnTo>
                  <a:lnTo>
                    <a:pt x="19" y="9"/>
                  </a:lnTo>
                  <a:lnTo>
                    <a:pt x="24" y="8"/>
                  </a:lnTo>
                  <a:lnTo>
                    <a:pt x="30" y="8"/>
                  </a:lnTo>
                  <a:lnTo>
                    <a:pt x="35" y="7"/>
                  </a:lnTo>
                  <a:lnTo>
                    <a:pt x="42" y="7"/>
                  </a:lnTo>
                  <a:lnTo>
                    <a:pt x="48" y="6"/>
                  </a:lnTo>
                  <a:lnTo>
                    <a:pt x="55" y="7"/>
                  </a:lnTo>
                  <a:lnTo>
                    <a:pt x="62" y="7"/>
                  </a:lnTo>
                  <a:lnTo>
                    <a:pt x="69" y="8"/>
                  </a:lnTo>
                  <a:lnTo>
                    <a:pt x="76" y="9"/>
                  </a:lnTo>
                  <a:lnTo>
                    <a:pt x="79" y="0"/>
                  </a:lnTo>
                  <a:lnTo>
                    <a:pt x="79" y="0"/>
                  </a:lnTo>
                  <a:lnTo>
                    <a:pt x="76" y="0"/>
                  </a:lnTo>
                  <a:lnTo>
                    <a:pt x="74" y="0"/>
                  </a:lnTo>
                  <a:lnTo>
                    <a:pt x="70" y="0"/>
                  </a:lnTo>
                  <a:lnTo>
                    <a:pt x="66" y="0"/>
                  </a:lnTo>
                  <a:lnTo>
                    <a:pt x="61" y="0"/>
                  </a:lnTo>
                  <a:lnTo>
                    <a:pt x="56" y="0"/>
                  </a:lnTo>
                  <a:lnTo>
                    <a:pt x="51" y="1"/>
                  </a:lnTo>
                  <a:lnTo>
                    <a:pt x="44" y="1"/>
                  </a:lnTo>
                  <a:lnTo>
                    <a:pt x="38" y="1"/>
                  </a:lnTo>
                  <a:lnTo>
                    <a:pt x="31" y="2"/>
                  </a:lnTo>
                  <a:lnTo>
                    <a:pt x="25" y="3"/>
                  </a:lnTo>
                  <a:lnTo>
                    <a:pt x="18" y="5"/>
                  </a:lnTo>
                  <a:lnTo>
                    <a:pt x="12" y="6"/>
                  </a:lnTo>
                  <a:lnTo>
                    <a:pt x="6" y="7"/>
                  </a:lnTo>
                  <a:lnTo>
                    <a:pt x="0" y="8"/>
                  </a:lnTo>
                  <a:lnTo>
                    <a:pt x="0" y="15"/>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39" name="Freeform 238"/>
            <p:cNvSpPr>
              <a:spLocks/>
            </p:cNvSpPr>
            <p:nvPr/>
          </p:nvSpPr>
          <p:spPr bwMode="auto">
            <a:xfrm>
              <a:off x="1222" y="2538"/>
              <a:ext cx="132" cy="45"/>
            </a:xfrm>
            <a:custGeom>
              <a:avLst/>
              <a:gdLst>
                <a:gd name="T0" fmla="*/ 55 w 132"/>
                <a:gd name="T1" fmla="*/ 43 h 45"/>
                <a:gd name="T2" fmla="*/ 56 w 132"/>
                <a:gd name="T3" fmla="*/ 43 h 45"/>
                <a:gd name="T4" fmla="*/ 56 w 132"/>
                <a:gd name="T5" fmla="*/ 42 h 45"/>
                <a:gd name="T6" fmla="*/ 57 w 132"/>
                <a:gd name="T7" fmla="*/ 42 h 45"/>
                <a:gd name="T8" fmla="*/ 59 w 132"/>
                <a:gd name="T9" fmla="*/ 41 h 45"/>
                <a:gd name="T10" fmla="*/ 61 w 132"/>
                <a:gd name="T11" fmla="*/ 41 h 45"/>
                <a:gd name="T12" fmla="*/ 63 w 132"/>
                <a:gd name="T13" fmla="*/ 40 h 45"/>
                <a:gd name="T14" fmla="*/ 65 w 132"/>
                <a:gd name="T15" fmla="*/ 39 h 45"/>
                <a:gd name="T16" fmla="*/ 68 w 132"/>
                <a:gd name="T17" fmla="*/ 38 h 45"/>
                <a:gd name="T18" fmla="*/ 71 w 132"/>
                <a:gd name="T19" fmla="*/ 36 h 45"/>
                <a:gd name="T20" fmla="*/ 73 w 132"/>
                <a:gd name="T21" fmla="*/ 34 h 45"/>
                <a:gd name="T22" fmla="*/ 76 w 132"/>
                <a:gd name="T23" fmla="*/ 33 h 45"/>
                <a:gd name="T24" fmla="*/ 78 w 132"/>
                <a:gd name="T25" fmla="*/ 32 h 45"/>
                <a:gd name="T26" fmla="*/ 80 w 132"/>
                <a:gd name="T27" fmla="*/ 29 h 45"/>
                <a:gd name="T28" fmla="*/ 82 w 132"/>
                <a:gd name="T29" fmla="*/ 28 h 45"/>
                <a:gd name="T30" fmla="*/ 84 w 132"/>
                <a:gd name="T31" fmla="*/ 26 h 45"/>
                <a:gd name="T32" fmla="*/ 85 w 132"/>
                <a:gd name="T33" fmla="*/ 24 h 45"/>
                <a:gd name="T34" fmla="*/ 0 w 132"/>
                <a:gd name="T35" fmla="*/ 3 h 45"/>
                <a:gd name="T36" fmla="*/ 6 w 132"/>
                <a:gd name="T37" fmla="*/ 0 h 45"/>
                <a:gd name="T38" fmla="*/ 132 w 132"/>
                <a:gd name="T39" fmla="*/ 32 h 45"/>
                <a:gd name="T40" fmla="*/ 126 w 132"/>
                <a:gd name="T41" fmla="*/ 34 h 45"/>
                <a:gd name="T42" fmla="*/ 90 w 132"/>
                <a:gd name="T43" fmla="*/ 25 h 45"/>
                <a:gd name="T44" fmla="*/ 90 w 132"/>
                <a:gd name="T45" fmla="*/ 25 h 45"/>
                <a:gd name="T46" fmla="*/ 90 w 132"/>
                <a:gd name="T47" fmla="*/ 26 h 45"/>
                <a:gd name="T48" fmla="*/ 89 w 132"/>
                <a:gd name="T49" fmla="*/ 26 h 45"/>
                <a:gd name="T50" fmla="*/ 89 w 132"/>
                <a:gd name="T51" fmla="*/ 27 h 45"/>
                <a:gd name="T52" fmla="*/ 87 w 132"/>
                <a:gd name="T53" fmla="*/ 28 h 45"/>
                <a:gd name="T54" fmla="*/ 86 w 132"/>
                <a:gd name="T55" fmla="*/ 29 h 45"/>
                <a:gd name="T56" fmla="*/ 85 w 132"/>
                <a:gd name="T57" fmla="*/ 31 h 45"/>
                <a:gd name="T58" fmla="*/ 83 w 132"/>
                <a:gd name="T59" fmla="*/ 32 h 45"/>
                <a:gd name="T60" fmla="*/ 80 w 132"/>
                <a:gd name="T61" fmla="*/ 33 h 45"/>
                <a:gd name="T62" fmla="*/ 78 w 132"/>
                <a:gd name="T63" fmla="*/ 35 h 45"/>
                <a:gd name="T64" fmla="*/ 76 w 132"/>
                <a:gd name="T65" fmla="*/ 36 h 45"/>
                <a:gd name="T66" fmla="*/ 72 w 132"/>
                <a:gd name="T67" fmla="*/ 38 h 45"/>
                <a:gd name="T68" fmla="*/ 70 w 132"/>
                <a:gd name="T69" fmla="*/ 40 h 45"/>
                <a:gd name="T70" fmla="*/ 65 w 132"/>
                <a:gd name="T71" fmla="*/ 41 h 45"/>
                <a:gd name="T72" fmla="*/ 62 w 132"/>
                <a:gd name="T73" fmla="*/ 43 h 45"/>
                <a:gd name="T74" fmla="*/ 57 w 132"/>
                <a:gd name="T75" fmla="*/ 45 h 45"/>
                <a:gd name="T76" fmla="*/ 55 w 132"/>
                <a:gd name="T77" fmla="*/ 4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45">
                  <a:moveTo>
                    <a:pt x="55" y="43"/>
                  </a:moveTo>
                  <a:lnTo>
                    <a:pt x="56" y="43"/>
                  </a:lnTo>
                  <a:lnTo>
                    <a:pt x="56" y="42"/>
                  </a:lnTo>
                  <a:lnTo>
                    <a:pt x="57" y="42"/>
                  </a:lnTo>
                  <a:lnTo>
                    <a:pt x="59" y="41"/>
                  </a:lnTo>
                  <a:lnTo>
                    <a:pt x="61" y="41"/>
                  </a:lnTo>
                  <a:lnTo>
                    <a:pt x="63" y="40"/>
                  </a:lnTo>
                  <a:lnTo>
                    <a:pt x="65" y="39"/>
                  </a:lnTo>
                  <a:lnTo>
                    <a:pt x="68" y="38"/>
                  </a:lnTo>
                  <a:lnTo>
                    <a:pt x="71" y="36"/>
                  </a:lnTo>
                  <a:lnTo>
                    <a:pt x="73" y="34"/>
                  </a:lnTo>
                  <a:lnTo>
                    <a:pt x="76" y="33"/>
                  </a:lnTo>
                  <a:lnTo>
                    <a:pt x="78" y="32"/>
                  </a:lnTo>
                  <a:lnTo>
                    <a:pt x="80" y="29"/>
                  </a:lnTo>
                  <a:lnTo>
                    <a:pt x="82" y="28"/>
                  </a:lnTo>
                  <a:lnTo>
                    <a:pt x="84" y="26"/>
                  </a:lnTo>
                  <a:lnTo>
                    <a:pt x="85" y="24"/>
                  </a:lnTo>
                  <a:lnTo>
                    <a:pt x="0" y="3"/>
                  </a:lnTo>
                  <a:lnTo>
                    <a:pt x="6" y="0"/>
                  </a:lnTo>
                  <a:lnTo>
                    <a:pt x="132" y="32"/>
                  </a:lnTo>
                  <a:lnTo>
                    <a:pt x="126" y="34"/>
                  </a:lnTo>
                  <a:lnTo>
                    <a:pt x="90" y="25"/>
                  </a:lnTo>
                  <a:lnTo>
                    <a:pt x="90" y="25"/>
                  </a:lnTo>
                  <a:lnTo>
                    <a:pt x="90" y="26"/>
                  </a:lnTo>
                  <a:lnTo>
                    <a:pt x="89" y="26"/>
                  </a:lnTo>
                  <a:lnTo>
                    <a:pt x="89" y="27"/>
                  </a:lnTo>
                  <a:lnTo>
                    <a:pt x="87" y="28"/>
                  </a:lnTo>
                  <a:lnTo>
                    <a:pt x="86" y="29"/>
                  </a:lnTo>
                  <a:lnTo>
                    <a:pt x="85" y="31"/>
                  </a:lnTo>
                  <a:lnTo>
                    <a:pt x="83" y="32"/>
                  </a:lnTo>
                  <a:lnTo>
                    <a:pt x="80" y="33"/>
                  </a:lnTo>
                  <a:lnTo>
                    <a:pt x="78" y="35"/>
                  </a:lnTo>
                  <a:lnTo>
                    <a:pt x="76" y="36"/>
                  </a:lnTo>
                  <a:lnTo>
                    <a:pt x="72" y="38"/>
                  </a:lnTo>
                  <a:lnTo>
                    <a:pt x="70" y="40"/>
                  </a:lnTo>
                  <a:lnTo>
                    <a:pt x="65" y="41"/>
                  </a:lnTo>
                  <a:lnTo>
                    <a:pt x="62" y="43"/>
                  </a:lnTo>
                  <a:lnTo>
                    <a:pt x="57" y="45"/>
                  </a:lnTo>
                  <a:lnTo>
                    <a:pt x="55"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40" name="Freeform 239"/>
            <p:cNvSpPr>
              <a:spLocks/>
            </p:cNvSpPr>
            <p:nvPr/>
          </p:nvSpPr>
          <p:spPr bwMode="auto">
            <a:xfrm>
              <a:off x="1194" y="2550"/>
              <a:ext cx="135" cy="40"/>
            </a:xfrm>
            <a:custGeom>
              <a:avLst/>
              <a:gdLst>
                <a:gd name="T0" fmla="*/ 0 w 135"/>
                <a:gd name="T1" fmla="*/ 0 h 40"/>
                <a:gd name="T2" fmla="*/ 132 w 135"/>
                <a:gd name="T3" fmla="*/ 40 h 40"/>
                <a:gd name="T4" fmla="*/ 135 w 135"/>
                <a:gd name="T5" fmla="*/ 40 h 40"/>
                <a:gd name="T6" fmla="*/ 5 w 135"/>
                <a:gd name="T7" fmla="*/ 0 h 40"/>
                <a:gd name="T8" fmla="*/ 0 w 135"/>
                <a:gd name="T9" fmla="*/ 0 h 40"/>
              </a:gdLst>
              <a:ahLst/>
              <a:cxnLst>
                <a:cxn ang="0">
                  <a:pos x="T0" y="T1"/>
                </a:cxn>
                <a:cxn ang="0">
                  <a:pos x="T2" y="T3"/>
                </a:cxn>
                <a:cxn ang="0">
                  <a:pos x="T4" y="T5"/>
                </a:cxn>
                <a:cxn ang="0">
                  <a:pos x="T6" y="T7"/>
                </a:cxn>
                <a:cxn ang="0">
                  <a:pos x="T8" y="T9"/>
                </a:cxn>
              </a:cxnLst>
              <a:rect l="0" t="0" r="r" b="b"/>
              <a:pathLst>
                <a:path w="135" h="40">
                  <a:moveTo>
                    <a:pt x="0" y="0"/>
                  </a:moveTo>
                  <a:lnTo>
                    <a:pt x="132" y="40"/>
                  </a:lnTo>
                  <a:lnTo>
                    <a:pt x="135" y="40"/>
                  </a:lnTo>
                  <a:lnTo>
                    <a:pt x="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41" name="Freeform 240"/>
            <p:cNvSpPr>
              <a:spLocks/>
            </p:cNvSpPr>
            <p:nvPr/>
          </p:nvSpPr>
          <p:spPr bwMode="auto">
            <a:xfrm>
              <a:off x="1217" y="2545"/>
              <a:ext cx="132" cy="35"/>
            </a:xfrm>
            <a:custGeom>
              <a:avLst/>
              <a:gdLst>
                <a:gd name="T0" fmla="*/ 0 w 132"/>
                <a:gd name="T1" fmla="*/ 0 h 35"/>
                <a:gd name="T2" fmla="*/ 130 w 132"/>
                <a:gd name="T3" fmla="*/ 35 h 35"/>
                <a:gd name="T4" fmla="*/ 132 w 132"/>
                <a:gd name="T5" fmla="*/ 35 h 35"/>
                <a:gd name="T6" fmla="*/ 4 w 132"/>
                <a:gd name="T7" fmla="*/ 0 h 35"/>
                <a:gd name="T8" fmla="*/ 0 w 132"/>
                <a:gd name="T9" fmla="*/ 0 h 35"/>
              </a:gdLst>
              <a:ahLst/>
              <a:cxnLst>
                <a:cxn ang="0">
                  <a:pos x="T0" y="T1"/>
                </a:cxn>
                <a:cxn ang="0">
                  <a:pos x="T2" y="T3"/>
                </a:cxn>
                <a:cxn ang="0">
                  <a:pos x="T4" y="T5"/>
                </a:cxn>
                <a:cxn ang="0">
                  <a:pos x="T6" y="T7"/>
                </a:cxn>
                <a:cxn ang="0">
                  <a:pos x="T8" y="T9"/>
                </a:cxn>
              </a:cxnLst>
              <a:rect l="0" t="0" r="r" b="b"/>
              <a:pathLst>
                <a:path w="132" h="35">
                  <a:moveTo>
                    <a:pt x="0" y="0"/>
                  </a:moveTo>
                  <a:lnTo>
                    <a:pt x="130" y="35"/>
                  </a:lnTo>
                  <a:lnTo>
                    <a:pt x="132" y="35"/>
                  </a:lnTo>
                  <a:lnTo>
                    <a:pt x="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42" name="Freeform 241"/>
            <p:cNvSpPr>
              <a:spLocks/>
            </p:cNvSpPr>
            <p:nvPr/>
          </p:nvSpPr>
          <p:spPr bwMode="auto">
            <a:xfrm>
              <a:off x="1207" y="2546"/>
              <a:ext cx="133" cy="39"/>
            </a:xfrm>
            <a:custGeom>
              <a:avLst/>
              <a:gdLst>
                <a:gd name="T0" fmla="*/ 0 w 133"/>
                <a:gd name="T1" fmla="*/ 0 h 39"/>
                <a:gd name="T2" fmla="*/ 130 w 133"/>
                <a:gd name="T3" fmla="*/ 39 h 39"/>
                <a:gd name="T4" fmla="*/ 133 w 133"/>
                <a:gd name="T5" fmla="*/ 39 h 39"/>
                <a:gd name="T6" fmla="*/ 3 w 133"/>
                <a:gd name="T7" fmla="*/ 0 h 39"/>
                <a:gd name="T8" fmla="*/ 0 w 133"/>
                <a:gd name="T9" fmla="*/ 0 h 39"/>
              </a:gdLst>
              <a:ahLst/>
              <a:cxnLst>
                <a:cxn ang="0">
                  <a:pos x="T0" y="T1"/>
                </a:cxn>
                <a:cxn ang="0">
                  <a:pos x="T2" y="T3"/>
                </a:cxn>
                <a:cxn ang="0">
                  <a:pos x="T4" y="T5"/>
                </a:cxn>
                <a:cxn ang="0">
                  <a:pos x="T6" y="T7"/>
                </a:cxn>
                <a:cxn ang="0">
                  <a:pos x="T8" y="T9"/>
                </a:cxn>
              </a:cxnLst>
              <a:rect l="0" t="0" r="r" b="b"/>
              <a:pathLst>
                <a:path w="133" h="39">
                  <a:moveTo>
                    <a:pt x="0" y="0"/>
                  </a:moveTo>
                  <a:lnTo>
                    <a:pt x="130" y="39"/>
                  </a:lnTo>
                  <a:lnTo>
                    <a:pt x="133" y="39"/>
                  </a:lnTo>
                  <a:lnTo>
                    <a:pt x="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43" name="Freeform 242"/>
            <p:cNvSpPr>
              <a:spLocks/>
            </p:cNvSpPr>
            <p:nvPr/>
          </p:nvSpPr>
          <p:spPr bwMode="auto">
            <a:xfrm>
              <a:off x="1176" y="2084"/>
              <a:ext cx="249" cy="209"/>
            </a:xfrm>
            <a:custGeom>
              <a:avLst/>
              <a:gdLst>
                <a:gd name="T0" fmla="*/ 70 w 249"/>
                <a:gd name="T1" fmla="*/ 14 h 209"/>
                <a:gd name="T2" fmla="*/ 70 w 249"/>
                <a:gd name="T3" fmla="*/ 14 h 209"/>
                <a:gd name="T4" fmla="*/ 73 w 249"/>
                <a:gd name="T5" fmla="*/ 14 h 209"/>
                <a:gd name="T6" fmla="*/ 75 w 249"/>
                <a:gd name="T7" fmla="*/ 13 h 209"/>
                <a:gd name="T8" fmla="*/ 79 w 249"/>
                <a:gd name="T9" fmla="*/ 11 h 209"/>
                <a:gd name="T10" fmla="*/ 83 w 249"/>
                <a:gd name="T11" fmla="*/ 10 h 209"/>
                <a:gd name="T12" fmla="*/ 88 w 249"/>
                <a:gd name="T13" fmla="*/ 9 h 209"/>
                <a:gd name="T14" fmla="*/ 95 w 249"/>
                <a:gd name="T15" fmla="*/ 8 h 209"/>
                <a:gd name="T16" fmla="*/ 103 w 249"/>
                <a:gd name="T17" fmla="*/ 6 h 209"/>
                <a:gd name="T18" fmla="*/ 111 w 249"/>
                <a:gd name="T19" fmla="*/ 4 h 209"/>
                <a:gd name="T20" fmla="*/ 121 w 249"/>
                <a:gd name="T21" fmla="*/ 3 h 209"/>
                <a:gd name="T22" fmla="*/ 132 w 249"/>
                <a:gd name="T23" fmla="*/ 2 h 209"/>
                <a:gd name="T24" fmla="*/ 144 w 249"/>
                <a:gd name="T25" fmla="*/ 1 h 209"/>
                <a:gd name="T26" fmla="*/ 157 w 249"/>
                <a:gd name="T27" fmla="*/ 0 h 209"/>
                <a:gd name="T28" fmla="*/ 170 w 249"/>
                <a:gd name="T29" fmla="*/ 0 h 209"/>
                <a:gd name="T30" fmla="*/ 185 w 249"/>
                <a:gd name="T31" fmla="*/ 0 h 209"/>
                <a:gd name="T32" fmla="*/ 201 w 249"/>
                <a:gd name="T33" fmla="*/ 0 h 209"/>
                <a:gd name="T34" fmla="*/ 208 w 249"/>
                <a:gd name="T35" fmla="*/ 28 h 209"/>
                <a:gd name="T36" fmla="*/ 210 w 249"/>
                <a:gd name="T37" fmla="*/ 29 h 209"/>
                <a:gd name="T38" fmla="*/ 216 w 249"/>
                <a:gd name="T39" fmla="*/ 34 h 209"/>
                <a:gd name="T40" fmla="*/ 222 w 249"/>
                <a:gd name="T41" fmla="*/ 39 h 209"/>
                <a:gd name="T42" fmla="*/ 226 w 249"/>
                <a:gd name="T43" fmla="*/ 50 h 209"/>
                <a:gd name="T44" fmla="*/ 240 w 249"/>
                <a:gd name="T45" fmla="*/ 117 h 209"/>
                <a:gd name="T46" fmla="*/ 247 w 249"/>
                <a:gd name="T47" fmla="*/ 145 h 209"/>
                <a:gd name="T48" fmla="*/ 247 w 249"/>
                <a:gd name="T49" fmla="*/ 146 h 209"/>
                <a:gd name="T50" fmla="*/ 248 w 249"/>
                <a:gd name="T51" fmla="*/ 152 h 209"/>
                <a:gd name="T52" fmla="*/ 248 w 249"/>
                <a:gd name="T53" fmla="*/ 160 h 209"/>
                <a:gd name="T54" fmla="*/ 244 w 249"/>
                <a:gd name="T55" fmla="*/ 170 h 209"/>
                <a:gd name="T56" fmla="*/ 0 w 249"/>
                <a:gd name="T57" fmla="*/ 163 h 209"/>
                <a:gd name="T58" fmla="*/ 25 w 249"/>
                <a:gd name="T59" fmla="*/ 150 h 209"/>
                <a:gd name="T60" fmla="*/ 25 w 249"/>
                <a:gd name="T61" fmla="*/ 28 h 209"/>
                <a:gd name="T62" fmla="*/ 26 w 249"/>
                <a:gd name="T63" fmla="*/ 27 h 209"/>
                <a:gd name="T64" fmla="*/ 28 w 249"/>
                <a:gd name="T65" fmla="*/ 25 h 209"/>
                <a:gd name="T66" fmla="*/ 32 w 249"/>
                <a:gd name="T67" fmla="*/ 24 h 209"/>
                <a:gd name="T68" fmla="*/ 37 w 249"/>
                <a:gd name="T69" fmla="*/ 23 h 209"/>
                <a:gd name="T70" fmla="*/ 42 w 249"/>
                <a:gd name="T71" fmla="*/ 22 h 209"/>
                <a:gd name="T72" fmla="*/ 49 w 249"/>
                <a:gd name="T73" fmla="*/ 22 h 209"/>
                <a:gd name="T74" fmla="*/ 58 w 249"/>
                <a:gd name="T75" fmla="*/ 23 h 209"/>
                <a:gd name="T76" fmla="*/ 68 w 249"/>
                <a:gd name="T77" fmla="*/ 27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9" h="209">
                  <a:moveTo>
                    <a:pt x="68" y="27"/>
                  </a:moveTo>
                  <a:lnTo>
                    <a:pt x="70" y="14"/>
                  </a:lnTo>
                  <a:lnTo>
                    <a:pt x="70" y="14"/>
                  </a:lnTo>
                  <a:lnTo>
                    <a:pt x="70" y="14"/>
                  </a:lnTo>
                  <a:lnTo>
                    <a:pt x="72" y="14"/>
                  </a:lnTo>
                  <a:lnTo>
                    <a:pt x="73" y="14"/>
                  </a:lnTo>
                  <a:lnTo>
                    <a:pt x="74" y="13"/>
                  </a:lnTo>
                  <a:lnTo>
                    <a:pt x="75" y="13"/>
                  </a:lnTo>
                  <a:lnTo>
                    <a:pt x="76" y="13"/>
                  </a:lnTo>
                  <a:lnTo>
                    <a:pt x="79" y="11"/>
                  </a:lnTo>
                  <a:lnTo>
                    <a:pt x="81" y="11"/>
                  </a:lnTo>
                  <a:lnTo>
                    <a:pt x="83" y="10"/>
                  </a:lnTo>
                  <a:lnTo>
                    <a:pt x="86" y="10"/>
                  </a:lnTo>
                  <a:lnTo>
                    <a:pt x="88" y="9"/>
                  </a:lnTo>
                  <a:lnTo>
                    <a:pt x="91" y="8"/>
                  </a:lnTo>
                  <a:lnTo>
                    <a:pt x="95" y="8"/>
                  </a:lnTo>
                  <a:lnTo>
                    <a:pt x="98" y="7"/>
                  </a:lnTo>
                  <a:lnTo>
                    <a:pt x="103" y="6"/>
                  </a:lnTo>
                  <a:lnTo>
                    <a:pt x="107" y="6"/>
                  </a:lnTo>
                  <a:lnTo>
                    <a:pt x="111" y="4"/>
                  </a:lnTo>
                  <a:lnTo>
                    <a:pt x="116" y="4"/>
                  </a:lnTo>
                  <a:lnTo>
                    <a:pt x="121" y="3"/>
                  </a:lnTo>
                  <a:lnTo>
                    <a:pt x="126" y="2"/>
                  </a:lnTo>
                  <a:lnTo>
                    <a:pt x="132" y="2"/>
                  </a:lnTo>
                  <a:lnTo>
                    <a:pt x="137" y="1"/>
                  </a:lnTo>
                  <a:lnTo>
                    <a:pt x="144" y="1"/>
                  </a:lnTo>
                  <a:lnTo>
                    <a:pt x="150" y="1"/>
                  </a:lnTo>
                  <a:lnTo>
                    <a:pt x="157" y="0"/>
                  </a:lnTo>
                  <a:lnTo>
                    <a:pt x="163" y="0"/>
                  </a:lnTo>
                  <a:lnTo>
                    <a:pt x="170" y="0"/>
                  </a:lnTo>
                  <a:lnTo>
                    <a:pt x="178" y="0"/>
                  </a:lnTo>
                  <a:lnTo>
                    <a:pt x="185" y="0"/>
                  </a:lnTo>
                  <a:lnTo>
                    <a:pt x="193" y="0"/>
                  </a:lnTo>
                  <a:lnTo>
                    <a:pt x="201" y="0"/>
                  </a:lnTo>
                  <a:lnTo>
                    <a:pt x="210" y="4"/>
                  </a:lnTo>
                  <a:lnTo>
                    <a:pt x="208" y="28"/>
                  </a:lnTo>
                  <a:lnTo>
                    <a:pt x="208" y="29"/>
                  </a:lnTo>
                  <a:lnTo>
                    <a:pt x="210" y="29"/>
                  </a:lnTo>
                  <a:lnTo>
                    <a:pt x="213" y="31"/>
                  </a:lnTo>
                  <a:lnTo>
                    <a:pt x="216" y="34"/>
                  </a:lnTo>
                  <a:lnTo>
                    <a:pt x="220" y="36"/>
                  </a:lnTo>
                  <a:lnTo>
                    <a:pt x="222" y="39"/>
                  </a:lnTo>
                  <a:lnTo>
                    <a:pt x="224" y="44"/>
                  </a:lnTo>
                  <a:lnTo>
                    <a:pt x="226" y="50"/>
                  </a:lnTo>
                  <a:lnTo>
                    <a:pt x="245" y="69"/>
                  </a:lnTo>
                  <a:lnTo>
                    <a:pt x="240" y="117"/>
                  </a:lnTo>
                  <a:lnTo>
                    <a:pt x="208" y="133"/>
                  </a:lnTo>
                  <a:lnTo>
                    <a:pt x="247" y="145"/>
                  </a:lnTo>
                  <a:lnTo>
                    <a:pt x="247" y="145"/>
                  </a:lnTo>
                  <a:lnTo>
                    <a:pt x="247" y="146"/>
                  </a:lnTo>
                  <a:lnTo>
                    <a:pt x="248" y="148"/>
                  </a:lnTo>
                  <a:lnTo>
                    <a:pt x="248" y="152"/>
                  </a:lnTo>
                  <a:lnTo>
                    <a:pt x="249" y="155"/>
                  </a:lnTo>
                  <a:lnTo>
                    <a:pt x="248" y="160"/>
                  </a:lnTo>
                  <a:lnTo>
                    <a:pt x="247" y="164"/>
                  </a:lnTo>
                  <a:lnTo>
                    <a:pt x="244" y="170"/>
                  </a:lnTo>
                  <a:lnTo>
                    <a:pt x="144" y="209"/>
                  </a:lnTo>
                  <a:lnTo>
                    <a:pt x="0" y="163"/>
                  </a:lnTo>
                  <a:lnTo>
                    <a:pt x="3" y="159"/>
                  </a:lnTo>
                  <a:lnTo>
                    <a:pt x="25" y="150"/>
                  </a:lnTo>
                  <a:lnTo>
                    <a:pt x="25" y="28"/>
                  </a:lnTo>
                  <a:lnTo>
                    <a:pt x="25" y="28"/>
                  </a:lnTo>
                  <a:lnTo>
                    <a:pt x="25" y="28"/>
                  </a:lnTo>
                  <a:lnTo>
                    <a:pt x="26" y="27"/>
                  </a:lnTo>
                  <a:lnTo>
                    <a:pt x="27" y="27"/>
                  </a:lnTo>
                  <a:lnTo>
                    <a:pt x="28" y="25"/>
                  </a:lnTo>
                  <a:lnTo>
                    <a:pt x="31" y="25"/>
                  </a:lnTo>
                  <a:lnTo>
                    <a:pt x="32" y="24"/>
                  </a:lnTo>
                  <a:lnTo>
                    <a:pt x="34" y="23"/>
                  </a:lnTo>
                  <a:lnTo>
                    <a:pt x="37" y="23"/>
                  </a:lnTo>
                  <a:lnTo>
                    <a:pt x="40" y="22"/>
                  </a:lnTo>
                  <a:lnTo>
                    <a:pt x="42" y="22"/>
                  </a:lnTo>
                  <a:lnTo>
                    <a:pt x="46" y="22"/>
                  </a:lnTo>
                  <a:lnTo>
                    <a:pt x="49" y="22"/>
                  </a:lnTo>
                  <a:lnTo>
                    <a:pt x="53" y="22"/>
                  </a:lnTo>
                  <a:lnTo>
                    <a:pt x="58" y="23"/>
                  </a:lnTo>
                  <a:lnTo>
                    <a:pt x="61" y="24"/>
                  </a:lnTo>
                  <a:lnTo>
                    <a:pt x="6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44" name="Freeform 243"/>
            <p:cNvSpPr>
              <a:spLocks/>
            </p:cNvSpPr>
            <p:nvPr/>
          </p:nvSpPr>
          <p:spPr bwMode="auto">
            <a:xfrm>
              <a:off x="1263" y="2099"/>
              <a:ext cx="79" cy="91"/>
            </a:xfrm>
            <a:custGeom>
              <a:avLst/>
              <a:gdLst>
                <a:gd name="T0" fmla="*/ 78 w 79"/>
                <a:gd name="T1" fmla="*/ 3 h 91"/>
                <a:gd name="T2" fmla="*/ 78 w 79"/>
                <a:gd name="T3" fmla="*/ 3 h 91"/>
                <a:gd name="T4" fmla="*/ 77 w 79"/>
                <a:gd name="T5" fmla="*/ 3 h 91"/>
                <a:gd name="T6" fmla="*/ 74 w 79"/>
                <a:gd name="T7" fmla="*/ 2 h 91"/>
                <a:gd name="T8" fmla="*/ 72 w 79"/>
                <a:gd name="T9" fmla="*/ 2 h 91"/>
                <a:gd name="T10" fmla="*/ 69 w 79"/>
                <a:gd name="T11" fmla="*/ 1 h 91"/>
                <a:gd name="T12" fmla="*/ 65 w 79"/>
                <a:gd name="T13" fmla="*/ 1 h 91"/>
                <a:gd name="T14" fmla="*/ 60 w 79"/>
                <a:gd name="T15" fmla="*/ 1 h 91"/>
                <a:gd name="T16" fmla="*/ 56 w 79"/>
                <a:gd name="T17" fmla="*/ 0 h 91"/>
                <a:gd name="T18" fmla="*/ 50 w 79"/>
                <a:gd name="T19" fmla="*/ 0 h 91"/>
                <a:gd name="T20" fmla="*/ 44 w 79"/>
                <a:gd name="T21" fmla="*/ 1 h 91"/>
                <a:gd name="T22" fmla="*/ 38 w 79"/>
                <a:gd name="T23" fmla="*/ 1 h 91"/>
                <a:gd name="T24" fmla="*/ 31 w 79"/>
                <a:gd name="T25" fmla="*/ 2 h 91"/>
                <a:gd name="T26" fmla="*/ 25 w 79"/>
                <a:gd name="T27" fmla="*/ 3 h 91"/>
                <a:gd name="T28" fmla="*/ 18 w 79"/>
                <a:gd name="T29" fmla="*/ 6 h 91"/>
                <a:gd name="T30" fmla="*/ 11 w 79"/>
                <a:gd name="T31" fmla="*/ 8 h 91"/>
                <a:gd name="T32" fmla="*/ 4 w 79"/>
                <a:gd name="T33" fmla="*/ 12 h 91"/>
                <a:gd name="T34" fmla="*/ 4 w 79"/>
                <a:gd name="T35" fmla="*/ 13 h 91"/>
                <a:gd name="T36" fmla="*/ 3 w 79"/>
                <a:gd name="T37" fmla="*/ 17 h 91"/>
                <a:gd name="T38" fmla="*/ 1 w 79"/>
                <a:gd name="T39" fmla="*/ 26 h 91"/>
                <a:gd name="T40" fmla="*/ 0 w 79"/>
                <a:gd name="T41" fmla="*/ 35 h 91"/>
                <a:gd name="T42" fmla="*/ 0 w 79"/>
                <a:gd name="T43" fmla="*/ 47 h 91"/>
                <a:gd name="T44" fmla="*/ 0 w 79"/>
                <a:gd name="T45" fmla="*/ 61 h 91"/>
                <a:gd name="T46" fmla="*/ 2 w 79"/>
                <a:gd name="T47" fmla="*/ 75 h 91"/>
                <a:gd name="T48" fmla="*/ 6 w 79"/>
                <a:gd name="T49" fmla="*/ 89 h 91"/>
                <a:gd name="T50" fmla="*/ 7 w 79"/>
                <a:gd name="T51" fmla="*/ 89 h 91"/>
                <a:gd name="T52" fmla="*/ 8 w 79"/>
                <a:gd name="T53" fmla="*/ 89 h 91"/>
                <a:gd name="T54" fmla="*/ 9 w 79"/>
                <a:gd name="T55" fmla="*/ 89 h 91"/>
                <a:gd name="T56" fmla="*/ 11 w 79"/>
                <a:gd name="T57" fmla="*/ 89 h 91"/>
                <a:gd name="T58" fmla="*/ 15 w 79"/>
                <a:gd name="T59" fmla="*/ 88 h 91"/>
                <a:gd name="T60" fmla="*/ 18 w 79"/>
                <a:gd name="T61" fmla="*/ 88 h 91"/>
                <a:gd name="T62" fmla="*/ 22 w 79"/>
                <a:gd name="T63" fmla="*/ 88 h 91"/>
                <a:gd name="T64" fmla="*/ 27 w 79"/>
                <a:gd name="T65" fmla="*/ 88 h 91"/>
                <a:gd name="T66" fmla="*/ 32 w 79"/>
                <a:gd name="T67" fmla="*/ 88 h 91"/>
                <a:gd name="T68" fmla="*/ 38 w 79"/>
                <a:gd name="T69" fmla="*/ 88 h 91"/>
                <a:gd name="T70" fmla="*/ 44 w 79"/>
                <a:gd name="T71" fmla="*/ 88 h 91"/>
                <a:gd name="T72" fmla="*/ 50 w 79"/>
                <a:gd name="T73" fmla="*/ 88 h 91"/>
                <a:gd name="T74" fmla="*/ 57 w 79"/>
                <a:gd name="T75" fmla="*/ 89 h 91"/>
                <a:gd name="T76" fmla="*/ 64 w 79"/>
                <a:gd name="T77" fmla="*/ 89 h 91"/>
                <a:gd name="T78" fmla="*/ 71 w 79"/>
                <a:gd name="T79" fmla="*/ 90 h 91"/>
                <a:gd name="T80" fmla="*/ 79 w 79"/>
                <a:gd name="T81" fmla="*/ 91 h 91"/>
                <a:gd name="T82" fmla="*/ 79 w 79"/>
                <a:gd name="T83" fmla="*/ 89 h 91"/>
                <a:gd name="T84" fmla="*/ 78 w 79"/>
                <a:gd name="T85" fmla="*/ 82 h 91"/>
                <a:gd name="T86" fmla="*/ 77 w 79"/>
                <a:gd name="T87" fmla="*/ 70 h 91"/>
                <a:gd name="T88" fmla="*/ 76 w 79"/>
                <a:gd name="T89" fmla="*/ 57 h 91"/>
                <a:gd name="T90" fmla="*/ 76 w 79"/>
                <a:gd name="T91" fmla="*/ 43 h 91"/>
                <a:gd name="T92" fmla="*/ 76 w 79"/>
                <a:gd name="T93" fmla="*/ 29 h 91"/>
                <a:gd name="T94" fmla="*/ 77 w 79"/>
                <a:gd name="T95" fmla="*/ 15 h 91"/>
                <a:gd name="T96" fmla="*/ 78 w 79"/>
                <a:gd name="T97" fmla="*/ 3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9" h="91">
                  <a:moveTo>
                    <a:pt x="78" y="3"/>
                  </a:moveTo>
                  <a:lnTo>
                    <a:pt x="78" y="3"/>
                  </a:lnTo>
                  <a:lnTo>
                    <a:pt x="77" y="3"/>
                  </a:lnTo>
                  <a:lnTo>
                    <a:pt x="74" y="2"/>
                  </a:lnTo>
                  <a:lnTo>
                    <a:pt x="72" y="2"/>
                  </a:lnTo>
                  <a:lnTo>
                    <a:pt x="69" y="1"/>
                  </a:lnTo>
                  <a:lnTo>
                    <a:pt x="65" y="1"/>
                  </a:lnTo>
                  <a:lnTo>
                    <a:pt x="60" y="1"/>
                  </a:lnTo>
                  <a:lnTo>
                    <a:pt x="56" y="0"/>
                  </a:lnTo>
                  <a:lnTo>
                    <a:pt x="50" y="0"/>
                  </a:lnTo>
                  <a:lnTo>
                    <a:pt x="44" y="1"/>
                  </a:lnTo>
                  <a:lnTo>
                    <a:pt x="38" y="1"/>
                  </a:lnTo>
                  <a:lnTo>
                    <a:pt x="31" y="2"/>
                  </a:lnTo>
                  <a:lnTo>
                    <a:pt x="25" y="3"/>
                  </a:lnTo>
                  <a:lnTo>
                    <a:pt x="18" y="6"/>
                  </a:lnTo>
                  <a:lnTo>
                    <a:pt x="11" y="8"/>
                  </a:lnTo>
                  <a:lnTo>
                    <a:pt x="4" y="12"/>
                  </a:lnTo>
                  <a:lnTo>
                    <a:pt x="4" y="13"/>
                  </a:lnTo>
                  <a:lnTo>
                    <a:pt x="3" y="17"/>
                  </a:lnTo>
                  <a:lnTo>
                    <a:pt x="1" y="26"/>
                  </a:lnTo>
                  <a:lnTo>
                    <a:pt x="0" y="35"/>
                  </a:lnTo>
                  <a:lnTo>
                    <a:pt x="0" y="47"/>
                  </a:lnTo>
                  <a:lnTo>
                    <a:pt x="0" y="61"/>
                  </a:lnTo>
                  <a:lnTo>
                    <a:pt x="2" y="75"/>
                  </a:lnTo>
                  <a:lnTo>
                    <a:pt x="6" y="89"/>
                  </a:lnTo>
                  <a:lnTo>
                    <a:pt x="7" y="89"/>
                  </a:lnTo>
                  <a:lnTo>
                    <a:pt x="8" y="89"/>
                  </a:lnTo>
                  <a:lnTo>
                    <a:pt x="9" y="89"/>
                  </a:lnTo>
                  <a:lnTo>
                    <a:pt x="11" y="89"/>
                  </a:lnTo>
                  <a:lnTo>
                    <a:pt x="15" y="88"/>
                  </a:lnTo>
                  <a:lnTo>
                    <a:pt x="18" y="88"/>
                  </a:lnTo>
                  <a:lnTo>
                    <a:pt x="22" y="88"/>
                  </a:lnTo>
                  <a:lnTo>
                    <a:pt x="27" y="88"/>
                  </a:lnTo>
                  <a:lnTo>
                    <a:pt x="32" y="88"/>
                  </a:lnTo>
                  <a:lnTo>
                    <a:pt x="38" y="88"/>
                  </a:lnTo>
                  <a:lnTo>
                    <a:pt x="44" y="88"/>
                  </a:lnTo>
                  <a:lnTo>
                    <a:pt x="50" y="88"/>
                  </a:lnTo>
                  <a:lnTo>
                    <a:pt x="57" y="89"/>
                  </a:lnTo>
                  <a:lnTo>
                    <a:pt x="64" y="89"/>
                  </a:lnTo>
                  <a:lnTo>
                    <a:pt x="71" y="90"/>
                  </a:lnTo>
                  <a:lnTo>
                    <a:pt x="79" y="91"/>
                  </a:lnTo>
                  <a:lnTo>
                    <a:pt x="79" y="89"/>
                  </a:lnTo>
                  <a:lnTo>
                    <a:pt x="78" y="82"/>
                  </a:lnTo>
                  <a:lnTo>
                    <a:pt x="77" y="70"/>
                  </a:lnTo>
                  <a:lnTo>
                    <a:pt x="76" y="57"/>
                  </a:lnTo>
                  <a:lnTo>
                    <a:pt x="76" y="43"/>
                  </a:lnTo>
                  <a:lnTo>
                    <a:pt x="76" y="29"/>
                  </a:lnTo>
                  <a:lnTo>
                    <a:pt x="77" y="15"/>
                  </a:lnTo>
                  <a:lnTo>
                    <a:pt x="78" y="3"/>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45" name="Freeform 244"/>
            <p:cNvSpPr>
              <a:spLocks/>
            </p:cNvSpPr>
            <p:nvPr/>
          </p:nvSpPr>
          <p:spPr bwMode="auto">
            <a:xfrm>
              <a:off x="1271" y="2125"/>
              <a:ext cx="132" cy="90"/>
            </a:xfrm>
            <a:custGeom>
              <a:avLst/>
              <a:gdLst>
                <a:gd name="T0" fmla="*/ 1 w 132"/>
                <a:gd name="T1" fmla="*/ 67 h 90"/>
                <a:gd name="T2" fmla="*/ 0 w 132"/>
                <a:gd name="T3" fmla="*/ 78 h 90"/>
                <a:gd name="T4" fmla="*/ 86 w 132"/>
                <a:gd name="T5" fmla="*/ 90 h 90"/>
                <a:gd name="T6" fmla="*/ 86 w 132"/>
                <a:gd name="T7" fmla="*/ 90 h 90"/>
                <a:gd name="T8" fmla="*/ 89 w 132"/>
                <a:gd name="T9" fmla="*/ 88 h 90"/>
                <a:gd name="T10" fmla="*/ 91 w 132"/>
                <a:gd name="T11" fmla="*/ 87 h 90"/>
                <a:gd name="T12" fmla="*/ 94 w 132"/>
                <a:gd name="T13" fmla="*/ 85 h 90"/>
                <a:gd name="T14" fmla="*/ 98 w 132"/>
                <a:gd name="T15" fmla="*/ 83 h 90"/>
                <a:gd name="T16" fmla="*/ 103 w 132"/>
                <a:gd name="T17" fmla="*/ 79 h 90"/>
                <a:gd name="T18" fmla="*/ 107 w 132"/>
                <a:gd name="T19" fmla="*/ 74 h 90"/>
                <a:gd name="T20" fmla="*/ 112 w 132"/>
                <a:gd name="T21" fmla="*/ 71 h 90"/>
                <a:gd name="T22" fmla="*/ 117 w 132"/>
                <a:gd name="T23" fmla="*/ 65 h 90"/>
                <a:gd name="T24" fmla="*/ 121 w 132"/>
                <a:gd name="T25" fmla="*/ 59 h 90"/>
                <a:gd name="T26" fmla="*/ 125 w 132"/>
                <a:gd name="T27" fmla="*/ 53 h 90"/>
                <a:gd name="T28" fmla="*/ 128 w 132"/>
                <a:gd name="T29" fmla="*/ 46 h 90"/>
                <a:gd name="T30" fmla="*/ 131 w 132"/>
                <a:gd name="T31" fmla="*/ 39 h 90"/>
                <a:gd name="T32" fmla="*/ 132 w 132"/>
                <a:gd name="T33" fmla="*/ 31 h 90"/>
                <a:gd name="T34" fmla="*/ 132 w 132"/>
                <a:gd name="T35" fmla="*/ 22 h 90"/>
                <a:gd name="T36" fmla="*/ 129 w 132"/>
                <a:gd name="T37" fmla="*/ 12 h 90"/>
                <a:gd name="T38" fmla="*/ 129 w 132"/>
                <a:gd name="T39" fmla="*/ 12 h 90"/>
                <a:gd name="T40" fmla="*/ 128 w 132"/>
                <a:gd name="T41" fmla="*/ 10 h 90"/>
                <a:gd name="T42" fmla="*/ 127 w 132"/>
                <a:gd name="T43" fmla="*/ 9 h 90"/>
                <a:gd name="T44" fmla="*/ 126 w 132"/>
                <a:gd name="T45" fmla="*/ 7 h 90"/>
                <a:gd name="T46" fmla="*/ 124 w 132"/>
                <a:gd name="T47" fmla="*/ 3 h 90"/>
                <a:gd name="T48" fmla="*/ 120 w 132"/>
                <a:gd name="T49" fmla="*/ 2 h 90"/>
                <a:gd name="T50" fmla="*/ 117 w 132"/>
                <a:gd name="T51" fmla="*/ 0 h 90"/>
                <a:gd name="T52" fmla="*/ 113 w 132"/>
                <a:gd name="T53" fmla="*/ 0 h 90"/>
                <a:gd name="T54" fmla="*/ 113 w 132"/>
                <a:gd name="T55" fmla="*/ 1 h 90"/>
                <a:gd name="T56" fmla="*/ 114 w 132"/>
                <a:gd name="T57" fmla="*/ 4 h 90"/>
                <a:gd name="T58" fmla="*/ 117 w 132"/>
                <a:gd name="T59" fmla="*/ 11 h 90"/>
                <a:gd name="T60" fmla="*/ 118 w 132"/>
                <a:gd name="T61" fmla="*/ 18 h 90"/>
                <a:gd name="T62" fmla="*/ 118 w 132"/>
                <a:gd name="T63" fmla="*/ 29 h 90"/>
                <a:gd name="T64" fmla="*/ 117 w 132"/>
                <a:gd name="T65" fmla="*/ 39 h 90"/>
                <a:gd name="T66" fmla="*/ 114 w 132"/>
                <a:gd name="T67" fmla="*/ 51 h 90"/>
                <a:gd name="T68" fmla="*/ 108 w 132"/>
                <a:gd name="T69" fmla="*/ 63 h 90"/>
                <a:gd name="T70" fmla="*/ 108 w 132"/>
                <a:gd name="T71" fmla="*/ 63 h 90"/>
                <a:gd name="T72" fmla="*/ 108 w 132"/>
                <a:gd name="T73" fmla="*/ 64 h 90"/>
                <a:gd name="T74" fmla="*/ 107 w 132"/>
                <a:gd name="T75" fmla="*/ 64 h 90"/>
                <a:gd name="T76" fmla="*/ 106 w 132"/>
                <a:gd name="T77" fmla="*/ 65 h 90"/>
                <a:gd name="T78" fmla="*/ 105 w 132"/>
                <a:gd name="T79" fmla="*/ 66 h 90"/>
                <a:gd name="T80" fmla="*/ 103 w 132"/>
                <a:gd name="T81" fmla="*/ 67 h 90"/>
                <a:gd name="T82" fmla="*/ 100 w 132"/>
                <a:gd name="T83" fmla="*/ 69 h 90"/>
                <a:gd name="T84" fmla="*/ 98 w 132"/>
                <a:gd name="T85" fmla="*/ 70 h 90"/>
                <a:gd name="T86" fmla="*/ 96 w 132"/>
                <a:gd name="T87" fmla="*/ 70 h 90"/>
                <a:gd name="T88" fmla="*/ 92 w 132"/>
                <a:gd name="T89" fmla="*/ 71 h 90"/>
                <a:gd name="T90" fmla="*/ 90 w 132"/>
                <a:gd name="T91" fmla="*/ 72 h 90"/>
                <a:gd name="T92" fmla="*/ 85 w 132"/>
                <a:gd name="T93" fmla="*/ 72 h 90"/>
                <a:gd name="T94" fmla="*/ 82 w 132"/>
                <a:gd name="T95" fmla="*/ 72 h 90"/>
                <a:gd name="T96" fmla="*/ 78 w 132"/>
                <a:gd name="T97" fmla="*/ 72 h 90"/>
                <a:gd name="T98" fmla="*/ 73 w 132"/>
                <a:gd name="T99" fmla="*/ 72 h 90"/>
                <a:gd name="T100" fmla="*/ 69 w 132"/>
                <a:gd name="T101" fmla="*/ 71 h 90"/>
                <a:gd name="T102" fmla="*/ 69 w 132"/>
                <a:gd name="T103" fmla="*/ 83 h 90"/>
                <a:gd name="T104" fmla="*/ 3 w 132"/>
                <a:gd name="T105" fmla="*/ 76 h 90"/>
                <a:gd name="T106" fmla="*/ 1 w 132"/>
                <a:gd name="T107" fmla="*/ 6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2" h="90">
                  <a:moveTo>
                    <a:pt x="1" y="67"/>
                  </a:moveTo>
                  <a:lnTo>
                    <a:pt x="0" y="78"/>
                  </a:lnTo>
                  <a:lnTo>
                    <a:pt x="86" y="90"/>
                  </a:lnTo>
                  <a:lnTo>
                    <a:pt x="86" y="90"/>
                  </a:lnTo>
                  <a:lnTo>
                    <a:pt x="89" y="88"/>
                  </a:lnTo>
                  <a:lnTo>
                    <a:pt x="91" y="87"/>
                  </a:lnTo>
                  <a:lnTo>
                    <a:pt x="94" y="85"/>
                  </a:lnTo>
                  <a:lnTo>
                    <a:pt x="98" y="83"/>
                  </a:lnTo>
                  <a:lnTo>
                    <a:pt x="103" y="79"/>
                  </a:lnTo>
                  <a:lnTo>
                    <a:pt x="107" y="74"/>
                  </a:lnTo>
                  <a:lnTo>
                    <a:pt x="112" y="71"/>
                  </a:lnTo>
                  <a:lnTo>
                    <a:pt x="117" y="65"/>
                  </a:lnTo>
                  <a:lnTo>
                    <a:pt x="121" y="59"/>
                  </a:lnTo>
                  <a:lnTo>
                    <a:pt x="125" y="53"/>
                  </a:lnTo>
                  <a:lnTo>
                    <a:pt x="128" y="46"/>
                  </a:lnTo>
                  <a:lnTo>
                    <a:pt x="131" y="39"/>
                  </a:lnTo>
                  <a:lnTo>
                    <a:pt x="132" y="31"/>
                  </a:lnTo>
                  <a:lnTo>
                    <a:pt x="132" y="22"/>
                  </a:lnTo>
                  <a:lnTo>
                    <a:pt x="129" y="12"/>
                  </a:lnTo>
                  <a:lnTo>
                    <a:pt x="129" y="12"/>
                  </a:lnTo>
                  <a:lnTo>
                    <a:pt x="128" y="10"/>
                  </a:lnTo>
                  <a:lnTo>
                    <a:pt x="127" y="9"/>
                  </a:lnTo>
                  <a:lnTo>
                    <a:pt x="126" y="7"/>
                  </a:lnTo>
                  <a:lnTo>
                    <a:pt x="124" y="3"/>
                  </a:lnTo>
                  <a:lnTo>
                    <a:pt x="120" y="2"/>
                  </a:lnTo>
                  <a:lnTo>
                    <a:pt x="117" y="0"/>
                  </a:lnTo>
                  <a:lnTo>
                    <a:pt x="113" y="0"/>
                  </a:lnTo>
                  <a:lnTo>
                    <a:pt x="113" y="1"/>
                  </a:lnTo>
                  <a:lnTo>
                    <a:pt x="114" y="4"/>
                  </a:lnTo>
                  <a:lnTo>
                    <a:pt x="117" y="11"/>
                  </a:lnTo>
                  <a:lnTo>
                    <a:pt x="118" y="18"/>
                  </a:lnTo>
                  <a:lnTo>
                    <a:pt x="118" y="29"/>
                  </a:lnTo>
                  <a:lnTo>
                    <a:pt x="117" y="39"/>
                  </a:lnTo>
                  <a:lnTo>
                    <a:pt x="114" y="51"/>
                  </a:lnTo>
                  <a:lnTo>
                    <a:pt x="108" y="63"/>
                  </a:lnTo>
                  <a:lnTo>
                    <a:pt x="108" y="63"/>
                  </a:lnTo>
                  <a:lnTo>
                    <a:pt x="108" y="64"/>
                  </a:lnTo>
                  <a:lnTo>
                    <a:pt x="107" y="64"/>
                  </a:lnTo>
                  <a:lnTo>
                    <a:pt x="106" y="65"/>
                  </a:lnTo>
                  <a:lnTo>
                    <a:pt x="105" y="66"/>
                  </a:lnTo>
                  <a:lnTo>
                    <a:pt x="103" y="67"/>
                  </a:lnTo>
                  <a:lnTo>
                    <a:pt x="100" y="69"/>
                  </a:lnTo>
                  <a:lnTo>
                    <a:pt x="98" y="70"/>
                  </a:lnTo>
                  <a:lnTo>
                    <a:pt x="96" y="70"/>
                  </a:lnTo>
                  <a:lnTo>
                    <a:pt x="92" y="71"/>
                  </a:lnTo>
                  <a:lnTo>
                    <a:pt x="90" y="72"/>
                  </a:lnTo>
                  <a:lnTo>
                    <a:pt x="85" y="72"/>
                  </a:lnTo>
                  <a:lnTo>
                    <a:pt x="82" y="72"/>
                  </a:lnTo>
                  <a:lnTo>
                    <a:pt x="78" y="72"/>
                  </a:lnTo>
                  <a:lnTo>
                    <a:pt x="73" y="72"/>
                  </a:lnTo>
                  <a:lnTo>
                    <a:pt x="69" y="71"/>
                  </a:lnTo>
                  <a:lnTo>
                    <a:pt x="69" y="83"/>
                  </a:lnTo>
                  <a:lnTo>
                    <a:pt x="3" y="76"/>
                  </a:lnTo>
                  <a:lnTo>
                    <a:pt x="1" y="67"/>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46" name="Freeform 245"/>
            <p:cNvSpPr>
              <a:spLocks/>
            </p:cNvSpPr>
            <p:nvPr/>
          </p:nvSpPr>
          <p:spPr bwMode="auto">
            <a:xfrm>
              <a:off x="1255" y="2213"/>
              <a:ext cx="96" cy="31"/>
            </a:xfrm>
            <a:custGeom>
              <a:avLst/>
              <a:gdLst>
                <a:gd name="T0" fmla="*/ 96 w 96"/>
                <a:gd name="T1" fmla="*/ 11 h 31"/>
                <a:gd name="T2" fmla="*/ 1 w 96"/>
                <a:gd name="T3" fmla="*/ 0 h 31"/>
                <a:gd name="T4" fmla="*/ 0 w 96"/>
                <a:gd name="T5" fmla="*/ 11 h 31"/>
                <a:gd name="T6" fmla="*/ 93 w 96"/>
                <a:gd name="T7" fmla="*/ 31 h 31"/>
                <a:gd name="T8" fmla="*/ 96 w 96"/>
                <a:gd name="T9" fmla="*/ 11 h 31"/>
              </a:gdLst>
              <a:ahLst/>
              <a:cxnLst>
                <a:cxn ang="0">
                  <a:pos x="T0" y="T1"/>
                </a:cxn>
                <a:cxn ang="0">
                  <a:pos x="T2" y="T3"/>
                </a:cxn>
                <a:cxn ang="0">
                  <a:pos x="T4" y="T5"/>
                </a:cxn>
                <a:cxn ang="0">
                  <a:pos x="T6" y="T7"/>
                </a:cxn>
                <a:cxn ang="0">
                  <a:pos x="T8" y="T9"/>
                </a:cxn>
              </a:cxnLst>
              <a:rect l="0" t="0" r="r" b="b"/>
              <a:pathLst>
                <a:path w="96" h="31">
                  <a:moveTo>
                    <a:pt x="96" y="11"/>
                  </a:moveTo>
                  <a:lnTo>
                    <a:pt x="1" y="0"/>
                  </a:lnTo>
                  <a:lnTo>
                    <a:pt x="0" y="11"/>
                  </a:lnTo>
                  <a:lnTo>
                    <a:pt x="93" y="31"/>
                  </a:lnTo>
                  <a:lnTo>
                    <a:pt x="96"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47" name="Freeform 246"/>
            <p:cNvSpPr>
              <a:spLocks/>
            </p:cNvSpPr>
            <p:nvPr/>
          </p:nvSpPr>
          <p:spPr bwMode="auto">
            <a:xfrm>
              <a:off x="1302" y="2223"/>
              <a:ext cx="42" cy="14"/>
            </a:xfrm>
            <a:custGeom>
              <a:avLst/>
              <a:gdLst>
                <a:gd name="T0" fmla="*/ 42 w 42"/>
                <a:gd name="T1" fmla="*/ 6 h 14"/>
                <a:gd name="T2" fmla="*/ 2 w 42"/>
                <a:gd name="T3" fmla="*/ 0 h 14"/>
                <a:gd name="T4" fmla="*/ 0 w 42"/>
                <a:gd name="T5" fmla="*/ 6 h 14"/>
                <a:gd name="T6" fmla="*/ 40 w 42"/>
                <a:gd name="T7" fmla="*/ 14 h 14"/>
                <a:gd name="T8" fmla="*/ 42 w 42"/>
                <a:gd name="T9" fmla="*/ 6 h 14"/>
              </a:gdLst>
              <a:ahLst/>
              <a:cxnLst>
                <a:cxn ang="0">
                  <a:pos x="T0" y="T1"/>
                </a:cxn>
                <a:cxn ang="0">
                  <a:pos x="T2" y="T3"/>
                </a:cxn>
                <a:cxn ang="0">
                  <a:pos x="T4" y="T5"/>
                </a:cxn>
                <a:cxn ang="0">
                  <a:pos x="T6" y="T7"/>
                </a:cxn>
                <a:cxn ang="0">
                  <a:pos x="T8" y="T9"/>
                </a:cxn>
              </a:cxnLst>
              <a:rect l="0" t="0" r="r" b="b"/>
              <a:pathLst>
                <a:path w="42" h="14">
                  <a:moveTo>
                    <a:pt x="42" y="6"/>
                  </a:moveTo>
                  <a:lnTo>
                    <a:pt x="2" y="0"/>
                  </a:lnTo>
                  <a:lnTo>
                    <a:pt x="0" y="6"/>
                  </a:lnTo>
                  <a:lnTo>
                    <a:pt x="40" y="14"/>
                  </a:lnTo>
                  <a:lnTo>
                    <a:pt x="42" y="6"/>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48" name="Freeform 247"/>
            <p:cNvSpPr>
              <a:spLocks/>
            </p:cNvSpPr>
            <p:nvPr/>
          </p:nvSpPr>
          <p:spPr bwMode="auto">
            <a:xfrm>
              <a:off x="1260" y="2216"/>
              <a:ext cx="28" cy="10"/>
            </a:xfrm>
            <a:custGeom>
              <a:avLst/>
              <a:gdLst>
                <a:gd name="T0" fmla="*/ 28 w 28"/>
                <a:gd name="T1" fmla="*/ 4 h 10"/>
                <a:gd name="T2" fmla="*/ 0 w 28"/>
                <a:gd name="T3" fmla="*/ 0 h 10"/>
                <a:gd name="T4" fmla="*/ 0 w 28"/>
                <a:gd name="T5" fmla="*/ 6 h 10"/>
                <a:gd name="T6" fmla="*/ 27 w 28"/>
                <a:gd name="T7" fmla="*/ 10 h 10"/>
                <a:gd name="T8" fmla="*/ 28 w 28"/>
                <a:gd name="T9" fmla="*/ 4 h 10"/>
              </a:gdLst>
              <a:ahLst/>
              <a:cxnLst>
                <a:cxn ang="0">
                  <a:pos x="T0" y="T1"/>
                </a:cxn>
                <a:cxn ang="0">
                  <a:pos x="T2" y="T3"/>
                </a:cxn>
                <a:cxn ang="0">
                  <a:pos x="T4" y="T5"/>
                </a:cxn>
                <a:cxn ang="0">
                  <a:pos x="T6" y="T7"/>
                </a:cxn>
                <a:cxn ang="0">
                  <a:pos x="T8" y="T9"/>
                </a:cxn>
              </a:cxnLst>
              <a:rect l="0" t="0" r="r" b="b"/>
              <a:pathLst>
                <a:path w="28" h="10">
                  <a:moveTo>
                    <a:pt x="28" y="4"/>
                  </a:moveTo>
                  <a:lnTo>
                    <a:pt x="0" y="0"/>
                  </a:lnTo>
                  <a:lnTo>
                    <a:pt x="0" y="6"/>
                  </a:lnTo>
                  <a:lnTo>
                    <a:pt x="27" y="10"/>
                  </a:lnTo>
                  <a:lnTo>
                    <a:pt x="28" y="4"/>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49" name="Freeform 248"/>
            <p:cNvSpPr>
              <a:spLocks/>
            </p:cNvSpPr>
            <p:nvPr/>
          </p:nvSpPr>
          <p:spPr bwMode="auto">
            <a:xfrm>
              <a:off x="1192" y="2226"/>
              <a:ext cx="162" cy="54"/>
            </a:xfrm>
            <a:custGeom>
              <a:avLst/>
              <a:gdLst>
                <a:gd name="T0" fmla="*/ 0 w 162"/>
                <a:gd name="T1" fmla="*/ 17 h 54"/>
                <a:gd name="T2" fmla="*/ 0 w 162"/>
                <a:gd name="T3" fmla="*/ 17 h 54"/>
                <a:gd name="T4" fmla="*/ 1 w 162"/>
                <a:gd name="T5" fmla="*/ 17 h 54"/>
                <a:gd name="T6" fmla="*/ 2 w 162"/>
                <a:gd name="T7" fmla="*/ 17 h 54"/>
                <a:gd name="T8" fmla="*/ 4 w 162"/>
                <a:gd name="T9" fmla="*/ 15 h 54"/>
                <a:gd name="T10" fmla="*/ 7 w 162"/>
                <a:gd name="T11" fmla="*/ 15 h 54"/>
                <a:gd name="T12" fmla="*/ 10 w 162"/>
                <a:gd name="T13" fmla="*/ 14 h 54"/>
                <a:gd name="T14" fmla="*/ 14 w 162"/>
                <a:gd name="T15" fmla="*/ 14 h 54"/>
                <a:gd name="T16" fmla="*/ 17 w 162"/>
                <a:gd name="T17" fmla="*/ 13 h 54"/>
                <a:gd name="T18" fmla="*/ 21 w 162"/>
                <a:gd name="T19" fmla="*/ 12 h 54"/>
                <a:gd name="T20" fmla="*/ 24 w 162"/>
                <a:gd name="T21" fmla="*/ 11 h 54"/>
                <a:gd name="T22" fmla="*/ 28 w 162"/>
                <a:gd name="T23" fmla="*/ 10 h 54"/>
                <a:gd name="T24" fmla="*/ 31 w 162"/>
                <a:gd name="T25" fmla="*/ 8 h 54"/>
                <a:gd name="T26" fmla="*/ 35 w 162"/>
                <a:gd name="T27" fmla="*/ 6 h 54"/>
                <a:gd name="T28" fmla="*/ 37 w 162"/>
                <a:gd name="T29" fmla="*/ 5 h 54"/>
                <a:gd name="T30" fmla="*/ 40 w 162"/>
                <a:gd name="T31" fmla="*/ 3 h 54"/>
                <a:gd name="T32" fmla="*/ 43 w 162"/>
                <a:gd name="T33" fmla="*/ 0 h 54"/>
                <a:gd name="T34" fmla="*/ 162 w 162"/>
                <a:gd name="T35" fmla="*/ 28 h 54"/>
                <a:gd name="T36" fmla="*/ 162 w 162"/>
                <a:gd name="T37" fmla="*/ 28 h 54"/>
                <a:gd name="T38" fmla="*/ 161 w 162"/>
                <a:gd name="T39" fmla="*/ 28 h 54"/>
                <a:gd name="T40" fmla="*/ 159 w 162"/>
                <a:gd name="T41" fmla="*/ 29 h 54"/>
                <a:gd name="T42" fmla="*/ 158 w 162"/>
                <a:gd name="T43" fmla="*/ 31 h 54"/>
                <a:gd name="T44" fmla="*/ 157 w 162"/>
                <a:gd name="T45" fmla="*/ 33 h 54"/>
                <a:gd name="T46" fmla="*/ 155 w 162"/>
                <a:gd name="T47" fmla="*/ 34 h 54"/>
                <a:gd name="T48" fmla="*/ 152 w 162"/>
                <a:gd name="T49" fmla="*/ 36 h 54"/>
                <a:gd name="T50" fmla="*/ 150 w 162"/>
                <a:gd name="T51" fmla="*/ 39 h 54"/>
                <a:gd name="T52" fmla="*/ 147 w 162"/>
                <a:gd name="T53" fmla="*/ 41 h 54"/>
                <a:gd name="T54" fmla="*/ 144 w 162"/>
                <a:gd name="T55" fmla="*/ 43 h 54"/>
                <a:gd name="T56" fmla="*/ 141 w 162"/>
                <a:gd name="T57" fmla="*/ 46 h 54"/>
                <a:gd name="T58" fmla="*/ 137 w 162"/>
                <a:gd name="T59" fmla="*/ 48 h 54"/>
                <a:gd name="T60" fmla="*/ 135 w 162"/>
                <a:gd name="T61" fmla="*/ 49 h 54"/>
                <a:gd name="T62" fmla="*/ 131 w 162"/>
                <a:gd name="T63" fmla="*/ 52 h 54"/>
                <a:gd name="T64" fmla="*/ 128 w 162"/>
                <a:gd name="T65" fmla="*/ 53 h 54"/>
                <a:gd name="T66" fmla="*/ 126 w 162"/>
                <a:gd name="T67" fmla="*/ 54 h 54"/>
                <a:gd name="T68" fmla="*/ 0 w 162"/>
                <a:gd name="T69" fmla="*/ 17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2" h="54">
                  <a:moveTo>
                    <a:pt x="0" y="17"/>
                  </a:moveTo>
                  <a:lnTo>
                    <a:pt x="0" y="17"/>
                  </a:lnTo>
                  <a:lnTo>
                    <a:pt x="1" y="17"/>
                  </a:lnTo>
                  <a:lnTo>
                    <a:pt x="2" y="17"/>
                  </a:lnTo>
                  <a:lnTo>
                    <a:pt x="4" y="15"/>
                  </a:lnTo>
                  <a:lnTo>
                    <a:pt x="7" y="15"/>
                  </a:lnTo>
                  <a:lnTo>
                    <a:pt x="10" y="14"/>
                  </a:lnTo>
                  <a:lnTo>
                    <a:pt x="14" y="14"/>
                  </a:lnTo>
                  <a:lnTo>
                    <a:pt x="17" y="13"/>
                  </a:lnTo>
                  <a:lnTo>
                    <a:pt x="21" y="12"/>
                  </a:lnTo>
                  <a:lnTo>
                    <a:pt x="24" y="11"/>
                  </a:lnTo>
                  <a:lnTo>
                    <a:pt x="28" y="10"/>
                  </a:lnTo>
                  <a:lnTo>
                    <a:pt x="31" y="8"/>
                  </a:lnTo>
                  <a:lnTo>
                    <a:pt x="35" y="6"/>
                  </a:lnTo>
                  <a:lnTo>
                    <a:pt x="37" y="5"/>
                  </a:lnTo>
                  <a:lnTo>
                    <a:pt x="40" y="3"/>
                  </a:lnTo>
                  <a:lnTo>
                    <a:pt x="43" y="0"/>
                  </a:lnTo>
                  <a:lnTo>
                    <a:pt x="162" y="28"/>
                  </a:lnTo>
                  <a:lnTo>
                    <a:pt x="162" y="28"/>
                  </a:lnTo>
                  <a:lnTo>
                    <a:pt x="161" y="28"/>
                  </a:lnTo>
                  <a:lnTo>
                    <a:pt x="159" y="29"/>
                  </a:lnTo>
                  <a:lnTo>
                    <a:pt x="158" y="31"/>
                  </a:lnTo>
                  <a:lnTo>
                    <a:pt x="157" y="33"/>
                  </a:lnTo>
                  <a:lnTo>
                    <a:pt x="155" y="34"/>
                  </a:lnTo>
                  <a:lnTo>
                    <a:pt x="152" y="36"/>
                  </a:lnTo>
                  <a:lnTo>
                    <a:pt x="150" y="39"/>
                  </a:lnTo>
                  <a:lnTo>
                    <a:pt x="147" y="41"/>
                  </a:lnTo>
                  <a:lnTo>
                    <a:pt x="144" y="43"/>
                  </a:lnTo>
                  <a:lnTo>
                    <a:pt x="141" y="46"/>
                  </a:lnTo>
                  <a:lnTo>
                    <a:pt x="137" y="48"/>
                  </a:lnTo>
                  <a:lnTo>
                    <a:pt x="135" y="49"/>
                  </a:lnTo>
                  <a:lnTo>
                    <a:pt x="131" y="52"/>
                  </a:lnTo>
                  <a:lnTo>
                    <a:pt x="128" y="53"/>
                  </a:lnTo>
                  <a:lnTo>
                    <a:pt x="126" y="54"/>
                  </a:lnTo>
                  <a:lnTo>
                    <a:pt x="0" y="17"/>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50" name="Freeform 249"/>
            <p:cNvSpPr>
              <a:spLocks/>
            </p:cNvSpPr>
            <p:nvPr/>
          </p:nvSpPr>
          <p:spPr bwMode="auto">
            <a:xfrm>
              <a:off x="1354" y="2220"/>
              <a:ext cx="57" cy="26"/>
            </a:xfrm>
            <a:custGeom>
              <a:avLst/>
              <a:gdLst>
                <a:gd name="T0" fmla="*/ 6 w 57"/>
                <a:gd name="T1" fmla="*/ 26 h 26"/>
                <a:gd name="T2" fmla="*/ 57 w 57"/>
                <a:gd name="T3" fmla="*/ 11 h 26"/>
                <a:gd name="T4" fmla="*/ 25 w 57"/>
                <a:gd name="T5" fmla="*/ 0 h 26"/>
                <a:gd name="T6" fmla="*/ 0 w 57"/>
                <a:gd name="T7" fmla="*/ 4 h 26"/>
                <a:gd name="T8" fmla="*/ 0 w 57"/>
                <a:gd name="T9" fmla="*/ 25 h 26"/>
                <a:gd name="T10" fmla="*/ 6 w 57"/>
                <a:gd name="T11" fmla="*/ 26 h 26"/>
              </a:gdLst>
              <a:ahLst/>
              <a:cxnLst>
                <a:cxn ang="0">
                  <a:pos x="T0" y="T1"/>
                </a:cxn>
                <a:cxn ang="0">
                  <a:pos x="T2" y="T3"/>
                </a:cxn>
                <a:cxn ang="0">
                  <a:pos x="T4" y="T5"/>
                </a:cxn>
                <a:cxn ang="0">
                  <a:pos x="T6" y="T7"/>
                </a:cxn>
                <a:cxn ang="0">
                  <a:pos x="T8" y="T9"/>
                </a:cxn>
                <a:cxn ang="0">
                  <a:pos x="T10" y="T11"/>
                </a:cxn>
              </a:cxnLst>
              <a:rect l="0" t="0" r="r" b="b"/>
              <a:pathLst>
                <a:path w="57" h="26">
                  <a:moveTo>
                    <a:pt x="6" y="26"/>
                  </a:moveTo>
                  <a:lnTo>
                    <a:pt x="57" y="11"/>
                  </a:lnTo>
                  <a:lnTo>
                    <a:pt x="25" y="0"/>
                  </a:lnTo>
                  <a:lnTo>
                    <a:pt x="0" y="4"/>
                  </a:lnTo>
                  <a:lnTo>
                    <a:pt x="0" y="25"/>
                  </a:lnTo>
                  <a:lnTo>
                    <a:pt x="6" y="26"/>
                  </a:lnTo>
                  <a:close/>
                </a:path>
              </a:pathLst>
            </a:custGeom>
            <a:solidFill>
              <a:srgbClr val="00199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51" name="Freeform 250"/>
            <p:cNvSpPr>
              <a:spLocks/>
            </p:cNvSpPr>
            <p:nvPr/>
          </p:nvSpPr>
          <p:spPr bwMode="auto">
            <a:xfrm>
              <a:off x="1203" y="2109"/>
              <a:ext cx="32" cy="124"/>
            </a:xfrm>
            <a:custGeom>
              <a:avLst/>
              <a:gdLst>
                <a:gd name="T0" fmla="*/ 32 w 32"/>
                <a:gd name="T1" fmla="*/ 4 h 124"/>
                <a:gd name="T2" fmla="*/ 32 w 32"/>
                <a:gd name="T3" fmla="*/ 3 h 124"/>
                <a:gd name="T4" fmla="*/ 31 w 32"/>
                <a:gd name="T5" fmla="*/ 3 h 124"/>
                <a:gd name="T6" fmla="*/ 31 w 32"/>
                <a:gd name="T7" fmla="*/ 3 h 124"/>
                <a:gd name="T8" fmla="*/ 29 w 32"/>
                <a:gd name="T9" fmla="*/ 3 h 124"/>
                <a:gd name="T10" fmla="*/ 27 w 32"/>
                <a:gd name="T11" fmla="*/ 2 h 124"/>
                <a:gd name="T12" fmla="*/ 26 w 32"/>
                <a:gd name="T13" fmla="*/ 2 h 124"/>
                <a:gd name="T14" fmla="*/ 24 w 32"/>
                <a:gd name="T15" fmla="*/ 0 h 124"/>
                <a:gd name="T16" fmla="*/ 22 w 32"/>
                <a:gd name="T17" fmla="*/ 0 h 124"/>
                <a:gd name="T18" fmla="*/ 20 w 32"/>
                <a:gd name="T19" fmla="*/ 0 h 124"/>
                <a:gd name="T20" fmla="*/ 18 w 32"/>
                <a:gd name="T21" fmla="*/ 0 h 124"/>
                <a:gd name="T22" fmla="*/ 14 w 32"/>
                <a:gd name="T23" fmla="*/ 0 h 124"/>
                <a:gd name="T24" fmla="*/ 12 w 32"/>
                <a:gd name="T25" fmla="*/ 2 h 124"/>
                <a:gd name="T26" fmla="*/ 10 w 32"/>
                <a:gd name="T27" fmla="*/ 2 h 124"/>
                <a:gd name="T28" fmla="*/ 6 w 32"/>
                <a:gd name="T29" fmla="*/ 3 h 124"/>
                <a:gd name="T30" fmla="*/ 4 w 32"/>
                <a:gd name="T31" fmla="*/ 4 h 124"/>
                <a:gd name="T32" fmla="*/ 0 w 32"/>
                <a:gd name="T33" fmla="*/ 6 h 124"/>
                <a:gd name="T34" fmla="*/ 0 w 32"/>
                <a:gd name="T35" fmla="*/ 124 h 124"/>
                <a:gd name="T36" fmla="*/ 1 w 32"/>
                <a:gd name="T37" fmla="*/ 124 h 124"/>
                <a:gd name="T38" fmla="*/ 1 w 32"/>
                <a:gd name="T39" fmla="*/ 124 h 124"/>
                <a:gd name="T40" fmla="*/ 3 w 32"/>
                <a:gd name="T41" fmla="*/ 124 h 124"/>
                <a:gd name="T42" fmla="*/ 4 w 32"/>
                <a:gd name="T43" fmla="*/ 124 h 124"/>
                <a:gd name="T44" fmla="*/ 5 w 32"/>
                <a:gd name="T45" fmla="*/ 123 h 124"/>
                <a:gd name="T46" fmla="*/ 7 w 32"/>
                <a:gd name="T47" fmla="*/ 123 h 124"/>
                <a:gd name="T48" fmla="*/ 8 w 32"/>
                <a:gd name="T49" fmla="*/ 123 h 124"/>
                <a:gd name="T50" fmla="*/ 11 w 32"/>
                <a:gd name="T51" fmla="*/ 122 h 124"/>
                <a:gd name="T52" fmla="*/ 13 w 32"/>
                <a:gd name="T53" fmla="*/ 122 h 124"/>
                <a:gd name="T54" fmla="*/ 15 w 32"/>
                <a:gd name="T55" fmla="*/ 121 h 124"/>
                <a:gd name="T56" fmla="*/ 18 w 32"/>
                <a:gd name="T57" fmla="*/ 120 h 124"/>
                <a:gd name="T58" fmla="*/ 21 w 32"/>
                <a:gd name="T59" fmla="*/ 118 h 124"/>
                <a:gd name="T60" fmla="*/ 24 w 32"/>
                <a:gd name="T61" fmla="*/ 117 h 124"/>
                <a:gd name="T62" fmla="*/ 26 w 32"/>
                <a:gd name="T63" fmla="*/ 116 h 124"/>
                <a:gd name="T64" fmla="*/ 29 w 32"/>
                <a:gd name="T65" fmla="*/ 114 h 124"/>
                <a:gd name="T66" fmla="*/ 32 w 32"/>
                <a:gd name="T67" fmla="*/ 113 h 124"/>
                <a:gd name="T68" fmla="*/ 32 w 32"/>
                <a:gd name="T69" fmla="*/ 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 h="124">
                  <a:moveTo>
                    <a:pt x="32" y="4"/>
                  </a:moveTo>
                  <a:lnTo>
                    <a:pt x="32" y="3"/>
                  </a:lnTo>
                  <a:lnTo>
                    <a:pt x="31" y="3"/>
                  </a:lnTo>
                  <a:lnTo>
                    <a:pt x="31" y="3"/>
                  </a:lnTo>
                  <a:lnTo>
                    <a:pt x="29" y="3"/>
                  </a:lnTo>
                  <a:lnTo>
                    <a:pt x="27" y="2"/>
                  </a:lnTo>
                  <a:lnTo>
                    <a:pt x="26" y="2"/>
                  </a:lnTo>
                  <a:lnTo>
                    <a:pt x="24" y="0"/>
                  </a:lnTo>
                  <a:lnTo>
                    <a:pt x="22" y="0"/>
                  </a:lnTo>
                  <a:lnTo>
                    <a:pt x="20" y="0"/>
                  </a:lnTo>
                  <a:lnTo>
                    <a:pt x="18" y="0"/>
                  </a:lnTo>
                  <a:lnTo>
                    <a:pt x="14" y="0"/>
                  </a:lnTo>
                  <a:lnTo>
                    <a:pt x="12" y="2"/>
                  </a:lnTo>
                  <a:lnTo>
                    <a:pt x="10" y="2"/>
                  </a:lnTo>
                  <a:lnTo>
                    <a:pt x="6" y="3"/>
                  </a:lnTo>
                  <a:lnTo>
                    <a:pt x="4" y="4"/>
                  </a:lnTo>
                  <a:lnTo>
                    <a:pt x="0" y="6"/>
                  </a:lnTo>
                  <a:lnTo>
                    <a:pt x="0" y="124"/>
                  </a:lnTo>
                  <a:lnTo>
                    <a:pt x="1" y="124"/>
                  </a:lnTo>
                  <a:lnTo>
                    <a:pt x="1" y="124"/>
                  </a:lnTo>
                  <a:lnTo>
                    <a:pt x="3" y="124"/>
                  </a:lnTo>
                  <a:lnTo>
                    <a:pt x="4" y="124"/>
                  </a:lnTo>
                  <a:lnTo>
                    <a:pt x="5" y="123"/>
                  </a:lnTo>
                  <a:lnTo>
                    <a:pt x="7" y="123"/>
                  </a:lnTo>
                  <a:lnTo>
                    <a:pt x="8" y="123"/>
                  </a:lnTo>
                  <a:lnTo>
                    <a:pt x="11" y="122"/>
                  </a:lnTo>
                  <a:lnTo>
                    <a:pt x="13" y="122"/>
                  </a:lnTo>
                  <a:lnTo>
                    <a:pt x="15" y="121"/>
                  </a:lnTo>
                  <a:lnTo>
                    <a:pt x="18" y="120"/>
                  </a:lnTo>
                  <a:lnTo>
                    <a:pt x="21" y="118"/>
                  </a:lnTo>
                  <a:lnTo>
                    <a:pt x="24" y="117"/>
                  </a:lnTo>
                  <a:lnTo>
                    <a:pt x="26" y="116"/>
                  </a:lnTo>
                  <a:lnTo>
                    <a:pt x="29" y="114"/>
                  </a:lnTo>
                  <a:lnTo>
                    <a:pt x="32" y="113"/>
                  </a:lnTo>
                  <a:lnTo>
                    <a:pt x="32" y="4"/>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52" name="Freeform 251"/>
            <p:cNvSpPr>
              <a:spLocks/>
            </p:cNvSpPr>
            <p:nvPr/>
          </p:nvSpPr>
          <p:spPr bwMode="auto">
            <a:xfrm>
              <a:off x="1204" y="2111"/>
              <a:ext cx="27" cy="104"/>
            </a:xfrm>
            <a:custGeom>
              <a:avLst/>
              <a:gdLst>
                <a:gd name="T0" fmla="*/ 27 w 27"/>
                <a:gd name="T1" fmla="*/ 2 h 104"/>
                <a:gd name="T2" fmla="*/ 27 w 27"/>
                <a:gd name="T3" fmla="*/ 2 h 104"/>
                <a:gd name="T4" fmla="*/ 26 w 27"/>
                <a:gd name="T5" fmla="*/ 2 h 104"/>
                <a:gd name="T6" fmla="*/ 26 w 27"/>
                <a:gd name="T7" fmla="*/ 2 h 104"/>
                <a:gd name="T8" fmla="*/ 25 w 27"/>
                <a:gd name="T9" fmla="*/ 1 h 104"/>
                <a:gd name="T10" fmla="*/ 24 w 27"/>
                <a:gd name="T11" fmla="*/ 1 h 104"/>
                <a:gd name="T12" fmla="*/ 23 w 27"/>
                <a:gd name="T13" fmla="*/ 0 h 104"/>
                <a:gd name="T14" fmla="*/ 20 w 27"/>
                <a:gd name="T15" fmla="*/ 0 h 104"/>
                <a:gd name="T16" fmla="*/ 19 w 27"/>
                <a:gd name="T17" fmla="*/ 0 h 104"/>
                <a:gd name="T18" fmla="*/ 17 w 27"/>
                <a:gd name="T19" fmla="*/ 0 h 104"/>
                <a:gd name="T20" fmla="*/ 14 w 27"/>
                <a:gd name="T21" fmla="*/ 0 h 104"/>
                <a:gd name="T22" fmla="*/ 12 w 27"/>
                <a:gd name="T23" fmla="*/ 0 h 104"/>
                <a:gd name="T24" fmla="*/ 10 w 27"/>
                <a:gd name="T25" fmla="*/ 0 h 104"/>
                <a:gd name="T26" fmla="*/ 9 w 27"/>
                <a:gd name="T27" fmla="*/ 1 h 104"/>
                <a:gd name="T28" fmla="*/ 5 w 27"/>
                <a:gd name="T29" fmla="*/ 2 h 104"/>
                <a:gd name="T30" fmla="*/ 3 w 27"/>
                <a:gd name="T31" fmla="*/ 3 h 104"/>
                <a:gd name="T32" fmla="*/ 0 w 27"/>
                <a:gd name="T33" fmla="*/ 4 h 104"/>
                <a:gd name="T34" fmla="*/ 0 w 27"/>
                <a:gd name="T35" fmla="*/ 104 h 104"/>
                <a:gd name="T36" fmla="*/ 0 w 27"/>
                <a:gd name="T37" fmla="*/ 104 h 104"/>
                <a:gd name="T38" fmla="*/ 2 w 27"/>
                <a:gd name="T39" fmla="*/ 104 h 104"/>
                <a:gd name="T40" fmla="*/ 2 w 27"/>
                <a:gd name="T41" fmla="*/ 104 h 104"/>
                <a:gd name="T42" fmla="*/ 3 w 27"/>
                <a:gd name="T43" fmla="*/ 104 h 104"/>
                <a:gd name="T44" fmla="*/ 4 w 27"/>
                <a:gd name="T45" fmla="*/ 104 h 104"/>
                <a:gd name="T46" fmla="*/ 6 w 27"/>
                <a:gd name="T47" fmla="*/ 104 h 104"/>
                <a:gd name="T48" fmla="*/ 7 w 27"/>
                <a:gd name="T49" fmla="*/ 102 h 104"/>
                <a:gd name="T50" fmla="*/ 10 w 27"/>
                <a:gd name="T51" fmla="*/ 102 h 104"/>
                <a:gd name="T52" fmla="*/ 11 w 27"/>
                <a:gd name="T53" fmla="*/ 101 h 104"/>
                <a:gd name="T54" fmla="*/ 13 w 27"/>
                <a:gd name="T55" fmla="*/ 101 h 104"/>
                <a:gd name="T56" fmla="*/ 16 w 27"/>
                <a:gd name="T57" fmla="*/ 100 h 104"/>
                <a:gd name="T58" fmla="*/ 18 w 27"/>
                <a:gd name="T59" fmla="*/ 99 h 104"/>
                <a:gd name="T60" fmla="*/ 20 w 27"/>
                <a:gd name="T61" fmla="*/ 98 h 104"/>
                <a:gd name="T62" fmla="*/ 23 w 27"/>
                <a:gd name="T63" fmla="*/ 97 h 104"/>
                <a:gd name="T64" fmla="*/ 25 w 27"/>
                <a:gd name="T65" fmla="*/ 95 h 104"/>
                <a:gd name="T66" fmla="*/ 27 w 27"/>
                <a:gd name="T67" fmla="*/ 93 h 104"/>
                <a:gd name="T68" fmla="*/ 27 w 27"/>
                <a:gd name="T69" fmla="*/ 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 h="104">
                  <a:moveTo>
                    <a:pt x="27" y="2"/>
                  </a:moveTo>
                  <a:lnTo>
                    <a:pt x="27" y="2"/>
                  </a:lnTo>
                  <a:lnTo>
                    <a:pt x="26" y="2"/>
                  </a:lnTo>
                  <a:lnTo>
                    <a:pt x="26" y="2"/>
                  </a:lnTo>
                  <a:lnTo>
                    <a:pt x="25" y="1"/>
                  </a:lnTo>
                  <a:lnTo>
                    <a:pt x="24" y="1"/>
                  </a:lnTo>
                  <a:lnTo>
                    <a:pt x="23" y="0"/>
                  </a:lnTo>
                  <a:lnTo>
                    <a:pt x="20" y="0"/>
                  </a:lnTo>
                  <a:lnTo>
                    <a:pt x="19" y="0"/>
                  </a:lnTo>
                  <a:lnTo>
                    <a:pt x="17" y="0"/>
                  </a:lnTo>
                  <a:lnTo>
                    <a:pt x="14" y="0"/>
                  </a:lnTo>
                  <a:lnTo>
                    <a:pt x="12" y="0"/>
                  </a:lnTo>
                  <a:lnTo>
                    <a:pt x="10" y="0"/>
                  </a:lnTo>
                  <a:lnTo>
                    <a:pt x="9" y="1"/>
                  </a:lnTo>
                  <a:lnTo>
                    <a:pt x="5" y="2"/>
                  </a:lnTo>
                  <a:lnTo>
                    <a:pt x="3" y="3"/>
                  </a:lnTo>
                  <a:lnTo>
                    <a:pt x="0" y="4"/>
                  </a:lnTo>
                  <a:lnTo>
                    <a:pt x="0" y="104"/>
                  </a:lnTo>
                  <a:lnTo>
                    <a:pt x="0" y="104"/>
                  </a:lnTo>
                  <a:lnTo>
                    <a:pt x="2" y="104"/>
                  </a:lnTo>
                  <a:lnTo>
                    <a:pt x="2" y="104"/>
                  </a:lnTo>
                  <a:lnTo>
                    <a:pt x="3" y="104"/>
                  </a:lnTo>
                  <a:lnTo>
                    <a:pt x="4" y="104"/>
                  </a:lnTo>
                  <a:lnTo>
                    <a:pt x="6" y="104"/>
                  </a:lnTo>
                  <a:lnTo>
                    <a:pt x="7" y="102"/>
                  </a:lnTo>
                  <a:lnTo>
                    <a:pt x="10" y="102"/>
                  </a:lnTo>
                  <a:lnTo>
                    <a:pt x="11" y="101"/>
                  </a:lnTo>
                  <a:lnTo>
                    <a:pt x="13" y="101"/>
                  </a:lnTo>
                  <a:lnTo>
                    <a:pt x="16" y="100"/>
                  </a:lnTo>
                  <a:lnTo>
                    <a:pt x="18" y="99"/>
                  </a:lnTo>
                  <a:lnTo>
                    <a:pt x="20" y="98"/>
                  </a:lnTo>
                  <a:lnTo>
                    <a:pt x="23" y="97"/>
                  </a:lnTo>
                  <a:lnTo>
                    <a:pt x="25" y="95"/>
                  </a:lnTo>
                  <a:lnTo>
                    <a:pt x="27" y="93"/>
                  </a:lnTo>
                  <a:lnTo>
                    <a:pt x="27" y="2"/>
                  </a:lnTo>
                  <a:close/>
                </a:path>
              </a:pathLst>
            </a:custGeom>
            <a:solidFill>
              <a:srgbClr val="93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53" name="Freeform 252"/>
            <p:cNvSpPr>
              <a:spLocks/>
            </p:cNvSpPr>
            <p:nvPr/>
          </p:nvSpPr>
          <p:spPr bwMode="auto">
            <a:xfrm>
              <a:off x="1206" y="2112"/>
              <a:ext cx="22" cy="84"/>
            </a:xfrm>
            <a:custGeom>
              <a:avLst/>
              <a:gdLst>
                <a:gd name="T0" fmla="*/ 22 w 22"/>
                <a:gd name="T1" fmla="*/ 2 h 84"/>
                <a:gd name="T2" fmla="*/ 22 w 22"/>
                <a:gd name="T3" fmla="*/ 2 h 84"/>
                <a:gd name="T4" fmla="*/ 21 w 22"/>
                <a:gd name="T5" fmla="*/ 1 h 84"/>
                <a:gd name="T6" fmla="*/ 21 w 22"/>
                <a:gd name="T7" fmla="*/ 1 h 84"/>
                <a:gd name="T8" fmla="*/ 19 w 22"/>
                <a:gd name="T9" fmla="*/ 1 h 84"/>
                <a:gd name="T10" fmla="*/ 18 w 22"/>
                <a:gd name="T11" fmla="*/ 1 h 84"/>
                <a:gd name="T12" fmla="*/ 17 w 22"/>
                <a:gd name="T13" fmla="*/ 0 h 84"/>
                <a:gd name="T14" fmla="*/ 16 w 22"/>
                <a:gd name="T15" fmla="*/ 0 h 84"/>
                <a:gd name="T16" fmla="*/ 15 w 22"/>
                <a:gd name="T17" fmla="*/ 0 h 84"/>
                <a:gd name="T18" fmla="*/ 14 w 22"/>
                <a:gd name="T19" fmla="*/ 0 h 84"/>
                <a:gd name="T20" fmla="*/ 11 w 22"/>
                <a:gd name="T21" fmla="*/ 0 h 84"/>
                <a:gd name="T22" fmla="*/ 9 w 22"/>
                <a:gd name="T23" fmla="*/ 0 h 84"/>
                <a:gd name="T24" fmla="*/ 8 w 22"/>
                <a:gd name="T25" fmla="*/ 0 h 84"/>
                <a:gd name="T26" fmla="*/ 5 w 22"/>
                <a:gd name="T27" fmla="*/ 1 h 84"/>
                <a:gd name="T28" fmla="*/ 3 w 22"/>
                <a:gd name="T29" fmla="*/ 1 h 84"/>
                <a:gd name="T30" fmla="*/ 2 w 22"/>
                <a:gd name="T31" fmla="*/ 2 h 84"/>
                <a:gd name="T32" fmla="*/ 0 w 22"/>
                <a:gd name="T33" fmla="*/ 3 h 84"/>
                <a:gd name="T34" fmla="*/ 0 w 22"/>
                <a:gd name="T35" fmla="*/ 84 h 84"/>
                <a:gd name="T36" fmla="*/ 0 w 22"/>
                <a:gd name="T37" fmla="*/ 84 h 84"/>
                <a:gd name="T38" fmla="*/ 0 w 22"/>
                <a:gd name="T39" fmla="*/ 84 h 84"/>
                <a:gd name="T40" fmla="*/ 1 w 22"/>
                <a:gd name="T41" fmla="*/ 84 h 84"/>
                <a:gd name="T42" fmla="*/ 2 w 22"/>
                <a:gd name="T43" fmla="*/ 84 h 84"/>
                <a:gd name="T44" fmla="*/ 3 w 22"/>
                <a:gd name="T45" fmla="*/ 84 h 84"/>
                <a:gd name="T46" fmla="*/ 4 w 22"/>
                <a:gd name="T47" fmla="*/ 84 h 84"/>
                <a:gd name="T48" fmla="*/ 5 w 22"/>
                <a:gd name="T49" fmla="*/ 84 h 84"/>
                <a:gd name="T50" fmla="*/ 7 w 22"/>
                <a:gd name="T51" fmla="*/ 83 h 84"/>
                <a:gd name="T52" fmla="*/ 9 w 22"/>
                <a:gd name="T53" fmla="*/ 83 h 84"/>
                <a:gd name="T54" fmla="*/ 10 w 22"/>
                <a:gd name="T55" fmla="*/ 82 h 84"/>
                <a:gd name="T56" fmla="*/ 12 w 22"/>
                <a:gd name="T57" fmla="*/ 82 h 84"/>
                <a:gd name="T58" fmla="*/ 14 w 22"/>
                <a:gd name="T59" fmla="*/ 80 h 84"/>
                <a:gd name="T60" fmla="*/ 16 w 22"/>
                <a:gd name="T61" fmla="*/ 79 h 84"/>
                <a:gd name="T62" fmla="*/ 18 w 22"/>
                <a:gd name="T63" fmla="*/ 78 h 84"/>
                <a:gd name="T64" fmla="*/ 19 w 22"/>
                <a:gd name="T65" fmla="*/ 77 h 84"/>
                <a:gd name="T66" fmla="*/ 22 w 22"/>
                <a:gd name="T67" fmla="*/ 76 h 84"/>
                <a:gd name="T68" fmla="*/ 22 w 22"/>
                <a:gd name="T69" fmla="*/ 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 h="84">
                  <a:moveTo>
                    <a:pt x="22" y="2"/>
                  </a:moveTo>
                  <a:lnTo>
                    <a:pt x="22" y="2"/>
                  </a:lnTo>
                  <a:lnTo>
                    <a:pt x="21" y="1"/>
                  </a:lnTo>
                  <a:lnTo>
                    <a:pt x="21" y="1"/>
                  </a:lnTo>
                  <a:lnTo>
                    <a:pt x="19" y="1"/>
                  </a:lnTo>
                  <a:lnTo>
                    <a:pt x="18" y="1"/>
                  </a:lnTo>
                  <a:lnTo>
                    <a:pt x="17" y="0"/>
                  </a:lnTo>
                  <a:lnTo>
                    <a:pt x="16" y="0"/>
                  </a:lnTo>
                  <a:lnTo>
                    <a:pt x="15" y="0"/>
                  </a:lnTo>
                  <a:lnTo>
                    <a:pt x="14" y="0"/>
                  </a:lnTo>
                  <a:lnTo>
                    <a:pt x="11" y="0"/>
                  </a:lnTo>
                  <a:lnTo>
                    <a:pt x="9" y="0"/>
                  </a:lnTo>
                  <a:lnTo>
                    <a:pt x="8" y="0"/>
                  </a:lnTo>
                  <a:lnTo>
                    <a:pt x="5" y="1"/>
                  </a:lnTo>
                  <a:lnTo>
                    <a:pt x="3" y="1"/>
                  </a:lnTo>
                  <a:lnTo>
                    <a:pt x="2" y="2"/>
                  </a:lnTo>
                  <a:lnTo>
                    <a:pt x="0" y="3"/>
                  </a:lnTo>
                  <a:lnTo>
                    <a:pt x="0" y="84"/>
                  </a:lnTo>
                  <a:lnTo>
                    <a:pt x="0" y="84"/>
                  </a:lnTo>
                  <a:lnTo>
                    <a:pt x="0" y="84"/>
                  </a:lnTo>
                  <a:lnTo>
                    <a:pt x="1" y="84"/>
                  </a:lnTo>
                  <a:lnTo>
                    <a:pt x="2" y="84"/>
                  </a:lnTo>
                  <a:lnTo>
                    <a:pt x="3" y="84"/>
                  </a:lnTo>
                  <a:lnTo>
                    <a:pt x="4" y="84"/>
                  </a:lnTo>
                  <a:lnTo>
                    <a:pt x="5" y="84"/>
                  </a:lnTo>
                  <a:lnTo>
                    <a:pt x="7" y="83"/>
                  </a:lnTo>
                  <a:lnTo>
                    <a:pt x="9" y="83"/>
                  </a:lnTo>
                  <a:lnTo>
                    <a:pt x="10" y="82"/>
                  </a:lnTo>
                  <a:lnTo>
                    <a:pt x="12" y="82"/>
                  </a:lnTo>
                  <a:lnTo>
                    <a:pt x="14" y="80"/>
                  </a:lnTo>
                  <a:lnTo>
                    <a:pt x="16" y="79"/>
                  </a:lnTo>
                  <a:lnTo>
                    <a:pt x="18" y="78"/>
                  </a:lnTo>
                  <a:lnTo>
                    <a:pt x="19" y="77"/>
                  </a:lnTo>
                  <a:lnTo>
                    <a:pt x="22" y="76"/>
                  </a:lnTo>
                  <a:lnTo>
                    <a:pt x="22" y="2"/>
                  </a:lnTo>
                  <a:close/>
                </a:path>
              </a:pathLst>
            </a:custGeom>
            <a:solidFill>
              <a:srgbClr val="A8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54" name="Freeform 253"/>
            <p:cNvSpPr>
              <a:spLocks/>
            </p:cNvSpPr>
            <p:nvPr/>
          </p:nvSpPr>
          <p:spPr bwMode="auto">
            <a:xfrm>
              <a:off x="1207" y="2113"/>
              <a:ext cx="17" cy="65"/>
            </a:xfrm>
            <a:custGeom>
              <a:avLst/>
              <a:gdLst>
                <a:gd name="T0" fmla="*/ 17 w 17"/>
                <a:gd name="T1" fmla="*/ 1 h 65"/>
                <a:gd name="T2" fmla="*/ 17 w 17"/>
                <a:gd name="T3" fmla="*/ 1 h 65"/>
                <a:gd name="T4" fmla="*/ 16 w 17"/>
                <a:gd name="T5" fmla="*/ 1 h 65"/>
                <a:gd name="T6" fmla="*/ 14 w 17"/>
                <a:gd name="T7" fmla="*/ 0 h 65"/>
                <a:gd name="T8" fmla="*/ 11 w 17"/>
                <a:gd name="T9" fmla="*/ 0 h 65"/>
                <a:gd name="T10" fmla="*/ 9 w 17"/>
                <a:gd name="T11" fmla="*/ 0 h 65"/>
                <a:gd name="T12" fmla="*/ 6 w 17"/>
                <a:gd name="T13" fmla="*/ 0 h 65"/>
                <a:gd name="T14" fmla="*/ 2 w 17"/>
                <a:gd name="T15" fmla="*/ 1 h 65"/>
                <a:gd name="T16" fmla="*/ 0 w 17"/>
                <a:gd name="T17" fmla="*/ 2 h 65"/>
                <a:gd name="T18" fmla="*/ 0 w 17"/>
                <a:gd name="T19" fmla="*/ 65 h 65"/>
                <a:gd name="T20" fmla="*/ 0 w 17"/>
                <a:gd name="T21" fmla="*/ 65 h 65"/>
                <a:gd name="T22" fmla="*/ 1 w 17"/>
                <a:gd name="T23" fmla="*/ 65 h 65"/>
                <a:gd name="T24" fmla="*/ 3 w 17"/>
                <a:gd name="T25" fmla="*/ 64 h 65"/>
                <a:gd name="T26" fmla="*/ 6 w 17"/>
                <a:gd name="T27" fmla="*/ 64 h 65"/>
                <a:gd name="T28" fmla="*/ 8 w 17"/>
                <a:gd name="T29" fmla="*/ 63 h 65"/>
                <a:gd name="T30" fmla="*/ 11 w 17"/>
                <a:gd name="T31" fmla="*/ 62 h 65"/>
                <a:gd name="T32" fmla="*/ 14 w 17"/>
                <a:gd name="T33" fmla="*/ 61 h 65"/>
                <a:gd name="T34" fmla="*/ 17 w 17"/>
                <a:gd name="T35" fmla="*/ 58 h 65"/>
                <a:gd name="T36" fmla="*/ 17 w 17"/>
                <a:gd name="T37" fmla="*/ 1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65">
                  <a:moveTo>
                    <a:pt x="17" y="1"/>
                  </a:moveTo>
                  <a:lnTo>
                    <a:pt x="17" y="1"/>
                  </a:lnTo>
                  <a:lnTo>
                    <a:pt x="16" y="1"/>
                  </a:lnTo>
                  <a:lnTo>
                    <a:pt x="14" y="0"/>
                  </a:lnTo>
                  <a:lnTo>
                    <a:pt x="11" y="0"/>
                  </a:lnTo>
                  <a:lnTo>
                    <a:pt x="9" y="0"/>
                  </a:lnTo>
                  <a:lnTo>
                    <a:pt x="6" y="0"/>
                  </a:lnTo>
                  <a:lnTo>
                    <a:pt x="2" y="1"/>
                  </a:lnTo>
                  <a:lnTo>
                    <a:pt x="0" y="2"/>
                  </a:lnTo>
                  <a:lnTo>
                    <a:pt x="0" y="65"/>
                  </a:lnTo>
                  <a:lnTo>
                    <a:pt x="0" y="65"/>
                  </a:lnTo>
                  <a:lnTo>
                    <a:pt x="1" y="65"/>
                  </a:lnTo>
                  <a:lnTo>
                    <a:pt x="3" y="64"/>
                  </a:lnTo>
                  <a:lnTo>
                    <a:pt x="6" y="64"/>
                  </a:lnTo>
                  <a:lnTo>
                    <a:pt x="8" y="63"/>
                  </a:lnTo>
                  <a:lnTo>
                    <a:pt x="11" y="62"/>
                  </a:lnTo>
                  <a:lnTo>
                    <a:pt x="14" y="61"/>
                  </a:lnTo>
                  <a:lnTo>
                    <a:pt x="17" y="58"/>
                  </a:lnTo>
                  <a:lnTo>
                    <a:pt x="17" y="1"/>
                  </a:lnTo>
                  <a:close/>
                </a:path>
              </a:pathLst>
            </a:custGeom>
            <a:solidFill>
              <a:srgbClr val="BCE5E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55" name="Freeform 254"/>
            <p:cNvSpPr>
              <a:spLocks/>
            </p:cNvSpPr>
            <p:nvPr/>
          </p:nvSpPr>
          <p:spPr bwMode="auto">
            <a:xfrm>
              <a:off x="1207" y="2114"/>
              <a:ext cx="14" cy="46"/>
            </a:xfrm>
            <a:custGeom>
              <a:avLst/>
              <a:gdLst>
                <a:gd name="T0" fmla="*/ 14 w 14"/>
                <a:gd name="T1" fmla="*/ 1 h 46"/>
                <a:gd name="T2" fmla="*/ 14 w 14"/>
                <a:gd name="T3" fmla="*/ 0 h 46"/>
                <a:gd name="T4" fmla="*/ 13 w 14"/>
                <a:gd name="T5" fmla="*/ 0 h 46"/>
                <a:gd name="T6" fmla="*/ 11 w 14"/>
                <a:gd name="T7" fmla="*/ 0 h 46"/>
                <a:gd name="T8" fmla="*/ 9 w 14"/>
                <a:gd name="T9" fmla="*/ 0 h 46"/>
                <a:gd name="T10" fmla="*/ 8 w 14"/>
                <a:gd name="T11" fmla="*/ 0 h 46"/>
                <a:gd name="T12" fmla="*/ 6 w 14"/>
                <a:gd name="T13" fmla="*/ 0 h 46"/>
                <a:gd name="T14" fmla="*/ 2 w 14"/>
                <a:gd name="T15" fmla="*/ 0 h 46"/>
                <a:gd name="T16" fmla="*/ 0 w 14"/>
                <a:gd name="T17" fmla="*/ 2 h 46"/>
                <a:gd name="T18" fmla="*/ 0 w 14"/>
                <a:gd name="T19" fmla="*/ 46 h 46"/>
                <a:gd name="T20" fmla="*/ 1 w 14"/>
                <a:gd name="T21" fmla="*/ 46 h 46"/>
                <a:gd name="T22" fmla="*/ 1 w 14"/>
                <a:gd name="T23" fmla="*/ 46 h 46"/>
                <a:gd name="T24" fmla="*/ 3 w 14"/>
                <a:gd name="T25" fmla="*/ 46 h 46"/>
                <a:gd name="T26" fmla="*/ 4 w 14"/>
                <a:gd name="T27" fmla="*/ 44 h 46"/>
                <a:gd name="T28" fmla="*/ 7 w 14"/>
                <a:gd name="T29" fmla="*/ 44 h 46"/>
                <a:gd name="T30" fmla="*/ 9 w 14"/>
                <a:gd name="T31" fmla="*/ 43 h 46"/>
                <a:gd name="T32" fmla="*/ 11 w 14"/>
                <a:gd name="T33" fmla="*/ 42 h 46"/>
                <a:gd name="T34" fmla="*/ 14 w 14"/>
                <a:gd name="T35" fmla="*/ 41 h 46"/>
                <a:gd name="T36" fmla="*/ 14 w 14"/>
                <a:gd name="T37" fmla="*/ 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 h="46">
                  <a:moveTo>
                    <a:pt x="14" y="1"/>
                  </a:moveTo>
                  <a:lnTo>
                    <a:pt x="14" y="0"/>
                  </a:lnTo>
                  <a:lnTo>
                    <a:pt x="13" y="0"/>
                  </a:lnTo>
                  <a:lnTo>
                    <a:pt x="11" y="0"/>
                  </a:lnTo>
                  <a:lnTo>
                    <a:pt x="9" y="0"/>
                  </a:lnTo>
                  <a:lnTo>
                    <a:pt x="8" y="0"/>
                  </a:lnTo>
                  <a:lnTo>
                    <a:pt x="6" y="0"/>
                  </a:lnTo>
                  <a:lnTo>
                    <a:pt x="2" y="0"/>
                  </a:lnTo>
                  <a:lnTo>
                    <a:pt x="0" y="2"/>
                  </a:lnTo>
                  <a:lnTo>
                    <a:pt x="0" y="46"/>
                  </a:lnTo>
                  <a:lnTo>
                    <a:pt x="1" y="46"/>
                  </a:lnTo>
                  <a:lnTo>
                    <a:pt x="1" y="46"/>
                  </a:lnTo>
                  <a:lnTo>
                    <a:pt x="3" y="46"/>
                  </a:lnTo>
                  <a:lnTo>
                    <a:pt x="4" y="44"/>
                  </a:lnTo>
                  <a:lnTo>
                    <a:pt x="7" y="44"/>
                  </a:lnTo>
                  <a:lnTo>
                    <a:pt x="9" y="43"/>
                  </a:lnTo>
                  <a:lnTo>
                    <a:pt x="11" y="42"/>
                  </a:lnTo>
                  <a:lnTo>
                    <a:pt x="14" y="41"/>
                  </a:lnTo>
                  <a:lnTo>
                    <a:pt x="14" y="1"/>
                  </a:lnTo>
                  <a:close/>
                </a:path>
              </a:pathLst>
            </a:custGeom>
            <a:solidFill>
              <a:srgbClr val="D1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56" name="Freeform 255"/>
            <p:cNvSpPr>
              <a:spLocks/>
            </p:cNvSpPr>
            <p:nvPr/>
          </p:nvSpPr>
          <p:spPr bwMode="auto">
            <a:xfrm>
              <a:off x="1208" y="2114"/>
              <a:ext cx="9" cy="27"/>
            </a:xfrm>
            <a:custGeom>
              <a:avLst/>
              <a:gdLst>
                <a:gd name="T0" fmla="*/ 9 w 9"/>
                <a:gd name="T1" fmla="*/ 1 h 27"/>
                <a:gd name="T2" fmla="*/ 9 w 9"/>
                <a:gd name="T3" fmla="*/ 1 h 27"/>
                <a:gd name="T4" fmla="*/ 8 w 9"/>
                <a:gd name="T5" fmla="*/ 1 h 27"/>
                <a:gd name="T6" fmla="*/ 7 w 9"/>
                <a:gd name="T7" fmla="*/ 1 h 27"/>
                <a:gd name="T8" fmla="*/ 6 w 9"/>
                <a:gd name="T9" fmla="*/ 0 h 27"/>
                <a:gd name="T10" fmla="*/ 5 w 9"/>
                <a:gd name="T11" fmla="*/ 0 h 27"/>
                <a:gd name="T12" fmla="*/ 3 w 9"/>
                <a:gd name="T13" fmla="*/ 1 h 27"/>
                <a:gd name="T14" fmla="*/ 1 w 9"/>
                <a:gd name="T15" fmla="*/ 1 h 27"/>
                <a:gd name="T16" fmla="*/ 0 w 9"/>
                <a:gd name="T17" fmla="*/ 2 h 27"/>
                <a:gd name="T18" fmla="*/ 0 w 9"/>
                <a:gd name="T19" fmla="*/ 27 h 27"/>
                <a:gd name="T20" fmla="*/ 0 w 9"/>
                <a:gd name="T21" fmla="*/ 27 h 27"/>
                <a:gd name="T22" fmla="*/ 1 w 9"/>
                <a:gd name="T23" fmla="*/ 27 h 27"/>
                <a:gd name="T24" fmla="*/ 2 w 9"/>
                <a:gd name="T25" fmla="*/ 27 h 27"/>
                <a:gd name="T26" fmla="*/ 3 w 9"/>
                <a:gd name="T27" fmla="*/ 27 h 27"/>
                <a:gd name="T28" fmla="*/ 5 w 9"/>
                <a:gd name="T29" fmla="*/ 27 h 27"/>
                <a:gd name="T30" fmla="*/ 6 w 9"/>
                <a:gd name="T31" fmla="*/ 26 h 27"/>
                <a:gd name="T32" fmla="*/ 8 w 9"/>
                <a:gd name="T33" fmla="*/ 25 h 27"/>
                <a:gd name="T34" fmla="*/ 9 w 9"/>
                <a:gd name="T35" fmla="*/ 23 h 27"/>
                <a:gd name="T36" fmla="*/ 9 w 9"/>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7">
                  <a:moveTo>
                    <a:pt x="9" y="1"/>
                  </a:moveTo>
                  <a:lnTo>
                    <a:pt x="9" y="1"/>
                  </a:lnTo>
                  <a:lnTo>
                    <a:pt x="8" y="1"/>
                  </a:lnTo>
                  <a:lnTo>
                    <a:pt x="7" y="1"/>
                  </a:lnTo>
                  <a:lnTo>
                    <a:pt x="6" y="0"/>
                  </a:lnTo>
                  <a:lnTo>
                    <a:pt x="5" y="0"/>
                  </a:lnTo>
                  <a:lnTo>
                    <a:pt x="3" y="1"/>
                  </a:lnTo>
                  <a:lnTo>
                    <a:pt x="1" y="1"/>
                  </a:lnTo>
                  <a:lnTo>
                    <a:pt x="0" y="2"/>
                  </a:lnTo>
                  <a:lnTo>
                    <a:pt x="0" y="27"/>
                  </a:lnTo>
                  <a:lnTo>
                    <a:pt x="0" y="27"/>
                  </a:lnTo>
                  <a:lnTo>
                    <a:pt x="1" y="27"/>
                  </a:lnTo>
                  <a:lnTo>
                    <a:pt x="2" y="27"/>
                  </a:lnTo>
                  <a:lnTo>
                    <a:pt x="3" y="27"/>
                  </a:lnTo>
                  <a:lnTo>
                    <a:pt x="5" y="27"/>
                  </a:lnTo>
                  <a:lnTo>
                    <a:pt x="6" y="26"/>
                  </a:lnTo>
                  <a:lnTo>
                    <a:pt x="8" y="25"/>
                  </a:lnTo>
                  <a:lnTo>
                    <a:pt x="9" y="23"/>
                  </a:lnTo>
                  <a:lnTo>
                    <a:pt x="9" y="1"/>
                  </a:lnTo>
                  <a:close/>
                </a:path>
              </a:pathLst>
            </a:custGeom>
            <a:solidFill>
              <a:srgbClr val="E5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57" name="Freeform 256"/>
            <p:cNvSpPr>
              <a:spLocks/>
            </p:cNvSpPr>
            <p:nvPr/>
          </p:nvSpPr>
          <p:spPr bwMode="auto">
            <a:xfrm>
              <a:off x="1319" y="2191"/>
              <a:ext cx="14" cy="14"/>
            </a:xfrm>
            <a:custGeom>
              <a:avLst/>
              <a:gdLst>
                <a:gd name="T0" fmla="*/ 7 w 14"/>
                <a:gd name="T1" fmla="*/ 14 h 14"/>
                <a:gd name="T2" fmla="*/ 8 w 14"/>
                <a:gd name="T3" fmla="*/ 14 h 14"/>
                <a:gd name="T4" fmla="*/ 9 w 14"/>
                <a:gd name="T5" fmla="*/ 13 h 14"/>
                <a:gd name="T6" fmla="*/ 10 w 14"/>
                <a:gd name="T7" fmla="*/ 13 h 14"/>
                <a:gd name="T8" fmla="*/ 11 w 14"/>
                <a:gd name="T9" fmla="*/ 12 h 14"/>
                <a:gd name="T10" fmla="*/ 13 w 14"/>
                <a:gd name="T11" fmla="*/ 11 h 14"/>
                <a:gd name="T12" fmla="*/ 13 w 14"/>
                <a:gd name="T13" fmla="*/ 10 h 14"/>
                <a:gd name="T14" fmla="*/ 14 w 14"/>
                <a:gd name="T15" fmla="*/ 8 h 14"/>
                <a:gd name="T16" fmla="*/ 14 w 14"/>
                <a:gd name="T17" fmla="*/ 7 h 14"/>
                <a:gd name="T18" fmla="*/ 14 w 14"/>
                <a:gd name="T19" fmla="*/ 6 h 14"/>
                <a:gd name="T20" fmla="*/ 13 w 14"/>
                <a:gd name="T21" fmla="*/ 5 h 14"/>
                <a:gd name="T22" fmla="*/ 13 w 14"/>
                <a:gd name="T23" fmla="*/ 4 h 14"/>
                <a:gd name="T24" fmla="*/ 11 w 14"/>
                <a:gd name="T25" fmla="*/ 3 h 14"/>
                <a:gd name="T26" fmla="*/ 10 w 14"/>
                <a:gd name="T27" fmla="*/ 1 h 14"/>
                <a:gd name="T28" fmla="*/ 9 w 14"/>
                <a:gd name="T29" fmla="*/ 0 h 14"/>
                <a:gd name="T30" fmla="*/ 8 w 14"/>
                <a:gd name="T31" fmla="*/ 0 h 14"/>
                <a:gd name="T32" fmla="*/ 7 w 14"/>
                <a:gd name="T33" fmla="*/ 0 h 14"/>
                <a:gd name="T34" fmla="*/ 6 w 14"/>
                <a:gd name="T35" fmla="*/ 0 h 14"/>
                <a:gd name="T36" fmla="*/ 4 w 14"/>
                <a:gd name="T37" fmla="*/ 0 h 14"/>
                <a:gd name="T38" fmla="*/ 3 w 14"/>
                <a:gd name="T39" fmla="*/ 1 h 14"/>
                <a:gd name="T40" fmla="*/ 2 w 14"/>
                <a:gd name="T41" fmla="*/ 3 h 14"/>
                <a:gd name="T42" fmla="*/ 1 w 14"/>
                <a:gd name="T43" fmla="*/ 4 h 14"/>
                <a:gd name="T44" fmla="*/ 1 w 14"/>
                <a:gd name="T45" fmla="*/ 5 h 14"/>
                <a:gd name="T46" fmla="*/ 0 w 14"/>
                <a:gd name="T47" fmla="*/ 6 h 14"/>
                <a:gd name="T48" fmla="*/ 0 w 14"/>
                <a:gd name="T49" fmla="*/ 7 h 14"/>
                <a:gd name="T50" fmla="*/ 0 w 14"/>
                <a:gd name="T51" fmla="*/ 8 h 14"/>
                <a:gd name="T52" fmla="*/ 1 w 14"/>
                <a:gd name="T53" fmla="*/ 10 h 14"/>
                <a:gd name="T54" fmla="*/ 1 w 14"/>
                <a:gd name="T55" fmla="*/ 11 h 14"/>
                <a:gd name="T56" fmla="*/ 2 w 14"/>
                <a:gd name="T57" fmla="*/ 12 h 14"/>
                <a:gd name="T58" fmla="*/ 3 w 14"/>
                <a:gd name="T59" fmla="*/ 13 h 14"/>
                <a:gd name="T60" fmla="*/ 4 w 14"/>
                <a:gd name="T61" fmla="*/ 13 h 14"/>
                <a:gd name="T62" fmla="*/ 6 w 14"/>
                <a:gd name="T63" fmla="*/ 14 h 14"/>
                <a:gd name="T64" fmla="*/ 7 w 14"/>
                <a:gd name="T65"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 h="14">
                  <a:moveTo>
                    <a:pt x="7" y="14"/>
                  </a:moveTo>
                  <a:lnTo>
                    <a:pt x="8" y="14"/>
                  </a:lnTo>
                  <a:lnTo>
                    <a:pt x="9" y="13"/>
                  </a:lnTo>
                  <a:lnTo>
                    <a:pt x="10" y="13"/>
                  </a:lnTo>
                  <a:lnTo>
                    <a:pt x="11" y="12"/>
                  </a:lnTo>
                  <a:lnTo>
                    <a:pt x="13" y="11"/>
                  </a:lnTo>
                  <a:lnTo>
                    <a:pt x="13" y="10"/>
                  </a:lnTo>
                  <a:lnTo>
                    <a:pt x="14" y="8"/>
                  </a:lnTo>
                  <a:lnTo>
                    <a:pt x="14" y="7"/>
                  </a:lnTo>
                  <a:lnTo>
                    <a:pt x="14" y="6"/>
                  </a:lnTo>
                  <a:lnTo>
                    <a:pt x="13" y="5"/>
                  </a:lnTo>
                  <a:lnTo>
                    <a:pt x="13" y="4"/>
                  </a:lnTo>
                  <a:lnTo>
                    <a:pt x="11" y="3"/>
                  </a:lnTo>
                  <a:lnTo>
                    <a:pt x="10" y="1"/>
                  </a:lnTo>
                  <a:lnTo>
                    <a:pt x="9" y="0"/>
                  </a:lnTo>
                  <a:lnTo>
                    <a:pt x="8" y="0"/>
                  </a:lnTo>
                  <a:lnTo>
                    <a:pt x="7" y="0"/>
                  </a:lnTo>
                  <a:lnTo>
                    <a:pt x="6" y="0"/>
                  </a:lnTo>
                  <a:lnTo>
                    <a:pt x="4" y="0"/>
                  </a:lnTo>
                  <a:lnTo>
                    <a:pt x="3" y="1"/>
                  </a:lnTo>
                  <a:lnTo>
                    <a:pt x="2" y="3"/>
                  </a:lnTo>
                  <a:lnTo>
                    <a:pt x="1" y="4"/>
                  </a:lnTo>
                  <a:lnTo>
                    <a:pt x="1" y="5"/>
                  </a:lnTo>
                  <a:lnTo>
                    <a:pt x="0" y="6"/>
                  </a:lnTo>
                  <a:lnTo>
                    <a:pt x="0" y="7"/>
                  </a:lnTo>
                  <a:lnTo>
                    <a:pt x="0" y="8"/>
                  </a:lnTo>
                  <a:lnTo>
                    <a:pt x="1" y="10"/>
                  </a:lnTo>
                  <a:lnTo>
                    <a:pt x="1" y="11"/>
                  </a:lnTo>
                  <a:lnTo>
                    <a:pt x="2" y="12"/>
                  </a:lnTo>
                  <a:lnTo>
                    <a:pt x="3" y="13"/>
                  </a:lnTo>
                  <a:lnTo>
                    <a:pt x="4" y="13"/>
                  </a:lnTo>
                  <a:lnTo>
                    <a:pt x="6" y="14"/>
                  </a:lnTo>
                  <a:lnTo>
                    <a:pt x="7"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58" name="Freeform 257"/>
            <p:cNvSpPr>
              <a:spLocks/>
            </p:cNvSpPr>
            <p:nvPr/>
          </p:nvSpPr>
          <p:spPr bwMode="auto">
            <a:xfrm>
              <a:off x="1278" y="2191"/>
              <a:ext cx="7" cy="7"/>
            </a:xfrm>
            <a:custGeom>
              <a:avLst/>
              <a:gdLst>
                <a:gd name="T0" fmla="*/ 3 w 7"/>
                <a:gd name="T1" fmla="*/ 7 h 7"/>
                <a:gd name="T2" fmla="*/ 5 w 7"/>
                <a:gd name="T3" fmla="*/ 7 h 7"/>
                <a:gd name="T4" fmla="*/ 6 w 7"/>
                <a:gd name="T5" fmla="*/ 6 h 7"/>
                <a:gd name="T6" fmla="*/ 6 w 7"/>
                <a:gd name="T7" fmla="*/ 5 h 7"/>
                <a:gd name="T8" fmla="*/ 7 w 7"/>
                <a:gd name="T9" fmla="*/ 4 h 7"/>
                <a:gd name="T10" fmla="*/ 6 w 7"/>
                <a:gd name="T11" fmla="*/ 3 h 7"/>
                <a:gd name="T12" fmla="*/ 6 w 7"/>
                <a:gd name="T13" fmla="*/ 1 h 7"/>
                <a:gd name="T14" fmla="*/ 5 w 7"/>
                <a:gd name="T15" fmla="*/ 0 h 7"/>
                <a:gd name="T16" fmla="*/ 3 w 7"/>
                <a:gd name="T17" fmla="*/ 0 h 7"/>
                <a:gd name="T18" fmla="*/ 2 w 7"/>
                <a:gd name="T19" fmla="*/ 0 h 7"/>
                <a:gd name="T20" fmla="*/ 1 w 7"/>
                <a:gd name="T21" fmla="*/ 1 h 7"/>
                <a:gd name="T22" fmla="*/ 0 w 7"/>
                <a:gd name="T23" fmla="*/ 3 h 7"/>
                <a:gd name="T24" fmla="*/ 0 w 7"/>
                <a:gd name="T25" fmla="*/ 4 h 7"/>
                <a:gd name="T26" fmla="*/ 0 w 7"/>
                <a:gd name="T27" fmla="*/ 5 h 7"/>
                <a:gd name="T28" fmla="*/ 1 w 7"/>
                <a:gd name="T29" fmla="*/ 6 h 7"/>
                <a:gd name="T30" fmla="*/ 2 w 7"/>
                <a:gd name="T31" fmla="*/ 7 h 7"/>
                <a:gd name="T32" fmla="*/ 3 w 7"/>
                <a:gd name="T33"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 h="7">
                  <a:moveTo>
                    <a:pt x="3" y="7"/>
                  </a:moveTo>
                  <a:lnTo>
                    <a:pt x="5" y="7"/>
                  </a:lnTo>
                  <a:lnTo>
                    <a:pt x="6" y="6"/>
                  </a:lnTo>
                  <a:lnTo>
                    <a:pt x="6" y="5"/>
                  </a:lnTo>
                  <a:lnTo>
                    <a:pt x="7" y="4"/>
                  </a:lnTo>
                  <a:lnTo>
                    <a:pt x="6" y="3"/>
                  </a:lnTo>
                  <a:lnTo>
                    <a:pt x="6" y="1"/>
                  </a:lnTo>
                  <a:lnTo>
                    <a:pt x="5" y="0"/>
                  </a:lnTo>
                  <a:lnTo>
                    <a:pt x="3" y="0"/>
                  </a:lnTo>
                  <a:lnTo>
                    <a:pt x="2" y="0"/>
                  </a:lnTo>
                  <a:lnTo>
                    <a:pt x="1" y="1"/>
                  </a:lnTo>
                  <a:lnTo>
                    <a:pt x="0" y="3"/>
                  </a:lnTo>
                  <a:lnTo>
                    <a:pt x="0" y="4"/>
                  </a:lnTo>
                  <a:lnTo>
                    <a:pt x="0" y="5"/>
                  </a:lnTo>
                  <a:lnTo>
                    <a:pt x="1" y="6"/>
                  </a:lnTo>
                  <a:lnTo>
                    <a:pt x="2" y="7"/>
                  </a:lnTo>
                  <a:lnTo>
                    <a:pt x="3"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59" name="Freeform 258"/>
            <p:cNvSpPr>
              <a:spLocks/>
            </p:cNvSpPr>
            <p:nvPr/>
          </p:nvSpPr>
          <p:spPr bwMode="auto">
            <a:xfrm>
              <a:off x="1290" y="2191"/>
              <a:ext cx="5" cy="7"/>
            </a:xfrm>
            <a:custGeom>
              <a:avLst/>
              <a:gdLst>
                <a:gd name="T0" fmla="*/ 3 w 5"/>
                <a:gd name="T1" fmla="*/ 7 h 7"/>
                <a:gd name="T2" fmla="*/ 4 w 5"/>
                <a:gd name="T3" fmla="*/ 7 h 7"/>
                <a:gd name="T4" fmla="*/ 5 w 5"/>
                <a:gd name="T5" fmla="*/ 7 h 7"/>
                <a:gd name="T6" fmla="*/ 5 w 5"/>
                <a:gd name="T7" fmla="*/ 6 h 7"/>
                <a:gd name="T8" fmla="*/ 5 w 5"/>
                <a:gd name="T9" fmla="*/ 4 h 7"/>
                <a:gd name="T10" fmla="*/ 5 w 5"/>
                <a:gd name="T11" fmla="*/ 3 h 7"/>
                <a:gd name="T12" fmla="*/ 5 w 5"/>
                <a:gd name="T13" fmla="*/ 1 h 7"/>
                <a:gd name="T14" fmla="*/ 4 w 5"/>
                <a:gd name="T15" fmla="*/ 1 h 7"/>
                <a:gd name="T16" fmla="*/ 3 w 5"/>
                <a:gd name="T17" fmla="*/ 0 h 7"/>
                <a:gd name="T18" fmla="*/ 2 w 5"/>
                <a:gd name="T19" fmla="*/ 1 h 7"/>
                <a:gd name="T20" fmla="*/ 1 w 5"/>
                <a:gd name="T21" fmla="*/ 1 h 7"/>
                <a:gd name="T22" fmla="*/ 0 w 5"/>
                <a:gd name="T23" fmla="*/ 3 h 7"/>
                <a:gd name="T24" fmla="*/ 0 w 5"/>
                <a:gd name="T25" fmla="*/ 4 h 7"/>
                <a:gd name="T26" fmla="*/ 0 w 5"/>
                <a:gd name="T27" fmla="*/ 6 h 7"/>
                <a:gd name="T28" fmla="*/ 1 w 5"/>
                <a:gd name="T29" fmla="*/ 7 h 7"/>
                <a:gd name="T30" fmla="*/ 2 w 5"/>
                <a:gd name="T31" fmla="*/ 7 h 7"/>
                <a:gd name="T32" fmla="*/ 3 w 5"/>
                <a:gd name="T33"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 h="7">
                  <a:moveTo>
                    <a:pt x="3" y="7"/>
                  </a:moveTo>
                  <a:lnTo>
                    <a:pt x="4" y="7"/>
                  </a:lnTo>
                  <a:lnTo>
                    <a:pt x="5" y="7"/>
                  </a:lnTo>
                  <a:lnTo>
                    <a:pt x="5" y="6"/>
                  </a:lnTo>
                  <a:lnTo>
                    <a:pt x="5" y="4"/>
                  </a:lnTo>
                  <a:lnTo>
                    <a:pt x="5" y="3"/>
                  </a:lnTo>
                  <a:lnTo>
                    <a:pt x="5" y="1"/>
                  </a:lnTo>
                  <a:lnTo>
                    <a:pt x="4" y="1"/>
                  </a:lnTo>
                  <a:lnTo>
                    <a:pt x="3" y="0"/>
                  </a:lnTo>
                  <a:lnTo>
                    <a:pt x="2" y="1"/>
                  </a:lnTo>
                  <a:lnTo>
                    <a:pt x="1" y="1"/>
                  </a:lnTo>
                  <a:lnTo>
                    <a:pt x="0" y="3"/>
                  </a:lnTo>
                  <a:lnTo>
                    <a:pt x="0" y="4"/>
                  </a:lnTo>
                  <a:lnTo>
                    <a:pt x="0" y="6"/>
                  </a:lnTo>
                  <a:lnTo>
                    <a:pt x="1" y="7"/>
                  </a:lnTo>
                  <a:lnTo>
                    <a:pt x="2" y="7"/>
                  </a:lnTo>
                  <a:lnTo>
                    <a:pt x="3"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60" name="Freeform 259"/>
            <p:cNvSpPr>
              <a:spLocks/>
            </p:cNvSpPr>
            <p:nvPr/>
          </p:nvSpPr>
          <p:spPr bwMode="auto">
            <a:xfrm>
              <a:off x="1244" y="2099"/>
              <a:ext cx="19" cy="92"/>
            </a:xfrm>
            <a:custGeom>
              <a:avLst/>
              <a:gdLst>
                <a:gd name="T0" fmla="*/ 6 w 19"/>
                <a:gd name="T1" fmla="*/ 1 h 92"/>
                <a:gd name="T2" fmla="*/ 6 w 19"/>
                <a:gd name="T3" fmla="*/ 3 h 92"/>
                <a:gd name="T4" fmla="*/ 4 w 19"/>
                <a:gd name="T5" fmla="*/ 8 h 92"/>
                <a:gd name="T6" fmla="*/ 2 w 19"/>
                <a:gd name="T7" fmla="*/ 16 h 92"/>
                <a:gd name="T8" fmla="*/ 1 w 19"/>
                <a:gd name="T9" fmla="*/ 28 h 92"/>
                <a:gd name="T10" fmla="*/ 0 w 19"/>
                <a:gd name="T11" fmla="*/ 41 h 92"/>
                <a:gd name="T12" fmla="*/ 0 w 19"/>
                <a:gd name="T13" fmla="*/ 57 h 92"/>
                <a:gd name="T14" fmla="*/ 1 w 19"/>
                <a:gd name="T15" fmla="*/ 73 h 92"/>
                <a:gd name="T16" fmla="*/ 5 w 19"/>
                <a:gd name="T17" fmla="*/ 92 h 92"/>
                <a:gd name="T18" fmla="*/ 19 w 19"/>
                <a:gd name="T19" fmla="*/ 92 h 92"/>
                <a:gd name="T20" fmla="*/ 18 w 19"/>
                <a:gd name="T21" fmla="*/ 89 h 92"/>
                <a:gd name="T22" fmla="*/ 16 w 19"/>
                <a:gd name="T23" fmla="*/ 82 h 92"/>
                <a:gd name="T24" fmla="*/ 15 w 19"/>
                <a:gd name="T25" fmla="*/ 70 h 92"/>
                <a:gd name="T26" fmla="*/ 14 w 19"/>
                <a:gd name="T27" fmla="*/ 57 h 92"/>
                <a:gd name="T28" fmla="*/ 13 w 19"/>
                <a:gd name="T29" fmla="*/ 42 h 92"/>
                <a:gd name="T30" fmla="*/ 13 w 19"/>
                <a:gd name="T31" fmla="*/ 27 h 92"/>
                <a:gd name="T32" fmla="*/ 15 w 19"/>
                <a:gd name="T33" fmla="*/ 13 h 92"/>
                <a:gd name="T34" fmla="*/ 19 w 19"/>
                <a:gd name="T35" fmla="*/ 1 h 92"/>
                <a:gd name="T36" fmla="*/ 19 w 19"/>
                <a:gd name="T37" fmla="*/ 1 h 92"/>
                <a:gd name="T38" fmla="*/ 19 w 19"/>
                <a:gd name="T39" fmla="*/ 0 h 92"/>
                <a:gd name="T40" fmla="*/ 19 w 19"/>
                <a:gd name="T41" fmla="*/ 0 h 92"/>
                <a:gd name="T42" fmla="*/ 18 w 19"/>
                <a:gd name="T43" fmla="*/ 0 h 92"/>
                <a:gd name="T44" fmla="*/ 16 w 19"/>
                <a:gd name="T45" fmla="*/ 0 h 92"/>
                <a:gd name="T46" fmla="*/ 14 w 19"/>
                <a:gd name="T47" fmla="*/ 0 h 92"/>
                <a:gd name="T48" fmla="*/ 11 w 19"/>
                <a:gd name="T49" fmla="*/ 0 h 92"/>
                <a:gd name="T50" fmla="*/ 6 w 19"/>
                <a:gd name="T51" fmla="*/ 1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92">
                  <a:moveTo>
                    <a:pt x="6" y="1"/>
                  </a:moveTo>
                  <a:lnTo>
                    <a:pt x="6" y="3"/>
                  </a:lnTo>
                  <a:lnTo>
                    <a:pt x="4" y="8"/>
                  </a:lnTo>
                  <a:lnTo>
                    <a:pt x="2" y="16"/>
                  </a:lnTo>
                  <a:lnTo>
                    <a:pt x="1" y="28"/>
                  </a:lnTo>
                  <a:lnTo>
                    <a:pt x="0" y="41"/>
                  </a:lnTo>
                  <a:lnTo>
                    <a:pt x="0" y="57"/>
                  </a:lnTo>
                  <a:lnTo>
                    <a:pt x="1" y="73"/>
                  </a:lnTo>
                  <a:lnTo>
                    <a:pt x="5" y="92"/>
                  </a:lnTo>
                  <a:lnTo>
                    <a:pt x="19" y="92"/>
                  </a:lnTo>
                  <a:lnTo>
                    <a:pt x="18" y="89"/>
                  </a:lnTo>
                  <a:lnTo>
                    <a:pt x="16" y="82"/>
                  </a:lnTo>
                  <a:lnTo>
                    <a:pt x="15" y="70"/>
                  </a:lnTo>
                  <a:lnTo>
                    <a:pt x="14" y="57"/>
                  </a:lnTo>
                  <a:lnTo>
                    <a:pt x="13" y="42"/>
                  </a:lnTo>
                  <a:lnTo>
                    <a:pt x="13" y="27"/>
                  </a:lnTo>
                  <a:lnTo>
                    <a:pt x="15" y="13"/>
                  </a:lnTo>
                  <a:lnTo>
                    <a:pt x="19" y="1"/>
                  </a:lnTo>
                  <a:lnTo>
                    <a:pt x="19" y="1"/>
                  </a:lnTo>
                  <a:lnTo>
                    <a:pt x="19" y="0"/>
                  </a:lnTo>
                  <a:lnTo>
                    <a:pt x="19" y="0"/>
                  </a:lnTo>
                  <a:lnTo>
                    <a:pt x="18" y="0"/>
                  </a:lnTo>
                  <a:lnTo>
                    <a:pt x="16" y="0"/>
                  </a:lnTo>
                  <a:lnTo>
                    <a:pt x="14" y="0"/>
                  </a:lnTo>
                  <a:lnTo>
                    <a:pt x="11" y="0"/>
                  </a:lnTo>
                  <a:lnTo>
                    <a:pt x="6" y="1"/>
                  </a:lnTo>
                  <a:close/>
                </a:path>
              </a:pathLst>
            </a:custGeom>
            <a:solidFill>
              <a:srgbClr val="3F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61" name="Freeform 260"/>
            <p:cNvSpPr>
              <a:spLocks/>
            </p:cNvSpPr>
            <p:nvPr/>
          </p:nvSpPr>
          <p:spPr bwMode="auto">
            <a:xfrm>
              <a:off x="1342" y="2087"/>
              <a:ext cx="27" cy="104"/>
            </a:xfrm>
            <a:custGeom>
              <a:avLst/>
              <a:gdLst>
                <a:gd name="T0" fmla="*/ 27 w 27"/>
                <a:gd name="T1" fmla="*/ 0 h 104"/>
                <a:gd name="T2" fmla="*/ 26 w 27"/>
                <a:gd name="T3" fmla="*/ 1 h 104"/>
                <a:gd name="T4" fmla="*/ 25 w 27"/>
                <a:gd name="T5" fmla="*/ 4 h 104"/>
                <a:gd name="T6" fmla="*/ 22 w 27"/>
                <a:gd name="T7" fmla="*/ 10 h 104"/>
                <a:gd name="T8" fmla="*/ 20 w 27"/>
                <a:gd name="T9" fmla="*/ 19 h 104"/>
                <a:gd name="T10" fmla="*/ 18 w 27"/>
                <a:gd name="T11" fmla="*/ 32 h 104"/>
                <a:gd name="T12" fmla="*/ 16 w 27"/>
                <a:gd name="T13" fmla="*/ 49 h 104"/>
                <a:gd name="T14" fmla="*/ 18 w 27"/>
                <a:gd name="T15" fmla="*/ 74 h 104"/>
                <a:gd name="T16" fmla="*/ 20 w 27"/>
                <a:gd name="T17" fmla="*/ 104 h 104"/>
                <a:gd name="T18" fmla="*/ 5 w 27"/>
                <a:gd name="T19" fmla="*/ 104 h 104"/>
                <a:gd name="T20" fmla="*/ 5 w 27"/>
                <a:gd name="T21" fmla="*/ 101 h 104"/>
                <a:gd name="T22" fmla="*/ 4 w 27"/>
                <a:gd name="T23" fmla="*/ 92 h 104"/>
                <a:gd name="T24" fmla="*/ 2 w 27"/>
                <a:gd name="T25" fmla="*/ 80 h 104"/>
                <a:gd name="T26" fmla="*/ 1 w 27"/>
                <a:gd name="T27" fmla="*/ 64 h 104"/>
                <a:gd name="T28" fmla="*/ 0 w 27"/>
                <a:gd name="T29" fmla="*/ 47 h 104"/>
                <a:gd name="T30" fmla="*/ 1 w 27"/>
                <a:gd name="T31" fmla="*/ 31 h 104"/>
                <a:gd name="T32" fmla="*/ 4 w 27"/>
                <a:gd name="T33" fmla="*/ 14 h 104"/>
                <a:gd name="T34" fmla="*/ 9 w 27"/>
                <a:gd name="T35" fmla="*/ 0 h 104"/>
                <a:gd name="T36" fmla="*/ 27 w 27"/>
                <a:gd name="T37"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104">
                  <a:moveTo>
                    <a:pt x="27" y="0"/>
                  </a:moveTo>
                  <a:lnTo>
                    <a:pt x="26" y="1"/>
                  </a:lnTo>
                  <a:lnTo>
                    <a:pt x="25" y="4"/>
                  </a:lnTo>
                  <a:lnTo>
                    <a:pt x="22" y="10"/>
                  </a:lnTo>
                  <a:lnTo>
                    <a:pt x="20" y="19"/>
                  </a:lnTo>
                  <a:lnTo>
                    <a:pt x="18" y="32"/>
                  </a:lnTo>
                  <a:lnTo>
                    <a:pt x="16" y="49"/>
                  </a:lnTo>
                  <a:lnTo>
                    <a:pt x="18" y="74"/>
                  </a:lnTo>
                  <a:lnTo>
                    <a:pt x="20" y="104"/>
                  </a:lnTo>
                  <a:lnTo>
                    <a:pt x="5" y="104"/>
                  </a:lnTo>
                  <a:lnTo>
                    <a:pt x="5" y="101"/>
                  </a:lnTo>
                  <a:lnTo>
                    <a:pt x="4" y="92"/>
                  </a:lnTo>
                  <a:lnTo>
                    <a:pt x="2" y="80"/>
                  </a:lnTo>
                  <a:lnTo>
                    <a:pt x="1" y="64"/>
                  </a:lnTo>
                  <a:lnTo>
                    <a:pt x="0" y="47"/>
                  </a:lnTo>
                  <a:lnTo>
                    <a:pt x="1" y="31"/>
                  </a:lnTo>
                  <a:lnTo>
                    <a:pt x="4" y="14"/>
                  </a:lnTo>
                  <a:lnTo>
                    <a:pt x="9" y="0"/>
                  </a:lnTo>
                  <a:lnTo>
                    <a:pt x="27" y="0"/>
                  </a:lnTo>
                  <a:close/>
                </a:path>
              </a:pathLst>
            </a:custGeom>
            <a:solidFill>
              <a:srgbClr val="3F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62" name="Freeform 261"/>
            <p:cNvSpPr>
              <a:spLocks/>
            </p:cNvSpPr>
            <p:nvPr/>
          </p:nvSpPr>
          <p:spPr bwMode="auto">
            <a:xfrm>
              <a:off x="1244" y="2104"/>
              <a:ext cx="18" cy="81"/>
            </a:xfrm>
            <a:custGeom>
              <a:avLst/>
              <a:gdLst>
                <a:gd name="T0" fmla="*/ 6 w 18"/>
                <a:gd name="T1" fmla="*/ 2 h 81"/>
                <a:gd name="T2" fmla="*/ 6 w 18"/>
                <a:gd name="T3" fmla="*/ 3 h 81"/>
                <a:gd name="T4" fmla="*/ 5 w 18"/>
                <a:gd name="T5" fmla="*/ 8 h 81"/>
                <a:gd name="T6" fmla="*/ 2 w 18"/>
                <a:gd name="T7" fmla="*/ 15 h 81"/>
                <a:gd name="T8" fmla="*/ 1 w 18"/>
                <a:gd name="T9" fmla="*/ 25 h 81"/>
                <a:gd name="T10" fmla="*/ 0 w 18"/>
                <a:gd name="T11" fmla="*/ 37 h 81"/>
                <a:gd name="T12" fmla="*/ 1 w 18"/>
                <a:gd name="T13" fmla="*/ 50 h 81"/>
                <a:gd name="T14" fmla="*/ 2 w 18"/>
                <a:gd name="T15" fmla="*/ 65 h 81"/>
                <a:gd name="T16" fmla="*/ 5 w 18"/>
                <a:gd name="T17" fmla="*/ 81 h 81"/>
                <a:gd name="T18" fmla="*/ 16 w 18"/>
                <a:gd name="T19" fmla="*/ 80 h 81"/>
                <a:gd name="T20" fmla="*/ 16 w 18"/>
                <a:gd name="T21" fmla="*/ 78 h 81"/>
                <a:gd name="T22" fmla="*/ 15 w 18"/>
                <a:gd name="T23" fmla="*/ 72 h 81"/>
                <a:gd name="T24" fmla="*/ 14 w 18"/>
                <a:gd name="T25" fmla="*/ 61 h 81"/>
                <a:gd name="T26" fmla="*/ 13 w 18"/>
                <a:gd name="T27" fmla="*/ 50 h 81"/>
                <a:gd name="T28" fmla="*/ 12 w 18"/>
                <a:gd name="T29" fmla="*/ 37 h 81"/>
                <a:gd name="T30" fmla="*/ 12 w 18"/>
                <a:gd name="T31" fmla="*/ 24 h 81"/>
                <a:gd name="T32" fmla="*/ 14 w 18"/>
                <a:gd name="T33" fmla="*/ 11 h 81"/>
                <a:gd name="T34" fmla="*/ 18 w 18"/>
                <a:gd name="T35" fmla="*/ 1 h 81"/>
                <a:gd name="T36" fmla="*/ 18 w 18"/>
                <a:gd name="T37" fmla="*/ 1 h 81"/>
                <a:gd name="T38" fmla="*/ 18 w 18"/>
                <a:gd name="T39" fmla="*/ 1 h 81"/>
                <a:gd name="T40" fmla="*/ 18 w 18"/>
                <a:gd name="T41" fmla="*/ 1 h 81"/>
                <a:gd name="T42" fmla="*/ 16 w 18"/>
                <a:gd name="T43" fmla="*/ 0 h 81"/>
                <a:gd name="T44" fmla="*/ 15 w 18"/>
                <a:gd name="T45" fmla="*/ 0 h 81"/>
                <a:gd name="T46" fmla="*/ 13 w 18"/>
                <a:gd name="T47" fmla="*/ 1 h 81"/>
                <a:gd name="T48" fmla="*/ 9 w 18"/>
                <a:gd name="T49" fmla="*/ 1 h 81"/>
                <a:gd name="T50" fmla="*/ 6 w 18"/>
                <a:gd name="T51" fmla="*/ 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 h="81">
                  <a:moveTo>
                    <a:pt x="6" y="2"/>
                  </a:moveTo>
                  <a:lnTo>
                    <a:pt x="6" y="3"/>
                  </a:lnTo>
                  <a:lnTo>
                    <a:pt x="5" y="8"/>
                  </a:lnTo>
                  <a:lnTo>
                    <a:pt x="2" y="15"/>
                  </a:lnTo>
                  <a:lnTo>
                    <a:pt x="1" y="25"/>
                  </a:lnTo>
                  <a:lnTo>
                    <a:pt x="0" y="37"/>
                  </a:lnTo>
                  <a:lnTo>
                    <a:pt x="1" y="50"/>
                  </a:lnTo>
                  <a:lnTo>
                    <a:pt x="2" y="65"/>
                  </a:lnTo>
                  <a:lnTo>
                    <a:pt x="5" y="81"/>
                  </a:lnTo>
                  <a:lnTo>
                    <a:pt x="16" y="80"/>
                  </a:lnTo>
                  <a:lnTo>
                    <a:pt x="16" y="78"/>
                  </a:lnTo>
                  <a:lnTo>
                    <a:pt x="15" y="72"/>
                  </a:lnTo>
                  <a:lnTo>
                    <a:pt x="14" y="61"/>
                  </a:lnTo>
                  <a:lnTo>
                    <a:pt x="13" y="50"/>
                  </a:lnTo>
                  <a:lnTo>
                    <a:pt x="12" y="37"/>
                  </a:lnTo>
                  <a:lnTo>
                    <a:pt x="12" y="24"/>
                  </a:lnTo>
                  <a:lnTo>
                    <a:pt x="14" y="11"/>
                  </a:lnTo>
                  <a:lnTo>
                    <a:pt x="18" y="1"/>
                  </a:lnTo>
                  <a:lnTo>
                    <a:pt x="18" y="1"/>
                  </a:lnTo>
                  <a:lnTo>
                    <a:pt x="18" y="1"/>
                  </a:lnTo>
                  <a:lnTo>
                    <a:pt x="18" y="1"/>
                  </a:lnTo>
                  <a:lnTo>
                    <a:pt x="16" y="0"/>
                  </a:lnTo>
                  <a:lnTo>
                    <a:pt x="15" y="0"/>
                  </a:lnTo>
                  <a:lnTo>
                    <a:pt x="13" y="1"/>
                  </a:lnTo>
                  <a:lnTo>
                    <a:pt x="9" y="1"/>
                  </a:lnTo>
                  <a:lnTo>
                    <a:pt x="6" y="2"/>
                  </a:lnTo>
                  <a:close/>
                </a:path>
              </a:pathLst>
            </a:custGeom>
            <a:solidFill>
              <a:srgbClr val="59B2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63" name="Freeform 262"/>
            <p:cNvSpPr>
              <a:spLocks/>
            </p:cNvSpPr>
            <p:nvPr/>
          </p:nvSpPr>
          <p:spPr bwMode="auto">
            <a:xfrm>
              <a:off x="1245" y="2109"/>
              <a:ext cx="14" cy="69"/>
            </a:xfrm>
            <a:custGeom>
              <a:avLst/>
              <a:gdLst>
                <a:gd name="T0" fmla="*/ 5 w 14"/>
                <a:gd name="T1" fmla="*/ 2 h 69"/>
                <a:gd name="T2" fmla="*/ 5 w 14"/>
                <a:gd name="T3" fmla="*/ 3 h 69"/>
                <a:gd name="T4" fmla="*/ 4 w 14"/>
                <a:gd name="T5" fmla="*/ 7 h 69"/>
                <a:gd name="T6" fmla="*/ 3 w 14"/>
                <a:gd name="T7" fmla="*/ 13 h 69"/>
                <a:gd name="T8" fmla="*/ 1 w 14"/>
                <a:gd name="T9" fmla="*/ 21 h 69"/>
                <a:gd name="T10" fmla="*/ 0 w 14"/>
                <a:gd name="T11" fmla="*/ 32 h 69"/>
                <a:gd name="T12" fmla="*/ 0 w 14"/>
                <a:gd name="T13" fmla="*/ 44 h 69"/>
                <a:gd name="T14" fmla="*/ 1 w 14"/>
                <a:gd name="T15" fmla="*/ 56 h 69"/>
                <a:gd name="T16" fmla="*/ 4 w 14"/>
                <a:gd name="T17" fmla="*/ 69 h 69"/>
                <a:gd name="T18" fmla="*/ 14 w 14"/>
                <a:gd name="T19" fmla="*/ 69 h 69"/>
                <a:gd name="T20" fmla="*/ 13 w 14"/>
                <a:gd name="T21" fmla="*/ 67 h 69"/>
                <a:gd name="T22" fmla="*/ 13 w 14"/>
                <a:gd name="T23" fmla="*/ 61 h 69"/>
                <a:gd name="T24" fmla="*/ 12 w 14"/>
                <a:gd name="T25" fmla="*/ 53 h 69"/>
                <a:gd name="T26" fmla="*/ 11 w 14"/>
                <a:gd name="T27" fmla="*/ 44 h 69"/>
                <a:gd name="T28" fmla="*/ 10 w 14"/>
                <a:gd name="T29" fmla="*/ 32 h 69"/>
                <a:gd name="T30" fmla="*/ 10 w 14"/>
                <a:gd name="T31" fmla="*/ 20 h 69"/>
                <a:gd name="T32" fmla="*/ 12 w 14"/>
                <a:gd name="T33" fmla="*/ 10 h 69"/>
                <a:gd name="T34" fmla="*/ 14 w 14"/>
                <a:gd name="T35" fmla="*/ 2 h 69"/>
                <a:gd name="T36" fmla="*/ 14 w 14"/>
                <a:gd name="T37" fmla="*/ 2 h 69"/>
                <a:gd name="T38" fmla="*/ 14 w 14"/>
                <a:gd name="T39" fmla="*/ 2 h 69"/>
                <a:gd name="T40" fmla="*/ 14 w 14"/>
                <a:gd name="T41" fmla="*/ 0 h 69"/>
                <a:gd name="T42" fmla="*/ 14 w 14"/>
                <a:gd name="T43" fmla="*/ 0 h 69"/>
                <a:gd name="T44" fmla="*/ 13 w 14"/>
                <a:gd name="T45" fmla="*/ 0 h 69"/>
                <a:gd name="T46" fmla="*/ 11 w 14"/>
                <a:gd name="T47" fmla="*/ 0 h 69"/>
                <a:gd name="T48" fmla="*/ 8 w 14"/>
                <a:gd name="T49" fmla="*/ 2 h 69"/>
                <a:gd name="T50" fmla="*/ 5 w 14"/>
                <a:gd name="T51" fmla="*/ 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 h="69">
                  <a:moveTo>
                    <a:pt x="5" y="2"/>
                  </a:moveTo>
                  <a:lnTo>
                    <a:pt x="5" y="3"/>
                  </a:lnTo>
                  <a:lnTo>
                    <a:pt x="4" y="7"/>
                  </a:lnTo>
                  <a:lnTo>
                    <a:pt x="3" y="13"/>
                  </a:lnTo>
                  <a:lnTo>
                    <a:pt x="1" y="21"/>
                  </a:lnTo>
                  <a:lnTo>
                    <a:pt x="0" y="32"/>
                  </a:lnTo>
                  <a:lnTo>
                    <a:pt x="0" y="44"/>
                  </a:lnTo>
                  <a:lnTo>
                    <a:pt x="1" y="56"/>
                  </a:lnTo>
                  <a:lnTo>
                    <a:pt x="4" y="69"/>
                  </a:lnTo>
                  <a:lnTo>
                    <a:pt x="14" y="69"/>
                  </a:lnTo>
                  <a:lnTo>
                    <a:pt x="13" y="67"/>
                  </a:lnTo>
                  <a:lnTo>
                    <a:pt x="13" y="61"/>
                  </a:lnTo>
                  <a:lnTo>
                    <a:pt x="12" y="53"/>
                  </a:lnTo>
                  <a:lnTo>
                    <a:pt x="11" y="44"/>
                  </a:lnTo>
                  <a:lnTo>
                    <a:pt x="10" y="32"/>
                  </a:lnTo>
                  <a:lnTo>
                    <a:pt x="10" y="20"/>
                  </a:lnTo>
                  <a:lnTo>
                    <a:pt x="12" y="10"/>
                  </a:lnTo>
                  <a:lnTo>
                    <a:pt x="14" y="2"/>
                  </a:lnTo>
                  <a:lnTo>
                    <a:pt x="14" y="2"/>
                  </a:lnTo>
                  <a:lnTo>
                    <a:pt x="14" y="2"/>
                  </a:lnTo>
                  <a:lnTo>
                    <a:pt x="14" y="0"/>
                  </a:lnTo>
                  <a:lnTo>
                    <a:pt x="14" y="0"/>
                  </a:lnTo>
                  <a:lnTo>
                    <a:pt x="13" y="0"/>
                  </a:lnTo>
                  <a:lnTo>
                    <a:pt x="11" y="0"/>
                  </a:lnTo>
                  <a:lnTo>
                    <a:pt x="8" y="2"/>
                  </a:lnTo>
                  <a:lnTo>
                    <a:pt x="5" y="2"/>
                  </a:lnTo>
                  <a:close/>
                </a:path>
              </a:pathLst>
            </a:custGeom>
            <a:solidFill>
              <a:srgbClr val="72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64" name="Freeform 263"/>
            <p:cNvSpPr>
              <a:spLocks/>
            </p:cNvSpPr>
            <p:nvPr/>
          </p:nvSpPr>
          <p:spPr bwMode="auto">
            <a:xfrm>
              <a:off x="1246" y="2115"/>
              <a:ext cx="12" cy="57"/>
            </a:xfrm>
            <a:custGeom>
              <a:avLst/>
              <a:gdLst>
                <a:gd name="T0" fmla="*/ 4 w 12"/>
                <a:gd name="T1" fmla="*/ 1 h 57"/>
                <a:gd name="T2" fmla="*/ 3 w 12"/>
                <a:gd name="T3" fmla="*/ 3 h 57"/>
                <a:gd name="T4" fmla="*/ 3 w 12"/>
                <a:gd name="T5" fmla="*/ 5 h 57"/>
                <a:gd name="T6" fmla="*/ 2 w 12"/>
                <a:gd name="T7" fmla="*/ 11 h 57"/>
                <a:gd name="T8" fmla="*/ 0 w 12"/>
                <a:gd name="T9" fmla="*/ 18 h 57"/>
                <a:gd name="T10" fmla="*/ 0 w 12"/>
                <a:gd name="T11" fmla="*/ 26 h 57"/>
                <a:gd name="T12" fmla="*/ 0 w 12"/>
                <a:gd name="T13" fmla="*/ 35 h 57"/>
                <a:gd name="T14" fmla="*/ 2 w 12"/>
                <a:gd name="T15" fmla="*/ 46 h 57"/>
                <a:gd name="T16" fmla="*/ 3 w 12"/>
                <a:gd name="T17" fmla="*/ 57 h 57"/>
                <a:gd name="T18" fmla="*/ 11 w 12"/>
                <a:gd name="T19" fmla="*/ 56 h 57"/>
                <a:gd name="T20" fmla="*/ 11 w 12"/>
                <a:gd name="T21" fmla="*/ 55 h 57"/>
                <a:gd name="T22" fmla="*/ 10 w 12"/>
                <a:gd name="T23" fmla="*/ 50 h 57"/>
                <a:gd name="T24" fmla="*/ 10 w 12"/>
                <a:gd name="T25" fmla="*/ 43 h 57"/>
                <a:gd name="T26" fmla="*/ 9 w 12"/>
                <a:gd name="T27" fmla="*/ 35 h 57"/>
                <a:gd name="T28" fmla="*/ 7 w 12"/>
                <a:gd name="T29" fmla="*/ 26 h 57"/>
                <a:gd name="T30" fmla="*/ 9 w 12"/>
                <a:gd name="T31" fmla="*/ 17 h 57"/>
                <a:gd name="T32" fmla="*/ 10 w 12"/>
                <a:gd name="T33" fmla="*/ 8 h 57"/>
                <a:gd name="T34" fmla="*/ 12 w 12"/>
                <a:gd name="T35" fmla="*/ 0 h 57"/>
                <a:gd name="T36" fmla="*/ 12 w 12"/>
                <a:gd name="T37" fmla="*/ 0 h 57"/>
                <a:gd name="T38" fmla="*/ 12 w 12"/>
                <a:gd name="T39" fmla="*/ 0 h 57"/>
                <a:gd name="T40" fmla="*/ 12 w 12"/>
                <a:gd name="T41" fmla="*/ 0 h 57"/>
                <a:gd name="T42" fmla="*/ 11 w 12"/>
                <a:gd name="T43" fmla="*/ 0 h 57"/>
                <a:gd name="T44" fmla="*/ 10 w 12"/>
                <a:gd name="T45" fmla="*/ 0 h 57"/>
                <a:gd name="T46" fmla="*/ 9 w 12"/>
                <a:gd name="T47" fmla="*/ 0 h 57"/>
                <a:gd name="T48" fmla="*/ 6 w 12"/>
                <a:gd name="T49" fmla="*/ 0 h 57"/>
                <a:gd name="T50" fmla="*/ 4 w 12"/>
                <a:gd name="T51"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 h="57">
                  <a:moveTo>
                    <a:pt x="4" y="1"/>
                  </a:moveTo>
                  <a:lnTo>
                    <a:pt x="3" y="3"/>
                  </a:lnTo>
                  <a:lnTo>
                    <a:pt x="3" y="5"/>
                  </a:lnTo>
                  <a:lnTo>
                    <a:pt x="2" y="11"/>
                  </a:lnTo>
                  <a:lnTo>
                    <a:pt x="0" y="18"/>
                  </a:lnTo>
                  <a:lnTo>
                    <a:pt x="0" y="26"/>
                  </a:lnTo>
                  <a:lnTo>
                    <a:pt x="0" y="35"/>
                  </a:lnTo>
                  <a:lnTo>
                    <a:pt x="2" y="46"/>
                  </a:lnTo>
                  <a:lnTo>
                    <a:pt x="3" y="57"/>
                  </a:lnTo>
                  <a:lnTo>
                    <a:pt x="11" y="56"/>
                  </a:lnTo>
                  <a:lnTo>
                    <a:pt x="11" y="55"/>
                  </a:lnTo>
                  <a:lnTo>
                    <a:pt x="10" y="50"/>
                  </a:lnTo>
                  <a:lnTo>
                    <a:pt x="10" y="43"/>
                  </a:lnTo>
                  <a:lnTo>
                    <a:pt x="9" y="35"/>
                  </a:lnTo>
                  <a:lnTo>
                    <a:pt x="7" y="26"/>
                  </a:lnTo>
                  <a:lnTo>
                    <a:pt x="9" y="17"/>
                  </a:lnTo>
                  <a:lnTo>
                    <a:pt x="10" y="8"/>
                  </a:lnTo>
                  <a:lnTo>
                    <a:pt x="12" y="0"/>
                  </a:lnTo>
                  <a:lnTo>
                    <a:pt x="12" y="0"/>
                  </a:lnTo>
                  <a:lnTo>
                    <a:pt x="12" y="0"/>
                  </a:lnTo>
                  <a:lnTo>
                    <a:pt x="12" y="0"/>
                  </a:lnTo>
                  <a:lnTo>
                    <a:pt x="11" y="0"/>
                  </a:lnTo>
                  <a:lnTo>
                    <a:pt x="10" y="0"/>
                  </a:lnTo>
                  <a:lnTo>
                    <a:pt x="9" y="0"/>
                  </a:lnTo>
                  <a:lnTo>
                    <a:pt x="6" y="0"/>
                  </a:lnTo>
                  <a:lnTo>
                    <a:pt x="4" y="1"/>
                  </a:lnTo>
                  <a:close/>
                </a:path>
              </a:pathLst>
            </a:custGeom>
            <a:solidFill>
              <a:srgbClr val="8CD8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65" name="Freeform 264"/>
            <p:cNvSpPr>
              <a:spLocks/>
            </p:cNvSpPr>
            <p:nvPr/>
          </p:nvSpPr>
          <p:spPr bwMode="auto">
            <a:xfrm>
              <a:off x="1246" y="2120"/>
              <a:ext cx="10" cy="45"/>
            </a:xfrm>
            <a:custGeom>
              <a:avLst/>
              <a:gdLst>
                <a:gd name="T0" fmla="*/ 4 w 10"/>
                <a:gd name="T1" fmla="*/ 1 h 45"/>
                <a:gd name="T2" fmla="*/ 3 w 10"/>
                <a:gd name="T3" fmla="*/ 2 h 45"/>
                <a:gd name="T4" fmla="*/ 3 w 10"/>
                <a:gd name="T5" fmla="*/ 5 h 45"/>
                <a:gd name="T6" fmla="*/ 2 w 10"/>
                <a:gd name="T7" fmla="*/ 9 h 45"/>
                <a:gd name="T8" fmla="*/ 2 w 10"/>
                <a:gd name="T9" fmla="*/ 14 h 45"/>
                <a:gd name="T10" fmla="*/ 0 w 10"/>
                <a:gd name="T11" fmla="*/ 21 h 45"/>
                <a:gd name="T12" fmla="*/ 0 w 10"/>
                <a:gd name="T13" fmla="*/ 28 h 45"/>
                <a:gd name="T14" fmla="*/ 2 w 10"/>
                <a:gd name="T15" fmla="*/ 37 h 45"/>
                <a:gd name="T16" fmla="*/ 3 w 10"/>
                <a:gd name="T17" fmla="*/ 45 h 45"/>
                <a:gd name="T18" fmla="*/ 10 w 10"/>
                <a:gd name="T19" fmla="*/ 45 h 45"/>
                <a:gd name="T20" fmla="*/ 10 w 10"/>
                <a:gd name="T21" fmla="*/ 44 h 45"/>
                <a:gd name="T22" fmla="*/ 9 w 10"/>
                <a:gd name="T23" fmla="*/ 41 h 45"/>
                <a:gd name="T24" fmla="*/ 7 w 10"/>
                <a:gd name="T25" fmla="*/ 35 h 45"/>
                <a:gd name="T26" fmla="*/ 7 w 10"/>
                <a:gd name="T27" fmla="*/ 28 h 45"/>
                <a:gd name="T28" fmla="*/ 6 w 10"/>
                <a:gd name="T29" fmla="*/ 21 h 45"/>
                <a:gd name="T30" fmla="*/ 7 w 10"/>
                <a:gd name="T31" fmla="*/ 14 h 45"/>
                <a:gd name="T32" fmla="*/ 7 w 10"/>
                <a:gd name="T33" fmla="*/ 7 h 45"/>
                <a:gd name="T34" fmla="*/ 10 w 10"/>
                <a:gd name="T35" fmla="*/ 1 h 45"/>
                <a:gd name="T36" fmla="*/ 10 w 10"/>
                <a:gd name="T37" fmla="*/ 1 h 45"/>
                <a:gd name="T38" fmla="*/ 10 w 10"/>
                <a:gd name="T39" fmla="*/ 1 h 45"/>
                <a:gd name="T40" fmla="*/ 10 w 10"/>
                <a:gd name="T41" fmla="*/ 1 h 45"/>
                <a:gd name="T42" fmla="*/ 10 w 10"/>
                <a:gd name="T43" fmla="*/ 0 h 45"/>
                <a:gd name="T44" fmla="*/ 9 w 10"/>
                <a:gd name="T45" fmla="*/ 0 h 45"/>
                <a:gd name="T46" fmla="*/ 7 w 10"/>
                <a:gd name="T47" fmla="*/ 1 h 45"/>
                <a:gd name="T48" fmla="*/ 6 w 10"/>
                <a:gd name="T49" fmla="*/ 1 h 45"/>
                <a:gd name="T50" fmla="*/ 4 w 10"/>
                <a:gd name="T51"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 h="45">
                  <a:moveTo>
                    <a:pt x="4" y="1"/>
                  </a:moveTo>
                  <a:lnTo>
                    <a:pt x="3" y="2"/>
                  </a:lnTo>
                  <a:lnTo>
                    <a:pt x="3" y="5"/>
                  </a:lnTo>
                  <a:lnTo>
                    <a:pt x="2" y="9"/>
                  </a:lnTo>
                  <a:lnTo>
                    <a:pt x="2" y="14"/>
                  </a:lnTo>
                  <a:lnTo>
                    <a:pt x="0" y="21"/>
                  </a:lnTo>
                  <a:lnTo>
                    <a:pt x="0" y="28"/>
                  </a:lnTo>
                  <a:lnTo>
                    <a:pt x="2" y="37"/>
                  </a:lnTo>
                  <a:lnTo>
                    <a:pt x="3" y="45"/>
                  </a:lnTo>
                  <a:lnTo>
                    <a:pt x="10" y="45"/>
                  </a:lnTo>
                  <a:lnTo>
                    <a:pt x="10" y="44"/>
                  </a:lnTo>
                  <a:lnTo>
                    <a:pt x="9" y="41"/>
                  </a:lnTo>
                  <a:lnTo>
                    <a:pt x="7" y="35"/>
                  </a:lnTo>
                  <a:lnTo>
                    <a:pt x="7" y="28"/>
                  </a:lnTo>
                  <a:lnTo>
                    <a:pt x="6" y="21"/>
                  </a:lnTo>
                  <a:lnTo>
                    <a:pt x="7" y="14"/>
                  </a:lnTo>
                  <a:lnTo>
                    <a:pt x="7" y="7"/>
                  </a:lnTo>
                  <a:lnTo>
                    <a:pt x="10" y="1"/>
                  </a:lnTo>
                  <a:lnTo>
                    <a:pt x="10" y="1"/>
                  </a:lnTo>
                  <a:lnTo>
                    <a:pt x="10" y="1"/>
                  </a:lnTo>
                  <a:lnTo>
                    <a:pt x="10" y="1"/>
                  </a:lnTo>
                  <a:lnTo>
                    <a:pt x="10" y="0"/>
                  </a:lnTo>
                  <a:lnTo>
                    <a:pt x="9" y="0"/>
                  </a:lnTo>
                  <a:lnTo>
                    <a:pt x="7" y="1"/>
                  </a:lnTo>
                  <a:lnTo>
                    <a:pt x="6" y="1"/>
                  </a:lnTo>
                  <a:lnTo>
                    <a:pt x="4" y="1"/>
                  </a:lnTo>
                  <a:close/>
                </a:path>
              </a:pathLst>
            </a:custGeom>
            <a:solidFill>
              <a:srgbClr val="A5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66" name="Freeform 265"/>
            <p:cNvSpPr>
              <a:spLocks/>
            </p:cNvSpPr>
            <p:nvPr/>
          </p:nvSpPr>
          <p:spPr bwMode="auto">
            <a:xfrm>
              <a:off x="1248" y="2126"/>
              <a:ext cx="7" cy="34"/>
            </a:xfrm>
            <a:custGeom>
              <a:avLst/>
              <a:gdLst>
                <a:gd name="T0" fmla="*/ 2 w 7"/>
                <a:gd name="T1" fmla="*/ 1 h 34"/>
                <a:gd name="T2" fmla="*/ 1 w 7"/>
                <a:gd name="T3" fmla="*/ 1 h 34"/>
                <a:gd name="T4" fmla="*/ 1 w 7"/>
                <a:gd name="T5" fmla="*/ 3 h 34"/>
                <a:gd name="T6" fmla="*/ 0 w 7"/>
                <a:gd name="T7" fmla="*/ 6 h 34"/>
                <a:gd name="T8" fmla="*/ 0 w 7"/>
                <a:gd name="T9" fmla="*/ 10 h 34"/>
                <a:gd name="T10" fmla="*/ 0 w 7"/>
                <a:gd name="T11" fmla="*/ 15 h 34"/>
                <a:gd name="T12" fmla="*/ 0 w 7"/>
                <a:gd name="T13" fmla="*/ 21 h 34"/>
                <a:gd name="T14" fmla="*/ 0 w 7"/>
                <a:gd name="T15" fmla="*/ 27 h 34"/>
                <a:gd name="T16" fmla="*/ 1 w 7"/>
                <a:gd name="T17" fmla="*/ 34 h 34"/>
                <a:gd name="T18" fmla="*/ 5 w 7"/>
                <a:gd name="T19" fmla="*/ 34 h 34"/>
                <a:gd name="T20" fmla="*/ 5 w 7"/>
                <a:gd name="T21" fmla="*/ 32 h 34"/>
                <a:gd name="T22" fmla="*/ 5 w 7"/>
                <a:gd name="T23" fmla="*/ 29 h 34"/>
                <a:gd name="T24" fmla="*/ 4 w 7"/>
                <a:gd name="T25" fmla="*/ 25 h 34"/>
                <a:gd name="T26" fmla="*/ 4 w 7"/>
                <a:gd name="T27" fmla="*/ 21 h 34"/>
                <a:gd name="T28" fmla="*/ 4 w 7"/>
                <a:gd name="T29" fmla="*/ 15 h 34"/>
                <a:gd name="T30" fmla="*/ 4 w 7"/>
                <a:gd name="T31" fmla="*/ 10 h 34"/>
                <a:gd name="T32" fmla="*/ 4 w 7"/>
                <a:gd name="T33" fmla="*/ 4 h 34"/>
                <a:gd name="T34" fmla="*/ 7 w 7"/>
                <a:gd name="T35" fmla="*/ 1 h 34"/>
                <a:gd name="T36" fmla="*/ 7 w 7"/>
                <a:gd name="T37" fmla="*/ 1 h 34"/>
                <a:gd name="T38" fmla="*/ 7 w 7"/>
                <a:gd name="T39" fmla="*/ 0 h 34"/>
                <a:gd name="T40" fmla="*/ 5 w 7"/>
                <a:gd name="T41" fmla="*/ 0 h 34"/>
                <a:gd name="T42" fmla="*/ 5 w 7"/>
                <a:gd name="T43" fmla="*/ 0 h 34"/>
                <a:gd name="T44" fmla="*/ 5 w 7"/>
                <a:gd name="T45" fmla="*/ 0 h 34"/>
                <a:gd name="T46" fmla="*/ 4 w 7"/>
                <a:gd name="T47" fmla="*/ 0 h 34"/>
                <a:gd name="T48" fmla="*/ 3 w 7"/>
                <a:gd name="T49" fmla="*/ 0 h 34"/>
                <a:gd name="T50" fmla="*/ 2 w 7"/>
                <a:gd name="T51"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 h="34">
                  <a:moveTo>
                    <a:pt x="2" y="1"/>
                  </a:moveTo>
                  <a:lnTo>
                    <a:pt x="1" y="1"/>
                  </a:lnTo>
                  <a:lnTo>
                    <a:pt x="1" y="3"/>
                  </a:lnTo>
                  <a:lnTo>
                    <a:pt x="0" y="6"/>
                  </a:lnTo>
                  <a:lnTo>
                    <a:pt x="0" y="10"/>
                  </a:lnTo>
                  <a:lnTo>
                    <a:pt x="0" y="15"/>
                  </a:lnTo>
                  <a:lnTo>
                    <a:pt x="0" y="21"/>
                  </a:lnTo>
                  <a:lnTo>
                    <a:pt x="0" y="27"/>
                  </a:lnTo>
                  <a:lnTo>
                    <a:pt x="1" y="34"/>
                  </a:lnTo>
                  <a:lnTo>
                    <a:pt x="5" y="34"/>
                  </a:lnTo>
                  <a:lnTo>
                    <a:pt x="5" y="32"/>
                  </a:lnTo>
                  <a:lnTo>
                    <a:pt x="5" y="29"/>
                  </a:lnTo>
                  <a:lnTo>
                    <a:pt x="4" y="25"/>
                  </a:lnTo>
                  <a:lnTo>
                    <a:pt x="4" y="21"/>
                  </a:lnTo>
                  <a:lnTo>
                    <a:pt x="4" y="15"/>
                  </a:lnTo>
                  <a:lnTo>
                    <a:pt x="4" y="10"/>
                  </a:lnTo>
                  <a:lnTo>
                    <a:pt x="4" y="4"/>
                  </a:lnTo>
                  <a:lnTo>
                    <a:pt x="7" y="1"/>
                  </a:lnTo>
                  <a:lnTo>
                    <a:pt x="7" y="1"/>
                  </a:lnTo>
                  <a:lnTo>
                    <a:pt x="7" y="0"/>
                  </a:lnTo>
                  <a:lnTo>
                    <a:pt x="5" y="0"/>
                  </a:lnTo>
                  <a:lnTo>
                    <a:pt x="5" y="0"/>
                  </a:lnTo>
                  <a:lnTo>
                    <a:pt x="5" y="0"/>
                  </a:lnTo>
                  <a:lnTo>
                    <a:pt x="4" y="0"/>
                  </a:lnTo>
                  <a:lnTo>
                    <a:pt x="3" y="0"/>
                  </a:lnTo>
                  <a:lnTo>
                    <a:pt x="2" y="1"/>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67" name="Freeform 266"/>
            <p:cNvSpPr>
              <a:spLocks/>
            </p:cNvSpPr>
            <p:nvPr/>
          </p:nvSpPr>
          <p:spPr bwMode="auto">
            <a:xfrm>
              <a:off x="1343" y="2093"/>
              <a:ext cx="24" cy="91"/>
            </a:xfrm>
            <a:custGeom>
              <a:avLst/>
              <a:gdLst>
                <a:gd name="T0" fmla="*/ 24 w 24"/>
                <a:gd name="T1" fmla="*/ 1 h 91"/>
                <a:gd name="T2" fmla="*/ 22 w 24"/>
                <a:gd name="T3" fmla="*/ 1 h 91"/>
                <a:gd name="T4" fmla="*/ 21 w 24"/>
                <a:gd name="T5" fmla="*/ 4 h 91"/>
                <a:gd name="T6" fmla="*/ 19 w 24"/>
                <a:gd name="T7" fmla="*/ 8 h 91"/>
                <a:gd name="T8" fmla="*/ 17 w 24"/>
                <a:gd name="T9" fmla="*/ 16 h 91"/>
                <a:gd name="T10" fmla="*/ 15 w 24"/>
                <a:gd name="T11" fmla="*/ 28 h 91"/>
                <a:gd name="T12" fmla="*/ 14 w 24"/>
                <a:gd name="T13" fmla="*/ 43 h 91"/>
                <a:gd name="T14" fmla="*/ 15 w 24"/>
                <a:gd name="T15" fmla="*/ 64 h 91"/>
                <a:gd name="T16" fmla="*/ 18 w 24"/>
                <a:gd name="T17" fmla="*/ 91 h 91"/>
                <a:gd name="T18" fmla="*/ 5 w 24"/>
                <a:gd name="T19" fmla="*/ 91 h 91"/>
                <a:gd name="T20" fmla="*/ 4 w 24"/>
                <a:gd name="T21" fmla="*/ 88 h 91"/>
                <a:gd name="T22" fmla="*/ 3 w 24"/>
                <a:gd name="T23" fmla="*/ 81 h 91"/>
                <a:gd name="T24" fmla="*/ 1 w 24"/>
                <a:gd name="T25" fmla="*/ 70 h 91"/>
                <a:gd name="T26" fmla="*/ 0 w 24"/>
                <a:gd name="T27" fmla="*/ 56 h 91"/>
                <a:gd name="T28" fmla="*/ 0 w 24"/>
                <a:gd name="T29" fmla="*/ 42 h 91"/>
                <a:gd name="T30" fmla="*/ 1 w 24"/>
                <a:gd name="T31" fmla="*/ 27 h 91"/>
                <a:gd name="T32" fmla="*/ 4 w 24"/>
                <a:gd name="T33" fmla="*/ 13 h 91"/>
                <a:gd name="T34" fmla="*/ 7 w 24"/>
                <a:gd name="T35" fmla="*/ 0 h 91"/>
                <a:gd name="T36" fmla="*/ 24 w 24"/>
                <a:gd name="T37" fmla="*/ 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 h="91">
                  <a:moveTo>
                    <a:pt x="24" y="1"/>
                  </a:moveTo>
                  <a:lnTo>
                    <a:pt x="22" y="1"/>
                  </a:lnTo>
                  <a:lnTo>
                    <a:pt x="21" y="4"/>
                  </a:lnTo>
                  <a:lnTo>
                    <a:pt x="19" y="8"/>
                  </a:lnTo>
                  <a:lnTo>
                    <a:pt x="17" y="16"/>
                  </a:lnTo>
                  <a:lnTo>
                    <a:pt x="15" y="28"/>
                  </a:lnTo>
                  <a:lnTo>
                    <a:pt x="14" y="43"/>
                  </a:lnTo>
                  <a:lnTo>
                    <a:pt x="15" y="64"/>
                  </a:lnTo>
                  <a:lnTo>
                    <a:pt x="18" y="91"/>
                  </a:lnTo>
                  <a:lnTo>
                    <a:pt x="5" y="91"/>
                  </a:lnTo>
                  <a:lnTo>
                    <a:pt x="4" y="88"/>
                  </a:lnTo>
                  <a:lnTo>
                    <a:pt x="3" y="81"/>
                  </a:lnTo>
                  <a:lnTo>
                    <a:pt x="1" y="70"/>
                  </a:lnTo>
                  <a:lnTo>
                    <a:pt x="0" y="56"/>
                  </a:lnTo>
                  <a:lnTo>
                    <a:pt x="0" y="42"/>
                  </a:lnTo>
                  <a:lnTo>
                    <a:pt x="1" y="27"/>
                  </a:lnTo>
                  <a:lnTo>
                    <a:pt x="4" y="13"/>
                  </a:lnTo>
                  <a:lnTo>
                    <a:pt x="7" y="0"/>
                  </a:lnTo>
                  <a:lnTo>
                    <a:pt x="24" y="1"/>
                  </a:lnTo>
                  <a:close/>
                </a:path>
              </a:pathLst>
            </a:custGeom>
            <a:solidFill>
              <a:srgbClr val="59B2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68" name="Freeform 267"/>
            <p:cNvSpPr>
              <a:spLocks/>
            </p:cNvSpPr>
            <p:nvPr/>
          </p:nvSpPr>
          <p:spPr bwMode="auto">
            <a:xfrm>
              <a:off x="1344" y="2100"/>
              <a:ext cx="19" cy="77"/>
            </a:xfrm>
            <a:custGeom>
              <a:avLst/>
              <a:gdLst>
                <a:gd name="T0" fmla="*/ 19 w 19"/>
                <a:gd name="T1" fmla="*/ 0 h 77"/>
                <a:gd name="T2" fmla="*/ 19 w 19"/>
                <a:gd name="T3" fmla="*/ 1 h 77"/>
                <a:gd name="T4" fmla="*/ 18 w 19"/>
                <a:gd name="T5" fmla="*/ 2 h 77"/>
                <a:gd name="T6" fmla="*/ 17 w 19"/>
                <a:gd name="T7" fmla="*/ 7 h 77"/>
                <a:gd name="T8" fmla="*/ 14 w 19"/>
                <a:gd name="T9" fmla="*/ 13 h 77"/>
                <a:gd name="T10" fmla="*/ 13 w 19"/>
                <a:gd name="T11" fmla="*/ 23 h 77"/>
                <a:gd name="T12" fmla="*/ 12 w 19"/>
                <a:gd name="T13" fmla="*/ 36 h 77"/>
                <a:gd name="T14" fmla="*/ 13 w 19"/>
                <a:gd name="T15" fmla="*/ 54 h 77"/>
                <a:gd name="T16" fmla="*/ 14 w 19"/>
                <a:gd name="T17" fmla="*/ 77 h 77"/>
                <a:gd name="T18" fmla="*/ 4 w 19"/>
                <a:gd name="T19" fmla="*/ 77 h 77"/>
                <a:gd name="T20" fmla="*/ 4 w 19"/>
                <a:gd name="T21" fmla="*/ 75 h 77"/>
                <a:gd name="T22" fmla="*/ 3 w 19"/>
                <a:gd name="T23" fmla="*/ 69 h 77"/>
                <a:gd name="T24" fmla="*/ 2 w 19"/>
                <a:gd name="T25" fmla="*/ 60 h 77"/>
                <a:gd name="T26" fmla="*/ 0 w 19"/>
                <a:gd name="T27" fmla="*/ 48 h 77"/>
                <a:gd name="T28" fmla="*/ 0 w 19"/>
                <a:gd name="T29" fmla="*/ 35 h 77"/>
                <a:gd name="T30" fmla="*/ 0 w 19"/>
                <a:gd name="T31" fmla="*/ 22 h 77"/>
                <a:gd name="T32" fmla="*/ 3 w 19"/>
                <a:gd name="T33" fmla="*/ 11 h 77"/>
                <a:gd name="T34" fmla="*/ 6 w 19"/>
                <a:gd name="T35" fmla="*/ 0 h 77"/>
                <a:gd name="T36" fmla="*/ 19 w 19"/>
                <a:gd name="T3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 h="77">
                  <a:moveTo>
                    <a:pt x="19" y="0"/>
                  </a:moveTo>
                  <a:lnTo>
                    <a:pt x="19" y="1"/>
                  </a:lnTo>
                  <a:lnTo>
                    <a:pt x="18" y="2"/>
                  </a:lnTo>
                  <a:lnTo>
                    <a:pt x="17" y="7"/>
                  </a:lnTo>
                  <a:lnTo>
                    <a:pt x="14" y="13"/>
                  </a:lnTo>
                  <a:lnTo>
                    <a:pt x="13" y="23"/>
                  </a:lnTo>
                  <a:lnTo>
                    <a:pt x="12" y="36"/>
                  </a:lnTo>
                  <a:lnTo>
                    <a:pt x="13" y="54"/>
                  </a:lnTo>
                  <a:lnTo>
                    <a:pt x="14" y="77"/>
                  </a:lnTo>
                  <a:lnTo>
                    <a:pt x="4" y="77"/>
                  </a:lnTo>
                  <a:lnTo>
                    <a:pt x="4" y="75"/>
                  </a:lnTo>
                  <a:lnTo>
                    <a:pt x="3" y="69"/>
                  </a:lnTo>
                  <a:lnTo>
                    <a:pt x="2" y="60"/>
                  </a:lnTo>
                  <a:lnTo>
                    <a:pt x="0" y="48"/>
                  </a:lnTo>
                  <a:lnTo>
                    <a:pt x="0" y="35"/>
                  </a:lnTo>
                  <a:lnTo>
                    <a:pt x="0" y="22"/>
                  </a:lnTo>
                  <a:lnTo>
                    <a:pt x="3" y="11"/>
                  </a:lnTo>
                  <a:lnTo>
                    <a:pt x="6" y="0"/>
                  </a:lnTo>
                  <a:lnTo>
                    <a:pt x="19" y="0"/>
                  </a:lnTo>
                  <a:close/>
                </a:path>
              </a:pathLst>
            </a:custGeom>
            <a:solidFill>
              <a:srgbClr val="72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69" name="Freeform 268"/>
            <p:cNvSpPr>
              <a:spLocks/>
            </p:cNvSpPr>
            <p:nvPr/>
          </p:nvSpPr>
          <p:spPr bwMode="auto">
            <a:xfrm>
              <a:off x="1346" y="2106"/>
              <a:ext cx="15" cy="64"/>
            </a:xfrm>
            <a:custGeom>
              <a:avLst/>
              <a:gdLst>
                <a:gd name="T0" fmla="*/ 15 w 15"/>
                <a:gd name="T1" fmla="*/ 0 h 64"/>
                <a:gd name="T2" fmla="*/ 15 w 15"/>
                <a:gd name="T3" fmla="*/ 1 h 64"/>
                <a:gd name="T4" fmla="*/ 14 w 15"/>
                <a:gd name="T5" fmla="*/ 2 h 64"/>
                <a:gd name="T6" fmla="*/ 12 w 15"/>
                <a:gd name="T7" fmla="*/ 6 h 64"/>
                <a:gd name="T8" fmla="*/ 11 w 15"/>
                <a:gd name="T9" fmla="*/ 12 h 64"/>
                <a:gd name="T10" fmla="*/ 10 w 15"/>
                <a:gd name="T11" fmla="*/ 20 h 64"/>
                <a:gd name="T12" fmla="*/ 9 w 15"/>
                <a:gd name="T13" fmla="*/ 30 h 64"/>
                <a:gd name="T14" fmla="*/ 10 w 15"/>
                <a:gd name="T15" fmla="*/ 45 h 64"/>
                <a:gd name="T16" fmla="*/ 11 w 15"/>
                <a:gd name="T17" fmla="*/ 64 h 64"/>
                <a:gd name="T18" fmla="*/ 2 w 15"/>
                <a:gd name="T19" fmla="*/ 64 h 64"/>
                <a:gd name="T20" fmla="*/ 2 w 15"/>
                <a:gd name="T21" fmla="*/ 62 h 64"/>
                <a:gd name="T22" fmla="*/ 1 w 15"/>
                <a:gd name="T23" fmla="*/ 57 h 64"/>
                <a:gd name="T24" fmla="*/ 0 w 15"/>
                <a:gd name="T25" fmla="*/ 49 h 64"/>
                <a:gd name="T26" fmla="*/ 0 w 15"/>
                <a:gd name="T27" fmla="*/ 40 h 64"/>
                <a:gd name="T28" fmla="*/ 0 w 15"/>
                <a:gd name="T29" fmla="*/ 29 h 64"/>
                <a:gd name="T30" fmla="*/ 0 w 15"/>
                <a:gd name="T31" fmla="*/ 19 h 64"/>
                <a:gd name="T32" fmla="*/ 1 w 15"/>
                <a:gd name="T33" fmla="*/ 8 h 64"/>
                <a:gd name="T34" fmla="*/ 4 w 15"/>
                <a:gd name="T35" fmla="*/ 0 h 64"/>
                <a:gd name="T36" fmla="*/ 15 w 15"/>
                <a:gd name="T3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 h="64">
                  <a:moveTo>
                    <a:pt x="15" y="0"/>
                  </a:moveTo>
                  <a:lnTo>
                    <a:pt x="15" y="1"/>
                  </a:lnTo>
                  <a:lnTo>
                    <a:pt x="14" y="2"/>
                  </a:lnTo>
                  <a:lnTo>
                    <a:pt x="12" y="6"/>
                  </a:lnTo>
                  <a:lnTo>
                    <a:pt x="11" y="12"/>
                  </a:lnTo>
                  <a:lnTo>
                    <a:pt x="10" y="20"/>
                  </a:lnTo>
                  <a:lnTo>
                    <a:pt x="9" y="30"/>
                  </a:lnTo>
                  <a:lnTo>
                    <a:pt x="10" y="45"/>
                  </a:lnTo>
                  <a:lnTo>
                    <a:pt x="11" y="64"/>
                  </a:lnTo>
                  <a:lnTo>
                    <a:pt x="2" y="64"/>
                  </a:lnTo>
                  <a:lnTo>
                    <a:pt x="2" y="62"/>
                  </a:lnTo>
                  <a:lnTo>
                    <a:pt x="1" y="57"/>
                  </a:lnTo>
                  <a:lnTo>
                    <a:pt x="0" y="49"/>
                  </a:lnTo>
                  <a:lnTo>
                    <a:pt x="0" y="40"/>
                  </a:lnTo>
                  <a:lnTo>
                    <a:pt x="0" y="29"/>
                  </a:lnTo>
                  <a:lnTo>
                    <a:pt x="0" y="19"/>
                  </a:lnTo>
                  <a:lnTo>
                    <a:pt x="1" y="8"/>
                  </a:lnTo>
                  <a:lnTo>
                    <a:pt x="4" y="0"/>
                  </a:lnTo>
                  <a:lnTo>
                    <a:pt x="15" y="0"/>
                  </a:lnTo>
                  <a:close/>
                </a:path>
              </a:pathLst>
            </a:custGeom>
            <a:solidFill>
              <a:srgbClr val="8CD8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70" name="Freeform 269"/>
            <p:cNvSpPr>
              <a:spLocks/>
            </p:cNvSpPr>
            <p:nvPr/>
          </p:nvSpPr>
          <p:spPr bwMode="auto">
            <a:xfrm>
              <a:off x="1346" y="2112"/>
              <a:ext cx="12" cy="51"/>
            </a:xfrm>
            <a:custGeom>
              <a:avLst/>
              <a:gdLst>
                <a:gd name="T0" fmla="*/ 12 w 12"/>
                <a:gd name="T1" fmla="*/ 1 h 51"/>
                <a:gd name="T2" fmla="*/ 12 w 12"/>
                <a:gd name="T3" fmla="*/ 1 h 51"/>
                <a:gd name="T4" fmla="*/ 11 w 12"/>
                <a:gd name="T5" fmla="*/ 2 h 51"/>
                <a:gd name="T6" fmla="*/ 10 w 12"/>
                <a:gd name="T7" fmla="*/ 4 h 51"/>
                <a:gd name="T8" fmla="*/ 9 w 12"/>
                <a:gd name="T9" fmla="*/ 9 h 51"/>
                <a:gd name="T10" fmla="*/ 9 w 12"/>
                <a:gd name="T11" fmla="*/ 16 h 51"/>
                <a:gd name="T12" fmla="*/ 8 w 12"/>
                <a:gd name="T13" fmla="*/ 24 h 51"/>
                <a:gd name="T14" fmla="*/ 8 w 12"/>
                <a:gd name="T15" fmla="*/ 36 h 51"/>
                <a:gd name="T16" fmla="*/ 9 w 12"/>
                <a:gd name="T17" fmla="*/ 51 h 51"/>
                <a:gd name="T18" fmla="*/ 2 w 12"/>
                <a:gd name="T19" fmla="*/ 51 h 51"/>
                <a:gd name="T20" fmla="*/ 2 w 12"/>
                <a:gd name="T21" fmla="*/ 50 h 51"/>
                <a:gd name="T22" fmla="*/ 2 w 12"/>
                <a:gd name="T23" fmla="*/ 45 h 51"/>
                <a:gd name="T24" fmla="*/ 1 w 12"/>
                <a:gd name="T25" fmla="*/ 39 h 51"/>
                <a:gd name="T26" fmla="*/ 1 w 12"/>
                <a:gd name="T27" fmla="*/ 31 h 51"/>
                <a:gd name="T28" fmla="*/ 0 w 12"/>
                <a:gd name="T29" fmla="*/ 23 h 51"/>
                <a:gd name="T30" fmla="*/ 1 w 12"/>
                <a:gd name="T31" fmla="*/ 15 h 51"/>
                <a:gd name="T32" fmla="*/ 2 w 12"/>
                <a:gd name="T33" fmla="*/ 7 h 51"/>
                <a:gd name="T34" fmla="*/ 4 w 12"/>
                <a:gd name="T35" fmla="*/ 0 h 51"/>
                <a:gd name="T36" fmla="*/ 12 w 12"/>
                <a:gd name="T37" fmla="*/ 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 h="51">
                  <a:moveTo>
                    <a:pt x="12" y="1"/>
                  </a:moveTo>
                  <a:lnTo>
                    <a:pt x="12" y="1"/>
                  </a:lnTo>
                  <a:lnTo>
                    <a:pt x="11" y="2"/>
                  </a:lnTo>
                  <a:lnTo>
                    <a:pt x="10" y="4"/>
                  </a:lnTo>
                  <a:lnTo>
                    <a:pt x="9" y="9"/>
                  </a:lnTo>
                  <a:lnTo>
                    <a:pt x="9" y="16"/>
                  </a:lnTo>
                  <a:lnTo>
                    <a:pt x="8" y="24"/>
                  </a:lnTo>
                  <a:lnTo>
                    <a:pt x="8" y="36"/>
                  </a:lnTo>
                  <a:lnTo>
                    <a:pt x="9" y="51"/>
                  </a:lnTo>
                  <a:lnTo>
                    <a:pt x="2" y="51"/>
                  </a:lnTo>
                  <a:lnTo>
                    <a:pt x="2" y="50"/>
                  </a:lnTo>
                  <a:lnTo>
                    <a:pt x="2" y="45"/>
                  </a:lnTo>
                  <a:lnTo>
                    <a:pt x="1" y="39"/>
                  </a:lnTo>
                  <a:lnTo>
                    <a:pt x="1" y="31"/>
                  </a:lnTo>
                  <a:lnTo>
                    <a:pt x="0" y="23"/>
                  </a:lnTo>
                  <a:lnTo>
                    <a:pt x="1" y="15"/>
                  </a:lnTo>
                  <a:lnTo>
                    <a:pt x="2" y="7"/>
                  </a:lnTo>
                  <a:lnTo>
                    <a:pt x="4" y="0"/>
                  </a:lnTo>
                  <a:lnTo>
                    <a:pt x="12" y="1"/>
                  </a:lnTo>
                  <a:close/>
                </a:path>
              </a:pathLst>
            </a:custGeom>
            <a:solidFill>
              <a:srgbClr val="A5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71" name="Freeform 270"/>
            <p:cNvSpPr>
              <a:spLocks/>
            </p:cNvSpPr>
            <p:nvPr/>
          </p:nvSpPr>
          <p:spPr bwMode="auto">
            <a:xfrm>
              <a:off x="1347" y="2119"/>
              <a:ext cx="9" cy="37"/>
            </a:xfrm>
            <a:custGeom>
              <a:avLst/>
              <a:gdLst>
                <a:gd name="T0" fmla="*/ 9 w 9"/>
                <a:gd name="T1" fmla="*/ 0 h 37"/>
                <a:gd name="T2" fmla="*/ 9 w 9"/>
                <a:gd name="T3" fmla="*/ 0 h 37"/>
                <a:gd name="T4" fmla="*/ 8 w 9"/>
                <a:gd name="T5" fmla="*/ 1 h 37"/>
                <a:gd name="T6" fmla="*/ 8 w 9"/>
                <a:gd name="T7" fmla="*/ 3 h 37"/>
                <a:gd name="T8" fmla="*/ 7 w 9"/>
                <a:gd name="T9" fmla="*/ 6 h 37"/>
                <a:gd name="T10" fmla="*/ 6 w 9"/>
                <a:gd name="T11" fmla="*/ 10 h 37"/>
                <a:gd name="T12" fmla="*/ 6 w 9"/>
                <a:gd name="T13" fmla="*/ 17 h 37"/>
                <a:gd name="T14" fmla="*/ 6 w 9"/>
                <a:gd name="T15" fmla="*/ 25 h 37"/>
                <a:gd name="T16" fmla="*/ 7 w 9"/>
                <a:gd name="T17" fmla="*/ 37 h 37"/>
                <a:gd name="T18" fmla="*/ 2 w 9"/>
                <a:gd name="T19" fmla="*/ 37 h 37"/>
                <a:gd name="T20" fmla="*/ 1 w 9"/>
                <a:gd name="T21" fmla="*/ 36 h 37"/>
                <a:gd name="T22" fmla="*/ 1 w 9"/>
                <a:gd name="T23" fmla="*/ 32 h 37"/>
                <a:gd name="T24" fmla="*/ 1 w 9"/>
                <a:gd name="T25" fmla="*/ 28 h 37"/>
                <a:gd name="T26" fmla="*/ 0 w 9"/>
                <a:gd name="T27" fmla="*/ 23 h 37"/>
                <a:gd name="T28" fmla="*/ 0 w 9"/>
                <a:gd name="T29" fmla="*/ 16 h 37"/>
                <a:gd name="T30" fmla="*/ 0 w 9"/>
                <a:gd name="T31" fmla="*/ 10 h 37"/>
                <a:gd name="T32" fmla="*/ 1 w 9"/>
                <a:gd name="T33" fmla="*/ 4 h 37"/>
                <a:gd name="T34" fmla="*/ 3 w 9"/>
                <a:gd name="T35" fmla="*/ 0 h 37"/>
                <a:gd name="T36" fmla="*/ 9 w 9"/>
                <a:gd name="T3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37">
                  <a:moveTo>
                    <a:pt x="9" y="0"/>
                  </a:moveTo>
                  <a:lnTo>
                    <a:pt x="9" y="0"/>
                  </a:lnTo>
                  <a:lnTo>
                    <a:pt x="8" y="1"/>
                  </a:lnTo>
                  <a:lnTo>
                    <a:pt x="8" y="3"/>
                  </a:lnTo>
                  <a:lnTo>
                    <a:pt x="7" y="6"/>
                  </a:lnTo>
                  <a:lnTo>
                    <a:pt x="6" y="10"/>
                  </a:lnTo>
                  <a:lnTo>
                    <a:pt x="6" y="17"/>
                  </a:lnTo>
                  <a:lnTo>
                    <a:pt x="6" y="25"/>
                  </a:lnTo>
                  <a:lnTo>
                    <a:pt x="7" y="37"/>
                  </a:lnTo>
                  <a:lnTo>
                    <a:pt x="2" y="37"/>
                  </a:lnTo>
                  <a:lnTo>
                    <a:pt x="1" y="36"/>
                  </a:lnTo>
                  <a:lnTo>
                    <a:pt x="1" y="32"/>
                  </a:lnTo>
                  <a:lnTo>
                    <a:pt x="1" y="28"/>
                  </a:lnTo>
                  <a:lnTo>
                    <a:pt x="0" y="23"/>
                  </a:lnTo>
                  <a:lnTo>
                    <a:pt x="0" y="16"/>
                  </a:lnTo>
                  <a:lnTo>
                    <a:pt x="0" y="10"/>
                  </a:lnTo>
                  <a:lnTo>
                    <a:pt x="1" y="4"/>
                  </a:lnTo>
                  <a:lnTo>
                    <a:pt x="3" y="0"/>
                  </a:lnTo>
                  <a:lnTo>
                    <a:pt x="9" y="0"/>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72" name="Rectangle 271"/>
            <p:cNvSpPr>
              <a:spLocks noChangeArrowheads="1"/>
            </p:cNvSpPr>
            <p:nvPr/>
          </p:nvSpPr>
          <p:spPr bwMode="auto">
            <a:xfrm>
              <a:off x="1224" y="2109"/>
              <a:ext cx="4" cy="11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73" name="Freeform 272"/>
            <p:cNvSpPr>
              <a:spLocks/>
            </p:cNvSpPr>
            <p:nvPr/>
          </p:nvSpPr>
          <p:spPr bwMode="auto">
            <a:xfrm>
              <a:off x="1266" y="2107"/>
              <a:ext cx="46" cy="55"/>
            </a:xfrm>
            <a:custGeom>
              <a:avLst/>
              <a:gdLst>
                <a:gd name="T0" fmla="*/ 4 w 46"/>
                <a:gd name="T1" fmla="*/ 6 h 55"/>
                <a:gd name="T2" fmla="*/ 4 w 46"/>
                <a:gd name="T3" fmla="*/ 7 h 55"/>
                <a:gd name="T4" fmla="*/ 3 w 46"/>
                <a:gd name="T5" fmla="*/ 9 h 55"/>
                <a:gd name="T6" fmla="*/ 1 w 46"/>
                <a:gd name="T7" fmla="*/ 14 h 55"/>
                <a:gd name="T8" fmla="*/ 0 w 46"/>
                <a:gd name="T9" fmla="*/ 21 h 55"/>
                <a:gd name="T10" fmla="*/ 0 w 46"/>
                <a:gd name="T11" fmla="*/ 28 h 55"/>
                <a:gd name="T12" fmla="*/ 0 w 46"/>
                <a:gd name="T13" fmla="*/ 36 h 55"/>
                <a:gd name="T14" fmla="*/ 0 w 46"/>
                <a:gd name="T15" fmla="*/ 46 h 55"/>
                <a:gd name="T16" fmla="*/ 3 w 46"/>
                <a:gd name="T17" fmla="*/ 55 h 55"/>
                <a:gd name="T18" fmla="*/ 3 w 46"/>
                <a:gd name="T19" fmla="*/ 55 h 55"/>
                <a:gd name="T20" fmla="*/ 3 w 46"/>
                <a:gd name="T21" fmla="*/ 54 h 55"/>
                <a:gd name="T22" fmla="*/ 3 w 46"/>
                <a:gd name="T23" fmla="*/ 51 h 55"/>
                <a:gd name="T24" fmla="*/ 3 w 46"/>
                <a:gd name="T25" fmla="*/ 49 h 55"/>
                <a:gd name="T26" fmla="*/ 3 w 46"/>
                <a:gd name="T27" fmla="*/ 46 h 55"/>
                <a:gd name="T28" fmla="*/ 4 w 46"/>
                <a:gd name="T29" fmla="*/ 43 h 55"/>
                <a:gd name="T30" fmla="*/ 4 w 46"/>
                <a:gd name="T31" fmla="*/ 39 h 55"/>
                <a:gd name="T32" fmla="*/ 5 w 46"/>
                <a:gd name="T33" fmla="*/ 35 h 55"/>
                <a:gd name="T34" fmla="*/ 6 w 46"/>
                <a:gd name="T35" fmla="*/ 32 h 55"/>
                <a:gd name="T36" fmla="*/ 7 w 46"/>
                <a:gd name="T37" fmla="*/ 28 h 55"/>
                <a:gd name="T38" fmla="*/ 8 w 46"/>
                <a:gd name="T39" fmla="*/ 25 h 55"/>
                <a:gd name="T40" fmla="*/ 11 w 46"/>
                <a:gd name="T41" fmla="*/ 21 h 55"/>
                <a:gd name="T42" fmla="*/ 14 w 46"/>
                <a:gd name="T43" fmla="*/ 19 h 55"/>
                <a:gd name="T44" fmla="*/ 17 w 46"/>
                <a:gd name="T45" fmla="*/ 16 h 55"/>
                <a:gd name="T46" fmla="*/ 21 w 46"/>
                <a:gd name="T47" fmla="*/ 15 h 55"/>
                <a:gd name="T48" fmla="*/ 26 w 46"/>
                <a:gd name="T49" fmla="*/ 14 h 55"/>
                <a:gd name="T50" fmla="*/ 26 w 46"/>
                <a:gd name="T51" fmla="*/ 13 h 55"/>
                <a:gd name="T52" fmla="*/ 26 w 46"/>
                <a:gd name="T53" fmla="*/ 13 h 55"/>
                <a:gd name="T54" fmla="*/ 28 w 46"/>
                <a:gd name="T55" fmla="*/ 12 h 55"/>
                <a:gd name="T56" fmla="*/ 29 w 46"/>
                <a:gd name="T57" fmla="*/ 11 h 55"/>
                <a:gd name="T58" fmla="*/ 33 w 46"/>
                <a:gd name="T59" fmla="*/ 9 h 55"/>
                <a:gd name="T60" fmla="*/ 36 w 46"/>
                <a:gd name="T61" fmla="*/ 7 h 55"/>
                <a:gd name="T62" fmla="*/ 41 w 46"/>
                <a:gd name="T63" fmla="*/ 5 h 55"/>
                <a:gd name="T64" fmla="*/ 46 w 46"/>
                <a:gd name="T65" fmla="*/ 2 h 55"/>
                <a:gd name="T66" fmla="*/ 46 w 46"/>
                <a:gd name="T67" fmla="*/ 2 h 55"/>
                <a:gd name="T68" fmla="*/ 45 w 46"/>
                <a:gd name="T69" fmla="*/ 2 h 55"/>
                <a:gd name="T70" fmla="*/ 43 w 46"/>
                <a:gd name="T71" fmla="*/ 2 h 55"/>
                <a:gd name="T72" fmla="*/ 42 w 46"/>
                <a:gd name="T73" fmla="*/ 2 h 55"/>
                <a:gd name="T74" fmla="*/ 40 w 46"/>
                <a:gd name="T75" fmla="*/ 1 h 55"/>
                <a:gd name="T76" fmla="*/ 38 w 46"/>
                <a:gd name="T77" fmla="*/ 1 h 55"/>
                <a:gd name="T78" fmla="*/ 35 w 46"/>
                <a:gd name="T79" fmla="*/ 1 h 55"/>
                <a:gd name="T80" fmla="*/ 32 w 46"/>
                <a:gd name="T81" fmla="*/ 1 h 55"/>
                <a:gd name="T82" fmla="*/ 28 w 46"/>
                <a:gd name="T83" fmla="*/ 0 h 55"/>
                <a:gd name="T84" fmla="*/ 26 w 46"/>
                <a:gd name="T85" fmla="*/ 1 h 55"/>
                <a:gd name="T86" fmla="*/ 22 w 46"/>
                <a:gd name="T87" fmla="*/ 1 h 55"/>
                <a:gd name="T88" fmla="*/ 19 w 46"/>
                <a:gd name="T89" fmla="*/ 1 h 55"/>
                <a:gd name="T90" fmla="*/ 14 w 46"/>
                <a:gd name="T91" fmla="*/ 2 h 55"/>
                <a:gd name="T92" fmla="*/ 11 w 46"/>
                <a:gd name="T93" fmla="*/ 2 h 55"/>
                <a:gd name="T94" fmla="*/ 7 w 46"/>
                <a:gd name="T95" fmla="*/ 4 h 55"/>
                <a:gd name="T96" fmla="*/ 4 w 46"/>
                <a:gd name="T97" fmla="*/ 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 h="55">
                  <a:moveTo>
                    <a:pt x="4" y="6"/>
                  </a:moveTo>
                  <a:lnTo>
                    <a:pt x="4" y="7"/>
                  </a:lnTo>
                  <a:lnTo>
                    <a:pt x="3" y="9"/>
                  </a:lnTo>
                  <a:lnTo>
                    <a:pt x="1" y="14"/>
                  </a:lnTo>
                  <a:lnTo>
                    <a:pt x="0" y="21"/>
                  </a:lnTo>
                  <a:lnTo>
                    <a:pt x="0" y="28"/>
                  </a:lnTo>
                  <a:lnTo>
                    <a:pt x="0" y="36"/>
                  </a:lnTo>
                  <a:lnTo>
                    <a:pt x="0" y="46"/>
                  </a:lnTo>
                  <a:lnTo>
                    <a:pt x="3" y="55"/>
                  </a:lnTo>
                  <a:lnTo>
                    <a:pt x="3" y="55"/>
                  </a:lnTo>
                  <a:lnTo>
                    <a:pt x="3" y="54"/>
                  </a:lnTo>
                  <a:lnTo>
                    <a:pt x="3" y="51"/>
                  </a:lnTo>
                  <a:lnTo>
                    <a:pt x="3" y="49"/>
                  </a:lnTo>
                  <a:lnTo>
                    <a:pt x="3" y="46"/>
                  </a:lnTo>
                  <a:lnTo>
                    <a:pt x="4" y="43"/>
                  </a:lnTo>
                  <a:lnTo>
                    <a:pt x="4" y="39"/>
                  </a:lnTo>
                  <a:lnTo>
                    <a:pt x="5" y="35"/>
                  </a:lnTo>
                  <a:lnTo>
                    <a:pt x="6" y="32"/>
                  </a:lnTo>
                  <a:lnTo>
                    <a:pt x="7" y="28"/>
                  </a:lnTo>
                  <a:lnTo>
                    <a:pt x="8" y="25"/>
                  </a:lnTo>
                  <a:lnTo>
                    <a:pt x="11" y="21"/>
                  </a:lnTo>
                  <a:lnTo>
                    <a:pt x="14" y="19"/>
                  </a:lnTo>
                  <a:lnTo>
                    <a:pt x="17" y="16"/>
                  </a:lnTo>
                  <a:lnTo>
                    <a:pt x="21" y="15"/>
                  </a:lnTo>
                  <a:lnTo>
                    <a:pt x="26" y="14"/>
                  </a:lnTo>
                  <a:lnTo>
                    <a:pt x="26" y="13"/>
                  </a:lnTo>
                  <a:lnTo>
                    <a:pt x="26" y="13"/>
                  </a:lnTo>
                  <a:lnTo>
                    <a:pt x="28" y="12"/>
                  </a:lnTo>
                  <a:lnTo>
                    <a:pt x="29" y="11"/>
                  </a:lnTo>
                  <a:lnTo>
                    <a:pt x="33" y="9"/>
                  </a:lnTo>
                  <a:lnTo>
                    <a:pt x="36" y="7"/>
                  </a:lnTo>
                  <a:lnTo>
                    <a:pt x="41" y="5"/>
                  </a:lnTo>
                  <a:lnTo>
                    <a:pt x="46" y="2"/>
                  </a:lnTo>
                  <a:lnTo>
                    <a:pt x="46" y="2"/>
                  </a:lnTo>
                  <a:lnTo>
                    <a:pt x="45" y="2"/>
                  </a:lnTo>
                  <a:lnTo>
                    <a:pt x="43" y="2"/>
                  </a:lnTo>
                  <a:lnTo>
                    <a:pt x="42" y="2"/>
                  </a:lnTo>
                  <a:lnTo>
                    <a:pt x="40" y="1"/>
                  </a:lnTo>
                  <a:lnTo>
                    <a:pt x="38" y="1"/>
                  </a:lnTo>
                  <a:lnTo>
                    <a:pt x="35" y="1"/>
                  </a:lnTo>
                  <a:lnTo>
                    <a:pt x="32" y="1"/>
                  </a:lnTo>
                  <a:lnTo>
                    <a:pt x="28" y="0"/>
                  </a:lnTo>
                  <a:lnTo>
                    <a:pt x="26" y="1"/>
                  </a:lnTo>
                  <a:lnTo>
                    <a:pt x="22" y="1"/>
                  </a:lnTo>
                  <a:lnTo>
                    <a:pt x="19" y="1"/>
                  </a:lnTo>
                  <a:lnTo>
                    <a:pt x="14" y="2"/>
                  </a:lnTo>
                  <a:lnTo>
                    <a:pt x="11" y="2"/>
                  </a:lnTo>
                  <a:lnTo>
                    <a:pt x="7" y="4"/>
                  </a:lnTo>
                  <a:lnTo>
                    <a:pt x="4" y="6"/>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74" name="Freeform 273"/>
            <p:cNvSpPr>
              <a:spLocks/>
            </p:cNvSpPr>
            <p:nvPr/>
          </p:nvSpPr>
          <p:spPr bwMode="auto">
            <a:xfrm>
              <a:off x="1202" y="2148"/>
              <a:ext cx="37" cy="10"/>
            </a:xfrm>
            <a:custGeom>
              <a:avLst/>
              <a:gdLst>
                <a:gd name="T0" fmla="*/ 0 w 37"/>
                <a:gd name="T1" fmla="*/ 7 h 10"/>
                <a:gd name="T2" fmla="*/ 0 w 37"/>
                <a:gd name="T3" fmla="*/ 7 h 10"/>
                <a:gd name="T4" fmla="*/ 0 w 37"/>
                <a:gd name="T5" fmla="*/ 6 h 10"/>
                <a:gd name="T6" fmla="*/ 1 w 37"/>
                <a:gd name="T7" fmla="*/ 6 h 10"/>
                <a:gd name="T8" fmla="*/ 1 w 37"/>
                <a:gd name="T9" fmla="*/ 5 h 10"/>
                <a:gd name="T10" fmla="*/ 2 w 37"/>
                <a:gd name="T11" fmla="*/ 3 h 10"/>
                <a:gd name="T12" fmla="*/ 4 w 37"/>
                <a:gd name="T13" fmla="*/ 3 h 10"/>
                <a:gd name="T14" fmla="*/ 5 w 37"/>
                <a:gd name="T15" fmla="*/ 2 h 10"/>
                <a:gd name="T16" fmla="*/ 7 w 37"/>
                <a:gd name="T17" fmla="*/ 1 h 10"/>
                <a:gd name="T18" fmla="*/ 9 w 37"/>
                <a:gd name="T19" fmla="*/ 1 h 10"/>
                <a:gd name="T20" fmla="*/ 12 w 37"/>
                <a:gd name="T21" fmla="*/ 0 h 10"/>
                <a:gd name="T22" fmla="*/ 15 w 37"/>
                <a:gd name="T23" fmla="*/ 0 h 10"/>
                <a:gd name="T24" fmla="*/ 19 w 37"/>
                <a:gd name="T25" fmla="*/ 0 h 10"/>
                <a:gd name="T26" fmla="*/ 22 w 37"/>
                <a:gd name="T27" fmla="*/ 0 h 10"/>
                <a:gd name="T28" fmla="*/ 27 w 37"/>
                <a:gd name="T29" fmla="*/ 1 h 10"/>
                <a:gd name="T30" fmla="*/ 32 w 37"/>
                <a:gd name="T31" fmla="*/ 2 h 10"/>
                <a:gd name="T32" fmla="*/ 37 w 37"/>
                <a:gd name="T33" fmla="*/ 3 h 10"/>
                <a:gd name="T34" fmla="*/ 37 w 37"/>
                <a:gd name="T35" fmla="*/ 6 h 10"/>
                <a:gd name="T36" fmla="*/ 36 w 37"/>
                <a:gd name="T37" fmla="*/ 6 h 10"/>
                <a:gd name="T38" fmla="*/ 36 w 37"/>
                <a:gd name="T39" fmla="*/ 6 h 10"/>
                <a:gd name="T40" fmla="*/ 34 w 37"/>
                <a:gd name="T41" fmla="*/ 5 h 10"/>
                <a:gd name="T42" fmla="*/ 33 w 37"/>
                <a:gd name="T43" fmla="*/ 5 h 10"/>
                <a:gd name="T44" fmla="*/ 30 w 37"/>
                <a:gd name="T45" fmla="*/ 3 h 10"/>
                <a:gd name="T46" fmla="*/ 28 w 37"/>
                <a:gd name="T47" fmla="*/ 3 h 10"/>
                <a:gd name="T48" fmla="*/ 25 w 37"/>
                <a:gd name="T49" fmla="*/ 3 h 10"/>
                <a:gd name="T50" fmla="*/ 22 w 37"/>
                <a:gd name="T51" fmla="*/ 2 h 10"/>
                <a:gd name="T52" fmla="*/ 19 w 37"/>
                <a:gd name="T53" fmla="*/ 2 h 10"/>
                <a:gd name="T54" fmla="*/ 15 w 37"/>
                <a:gd name="T55" fmla="*/ 2 h 10"/>
                <a:gd name="T56" fmla="*/ 13 w 37"/>
                <a:gd name="T57" fmla="*/ 3 h 10"/>
                <a:gd name="T58" fmla="*/ 9 w 37"/>
                <a:gd name="T59" fmla="*/ 3 h 10"/>
                <a:gd name="T60" fmla="*/ 7 w 37"/>
                <a:gd name="T61" fmla="*/ 5 h 10"/>
                <a:gd name="T62" fmla="*/ 5 w 37"/>
                <a:gd name="T63" fmla="*/ 6 h 10"/>
                <a:gd name="T64" fmla="*/ 2 w 37"/>
                <a:gd name="T65" fmla="*/ 8 h 10"/>
                <a:gd name="T66" fmla="*/ 0 w 37"/>
                <a:gd name="T67" fmla="*/ 10 h 10"/>
                <a:gd name="T68" fmla="*/ 0 w 37"/>
                <a:gd name="T69"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7" h="10">
                  <a:moveTo>
                    <a:pt x="0" y="7"/>
                  </a:moveTo>
                  <a:lnTo>
                    <a:pt x="0" y="7"/>
                  </a:lnTo>
                  <a:lnTo>
                    <a:pt x="0" y="6"/>
                  </a:lnTo>
                  <a:lnTo>
                    <a:pt x="1" y="6"/>
                  </a:lnTo>
                  <a:lnTo>
                    <a:pt x="1" y="5"/>
                  </a:lnTo>
                  <a:lnTo>
                    <a:pt x="2" y="3"/>
                  </a:lnTo>
                  <a:lnTo>
                    <a:pt x="4" y="3"/>
                  </a:lnTo>
                  <a:lnTo>
                    <a:pt x="5" y="2"/>
                  </a:lnTo>
                  <a:lnTo>
                    <a:pt x="7" y="1"/>
                  </a:lnTo>
                  <a:lnTo>
                    <a:pt x="9" y="1"/>
                  </a:lnTo>
                  <a:lnTo>
                    <a:pt x="12" y="0"/>
                  </a:lnTo>
                  <a:lnTo>
                    <a:pt x="15" y="0"/>
                  </a:lnTo>
                  <a:lnTo>
                    <a:pt x="19" y="0"/>
                  </a:lnTo>
                  <a:lnTo>
                    <a:pt x="22" y="0"/>
                  </a:lnTo>
                  <a:lnTo>
                    <a:pt x="27" y="1"/>
                  </a:lnTo>
                  <a:lnTo>
                    <a:pt x="32" y="2"/>
                  </a:lnTo>
                  <a:lnTo>
                    <a:pt x="37" y="3"/>
                  </a:lnTo>
                  <a:lnTo>
                    <a:pt x="37" y="6"/>
                  </a:lnTo>
                  <a:lnTo>
                    <a:pt x="36" y="6"/>
                  </a:lnTo>
                  <a:lnTo>
                    <a:pt x="36" y="6"/>
                  </a:lnTo>
                  <a:lnTo>
                    <a:pt x="34" y="5"/>
                  </a:lnTo>
                  <a:lnTo>
                    <a:pt x="33" y="5"/>
                  </a:lnTo>
                  <a:lnTo>
                    <a:pt x="30" y="3"/>
                  </a:lnTo>
                  <a:lnTo>
                    <a:pt x="28" y="3"/>
                  </a:lnTo>
                  <a:lnTo>
                    <a:pt x="25" y="3"/>
                  </a:lnTo>
                  <a:lnTo>
                    <a:pt x="22" y="2"/>
                  </a:lnTo>
                  <a:lnTo>
                    <a:pt x="19" y="2"/>
                  </a:lnTo>
                  <a:lnTo>
                    <a:pt x="15" y="2"/>
                  </a:lnTo>
                  <a:lnTo>
                    <a:pt x="13" y="3"/>
                  </a:lnTo>
                  <a:lnTo>
                    <a:pt x="9" y="3"/>
                  </a:lnTo>
                  <a:lnTo>
                    <a:pt x="7" y="5"/>
                  </a:lnTo>
                  <a:lnTo>
                    <a:pt x="5" y="6"/>
                  </a:lnTo>
                  <a:lnTo>
                    <a:pt x="2" y="8"/>
                  </a:lnTo>
                  <a:lnTo>
                    <a:pt x="0" y="10"/>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75" name="Freeform 274"/>
            <p:cNvSpPr>
              <a:spLocks/>
            </p:cNvSpPr>
            <p:nvPr/>
          </p:nvSpPr>
          <p:spPr bwMode="auto">
            <a:xfrm>
              <a:off x="1202" y="2123"/>
              <a:ext cx="37" cy="11"/>
            </a:xfrm>
            <a:custGeom>
              <a:avLst/>
              <a:gdLst>
                <a:gd name="T0" fmla="*/ 0 w 37"/>
                <a:gd name="T1" fmla="*/ 7 h 11"/>
                <a:gd name="T2" fmla="*/ 0 w 37"/>
                <a:gd name="T3" fmla="*/ 7 h 11"/>
                <a:gd name="T4" fmla="*/ 0 w 37"/>
                <a:gd name="T5" fmla="*/ 6 h 11"/>
                <a:gd name="T6" fmla="*/ 1 w 37"/>
                <a:gd name="T7" fmla="*/ 6 h 11"/>
                <a:gd name="T8" fmla="*/ 1 w 37"/>
                <a:gd name="T9" fmla="*/ 5 h 11"/>
                <a:gd name="T10" fmla="*/ 2 w 37"/>
                <a:gd name="T11" fmla="*/ 4 h 11"/>
                <a:gd name="T12" fmla="*/ 4 w 37"/>
                <a:gd name="T13" fmla="*/ 4 h 11"/>
                <a:gd name="T14" fmla="*/ 5 w 37"/>
                <a:gd name="T15" fmla="*/ 3 h 11"/>
                <a:gd name="T16" fmla="*/ 7 w 37"/>
                <a:gd name="T17" fmla="*/ 2 h 11"/>
                <a:gd name="T18" fmla="*/ 9 w 37"/>
                <a:gd name="T19" fmla="*/ 2 h 11"/>
                <a:gd name="T20" fmla="*/ 12 w 37"/>
                <a:gd name="T21" fmla="*/ 0 h 11"/>
                <a:gd name="T22" fmla="*/ 15 w 37"/>
                <a:gd name="T23" fmla="*/ 0 h 11"/>
                <a:gd name="T24" fmla="*/ 19 w 37"/>
                <a:gd name="T25" fmla="*/ 0 h 11"/>
                <a:gd name="T26" fmla="*/ 22 w 37"/>
                <a:gd name="T27" fmla="*/ 0 h 11"/>
                <a:gd name="T28" fmla="*/ 27 w 37"/>
                <a:gd name="T29" fmla="*/ 2 h 11"/>
                <a:gd name="T30" fmla="*/ 32 w 37"/>
                <a:gd name="T31" fmla="*/ 3 h 11"/>
                <a:gd name="T32" fmla="*/ 37 w 37"/>
                <a:gd name="T33" fmla="*/ 4 h 11"/>
                <a:gd name="T34" fmla="*/ 37 w 37"/>
                <a:gd name="T35" fmla="*/ 6 h 11"/>
                <a:gd name="T36" fmla="*/ 36 w 37"/>
                <a:gd name="T37" fmla="*/ 6 h 11"/>
                <a:gd name="T38" fmla="*/ 36 w 37"/>
                <a:gd name="T39" fmla="*/ 6 h 11"/>
                <a:gd name="T40" fmla="*/ 34 w 37"/>
                <a:gd name="T41" fmla="*/ 5 h 11"/>
                <a:gd name="T42" fmla="*/ 33 w 37"/>
                <a:gd name="T43" fmla="*/ 5 h 11"/>
                <a:gd name="T44" fmla="*/ 30 w 37"/>
                <a:gd name="T45" fmla="*/ 5 h 11"/>
                <a:gd name="T46" fmla="*/ 28 w 37"/>
                <a:gd name="T47" fmla="*/ 4 h 11"/>
                <a:gd name="T48" fmla="*/ 25 w 37"/>
                <a:gd name="T49" fmla="*/ 4 h 11"/>
                <a:gd name="T50" fmla="*/ 22 w 37"/>
                <a:gd name="T51" fmla="*/ 3 h 11"/>
                <a:gd name="T52" fmla="*/ 19 w 37"/>
                <a:gd name="T53" fmla="*/ 3 h 11"/>
                <a:gd name="T54" fmla="*/ 15 w 37"/>
                <a:gd name="T55" fmla="*/ 3 h 11"/>
                <a:gd name="T56" fmla="*/ 13 w 37"/>
                <a:gd name="T57" fmla="*/ 4 h 11"/>
                <a:gd name="T58" fmla="*/ 9 w 37"/>
                <a:gd name="T59" fmla="*/ 4 h 11"/>
                <a:gd name="T60" fmla="*/ 7 w 37"/>
                <a:gd name="T61" fmla="*/ 5 h 11"/>
                <a:gd name="T62" fmla="*/ 5 w 37"/>
                <a:gd name="T63" fmla="*/ 6 h 11"/>
                <a:gd name="T64" fmla="*/ 2 w 37"/>
                <a:gd name="T65" fmla="*/ 9 h 11"/>
                <a:gd name="T66" fmla="*/ 0 w 37"/>
                <a:gd name="T67" fmla="*/ 11 h 11"/>
                <a:gd name="T68" fmla="*/ 0 w 37"/>
                <a:gd name="T69"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7" h="11">
                  <a:moveTo>
                    <a:pt x="0" y="7"/>
                  </a:moveTo>
                  <a:lnTo>
                    <a:pt x="0" y="7"/>
                  </a:lnTo>
                  <a:lnTo>
                    <a:pt x="0" y="6"/>
                  </a:lnTo>
                  <a:lnTo>
                    <a:pt x="1" y="6"/>
                  </a:lnTo>
                  <a:lnTo>
                    <a:pt x="1" y="5"/>
                  </a:lnTo>
                  <a:lnTo>
                    <a:pt x="2" y="4"/>
                  </a:lnTo>
                  <a:lnTo>
                    <a:pt x="4" y="4"/>
                  </a:lnTo>
                  <a:lnTo>
                    <a:pt x="5" y="3"/>
                  </a:lnTo>
                  <a:lnTo>
                    <a:pt x="7" y="2"/>
                  </a:lnTo>
                  <a:lnTo>
                    <a:pt x="9" y="2"/>
                  </a:lnTo>
                  <a:lnTo>
                    <a:pt x="12" y="0"/>
                  </a:lnTo>
                  <a:lnTo>
                    <a:pt x="15" y="0"/>
                  </a:lnTo>
                  <a:lnTo>
                    <a:pt x="19" y="0"/>
                  </a:lnTo>
                  <a:lnTo>
                    <a:pt x="22" y="0"/>
                  </a:lnTo>
                  <a:lnTo>
                    <a:pt x="27" y="2"/>
                  </a:lnTo>
                  <a:lnTo>
                    <a:pt x="32" y="3"/>
                  </a:lnTo>
                  <a:lnTo>
                    <a:pt x="37" y="4"/>
                  </a:lnTo>
                  <a:lnTo>
                    <a:pt x="37" y="6"/>
                  </a:lnTo>
                  <a:lnTo>
                    <a:pt x="36" y="6"/>
                  </a:lnTo>
                  <a:lnTo>
                    <a:pt x="36" y="6"/>
                  </a:lnTo>
                  <a:lnTo>
                    <a:pt x="34" y="5"/>
                  </a:lnTo>
                  <a:lnTo>
                    <a:pt x="33" y="5"/>
                  </a:lnTo>
                  <a:lnTo>
                    <a:pt x="30" y="5"/>
                  </a:lnTo>
                  <a:lnTo>
                    <a:pt x="28" y="4"/>
                  </a:lnTo>
                  <a:lnTo>
                    <a:pt x="25" y="4"/>
                  </a:lnTo>
                  <a:lnTo>
                    <a:pt x="22" y="3"/>
                  </a:lnTo>
                  <a:lnTo>
                    <a:pt x="19" y="3"/>
                  </a:lnTo>
                  <a:lnTo>
                    <a:pt x="15" y="3"/>
                  </a:lnTo>
                  <a:lnTo>
                    <a:pt x="13" y="4"/>
                  </a:lnTo>
                  <a:lnTo>
                    <a:pt x="9" y="4"/>
                  </a:lnTo>
                  <a:lnTo>
                    <a:pt x="7" y="5"/>
                  </a:lnTo>
                  <a:lnTo>
                    <a:pt x="5" y="6"/>
                  </a:lnTo>
                  <a:lnTo>
                    <a:pt x="2" y="9"/>
                  </a:lnTo>
                  <a:lnTo>
                    <a:pt x="0" y="11"/>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76" name="Freeform 275"/>
            <p:cNvSpPr>
              <a:spLocks/>
            </p:cNvSpPr>
            <p:nvPr/>
          </p:nvSpPr>
          <p:spPr bwMode="auto">
            <a:xfrm>
              <a:off x="1237" y="2112"/>
              <a:ext cx="61" cy="113"/>
            </a:xfrm>
            <a:custGeom>
              <a:avLst/>
              <a:gdLst>
                <a:gd name="T0" fmla="*/ 0 w 61"/>
                <a:gd name="T1" fmla="*/ 0 h 113"/>
                <a:gd name="T2" fmla="*/ 0 w 61"/>
                <a:gd name="T3" fmla="*/ 110 h 113"/>
                <a:gd name="T4" fmla="*/ 19 w 61"/>
                <a:gd name="T5" fmla="*/ 113 h 113"/>
                <a:gd name="T6" fmla="*/ 18 w 61"/>
                <a:gd name="T7" fmla="*/ 98 h 113"/>
                <a:gd name="T8" fmla="*/ 61 w 61"/>
                <a:gd name="T9" fmla="*/ 105 h 113"/>
                <a:gd name="T10" fmla="*/ 61 w 61"/>
                <a:gd name="T11" fmla="*/ 99 h 113"/>
                <a:gd name="T12" fmla="*/ 30 w 61"/>
                <a:gd name="T13" fmla="*/ 96 h 113"/>
                <a:gd name="T14" fmla="*/ 29 w 61"/>
                <a:gd name="T15" fmla="*/ 83 h 113"/>
                <a:gd name="T16" fmla="*/ 9 w 61"/>
                <a:gd name="T17" fmla="*/ 83 h 113"/>
                <a:gd name="T18" fmla="*/ 8 w 61"/>
                <a:gd name="T19" fmla="*/ 80 h 113"/>
                <a:gd name="T20" fmla="*/ 7 w 61"/>
                <a:gd name="T21" fmla="*/ 76 h 113"/>
                <a:gd name="T22" fmla="*/ 6 w 61"/>
                <a:gd name="T23" fmla="*/ 69 h 113"/>
                <a:gd name="T24" fmla="*/ 4 w 61"/>
                <a:gd name="T25" fmla="*/ 59 h 113"/>
                <a:gd name="T26" fmla="*/ 2 w 61"/>
                <a:gd name="T27" fmla="*/ 48 h 113"/>
                <a:gd name="T28" fmla="*/ 1 w 61"/>
                <a:gd name="T29" fmla="*/ 34 h 113"/>
                <a:gd name="T30" fmla="*/ 2 w 61"/>
                <a:gd name="T31" fmla="*/ 20 h 113"/>
                <a:gd name="T32" fmla="*/ 6 w 61"/>
                <a:gd name="T33" fmla="*/ 3 h 113"/>
                <a:gd name="T34" fmla="*/ 0 w 61"/>
                <a:gd name="T35"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113">
                  <a:moveTo>
                    <a:pt x="0" y="0"/>
                  </a:moveTo>
                  <a:lnTo>
                    <a:pt x="0" y="110"/>
                  </a:lnTo>
                  <a:lnTo>
                    <a:pt x="19" y="113"/>
                  </a:lnTo>
                  <a:lnTo>
                    <a:pt x="18" y="98"/>
                  </a:lnTo>
                  <a:lnTo>
                    <a:pt x="61" y="105"/>
                  </a:lnTo>
                  <a:lnTo>
                    <a:pt x="61" y="99"/>
                  </a:lnTo>
                  <a:lnTo>
                    <a:pt x="30" y="96"/>
                  </a:lnTo>
                  <a:lnTo>
                    <a:pt x="29" y="83"/>
                  </a:lnTo>
                  <a:lnTo>
                    <a:pt x="9" y="83"/>
                  </a:lnTo>
                  <a:lnTo>
                    <a:pt x="8" y="80"/>
                  </a:lnTo>
                  <a:lnTo>
                    <a:pt x="7" y="76"/>
                  </a:lnTo>
                  <a:lnTo>
                    <a:pt x="6" y="69"/>
                  </a:lnTo>
                  <a:lnTo>
                    <a:pt x="4" y="59"/>
                  </a:lnTo>
                  <a:lnTo>
                    <a:pt x="2" y="48"/>
                  </a:lnTo>
                  <a:lnTo>
                    <a:pt x="1" y="34"/>
                  </a:lnTo>
                  <a:lnTo>
                    <a:pt x="2" y="20"/>
                  </a:lnTo>
                  <a:lnTo>
                    <a:pt x="6" y="3"/>
                  </a:lnTo>
                  <a:lnTo>
                    <a:pt x="0" y="0"/>
                  </a:lnTo>
                  <a:close/>
                </a:path>
              </a:pathLst>
            </a:custGeom>
            <a:solidFill>
              <a:srgbClr val="00199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77" name="Freeform 276"/>
            <p:cNvSpPr>
              <a:spLocks/>
            </p:cNvSpPr>
            <p:nvPr/>
          </p:nvSpPr>
          <p:spPr bwMode="auto">
            <a:xfrm>
              <a:off x="1267" y="2086"/>
              <a:ext cx="79" cy="15"/>
            </a:xfrm>
            <a:custGeom>
              <a:avLst/>
              <a:gdLst>
                <a:gd name="T0" fmla="*/ 0 w 79"/>
                <a:gd name="T1" fmla="*/ 15 h 15"/>
                <a:gd name="T2" fmla="*/ 0 w 79"/>
                <a:gd name="T3" fmla="*/ 15 h 15"/>
                <a:gd name="T4" fmla="*/ 3 w 79"/>
                <a:gd name="T5" fmla="*/ 14 h 15"/>
                <a:gd name="T6" fmla="*/ 4 w 79"/>
                <a:gd name="T7" fmla="*/ 14 h 15"/>
                <a:gd name="T8" fmla="*/ 7 w 79"/>
                <a:gd name="T9" fmla="*/ 13 h 15"/>
                <a:gd name="T10" fmla="*/ 11 w 79"/>
                <a:gd name="T11" fmla="*/ 12 h 15"/>
                <a:gd name="T12" fmla="*/ 14 w 79"/>
                <a:gd name="T13" fmla="*/ 11 h 15"/>
                <a:gd name="T14" fmla="*/ 19 w 79"/>
                <a:gd name="T15" fmla="*/ 9 h 15"/>
                <a:gd name="T16" fmla="*/ 24 w 79"/>
                <a:gd name="T17" fmla="*/ 8 h 15"/>
                <a:gd name="T18" fmla="*/ 30 w 79"/>
                <a:gd name="T19" fmla="*/ 8 h 15"/>
                <a:gd name="T20" fmla="*/ 35 w 79"/>
                <a:gd name="T21" fmla="*/ 7 h 15"/>
                <a:gd name="T22" fmla="*/ 42 w 79"/>
                <a:gd name="T23" fmla="*/ 7 h 15"/>
                <a:gd name="T24" fmla="*/ 48 w 79"/>
                <a:gd name="T25" fmla="*/ 6 h 15"/>
                <a:gd name="T26" fmla="*/ 55 w 79"/>
                <a:gd name="T27" fmla="*/ 7 h 15"/>
                <a:gd name="T28" fmla="*/ 62 w 79"/>
                <a:gd name="T29" fmla="*/ 7 h 15"/>
                <a:gd name="T30" fmla="*/ 69 w 79"/>
                <a:gd name="T31" fmla="*/ 8 h 15"/>
                <a:gd name="T32" fmla="*/ 76 w 79"/>
                <a:gd name="T33" fmla="*/ 9 h 15"/>
                <a:gd name="T34" fmla="*/ 79 w 79"/>
                <a:gd name="T35" fmla="*/ 0 h 15"/>
                <a:gd name="T36" fmla="*/ 79 w 79"/>
                <a:gd name="T37" fmla="*/ 0 h 15"/>
                <a:gd name="T38" fmla="*/ 76 w 79"/>
                <a:gd name="T39" fmla="*/ 0 h 15"/>
                <a:gd name="T40" fmla="*/ 74 w 79"/>
                <a:gd name="T41" fmla="*/ 0 h 15"/>
                <a:gd name="T42" fmla="*/ 70 w 79"/>
                <a:gd name="T43" fmla="*/ 0 h 15"/>
                <a:gd name="T44" fmla="*/ 66 w 79"/>
                <a:gd name="T45" fmla="*/ 0 h 15"/>
                <a:gd name="T46" fmla="*/ 61 w 79"/>
                <a:gd name="T47" fmla="*/ 0 h 15"/>
                <a:gd name="T48" fmla="*/ 56 w 79"/>
                <a:gd name="T49" fmla="*/ 0 h 15"/>
                <a:gd name="T50" fmla="*/ 51 w 79"/>
                <a:gd name="T51" fmla="*/ 1 h 15"/>
                <a:gd name="T52" fmla="*/ 44 w 79"/>
                <a:gd name="T53" fmla="*/ 1 h 15"/>
                <a:gd name="T54" fmla="*/ 38 w 79"/>
                <a:gd name="T55" fmla="*/ 1 h 15"/>
                <a:gd name="T56" fmla="*/ 31 w 79"/>
                <a:gd name="T57" fmla="*/ 2 h 15"/>
                <a:gd name="T58" fmla="*/ 25 w 79"/>
                <a:gd name="T59" fmla="*/ 4 h 15"/>
                <a:gd name="T60" fmla="*/ 18 w 79"/>
                <a:gd name="T61" fmla="*/ 5 h 15"/>
                <a:gd name="T62" fmla="*/ 12 w 79"/>
                <a:gd name="T63" fmla="*/ 6 h 15"/>
                <a:gd name="T64" fmla="*/ 6 w 79"/>
                <a:gd name="T65" fmla="*/ 7 h 15"/>
                <a:gd name="T66" fmla="*/ 0 w 79"/>
                <a:gd name="T67" fmla="*/ 8 h 15"/>
                <a:gd name="T68" fmla="*/ 0 w 79"/>
                <a:gd name="T6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 h="15">
                  <a:moveTo>
                    <a:pt x="0" y="15"/>
                  </a:moveTo>
                  <a:lnTo>
                    <a:pt x="0" y="15"/>
                  </a:lnTo>
                  <a:lnTo>
                    <a:pt x="3" y="14"/>
                  </a:lnTo>
                  <a:lnTo>
                    <a:pt x="4" y="14"/>
                  </a:lnTo>
                  <a:lnTo>
                    <a:pt x="7" y="13"/>
                  </a:lnTo>
                  <a:lnTo>
                    <a:pt x="11" y="12"/>
                  </a:lnTo>
                  <a:lnTo>
                    <a:pt x="14" y="11"/>
                  </a:lnTo>
                  <a:lnTo>
                    <a:pt x="19" y="9"/>
                  </a:lnTo>
                  <a:lnTo>
                    <a:pt x="24" y="8"/>
                  </a:lnTo>
                  <a:lnTo>
                    <a:pt x="30" y="8"/>
                  </a:lnTo>
                  <a:lnTo>
                    <a:pt x="35" y="7"/>
                  </a:lnTo>
                  <a:lnTo>
                    <a:pt x="42" y="7"/>
                  </a:lnTo>
                  <a:lnTo>
                    <a:pt x="48" y="6"/>
                  </a:lnTo>
                  <a:lnTo>
                    <a:pt x="55" y="7"/>
                  </a:lnTo>
                  <a:lnTo>
                    <a:pt x="62" y="7"/>
                  </a:lnTo>
                  <a:lnTo>
                    <a:pt x="69" y="8"/>
                  </a:lnTo>
                  <a:lnTo>
                    <a:pt x="76" y="9"/>
                  </a:lnTo>
                  <a:lnTo>
                    <a:pt x="79" y="0"/>
                  </a:lnTo>
                  <a:lnTo>
                    <a:pt x="79" y="0"/>
                  </a:lnTo>
                  <a:lnTo>
                    <a:pt x="76" y="0"/>
                  </a:lnTo>
                  <a:lnTo>
                    <a:pt x="74" y="0"/>
                  </a:lnTo>
                  <a:lnTo>
                    <a:pt x="70" y="0"/>
                  </a:lnTo>
                  <a:lnTo>
                    <a:pt x="66" y="0"/>
                  </a:lnTo>
                  <a:lnTo>
                    <a:pt x="61" y="0"/>
                  </a:lnTo>
                  <a:lnTo>
                    <a:pt x="56" y="0"/>
                  </a:lnTo>
                  <a:lnTo>
                    <a:pt x="51" y="1"/>
                  </a:lnTo>
                  <a:lnTo>
                    <a:pt x="44" y="1"/>
                  </a:lnTo>
                  <a:lnTo>
                    <a:pt x="38" y="1"/>
                  </a:lnTo>
                  <a:lnTo>
                    <a:pt x="31" y="2"/>
                  </a:lnTo>
                  <a:lnTo>
                    <a:pt x="25" y="4"/>
                  </a:lnTo>
                  <a:lnTo>
                    <a:pt x="18" y="5"/>
                  </a:lnTo>
                  <a:lnTo>
                    <a:pt x="12" y="6"/>
                  </a:lnTo>
                  <a:lnTo>
                    <a:pt x="6" y="7"/>
                  </a:lnTo>
                  <a:lnTo>
                    <a:pt x="0" y="8"/>
                  </a:lnTo>
                  <a:lnTo>
                    <a:pt x="0" y="15"/>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78" name="Freeform 277"/>
            <p:cNvSpPr>
              <a:spLocks/>
            </p:cNvSpPr>
            <p:nvPr/>
          </p:nvSpPr>
          <p:spPr bwMode="auto">
            <a:xfrm>
              <a:off x="1222" y="2227"/>
              <a:ext cx="132" cy="45"/>
            </a:xfrm>
            <a:custGeom>
              <a:avLst/>
              <a:gdLst>
                <a:gd name="T0" fmla="*/ 55 w 132"/>
                <a:gd name="T1" fmla="*/ 44 h 45"/>
                <a:gd name="T2" fmla="*/ 56 w 132"/>
                <a:gd name="T3" fmla="*/ 42 h 45"/>
                <a:gd name="T4" fmla="*/ 56 w 132"/>
                <a:gd name="T5" fmla="*/ 42 h 45"/>
                <a:gd name="T6" fmla="*/ 57 w 132"/>
                <a:gd name="T7" fmla="*/ 42 h 45"/>
                <a:gd name="T8" fmla="*/ 59 w 132"/>
                <a:gd name="T9" fmla="*/ 41 h 45"/>
                <a:gd name="T10" fmla="*/ 61 w 132"/>
                <a:gd name="T11" fmla="*/ 41 h 45"/>
                <a:gd name="T12" fmla="*/ 63 w 132"/>
                <a:gd name="T13" fmla="*/ 40 h 45"/>
                <a:gd name="T14" fmla="*/ 65 w 132"/>
                <a:gd name="T15" fmla="*/ 39 h 45"/>
                <a:gd name="T16" fmla="*/ 68 w 132"/>
                <a:gd name="T17" fmla="*/ 38 h 45"/>
                <a:gd name="T18" fmla="*/ 71 w 132"/>
                <a:gd name="T19" fmla="*/ 37 h 45"/>
                <a:gd name="T20" fmla="*/ 73 w 132"/>
                <a:gd name="T21" fmla="*/ 34 h 45"/>
                <a:gd name="T22" fmla="*/ 76 w 132"/>
                <a:gd name="T23" fmla="*/ 33 h 45"/>
                <a:gd name="T24" fmla="*/ 78 w 132"/>
                <a:gd name="T25" fmla="*/ 31 h 45"/>
                <a:gd name="T26" fmla="*/ 80 w 132"/>
                <a:gd name="T27" fmla="*/ 30 h 45"/>
                <a:gd name="T28" fmla="*/ 82 w 132"/>
                <a:gd name="T29" fmla="*/ 27 h 45"/>
                <a:gd name="T30" fmla="*/ 84 w 132"/>
                <a:gd name="T31" fmla="*/ 26 h 45"/>
                <a:gd name="T32" fmla="*/ 85 w 132"/>
                <a:gd name="T33" fmla="*/ 24 h 45"/>
                <a:gd name="T34" fmla="*/ 0 w 132"/>
                <a:gd name="T35" fmla="*/ 3 h 45"/>
                <a:gd name="T36" fmla="*/ 6 w 132"/>
                <a:gd name="T37" fmla="*/ 0 h 45"/>
                <a:gd name="T38" fmla="*/ 132 w 132"/>
                <a:gd name="T39" fmla="*/ 32 h 45"/>
                <a:gd name="T40" fmla="*/ 126 w 132"/>
                <a:gd name="T41" fmla="*/ 34 h 45"/>
                <a:gd name="T42" fmla="*/ 90 w 132"/>
                <a:gd name="T43" fmla="*/ 25 h 45"/>
                <a:gd name="T44" fmla="*/ 90 w 132"/>
                <a:gd name="T45" fmla="*/ 25 h 45"/>
                <a:gd name="T46" fmla="*/ 90 w 132"/>
                <a:gd name="T47" fmla="*/ 26 h 45"/>
                <a:gd name="T48" fmla="*/ 89 w 132"/>
                <a:gd name="T49" fmla="*/ 26 h 45"/>
                <a:gd name="T50" fmla="*/ 89 w 132"/>
                <a:gd name="T51" fmla="*/ 27 h 45"/>
                <a:gd name="T52" fmla="*/ 87 w 132"/>
                <a:gd name="T53" fmla="*/ 28 h 45"/>
                <a:gd name="T54" fmla="*/ 86 w 132"/>
                <a:gd name="T55" fmla="*/ 30 h 45"/>
                <a:gd name="T56" fmla="*/ 85 w 132"/>
                <a:gd name="T57" fmla="*/ 31 h 45"/>
                <a:gd name="T58" fmla="*/ 83 w 132"/>
                <a:gd name="T59" fmla="*/ 32 h 45"/>
                <a:gd name="T60" fmla="*/ 80 w 132"/>
                <a:gd name="T61" fmla="*/ 33 h 45"/>
                <a:gd name="T62" fmla="*/ 78 w 132"/>
                <a:gd name="T63" fmla="*/ 34 h 45"/>
                <a:gd name="T64" fmla="*/ 76 w 132"/>
                <a:gd name="T65" fmla="*/ 37 h 45"/>
                <a:gd name="T66" fmla="*/ 72 w 132"/>
                <a:gd name="T67" fmla="*/ 38 h 45"/>
                <a:gd name="T68" fmla="*/ 70 w 132"/>
                <a:gd name="T69" fmla="*/ 40 h 45"/>
                <a:gd name="T70" fmla="*/ 65 w 132"/>
                <a:gd name="T71" fmla="*/ 41 h 45"/>
                <a:gd name="T72" fmla="*/ 62 w 132"/>
                <a:gd name="T73" fmla="*/ 42 h 45"/>
                <a:gd name="T74" fmla="*/ 57 w 132"/>
                <a:gd name="T75" fmla="*/ 45 h 45"/>
                <a:gd name="T76" fmla="*/ 55 w 132"/>
                <a:gd name="T7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45">
                  <a:moveTo>
                    <a:pt x="55" y="44"/>
                  </a:moveTo>
                  <a:lnTo>
                    <a:pt x="56" y="42"/>
                  </a:lnTo>
                  <a:lnTo>
                    <a:pt x="56" y="42"/>
                  </a:lnTo>
                  <a:lnTo>
                    <a:pt x="57" y="42"/>
                  </a:lnTo>
                  <a:lnTo>
                    <a:pt x="59" y="41"/>
                  </a:lnTo>
                  <a:lnTo>
                    <a:pt x="61" y="41"/>
                  </a:lnTo>
                  <a:lnTo>
                    <a:pt x="63" y="40"/>
                  </a:lnTo>
                  <a:lnTo>
                    <a:pt x="65" y="39"/>
                  </a:lnTo>
                  <a:lnTo>
                    <a:pt x="68" y="38"/>
                  </a:lnTo>
                  <a:lnTo>
                    <a:pt x="71" y="37"/>
                  </a:lnTo>
                  <a:lnTo>
                    <a:pt x="73" y="34"/>
                  </a:lnTo>
                  <a:lnTo>
                    <a:pt x="76" y="33"/>
                  </a:lnTo>
                  <a:lnTo>
                    <a:pt x="78" y="31"/>
                  </a:lnTo>
                  <a:lnTo>
                    <a:pt x="80" y="30"/>
                  </a:lnTo>
                  <a:lnTo>
                    <a:pt x="82" y="27"/>
                  </a:lnTo>
                  <a:lnTo>
                    <a:pt x="84" y="26"/>
                  </a:lnTo>
                  <a:lnTo>
                    <a:pt x="85" y="24"/>
                  </a:lnTo>
                  <a:lnTo>
                    <a:pt x="0" y="3"/>
                  </a:lnTo>
                  <a:lnTo>
                    <a:pt x="6" y="0"/>
                  </a:lnTo>
                  <a:lnTo>
                    <a:pt x="132" y="32"/>
                  </a:lnTo>
                  <a:lnTo>
                    <a:pt x="126" y="34"/>
                  </a:lnTo>
                  <a:lnTo>
                    <a:pt x="90" y="25"/>
                  </a:lnTo>
                  <a:lnTo>
                    <a:pt x="90" y="25"/>
                  </a:lnTo>
                  <a:lnTo>
                    <a:pt x="90" y="26"/>
                  </a:lnTo>
                  <a:lnTo>
                    <a:pt x="89" y="26"/>
                  </a:lnTo>
                  <a:lnTo>
                    <a:pt x="89" y="27"/>
                  </a:lnTo>
                  <a:lnTo>
                    <a:pt x="87" y="28"/>
                  </a:lnTo>
                  <a:lnTo>
                    <a:pt x="86" y="30"/>
                  </a:lnTo>
                  <a:lnTo>
                    <a:pt x="85" y="31"/>
                  </a:lnTo>
                  <a:lnTo>
                    <a:pt x="83" y="32"/>
                  </a:lnTo>
                  <a:lnTo>
                    <a:pt x="80" y="33"/>
                  </a:lnTo>
                  <a:lnTo>
                    <a:pt x="78" y="34"/>
                  </a:lnTo>
                  <a:lnTo>
                    <a:pt x="76" y="37"/>
                  </a:lnTo>
                  <a:lnTo>
                    <a:pt x="72" y="38"/>
                  </a:lnTo>
                  <a:lnTo>
                    <a:pt x="70" y="40"/>
                  </a:lnTo>
                  <a:lnTo>
                    <a:pt x="65" y="41"/>
                  </a:lnTo>
                  <a:lnTo>
                    <a:pt x="62" y="42"/>
                  </a:lnTo>
                  <a:lnTo>
                    <a:pt x="57" y="45"/>
                  </a:lnTo>
                  <a:lnTo>
                    <a:pt x="55"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79" name="Freeform 278"/>
            <p:cNvSpPr>
              <a:spLocks/>
            </p:cNvSpPr>
            <p:nvPr/>
          </p:nvSpPr>
          <p:spPr bwMode="auto">
            <a:xfrm>
              <a:off x="1194" y="2239"/>
              <a:ext cx="135" cy="40"/>
            </a:xfrm>
            <a:custGeom>
              <a:avLst/>
              <a:gdLst>
                <a:gd name="T0" fmla="*/ 0 w 135"/>
                <a:gd name="T1" fmla="*/ 0 h 40"/>
                <a:gd name="T2" fmla="*/ 132 w 135"/>
                <a:gd name="T3" fmla="*/ 40 h 40"/>
                <a:gd name="T4" fmla="*/ 135 w 135"/>
                <a:gd name="T5" fmla="*/ 40 h 40"/>
                <a:gd name="T6" fmla="*/ 5 w 135"/>
                <a:gd name="T7" fmla="*/ 0 h 40"/>
                <a:gd name="T8" fmla="*/ 0 w 135"/>
                <a:gd name="T9" fmla="*/ 0 h 40"/>
              </a:gdLst>
              <a:ahLst/>
              <a:cxnLst>
                <a:cxn ang="0">
                  <a:pos x="T0" y="T1"/>
                </a:cxn>
                <a:cxn ang="0">
                  <a:pos x="T2" y="T3"/>
                </a:cxn>
                <a:cxn ang="0">
                  <a:pos x="T4" y="T5"/>
                </a:cxn>
                <a:cxn ang="0">
                  <a:pos x="T6" y="T7"/>
                </a:cxn>
                <a:cxn ang="0">
                  <a:pos x="T8" y="T9"/>
                </a:cxn>
              </a:cxnLst>
              <a:rect l="0" t="0" r="r" b="b"/>
              <a:pathLst>
                <a:path w="135" h="40">
                  <a:moveTo>
                    <a:pt x="0" y="0"/>
                  </a:moveTo>
                  <a:lnTo>
                    <a:pt x="132" y="40"/>
                  </a:lnTo>
                  <a:lnTo>
                    <a:pt x="135" y="40"/>
                  </a:lnTo>
                  <a:lnTo>
                    <a:pt x="5"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80" name="Freeform 279"/>
            <p:cNvSpPr>
              <a:spLocks/>
            </p:cNvSpPr>
            <p:nvPr/>
          </p:nvSpPr>
          <p:spPr bwMode="auto">
            <a:xfrm>
              <a:off x="1217" y="2233"/>
              <a:ext cx="132" cy="36"/>
            </a:xfrm>
            <a:custGeom>
              <a:avLst/>
              <a:gdLst>
                <a:gd name="T0" fmla="*/ 0 w 132"/>
                <a:gd name="T1" fmla="*/ 0 h 36"/>
                <a:gd name="T2" fmla="*/ 130 w 132"/>
                <a:gd name="T3" fmla="*/ 36 h 36"/>
                <a:gd name="T4" fmla="*/ 132 w 132"/>
                <a:gd name="T5" fmla="*/ 35 h 36"/>
                <a:gd name="T6" fmla="*/ 4 w 132"/>
                <a:gd name="T7" fmla="*/ 0 h 36"/>
                <a:gd name="T8" fmla="*/ 0 w 132"/>
                <a:gd name="T9" fmla="*/ 0 h 36"/>
              </a:gdLst>
              <a:ahLst/>
              <a:cxnLst>
                <a:cxn ang="0">
                  <a:pos x="T0" y="T1"/>
                </a:cxn>
                <a:cxn ang="0">
                  <a:pos x="T2" y="T3"/>
                </a:cxn>
                <a:cxn ang="0">
                  <a:pos x="T4" y="T5"/>
                </a:cxn>
                <a:cxn ang="0">
                  <a:pos x="T6" y="T7"/>
                </a:cxn>
                <a:cxn ang="0">
                  <a:pos x="T8" y="T9"/>
                </a:cxn>
              </a:cxnLst>
              <a:rect l="0" t="0" r="r" b="b"/>
              <a:pathLst>
                <a:path w="132" h="36">
                  <a:moveTo>
                    <a:pt x="0" y="0"/>
                  </a:moveTo>
                  <a:lnTo>
                    <a:pt x="130" y="36"/>
                  </a:lnTo>
                  <a:lnTo>
                    <a:pt x="132" y="35"/>
                  </a:lnTo>
                  <a:lnTo>
                    <a:pt x="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81" name="Freeform 280"/>
            <p:cNvSpPr>
              <a:spLocks/>
            </p:cNvSpPr>
            <p:nvPr/>
          </p:nvSpPr>
          <p:spPr bwMode="auto">
            <a:xfrm>
              <a:off x="1207" y="2236"/>
              <a:ext cx="133" cy="38"/>
            </a:xfrm>
            <a:custGeom>
              <a:avLst/>
              <a:gdLst>
                <a:gd name="T0" fmla="*/ 0 w 133"/>
                <a:gd name="T1" fmla="*/ 0 h 38"/>
                <a:gd name="T2" fmla="*/ 130 w 133"/>
                <a:gd name="T3" fmla="*/ 38 h 38"/>
                <a:gd name="T4" fmla="*/ 133 w 133"/>
                <a:gd name="T5" fmla="*/ 38 h 38"/>
                <a:gd name="T6" fmla="*/ 3 w 133"/>
                <a:gd name="T7" fmla="*/ 0 h 38"/>
                <a:gd name="T8" fmla="*/ 0 w 133"/>
                <a:gd name="T9" fmla="*/ 0 h 38"/>
              </a:gdLst>
              <a:ahLst/>
              <a:cxnLst>
                <a:cxn ang="0">
                  <a:pos x="T0" y="T1"/>
                </a:cxn>
                <a:cxn ang="0">
                  <a:pos x="T2" y="T3"/>
                </a:cxn>
                <a:cxn ang="0">
                  <a:pos x="T4" y="T5"/>
                </a:cxn>
                <a:cxn ang="0">
                  <a:pos x="T6" y="T7"/>
                </a:cxn>
                <a:cxn ang="0">
                  <a:pos x="T8" y="T9"/>
                </a:cxn>
              </a:cxnLst>
              <a:rect l="0" t="0" r="r" b="b"/>
              <a:pathLst>
                <a:path w="133" h="38">
                  <a:moveTo>
                    <a:pt x="0" y="0"/>
                  </a:moveTo>
                  <a:lnTo>
                    <a:pt x="130" y="38"/>
                  </a:lnTo>
                  <a:lnTo>
                    <a:pt x="133" y="38"/>
                  </a:lnTo>
                  <a:lnTo>
                    <a:pt x="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82" name="Freeform 281"/>
            <p:cNvSpPr>
              <a:spLocks/>
            </p:cNvSpPr>
            <p:nvPr/>
          </p:nvSpPr>
          <p:spPr bwMode="auto">
            <a:xfrm>
              <a:off x="1768" y="2150"/>
              <a:ext cx="249" cy="209"/>
            </a:xfrm>
            <a:custGeom>
              <a:avLst/>
              <a:gdLst>
                <a:gd name="T0" fmla="*/ 70 w 249"/>
                <a:gd name="T1" fmla="*/ 14 h 209"/>
                <a:gd name="T2" fmla="*/ 70 w 249"/>
                <a:gd name="T3" fmla="*/ 14 h 209"/>
                <a:gd name="T4" fmla="*/ 72 w 249"/>
                <a:gd name="T5" fmla="*/ 14 h 209"/>
                <a:gd name="T6" fmla="*/ 75 w 249"/>
                <a:gd name="T7" fmla="*/ 13 h 209"/>
                <a:gd name="T8" fmla="*/ 78 w 249"/>
                <a:gd name="T9" fmla="*/ 12 h 209"/>
                <a:gd name="T10" fmla="*/ 83 w 249"/>
                <a:gd name="T11" fmla="*/ 11 h 209"/>
                <a:gd name="T12" fmla="*/ 88 w 249"/>
                <a:gd name="T13" fmla="*/ 10 h 209"/>
                <a:gd name="T14" fmla="*/ 95 w 249"/>
                <a:gd name="T15" fmla="*/ 8 h 209"/>
                <a:gd name="T16" fmla="*/ 103 w 249"/>
                <a:gd name="T17" fmla="*/ 6 h 209"/>
                <a:gd name="T18" fmla="*/ 111 w 249"/>
                <a:gd name="T19" fmla="*/ 5 h 209"/>
                <a:gd name="T20" fmla="*/ 120 w 249"/>
                <a:gd name="T21" fmla="*/ 4 h 209"/>
                <a:gd name="T22" fmla="*/ 132 w 249"/>
                <a:gd name="T23" fmla="*/ 3 h 209"/>
                <a:gd name="T24" fmla="*/ 144 w 249"/>
                <a:gd name="T25" fmla="*/ 1 h 209"/>
                <a:gd name="T26" fmla="*/ 156 w 249"/>
                <a:gd name="T27" fmla="*/ 0 h 209"/>
                <a:gd name="T28" fmla="*/ 169 w 249"/>
                <a:gd name="T29" fmla="*/ 0 h 209"/>
                <a:gd name="T30" fmla="*/ 184 w 249"/>
                <a:gd name="T31" fmla="*/ 0 h 209"/>
                <a:gd name="T32" fmla="*/ 201 w 249"/>
                <a:gd name="T33" fmla="*/ 0 h 209"/>
                <a:gd name="T34" fmla="*/ 208 w 249"/>
                <a:gd name="T35" fmla="*/ 28 h 209"/>
                <a:gd name="T36" fmla="*/ 210 w 249"/>
                <a:gd name="T37" fmla="*/ 29 h 209"/>
                <a:gd name="T38" fmla="*/ 216 w 249"/>
                <a:gd name="T39" fmla="*/ 34 h 209"/>
                <a:gd name="T40" fmla="*/ 222 w 249"/>
                <a:gd name="T41" fmla="*/ 40 h 209"/>
                <a:gd name="T42" fmla="*/ 225 w 249"/>
                <a:gd name="T43" fmla="*/ 51 h 209"/>
                <a:gd name="T44" fmla="*/ 239 w 249"/>
                <a:gd name="T45" fmla="*/ 117 h 209"/>
                <a:gd name="T46" fmla="*/ 246 w 249"/>
                <a:gd name="T47" fmla="*/ 145 h 209"/>
                <a:gd name="T48" fmla="*/ 246 w 249"/>
                <a:gd name="T49" fmla="*/ 146 h 209"/>
                <a:gd name="T50" fmla="*/ 248 w 249"/>
                <a:gd name="T51" fmla="*/ 152 h 209"/>
                <a:gd name="T52" fmla="*/ 248 w 249"/>
                <a:gd name="T53" fmla="*/ 160 h 209"/>
                <a:gd name="T54" fmla="*/ 244 w 249"/>
                <a:gd name="T55" fmla="*/ 171 h 209"/>
                <a:gd name="T56" fmla="*/ 0 w 249"/>
                <a:gd name="T57" fmla="*/ 164 h 209"/>
                <a:gd name="T58" fmla="*/ 25 w 249"/>
                <a:gd name="T59" fmla="*/ 151 h 209"/>
                <a:gd name="T60" fmla="*/ 25 w 249"/>
                <a:gd name="T61" fmla="*/ 28 h 209"/>
                <a:gd name="T62" fmla="*/ 26 w 249"/>
                <a:gd name="T63" fmla="*/ 27 h 209"/>
                <a:gd name="T64" fmla="*/ 28 w 249"/>
                <a:gd name="T65" fmla="*/ 26 h 209"/>
                <a:gd name="T66" fmla="*/ 32 w 249"/>
                <a:gd name="T67" fmla="*/ 25 h 209"/>
                <a:gd name="T68" fmla="*/ 36 w 249"/>
                <a:gd name="T69" fmla="*/ 24 h 209"/>
                <a:gd name="T70" fmla="*/ 42 w 249"/>
                <a:gd name="T71" fmla="*/ 22 h 209"/>
                <a:gd name="T72" fmla="*/ 49 w 249"/>
                <a:gd name="T73" fmla="*/ 22 h 209"/>
                <a:gd name="T74" fmla="*/ 57 w 249"/>
                <a:gd name="T75" fmla="*/ 24 h 209"/>
                <a:gd name="T76" fmla="*/ 68 w 249"/>
                <a:gd name="T77" fmla="*/ 27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9" h="209">
                  <a:moveTo>
                    <a:pt x="68" y="27"/>
                  </a:moveTo>
                  <a:lnTo>
                    <a:pt x="70" y="14"/>
                  </a:lnTo>
                  <a:lnTo>
                    <a:pt x="70" y="14"/>
                  </a:lnTo>
                  <a:lnTo>
                    <a:pt x="70" y="14"/>
                  </a:lnTo>
                  <a:lnTo>
                    <a:pt x="71" y="14"/>
                  </a:lnTo>
                  <a:lnTo>
                    <a:pt x="72" y="14"/>
                  </a:lnTo>
                  <a:lnTo>
                    <a:pt x="74" y="13"/>
                  </a:lnTo>
                  <a:lnTo>
                    <a:pt x="75" y="13"/>
                  </a:lnTo>
                  <a:lnTo>
                    <a:pt x="76" y="13"/>
                  </a:lnTo>
                  <a:lnTo>
                    <a:pt x="78" y="12"/>
                  </a:lnTo>
                  <a:lnTo>
                    <a:pt x="81" y="12"/>
                  </a:lnTo>
                  <a:lnTo>
                    <a:pt x="83" y="11"/>
                  </a:lnTo>
                  <a:lnTo>
                    <a:pt x="85" y="11"/>
                  </a:lnTo>
                  <a:lnTo>
                    <a:pt x="88" y="10"/>
                  </a:lnTo>
                  <a:lnTo>
                    <a:pt x="91" y="8"/>
                  </a:lnTo>
                  <a:lnTo>
                    <a:pt x="95" y="8"/>
                  </a:lnTo>
                  <a:lnTo>
                    <a:pt x="98" y="7"/>
                  </a:lnTo>
                  <a:lnTo>
                    <a:pt x="103" y="6"/>
                  </a:lnTo>
                  <a:lnTo>
                    <a:pt x="106" y="6"/>
                  </a:lnTo>
                  <a:lnTo>
                    <a:pt x="111" y="5"/>
                  </a:lnTo>
                  <a:lnTo>
                    <a:pt x="116" y="5"/>
                  </a:lnTo>
                  <a:lnTo>
                    <a:pt x="120" y="4"/>
                  </a:lnTo>
                  <a:lnTo>
                    <a:pt x="126" y="3"/>
                  </a:lnTo>
                  <a:lnTo>
                    <a:pt x="132" y="3"/>
                  </a:lnTo>
                  <a:lnTo>
                    <a:pt x="137" y="1"/>
                  </a:lnTo>
                  <a:lnTo>
                    <a:pt x="144" y="1"/>
                  </a:lnTo>
                  <a:lnTo>
                    <a:pt x="149" y="1"/>
                  </a:lnTo>
                  <a:lnTo>
                    <a:pt x="156" y="0"/>
                  </a:lnTo>
                  <a:lnTo>
                    <a:pt x="162" y="0"/>
                  </a:lnTo>
                  <a:lnTo>
                    <a:pt x="169" y="0"/>
                  </a:lnTo>
                  <a:lnTo>
                    <a:pt x="177" y="0"/>
                  </a:lnTo>
                  <a:lnTo>
                    <a:pt x="184" y="0"/>
                  </a:lnTo>
                  <a:lnTo>
                    <a:pt x="193" y="0"/>
                  </a:lnTo>
                  <a:lnTo>
                    <a:pt x="201" y="0"/>
                  </a:lnTo>
                  <a:lnTo>
                    <a:pt x="210" y="5"/>
                  </a:lnTo>
                  <a:lnTo>
                    <a:pt x="208" y="28"/>
                  </a:lnTo>
                  <a:lnTo>
                    <a:pt x="208" y="29"/>
                  </a:lnTo>
                  <a:lnTo>
                    <a:pt x="210" y="29"/>
                  </a:lnTo>
                  <a:lnTo>
                    <a:pt x="212" y="32"/>
                  </a:lnTo>
                  <a:lnTo>
                    <a:pt x="216" y="34"/>
                  </a:lnTo>
                  <a:lnTo>
                    <a:pt x="219" y="37"/>
                  </a:lnTo>
                  <a:lnTo>
                    <a:pt x="222" y="40"/>
                  </a:lnTo>
                  <a:lnTo>
                    <a:pt x="224" y="45"/>
                  </a:lnTo>
                  <a:lnTo>
                    <a:pt x="225" y="51"/>
                  </a:lnTo>
                  <a:lnTo>
                    <a:pt x="245" y="69"/>
                  </a:lnTo>
                  <a:lnTo>
                    <a:pt x="239" y="117"/>
                  </a:lnTo>
                  <a:lnTo>
                    <a:pt x="208" y="133"/>
                  </a:lnTo>
                  <a:lnTo>
                    <a:pt x="246" y="145"/>
                  </a:lnTo>
                  <a:lnTo>
                    <a:pt x="246" y="145"/>
                  </a:lnTo>
                  <a:lnTo>
                    <a:pt x="246" y="146"/>
                  </a:lnTo>
                  <a:lnTo>
                    <a:pt x="248" y="149"/>
                  </a:lnTo>
                  <a:lnTo>
                    <a:pt x="248" y="152"/>
                  </a:lnTo>
                  <a:lnTo>
                    <a:pt x="249" y="156"/>
                  </a:lnTo>
                  <a:lnTo>
                    <a:pt x="248" y="160"/>
                  </a:lnTo>
                  <a:lnTo>
                    <a:pt x="246" y="165"/>
                  </a:lnTo>
                  <a:lnTo>
                    <a:pt x="244" y="171"/>
                  </a:lnTo>
                  <a:lnTo>
                    <a:pt x="144" y="209"/>
                  </a:lnTo>
                  <a:lnTo>
                    <a:pt x="0" y="164"/>
                  </a:lnTo>
                  <a:lnTo>
                    <a:pt x="2" y="159"/>
                  </a:lnTo>
                  <a:lnTo>
                    <a:pt x="25" y="151"/>
                  </a:lnTo>
                  <a:lnTo>
                    <a:pt x="25" y="28"/>
                  </a:lnTo>
                  <a:lnTo>
                    <a:pt x="25" y="28"/>
                  </a:lnTo>
                  <a:lnTo>
                    <a:pt x="25" y="28"/>
                  </a:lnTo>
                  <a:lnTo>
                    <a:pt x="26" y="27"/>
                  </a:lnTo>
                  <a:lnTo>
                    <a:pt x="27" y="27"/>
                  </a:lnTo>
                  <a:lnTo>
                    <a:pt x="28" y="26"/>
                  </a:lnTo>
                  <a:lnTo>
                    <a:pt x="30" y="26"/>
                  </a:lnTo>
                  <a:lnTo>
                    <a:pt x="32" y="25"/>
                  </a:lnTo>
                  <a:lnTo>
                    <a:pt x="34" y="24"/>
                  </a:lnTo>
                  <a:lnTo>
                    <a:pt x="36" y="24"/>
                  </a:lnTo>
                  <a:lnTo>
                    <a:pt x="40" y="22"/>
                  </a:lnTo>
                  <a:lnTo>
                    <a:pt x="42" y="22"/>
                  </a:lnTo>
                  <a:lnTo>
                    <a:pt x="46" y="22"/>
                  </a:lnTo>
                  <a:lnTo>
                    <a:pt x="49" y="22"/>
                  </a:lnTo>
                  <a:lnTo>
                    <a:pt x="53" y="22"/>
                  </a:lnTo>
                  <a:lnTo>
                    <a:pt x="57" y="24"/>
                  </a:lnTo>
                  <a:lnTo>
                    <a:pt x="61" y="25"/>
                  </a:lnTo>
                  <a:lnTo>
                    <a:pt x="6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83" name="Freeform 282"/>
            <p:cNvSpPr>
              <a:spLocks/>
            </p:cNvSpPr>
            <p:nvPr/>
          </p:nvSpPr>
          <p:spPr bwMode="auto">
            <a:xfrm>
              <a:off x="1854" y="2165"/>
              <a:ext cx="80" cy="92"/>
            </a:xfrm>
            <a:custGeom>
              <a:avLst/>
              <a:gdLst>
                <a:gd name="T0" fmla="*/ 79 w 80"/>
                <a:gd name="T1" fmla="*/ 4 h 92"/>
                <a:gd name="T2" fmla="*/ 79 w 80"/>
                <a:gd name="T3" fmla="*/ 4 h 92"/>
                <a:gd name="T4" fmla="*/ 77 w 80"/>
                <a:gd name="T5" fmla="*/ 4 h 92"/>
                <a:gd name="T6" fmla="*/ 75 w 80"/>
                <a:gd name="T7" fmla="*/ 3 h 92"/>
                <a:gd name="T8" fmla="*/ 73 w 80"/>
                <a:gd name="T9" fmla="*/ 3 h 92"/>
                <a:gd name="T10" fmla="*/ 69 w 80"/>
                <a:gd name="T11" fmla="*/ 2 h 92"/>
                <a:gd name="T12" fmla="*/ 66 w 80"/>
                <a:gd name="T13" fmla="*/ 2 h 92"/>
                <a:gd name="T14" fmla="*/ 61 w 80"/>
                <a:gd name="T15" fmla="*/ 2 h 92"/>
                <a:gd name="T16" fmla="*/ 56 w 80"/>
                <a:gd name="T17" fmla="*/ 0 h 92"/>
                <a:gd name="T18" fmla="*/ 51 w 80"/>
                <a:gd name="T19" fmla="*/ 0 h 92"/>
                <a:gd name="T20" fmla="*/ 45 w 80"/>
                <a:gd name="T21" fmla="*/ 2 h 92"/>
                <a:gd name="T22" fmla="*/ 39 w 80"/>
                <a:gd name="T23" fmla="*/ 2 h 92"/>
                <a:gd name="T24" fmla="*/ 32 w 80"/>
                <a:gd name="T25" fmla="*/ 3 h 92"/>
                <a:gd name="T26" fmla="*/ 26 w 80"/>
                <a:gd name="T27" fmla="*/ 4 h 92"/>
                <a:gd name="T28" fmla="*/ 19 w 80"/>
                <a:gd name="T29" fmla="*/ 6 h 92"/>
                <a:gd name="T30" fmla="*/ 12 w 80"/>
                <a:gd name="T31" fmla="*/ 9 h 92"/>
                <a:gd name="T32" fmla="*/ 5 w 80"/>
                <a:gd name="T33" fmla="*/ 12 h 92"/>
                <a:gd name="T34" fmla="*/ 5 w 80"/>
                <a:gd name="T35" fmla="*/ 13 h 92"/>
                <a:gd name="T36" fmla="*/ 4 w 80"/>
                <a:gd name="T37" fmla="*/ 18 h 92"/>
                <a:gd name="T38" fmla="*/ 2 w 80"/>
                <a:gd name="T39" fmla="*/ 26 h 92"/>
                <a:gd name="T40" fmla="*/ 0 w 80"/>
                <a:gd name="T41" fmla="*/ 36 h 92"/>
                <a:gd name="T42" fmla="*/ 0 w 80"/>
                <a:gd name="T43" fmla="*/ 47 h 92"/>
                <a:gd name="T44" fmla="*/ 0 w 80"/>
                <a:gd name="T45" fmla="*/ 61 h 92"/>
                <a:gd name="T46" fmla="*/ 3 w 80"/>
                <a:gd name="T47" fmla="*/ 75 h 92"/>
                <a:gd name="T48" fmla="*/ 6 w 80"/>
                <a:gd name="T49" fmla="*/ 89 h 92"/>
                <a:gd name="T50" fmla="*/ 7 w 80"/>
                <a:gd name="T51" fmla="*/ 89 h 92"/>
                <a:gd name="T52" fmla="*/ 9 w 80"/>
                <a:gd name="T53" fmla="*/ 89 h 92"/>
                <a:gd name="T54" fmla="*/ 10 w 80"/>
                <a:gd name="T55" fmla="*/ 89 h 92"/>
                <a:gd name="T56" fmla="*/ 12 w 80"/>
                <a:gd name="T57" fmla="*/ 89 h 92"/>
                <a:gd name="T58" fmla="*/ 16 w 80"/>
                <a:gd name="T59" fmla="*/ 88 h 92"/>
                <a:gd name="T60" fmla="*/ 19 w 80"/>
                <a:gd name="T61" fmla="*/ 88 h 92"/>
                <a:gd name="T62" fmla="*/ 23 w 80"/>
                <a:gd name="T63" fmla="*/ 88 h 92"/>
                <a:gd name="T64" fmla="*/ 27 w 80"/>
                <a:gd name="T65" fmla="*/ 88 h 92"/>
                <a:gd name="T66" fmla="*/ 33 w 80"/>
                <a:gd name="T67" fmla="*/ 88 h 92"/>
                <a:gd name="T68" fmla="*/ 39 w 80"/>
                <a:gd name="T69" fmla="*/ 88 h 92"/>
                <a:gd name="T70" fmla="*/ 45 w 80"/>
                <a:gd name="T71" fmla="*/ 88 h 92"/>
                <a:gd name="T72" fmla="*/ 51 w 80"/>
                <a:gd name="T73" fmla="*/ 88 h 92"/>
                <a:gd name="T74" fmla="*/ 58 w 80"/>
                <a:gd name="T75" fmla="*/ 89 h 92"/>
                <a:gd name="T76" fmla="*/ 65 w 80"/>
                <a:gd name="T77" fmla="*/ 89 h 92"/>
                <a:gd name="T78" fmla="*/ 72 w 80"/>
                <a:gd name="T79" fmla="*/ 90 h 92"/>
                <a:gd name="T80" fmla="*/ 80 w 80"/>
                <a:gd name="T81" fmla="*/ 92 h 92"/>
                <a:gd name="T82" fmla="*/ 80 w 80"/>
                <a:gd name="T83" fmla="*/ 89 h 92"/>
                <a:gd name="T84" fmla="*/ 79 w 80"/>
                <a:gd name="T85" fmla="*/ 82 h 92"/>
                <a:gd name="T86" fmla="*/ 77 w 80"/>
                <a:gd name="T87" fmla="*/ 71 h 92"/>
                <a:gd name="T88" fmla="*/ 76 w 80"/>
                <a:gd name="T89" fmla="*/ 58 h 92"/>
                <a:gd name="T90" fmla="*/ 76 w 80"/>
                <a:gd name="T91" fmla="*/ 44 h 92"/>
                <a:gd name="T92" fmla="*/ 76 w 80"/>
                <a:gd name="T93" fmla="*/ 30 h 92"/>
                <a:gd name="T94" fmla="*/ 77 w 80"/>
                <a:gd name="T95" fmla="*/ 16 h 92"/>
                <a:gd name="T96" fmla="*/ 79 w 80"/>
                <a:gd name="T97" fmla="*/ 4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0" h="92">
                  <a:moveTo>
                    <a:pt x="79" y="4"/>
                  </a:moveTo>
                  <a:lnTo>
                    <a:pt x="79" y="4"/>
                  </a:lnTo>
                  <a:lnTo>
                    <a:pt x="77" y="4"/>
                  </a:lnTo>
                  <a:lnTo>
                    <a:pt x="75" y="3"/>
                  </a:lnTo>
                  <a:lnTo>
                    <a:pt x="73" y="3"/>
                  </a:lnTo>
                  <a:lnTo>
                    <a:pt x="69" y="2"/>
                  </a:lnTo>
                  <a:lnTo>
                    <a:pt x="66" y="2"/>
                  </a:lnTo>
                  <a:lnTo>
                    <a:pt x="61" y="2"/>
                  </a:lnTo>
                  <a:lnTo>
                    <a:pt x="56" y="0"/>
                  </a:lnTo>
                  <a:lnTo>
                    <a:pt x="51" y="0"/>
                  </a:lnTo>
                  <a:lnTo>
                    <a:pt x="45" y="2"/>
                  </a:lnTo>
                  <a:lnTo>
                    <a:pt x="39" y="2"/>
                  </a:lnTo>
                  <a:lnTo>
                    <a:pt x="32" y="3"/>
                  </a:lnTo>
                  <a:lnTo>
                    <a:pt x="26" y="4"/>
                  </a:lnTo>
                  <a:lnTo>
                    <a:pt x="19" y="6"/>
                  </a:lnTo>
                  <a:lnTo>
                    <a:pt x="12" y="9"/>
                  </a:lnTo>
                  <a:lnTo>
                    <a:pt x="5" y="12"/>
                  </a:lnTo>
                  <a:lnTo>
                    <a:pt x="5" y="13"/>
                  </a:lnTo>
                  <a:lnTo>
                    <a:pt x="4" y="18"/>
                  </a:lnTo>
                  <a:lnTo>
                    <a:pt x="2" y="26"/>
                  </a:lnTo>
                  <a:lnTo>
                    <a:pt x="0" y="36"/>
                  </a:lnTo>
                  <a:lnTo>
                    <a:pt x="0" y="47"/>
                  </a:lnTo>
                  <a:lnTo>
                    <a:pt x="0" y="61"/>
                  </a:lnTo>
                  <a:lnTo>
                    <a:pt x="3" y="75"/>
                  </a:lnTo>
                  <a:lnTo>
                    <a:pt x="6" y="89"/>
                  </a:lnTo>
                  <a:lnTo>
                    <a:pt x="7" y="89"/>
                  </a:lnTo>
                  <a:lnTo>
                    <a:pt x="9" y="89"/>
                  </a:lnTo>
                  <a:lnTo>
                    <a:pt x="10" y="89"/>
                  </a:lnTo>
                  <a:lnTo>
                    <a:pt x="12" y="89"/>
                  </a:lnTo>
                  <a:lnTo>
                    <a:pt x="16" y="88"/>
                  </a:lnTo>
                  <a:lnTo>
                    <a:pt x="19" y="88"/>
                  </a:lnTo>
                  <a:lnTo>
                    <a:pt x="23" y="88"/>
                  </a:lnTo>
                  <a:lnTo>
                    <a:pt x="27" y="88"/>
                  </a:lnTo>
                  <a:lnTo>
                    <a:pt x="33" y="88"/>
                  </a:lnTo>
                  <a:lnTo>
                    <a:pt x="39" y="88"/>
                  </a:lnTo>
                  <a:lnTo>
                    <a:pt x="45" y="88"/>
                  </a:lnTo>
                  <a:lnTo>
                    <a:pt x="51" y="88"/>
                  </a:lnTo>
                  <a:lnTo>
                    <a:pt x="58" y="89"/>
                  </a:lnTo>
                  <a:lnTo>
                    <a:pt x="65" y="89"/>
                  </a:lnTo>
                  <a:lnTo>
                    <a:pt x="72" y="90"/>
                  </a:lnTo>
                  <a:lnTo>
                    <a:pt x="80" y="92"/>
                  </a:lnTo>
                  <a:lnTo>
                    <a:pt x="80" y="89"/>
                  </a:lnTo>
                  <a:lnTo>
                    <a:pt x="79" y="82"/>
                  </a:lnTo>
                  <a:lnTo>
                    <a:pt x="77" y="71"/>
                  </a:lnTo>
                  <a:lnTo>
                    <a:pt x="76" y="58"/>
                  </a:lnTo>
                  <a:lnTo>
                    <a:pt x="76" y="44"/>
                  </a:lnTo>
                  <a:lnTo>
                    <a:pt x="76" y="30"/>
                  </a:lnTo>
                  <a:lnTo>
                    <a:pt x="77" y="16"/>
                  </a:lnTo>
                  <a:lnTo>
                    <a:pt x="79" y="4"/>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84" name="Freeform 283"/>
            <p:cNvSpPr>
              <a:spLocks/>
            </p:cNvSpPr>
            <p:nvPr/>
          </p:nvSpPr>
          <p:spPr bwMode="auto">
            <a:xfrm>
              <a:off x="1863" y="2191"/>
              <a:ext cx="131" cy="90"/>
            </a:xfrm>
            <a:custGeom>
              <a:avLst/>
              <a:gdLst>
                <a:gd name="T0" fmla="*/ 1 w 131"/>
                <a:gd name="T1" fmla="*/ 68 h 90"/>
                <a:gd name="T2" fmla="*/ 0 w 131"/>
                <a:gd name="T3" fmla="*/ 78 h 90"/>
                <a:gd name="T4" fmla="*/ 86 w 131"/>
                <a:gd name="T5" fmla="*/ 90 h 90"/>
                <a:gd name="T6" fmla="*/ 86 w 131"/>
                <a:gd name="T7" fmla="*/ 90 h 90"/>
                <a:gd name="T8" fmla="*/ 88 w 131"/>
                <a:gd name="T9" fmla="*/ 89 h 90"/>
                <a:gd name="T10" fmla="*/ 91 w 131"/>
                <a:gd name="T11" fmla="*/ 88 h 90"/>
                <a:gd name="T12" fmla="*/ 94 w 131"/>
                <a:gd name="T13" fmla="*/ 85 h 90"/>
                <a:gd name="T14" fmla="*/ 98 w 131"/>
                <a:gd name="T15" fmla="*/ 83 h 90"/>
                <a:gd name="T16" fmla="*/ 102 w 131"/>
                <a:gd name="T17" fmla="*/ 80 h 90"/>
                <a:gd name="T18" fmla="*/ 107 w 131"/>
                <a:gd name="T19" fmla="*/ 75 h 90"/>
                <a:gd name="T20" fmla="*/ 112 w 131"/>
                <a:gd name="T21" fmla="*/ 71 h 90"/>
                <a:gd name="T22" fmla="*/ 116 w 131"/>
                <a:gd name="T23" fmla="*/ 66 h 90"/>
                <a:gd name="T24" fmla="*/ 121 w 131"/>
                <a:gd name="T25" fmla="*/ 60 h 90"/>
                <a:gd name="T26" fmla="*/ 124 w 131"/>
                <a:gd name="T27" fmla="*/ 54 h 90"/>
                <a:gd name="T28" fmla="*/ 128 w 131"/>
                <a:gd name="T29" fmla="*/ 47 h 90"/>
                <a:gd name="T30" fmla="*/ 130 w 131"/>
                <a:gd name="T31" fmla="*/ 40 h 90"/>
                <a:gd name="T32" fmla="*/ 131 w 131"/>
                <a:gd name="T33" fmla="*/ 32 h 90"/>
                <a:gd name="T34" fmla="*/ 131 w 131"/>
                <a:gd name="T35" fmla="*/ 22 h 90"/>
                <a:gd name="T36" fmla="*/ 129 w 131"/>
                <a:gd name="T37" fmla="*/ 13 h 90"/>
                <a:gd name="T38" fmla="*/ 129 w 131"/>
                <a:gd name="T39" fmla="*/ 13 h 90"/>
                <a:gd name="T40" fmla="*/ 128 w 131"/>
                <a:gd name="T41" fmla="*/ 11 h 90"/>
                <a:gd name="T42" fmla="*/ 127 w 131"/>
                <a:gd name="T43" fmla="*/ 10 h 90"/>
                <a:gd name="T44" fmla="*/ 126 w 131"/>
                <a:gd name="T45" fmla="*/ 7 h 90"/>
                <a:gd name="T46" fmla="*/ 123 w 131"/>
                <a:gd name="T47" fmla="*/ 4 h 90"/>
                <a:gd name="T48" fmla="*/ 120 w 131"/>
                <a:gd name="T49" fmla="*/ 3 h 90"/>
                <a:gd name="T50" fmla="*/ 116 w 131"/>
                <a:gd name="T51" fmla="*/ 0 h 90"/>
                <a:gd name="T52" fmla="*/ 113 w 131"/>
                <a:gd name="T53" fmla="*/ 0 h 90"/>
                <a:gd name="T54" fmla="*/ 113 w 131"/>
                <a:gd name="T55" fmla="*/ 1 h 90"/>
                <a:gd name="T56" fmla="*/ 114 w 131"/>
                <a:gd name="T57" fmla="*/ 5 h 90"/>
                <a:gd name="T58" fmla="*/ 116 w 131"/>
                <a:gd name="T59" fmla="*/ 12 h 90"/>
                <a:gd name="T60" fmla="*/ 117 w 131"/>
                <a:gd name="T61" fmla="*/ 19 h 90"/>
                <a:gd name="T62" fmla="*/ 117 w 131"/>
                <a:gd name="T63" fmla="*/ 29 h 90"/>
                <a:gd name="T64" fmla="*/ 116 w 131"/>
                <a:gd name="T65" fmla="*/ 40 h 90"/>
                <a:gd name="T66" fmla="*/ 114 w 131"/>
                <a:gd name="T67" fmla="*/ 52 h 90"/>
                <a:gd name="T68" fmla="*/ 108 w 131"/>
                <a:gd name="T69" fmla="*/ 63 h 90"/>
                <a:gd name="T70" fmla="*/ 108 w 131"/>
                <a:gd name="T71" fmla="*/ 63 h 90"/>
                <a:gd name="T72" fmla="*/ 108 w 131"/>
                <a:gd name="T73" fmla="*/ 64 h 90"/>
                <a:gd name="T74" fmla="*/ 107 w 131"/>
                <a:gd name="T75" fmla="*/ 64 h 90"/>
                <a:gd name="T76" fmla="*/ 106 w 131"/>
                <a:gd name="T77" fmla="*/ 66 h 90"/>
                <a:gd name="T78" fmla="*/ 105 w 131"/>
                <a:gd name="T79" fmla="*/ 67 h 90"/>
                <a:gd name="T80" fmla="*/ 102 w 131"/>
                <a:gd name="T81" fmla="*/ 68 h 90"/>
                <a:gd name="T82" fmla="*/ 100 w 131"/>
                <a:gd name="T83" fmla="*/ 69 h 90"/>
                <a:gd name="T84" fmla="*/ 98 w 131"/>
                <a:gd name="T85" fmla="*/ 70 h 90"/>
                <a:gd name="T86" fmla="*/ 95 w 131"/>
                <a:gd name="T87" fmla="*/ 70 h 90"/>
                <a:gd name="T88" fmla="*/ 92 w 131"/>
                <a:gd name="T89" fmla="*/ 71 h 90"/>
                <a:gd name="T90" fmla="*/ 89 w 131"/>
                <a:gd name="T91" fmla="*/ 73 h 90"/>
                <a:gd name="T92" fmla="*/ 85 w 131"/>
                <a:gd name="T93" fmla="*/ 73 h 90"/>
                <a:gd name="T94" fmla="*/ 81 w 131"/>
                <a:gd name="T95" fmla="*/ 73 h 90"/>
                <a:gd name="T96" fmla="*/ 78 w 131"/>
                <a:gd name="T97" fmla="*/ 73 h 90"/>
                <a:gd name="T98" fmla="*/ 73 w 131"/>
                <a:gd name="T99" fmla="*/ 73 h 90"/>
                <a:gd name="T100" fmla="*/ 68 w 131"/>
                <a:gd name="T101" fmla="*/ 71 h 90"/>
                <a:gd name="T102" fmla="*/ 68 w 131"/>
                <a:gd name="T103" fmla="*/ 83 h 90"/>
                <a:gd name="T104" fmla="*/ 3 w 131"/>
                <a:gd name="T105" fmla="*/ 76 h 90"/>
                <a:gd name="T106" fmla="*/ 1 w 131"/>
                <a:gd name="T107" fmla="*/ 6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1" h="90">
                  <a:moveTo>
                    <a:pt x="1" y="68"/>
                  </a:moveTo>
                  <a:lnTo>
                    <a:pt x="0" y="78"/>
                  </a:lnTo>
                  <a:lnTo>
                    <a:pt x="86" y="90"/>
                  </a:lnTo>
                  <a:lnTo>
                    <a:pt x="86" y="90"/>
                  </a:lnTo>
                  <a:lnTo>
                    <a:pt x="88" y="89"/>
                  </a:lnTo>
                  <a:lnTo>
                    <a:pt x="91" y="88"/>
                  </a:lnTo>
                  <a:lnTo>
                    <a:pt x="94" y="85"/>
                  </a:lnTo>
                  <a:lnTo>
                    <a:pt x="98" y="83"/>
                  </a:lnTo>
                  <a:lnTo>
                    <a:pt x="102" y="80"/>
                  </a:lnTo>
                  <a:lnTo>
                    <a:pt x="107" y="75"/>
                  </a:lnTo>
                  <a:lnTo>
                    <a:pt x="112" y="71"/>
                  </a:lnTo>
                  <a:lnTo>
                    <a:pt x="116" y="66"/>
                  </a:lnTo>
                  <a:lnTo>
                    <a:pt x="121" y="60"/>
                  </a:lnTo>
                  <a:lnTo>
                    <a:pt x="124" y="54"/>
                  </a:lnTo>
                  <a:lnTo>
                    <a:pt x="128" y="47"/>
                  </a:lnTo>
                  <a:lnTo>
                    <a:pt x="130" y="40"/>
                  </a:lnTo>
                  <a:lnTo>
                    <a:pt x="131" y="32"/>
                  </a:lnTo>
                  <a:lnTo>
                    <a:pt x="131" y="22"/>
                  </a:lnTo>
                  <a:lnTo>
                    <a:pt x="129" y="13"/>
                  </a:lnTo>
                  <a:lnTo>
                    <a:pt x="129" y="13"/>
                  </a:lnTo>
                  <a:lnTo>
                    <a:pt x="128" y="11"/>
                  </a:lnTo>
                  <a:lnTo>
                    <a:pt x="127" y="10"/>
                  </a:lnTo>
                  <a:lnTo>
                    <a:pt x="126" y="7"/>
                  </a:lnTo>
                  <a:lnTo>
                    <a:pt x="123" y="4"/>
                  </a:lnTo>
                  <a:lnTo>
                    <a:pt x="120" y="3"/>
                  </a:lnTo>
                  <a:lnTo>
                    <a:pt x="116" y="0"/>
                  </a:lnTo>
                  <a:lnTo>
                    <a:pt x="113" y="0"/>
                  </a:lnTo>
                  <a:lnTo>
                    <a:pt x="113" y="1"/>
                  </a:lnTo>
                  <a:lnTo>
                    <a:pt x="114" y="5"/>
                  </a:lnTo>
                  <a:lnTo>
                    <a:pt x="116" y="12"/>
                  </a:lnTo>
                  <a:lnTo>
                    <a:pt x="117" y="19"/>
                  </a:lnTo>
                  <a:lnTo>
                    <a:pt x="117" y="29"/>
                  </a:lnTo>
                  <a:lnTo>
                    <a:pt x="116" y="40"/>
                  </a:lnTo>
                  <a:lnTo>
                    <a:pt x="114" y="52"/>
                  </a:lnTo>
                  <a:lnTo>
                    <a:pt x="108" y="63"/>
                  </a:lnTo>
                  <a:lnTo>
                    <a:pt x="108" y="63"/>
                  </a:lnTo>
                  <a:lnTo>
                    <a:pt x="108" y="64"/>
                  </a:lnTo>
                  <a:lnTo>
                    <a:pt x="107" y="64"/>
                  </a:lnTo>
                  <a:lnTo>
                    <a:pt x="106" y="66"/>
                  </a:lnTo>
                  <a:lnTo>
                    <a:pt x="105" y="67"/>
                  </a:lnTo>
                  <a:lnTo>
                    <a:pt x="102" y="68"/>
                  </a:lnTo>
                  <a:lnTo>
                    <a:pt x="100" y="69"/>
                  </a:lnTo>
                  <a:lnTo>
                    <a:pt x="98" y="70"/>
                  </a:lnTo>
                  <a:lnTo>
                    <a:pt x="95" y="70"/>
                  </a:lnTo>
                  <a:lnTo>
                    <a:pt x="92" y="71"/>
                  </a:lnTo>
                  <a:lnTo>
                    <a:pt x="89" y="73"/>
                  </a:lnTo>
                  <a:lnTo>
                    <a:pt x="85" y="73"/>
                  </a:lnTo>
                  <a:lnTo>
                    <a:pt x="81" y="73"/>
                  </a:lnTo>
                  <a:lnTo>
                    <a:pt x="78" y="73"/>
                  </a:lnTo>
                  <a:lnTo>
                    <a:pt x="73" y="73"/>
                  </a:lnTo>
                  <a:lnTo>
                    <a:pt x="68" y="71"/>
                  </a:lnTo>
                  <a:lnTo>
                    <a:pt x="68" y="83"/>
                  </a:lnTo>
                  <a:lnTo>
                    <a:pt x="3" y="76"/>
                  </a:lnTo>
                  <a:lnTo>
                    <a:pt x="1" y="68"/>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85" name="Freeform 284"/>
            <p:cNvSpPr>
              <a:spLocks/>
            </p:cNvSpPr>
            <p:nvPr/>
          </p:nvSpPr>
          <p:spPr bwMode="auto">
            <a:xfrm>
              <a:off x="1846" y="2280"/>
              <a:ext cx="97" cy="30"/>
            </a:xfrm>
            <a:custGeom>
              <a:avLst/>
              <a:gdLst>
                <a:gd name="T0" fmla="*/ 97 w 97"/>
                <a:gd name="T1" fmla="*/ 10 h 30"/>
                <a:gd name="T2" fmla="*/ 1 w 97"/>
                <a:gd name="T3" fmla="*/ 0 h 30"/>
                <a:gd name="T4" fmla="*/ 0 w 97"/>
                <a:gd name="T5" fmla="*/ 10 h 30"/>
                <a:gd name="T6" fmla="*/ 94 w 97"/>
                <a:gd name="T7" fmla="*/ 30 h 30"/>
                <a:gd name="T8" fmla="*/ 97 w 97"/>
                <a:gd name="T9" fmla="*/ 10 h 30"/>
              </a:gdLst>
              <a:ahLst/>
              <a:cxnLst>
                <a:cxn ang="0">
                  <a:pos x="T0" y="T1"/>
                </a:cxn>
                <a:cxn ang="0">
                  <a:pos x="T2" y="T3"/>
                </a:cxn>
                <a:cxn ang="0">
                  <a:pos x="T4" y="T5"/>
                </a:cxn>
                <a:cxn ang="0">
                  <a:pos x="T6" y="T7"/>
                </a:cxn>
                <a:cxn ang="0">
                  <a:pos x="T8" y="T9"/>
                </a:cxn>
              </a:cxnLst>
              <a:rect l="0" t="0" r="r" b="b"/>
              <a:pathLst>
                <a:path w="97" h="30">
                  <a:moveTo>
                    <a:pt x="97" y="10"/>
                  </a:moveTo>
                  <a:lnTo>
                    <a:pt x="1" y="0"/>
                  </a:lnTo>
                  <a:lnTo>
                    <a:pt x="0" y="10"/>
                  </a:lnTo>
                  <a:lnTo>
                    <a:pt x="94" y="30"/>
                  </a:lnTo>
                  <a:lnTo>
                    <a:pt x="97"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86" name="Freeform 285"/>
            <p:cNvSpPr>
              <a:spLocks/>
            </p:cNvSpPr>
            <p:nvPr/>
          </p:nvSpPr>
          <p:spPr bwMode="auto">
            <a:xfrm>
              <a:off x="1894" y="2289"/>
              <a:ext cx="42" cy="14"/>
            </a:xfrm>
            <a:custGeom>
              <a:avLst/>
              <a:gdLst>
                <a:gd name="T0" fmla="*/ 42 w 42"/>
                <a:gd name="T1" fmla="*/ 6 h 14"/>
                <a:gd name="T2" fmla="*/ 1 w 42"/>
                <a:gd name="T3" fmla="*/ 0 h 14"/>
                <a:gd name="T4" fmla="*/ 0 w 42"/>
                <a:gd name="T5" fmla="*/ 6 h 14"/>
                <a:gd name="T6" fmla="*/ 40 w 42"/>
                <a:gd name="T7" fmla="*/ 14 h 14"/>
                <a:gd name="T8" fmla="*/ 42 w 42"/>
                <a:gd name="T9" fmla="*/ 6 h 14"/>
              </a:gdLst>
              <a:ahLst/>
              <a:cxnLst>
                <a:cxn ang="0">
                  <a:pos x="T0" y="T1"/>
                </a:cxn>
                <a:cxn ang="0">
                  <a:pos x="T2" y="T3"/>
                </a:cxn>
                <a:cxn ang="0">
                  <a:pos x="T4" y="T5"/>
                </a:cxn>
                <a:cxn ang="0">
                  <a:pos x="T6" y="T7"/>
                </a:cxn>
                <a:cxn ang="0">
                  <a:pos x="T8" y="T9"/>
                </a:cxn>
              </a:cxnLst>
              <a:rect l="0" t="0" r="r" b="b"/>
              <a:pathLst>
                <a:path w="42" h="14">
                  <a:moveTo>
                    <a:pt x="42" y="6"/>
                  </a:moveTo>
                  <a:lnTo>
                    <a:pt x="1" y="0"/>
                  </a:lnTo>
                  <a:lnTo>
                    <a:pt x="0" y="6"/>
                  </a:lnTo>
                  <a:lnTo>
                    <a:pt x="40" y="14"/>
                  </a:lnTo>
                  <a:lnTo>
                    <a:pt x="42" y="6"/>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87" name="Freeform 286"/>
            <p:cNvSpPr>
              <a:spLocks/>
            </p:cNvSpPr>
            <p:nvPr/>
          </p:nvSpPr>
          <p:spPr bwMode="auto">
            <a:xfrm>
              <a:off x="1852" y="2282"/>
              <a:ext cx="28" cy="11"/>
            </a:xfrm>
            <a:custGeom>
              <a:avLst/>
              <a:gdLst>
                <a:gd name="T0" fmla="*/ 28 w 28"/>
                <a:gd name="T1" fmla="*/ 5 h 11"/>
                <a:gd name="T2" fmla="*/ 0 w 28"/>
                <a:gd name="T3" fmla="*/ 0 h 11"/>
                <a:gd name="T4" fmla="*/ 0 w 28"/>
                <a:gd name="T5" fmla="*/ 6 h 11"/>
                <a:gd name="T6" fmla="*/ 27 w 28"/>
                <a:gd name="T7" fmla="*/ 11 h 11"/>
                <a:gd name="T8" fmla="*/ 28 w 28"/>
                <a:gd name="T9" fmla="*/ 5 h 11"/>
              </a:gdLst>
              <a:ahLst/>
              <a:cxnLst>
                <a:cxn ang="0">
                  <a:pos x="T0" y="T1"/>
                </a:cxn>
                <a:cxn ang="0">
                  <a:pos x="T2" y="T3"/>
                </a:cxn>
                <a:cxn ang="0">
                  <a:pos x="T4" y="T5"/>
                </a:cxn>
                <a:cxn ang="0">
                  <a:pos x="T6" y="T7"/>
                </a:cxn>
                <a:cxn ang="0">
                  <a:pos x="T8" y="T9"/>
                </a:cxn>
              </a:cxnLst>
              <a:rect l="0" t="0" r="r" b="b"/>
              <a:pathLst>
                <a:path w="28" h="11">
                  <a:moveTo>
                    <a:pt x="28" y="5"/>
                  </a:moveTo>
                  <a:lnTo>
                    <a:pt x="0" y="0"/>
                  </a:lnTo>
                  <a:lnTo>
                    <a:pt x="0" y="6"/>
                  </a:lnTo>
                  <a:lnTo>
                    <a:pt x="27" y="11"/>
                  </a:lnTo>
                  <a:lnTo>
                    <a:pt x="28" y="5"/>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88" name="Freeform 287"/>
            <p:cNvSpPr>
              <a:spLocks/>
            </p:cNvSpPr>
            <p:nvPr/>
          </p:nvSpPr>
          <p:spPr bwMode="auto">
            <a:xfrm>
              <a:off x="1783" y="2293"/>
              <a:ext cx="162" cy="54"/>
            </a:xfrm>
            <a:custGeom>
              <a:avLst/>
              <a:gdLst>
                <a:gd name="T0" fmla="*/ 0 w 162"/>
                <a:gd name="T1" fmla="*/ 16 h 54"/>
                <a:gd name="T2" fmla="*/ 0 w 162"/>
                <a:gd name="T3" fmla="*/ 16 h 54"/>
                <a:gd name="T4" fmla="*/ 1 w 162"/>
                <a:gd name="T5" fmla="*/ 16 h 54"/>
                <a:gd name="T6" fmla="*/ 3 w 162"/>
                <a:gd name="T7" fmla="*/ 16 h 54"/>
                <a:gd name="T8" fmla="*/ 5 w 162"/>
                <a:gd name="T9" fmla="*/ 15 h 54"/>
                <a:gd name="T10" fmla="*/ 7 w 162"/>
                <a:gd name="T11" fmla="*/ 15 h 54"/>
                <a:gd name="T12" fmla="*/ 11 w 162"/>
                <a:gd name="T13" fmla="*/ 14 h 54"/>
                <a:gd name="T14" fmla="*/ 14 w 162"/>
                <a:gd name="T15" fmla="*/ 14 h 54"/>
                <a:gd name="T16" fmla="*/ 18 w 162"/>
                <a:gd name="T17" fmla="*/ 13 h 54"/>
                <a:gd name="T18" fmla="*/ 21 w 162"/>
                <a:gd name="T19" fmla="*/ 12 h 54"/>
                <a:gd name="T20" fmla="*/ 25 w 162"/>
                <a:gd name="T21" fmla="*/ 10 h 54"/>
                <a:gd name="T22" fmla="*/ 28 w 162"/>
                <a:gd name="T23" fmla="*/ 9 h 54"/>
                <a:gd name="T24" fmla="*/ 32 w 162"/>
                <a:gd name="T25" fmla="*/ 8 h 54"/>
                <a:gd name="T26" fmla="*/ 35 w 162"/>
                <a:gd name="T27" fmla="*/ 6 h 54"/>
                <a:gd name="T28" fmla="*/ 38 w 162"/>
                <a:gd name="T29" fmla="*/ 4 h 54"/>
                <a:gd name="T30" fmla="*/ 41 w 162"/>
                <a:gd name="T31" fmla="*/ 2 h 54"/>
                <a:gd name="T32" fmla="*/ 43 w 162"/>
                <a:gd name="T33" fmla="*/ 0 h 54"/>
                <a:gd name="T34" fmla="*/ 162 w 162"/>
                <a:gd name="T35" fmla="*/ 28 h 54"/>
                <a:gd name="T36" fmla="*/ 162 w 162"/>
                <a:gd name="T37" fmla="*/ 28 h 54"/>
                <a:gd name="T38" fmla="*/ 161 w 162"/>
                <a:gd name="T39" fmla="*/ 28 h 54"/>
                <a:gd name="T40" fmla="*/ 160 w 162"/>
                <a:gd name="T41" fmla="*/ 29 h 54"/>
                <a:gd name="T42" fmla="*/ 159 w 162"/>
                <a:gd name="T43" fmla="*/ 30 h 54"/>
                <a:gd name="T44" fmla="*/ 158 w 162"/>
                <a:gd name="T45" fmla="*/ 33 h 54"/>
                <a:gd name="T46" fmla="*/ 155 w 162"/>
                <a:gd name="T47" fmla="*/ 34 h 54"/>
                <a:gd name="T48" fmla="*/ 153 w 162"/>
                <a:gd name="T49" fmla="*/ 36 h 54"/>
                <a:gd name="T50" fmla="*/ 151 w 162"/>
                <a:gd name="T51" fmla="*/ 38 h 54"/>
                <a:gd name="T52" fmla="*/ 147 w 162"/>
                <a:gd name="T53" fmla="*/ 41 h 54"/>
                <a:gd name="T54" fmla="*/ 145 w 162"/>
                <a:gd name="T55" fmla="*/ 43 h 54"/>
                <a:gd name="T56" fmla="*/ 141 w 162"/>
                <a:gd name="T57" fmla="*/ 45 h 54"/>
                <a:gd name="T58" fmla="*/ 138 w 162"/>
                <a:gd name="T59" fmla="*/ 48 h 54"/>
                <a:gd name="T60" fmla="*/ 136 w 162"/>
                <a:gd name="T61" fmla="*/ 49 h 54"/>
                <a:gd name="T62" fmla="*/ 132 w 162"/>
                <a:gd name="T63" fmla="*/ 51 h 54"/>
                <a:gd name="T64" fmla="*/ 129 w 162"/>
                <a:gd name="T65" fmla="*/ 52 h 54"/>
                <a:gd name="T66" fmla="*/ 126 w 162"/>
                <a:gd name="T67" fmla="*/ 54 h 54"/>
                <a:gd name="T68" fmla="*/ 0 w 162"/>
                <a:gd name="T69" fmla="*/ 1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2" h="54">
                  <a:moveTo>
                    <a:pt x="0" y="16"/>
                  </a:moveTo>
                  <a:lnTo>
                    <a:pt x="0" y="16"/>
                  </a:lnTo>
                  <a:lnTo>
                    <a:pt x="1" y="16"/>
                  </a:lnTo>
                  <a:lnTo>
                    <a:pt x="3" y="16"/>
                  </a:lnTo>
                  <a:lnTo>
                    <a:pt x="5" y="15"/>
                  </a:lnTo>
                  <a:lnTo>
                    <a:pt x="7" y="15"/>
                  </a:lnTo>
                  <a:lnTo>
                    <a:pt x="11" y="14"/>
                  </a:lnTo>
                  <a:lnTo>
                    <a:pt x="14" y="14"/>
                  </a:lnTo>
                  <a:lnTo>
                    <a:pt x="18" y="13"/>
                  </a:lnTo>
                  <a:lnTo>
                    <a:pt x="21" y="12"/>
                  </a:lnTo>
                  <a:lnTo>
                    <a:pt x="25" y="10"/>
                  </a:lnTo>
                  <a:lnTo>
                    <a:pt x="28" y="9"/>
                  </a:lnTo>
                  <a:lnTo>
                    <a:pt x="32" y="8"/>
                  </a:lnTo>
                  <a:lnTo>
                    <a:pt x="35" y="6"/>
                  </a:lnTo>
                  <a:lnTo>
                    <a:pt x="38" y="4"/>
                  </a:lnTo>
                  <a:lnTo>
                    <a:pt x="41" y="2"/>
                  </a:lnTo>
                  <a:lnTo>
                    <a:pt x="43" y="0"/>
                  </a:lnTo>
                  <a:lnTo>
                    <a:pt x="162" y="28"/>
                  </a:lnTo>
                  <a:lnTo>
                    <a:pt x="162" y="28"/>
                  </a:lnTo>
                  <a:lnTo>
                    <a:pt x="161" y="28"/>
                  </a:lnTo>
                  <a:lnTo>
                    <a:pt x="160" y="29"/>
                  </a:lnTo>
                  <a:lnTo>
                    <a:pt x="159" y="30"/>
                  </a:lnTo>
                  <a:lnTo>
                    <a:pt x="158" y="33"/>
                  </a:lnTo>
                  <a:lnTo>
                    <a:pt x="155" y="34"/>
                  </a:lnTo>
                  <a:lnTo>
                    <a:pt x="153" y="36"/>
                  </a:lnTo>
                  <a:lnTo>
                    <a:pt x="151" y="38"/>
                  </a:lnTo>
                  <a:lnTo>
                    <a:pt x="147" y="41"/>
                  </a:lnTo>
                  <a:lnTo>
                    <a:pt x="145" y="43"/>
                  </a:lnTo>
                  <a:lnTo>
                    <a:pt x="141" y="45"/>
                  </a:lnTo>
                  <a:lnTo>
                    <a:pt x="138" y="48"/>
                  </a:lnTo>
                  <a:lnTo>
                    <a:pt x="136" y="49"/>
                  </a:lnTo>
                  <a:lnTo>
                    <a:pt x="132" y="51"/>
                  </a:lnTo>
                  <a:lnTo>
                    <a:pt x="129" y="52"/>
                  </a:lnTo>
                  <a:lnTo>
                    <a:pt x="126" y="54"/>
                  </a:lnTo>
                  <a:lnTo>
                    <a:pt x="0" y="16"/>
                  </a:lnTo>
                  <a:close/>
                </a:path>
              </a:pathLst>
            </a:custGeom>
            <a:solidFill>
              <a:srgbClr val="99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89" name="Freeform 288"/>
            <p:cNvSpPr>
              <a:spLocks/>
            </p:cNvSpPr>
            <p:nvPr/>
          </p:nvSpPr>
          <p:spPr bwMode="auto">
            <a:xfrm>
              <a:off x="1945" y="2287"/>
              <a:ext cx="58" cy="26"/>
            </a:xfrm>
            <a:custGeom>
              <a:avLst/>
              <a:gdLst>
                <a:gd name="T0" fmla="*/ 6 w 58"/>
                <a:gd name="T1" fmla="*/ 26 h 26"/>
                <a:gd name="T2" fmla="*/ 58 w 58"/>
                <a:gd name="T3" fmla="*/ 10 h 26"/>
                <a:gd name="T4" fmla="*/ 26 w 58"/>
                <a:gd name="T5" fmla="*/ 0 h 26"/>
                <a:gd name="T6" fmla="*/ 0 w 58"/>
                <a:gd name="T7" fmla="*/ 3 h 26"/>
                <a:gd name="T8" fmla="*/ 0 w 58"/>
                <a:gd name="T9" fmla="*/ 25 h 26"/>
                <a:gd name="T10" fmla="*/ 6 w 58"/>
                <a:gd name="T11" fmla="*/ 26 h 26"/>
              </a:gdLst>
              <a:ahLst/>
              <a:cxnLst>
                <a:cxn ang="0">
                  <a:pos x="T0" y="T1"/>
                </a:cxn>
                <a:cxn ang="0">
                  <a:pos x="T2" y="T3"/>
                </a:cxn>
                <a:cxn ang="0">
                  <a:pos x="T4" y="T5"/>
                </a:cxn>
                <a:cxn ang="0">
                  <a:pos x="T6" y="T7"/>
                </a:cxn>
                <a:cxn ang="0">
                  <a:pos x="T8" y="T9"/>
                </a:cxn>
                <a:cxn ang="0">
                  <a:pos x="T10" y="T11"/>
                </a:cxn>
              </a:cxnLst>
              <a:rect l="0" t="0" r="r" b="b"/>
              <a:pathLst>
                <a:path w="58" h="26">
                  <a:moveTo>
                    <a:pt x="6" y="26"/>
                  </a:moveTo>
                  <a:lnTo>
                    <a:pt x="58" y="10"/>
                  </a:lnTo>
                  <a:lnTo>
                    <a:pt x="26" y="0"/>
                  </a:lnTo>
                  <a:lnTo>
                    <a:pt x="0" y="3"/>
                  </a:lnTo>
                  <a:lnTo>
                    <a:pt x="0" y="25"/>
                  </a:lnTo>
                  <a:lnTo>
                    <a:pt x="6" y="26"/>
                  </a:lnTo>
                  <a:close/>
                </a:path>
              </a:pathLst>
            </a:custGeom>
            <a:solidFill>
              <a:srgbClr val="00199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90" name="Freeform 289"/>
            <p:cNvSpPr>
              <a:spLocks/>
            </p:cNvSpPr>
            <p:nvPr/>
          </p:nvSpPr>
          <p:spPr bwMode="auto">
            <a:xfrm>
              <a:off x="1795" y="2176"/>
              <a:ext cx="31" cy="124"/>
            </a:xfrm>
            <a:custGeom>
              <a:avLst/>
              <a:gdLst>
                <a:gd name="T0" fmla="*/ 31 w 31"/>
                <a:gd name="T1" fmla="*/ 3 h 124"/>
                <a:gd name="T2" fmla="*/ 31 w 31"/>
                <a:gd name="T3" fmla="*/ 2 h 124"/>
                <a:gd name="T4" fmla="*/ 30 w 31"/>
                <a:gd name="T5" fmla="*/ 2 h 124"/>
                <a:gd name="T6" fmla="*/ 30 w 31"/>
                <a:gd name="T7" fmla="*/ 2 h 124"/>
                <a:gd name="T8" fmla="*/ 29 w 31"/>
                <a:gd name="T9" fmla="*/ 2 h 124"/>
                <a:gd name="T10" fmla="*/ 27 w 31"/>
                <a:gd name="T11" fmla="*/ 1 h 124"/>
                <a:gd name="T12" fmla="*/ 26 w 31"/>
                <a:gd name="T13" fmla="*/ 1 h 124"/>
                <a:gd name="T14" fmla="*/ 23 w 31"/>
                <a:gd name="T15" fmla="*/ 0 h 124"/>
                <a:gd name="T16" fmla="*/ 22 w 31"/>
                <a:gd name="T17" fmla="*/ 0 h 124"/>
                <a:gd name="T18" fmla="*/ 20 w 31"/>
                <a:gd name="T19" fmla="*/ 0 h 124"/>
                <a:gd name="T20" fmla="*/ 17 w 31"/>
                <a:gd name="T21" fmla="*/ 0 h 124"/>
                <a:gd name="T22" fmla="*/ 14 w 31"/>
                <a:gd name="T23" fmla="*/ 0 h 124"/>
                <a:gd name="T24" fmla="*/ 12 w 31"/>
                <a:gd name="T25" fmla="*/ 1 h 124"/>
                <a:gd name="T26" fmla="*/ 9 w 31"/>
                <a:gd name="T27" fmla="*/ 1 h 124"/>
                <a:gd name="T28" fmla="*/ 6 w 31"/>
                <a:gd name="T29" fmla="*/ 2 h 124"/>
                <a:gd name="T30" fmla="*/ 3 w 31"/>
                <a:gd name="T31" fmla="*/ 3 h 124"/>
                <a:gd name="T32" fmla="*/ 0 w 31"/>
                <a:gd name="T33" fmla="*/ 6 h 124"/>
                <a:gd name="T34" fmla="*/ 0 w 31"/>
                <a:gd name="T35" fmla="*/ 124 h 124"/>
                <a:gd name="T36" fmla="*/ 1 w 31"/>
                <a:gd name="T37" fmla="*/ 124 h 124"/>
                <a:gd name="T38" fmla="*/ 1 w 31"/>
                <a:gd name="T39" fmla="*/ 124 h 124"/>
                <a:gd name="T40" fmla="*/ 2 w 31"/>
                <a:gd name="T41" fmla="*/ 124 h 124"/>
                <a:gd name="T42" fmla="*/ 3 w 31"/>
                <a:gd name="T43" fmla="*/ 124 h 124"/>
                <a:gd name="T44" fmla="*/ 5 w 31"/>
                <a:gd name="T45" fmla="*/ 123 h 124"/>
                <a:gd name="T46" fmla="*/ 7 w 31"/>
                <a:gd name="T47" fmla="*/ 123 h 124"/>
                <a:gd name="T48" fmla="*/ 8 w 31"/>
                <a:gd name="T49" fmla="*/ 123 h 124"/>
                <a:gd name="T50" fmla="*/ 10 w 31"/>
                <a:gd name="T51" fmla="*/ 121 h 124"/>
                <a:gd name="T52" fmla="*/ 13 w 31"/>
                <a:gd name="T53" fmla="*/ 121 h 124"/>
                <a:gd name="T54" fmla="*/ 15 w 31"/>
                <a:gd name="T55" fmla="*/ 120 h 124"/>
                <a:gd name="T56" fmla="*/ 17 w 31"/>
                <a:gd name="T57" fmla="*/ 119 h 124"/>
                <a:gd name="T58" fmla="*/ 21 w 31"/>
                <a:gd name="T59" fmla="*/ 118 h 124"/>
                <a:gd name="T60" fmla="*/ 23 w 31"/>
                <a:gd name="T61" fmla="*/ 117 h 124"/>
                <a:gd name="T62" fmla="*/ 26 w 31"/>
                <a:gd name="T63" fmla="*/ 116 h 124"/>
                <a:gd name="T64" fmla="*/ 29 w 31"/>
                <a:gd name="T65" fmla="*/ 113 h 124"/>
                <a:gd name="T66" fmla="*/ 31 w 31"/>
                <a:gd name="T67" fmla="*/ 112 h 124"/>
                <a:gd name="T68" fmla="*/ 31 w 31"/>
                <a:gd name="T69" fmla="*/ 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 h="124">
                  <a:moveTo>
                    <a:pt x="31" y="3"/>
                  </a:moveTo>
                  <a:lnTo>
                    <a:pt x="31" y="2"/>
                  </a:lnTo>
                  <a:lnTo>
                    <a:pt x="30" y="2"/>
                  </a:lnTo>
                  <a:lnTo>
                    <a:pt x="30" y="2"/>
                  </a:lnTo>
                  <a:lnTo>
                    <a:pt x="29" y="2"/>
                  </a:lnTo>
                  <a:lnTo>
                    <a:pt x="27" y="1"/>
                  </a:lnTo>
                  <a:lnTo>
                    <a:pt x="26" y="1"/>
                  </a:lnTo>
                  <a:lnTo>
                    <a:pt x="23" y="0"/>
                  </a:lnTo>
                  <a:lnTo>
                    <a:pt x="22" y="0"/>
                  </a:lnTo>
                  <a:lnTo>
                    <a:pt x="20" y="0"/>
                  </a:lnTo>
                  <a:lnTo>
                    <a:pt x="17" y="0"/>
                  </a:lnTo>
                  <a:lnTo>
                    <a:pt x="14" y="0"/>
                  </a:lnTo>
                  <a:lnTo>
                    <a:pt x="12" y="1"/>
                  </a:lnTo>
                  <a:lnTo>
                    <a:pt x="9" y="1"/>
                  </a:lnTo>
                  <a:lnTo>
                    <a:pt x="6" y="2"/>
                  </a:lnTo>
                  <a:lnTo>
                    <a:pt x="3" y="3"/>
                  </a:lnTo>
                  <a:lnTo>
                    <a:pt x="0" y="6"/>
                  </a:lnTo>
                  <a:lnTo>
                    <a:pt x="0" y="124"/>
                  </a:lnTo>
                  <a:lnTo>
                    <a:pt x="1" y="124"/>
                  </a:lnTo>
                  <a:lnTo>
                    <a:pt x="1" y="124"/>
                  </a:lnTo>
                  <a:lnTo>
                    <a:pt x="2" y="124"/>
                  </a:lnTo>
                  <a:lnTo>
                    <a:pt x="3" y="124"/>
                  </a:lnTo>
                  <a:lnTo>
                    <a:pt x="5" y="123"/>
                  </a:lnTo>
                  <a:lnTo>
                    <a:pt x="7" y="123"/>
                  </a:lnTo>
                  <a:lnTo>
                    <a:pt x="8" y="123"/>
                  </a:lnTo>
                  <a:lnTo>
                    <a:pt x="10" y="121"/>
                  </a:lnTo>
                  <a:lnTo>
                    <a:pt x="13" y="121"/>
                  </a:lnTo>
                  <a:lnTo>
                    <a:pt x="15" y="120"/>
                  </a:lnTo>
                  <a:lnTo>
                    <a:pt x="17" y="119"/>
                  </a:lnTo>
                  <a:lnTo>
                    <a:pt x="21" y="118"/>
                  </a:lnTo>
                  <a:lnTo>
                    <a:pt x="23" y="117"/>
                  </a:lnTo>
                  <a:lnTo>
                    <a:pt x="26" y="116"/>
                  </a:lnTo>
                  <a:lnTo>
                    <a:pt x="29" y="113"/>
                  </a:lnTo>
                  <a:lnTo>
                    <a:pt x="31" y="112"/>
                  </a:lnTo>
                  <a:lnTo>
                    <a:pt x="31" y="3"/>
                  </a:lnTo>
                  <a:close/>
                </a:path>
              </a:pathLst>
            </a:custGeom>
            <a:solidFill>
              <a:srgbClr val="7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91" name="Freeform 290"/>
            <p:cNvSpPr>
              <a:spLocks/>
            </p:cNvSpPr>
            <p:nvPr/>
          </p:nvSpPr>
          <p:spPr bwMode="auto">
            <a:xfrm>
              <a:off x="1796" y="2177"/>
              <a:ext cx="27" cy="104"/>
            </a:xfrm>
            <a:custGeom>
              <a:avLst/>
              <a:gdLst>
                <a:gd name="T0" fmla="*/ 27 w 27"/>
                <a:gd name="T1" fmla="*/ 2 h 104"/>
                <a:gd name="T2" fmla="*/ 27 w 27"/>
                <a:gd name="T3" fmla="*/ 2 h 104"/>
                <a:gd name="T4" fmla="*/ 26 w 27"/>
                <a:gd name="T5" fmla="*/ 2 h 104"/>
                <a:gd name="T6" fmla="*/ 26 w 27"/>
                <a:gd name="T7" fmla="*/ 2 h 104"/>
                <a:gd name="T8" fmla="*/ 25 w 27"/>
                <a:gd name="T9" fmla="*/ 1 h 104"/>
                <a:gd name="T10" fmla="*/ 23 w 27"/>
                <a:gd name="T11" fmla="*/ 1 h 104"/>
                <a:gd name="T12" fmla="*/ 22 w 27"/>
                <a:gd name="T13" fmla="*/ 0 h 104"/>
                <a:gd name="T14" fmla="*/ 20 w 27"/>
                <a:gd name="T15" fmla="*/ 0 h 104"/>
                <a:gd name="T16" fmla="*/ 19 w 27"/>
                <a:gd name="T17" fmla="*/ 0 h 104"/>
                <a:gd name="T18" fmla="*/ 16 w 27"/>
                <a:gd name="T19" fmla="*/ 0 h 104"/>
                <a:gd name="T20" fmla="*/ 14 w 27"/>
                <a:gd name="T21" fmla="*/ 0 h 104"/>
                <a:gd name="T22" fmla="*/ 12 w 27"/>
                <a:gd name="T23" fmla="*/ 0 h 104"/>
                <a:gd name="T24" fmla="*/ 9 w 27"/>
                <a:gd name="T25" fmla="*/ 0 h 104"/>
                <a:gd name="T26" fmla="*/ 8 w 27"/>
                <a:gd name="T27" fmla="*/ 1 h 104"/>
                <a:gd name="T28" fmla="*/ 5 w 27"/>
                <a:gd name="T29" fmla="*/ 2 h 104"/>
                <a:gd name="T30" fmla="*/ 2 w 27"/>
                <a:gd name="T31" fmla="*/ 4 h 104"/>
                <a:gd name="T32" fmla="*/ 0 w 27"/>
                <a:gd name="T33" fmla="*/ 5 h 104"/>
                <a:gd name="T34" fmla="*/ 0 w 27"/>
                <a:gd name="T35" fmla="*/ 104 h 104"/>
                <a:gd name="T36" fmla="*/ 0 w 27"/>
                <a:gd name="T37" fmla="*/ 104 h 104"/>
                <a:gd name="T38" fmla="*/ 1 w 27"/>
                <a:gd name="T39" fmla="*/ 104 h 104"/>
                <a:gd name="T40" fmla="*/ 1 w 27"/>
                <a:gd name="T41" fmla="*/ 104 h 104"/>
                <a:gd name="T42" fmla="*/ 2 w 27"/>
                <a:gd name="T43" fmla="*/ 104 h 104"/>
                <a:gd name="T44" fmla="*/ 4 w 27"/>
                <a:gd name="T45" fmla="*/ 104 h 104"/>
                <a:gd name="T46" fmla="*/ 6 w 27"/>
                <a:gd name="T47" fmla="*/ 104 h 104"/>
                <a:gd name="T48" fmla="*/ 7 w 27"/>
                <a:gd name="T49" fmla="*/ 103 h 104"/>
                <a:gd name="T50" fmla="*/ 9 w 27"/>
                <a:gd name="T51" fmla="*/ 103 h 104"/>
                <a:gd name="T52" fmla="*/ 11 w 27"/>
                <a:gd name="T53" fmla="*/ 102 h 104"/>
                <a:gd name="T54" fmla="*/ 13 w 27"/>
                <a:gd name="T55" fmla="*/ 102 h 104"/>
                <a:gd name="T56" fmla="*/ 15 w 27"/>
                <a:gd name="T57" fmla="*/ 101 h 104"/>
                <a:gd name="T58" fmla="*/ 18 w 27"/>
                <a:gd name="T59" fmla="*/ 99 h 104"/>
                <a:gd name="T60" fmla="*/ 20 w 27"/>
                <a:gd name="T61" fmla="*/ 98 h 104"/>
                <a:gd name="T62" fmla="*/ 22 w 27"/>
                <a:gd name="T63" fmla="*/ 97 h 104"/>
                <a:gd name="T64" fmla="*/ 25 w 27"/>
                <a:gd name="T65" fmla="*/ 96 h 104"/>
                <a:gd name="T66" fmla="*/ 27 w 27"/>
                <a:gd name="T67" fmla="*/ 94 h 104"/>
                <a:gd name="T68" fmla="*/ 27 w 27"/>
                <a:gd name="T69" fmla="*/ 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 h="104">
                  <a:moveTo>
                    <a:pt x="27" y="2"/>
                  </a:moveTo>
                  <a:lnTo>
                    <a:pt x="27" y="2"/>
                  </a:lnTo>
                  <a:lnTo>
                    <a:pt x="26" y="2"/>
                  </a:lnTo>
                  <a:lnTo>
                    <a:pt x="26" y="2"/>
                  </a:lnTo>
                  <a:lnTo>
                    <a:pt x="25" y="1"/>
                  </a:lnTo>
                  <a:lnTo>
                    <a:pt x="23" y="1"/>
                  </a:lnTo>
                  <a:lnTo>
                    <a:pt x="22" y="0"/>
                  </a:lnTo>
                  <a:lnTo>
                    <a:pt x="20" y="0"/>
                  </a:lnTo>
                  <a:lnTo>
                    <a:pt x="19" y="0"/>
                  </a:lnTo>
                  <a:lnTo>
                    <a:pt x="16" y="0"/>
                  </a:lnTo>
                  <a:lnTo>
                    <a:pt x="14" y="0"/>
                  </a:lnTo>
                  <a:lnTo>
                    <a:pt x="12" y="0"/>
                  </a:lnTo>
                  <a:lnTo>
                    <a:pt x="9" y="0"/>
                  </a:lnTo>
                  <a:lnTo>
                    <a:pt x="8" y="1"/>
                  </a:lnTo>
                  <a:lnTo>
                    <a:pt x="5" y="2"/>
                  </a:lnTo>
                  <a:lnTo>
                    <a:pt x="2" y="4"/>
                  </a:lnTo>
                  <a:lnTo>
                    <a:pt x="0" y="5"/>
                  </a:lnTo>
                  <a:lnTo>
                    <a:pt x="0" y="104"/>
                  </a:lnTo>
                  <a:lnTo>
                    <a:pt x="0" y="104"/>
                  </a:lnTo>
                  <a:lnTo>
                    <a:pt x="1" y="104"/>
                  </a:lnTo>
                  <a:lnTo>
                    <a:pt x="1" y="104"/>
                  </a:lnTo>
                  <a:lnTo>
                    <a:pt x="2" y="104"/>
                  </a:lnTo>
                  <a:lnTo>
                    <a:pt x="4" y="104"/>
                  </a:lnTo>
                  <a:lnTo>
                    <a:pt x="6" y="104"/>
                  </a:lnTo>
                  <a:lnTo>
                    <a:pt x="7" y="103"/>
                  </a:lnTo>
                  <a:lnTo>
                    <a:pt x="9" y="103"/>
                  </a:lnTo>
                  <a:lnTo>
                    <a:pt x="11" y="102"/>
                  </a:lnTo>
                  <a:lnTo>
                    <a:pt x="13" y="102"/>
                  </a:lnTo>
                  <a:lnTo>
                    <a:pt x="15" y="101"/>
                  </a:lnTo>
                  <a:lnTo>
                    <a:pt x="18" y="99"/>
                  </a:lnTo>
                  <a:lnTo>
                    <a:pt x="20" y="98"/>
                  </a:lnTo>
                  <a:lnTo>
                    <a:pt x="22" y="97"/>
                  </a:lnTo>
                  <a:lnTo>
                    <a:pt x="25" y="96"/>
                  </a:lnTo>
                  <a:lnTo>
                    <a:pt x="27" y="94"/>
                  </a:lnTo>
                  <a:lnTo>
                    <a:pt x="27" y="2"/>
                  </a:lnTo>
                  <a:close/>
                </a:path>
              </a:pathLst>
            </a:custGeom>
            <a:solidFill>
              <a:srgbClr val="93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92" name="Freeform 291"/>
            <p:cNvSpPr>
              <a:spLocks/>
            </p:cNvSpPr>
            <p:nvPr/>
          </p:nvSpPr>
          <p:spPr bwMode="auto">
            <a:xfrm>
              <a:off x="1797" y="2178"/>
              <a:ext cx="22" cy="84"/>
            </a:xfrm>
            <a:custGeom>
              <a:avLst/>
              <a:gdLst>
                <a:gd name="T0" fmla="*/ 22 w 22"/>
                <a:gd name="T1" fmla="*/ 3 h 84"/>
                <a:gd name="T2" fmla="*/ 22 w 22"/>
                <a:gd name="T3" fmla="*/ 3 h 84"/>
                <a:gd name="T4" fmla="*/ 21 w 22"/>
                <a:gd name="T5" fmla="*/ 1 h 84"/>
                <a:gd name="T6" fmla="*/ 21 w 22"/>
                <a:gd name="T7" fmla="*/ 1 h 84"/>
                <a:gd name="T8" fmla="*/ 20 w 22"/>
                <a:gd name="T9" fmla="*/ 1 h 84"/>
                <a:gd name="T10" fmla="*/ 19 w 22"/>
                <a:gd name="T11" fmla="*/ 1 h 84"/>
                <a:gd name="T12" fmla="*/ 18 w 22"/>
                <a:gd name="T13" fmla="*/ 0 h 84"/>
                <a:gd name="T14" fmla="*/ 17 w 22"/>
                <a:gd name="T15" fmla="*/ 0 h 84"/>
                <a:gd name="T16" fmla="*/ 15 w 22"/>
                <a:gd name="T17" fmla="*/ 0 h 84"/>
                <a:gd name="T18" fmla="*/ 14 w 22"/>
                <a:gd name="T19" fmla="*/ 0 h 84"/>
                <a:gd name="T20" fmla="*/ 12 w 22"/>
                <a:gd name="T21" fmla="*/ 0 h 84"/>
                <a:gd name="T22" fmla="*/ 10 w 22"/>
                <a:gd name="T23" fmla="*/ 0 h 84"/>
                <a:gd name="T24" fmla="*/ 8 w 22"/>
                <a:gd name="T25" fmla="*/ 0 h 84"/>
                <a:gd name="T26" fmla="*/ 6 w 22"/>
                <a:gd name="T27" fmla="*/ 1 h 84"/>
                <a:gd name="T28" fmla="*/ 4 w 22"/>
                <a:gd name="T29" fmla="*/ 1 h 84"/>
                <a:gd name="T30" fmla="*/ 3 w 22"/>
                <a:gd name="T31" fmla="*/ 3 h 84"/>
                <a:gd name="T32" fmla="*/ 0 w 22"/>
                <a:gd name="T33" fmla="*/ 4 h 84"/>
                <a:gd name="T34" fmla="*/ 0 w 22"/>
                <a:gd name="T35" fmla="*/ 84 h 84"/>
                <a:gd name="T36" fmla="*/ 0 w 22"/>
                <a:gd name="T37" fmla="*/ 84 h 84"/>
                <a:gd name="T38" fmla="*/ 0 w 22"/>
                <a:gd name="T39" fmla="*/ 84 h 84"/>
                <a:gd name="T40" fmla="*/ 1 w 22"/>
                <a:gd name="T41" fmla="*/ 84 h 84"/>
                <a:gd name="T42" fmla="*/ 3 w 22"/>
                <a:gd name="T43" fmla="*/ 84 h 84"/>
                <a:gd name="T44" fmla="*/ 4 w 22"/>
                <a:gd name="T45" fmla="*/ 84 h 84"/>
                <a:gd name="T46" fmla="*/ 5 w 22"/>
                <a:gd name="T47" fmla="*/ 84 h 84"/>
                <a:gd name="T48" fmla="*/ 6 w 22"/>
                <a:gd name="T49" fmla="*/ 84 h 84"/>
                <a:gd name="T50" fmla="*/ 7 w 22"/>
                <a:gd name="T51" fmla="*/ 83 h 84"/>
                <a:gd name="T52" fmla="*/ 10 w 22"/>
                <a:gd name="T53" fmla="*/ 83 h 84"/>
                <a:gd name="T54" fmla="*/ 11 w 22"/>
                <a:gd name="T55" fmla="*/ 82 h 84"/>
                <a:gd name="T56" fmla="*/ 13 w 22"/>
                <a:gd name="T57" fmla="*/ 82 h 84"/>
                <a:gd name="T58" fmla="*/ 14 w 22"/>
                <a:gd name="T59" fmla="*/ 81 h 84"/>
                <a:gd name="T60" fmla="*/ 17 w 22"/>
                <a:gd name="T61" fmla="*/ 80 h 84"/>
                <a:gd name="T62" fmla="*/ 19 w 22"/>
                <a:gd name="T63" fmla="*/ 79 h 84"/>
                <a:gd name="T64" fmla="*/ 20 w 22"/>
                <a:gd name="T65" fmla="*/ 77 h 84"/>
                <a:gd name="T66" fmla="*/ 22 w 22"/>
                <a:gd name="T67" fmla="*/ 76 h 84"/>
                <a:gd name="T68" fmla="*/ 22 w 22"/>
                <a:gd name="T69" fmla="*/ 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 h="84">
                  <a:moveTo>
                    <a:pt x="22" y="3"/>
                  </a:moveTo>
                  <a:lnTo>
                    <a:pt x="22" y="3"/>
                  </a:lnTo>
                  <a:lnTo>
                    <a:pt x="21" y="1"/>
                  </a:lnTo>
                  <a:lnTo>
                    <a:pt x="21" y="1"/>
                  </a:lnTo>
                  <a:lnTo>
                    <a:pt x="20" y="1"/>
                  </a:lnTo>
                  <a:lnTo>
                    <a:pt x="19" y="1"/>
                  </a:lnTo>
                  <a:lnTo>
                    <a:pt x="18" y="0"/>
                  </a:lnTo>
                  <a:lnTo>
                    <a:pt x="17" y="0"/>
                  </a:lnTo>
                  <a:lnTo>
                    <a:pt x="15" y="0"/>
                  </a:lnTo>
                  <a:lnTo>
                    <a:pt x="14" y="0"/>
                  </a:lnTo>
                  <a:lnTo>
                    <a:pt x="12" y="0"/>
                  </a:lnTo>
                  <a:lnTo>
                    <a:pt x="10" y="0"/>
                  </a:lnTo>
                  <a:lnTo>
                    <a:pt x="8" y="0"/>
                  </a:lnTo>
                  <a:lnTo>
                    <a:pt x="6" y="1"/>
                  </a:lnTo>
                  <a:lnTo>
                    <a:pt x="4" y="1"/>
                  </a:lnTo>
                  <a:lnTo>
                    <a:pt x="3" y="3"/>
                  </a:lnTo>
                  <a:lnTo>
                    <a:pt x="0" y="4"/>
                  </a:lnTo>
                  <a:lnTo>
                    <a:pt x="0" y="84"/>
                  </a:lnTo>
                  <a:lnTo>
                    <a:pt x="0" y="84"/>
                  </a:lnTo>
                  <a:lnTo>
                    <a:pt x="0" y="84"/>
                  </a:lnTo>
                  <a:lnTo>
                    <a:pt x="1" y="84"/>
                  </a:lnTo>
                  <a:lnTo>
                    <a:pt x="3" y="84"/>
                  </a:lnTo>
                  <a:lnTo>
                    <a:pt x="4" y="84"/>
                  </a:lnTo>
                  <a:lnTo>
                    <a:pt x="5" y="84"/>
                  </a:lnTo>
                  <a:lnTo>
                    <a:pt x="6" y="84"/>
                  </a:lnTo>
                  <a:lnTo>
                    <a:pt x="7" y="83"/>
                  </a:lnTo>
                  <a:lnTo>
                    <a:pt x="10" y="83"/>
                  </a:lnTo>
                  <a:lnTo>
                    <a:pt x="11" y="82"/>
                  </a:lnTo>
                  <a:lnTo>
                    <a:pt x="13" y="82"/>
                  </a:lnTo>
                  <a:lnTo>
                    <a:pt x="14" y="81"/>
                  </a:lnTo>
                  <a:lnTo>
                    <a:pt x="17" y="80"/>
                  </a:lnTo>
                  <a:lnTo>
                    <a:pt x="19" y="79"/>
                  </a:lnTo>
                  <a:lnTo>
                    <a:pt x="20" y="77"/>
                  </a:lnTo>
                  <a:lnTo>
                    <a:pt x="22" y="76"/>
                  </a:lnTo>
                  <a:lnTo>
                    <a:pt x="22" y="3"/>
                  </a:lnTo>
                  <a:close/>
                </a:path>
              </a:pathLst>
            </a:custGeom>
            <a:solidFill>
              <a:srgbClr val="A8D8D8"/>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93" name="Freeform 292"/>
            <p:cNvSpPr>
              <a:spLocks/>
            </p:cNvSpPr>
            <p:nvPr/>
          </p:nvSpPr>
          <p:spPr bwMode="auto">
            <a:xfrm>
              <a:off x="1798" y="2179"/>
              <a:ext cx="18" cy="66"/>
            </a:xfrm>
            <a:custGeom>
              <a:avLst/>
              <a:gdLst>
                <a:gd name="T0" fmla="*/ 18 w 18"/>
                <a:gd name="T1" fmla="*/ 2 h 66"/>
                <a:gd name="T2" fmla="*/ 18 w 18"/>
                <a:gd name="T3" fmla="*/ 2 h 66"/>
                <a:gd name="T4" fmla="*/ 17 w 18"/>
                <a:gd name="T5" fmla="*/ 2 h 66"/>
                <a:gd name="T6" fmla="*/ 14 w 18"/>
                <a:gd name="T7" fmla="*/ 0 h 66"/>
                <a:gd name="T8" fmla="*/ 12 w 18"/>
                <a:gd name="T9" fmla="*/ 0 h 66"/>
                <a:gd name="T10" fmla="*/ 10 w 18"/>
                <a:gd name="T11" fmla="*/ 0 h 66"/>
                <a:gd name="T12" fmla="*/ 6 w 18"/>
                <a:gd name="T13" fmla="*/ 0 h 66"/>
                <a:gd name="T14" fmla="*/ 3 w 18"/>
                <a:gd name="T15" fmla="*/ 2 h 66"/>
                <a:gd name="T16" fmla="*/ 0 w 18"/>
                <a:gd name="T17" fmla="*/ 3 h 66"/>
                <a:gd name="T18" fmla="*/ 0 w 18"/>
                <a:gd name="T19" fmla="*/ 66 h 66"/>
                <a:gd name="T20" fmla="*/ 0 w 18"/>
                <a:gd name="T21" fmla="*/ 66 h 66"/>
                <a:gd name="T22" fmla="*/ 2 w 18"/>
                <a:gd name="T23" fmla="*/ 66 h 66"/>
                <a:gd name="T24" fmla="*/ 4 w 18"/>
                <a:gd name="T25" fmla="*/ 65 h 66"/>
                <a:gd name="T26" fmla="*/ 6 w 18"/>
                <a:gd name="T27" fmla="*/ 65 h 66"/>
                <a:gd name="T28" fmla="*/ 9 w 18"/>
                <a:gd name="T29" fmla="*/ 64 h 66"/>
                <a:gd name="T30" fmla="*/ 12 w 18"/>
                <a:gd name="T31" fmla="*/ 62 h 66"/>
                <a:gd name="T32" fmla="*/ 14 w 18"/>
                <a:gd name="T33" fmla="*/ 61 h 66"/>
                <a:gd name="T34" fmla="*/ 18 w 18"/>
                <a:gd name="T35" fmla="*/ 59 h 66"/>
                <a:gd name="T36" fmla="*/ 18 w 18"/>
                <a:gd name="T37" fmla="*/ 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 h="66">
                  <a:moveTo>
                    <a:pt x="18" y="2"/>
                  </a:moveTo>
                  <a:lnTo>
                    <a:pt x="18" y="2"/>
                  </a:lnTo>
                  <a:lnTo>
                    <a:pt x="17" y="2"/>
                  </a:lnTo>
                  <a:lnTo>
                    <a:pt x="14" y="0"/>
                  </a:lnTo>
                  <a:lnTo>
                    <a:pt x="12" y="0"/>
                  </a:lnTo>
                  <a:lnTo>
                    <a:pt x="10" y="0"/>
                  </a:lnTo>
                  <a:lnTo>
                    <a:pt x="6" y="0"/>
                  </a:lnTo>
                  <a:lnTo>
                    <a:pt x="3" y="2"/>
                  </a:lnTo>
                  <a:lnTo>
                    <a:pt x="0" y="3"/>
                  </a:lnTo>
                  <a:lnTo>
                    <a:pt x="0" y="66"/>
                  </a:lnTo>
                  <a:lnTo>
                    <a:pt x="0" y="66"/>
                  </a:lnTo>
                  <a:lnTo>
                    <a:pt x="2" y="66"/>
                  </a:lnTo>
                  <a:lnTo>
                    <a:pt x="4" y="65"/>
                  </a:lnTo>
                  <a:lnTo>
                    <a:pt x="6" y="65"/>
                  </a:lnTo>
                  <a:lnTo>
                    <a:pt x="9" y="64"/>
                  </a:lnTo>
                  <a:lnTo>
                    <a:pt x="12" y="62"/>
                  </a:lnTo>
                  <a:lnTo>
                    <a:pt x="14" y="61"/>
                  </a:lnTo>
                  <a:lnTo>
                    <a:pt x="18" y="59"/>
                  </a:lnTo>
                  <a:lnTo>
                    <a:pt x="18" y="2"/>
                  </a:lnTo>
                  <a:close/>
                </a:path>
              </a:pathLst>
            </a:custGeom>
            <a:solidFill>
              <a:srgbClr val="BCE5E5"/>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94" name="Freeform 293"/>
            <p:cNvSpPr>
              <a:spLocks/>
            </p:cNvSpPr>
            <p:nvPr/>
          </p:nvSpPr>
          <p:spPr bwMode="auto">
            <a:xfrm>
              <a:off x="1798" y="2181"/>
              <a:ext cx="14" cy="45"/>
            </a:xfrm>
            <a:custGeom>
              <a:avLst/>
              <a:gdLst>
                <a:gd name="T0" fmla="*/ 14 w 14"/>
                <a:gd name="T1" fmla="*/ 1 h 45"/>
                <a:gd name="T2" fmla="*/ 14 w 14"/>
                <a:gd name="T3" fmla="*/ 0 h 45"/>
                <a:gd name="T4" fmla="*/ 13 w 14"/>
                <a:gd name="T5" fmla="*/ 0 h 45"/>
                <a:gd name="T6" fmla="*/ 12 w 14"/>
                <a:gd name="T7" fmla="*/ 0 h 45"/>
                <a:gd name="T8" fmla="*/ 10 w 14"/>
                <a:gd name="T9" fmla="*/ 0 h 45"/>
                <a:gd name="T10" fmla="*/ 9 w 14"/>
                <a:gd name="T11" fmla="*/ 0 h 45"/>
                <a:gd name="T12" fmla="*/ 6 w 14"/>
                <a:gd name="T13" fmla="*/ 0 h 45"/>
                <a:gd name="T14" fmla="*/ 3 w 14"/>
                <a:gd name="T15" fmla="*/ 0 h 45"/>
                <a:gd name="T16" fmla="*/ 0 w 14"/>
                <a:gd name="T17" fmla="*/ 2 h 45"/>
                <a:gd name="T18" fmla="*/ 0 w 14"/>
                <a:gd name="T19" fmla="*/ 45 h 45"/>
                <a:gd name="T20" fmla="*/ 2 w 14"/>
                <a:gd name="T21" fmla="*/ 45 h 45"/>
                <a:gd name="T22" fmla="*/ 2 w 14"/>
                <a:gd name="T23" fmla="*/ 45 h 45"/>
                <a:gd name="T24" fmla="*/ 4 w 14"/>
                <a:gd name="T25" fmla="*/ 45 h 45"/>
                <a:gd name="T26" fmla="*/ 5 w 14"/>
                <a:gd name="T27" fmla="*/ 44 h 45"/>
                <a:gd name="T28" fmla="*/ 7 w 14"/>
                <a:gd name="T29" fmla="*/ 44 h 45"/>
                <a:gd name="T30" fmla="*/ 10 w 14"/>
                <a:gd name="T31" fmla="*/ 43 h 45"/>
                <a:gd name="T32" fmla="*/ 12 w 14"/>
                <a:gd name="T33" fmla="*/ 42 h 45"/>
                <a:gd name="T34" fmla="*/ 14 w 14"/>
                <a:gd name="T35" fmla="*/ 41 h 45"/>
                <a:gd name="T36" fmla="*/ 14 w 14"/>
                <a:gd name="T37"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 h="45">
                  <a:moveTo>
                    <a:pt x="14" y="1"/>
                  </a:moveTo>
                  <a:lnTo>
                    <a:pt x="14" y="0"/>
                  </a:lnTo>
                  <a:lnTo>
                    <a:pt x="13" y="0"/>
                  </a:lnTo>
                  <a:lnTo>
                    <a:pt x="12" y="0"/>
                  </a:lnTo>
                  <a:lnTo>
                    <a:pt x="10" y="0"/>
                  </a:lnTo>
                  <a:lnTo>
                    <a:pt x="9" y="0"/>
                  </a:lnTo>
                  <a:lnTo>
                    <a:pt x="6" y="0"/>
                  </a:lnTo>
                  <a:lnTo>
                    <a:pt x="3" y="0"/>
                  </a:lnTo>
                  <a:lnTo>
                    <a:pt x="0" y="2"/>
                  </a:lnTo>
                  <a:lnTo>
                    <a:pt x="0" y="45"/>
                  </a:lnTo>
                  <a:lnTo>
                    <a:pt x="2" y="45"/>
                  </a:lnTo>
                  <a:lnTo>
                    <a:pt x="2" y="45"/>
                  </a:lnTo>
                  <a:lnTo>
                    <a:pt x="4" y="45"/>
                  </a:lnTo>
                  <a:lnTo>
                    <a:pt x="5" y="44"/>
                  </a:lnTo>
                  <a:lnTo>
                    <a:pt x="7" y="44"/>
                  </a:lnTo>
                  <a:lnTo>
                    <a:pt x="10" y="43"/>
                  </a:lnTo>
                  <a:lnTo>
                    <a:pt x="12" y="42"/>
                  </a:lnTo>
                  <a:lnTo>
                    <a:pt x="14" y="41"/>
                  </a:lnTo>
                  <a:lnTo>
                    <a:pt x="14" y="1"/>
                  </a:lnTo>
                  <a:close/>
                </a:path>
              </a:pathLst>
            </a:custGeom>
            <a:solidFill>
              <a:srgbClr val="D1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95" name="Freeform 294"/>
            <p:cNvSpPr>
              <a:spLocks/>
            </p:cNvSpPr>
            <p:nvPr/>
          </p:nvSpPr>
          <p:spPr bwMode="auto">
            <a:xfrm>
              <a:off x="1800" y="2181"/>
              <a:ext cx="9" cy="27"/>
            </a:xfrm>
            <a:custGeom>
              <a:avLst/>
              <a:gdLst>
                <a:gd name="T0" fmla="*/ 9 w 9"/>
                <a:gd name="T1" fmla="*/ 1 h 27"/>
                <a:gd name="T2" fmla="*/ 9 w 9"/>
                <a:gd name="T3" fmla="*/ 1 h 27"/>
                <a:gd name="T4" fmla="*/ 8 w 9"/>
                <a:gd name="T5" fmla="*/ 1 h 27"/>
                <a:gd name="T6" fmla="*/ 7 w 9"/>
                <a:gd name="T7" fmla="*/ 1 h 27"/>
                <a:gd name="T8" fmla="*/ 5 w 9"/>
                <a:gd name="T9" fmla="*/ 0 h 27"/>
                <a:gd name="T10" fmla="*/ 4 w 9"/>
                <a:gd name="T11" fmla="*/ 0 h 27"/>
                <a:gd name="T12" fmla="*/ 3 w 9"/>
                <a:gd name="T13" fmla="*/ 1 h 27"/>
                <a:gd name="T14" fmla="*/ 1 w 9"/>
                <a:gd name="T15" fmla="*/ 1 h 27"/>
                <a:gd name="T16" fmla="*/ 0 w 9"/>
                <a:gd name="T17" fmla="*/ 2 h 27"/>
                <a:gd name="T18" fmla="*/ 0 w 9"/>
                <a:gd name="T19" fmla="*/ 27 h 27"/>
                <a:gd name="T20" fmla="*/ 0 w 9"/>
                <a:gd name="T21" fmla="*/ 27 h 27"/>
                <a:gd name="T22" fmla="*/ 1 w 9"/>
                <a:gd name="T23" fmla="*/ 27 h 27"/>
                <a:gd name="T24" fmla="*/ 2 w 9"/>
                <a:gd name="T25" fmla="*/ 27 h 27"/>
                <a:gd name="T26" fmla="*/ 3 w 9"/>
                <a:gd name="T27" fmla="*/ 27 h 27"/>
                <a:gd name="T28" fmla="*/ 4 w 9"/>
                <a:gd name="T29" fmla="*/ 27 h 27"/>
                <a:gd name="T30" fmla="*/ 5 w 9"/>
                <a:gd name="T31" fmla="*/ 25 h 27"/>
                <a:gd name="T32" fmla="*/ 8 w 9"/>
                <a:gd name="T33" fmla="*/ 24 h 27"/>
                <a:gd name="T34" fmla="*/ 9 w 9"/>
                <a:gd name="T35" fmla="*/ 23 h 27"/>
                <a:gd name="T36" fmla="*/ 9 w 9"/>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27">
                  <a:moveTo>
                    <a:pt x="9" y="1"/>
                  </a:moveTo>
                  <a:lnTo>
                    <a:pt x="9" y="1"/>
                  </a:lnTo>
                  <a:lnTo>
                    <a:pt x="8" y="1"/>
                  </a:lnTo>
                  <a:lnTo>
                    <a:pt x="7" y="1"/>
                  </a:lnTo>
                  <a:lnTo>
                    <a:pt x="5" y="0"/>
                  </a:lnTo>
                  <a:lnTo>
                    <a:pt x="4" y="0"/>
                  </a:lnTo>
                  <a:lnTo>
                    <a:pt x="3" y="1"/>
                  </a:lnTo>
                  <a:lnTo>
                    <a:pt x="1" y="1"/>
                  </a:lnTo>
                  <a:lnTo>
                    <a:pt x="0" y="2"/>
                  </a:lnTo>
                  <a:lnTo>
                    <a:pt x="0" y="27"/>
                  </a:lnTo>
                  <a:lnTo>
                    <a:pt x="0" y="27"/>
                  </a:lnTo>
                  <a:lnTo>
                    <a:pt x="1" y="27"/>
                  </a:lnTo>
                  <a:lnTo>
                    <a:pt x="2" y="27"/>
                  </a:lnTo>
                  <a:lnTo>
                    <a:pt x="3" y="27"/>
                  </a:lnTo>
                  <a:lnTo>
                    <a:pt x="4" y="27"/>
                  </a:lnTo>
                  <a:lnTo>
                    <a:pt x="5" y="25"/>
                  </a:lnTo>
                  <a:lnTo>
                    <a:pt x="8" y="24"/>
                  </a:lnTo>
                  <a:lnTo>
                    <a:pt x="9" y="23"/>
                  </a:lnTo>
                  <a:lnTo>
                    <a:pt x="9" y="1"/>
                  </a:lnTo>
                  <a:close/>
                </a:path>
              </a:pathLst>
            </a:custGeom>
            <a:solidFill>
              <a:srgbClr val="E5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96" name="Freeform 295"/>
            <p:cNvSpPr>
              <a:spLocks/>
            </p:cNvSpPr>
            <p:nvPr/>
          </p:nvSpPr>
          <p:spPr bwMode="auto">
            <a:xfrm>
              <a:off x="1910" y="2258"/>
              <a:ext cx="14" cy="14"/>
            </a:xfrm>
            <a:custGeom>
              <a:avLst/>
              <a:gdLst>
                <a:gd name="T0" fmla="*/ 7 w 14"/>
                <a:gd name="T1" fmla="*/ 14 h 14"/>
                <a:gd name="T2" fmla="*/ 9 w 14"/>
                <a:gd name="T3" fmla="*/ 14 h 14"/>
                <a:gd name="T4" fmla="*/ 10 w 14"/>
                <a:gd name="T5" fmla="*/ 13 h 14"/>
                <a:gd name="T6" fmla="*/ 11 w 14"/>
                <a:gd name="T7" fmla="*/ 13 h 14"/>
                <a:gd name="T8" fmla="*/ 12 w 14"/>
                <a:gd name="T9" fmla="*/ 11 h 14"/>
                <a:gd name="T10" fmla="*/ 13 w 14"/>
                <a:gd name="T11" fmla="*/ 10 h 14"/>
                <a:gd name="T12" fmla="*/ 13 w 14"/>
                <a:gd name="T13" fmla="*/ 9 h 14"/>
                <a:gd name="T14" fmla="*/ 14 w 14"/>
                <a:gd name="T15" fmla="*/ 8 h 14"/>
                <a:gd name="T16" fmla="*/ 14 w 14"/>
                <a:gd name="T17" fmla="*/ 7 h 14"/>
                <a:gd name="T18" fmla="*/ 14 w 14"/>
                <a:gd name="T19" fmla="*/ 6 h 14"/>
                <a:gd name="T20" fmla="*/ 13 w 14"/>
                <a:gd name="T21" fmla="*/ 4 h 14"/>
                <a:gd name="T22" fmla="*/ 13 w 14"/>
                <a:gd name="T23" fmla="*/ 3 h 14"/>
                <a:gd name="T24" fmla="*/ 12 w 14"/>
                <a:gd name="T25" fmla="*/ 2 h 14"/>
                <a:gd name="T26" fmla="*/ 11 w 14"/>
                <a:gd name="T27" fmla="*/ 1 h 14"/>
                <a:gd name="T28" fmla="*/ 10 w 14"/>
                <a:gd name="T29" fmla="*/ 0 h 14"/>
                <a:gd name="T30" fmla="*/ 9 w 14"/>
                <a:gd name="T31" fmla="*/ 0 h 14"/>
                <a:gd name="T32" fmla="*/ 7 w 14"/>
                <a:gd name="T33" fmla="*/ 0 h 14"/>
                <a:gd name="T34" fmla="*/ 6 w 14"/>
                <a:gd name="T35" fmla="*/ 0 h 14"/>
                <a:gd name="T36" fmla="*/ 5 w 14"/>
                <a:gd name="T37" fmla="*/ 0 h 14"/>
                <a:gd name="T38" fmla="*/ 4 w 14"/>
                <a:gd name="T39" fmla="*/ 1 h 14"/>
                <a:gd name="T40" fmla="*/ 3 w 14"/>
                <a:gd name="T41" fmla="*/ 2 h 14"/>
                <a:gd name="T42" fmla="*/ 2 w 14"/>
                <a:gd name="T43" fmla="*/ 3 h 14"/>
                <a:gd name="T44" fmla="*/ 2 w 14"/>
                <a:gd name="T45" fmla="*/ 4 h 14"/>
                <a:gd name="T46" fmla="*/ 0 w 14"/>
                <a:gd name="T47" fmla="*/ 6 h 14"/>
                <a:gd name="T48" fmla="*/ 0 w 14"/>
                <a:gd name="T49" fmla="*/ 7 h 14"/>
                <a:gd name="T50" fmla="*/ 0 w 14"/>
                <a:gd name="T51" fmla="*/ 8 h 14"/>
                <a:gd name="T52" fmla="*/ 2 w 14"/>
                <a:gd name="T53" fmla="*/ 9 h 14"/>
                <a:gd name="T54" fmla="*/ 2 w 14"/>
                <a:gd name="T55" fmla="*/ 10 h 14"/>
                <a:gd name="T56" fmla="*/ 3 w 14"/>
                <a:gd name="T57" fmla="*/ 11 h 14"/>
                <a:gd name="T58" fmla="*/ 4 w 14"/>
                <a:gd name="T59" fmla="*/ 13 h 14"/>
                <a:gd name="T60" fmla="*/ 5 w 14"/>
                <a:gd name="T61" fmla="*/ 13 h 14"/>
                <a:gd name="T62" fmla="*/ 6 w 14"/>
                <a:gd name="T63" fmla="*/ 14 h 14"/>
                <a:gd name="T64" fmla="*/ 7 w 14"/>
                <a:gd name="T65"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 h="14">
                  <a:moveTo>
                    <a:pt x="7" y="14"/>
                  </a:moveTo>
                  <a:lnTo>
                    <a:pt x="9" y="14"/>
                  </a:lnTo>
                  <a:lnTo>
                    <a:pt x="10" y="13"/>
                  </a:lnTo>
                  <a:lnTo>
                    <a:pt x="11" y="13"/>
                  </a:lnTo>
                  <a:lnTo>
                    <a:pt x="12" y="11"/>
                  </a:lnTo>
                  <a:lnTo>
                    <a:pt x="13" y="10"/>
                  </a:lnTo>
                  <a:lnTo>
                    <a:pt x="13" y="9"/>
                  </a:lnTo>
                  <a:lnTo>
                    <a:pt x="14" y="8"/>
                  </a:lnTo>
                  <a:lnTo>
                    <a:pt x="14" y="7"/>
                  </a:lnTo>
                  <a:lnTo>
                    <a:pt x="14" y="6"/>
                  </a:lnTo>
                  <a:lnTo>
                    <a:pt x="13" y="4"/>
                  </a:lnTo>
                  <a:lnTo>
                    <a:pt x="13" y="3"/>
                  </a:lnTo>
                  <a:lnTo>
                    <a:pt x="12" y="2"/>
                  </a:lnTo>
                  <a:lnTo>
                    <a:pt x="11" y="1"/>
                  </a:lnTo>
                  <a:lnTo>
                    <a:pt x="10" y="0"/>
                  </a:lnTo>
                  <a:lnTo>
                    <a:pt x="9" y="0"/>
                  </a:lnTo>
                  <a:lnTo>
                    <a:pt x="7" y="0"/>
                  </a:lnTo>
                  <a:lnTo>
                    <a:pt x="6" y="0"/>
                  </a:lnTo>
                  <a:lnTo>
                    <a:pt x="5" y="0"/>
                  </a:lnTo>
                  <a:lnTo>
                    <a:pt x="4" y="1"/>
                  </a:lnTo>
                  <a:lnTo>
                    <a:pt x="3" y="2"/>
                  </a:lnTo>
                  <a:lnTo>
                    <a:pt x="2" y="3"/>
                  </a:lnTo>
                  <a:lnTo>
                    <a:pt x="2" y="4"/>
                  </a:lnTo>
                  <a:lnTo>
                    <a:pt x="0" y="6"/>
                  </a:lnTo>
                  <a:lnTo>
                    <a:pt x="0" y="7"/>
                  </a:lnTo>
                  <a:lnTo>
                    <a:pt x="0" y="8"/>
                  </a:lnTo>
                  <a:lnTo>
                    <a:pt x="2" y="9"/>
                  </a:lnTo>
                  <a:lnTo>
                    <a:pt x="2" y="10"/>
                  </a:lnTo>
                  <a:lnTo>
                    <a:pt x="3" y="11"/>
                  </a:lnTo>
                  <a:lnTo>
                    <a:pt x="4" y="13"/>
                  </a:lnTo>
                  <a:lnTo>
                    <a:pt x="5" y="13"/>
                  </a:lnTo>
                  <a:lnTo>
                    <a:pt x="6" y="14"/>
                  </a:lnTo>
                  <a:lnTo>
                    <a:pt x="7"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97" name="Freeform 296"/>
            <p:cNvSpPr>
              <a:spLocks/>
            </p:cNvSpPr>
            <p:nvPr/>
          </p:nvSpPr>
          <p:spPr bwMode="auto">
            <a:xfrm>
              <a:off x="1870" y="2258"/>
              <a:ext cx="7" cy="7"/>
            </a:xfrm>
            <a:custGeom>
              <a:avLst/>
              <a:gdLst>
                <a:gd name="T0" fmla="*/ 3 w 7"/>
                <a:gd name="T1" fmla="*/ 7 h 7"/>
                <a:gd name="T2" fmla="*/ 4 w 7"/>
                <a:gd name="T3" fmla="*/ 7 h 7"/>
                <a:gd name="T4" fmla="*/ 5 w 7"/>
                <a:gd name="T5" fmla="*/ 6 h 7"/>
                <a:gd name="T6" fmla="*/ 5 w 7"/>
                <a:gd name="T7" fmla="*/ 4 h 7"/>
                <a:gd name="T8" fmla="*/ 7 w 7"/>
                <a:gd name="T9" fmla="*/ 3 h 7"/>
                <a:gd name="T10" fmla="*/ 5 w 7"/>
                <a:gd name="T11" fmla="*/ 2 h 7"/>
                <a:gd name="T12" fmla="*/ 5 w 7"/>
                <a:gd name="T13" fmla="*/ 1 h 7"/>
                <a:gd name="T14" fmla="*/ 4 w 7"/>
                <a:gd name="T15" fmla="*/ 0 h 7"/>
                <a:gd name="T16" fmla="*/ 3 w 7"/>
                <a:gd name="T17" fmla="*/ 0 h 7"/>
                <a:gd name="T18" fmla="*/ 2 w 7"/>
                <a:gd name="T19" fmla="*/ 0 h 7"/>
                <a:gd name="T20" fmla="*/ 1 w 7"/>
                <a:gd name="T21" fmla="*/ 1 h 7"/>
                <a:gd name="T22" fmla="*/ 0 w 7"/>
                <a:gd name="T23" fmla="*/ 2 h 7"/>
                <a:gd name="T24" fmla="*/ 0 w 7"/>
                <a:gd name="T25" fmla="*/ 3 h 7"/>
                <a:gd name="T26" fmla="*/ 0 w 7"/>
                <a:gd name="T27" fmla="*/ 4 h 7"/>
                <a:gd name="T28" fmla="*/ 1 w 7"/>
                <a:gd name="T29" fmla="*/ 6 h 7"/>
                <a:gd name="T30" fmla="*/ 2 w 7"/>
                <a:gd name="T31" fmla="*/ 7 h 7"/>
                <a:gd name="T32" fmla="*/ 3 w 7"/>
                <a:gd name="T33"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 h="7">
                  <a:moveTo>
                    <a:pt x="3" y="7"/>
                  </a:moveTo>
                  <a:lnTo>
                    <a:pt x="4" y="7"/>
                  </a:lnTo>
                  <a:lnTo>
                    <a:pt x="5" y="6"/>
                  </a:lnTo>
                  <a:lnTo>
                    <a:pt x="5" y="4"/>
                  </a:lnTo>
                  <a:lnTo>
                    <a:pt x="7" y="3"/>
                  </a:lnTo>
                  <a:lnTo>
                    <a:pt x="5" y="2"/>
                  </a:lnTo>
                  <a:lnTo>
                    <a:pt x="5" y="1"/>
                  </a:lnTo>
                  <a:lnTo>
                    <a:pt x="4" y="0"/>
                  </a:lnTo>
                  <a:lnTo>
                    <a:pt x="3" y="0"/>
                  </a:lnTo>
                  <a:lnTo>
                    <a:pt x="2" y="0"/>
                  </a:lnTo>
                  <a:lnTo>
                    <a:pt x="1" y="1"/>
                  </a:lnTo>
                  <a:lnTo>
                    <a:pt x="0" y="2"/>
                  </a:lnTo>
                  <a:lnTo>
                    <a:pt x="0" y="3"/>
                  </a:lnTo>
                  <a:lnTo>
                    <a:pt x="0" y="4"/>
                  </a:lnTo>
                  <a:lnTo>
                    <a:pt x="1" y="6"/>
                  </a:lnTo>
                  <a:lnTo>
                    <a:pt x="2" y="7"/>
                  </a:lnTo>
                  <a:lnTo>
                    <a:pt x="3"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98" name="Freeform 297"/>
            <p:cNvSpPr>
              <a:spLocks/>
            </p:cNvSpPr>
            <p:nvPr/>
          </p:nvSpPr>
          <p:spPr bwMode="auto">
            <a:xfrm>
              <a:off x="1881" y="2258"/>
              <a:ext cx="6" cy="7"/>
            </a:xfrm>
            <a:custGeom>
              <a:avLst/>
              <a:gdLst>
                <a:gd name="T0" fmla="*/ 4 w 6"/>
                <a:gd name="T1" fmla="*/ 7 h 7"/>
                <a:gd name="T2" fmla="*/ 5 w 6"/>
                <a:gd name="T3" fmla="*/ 7 h 7"/>
                <a:gd name="T4" fmla="*/ 6 w 6"/>
                <a:gd name="T5" fmla="*/ 7 h 7"/>
                <a:gd name="T6" fmla="*/ 6 w 6"/>
                <a:gd name="T7" fmla="*/ 6 h 7"/>
                <a:gd name="T8" fmla="*/ 6 w 6"/>
                <a:gd name="T9" fmla="*/ 3 h 7"/>
                <a:gd name="T10" fmla="*/ 6 w 6"/>
                <a:gd name="T11" fmla="*/ 2 h 7"/>
                <a:gd name="T12" fmla="*/ 6 w 6"/>
                <a:gd name="T13" fmla="*/ 1 h 7"/>
                <a:gd name="T14" fmla="*/ 5 w 6"/>
                <a:gd name="T15" fmla="*/ 1 h 7"/>
                <a:gd name="T16" fmla="*/ 4 w 6"/>
                <a:gd name="T17" fmla="*/ 0 h 7"/>
                <a:gd name="T18" fmla="*/ 3 w 6"/>
                <a:gd name="T19" fmla="*/ 1 h 7"/>
                <a:gd name="T20" fmla="*/ 1 w 6"/>
                <a:gd name="T21" fmla="*/ 1 h 7"/>
                <a:gd name="T22" fmla="*/ 0 w 6"/>
                <a:gd name="T23" fmla="*/ 2 h 7"/>
                <a:gd name="T24" fmla="*/ 0 w 6"/>
                <a:gd name="T25" fmla="*/ 3 h 7"/>
                <a:gd name="T26" fmla="*/ 0 w 6"/>
                <a:gd name="T27" fmla="*/ 6 h 7"/>
                <a:gd name="T28" fmla="*/ 1 w 6"/>
                <a:gd name="T29" fmla="*/ 7 h 7"/>
                <a:gd name="T30" fmla="*/ 3 w 6"/>
                <a:gd name="T31" fmla="*/ 7 h 7"/>
                <a:gd name="T32" fmla="*/ 4 w 6"/>
                <a:gd name="T33"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 h="7">
                  <a:moveTo>
                    <a:pt x="4" y="7"/>
                  </a:moveTo>
                  <a:lnTo>
                    <a:pt x="5" y="7"/>
                  </a:lnTo>
                  <a:lnTo>
                    <a:pt x="6" y="7"/>
                  </a:lnTo>
                  <a:lnTo>
                    <a:pt x="6" y="6"/>
                  </a:lnTo>
                  <a:lnTo>
                    <a:pt x="6" y="3"/>
                  </a:lnTo>
                  <a:lnTo>
                    <a:pt x="6" y="2"/>
                  </a:lnTo>
                  <a:lnTo>
                    <a:pt x="6" y="1"/>
                  </a:lnTo>
                  <a:lnTo>
                    <a:pt x="5" y="1"/>
                  </a:lnTo>
                  <a:lnTo>
                    <a:pt x="4" y="0"/>
                  </a:lnTo>
                  <a:lnTo>
                    <a:pt x="3" y="1"/>
                  </a:lnTo>
                  <a:lnTo>
                    <a:pt x="1" y="1"/>
                  </a:lnTo>
                  <a:lnTo>
                    <a:pt x="0" y="2"/>
                  </a:lnTo>
                  <a:lnTo>
                    <a:pt x="0" y="3"/>
                  </a:lnTo>
                  <a:lnTo>
                    <a:pt x="0" y="6"/>
                  </a:lnTo>
                  <a:lnTo>
                    <a:pt x="1" y="7"/>
                  </a:lnTo>
                  <a:lnTo>
                    <a:pt x="3" y="7"/>
                  </a:lnTo>
                  <a:lnTo>
                    <a:pt x="4"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299" name="Freeform 298"/>
            <p:cNvSpPr>
              <a:spLocks/>
            </p:cNvSpPr>
            <p:nvPr/>
          </p:nvSpPr>
          <p:spPr bwMode="auto">
            <a:xfrm>
              <a:off x="1836" y="2165"/>
              <a:ext cx="18" cy="93"/>
            </a:xfrm>
            <a:custGeom>
              <a:avLst/>
              <a:gdLst>
                <a:gd name="T0" fmla="*/ 6 w 18"/>
                <a:gd name="T1" fmla="*/ 2 h 93"/>
                <a:gd name="T2" fmla="*/ 6 w 18"/>
                <a:gd name="T3" fmla="*/ 4 h 93"/>
                <a:gd name="T4" fmla="*/ 3 w 18"/>
                <a:gd name="T5" fmla="*/ 9 h 93"/>
                <a:gd name="T6" fmla="*/ 2 w 18"/>
                <a:gd name="T7" fmla="*/ 17 h 93"/>
                <a:gd name="T8" fmla="*/ 1 w 18"/>
                <a:gd name="T9" fmla="*/ 29 h 93"/>
                <a:gd name="T10" fmla="*/ 0 w 18"/>
                <a:gd name="T11" fmla="*/ 41 h 93"/>
                <a:gd name="T12" fmla="*/ 0 w 18"/>
                <a:gd name="T13" fmla="*/ 58 h 93"/>
                <a:gd name="T14" fmla="*/ 1 w 18"/>
                <a:gd name="T15" fmla="*/ 74 h 93"/>
                <a:gd name="T16" fmla="*/ 4 w 18"/>
                <a:gd name="T17" fmla="*/ 93 h 93"/>
                <a:gd name="T18" fmla="*/ 18 w 18"/>
                <a:gd name="T19" fmla="*/ 93 h 93"/>
                <a:gd name="T20" fmla="*/ 17 w 18"/>
                <a:gd name="T21" fmla="*/ 89 h 93"/>
                <a:gd name="T22" fmla="*/ 16 w 18"/>
                <a:gd name="T23" fmla="*/ 82 h 93"/>
                <a:gd name="T24" fmla="*/ 15 w 18"/>
                <a:gd name="T25" fmla="*/ 71 h 93"/>
                <a:gd name="T26" fmla="*/ 14 w 18"/>
                <a:gd name="T27" fmla="*/ 58 h 93"/>
                <a:gd name="T28" fmla="*/ 13 w 18"/>
                <a:gd name="T29" fmla="*/ 43 h 93"/>
                <a:gd name="T30" fmla="*/ 13 w 18"/>
                <a:gd name="T31" fmla="*/ 27 h 93"/>
                <a:gd name="T32" fmla="*/ 15 w 18"/>
                <a:gd name="T33" fmla="*/ 13 h 93"/>
                <a:gd name="T34" fmla="*/ 18 w 18"/>
                <a:gd name="T35" fmla="*/ 2 h 93"/>
                <a:gd name="T36" fmla="*/ 18 w 18"/>
                <a:gd name="T37" fmla="*/ 2 h 93"/>
                <a:gd name="T38" fmla="*/ 18 w 18"/>
                <a:gd name="T39" fmla="*/ 0 h 93"/>
                <a:gd name="T40" fmla="*/ 18 w 18"/>
                <a:gd name="T41" fmla="*/ 0 h 93"/>
                <a:gd name="T42" fmla="*/ 17 w 18"/>
                <a:gd name="T43" fmla="*/ 0 h 93"/>
                <a:gd name="T44" fmla="*/ 16 w 18"/>
                <a:gd name="T45" fmla="*/ 0 h 93"/>
                <a:gd name="T46" fmla="*/ 14 w 18"/>
                <a:gd name="T47" fmla="*/ 0 h 93"/>
                <a:gd name="T48" fmla="*/ 10 w 18"/>
                <a:gd name="T49" fmla="*/ 0 h 93"/>
                <a:gd name="T50" fmla="*/ 6 w 18"/>
                <a:gd name="T51" fmla="*/ 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 h="93">
                  <a:moveTo>
                    <a:pt x="6" y="2"/>
                  </a:moveTo>
                  <a:lnTo>
                    <a:pt x="6" y="4"/>
                  </a:lnTo>
                  <a:lnTo>
                    <a:pt x="3" y="9"/>
                  </a:lnTo>
                  <a:lnTo>
                    <a:pt x="2" y="17"/>
                  </a:lnTo>
                  <a:lnTo>
                    <a:pt x="1" y="29"/>
                  </a:lnTo>
                  <a:lnTo>
                    <a:pt x="0" y="41"/>
                  </a:lnTo>
                  <a:lnTo>
                    <a:pt x="0" y="58"/>
                  </a:lnTo>
                  <a:lnTo>
                    <a:pt x="1" y="74"/>
                  </a:lnTo>
                  <a:lnTo>
                    <a:pt x="4" y="93"/>
                  </a:lnTo>
                  <a:lnTo>
                    <a:pt x="18" y="93"/>
                  </a:lnTo>
                  <a:lnTo>
                    <a:pt x="17" y="89"/>
                  </a:lnTo>
                  <a:lnTo>
                    <a:pt x="16" y="82"/>
                  </a:lnTo>
                  <a:lnTo>
                    <a:pt x="15" y="71"/>
                  </a:lnTo>
                  <a:lnTo>
                    <a:pt x="14" y="58"/>
                  </a:lnTo>
                  <a:lnTo>
                    <a:pt x="13" y="43"/>
                  </a:lnTo>
                  <a:lnTo>
                    <a:pt x="13" y="27"/>
                  </a:lnTo>
                  <a:lnTo>
                    <a:pt x="15" y="13"/>
                  </a:lnTo>
                  <a:lnTo>
                    <a:pt x="18" y="2"/>
                  </a:lnTo>
                  <a:lnTo>
                    <a:pt x="18" y="2"/>
                  </a:lnTo>
                  <a:lnTo>
                    <a:pt x="18" y="0"/>
                  </a:lnTo>
                  <a:lnTo>
                    <a:pt x="18" y="0"/>
                  </a:lnTo>
                  <a:lnTo>
                    <a:pt x="17" y="0"/>
                  </a:lnTo>
                  <a:lnTo>
                    <a:pt x="16" y="0"/>
                  </a:lnTo>
                  <a:lnTo>
                    <a:pt x="14" y="0"/>
                  </a:lnTo>
                  <a:lnTo>
                    <a:pt x="10" y="0"/>
                  </a:lnTo>
                  <a:lnTo>
                    <a:pt x="6" y="2"/>
                  </a:lnTo>
                  <a:close/>
                </a:path>
              </a:pathLst>
            </a:custGeom>
            <a:solidFill>
              <a:srgbClr val="3F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00" name="Freeform 299"/>
            <p:cNvSpPr>
              <a:spLocks/>
            </p:cNvSpPr>
            <p:nvPr/>
          </p:nvSpPr>
          <p:spPr bwMode="auto">
            <a:xfrm>
              <a:off x="1934" y="2154"/>
              <a:ext cx="27" cy="104"/>
            </a:xfrm>
            <a:custGeom>
              <a:avLst/>
              <a:gdLst>
                <a:gd name="T0" fmla="*/ 27 w 27"/>
                <a:gd name="T1" fmla="*/ 0 h 104"/>
                <a:gd name="T2" fmla="*/ 25 w 27"/>
                <a:gd name="T3" fmla="*/ 1 h 104"/>
                <a:gd name="T4" fmla="*/ 24 w 27"/>
                <a:gd name="T5" fmla="*/ 3 h 104"/>
                <a:gd name="T6" fmla="*/ 22 w 27"/>
                <a:gd name="T7" fmla="*/ 9 h 104"/>
                <a:gd name="T8" fmla="*/ 20 w 27"/>
                <a:gd name="T9" fmla="*/ 18 h 104"/>
                <a:gd name="T10" fmla="*/ 17 w 27"/>
                <a:gd name="T11" fmla="*/ 31 h 104"/>
                <a:gd name="T12" fmla="*/ 16 w 27"/>
                <a:gd name="T13" fmla="*/ 49 h 104"/>
                <a:gd name="T14" fmla="*/ 17 w 27"/>
                <a:gd name="T15" fmla="*/ 73 h 104"/>
                <a:gd name="T16" fmla="*/ 20 w 27"/>
                <a:gd name="T17" fmla="*/ 104 h 104"/>
                <a:gd name="T18" fmla="*/ 4 w 27"/>
                <a:gd name="T19" fmla="*/ 104 h 104"/>
                <a:gd name="T20" fmla="*/ 4 w 27"/>
                <a:gd name="T21" fmla="*/ 100 h 104"/>
                <a:gd name="T22" fmla="*/ 3 w 27"/>
                <a:gd name="T23" fmla="*/ 92 h 104"/>
                <a:gd name="T24" fmla="*/ 2 w 27"/>
                <a:gd name="T25" fmla="*/ 79 h 104"/>
                <a:gd name="T26" fmla="*/ 1 w 27"/>
                <a:gd name="T27" fmla="*/ 64 h 104"/>
                <a:gd name="T28" fmla="*/ 0 w 27"/>
                <a:gd name="T29" fmla="*/ 47 h 104"/>
                <a:gd name="T30" fmla="*/ 1 w 27"/>
                <a:gd name="T31" fmla="*/ 30 h 104"/>
                <a:gd name="T32" fmla="*/ 3 w 27"/>
                <a:gd name="T33" fmla="*/ 14 h 104"/>
                <a:gd name="T34" fmla="*/ 9 w 27"/>
                <a:gd name="T35" fmla="*/ 0 h 104"/>
                <a:gd name="T36" fmla="*/ 27 w 27"/>
                <a:gd name="T37"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104">
                  <a:moveTo>
                    <a:pt x="27" y="0"/>
                  </a:moveTo>
                  <a:lnTo>
                    <a:pt x="25" y="1"/>
                  </a:lnTo>
                  <a:lnTo>
                    <a:pt x="24" y="3"/>
                  </a:lnTo>
                  <a:lnTo>
                    <a:pt x="22" y="9"/>
                  </a:lnTo>
                  <a:lnTo>
                    <a:pt x="20" y="18"/>
                  </a:lnTo>
                  <a:lnTo>
                    <a:pt x="17" y="31"/>
                  </a:lnTo>
                  <a:lnTo>
                    <a:pt x="16" y="49"/>
                  </a:lnTo>
                  <a:lnTo>
                    <a:pt x="17" y="73"/>
                  </a:lnTo>
                  <a:lnTo>
                    <a:pt x="20" y="104"/>
                  </a:lnTo>
                  <a:lnTo>
                    <a:pt x="4" y="104"/>
                  </a:lnTo>
                  <a:lnTo>
                    <a:pt x="4" y="100"/>
                  </a:lnTo>
                  <a:lnTo>
                    <a:pt x="3" y="92"/>
                  </a:lnTo>
                  <a:lnTo>
                    <a:pt x="2" y="79"/>
                  </a:lnTo>
                  <a:lnTo>
                    <a:pt x="1" y="64"/>
                  </a:lnTo>
                  <a:lnTo>
                    <a:pt x="0" y="47"/>
                  </a:lnTo>
                  <a:lnTo>
                    <a:pt x="1" y="30"/>
                  </a:lnTo>
                  <a:lnTo>
                    <a:pt x="3" y="14"/>
                  </a:lnTo>
                  <a:lnTo>
                    <a:pt x="9" y="0"/>
                  </a:lnTo>
                  <a:lnTo>
                    <a:pt x="27" y="0"/>
                  </a:lnTo>
                  <a:close/>
                </a:path>
              </a:pathLst>
            </a:custGeom>
            <a:solidFill>
              <a:srgbClr val="3F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01" name="Freeform 300"/>
            <p:cNvSpPr>
              <a:spLocks/>
            </p:cNvSpPr>
            <p:nvPr/>
          </p:nvSpPr>
          <p:spPr bwMode="auto">
            <a:xfrm>
              <a:off x="1836" y="2170"/>
              <a:ext cx="17" cy="82"/>
            </a:xfrm>
            <a:custGeom>
              <a:avLst/>
              <a:gdLst>
                <a:gd name="T0" fmla="*/ 6 w 17"/>
                <a:gd name="T1" fmla="*/ 2 h 82"/>
                <a:gd name="T2" fmla="*/ 6 w 17"/>
                <a:gd name="T3" fmla="*/ 4 h 82"/>
                <a:gd name="T4" fmla="*/ 4 w 17"/>
                <a:gd name="T5" fmla="*/ 8 h 82"/>
                <a:gd name="T6" fmla="*/ 2 w 17"/>
                <a:gd name="T7" fmla="*/ 15 h 82"/>
                <a:gd name="T8" fmla="*/ 1 w 17"/>
                <a:gd name="T9" fmla="*/ 26 h 82"/>
                <a:gd name="T10" fmla="*/ 0 w 17"/>
                <a:gd name="T11" fmla="*/ 38 h 82"/>
                <a:gd name="T12" fmla="*/ 1 w 17"/>
                <a:gd name="T13" fmla="*/ 50 h 82"/>
                <a:gd name="T14" fmla="*/ 2 w 17"/>
                <a:gd name="T15" fmla="*/ 66 h 82"/>
                <a:gd name="T16" fmla="*/ 4 w 17"/>
                <a:gd name="T17" fmla="*/ 82 h 82"/>
                <a:gd name="T18" fmla="*/ 16 w 17"/>
                <a:gd name="T19" fmla="*/ 81 h 82"/>
                <a:gd name="T20" fmla="*/ 16 w 17"/>
                <a:gd name="T21" fmla="*/ 78 h 82"/>
                <a:gd name="T22" fmla="*/ 15 w 17"/>
                <a:gd name="T23" fmla="*/ 73 h 82"/>
                <a:gd name="T24" fmla="*/ 14 w 17"/>
                <a:gd name="T25" fmla="*/ 62 h 82"/>
                <a:gd name="T26" fmla="*/ 13 w 17"/>
                <a:gd name="T27" fmla="*/ 50 h 82"/>
                <a:gd name="T28" fmla="*/ 11 w 17"/>
                <a:gd name="T29" fmla="*/ 38 h 82"/>
                <a:gd name="T30" fmla="*/ 11 w 17"/>
                <a:gd name="T31" fmla="*/ 25 h 82"/>
                <a:gd name="T32" fmla="*/ 14 w 17"/>
                <a:gd name="T33" fmla="*/ 12 h 82"/>
                <a:gd name="T34" fmla="*/ 17 w 17"/>
                <a:gd name="T35" fmla="*/ 1 h 82"/>
                <a:gd name="T36" fmla="*/ 17 w 17"/>
                <a:gd name="T37" fmla="*/ 1 h 82"/>
                <a:gd name="T38" fmla="*/ 17 w 17"/>
                <a:gd name="T39" fmla="*/ 1 h 82"/>
                <a:gd name="T40" fmla="*/ 17 w 17"/>
                <a:gd name="T41" fmla="*/ 1 h 82"/>
                <a:gd name="T42" fmla="*/ 16 w 17"/>
                <a:gd name="T43" fmla="*/ 0 h 82"/>
                <a:gd name="T44" fmla="*/ 15 w 17"/>
                <a:gd name="T45" fmla="*/ 0 h 82"/>
                <a:gd name="T46" fmla="*/ 13 w 17"/>
                <a:gd name="T47" fmla="*/ 1 h 82"/>
                <a:gd name="T48" fmla="*/ 9 w 17"/>
                <a:gd name="T49" fmla="*/ 1 h 82"/>
                <a:gd name="T50" fmla="*/ 6 w 17"/>
                <a:gd name="T51" fmla="*/ 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 h="82">
                  <a:moveTo>
                    <a:pt x="6" y="2"/>
                  </a:moveTo>
                  <a:lnTo>
                    <a:pt x="6" y="4"/>
                  </a:lnTo>
                  <a:lnTo>
                    <a:pt x="4" y="8"/>
                  </a:lnTo>
                  <a:lnTo>
                    <a:pt x="2" y="15"/>
                  </a:lnTo>
                  <a:lnTo>
                    <a:pt x="1" y="26"/>
                  </a:lnTo>
                  <a:lnTo>
                    <a:pt x="0" y="38"/>
                  </a:lnTo>
                  <a:lnTo>
                    <a:pt x="1" y="50"/>
                  </a:lnTo>
                  <a:lnTo>
                    <a:pt x="2" y="66"/>
                  </a:lnTo>
                  <a:lnTo>
                    <a:pt x="4" y="82"/>
                  </a:lnTo>
                  <a:lnTo>
                    <a:pt x="16" y="81"/>
                  </a:lnTo>
                  <a:lnTo>
                    <a:pt x="16" y="78"/>
                  </a:lnTo>
                  <a:lnTo>
                    <a:pt x="15" y="73"/>
                  </a:lnTo>
                  <a:lnTo>
                    <a:pt x="14" y="62"/>
                  </a:lnTo>
                  <a:lnTo>
                    <a:pt x="13" y="50"/>
                  </a:lnTo>
                  <a:lnTo>
                    <a:pt x="11" y="38"/>
                  </a:lnTo>
                  <a:lnTo>
                    <a:pt x="11" y="25"/>
                  </a:lnTo>
                  <a:lnTo>
                    <a:pt x="14" y="12"/>
                  </a:lnTo>
                  <a:lnTo>
                    <a:pt x="17" y="1"/>
                  </a:lnTo>
                  <a:lnTo>
                    <a:pt x="17" y="1"/>
                  </a:lnTo>
                  <a:lnTo>
                    <a:pt x="17" y="1"/>
                  </a:lnTo>
                  <a:lnTo>
                    <a:pt x="17" y="1"/>
                  </a:lnTo>
                  <a:lnTo>
                    <a:pt x="16" y="0"/>
                  </a:lnTo>
                  <a:lnTo>
                    <a:pt x="15" y="0"/>
                  </a:lnTo>
                  <a:lnTo>
                    <a:pt x="13" y="1"/>
                  </a:lnTo>
                  <a:lnTo>
                    <a:pt x="9" y="1"/>
                  </a:lnTo>
                  <a:lnTo>
                    <a:pt x="6" y="2"/>
                  </a:lnTo>
                  <a:close/>
                </a:path>
              </a:pathLst>
            </a:custGeom>
            <a:solidFill>
              <a:srgbClr val="59B2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02" name="Freeform 301"/>
            <p:cNvSpPr>
              <a:spLocks/>
            </p:cNvSpPr>
            <p:nvPr/>
          </p:nvSpPr>
          <p:spPr bwMode="auto">
            <a:xfrm>
              <a:off x="1837" y="2176"/>
              <a:ext cx="14" cy="69"/>
            </a:xfrm>
            <a:custGeom>
              <a:avLst/>
              <a:gdLst>
                <a:gd name="T0" fmla="*/ 5 w 14"/>
                <a:gd name="T1" fmla="*/ 1 h 69"/>
                <a:gd name="T2" fmla="*/ 5 w 14"/>
                <a:gd name="T3" fmla="*/ 2 h 69"/>
                <a:gd name="T4" fmla="*/ 3 w 14"/>
                <a:gd name="T5" fmla="*/ 7 h 69"/>
                <a:gd name="T6" fmla="*/ 2 w 14"/>
                <a:gd name="T7" fmla="*/ 13 h 69"/>
                <a:gd name="T8" fmla="*/ 1 w 14"/>
                <a:gd name="T9" fmla="*/ 21 h 69"/>
                <a:gd name="T10" fmla="*/ 0 w 14"/>
                <a:gd name="T11" fmla="*/ 32 h 69"/>
                <a:gd name="T12" fmla="*/ 0 w 14"/>
                <a:gd name="T13" fmla="*/ 43 h 69"/>
                <a:gd name="T14" fmla="*/ 1 w 14"/>
                <a:gd name="T15" fmla="*/ 56 h 69"/>
                <a:gd name="T16" fmla="*/ 3 w 14"/>
                <a:gd name="T17" fmla="*/ 69 h 69"/>
                <a:gd name="T18" fmla="*/ 14 w 14"/>
                <a:gd name="T19" fmla="*/ 69 h 69"/>
                <a:gd name="T20" fmla="*/ 13 w 14"/>
                <a:gd name="T21" fmla="*/ 67 h 69"/>
                <a:gd name="T22" fmla="*/ 13 w 14"/>
                <a:gd name="T23" fmla="*/ 61 h 69"/>
                <a:gd name="T24" fmla="*/ 12 w 14"/>
                <a:gd name="T25" fmla="*/ 53 h 69"/>
                <a:gd name="T26" fmla="*/ 10 w 14"/>
                <a:gd name="T27" fmla="*/ 43 h 69"/>
                <a:gd name="T28" fmla="*/ 9 w 14"/>
                <a:gd name="T29" fmla="*/ 32 h 69"/>
                <a:gd name="T30" fmla="*/ 9 w 14"/>
                <a:gd name="T31" fmla="*/ 20 h 69"/>
                <a:gd name="T32" fmla="*/ 12 w 14"/>
                <a:gd name="T33" fmla="*/ 9 h 69"/>
                <a:gd name="T34" fmla="*/ 14 w 14"/>
                <a:gd name="T35" fmla="*/ 1 h 69"/>
                <a:gd name="T36" fmla="*/ 14 w 14"/>
                <a:gd name="T37" fmla="*/ 1 h 69"/>
                <a:gd name="T38" fmla="*/ 14 w 14"/>
                <a:gd name="T39" fmla="*/ 1 h 69"/>
                <a:gd name="T40" fmla="*/ 14 w 14"/>
                <a:gd name="T41" fmla="*/ 0 h 69"/>
                <a:gd name="T42" fmla="*/ 14 w 14"/>
                <a:gd name="T43" fmla="*/ 0 h 69"/>
                <a:gd name="T44" fmla="*/ 13 w 14"/>
                <a:gd name="T45" fmla="*/ 0 h 69"/>
                <a:gd name="T46" fmla="*/ 10 w 14"/>
                <a:gd name="T47" fmla="*/ 0 h 69"/>
                <a:gd name="T48" fmla="*/ 8 w 14"/>
                <a:gd name="T49" fmla="*/ 1 h 69"/>
                <a:gd name="T50" fmla="*/ 5 w 14"/>
                <a:gd name="T51" fmla="*/ 1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 h="69">
                  <a:moveTo>
                    <a:pt x="5" y="1"/>
                  </a:moveTo>
                  <a:lnTo>
                    <a:pt x="5" y="2"/>
                  </a:lnTo>
                  <a:lnTo>
                    <a:pt x="3" y="7"/>
                  </a:lnTo>
                  <a:lnTo>
                    <a:pt x="2" y="13"/>
                  </a:lnTo>
                  <a:lnTo>
                    <a:pt x="1" y="21"/>
                  </a:lnTo>
                  <a:lnTo>
                    <a:pt x="0" y="32"/>
                  </a:lnTo>
                  <a:lnTo>
                    <a:pt x="0" y="43"/>
                  </a:lnTo>
                  <a:lnTo>
                    <a:pt x="1" y="56"/>
                  </a:lnTo>
                  <a:lnTo>
                    <a:pt x="3" y="69"/>
                  </a:lnTo>
                  <a:lnTo>
                    <a:pt x="14" y="69"/>
                  </a:lnTo>
                  <a:lnTo>
                    <a:pt x="13" y="67"/>
                  </a:lnTo>
                  <a:lnTo>
                    <a:pt x="13" y="61"/>
                  </a:lnTo>
                  <a:lnTo>
                    <a:pt x="12" y="53"/>
                  </a:lnTo>
                  <a:lnTo>
                    <a:pt x="10" y="43"/>
                  </a:lnTo>
                  <a:lnTo>
                    <a:pt x="9" y="32"/>
                  </a:lnTo>
                  <a:lnTo>
                    <a:pt x="9" y="20"/>
                  </a:lnTo>
                  <a:lnTo>
                    <a:pt x="12" y="9"/>
                  </a:lnTo>
                  <a:lnTo>
                    <a:pt x="14" y="1"/>
                  </a:lnTo>
                  <a:lnTo>
                    <a:pt x="14" y="1"/>
                  </a:lnTo>
                  <a:lnTo>
                    <a:pt x="14" y="1"/>
                  </a:lnTo>
                  <a:lnTo>
                    <a:pt x="14" y="0"/>
                  </a:lnTo>
                  <a:lnTo>
                    <a:pt x="14" y="0"/>
                  </a:lnTo>
                  <a:lnTo>
                    <a:pt x="13" y="0"/>
                  </a:lnTo>
                  <a:lnTo>
                    <a:pt x="10" y="0"/>
                  </a:lnTo>
                  <a:lnTo>
                    <a:pt x="8" y="1"/>
                  </a:lnTo>
                  <a:lnTo>
                    <a:pt x="5" y="1"/>
                  </a:lnTo>
                  <a:close/>
                </a:path>
              </a:pathLst>
            </a:custGeom>
            <a:solidFill>
              <a:srgbClr val="72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03" name="Freeform 302"/>
            <p:cNvSpPr>
              <a:spLocks/>
            </p:cNvSpPr>
            <p:nvPr/>
          </p:nvSpPr>
          <p:spPr bwMode="auto">
            <a:xfrm>
              <a:off x="1838" y="2182"/>
              <a:ext cx="12" cy="57"/>
            </a:xfrm>
            <a:custGeom>
              <a:avLst/>
              <a:gdLst>
                <a:gd name="T0" fmla="*/ 4 w 12"/>
                <a:gd name="T1" fmla="*/ 1 h 57"/>
                <a:gd name="T2" fmla="*/ 2 w 12"/>
                <a:gd name="T3" fmla="*/ 2 h 57"/>
                <a:gd name="T4" fmla="*/ 2 w 12"/>
                <a:gd name="T5" fmla="*/ 5 h 57"/>
                <a:gd name="T6" fmla="*/ 1 w 12"/>
                <a:gd name="T7" fmla="*/ 10 h 57"/>
                <a:gd name="T8" fmla="*/ 0 w 12"/>
                <a:gd name="T9" fmla="*/ 17 h 57"/>
                <a:gd name="T10" fmla="*/ 0 w 12"/>
                <a:gd name="T11" fmla="*/ 26 h 57"/>
                <a:gd name="T12" fmla="*/ 0 w 12"/>
                <a:gd name="T13" fmla="*/ 35 h 57"/>
                <a:gd name="T14" fmla="*/ 1 w 12"/>
                <a:gd name="T15" fmla="*/ 45 h 57"/>
                <a:gd name="T16" fmla="*/ 2 w 12"/>
                <a:gd name="T17" fmla="*/ 57 h 57"/>
                <a:gd name="T18" fmla="*/ 11 w 12"/>
                <a:gd name="T19" fmla="*/ 56 h 57"/>
                <a:gd name="T20" fmla="*/ 11 w 12"/>
                <a:gd name="T21" fmla="*/ 55 h 57"/>
                <a:gd name="T22" fmla="*/ 9 w 12"/>
                <a:gd name="T23" fmla="*/ 50 h 57"/>
                <a:gd name="T24" fmla="*/ 9 w 12"/>
                <a:gd name="T25" fmla="*/ 43 h 57"/>
                <a:gd name="T26" fmla="*/ 8 w 12"/>
                <a:gd name="T27" fmla="*/ 35 h 57"/>
                <a:gd name="T28" fmla="*/ 7 w 12"/>
                <a:gd name="T29" fmla="*/ 26 h 57"/>
                <a:gd name="T30" fmla="*/ 8 w 12"/>
                <a:gd name="T31" fmla="*/ 16 h 57"/>
                <a:gd name="T32" fmla="*/ 9 w 12"/>
                <a:gd name="T33" fmla="*/ 8 h 57"/>
                <a:gd name="T34" fmla="*/ 12 w 12"/>
                <a:gd name="T35" fmla="*/ 0 h 57"/>
                <a:gd name="T36" fmla="*/ 12 w 12"/>
                <a:gd name="T37" fmla="*/ 0 h 57"/>
                <a:gd name="T38" fmla="*/ 12 w 12"/>
                <a:gd name="T39" fmla="*/ 0 h 57"/>
                <a:gd name="T40" fmla="*/ 12 w 12"/>
                <a:gd name="T41" fmla="*/ 0 h 57"/>
                <a:gd name="T42" fmla="*/ 11 w 12"/>
                <a:gd name="T43" fmla="*/ 0 h 57"/>
                <a:gd name="T44" fmla="*/ 9 w 12"/>
                <a:gd name="T45" fmla="*/ 0 h 57"/>
                <a:gd name="T46" fmla="*/ 8 w 12"/>
                <a:gd name="T47" fmla="*/ 0 h 57"/>
                <a:gd name="T48" fmla="*/ 6 w 12"/>
                <a:gd name="T49" fmla="*/ 0 h 57"/>
                <a:gd name="T50" fmla="*/ 4 w 12"/>
                <a:gd name="T51" fmla="*/ 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 h="57">
                  <a:moveTo>
                    <a:pt x="4" y="1"/>
                  </a:moveTo>
                  <a:lnTo>
                    <a:pt x="2" y="2"/>
                  </a:lnTo>
                  <a:lnTo>
                    <a:pt x="2" y="5"/>
                  </a:lnTo>
                  <a:lnTo>
                    <a:pt x="1" y="10"/>
                  </a:lnTo>
                  <a:lnTo>
                    <a:pt x="0" y="17"/>
                  </a:lnTo>
                  <a:lnTo>
                    <a:pt x="0" y="26"/>
                  </a:lnTo>
                  <a:lnTo>
                    <a:pt x="0" y="35"/>
                  </a:lnTo>
                  <a:lnTo>
                    <a:pt x="1" y="45"/>
                  </a:lnTo>
                  <a:lnTo>
                    <a:pt x="2" y="57"/>
                  </a:lnTo>
                  <a:lnTo>
                    <a:pt x="11" y="56"/>
                  </a:lnTo>
                  <a:lnTo>
                    <a:pt x="11" y="55"/>
                  </a:lnTo>
                  <a:lnTo>
                    <a:pt x="9" y="50"/>
                  </a:lnTo>
                  <a:lnTo>
                    <a:pt x="9" y="43"/>
                  </a:lnTo>
                  <a:lnTo>
                    <a:pt x="8" y="35"/>
                  </a:lnTo>
                  <a:lnTo>
                    <a:pt x="7" y="26"/>
                  </a:lnTo>
                  <a:lnTo>
                    <a:pt x="8" y="16"/>
                  </a:lnTo>
                  <a:lnTo>
                    <a:pt x="9" y="8"/>
                  </a:lnTo>
                  <a:lnTo>
                    <a:pt x="12" y="0"/>
                  </a:lnTo>
                  <a:lnTo>
                    <a:pt x="12" y="0"/>
                  </a:lnTo>
                  <a:lnTo>
                    <a:pt x="12" y="0"/>
                  </a:lnTo>
                  <a:lnTo>
                    <a:pt x="12" y="0"/>
                  </a:lnTo>
                  <a:lnTo>
                    <a:pt x="11" y="0"/>
                  </a:lnTo>
                  <a:lnTo>
                    <a:pt x="9" y="0"/>
                  </a:lnTo>
                  <a:lnTo>
                    <a:pt x="8" y="0"/>
                  </a:lnTo>
                  <a:lnTo>
                    <a:pt x="6" y="0"/>
                  </a:lnTo>
                  <a:lnTo>
                    <a:pt x="4" y="1"/>
                  </a:lnTo>
                  <a:close/>
                </a:path>
              </a:pathLst>
            </a:custGeom>
            <a:solidFill>
              <a:srgbClr val="8CD8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04" name="Freeform 303"/>
            <p:cNvSpPr>
              <a:spLocks/>
            </p:cNvSpPr>
            <p:nvPr/>
          </p:nvSpPr>
          <p:spPr bwMode="auto">
            <a:xfrm>
              <a:off x="1838" y="2187"/>
              <a:ext cx="9" cy="45"/>
            </a:xfrm>
            <a:custGeom>
              <a:avLst/>
              <a:gdLst>
                <a:gd name="T0" fmla="*/ 4 w 9"/>
                <a:gd name="T1" fmla="*/ 1 h 45"/>
                <a:gd name="T2" fmla="*/ 2 w 9"/>
                <a:gd name="T3" fmla="*/ 2 h 45"/>
                <a:gd name="T4" fmla="*/ 2 w 9"/>
                <a:gd name="T5" fmla="*/ 4 h 45"/>
                <a:gd name="T6" fmla="*/ 1 w 9"/>
                <a:gd name="T7" fmla="*/ 9 h 45"/>
                <a:gd name="T8" fmla="*/ 1 w 9"/>
                <a:gd name="T9" fmla="*/ 14 h 45"/>
                <a:gd name="T10" fmla="*/ 0 w 9"/>
                <a:gd name="T11" fmla="*/ 21 h 45"/>
                <a:gd name="T12" fmla="*/ 0 w 9"/>
                <a:gd name="T13" fmla="*/ 28 h 45"/>
                <a:gd name="T14" fmla="*/ 1 w 9"/>
                <a:gd name="T15" fmla="*/ 37 h 45"/>
                <a:gd name="T16" fmla="*/ 2 w 9"/>
                <a:gd name="T17" fmla="*/ 45 h 45"/>
                <a:gd name="T18" fmla="*/ 9 w 9"/>
                <a:gd name="T19" fmla="*/ 45 h 45"/>
                <a:gd name="T20" fmla="*/ 9 w 9"/>
                <a:gd name="T21" fmla="*/ 44 h 45"/>
                <a:gd name="T22" fmla="*/ 8 w 9"/>
                <a:gd name="T23" fmla="*/ 40 h 45"/>
                <a:gd name="T24" fmla="*/ 7 w 9"/>
                <a:gd name="T25" fmla="*/ 35 h 45"/>
                <a:gd name="T26" fmla="*/ 7 w 9"/>
                <a:gd name="T27" fmla="*/ 28 h 45"/>
                <a:gd name="T28" fmla="*/ 6 w 9"/>
                <a:gd name="T29" fmla="*/ 21 h 45"/>
                <a:gd name="T30" fmla="*/ 7 w 9"/>
                <a:gd name="T31" fmla="*/ 14 h 45"/>
                <a:gd name="T32" fmla="*/ 7 w 9"/>
                <a:gd name="T33" fmla="*/ 7 h 45"/>
                <a:gd name="T34" fmla="*/ 9 w 9"/>
                <a:gd name="T35" fmla="*/ 1 h 45"/>
                <a:gd name="T36" fmla="*/ 9 w 9"/>
                <a:gd name="T37" fmla="*/ 1 h 45"/>
                <a:gd name="T38" fmla="*/ 9 w 9"/>
                <a:gd name="T39" fmla="*/ 1 h 45"/>
                <a:gd name="T40" fmla="*/ 9 w 9"/>
                <a:gd name="T41" fmla="*/ 1 h 45"/>
                <a:gd name="T42" fmla="*/ 9 w 9"/>
                <a:gd name="T43" fmla="*/ 0 h 45"/>
                <a:gd name="T44" fmla="*/ 8 w 9"/>
                <a:gd name="T45" fmla="*/ 0 h 45"/>
                <a:gd name="T46" fmla="*/ 7 w 9"/>
                <a:gd name="T47" fmla="*/ 1 h 45"/>
                <a:gd name="T48" fmla="*/ 6 w 9"/>
                <a:gd name="T49" fmla="*/ 1 h 45"/>
                <a:gd name="T50" fmla="*/ 4 w 9"/>
                <a:gd name="T51"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 h="45">
                  <a:moveTo>
                    <a:pt x="4" y="1"/>
                  </a:moveTo>
                  <a:lnTo>
                    <a:pt x="2" y="2"/>
                  </a:lnTo>
                  <a:lnTo>
                    <a:pt x="2" y="4"/>
                  </a:lnTo>
                  <a:lnTo>
                    <a:pt x="1" y="9"/>
                  </a:lnTo>
                  <a:lnTo>
                    <a:pt x="1" y="14"/>
                  </a:lnTo>
                  <a:lnTo>
                    <a:pt x="0" y="21"/>
                  </a:lnTo>
                  <a:lnTo>
                    <a:pt x="0" y="28"/>
                  </a:lnTo>
                  <a:lnTo>
                    <a:pt x="1" y="37"/>
                  </a:lnTo>
                  <a:lnTo>
                    <a:pt x="2" y="45"/>
                  </a:lnTo>
                  <a:lnTo>
                    <a:pt x="9" y="45"/>
                  </a:lnTo>
                  <a:lnTo>
                    <a:pt x="9" y="44"/>
                  </a:lnTo>
                  <a:lnTo>
                    <a:pt x="8" y="40"/>
                  </a:lnTo>
                  <a:lnTo>
                    <a:pt x="7" y="35"/>
                  </a:lnTo>
                  <a:lnTo>
                    <a:pt x="7" y="28"/>
                  </a:lnTo>
                  <a:lnTo>
                    <a:pt x="6" y="21"/>
                  </a:lnTo>
                  <a:lnTo>
                    <a:pt x="7" y="14"/>
                  </a:lnTo>
                  <a:lnTo>
                    <a:pt x="7" y="7"/>
                  </a:lnTo>
                  <a:lnTo>
                    <a:pt x="9" y="1"/>
                  </a:lnTo>
                  <a:lnTo>
                    <a:pt x="9" y="1"/>
                  </a:lnTo>
                  <a:lnTo>
                    <a:pt x="9" y="1"/>
                  </a:lnTo>
                  <a:lnTo>
                    <a:pt x="9" y="1"/>
                  </a:lnTo>
                  <a:lnTo>
                    <a:pt x="9" y="0"/>
                  </a:lnTo>
                  <a:lnTo>
                    <a:pt x="8" y="0"/>
                  </a:lnTo>
                  <a:lnTo>
                    <a:pt x="7" y="1"/>
                  </a:lnTo>
                  <a:lnTo>
                    <a:pt x="6" y="1"/>
                  </a:lnTo>
                  <a:lnTo>
                    <a:pt x="4" y="1"/>
                  </a:lnTo>
                  <a:close/>
                </a:path>
              </a:pathLst>
            </a:custGeom>
            <a:solidFill>
              <a:srgbClr val="A5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05" name="Freeform 304"/>
            <p:cNvSpPr>
              <a:spLocks/>
            </p:cNvSpPr>
            <p:nvPr/>
          </p:nvSpPr>
          <p:spPr bwMode="auto">
            <a:xfrm>
              <a:off x="1839" y="2192"/>
              <a:ext cx="7" cy="34"/>
            </a:xfrm>
            <a:custGeom>
              <a:avLst/>
              <a:gdLst>
                <a:gd name="T0" fmla="*/ 3 w 7"/>
                <a:gd name="T1" fmla="*/ 2 h 34"/>
                <a:gd name="T2" fmla="*/ 1 w 7"/>
                <a:gd name="T3" fmla="*/ 2 h 34"/>
                <a:gd name="T4" fmla="*/ 1 w 7"/>
                <a:gd name="T5" fmla="*/ 4 h 34"/>
                <a:gd name="T6" fmla="*/ 0 w 7"/>
                <a:gd name="T7" fmla="*/ 6 h 34"/>
                <a:gd name="T8" fmla="*/ 0 w 7"/>
                <a:gd name="T9" fmla="*/ 11 h 34"/>
                <a:gd name="T10" fmla="*/ 0 w 7"/>
                <a:gd name="T11" fmla="*/ 16 h 34"/>
                <a:gd name="T12" fmla="*/ 0 w 7"/>
                <a:gd name="T13" fmla="*/ 21 h 34"/>
                <a:gd name="T14" fmla="*/ 0 w 7"/>
                <a:gd name="T15" fmla="*/ 27 h 34"/>
                <a:gd name="T16" fmla="*/ 1 w 7"/>
                <a:gd name="T17" fmla="*/ 34 h 34"/>
                <a:gd name="T18" fmla="*/ 6 w 7"/>
                <a:gd name="T19" fmla="*/ 34 h 34"/>
                <a:gd name="T20" fmla="*/ 6 w 7"/>
                <a:gd name="T21" fmla="*/ 33 h 34"/>
                <a:gd name="T22" fmla="*/ 6 w 7"/>
                <a:gd name="T23" fmla="*/ 30 h 34"/>
                <a:gd name="T24" fmla="*/ 5 w 7"/>
                <a:gd name="T25" fmla="*/ 26 h 34"/>
                <a:gd name="T26" fmla="*/ 5 w 7"/>
                <a:gd name="T27" fmla="*/ 21 h 34"/>
                <a:gd name="T28" fmla="*/ 5 w 7"/>
                <a:gd name="T29" fmla="*/ 16 h 34"/>
                <a:gd name="T30" fmla="*/ 5 w 7"/>
                <a:gd name="T31" fmla="*/ 11 h 34"/>
                <a:gd name="T32" fmla="*/ 5 w 7"/>
                <a:gd name="T33" fmla="*/ 5 h 34"/>
                <a:gd name="T34" fmla="*/ 7 w 7"/>
                <a:gd name="T35" fmla="*/ 2 h 34"/>
                <a:gd name="T36" fmla="*/ 7 w 7"/>
                <a:gd name="T37" fmla="*/ 2 h 34"/>
                <a:gd name="T38" fmla="*/ 7 w 7"/>
                <a:gd name="T39" fmla="*/ 0 h 34"/>
                <a:gd name="T40" fmla="*/ 6 w 7"/>
                <a:gd name="T41" fmla="*/ 0 h 34"/>
                <a:gd name="T42" fmla="*/ 6 w 7"/>
                <a:gd name="T43" fmla="*/ 0 h 34"/>
                <a:gd name="T44" fmla="*/ 6 w 7"/>
                <a:gd name="T45" fmla="*/ 0 h 34"/>
                <a:gd name="T46" fmla="*/ 5 w 7"/>
                <a:gd name="T47" fmla="*/ 0 h 34"/>
                <a:gd name="T48" fmla="*/ 4 w 7"/>
                <a:gd name="T49" fmla="*/ 0 h 34"/>
                <a:gd name="T50" fmla="*/ 3 w 7"/>
                <a:gd name="T51" fmla="*/ 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 h="34">
                  <a:moveTo>
                    <a:pt x="3" y="2"/>
                  </a:moveTo>
                  <a:lnTo>
                    <a:pt x="1" y="2"/>
                  </a:lnTo>
                  <a:lnTo>
                    <a:pt x="1" y="4"/>
                  </a:lnTo>
                  <a:lnTo>
                    <a:pt x="0" y="6"/>
                  </a:lnTo>
                  <a:lnTo>
                    <a:pt x="0" y="11"/>
                  </a:lnTo>
                  <a:lnTo>
                    <a:pt x="0" y="16"/>
                  </a:lnTo>
                  <a:lnTo>
                    <a:pt x="0" y="21"/>
                  </a:lnTo>
                  <a:lnTo>
                    <a:pt x="0" y="27"/>
                  </a:lnTo>
                  <a:lnTo>
                    <a:pt x="1" y="34"/>
                  </a:lnTo>
                  <a:lnTo>
                    <a:pt x="6" y="34"/>
                  </a:lnTo>
                  <a:lnTo>
                    <a:pt x="6" y="33"/>
                  </a:lnTo>
                  <a:lnTo>
                    <a:pt x="6" y="30"/>
                  </a:lnTo>
                  <a:lnTo>
                    <a:pt x="5" y="26"/>
                  </a:lnTo>
                  <a:lnTo>
                    <a:pt x="5" y="21"/>
                  </a:lnTo>
                  <a:lnTo>
                    <a:pt x="5" y="16"/>
                  </a:lnTo>
                  <a:lnTo>
                    <a:pt x="5" y="11"/>
                  </a:lnTo>
                  <a:lnTo>
                    <a:pt x="5" y="5"/>
                  </a:lnTo>
                  <a:lnTo>
                    <a:pt x="7" y="2"/>
                  </a:lnTo>
                  <a:lnTo>
                    <a:pt x="7" y="2"/>
                  </a:lnTo>
                  <a:lnTo>
                    <a:pt x="7" y="0"/>
                  </a:lnTo>
                  <a:lnTo>
                    <a:pt x="6" y="0"/>
                  </a:lnTo>
                  <a:lnTo>
                    <a:pt x="6" y="0"/>
                  </a:lnTo>
                  <a:lnTo>
                    <a:pt x="6" y="0"/>
                  </a:lnTo>
                  <a:lnTo>
                    <a:pt x="5" y="0"/>
                  </a:lnTo>
                  <a:lnTo>
                    <a:pt x="4" y="0"/>
                  </a:lnTo>
                  <a:lnTo>
                    <a:pt x="3" y="2"/>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06" name="Freeform 305"/>
            <p:cNvSpPr>
              <a:spLocks/>
            </p:cNvSpPr>
            <p:nvPr/>
          </p:nvSpPr>
          <p:spPr bwMode="auto">
            <a:xfrm>
              <a:off x="1935" y="2160"/>
              <a:ext cx="23" cy="91"/>
            </a:xfrm>
            <a:custGeom>
              <a:avLst/>
              <a:gdLst>
                <a:gd name="T0" fmla="*/ 23 w 23"/>
                <a:gd name="T1" fmla="*/ 1 h 91"/>
                <a:gd name="T2" fmla="*/ 22 w 23"/>
                <a:gd name="T3" fmla="*/ 1 h 91"/>
                <a:gd name="T4" fmla="*/ 21 w 23"/>
                <a:gd name="T5" fmla="*/ 3 h 91"/>
                <a:gd name="T6" fmla="*/ 19 w 23"/>
                <a:gd name="T7" fmla="*/ 8 h 91"/>
                <a:gd name="T8" fmla="*/ 16 w 23"/>
                <a:gd name="T9" fmla="*/ 16 h 91"/>
                <a:gd name="T10" fmla="*/ 15 w 23"/>
                <a:gd name="T11" fmla="*/ 28 h 91"/>
                <a:gd name="T12" fmla="*/ 14 w 23"/>
                <a:gd name="T13" fmla="*/ 43 h 91"/>
                <a:gd name="T14" fmla="*/ 15 w 23"/>
                <a:gd name="T15" fmla="*/ 64 h 91"/>
                <a:gd name="T16" fmla="*/ 17 w 23"/>
                <a:gd name="T17" fmla="*/ 91 h 91"/>
                <a:gd name="T18" fmla="*/ 5 w 23"/>
                <a:gd name="T19" fmla="*/ 91 h 91"/>
                <a:gd name="T20" fmla="*/ 3 w 23"/>
                <a:gd name="T21" fmla="*/ 87 h 91"/>
                <a:gd name="T22" fmla="*/ 2 w 23"/>
                <a:gd name="T23" fmla="*/ 80 h 91"/>
                <a:gd name="T24" fmla="*/ 1 w 23"/>
                <a:gd name="T25" fmla="*/ 70 h 91"/>
                <a:gd name="T26" fmla="*/ 0 w 23"/>
                <a:gd name="T27" fmla="*/ 56 h 91"/>
                <a:gd name="T28" fmla="*/ 0 w 23"/>
                <a:gd name="T29" fmla="*/ 42 h 91"/>
                <a:gd name="T30" fmla="*/ 1 w 23"/>
                <a:gd name="T31" fmla="*/ 27 h 91"/>
                <a:gd name="T32" fmla="*/ 3 w 23"/>
                <a:gd name="T33" fmla="*/ 12 h 91"/>
                <a:gd name="T34" fmla="*/ 7 w 23"/>
                <a:gd name="T35" fmla="*/ 0 h 91"/>
                <a:gd name="T36" fmla="*/ 23 w 23"/>
                <a:gd name="T37" fmla="*/ 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91">
                  <a:moveTo>
                    <a:pt x="23" y="1"/>
                  </a:moveTo>
                  <a:lnTo>
                    <a:pt x="22" y="1"/>
                  </a:lnTo>
                  <a:lnTo>
                    <a:pt x="21" y="3"/>
                  </a:lnTo>
                  <a:lnTo>
                    <a:pt x="19" y="8"/>
                  </a:lnTo>
                  <a:lnTo>
                    <a:pt x="16" y="16"/>
                  </a:lnTo>
                  <a:lnTo>
                    <a:pt x="15" y="28"/>
                  </a:lnTo>
                  <a:lnTo>
                    <a:pt x="14" y="43"/>
                  </a:lnTo>
                  <a:lnTo>
                    <a:pt x="15" y="64"/>
                  </a:lnTo>
                  <a:lnTo>
                    <a:pt x="17" y="91"/>
                  </a:lnTo>
                  <a:lnTo>
                    <a:pt x="5" y="91"/>
                  </a:lnTo>
                  <a:lnTo>
                    <a:pt x="3" y="87"/>
                  </a:lnTo>
                  <a:lnTo>
                    <a:pt x="2" y="80"/>
                  </a:lnTo>
                  <a:lnTo>
                    <a:pt x="1" y="70"/>
                  </a:lnTo>
                  <a:lnTo>
                    <a:pt x="0" y="56"/>
                  </a:lnTo>
                  <a:lnTo>
                    <a:pt x="0" y="42"/>
                  </a:lnTo>
                  <a:lnTo>
                    <a:pt x="1" y="27"/>
                  </a:lnTo>
                  <a:lnTo>
                    <a:pt x="3" y="12"/>
                  </a:lnTo>
                  <a:lnTo>
                    <a:pt x="7" y="0"/>
                  </a:lnTo>
                  <a:lnTo>
                    <a:pt x="23" y="1"/>
                  </a:lnTo>
                  <a:close/>
                </a:path>
              </a:pathLst>
            </a:custGeom>
            <a:solidFill>
              <a:srgbClr val="59B2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07" name="Freeform 306"/>
            <p:cNvSpPr>
              <a:spLocks/>
            </p:cNvSpPr>
            <p:nvPr/>
          </p:nvSpPr>
          <p:spPr bwMode="auto">
            <a:xfrm>
              <a:off x="1936" y="2167"/>
              <a:ext cx="19" cy="77"/>
            </a:xfrm>
            <a:custGeom>
              <a:avLst/>
              <a:gdLst>
                <a:gd name="T0" fmla="*/ 19 w 19"/>
                <a:gd name="T1" fmla="*/ 0 h 77"/>
                <a:gd name="T2" fmla="*/ 19 w 19"/>
                <a:gd name="T3" fmla="*/ 1 h 77"/>
                <a:gd name="T4" fmla="*/ 18 w 19"/>
                <a:gd name="T5" fmla="*/ 2 h 77"/>
                <a:gd name="T6" fmla="*/ 16 w 19"/>
                <a:gd name="T7" fmla="*/ 7 h 77"/>
                <a:gd name="T8" fmla="*/ 14 w 19"/>
                <a:gd name="T9" fmla="*/ 12 h 77"/>
                <a:gd name="T10" fmla="*/ 13 w 19"/>
                <a:gd name="T11" fmla="*/ 23 h 77"/>
                <a:gd name="T12" fmla="*/ 12 w 19"/>
                <a:gd name="T13" fmla="*/ 36 h 77"/>
                <a:gd name="T14" fmla="*/ 13 w 19"/>
                <a:gd name="T15" fmla="*/ 53 h 77"/>
                <a:gd name="T16" fmla="*/ 14 w 19"/>
                <a:gd name="T17" fmla="*/ 77 h 77"/>
                <a:gd name="T18" fmla="*/ 4 w 19"/>
                <a:gd name="T19" fmla="*/ 77 h 77"/>
                <a:gd name="T20" fmla="*/ 4 w 19"/>
                <a:gd name="T21" fmla="*/ 74 h 77"/>
                <a:gd name="T22" fmla="*/ 2 w 19"/>
                <a:gd name="T23" fmla="*/ 69 h 77"/>
                <a:gd name="T24" fmla="*/ 1 w 19"/>
                <a:gd name="T25" fmla="*/ 59 h 77"/>
                <a:gd name="T26" fmla="*/ 0 w 19"/>
                <a:gd name="T27" fmla="*/ 48 h 77"/>
                <a:gd name="T28" fmla="*/ 0 w 19"/>
                <a:gd name="T29" fmla="*/ 35 h 77"/>
                <a:gd name="T30" fmla="*/ 0 w 19"/>
                <a:gd name="T31" fmla="*/ 22 h 77"/>
                <a:gd name="T32" fmla="*/ 2 w 19"/>
                <a:gd name="T33" fmla="*/ 10 h 77"/>
                <a:gd name="T34" fmla="*/ 6 w 19"/>
                <a:gd name="T35" fmla="*/ 0 h 77"/>
                <a:gd name="T36" fmla="*/ 19 w 19"/>
                <a:gd name="T3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 h="77">
                  <a:moveTo>
                    <a:pt x="19" y="0"/>
                  </a:moveTo>
                  <a:lnTo>
                    <a:pt x="19" y="1"/>
                  </a:lnTo>
                  <a:lnTo>
                    <a:pt x="18" y="2"/>
                  </a:lnTo>
                  <a:lnTo>
                    <a:pt x="16" y="7"/>
                  </a:lnTo>
                  <a:lnTo>
                    <a:pt x="14" y="12"/>
                  </a:lnTo>
                  <a:lnTo>
                    <a:pt x="13" y="23"/>
                  </a:lnTo>
                  <a:lnTo>
                    <a:pt x="12" y="36"/>
                  </a:lnTo>
                  <a:lnTo>
                    <a:pt x="13" y="53"/>
                  </a:lnTo>
                  <a:lnTo>
                    <a:pt x="14" y="77"/>
                  </a:lnTo>
                  <a:lnTo>
                    <a:pt x="4" y="77"/>
                  </a:lnTo>
                  <a:lnTo>
                    <a:pt x="4" y="74"/>
                  </a:lnTo>
                  <a:lnTo>
                    <a:pt x="2" y="69"/>
                  </a:lnTo>
                  <a:lnTo>
                    <a:pt x="1" y="59"/>
                  </a:lnTo>
                  <a:lnTo>
                    <a:pt x="0" y="48"/>
                  </a:lnTo>
                  <a:lnTo>
                    <a:pt x="0" y="35"/>
                  </a:lnTo>
                  <a:lnTo>
                    <a:pt x="0" y="22"/>
                  </a:lnTo>
                  <a:lnTo>
                    <a:pt x="2" y="10"/>
                  </a:lnTo>
                  <a:lnTo>
                    <a:pt x="6" y="0"/>
                  </a:lnTo>
                  <a:lnTo>
                    <a:pt x="19" y="0"/>
                  </a:lnTo>
                  <a:close/>
                </a:path>
              </a:pathLst>
            </a:custGeom>
            <a:solidFill>
              <a:srgbClr val="72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08" name="Freeform 307"/>
            <p:cNvSpPr>
              <a:spLocks/>
            </p:cNvSpPr>
            <p:nvPr/>
          </p:nvSpPr>
          <p:spPr bwMode="auto">
            <a:xfrm>
              <a:off x="1937" y="2172"/>
              <a:ext cx="15" cy="65"/>
            </a:xfrm>
            <a:custGeom>
              <a:avLst/>
              <a:gdLst>
                <a:gd name="T0" fmla="*/ 15 w 15"/>
                <a:gd name="T1" fmla="*/ 0 h 65"/>
                <a:gd name="T2" fmla="*/ 15 w 15"/>
                <a:gd name="T3" fmla="*/ 2 h 65"/>
                <a:gd name="T4" fmla="*/ 14 w 15"/>
                <a:gd name="T5" fmla="*/ 3 h 65"/>
                <a:gd name="T6" fmla="*/ 13 w 15"/>
                <a:gd name="T7" fmla="*/ 6 h 65"/>
                <a:gd name="T8" fmla="*/ 12 w 15"/>
                <a:gd name="T9" fmla="*/ 12 h 65"/>
                <a:gd name="T10" fmla="*/ 11 w 15"/>
                <a:gd name="T11" fmla="*/ 20 h 65"/>
                <a:gd name="T12" fmla="*/ 10 w 15"/>
                <a:gd name="T13" fmla="*/ 31 h 65"/>
                <a:gd name="T14" fmla="*/ 11 w 15"/>
                <a:gd name="T15" fmla="*/ 46 h 65"/>
                <a:gd name="T16" fmla="*/ 12 w 15"/>
                <a:gd name="T17" fmla="*/ 65 h 65"/>
                <a:gd name="T18" fmla="*/ 3 w 15"/>
                <a:gd name="T19" fmla="*/ 65 h 65"/>
                <a:gd name="T20" fmla="*/ 3 w 15"/>
                <a:gd name="T21" fmla="*/ 62 h 65"/>
                <a:gd name="T22" fmla="*/ 1 w 15"/>
                <a:gd name="T23" fmla="*/ 58 h 65"/>
                <a:gd name="T24" fmla="*/ 0 w 15"/>
                <a:gd name="T25" fmla="*/ 50 h 65"/>
                <a:gd name="T26" fmla="*/ 0 w 15"/>
                <a:gd name="T27" fmla="*/ 40 h 65"/>
                <a:gd name="T28" fmla="*/ 0 w 15"/>
                <a:gd name="T29" fmla="*/ 30 h 65"/>
                <a:gd name="T30" fmla="*/ 0 w 15"/>
                <a:gd name="T31" fmla="*/ 19 h 65"/>
                <a:gd name="T32" fmla="*/ 1 w 15"/>
                <a:gd name="T33" fmla="*/ 9 h 65"/>
                <a:gd name="T34" fmla="*/ 5 w 15"/>
                <a:gd name="T35" fmla="*/ 0 h 65"/>
                <a:gd name="T36" fmla="*/ 15 w 15"/>
                <a:gd name="T37"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 h="65">
                  <a:moveTo>
                    <a:pt x="15" y="0"/>
                  </a:moveTo>
                  <a:lnTo>
                    <a:pt x="15" y="2"/>
                  </a:lnTo>
                  <a:lnTo>
                    <a:pt x="14" y="3"/>
                  </a:lnTo>
                  <a:lnTo>
                    <a:pt x="13" y="6"/>
                  </a:lnTo>
                  <a:lnTo>
                    <a:pt x="12" y="12"/>
                  </a:lnTo>
                  <a:lnTo>
                    <a:pt x="11" y="20"/>
                  </a:lnTo>
                  <a:lnTo>
                    <a:pt x="10" y="31"/>
                  </a:lnTo>
                  <a:lnTo>
                    <a:pt x="11" y="46"/>
                  </a:lnTo>
                  <a:lnTo>
                    <a:pt x="12" y="65"/>
                  </a:lnTo>
                  <a:lnTo>
                    <a:pt x="3" y="65"/>
                  </a:lnTo>
                  <a:lnTo>
                    <a:pt x="3" y="62"/>
                  </a:lnTo>
                  <a:lnTo>
                    <a:pt x="1" y="58"/>
                  </a:lnTo>
                  <a:lnTo>
                    <a:pt x="0" y="50"/>
                  </a:lnTo>
                  <a:lnTo>
                    <a:pt x="0" y="40"/>
                  </a:lnTo>
                  <a:lnTo>
                    <a:pt x="0" y="30"/>
                  </a:lnTo>
                  <a:lnTo>
                    <a:pt x="0" y="19"/>
                  </a:lnTo>
                  <a:lnTo>
                    <a:pt x="1" y="9"/>
                  </a:lnTo>
                  <a:lnTo>
                    <a:pt x="5" y="0"/>
                  </a:lnTo>
                  <a:lnTo>
                    <a:pt x="15" y="0"/>
                  </a:lnTo>
                  <a:close/>
                </a:path>
              </a:pathLst>
            </a:custGeom>
            <a:solidFill>
              <a:srgbClr val="8CD8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09" name="Freeform 308"/>
            <p:cNvSpPr>
              <a:spLocks/>
            </p:cNvSpPr>
            <p:nvPr/>
          </p:nvSpPr>
          <p:spPr bwMode="auto">
            <a:xfrm>
              <a:off x="1937" y="2178"/>
              <a:ext cx="13" cy="52"/>
            </a:xfrm>
            <a:custGeom>
              <a:avLst/>
              <a:gdLst>
                <a:gd name="T0" fmla="*/ 13 w 13"/>
                <a:gd name="T1" fmla="*/ 1 h 52"/>
                <a:gd name="T2" fmla="*/ 13 w 13"/>
                <a:gd name="T3" fmla="*/ 1 h 52"/>
                <a:gd name="T4" fmla="*/ 12 w 13"/>
                <a:gd name="T5" fmla="*/ 3 h 52"/>
                <a:gd name="T6" fmla="*/ 11 w 13"/>
                <a:gd name="T7" fmla="*/ 5 h 52"/>
                <a:gd name="T8" fmla="*/ 10 w 13"/>
                <a:gd name="T9" fmla="*/ 10 h 52"/>
                <a:gd name="T10" fmla="*/ 10 w 13"/>
                <a:gd name="T11" fmla="*/ 17 h 52"/>
                <a:gd name="T12" fmla="*/ 8 w 13"/>
                <a:gd name="T13" fmla="*/ 25 h 52"/>
                <a:gd name="T14" fmla="*/ 8 w 13"/>
                <a:gd name="T15" fmla="*/ 37 h 52"/>
                <a:gd name="T16" fmla="*/ 10 w 13"/>
                <a:gd name="T17" fmla="*/ 52 h 52"/>
                <a:gd name="T18" fmla="*/ 3 w 13"/>
                <a:gd name="T19" fmla="*/ 52 h 52"/>
                <a:gd name="T20" fmla="*/ 3 w 13"/>
                <a:gd name="T21" fmla="*/ 51 h 52"/>
                <a:gd name="T22" fmla="*/ 3 w 13"/>
                <a:gd name="T23" fmla="*/ 46 h 52"/>
                <a:gd name="T24" fmla="*/ 1 w 13"/>
                <a:gd name="T25" fmla="*/ 40 h 52"/>
                <a:gd name="T26" fmla="*/ 1 w 13"/>
                <a:gd name="T27" fmla="*/ 32 h 52"/>
                <a:gd name="T28" fmla="*/ 0 w 13"/>
                <a:gd name="T29" fmla="*/ 24 h 52"/>
                <a:gd name="T30" fmla="*/ 1 w 13"/>
                <a:gd name="T31" fmla="*/ 16 h 52"/>
                <a:gd name="T32" fmla="*/ 3 w 13"/>
                <a:gd name="T33" fmla="*/ 7 h 52"/>
                <a:gd name="T34" fmla="*/ 5 w 13"/>
                <a:gd name="T35" fmla="*/ 0 h 52"/>
                <a:gd name="T36" fmla="*/ 13 w 13"/>
                <a:gd name="T37" fmla="*/ 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 h="52">
                  <a:moveTo>
                    <a:pt x="13" y="1"/>
                  </a:moveTo>
                  <a:lnTo>
                    <a:pt x="13" y="1"/>
                  </a:lnTo>
                  <a:lnTo>
                    <a:pt x="12" y="3"/>
                  </a:lnTo>
                  <a:lnTo>
                    <a:pt x="11" y="5"/>
                  </a:lnTo>
                  <a:lnTo>
                    <a:pt x="10" y="10"/>
                  </a:lnTo>
                  <a:lnTo>
                    <a:pt x="10" y="17"/>
                  </a:lnTo>
                  <a:lnTo>
                    <a:pt x="8" y="25"/>
                  </a:lnTo>
                  <a:lnTo>
                    <a:pt x="8" y="37"/>
                  </a:lnTo>
                  <a:lnTo>
                    <a:pt x="10" y="52"/>
                  </a:lnTo>
                  <a:lnTo>
                    <a:pt x="3" y="52"/>
                  </a:lnTo>
                  <a:lnTo>
                    <a:pt x="3" y="51"/>
                  </a:lnTo>
                  <a:lnTo>
                    <a:pt x="3" y="46"/>
                  </a:lnTo>
                  <a:lnTo>
                    <a:pt x="1" y="40"/>
                  </a:lnTo>
                  <a:lnTo>
                    <a:pt x="1" y="32"/>
                  </a:lnTo>
                  <a:lnTo>
                    <a:pt x="0" y="24"/>
                  </a:lnTo>
                  <a:lnTo>
                    <a:pt x="1" y="16"/>
                  </a:lnTo>
                  <a:lnTo>
                    <a:pt x="3" y="7"/>
                  </a:lnTo>
                  <a:lnTo>
                    <a:pt x="5" y="0"/>
                  </a:lnTo>
                  <a:lnTo>
                    <a:pt x="13" y="1"/>
                  </a:lnTo>
                  <a:close/>
                </a:path>
              </a:pathLst>
            </a:custGeom>
            <a:solidFill>
              <a:srgbClr val="A5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10" name="Freeform 309"/>
            <p:cNvSpPr>
              <a:spLocks/>
            </p:cNvSpPr>
            <p:nvPr/>
          </p:nvSpPr>
          <p:spPr bwMode="auto">
            <a:xfrm>
              <a:off x="1938" y="2185"/>
              <a:ext cx="10" cy="38"/>
            </a:xfrm>
            <a:custGeom>
              <a:avLst/>
              <a:gdLst>
                <a:gd name="T0" fmla="*/ 10 w 10"/>
                <a:gd name="T1" fmla="*/ 0 h 38"/>
                <a:gd name="T2" fmla="*/ 10 w 10"/>
                <a:gd name="T3" fmla="*/ 0 h 38"/>
                <a:gd name="T4" fmla="*/ 9 w 10"/>
                <a:gd name="T5" fmla="*/ 2 h 38"/>
                <a:gd name="T6" fmla="*/ 9 w 10"/>
                <a:gd name="T7" fmla="*/ 4 h 38"/>
                <a:gd name="T8" fmla="*/ 7 w 10"/>
                <a:gd name="T9" fmla="*/ 6 h 38"/>
                <a:gd name="T10" fmla="*/ 6 w 10"/>
                <a:gd name="T11" fmla="*/ 11 h 38"/>
                <a:gd name="T12" fmla="*/ 6 w 10"/>
                <a:gd name="T13" fmla="*/ 18 h 38"/>
                <a:gd name="T14" fmla="*/ 6 w 10"/>
                <a:gd name="T15" fmla="*/ 26 h 38"/>
                <a:gd name="T16" fmla="*/ 7 w 10"/>
                <a:gd name="T17" fmla="*/ 38 h 38"/>
                <a:gd name="T18" fmla="*/ 3 w 10"/>
                <a:gd name="T19" fmla="*/ 38 h 38"/>
                <a:gd name="T20" fmla="*/ 2 w 10"/>
                <a:gd name="T21" fmla="*/ 37 h 38"/>
                <a:gd name="T22" fmla="*/ 2 w 10"/>
                <a:gd name="T23" fmla="*/ 33 h 38"/>
                <a:gd name="T24" fmla="*/ 2 w 10"/>
                <a:gd name="T25" fmla="*/ 28 h 38"/>
                <a:gd name="T26" fmla="*/ 0 w 10"/>
                <a:gd name="T27" fmla="*/ 24 h 38"/>
                <a:gd name="T28" fmla="*/ 0 w 10"/>
                <a:gd name="T29" fmla="*/ 17 h 38"/>
                <a:gd name="T30" fmla="*/ 0 w 10"/>
                <a:gd name="T31" fmla="*/ 11 h 38"/>
                <a:gd name="T32" fmla="*/ 2 w 10"/>
                <a:gd name="T33" fmla="*/ 5 h 38"/>
                <a:gd name="T34" fmla="*/ 4 w 10"/>
                <a:gd name="T35" fmla="*/ 0 h 38"/>
                <a:gd name="T36" fmla="*/ 10 w 10"/>
                <a:gd name="T3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38">
                  <a:moveTo>
                    <a:pt x="10" y="0"/>
                  </a:moveTo>
                  <a:lnTo>
                    <a:pt x="10" y="0"/>
                  </a:lnTo>
                  <a:lnTo>
                    <a:pt x="9" y="2"/>
                  </a:lnTo>
                  <a:lnTo>
                    <a:pt x="9" y="4"/>
                  </a:lnTo>
                  <a:lnTo>
                    <a:pt x="7" y="6"/>
                  </a:lnTo>
                  <a:lnTo>
                    <a:pt x="6" y="11"/>
                  </a:lnTo>
                  <a:lnTo>
                    <a:pt x="6" y="18"/>
                  </a:lnTo>
                  <a:lnTo>
                    <a:pt x="6" y="26"/>
                  </a:lnTo>
                  <a:lnTo>
                    <a:pt x="7" y="38"/>
                  </a:lnTo>
                  <a:lnTo>
                    <a:pt x="3" y="38"/>
                  </a:lnTo>
                  <a:lnTo>
                    <a:pt x="2" y="37"/>
                  </a:lnTo>
                  <a:lnTo>
                    <a:pt x="2" y="33"/>
                  </a:lnTo>
                  <a:lnTo>
                    <a:pt x="2" y="28"/>
                  </a:lnTo>
                  <a:lnTo>
                    <a:pt x="0" y="24"/>
                  </a:lnTo>
                  <a:lnTo>
                    <a:pt x="0" y="17"/>
                  </a:lnTo>
                  <a:lnTo>
                    <a:pt x="0" y="11"/>
                  </a:lnTo>
                  <a:lnTo>
                    <a:pt x="2" y="5"/>
                  </a:lnTo>
                  <a:lnTo>
                    <a:pt x="4" y="0"/>
                  </a:lnTo>
                  <a:lnTo>
                    <a:pt x="10" y="0"/>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11" name="Freeform 310"/>
            <p:cNvSpPr>
              <a:spLocks/>
            </p:cNvSpPr>
            <p:nvPr/>
          </p:nvSpPr>
          <p:spPr bwMode="auto">
            <a:xfrm>
              <a:off x="1858" y="2174"/>
              <a:ext cx="45" cy="55"/>
            </a:xfrm>
            <a:custGeom>
              <a:avLst/>
              <a:gdLst>
                <a:gd name="T0" fmla="*/ 3 w 45"/>
                <a:gd name="T1" fmla="*/ 5 h 55"/>
                <a:gd name="T2" fmla="*/ 3 w 45"/>
                <a:gd name="T3" fmla="*/ 7 h 55"/>
                <a:gd name="T4" fmla="*/ 2 w 45"/>
                <a:gd name="T5" fmla="*/ 9 h 55"/>
                <a:gd name="T6" fmla="*/ 1 w 45"/>
                <a:gd name="T7" fmla="*/ 14 h 55"/>
                <a:gd name="T8" fmla="*/ 0 w 45"/>
                <a:gd name="T9" fmla="*/ 21 h 55"/>
                <a:gd name="T10" fmla="*/ 0 w 45"/>
                <a:gd name="T11" fmla="*/ 28 h 55"/>
                <a:gd name="T12" fmla="*/ 0 w 45"/>
                <a:gd name="T13" fmla="*/ 36 h 55"/>
                <a:gd name="T14" fmla="*/ 0 w 45"/>
                <a:gd name="T15" fmla="*/ 45 h 55"/>
                <a:gd name="T16" fmla="*/ 2 w 45"/>
                <a:gd name="T17" fmla="*/ 55 h 55"/>
                <a:gd name="T18" fmla="*/ 2 w 45"/>
                <a:gd name="T19" fmla="*/ 55 h 55"/>
                <a:gd name="T20" fmla="*/ 2 w 45"/>
                <a:gd name="T21" fmla="*/ 53 h 55"/>
                <a:gd name="T22" fmla="*/ 2 w 45"/>
                <a:gd name="T23" fmla="*/ 51 h 55"/>
                <a:gd name="T24" fmla="*/ 2 w 45"/>
                <a:gd name="T25" fmla="*/ 49 h 55"/>
                <a:gd name="T26" fmla="*/ 2 w 45"/>
                <a:gd name="T27" fmla="*/ 45 h 55"/>
                <a:gd name="T28" fmla="*/ 3 w 45"/>
                <a:gd name="T29" fmla="*/ 43 h 55"/>
                <a:gd name="T30" fmla="*/ 3 w 45"/>
                <a:gd name="T31" fmla="*/ 38 h 55"/>
                <a:gd name="T32" fmla="*/ 5 w 45"/>
                <a:gd name="T33" fmla="*/ 35 h 55"/>
                <a:gd name="T34" fmla="*/ 6 w 45"/>
                <a:gd name="T35" fmla="*/ 31 h 55"/>
                <a:gd name="T36" fmla="*/ 7 w 45"/>
                <a:gd name="T37" fmla="*/ 28 h 55"/>
                <a:gd name="T38" fmla="*/ 8 w 45"/>
                <a:gd name="T39" fmla="*/ 24 h 55"/>
                <a:gd name="T40" fmla="*/ 10 w 45"/>
                <a:gd name="T41" fmla="*/ 21 h 55"/>
                <a:gd name="T42" fmla="*/ 14 w 45"/>
                <a:gd name="T43" fmla="*/ 18 h 55"/>
                <a:gd name="T44" fmla="*/ 16 w 45"/>
                <a:gd name="T45" fmla="*/ 16 h 55"/>
                <a:gd name="T46" fmla="*/ 21 w 45"/>
                <a:gd name="T47" fmla="*/ 15 h 55"/>
                <a:gd name="T48" fmla="*/ 26 w 45"/>
                <a:gd name="T49" fmla="*/ 14 h 55"/>
                <a:gd name="T50" fmla="*/ 26 w 45"/>
                <a:gd name="T51" fmla="*/ 13 h 55"/>
                <a:gd name="T52" fmla="*/ 26 w 45"/>
                <a:gd name="T53" fmla="*/ 13 h 55"/>
                <a:gd name="T54" fmla="*/ 28 w 45"/>
                <a:gd name="T55" fmla="*/ 11 h 55"/>
                <a:gd name="T56" fmla="*/ 29 w 45"/>
                <a:gd name="T57" fmla="*/ 10 h 55"/>
                <a:gd name="T58" fmla="*/ 33 w 45"/>
                <a:gd name="T59" fmla="*/ 9 h 55"/>
                <a:gd name="T60" fmla="*/ 36 w 45"/>
                <a:gd name="T61" fmla="*/ 7 h 55"/>
                <a:gd name="T62" fmla="*/ 41 w 45"/>
                <a:gd name="T63" fmla="*/ 4 h 55"/>
                <a:gd name="T64" fmla="*/ 45 w 45"/>
                <a:gd name="T65" fmla="*/ 2 h 55"/>
                <a:gd name="T66" fmla="*/ 45 w 45"/>
                <a:gd name="T67" fmla="*/ 2 h 55"/>
                <a:gd name="T68" fmla="*/ 44 w 45"/>
                <a:gd name="T69" fmla="*/ 2 h 55"/>
                <a:gd name="T70" fmla="*/ 43 w 45"/>
                <a:gd name="T71" fmla="*/ 2 h 55"/>
                <a:gd name="T72" fmla="*/ 42 w 45"/>
                <a:gd name="T73" fmla="*/ 2 h 55"/>
                <a:gd name="T74" fmla="*/ 40 w 45"/>
                <a:gd name="T75" fmla="*/ 1 h 55"/>
                <a:gd name="T76" fmla="*/ 37 w 45"/>
                <a:gd name="T77" fmla="*/ 1 h 55"/>
                <a:gd name="T78" fmla="*/ 35 w 45"/>
                <a:gd name="T79" fmla="*/ 1 h 55"/>
                <a:gd name="T80" fmla="*/ 31 w 45"/>
                <a:gd name="T81" fmla="*/ 1 h 55"/>
                <a:gd name="T82" fmla="*/ 28 w 45"/>
                <a:gd name="T83" fmla="*/ 0 h 55"/>
                <a:gd name="T84" fmla="*/ 26 w 45"/>
                <a:gd name="T85" fmla="*/ 1 h 55"/>
                <a:gd name="T86" fmla="*/ 22 w 45"/>
                <a:gd name="T87" fmla="*/ 1 h 55"/>
                <a:gd name="T88" fmla="*/ 19 w 45"/>
                <a:gd name="T89" fmla="*/ 1 h 55"/>
                <a:gd name="T90" fmla="*/ 14 w 45"/>
                <a:gd name="T91" fmla="*/ 2 h 55"/>
                <a:gd name="T92" fmla="*/ 10 w 45"/>
                <a:gd name="T93" fmla="*/ 2 h 55"/>
                <a:gd name="T94" fmla="*/ 7 w 45"/>
                <a:gd name="T95" fmla="*/ 3 h 55"/>
                <a:gd name="T96" fmla="*/ 3 w 45"/>
                <a:gd name="T97" fmla="*/ 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5" h="55">
                  <a:moveTo>
                    <a:pt x="3" y="5"/>
                  </a:moveTo>
                  <a:lnTo>
                    <a:pt x="3" y="7"/>
                  </a:lnTo>
                  <a:lnTo>
                    <a:pt x="2" y="9"/>
                  </a:lnTo>
                  <a:lnTo>
                    <a:pt x="1" y="14"/>
                  </a:lnTo>
                  <a:lnTo>
                    <a:pt x="0" y="21"/>
                  </a:lnTo>
                  <a:lnTo>
                    <a:pt x="0" y="28"/>
                  </a:lnTo>
                  <a:lnTo>
                    <a:pt x="0" y="36"/>
                  </a:lnTo>
                  <a:lnTo>
                    <a:pt x="0" y="45"/>
                  </a:lnTo>
                  <a:lnTo>
                    <a:pt x="2" y="55"/>
                  </a:lnTo>
                  <a:lnTo>
                    <a:pt x="2" y="55"/>
                  </a:lnTo>
                  <a:lnTo>
                    <a:pt x="2" y="53"/>
                  </a:lnTo>
                  <a:lnTo>
                    <a:pt x="2" y="51"/>
                  </a:lnTo>
                  <a:lnTo>
                    <a:pt x="2" y="49"/>
                  </a:lnTo>
                  <a:lnTo>
                    <a:pt x="2" y="45"/>
                  </a:lnTo>
                  <a:lnTo>
                    <a:pt x="3" y="43"/>
                  </a:lnTo>
                  <a:lnTo>
                    <a:pt x="3" y="38"/>
                  </a:lnTo>
                  <a:lnTo>
                    <a:pt x="5" y="35"/>
                  </a:lnTo>
                  <a:lnTo>
                    <a:pt x="6" y="31"/>
                  </a:lnTo>
                  <a:lnTo>
                    <a:pt x="7" y="28"/>
                  </a:lnTo>
                  <a:lnTo>
                    <a:pt x="8" y="24"/>
                  </a:lnTo>
                  <a:lnTo>
                    <a:pt x="10" y="21"/>
                  </a:lnTo>
                  <a:lnTo>
                    <a:pt x="14" y="18"/>
                  </a:lnTo>
                  <a:lnTo>
                    <a:pt x="16" y="16"/>
                  </a:lnTo>
                  <a:lnTo>
                    <a:pt x="21" y="15"/>
                  </a:lnTo>
                  <a:lnTo>
                    <a:pt x="26" y="14"/>
                  </a:lnTo>
                  <a:lnTo>
                    <a:pt x="26" y="13"/>
                  </a:lnTo>
                  <a:lnTo>
                    <a:pt x="26" y="13"/>
                  </a:lnTo>
                  <a:lnTo>
                    <a:pt x="28" y="11"/>
                  </a:lnTo>
                  <a:lnTo>
                    <a:pt x="29" y="10"/>
                  </a:lnTo>
                  <a:lnTo>
                    <a:pt x="33" y="9"/>
                  </a:lnTo>
                  <a:lnTo>
                    <a:pt x="36" y="7"/>
                  </a:lnTo>
                  <a:lnTo>
                    <a:pt x="41" y="4"/>
                  </a:lnTo>
                  <a:lnTo>
                    <a:pt x="45" y="2"/>
                  </a:lnTo>
                  <a:lnTo>
                    <a:pt x="45" y="2"/>
                  </a:lnTo>
                  <a:lnTo>
                    <a:pt x="44" y="2"/>
                  </a:lnTo>
                  <a:lnTo>
                    <a:pt x="43" y="2"/>
                  </a:lnTo>
                  <a:lnTo>
                    <a:pt x="42" y="2"/>
                  </a:lnTo>
                  <a:lnTo>
                    <a:pt x="40" y="1"/>
                  </a:lnTo>
                  <a:lnTo>
                    <a:pt x="37" y="1"/>
                  </a:lnTo>
                  <a:lnTo>
                    <a:pt x="35" y="1"/>
                  </a:lnTo>
                  <a:lnTo>
                    <a:pt x="31" y="1"/>
                  </a:lnTo>
                  <a:lnTo>
                    <a:pt x="28" y="0"/>
                  </a:lnTo>
                  <a:lnTo>
                    <a:pt x="26" y="1"/>
                  </a:lnTo>
                  <a:lnTo>
                    <a:pt x="22" y="1"/>
                  </a:lnTo>
                  <a:lnTo>
                    <a:pt x="19" y="1"/>
                  </a:lnTo>
                  <a:lnTo>
                    <a:pt x="14" y="2"/>
                  </a:lnTo>
                  <a:lnTo>
                    <a:pt x="10" y="2"/>
                  </a:lnTo>
                  <a:lnTo>
                    <a:pt x="7" y="3"/>
                  </a:lnTo>
                  <a:lnTo>
                    <a:pt x="3" y="5"/>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12" name="Freeform 311"/>
            <p:cNvSpPr>
              <a:spLocks/>
            </p:cNvSpPr>
            <p:nvPr/>
          </p:nvSpPr>
          <p:spPr bwMode="auto">
            <a:xfrm>
              <a:off x="1794" y="2215"/>
              <a:ext cx="37" cy="10"/>
            </a:xfrm>
            <a:custGeom>
              <a:avLst/>
              <a:gdLst>
                <a:gd name="T0" fmla="*/ 0 w 37"/>
                <a:gd name="T1" fmla="*/ 7 h 10"/>
                <a:gd name="T2" fmla="*/ 0 w 37"/>
                <a:gd name="T3" fmla="*/ 7 h 10"/>
                <a:gd name="T4" fmla="*/ 0 w 37"/>
                <a:gd name="T5" fmla="*/ 5 h 10"/>
                <a:gd name="T6" fmla="*/ 1 w 37"/>
                <a:gd name="T7" fmla="*/ 5 h 10"/>
                <a:gd name="T8" fmla="*/ 1 w 37"/>
                <a:gd name="T9" fmla="*/ 4 h 10"/>
                <a:gd name="T10" fmla="*/ 2 w 37"/>
                <a:gd name="T11" fmla="*/ 3 h 10"/>
                <a:gd name="T12" fmla="*/ 3 w 37"/>
                <a:gd name="T13" fmla="*/ 3 h 10"/>
                <a:gd name="T14" fmla="*/ 4 w 37"/>
                <a:gd name="T15" fmla="*/ 2 h 10"/>
                <a:gd name="T16" fmla="*/ 7 w 37"/>
                <a:gd name="T17" fmla="*/ 1 h 10"/>
                <a:gd name="T18" fmla="*/ 9 w 37"/>
                <a:gd name="T19" fmla="*/ 1 h 10"/>
                <a:gd name="T20" fmla="*/ 11 w 37"/>
                <a:gd name="T21" fmla="*/ 0 h 10"/>
                <a:gd name="T22" fmla="*/ 15 w 37"/>
                <a:gd name="T23" fmla="*/ 0 h 10"/>
                <a:gd name="T24" fmla="*/ 18 w 37"/>
                <a:gd name="T25" fmla="*/ 0 h 10"/>
                <a:gd name="T26" fmla="*/ 22 w 37"/>
                <a:gd name="T27" fmla="*/ 0 h 10"/>
                <a:gd name="T28" fmla="*/ 27 w 37"/>
                <a:gd name="T29" fmla="*/ 1 h 10"/>
                <a:gd name="T30" fmla="*/ 31 w 37"/>
                <a:gd name="T31" fmla="*/ 2 h 10"/>
                <a:gd name="T32" fmla="*/ 37 w 37"/>
                <a:gd name="T33" fmla="*/ 3 h 10"/>
                <a:gd name="T34" fmla="*/ 37 w 37"/>
                <a:gd name="T35" fmla="*/ 5 h 10"/>
                <a:gd name="T36" fmla="*/ 36 w 37"/>
                <a:gd name="T37" fmla="*/ 5 h 10"/>
                <a:gd name="T38" fmla="*/ 36 w 37"/>
                <a:gd name="T39" fmla="*/ 5 h 10"/>
                <a:gd name="T40" fmla="*/ 34 w 37"/>
                <a:gd name="T41" fmla="*/ 4 h 10"/>
                <a:gd name="T42" fmla="*/ 32 w 37"/>
                <a:gd name="T43" fmla="*/ 4 h 10"/>
                <a:gd name="T44" fmla="*/ 30 w 37"/>
                <a:gd name="T45" fmla="*/ 3 h 10"/>
                <a:gd name="T46" fmla="*/ 28 w 37"/>
                <a:gd name="T47" fmla="*/ 3 h 10"/>
                <a:gd name="T48" fmla="*/ 24 w 37"/>
                <a:gd name="T49" fmla="*/ 3 h 10"/>
                <a:gd name="T50" fmla="*/ 22 w 37"/>
                <a:gd name="T51" fmla="*/ 2 h 10"/>
                <a:gd name="T52" fmla="*/ 18 w 37"/>
                <a:gd name="T53" fmla="*/ 2 h 10"/>
                <a:gd name="T54" fmla="*/ 15 w 37"/>
                <a:gd name="T55" fmla="*/ 2 h 10"/>
                <a:gd name="T56" fmla="*/ 13 w 37"/>
                <a:gd name="T57" fmla="*/ 3 h 10"/>
                <a:gd name="T58" fmla="*/ 9 w 37"/>
                <a:gd name="T59" fmla="*/ 3 h 10"/>
                <a:gd name="T60" fmla="*/ 7 w 37"/>
                <a:gd name="T61" fmla="*/ 4 h 10"/>
                <a:gd name="T62" fmla="*/ 4 w 37"/>
                <a:gd name="T63" fmla="*/ 5 h 10"/>
                <a:gd name="T64" fmla="*/ 2 w 37"/>
                <a:gd name="T65" fmla="*/ 8 h 10"/>
                <a:gd name="T66" fmla="*/ 0 w 37"/>
                <a:gd name="T67" fmla="*/ 10 h 10"/>
                <a:gd name="T68" fmla="*/ 0 w 37"/>
                <a:gd name="T69"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7" h="10">
                  <a:moveTo>
                    <a:pt x="0" y="7"/>
                  </a:moveTo>
                  <a:lnTo>
                    <a:pt x="0" y="7"/>
                  </a:lnTo>
                  <a:lnTo>
                    <a:pt x="0" y="5"/>
                  </a:lnTo>
                  <a:lnTo>
                    <a:pt x="1" y="5"/>
                  </a:lnTo>
                  <a:lnTo>
                    <a:pt x="1" y="4"/>
                  </a:lnTo>
                  <a:lnTo>
                    <a:pt x="2" y="3"/>
                  </a:lnTo>
                  <a:lnTo>
                    <a:pt x="3" y="3"/>
                  </a:lnTo>
                  <a:lnTo>
                    <a:pt x="4" y="2"/>
                  </a:lnTo>
                  <a:lnTo>
                    <a:pt x="7" y="1"/>
                  </a:lnTo>
                  <a:lnTo>
                    <a:pt x="9" y="1"/>
                  </a:lnTo>
                  <a:lnTo>
                    <a:pt x="11" y="0"/>
                  </a:lnTo>
                  <a:lnTo>
                    <a:pt x="15" y="0"/>
                  </a:lnTo>
                  <a:lnTo>
                    <a:pt x="18" y="0"/>
                  </a:lnTo>
                  <a:lnTo>
                    <a:pt x="22" y="0"/>
                  </a:lnTo>
                  <a:lnTo>
                    <a:pt x="27" y="1"/>
                  </a:lnTo>
                  <a:lnTo>
                    <a:pt x="31" y="2"/>
                  </a:lnTo>
                  <a:lnTo>
                    <a:pt x="37" y="3"/>
                  </a:lnTo>
                  <a:lnTo>
                    <a:pt x="37" y="5"/>
                  </a:lnTo>
                  <a:lnTo>
                    <a:pt x="36" y="5"/>
                  </a:lnTo>
                  <a:lnTo>
                    <a:pt x="36" y="5"/>
                  </a:lnTo>
                  <a:lnTo>
                    <a:pt x="34" y="4"/>
                  </a:lnTo>
                  <a:lnTo>
                    <a:pt x="32" y="4"/>
                  </a:lnTo>
                  <a:lnTo>
                    <a:pt x="30" y="3"/>
                  </a:lnTo>
                  <a:lnTo>
                    <a:pt x="28" y="3"/>
                  </a:lnTo>
                  <a:lnTo>
                    <a:pt x="24" y="3"/>
                  </a:lnTo>
                  <a:lnTo>
                    <a:pt x="22" y="2"/>
                  </a:lnTo>
                  <a:lnTo>
                    <a:pt x="18" y="2"/>
                  </a:lnTo>
                  <a:lnTo>
                    <a:pt x="15" y="2"/>
                  </a:lnTo>
                  <a:lnTo>
                    <a:pt x="13" y="3"/>
                  </a:lnTo>
                  <a:lnTo>
                    <a:pt x="9" y="3"/>
                  </a:lnTo>
                  <a:lnTo>
                    <a:pt x="7" y="4"/>
                  </a:lnTo>
                  <a:lnTo>
                    <a:pt x="4" y="5"/>
                  </a:lnTo>
                  <a:lnTo>
                    <a:pt x="2" y="8"/>
                  </a:lnTo>
                  <a:lnTo>
                    <a:pt x="0" y="10"/>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13" name="Freeform 312"/>
            <p:cNvSpPr>
              <a:spLocks/>
            </p:cNvSpPr>
            <p:nvPr/>
          </p:nvSpPr>
          <p:spPr bwMode="auto">
            <a:xfrm>
              <a:off x="1794" y="2190"/>
              <a:ext cx="37" cy="11"/>
            </a:xfrm>
            <a:custGeom>
              <a:avLst/>
              <a:gdLst>
                <a:gd name="T0" fmla="*/ 0 w 37"/>
                <a:gd name="T1" fmla="*/ 7 h 11"/>
                <a:gd name="T2" fmla="*/ 0 w 37"/>
                <a:gd name="T3" fmla="*/ 7 h 11"/>
                <a:gd name="T4" fmla="*/ 0 w 37"/>
                <a:gd name="T5" fmla="*/ 6 h 11"/>
                <a:gd name="T6" fmla="*/ 1 w 37"/>
                <a:gd name="T7" fmla="*/ 6 h 11"/>
                <a:gd name="T8" fmla="*/ 1 w 37"/>
                <a:gd name="T9" fmla="*/ 5 h 11"/>
                <a:gd name="T10" fmla="*/ 2 w 37"/>
                <a:gd name="T11" fmla="*/ 4 h 11"/>
                <a:gd name="T12" fmla="*/ 3 w 37"/>
                <a:gd name="T13" fmla="*/ 4 h 11"/>
                <a:gd name="T14" fmla="*/ 4 w 37"/>
                <a:gd name="T15" fmla="*/ 2 h 11"/>
                <a:gd name="T16" fmla="*/ 7 w 37"/>
                <a:gd name="T17" fmla="*/ 1 h 11"/>
                <a:gd name="T18" fmla="*/ 9 w 37"/>
                <a:gd name="T19" fmla="*/ 1 h 11"/>
                <a:gd name="T20" fmla="*/ 11 w 37"/>
                <a:gd name="T21" fmla="*/ 0 h 11"/>
                <a:gd name="T22" fmla="*/ 15 w 37"/>
                <a:gd name="T23" fmla="*/ 0 h 11"/>
                <a:gd name="T24" fmla="*/ 18 w 37"/>
                <a:gd name="T25" fmla="*/ 0 h 11"/>
                <a:gd name="T26" fmla="*/ 22 w 37"/>
                <a:gd name="T27" fmla="*/ 0 h 11"/>
                <a:gd name="T28" fmla="*/ 27 w 37"/>
                <a:gd name="T29" fmla="*/ 1 h 11"/>
                <a:gd name="T30" fmla="*/ 31 w 37"/>
                <a:gd name="T31" fmla="*/ 2 h 11"/>
                <a:gd name="T32" fmla="*/ 37 w 37"/>
                <a:gd name="T33" fmla="*/ 4 h 11"/>
                <a:gd name="T34" fmla="*/ 37 w 37"/>
                <a:gd name="T35" fmla="*/ 6 h 11"/>
                <a:gd name="T36" fmla="*/ 36 w 37"/>
                <a:gd name="T37" fmla="*/ 6 h 11"/>
                <a:gd name="T38" fmla="*/ 36 w 37"/>
                <a:gd name="T39" fmla="*/ 6 h 11"/>
                <a:gd name="T40" fmla="*/ 34 w 37"/>
                <a:gd name="T41" fmla="*/ 5 h 11"/>
                <a:gd name="T42" fmla="*/ 32 w 37"/>
                <a:gd name="T43" fmla="*/ 5 h 11"/>
                <a:gd name="T44" fmla="*/ 30 w 37"/>
                <a:gd name="T45" fmla="*/ 5 h 11"/>
                <a:gd name="T46" fmla="*/ 28 w 37"/>
                <a:gd name="T47" fmla="*/ 4 h 11"/>
                <a:gd name="T48" fmla="*/ 24 w 37"/>
                <a:gd name="T49" fmla="*/ 4 h 11"/>
                <a:gd name="T50" fmla="*/ 22 w 37"/>
                <a:gd name="T51" fmla="*/ 2 h 11"/>
                <a:gd name="T52" fmla="*/ 18 w 37"/>
                <a:gd name="T53" fmla="*/ 2 h 11"/>
                <a:gd name="T54" fmla="*/ 15 w 37"/>
                <a:gd name="T55" fmla="*/ 2 h 11"/>
                <a:gd name="T56" fmla="*/ 13 w 37"/>
                <a:gd name="T57" fmla="*/ 4 h 11"/>
                <a:gd name="T58" fmla="*/ 9 w 37"/>
                <a:gd name="T59" fmla="*/ 4 h 11"/>
                <a:gd name="T60" fmla="*/ 7 w 37"/>
                <a:gd name="T61" fmla="*/ 5 h 11"/>
                <a:gd name="T62" fmla="*/ 4 w 37"/>
                <a:gd name="T63" fmla="*/ 6 h 11"/>
                <a:gd name="T64" fmla="*/ 2 w 37"/>
                <a:gd name="T65" fmla="*/ 8 h 11"/>
                <a:gd name="T66" fmla="*/ 0 w 37"/>
                <a:gd name="T67" fmla="*/ 11 h 11"/>
                <a:gd name="T68" fmla="*/ 0 w 37"/>
                <a:gd name="T69"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7" h="11">
                  <a:moveTo>
                    <a:pt x="0" y="7"/>
                  </a:moveTo>
                  <a:lnTo>
                    <a:pt x="0" y="7"/>
                  </a:lnTo>
                  <a:lnTo>
                    <a:pt x="0" y="6"/>
                  </a:lnTo>
                  <a:lnTo>
                    <a:pt x="1" y="6"/>
                  </a:lnTo>
                  <a:lnTo>
                    <a:pt x="1" y="5"/>
                  </a:lnTo>
                  <a:lnTo>
                    <a:pt x="2" y="4"/>
                  </a:lnTo>
                  <a:lnTo>
                    <a:pt x="3" y="4"/>
                  </a:lnTo>
                  <a:lnTo>
                    <a:pt x="4" y="2"/>
                  </a:lnTo>
                  <a:lnTo>
                    <a:pt x="7" y="1"/>
                  </a:lnTo>
                  <a:lnTo>
                    <a:pt x="9" y="1"/>
                  </a:lnTo>
                  <a:lnTo>
                    <a:pt x="11" y="0"/>
                  </a:lnTo>
                  <a:lnTo>
                    <a:pt x="15" y="0"/>
                  </a:lnTo>
                  <a:lnTo>
                    <a:pt x="18" y="0"/>
                  </a:lnTo>
                  <a:lnTo>
                    <a:pt x="22" y="0"/>
                  </a:lnTo>
                  <a:lnTo>
                    <a:pt x="27" y="1"/>
                  </a:lnTo>
                  <a:lnTo>
                    <a:pt x="31" y="2"/>
                  </a:lnTo>
                  <a:lnTo>
                    <a:pt x="37" y="4"/>
                  </a:lnTo>
                  <a:lnTo>
                    <a:pt x="37" y="6"/>
                  </a:lnTo>
                  <a:lnTo>
                    <a:pt x="36" y="6"/>
                  </a:lnTo>
                  <a:lnTo>
                    <a:pt x="36" y="6"/>
                  </a:lnTo>
                  <a:lnTo>
                    <a:pt x="34" y="5"/>
                  </a:lnTo>
                  <a:lnTo>
                    <a:pt x="32" y="5"/>
                  </a:lnTo>
                  <a:lnTo>
                    <a:pt x="30" y="5"/>
                  </a:lnTo>
                  <a:lnTo>
                    <a:pt x="28" y="4"/>
                  </a:lnTo>
                  <a:lnTo>
                    <a:pt x="24" y="4"/>
                  </a:lnTo>
                  <a:lnTo>
                    <a:pt x="22" y="2"/>
                  </a:lnTo>
                  <a:lnTo>
                    <a:pt x="18" y="2"/>
                  </a:lnTo>
                  <a:lnTo>
                    <a:pt x="15" y="2"/>
                  </a:lnTo>
                  <a:lnTo>
                    <a:pt x="13" y="4"/>
                  </a:lnTo>
                  <a:lnTo>
                    <a:pt x="9" y="4"/>
                  </a:lnTo>
                  <a:lnTo>
                    <a:pt x="7" y="5"/>
                  </a:lnTo>
                  <a:lnTo>
                    <a:pt x="4" y="6"/>
                  </a:lnTo>
                  <a:lnTo>
                    <a:pt x="2" y="8"/>
                  </a:lnTo>
                  <a:lnTo>
                    <a:pt x="0" y="11"/>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14" name="Freeform 313"/>
            <p:cNvSpPr>
              <a:spLocks/>
            </p:cNvSpPr>
            <p:nvPr/>
          </p:nvSpPr>
          <p:spPr bwMode="auto">
            <a:xfrm>
              <a:off x="1829" y="2178"/>
              <a:ext cx="60" cy="114"/>
            </a:xfrm>
            <a:custGeom>
              <a:avLst/>
              <a:gdLst>
                <a:gd name="T0" fmla="*/ 0 w 60"/>
                <a:gd name="T1" fmla="*/ 0 h 114"/>
                <a:gd name="T2" fmla="*/ 0 w 60"/>
                <a:gd name="T3" fmla="*/ 110 h 114"/>
                <a:gd name="T4" fmla="*/ 18 w 60"/>
                <a:gd name="T5" fmla="*/ 114 h 114"/>
                <a:gd name="T6" fmla="*/ 17 w 60"/>
                <a:gd name="T7" fmla="*/ 98 h 114"/>
                <a:gd name="T8" fmla="*/ 60 w 60"/>
                <a:gd name="T9" fmla="*/ 105 h 114"/>
                <a:gd name="T10" fmla="*/ 60 w 60"/>
                <a:gd name="T11" fmla="*/ 100 h 114"/>
                <a:gd name="T12" fmla="*/ 30 w 60"/>
                <a:gd name="T13" fmla="*/ 96 h 114"/>
                <a:gd name="T14" fmla="*/ 29 w 60"/>
                <a:gd name="T15" fmla="*/ 83 h 114"/>
                <a:gd name="T16" fmla="*/ 9 w 60"/>
                <a:gd name="T17" fmla="*/ 83 h 114"/>
                <a:gd name="T18" fmla="*/ 8 w 60"/>
                <a:gd name="T19" fmla="*/ 81 h 114"/>
                <a:gd name="T20" fmla="*/ 7 w 60"/>
                <a:gd name="T21" fmla="*/ 76 h 114"/>
                <a:gd name="T22" fmla="*/ 6 w 60"/>
                <a:gd name="T23" fmla="*/ 69 h 114"/>
                <a:gd name="T24" fmla="*/ 3 w 60"/>
                <a:gd name="T25" fmla="*/ 60 h 114"/>
                <a:gd name="T26" fmla="*/ 2 w 60"/>
                <a:gd name="T27" fmla="*/ 48 h 114"/>
                <a:gd name="T28" fmla="*/ 1 w 60"/>
                <a:gd name="T29" fmla="*/ 34 h 114"/>
                <a:gd name="T30" fmla="*/ 2 w 60"/>
                <a:gd name="T31" fmla="*/ 20 h 114"/>
                <a:gd name="T32" fmla="*/ 6 w 60"/>
                <a:gd name="T33" fmla="*/ 4 h 114"/>
                <a:gd name="T34" fmla="*/ 0 w 60"/>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0" h="114">
                  <a:moveTo>
                    <a:pt x="0" y="0"/>
                  </a:moveTo>
                  <a:lnTo>
                    <a:pt x="0" y="110"/>
                  </a:lnTo>
                  <a:lnTo>
                    <a:pt x="18" y="114"/>
                  </a:lnTo>
                  <a:lnTo>
                    <a:pt x="17" y="98"/>
                  </a:lnTo>
                  <a:lnTo>
                    <a:pt x="60" y="105"/>
                  </a:lnTo>
                  <a:lnTo>
                    <a:pt x="60" y="100"/>
                  </a:lnTo>
                  <a:lnTo>
                    <a:pt x="30" y="96"/>
                  </a:lnTo>
                  <a:lnTo>
                    <a:pt x="29" y="83"/>
                  </a:lnTo>
                  <a:lnTo>
                    <a:pt x="9" y="83"/>
                  </a:lnTo>
                  <a:lnTo>
                    <a:pt x="8" y="81"/>
                  </a:lnTo>
                  <a:lnTo>
                    <a:pt x="7" y="76"/>
                  </a:lnTo>
                  <a:lnTo>
                    <a:pt x="6" y="69"/>
                  </a:lnTo>
                  <a:lnTo>
                    <a:pt x="3" y="60"/>
                  </a:lnTo>
                  <a:lnTo>
                    <a:pt x="2" y="48"/>
                  </a:lnTo>
                  <a:lnTo>
                    <a:pt x="1" y="34"/>
                  </a:lnTo>
                  <a:lnTo>
                    <a:pt x="2" y="20"/>
                  </a:lnTo>
                  <a:lnTo>
                    <a:pt x="6" y="4"/>
                  </a:lnTo>
                  <a:lnTo>
                    <a:pt x="0" y="0"/>
                  </a:lnTo>
                  <a:close/>
                </a:path>
              </a:pathLst>
            </a:custGeom>
            <a:solidFill>
              <a:srgbClr val="00199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15" name="Freeform 314"/>
            <p:cNvSpPr>
              <a:spLocks/>
            </p:cNvSpPr>
            <p:nvPr/>
          </p:nvSpPr>
          <p:spPr bwMode="auto">
            <a:xfrm>
              <a:off x="1859" y="2153"/>
              <a:ext cx="78" cy="15"/>
            </a:xfrm>
            <a:custGeom>
              <a:avLst/>
              <a:gdLst>
                <a:gd name="T0" fmla="*/ 0 w 78"/>
                <a:gd name="T1" fmla="*/ 15 h 15"/>
                <a:gd name="T2" fmla="*/ 0 w 78"/>
                <a:gd name="T3" fmla="*/ 15 h 15"/>
                <a:gd name="T4" fmla="*/ 2 w 78"/>
                <a:gd name="T5" fmla="*/ 14 h 15"/>
                <a:gd name="T6" fmla="*/ 4 w 78"/>
                <a:gd name="T7" fmla="*/ 14 h 15"/>
                <a:gd name="T8" fmla="*/ 7 w 78"/>
                <a:gd name="T9" fmla="*/ 12 h 15"/>
                <a:gd name="T10" fmla="*/ 11 w 78"/>
                <a:gd name="T11" fmla="*/ 11 h 15"/>
                <a:gd name="T12" fmla="*/ 14 w 78"/>
                <a:gd name="T13" fmla="*/ 10 h 15"/>
                <a:gd name="T14" fmla="*/ 19 w 78"/>
                <a:gd name="T15" fmla="*/ 9 h 15"/>
                <a:gd name="T16" fmla="*/ 23 w 78"/>
                <a:gd name="T17" fmla="*/ 8 h 15"/>
                <a:gd name="T18" fmla="*/ 29 w 78"/>
                <a:gd name="T19" fmla="*/ 8 h 15"/>
                <a:gd name="T20" fmla="*/ 35 w 78"/>
                <a:gd name="T21" fmla="*/ 7 h 15"/>
                <a:gd name="T22" fmla="*/ 42 w 78"/>
                <a:gd name="T23" fmla="*/ 7 h 15"/>
                <a:gd name="T24" fmla="*/ 48 w 78"/>
                <a:gd name="T25" fmla="*/ 5 h 15"/>
                <a:gd name="T26" fmla="*/ 55 w 78"/>
                <a:gd name="T27" fmla="*/ 7 h 15"/>
                <a:gd name="T28" fmla="*/ 62 w 78"/>
                <a:gd name="T29" fmla="*/ 7 h 15"/>
                <a:gd name="T30" fmla="*/ 69 w 78"/>
                <a:gd name="T31" fmla="*/ 8 h 15"/>
                <a:gd name="T32" fmla="*/ 76 w 78"/>
                <a:gd name="T33" fmla="*/ 9 h 15"/>
                <a:gd name="T34" fmla="*/ 78 w 78"/>
                <a:gd name="T35" fmla="*/ 0 h 15"/>
                <a:gd name="T36" fmla="*/ 78 w 78"/>
                <a:gd name="T37" fmla="*/ 0 h 15"/>
                <a:gd name="T38" fmla="*/ 76 w 78"/>
                <a:gd name="T39" fmla="*/ 0 h 15"/>
                <a:gd name="T40" fmla="*/ 74 w 78"/>
                <a:gd name="T41" fmla="*/ 0 h 15"/>
                <a:gd name="T42" fmla="*/ 70 w 78"/>
                <a:gd name="T43" fmla="*/ 0 h 15"/>
                <a:gd name="T44" fmla="*/ 65 w 78"/>
                <a:gd name="T45" fmla="*/ 0 h 15"/>
                <a:gd name="T46" fmla="*/ 61 w 78"/>
                <a:gd name="T47" fmla="*/ 0 h 15"/>
                <a:gd name="T48" fmla="*/ 56 w 78"/>
                <a:gd name="T49" fmla="*/ 0 h 15"/>
                <a:gd name="T50" fmla="*/ 50 w 78"/>
                <a:gd name="T51" fmla="*/ 1 h 15"/>
                <a:gd name="T52" fmla="*/ 43 w 78"/>
                <a:gd name="T53" fmla="*/ 1 h 15"/>
                <a:gd name="T54" fmla="*/ 37 w 78"/>
                <a:gd name="T55" fmla="*/ 1 h 15"/>
                <a:gd name="T56" fmla="*/ 30 w 78"/>
                <a:gd name="T57" fmla="*/ 2 h 15"/>
                <a:gd name="T58" fmla="*/ 25 w 78"/>
                <a:gd name="T59" fmla="*/ 3 h 15"/>
                <a:gd name="T60" fmla="*/ 18 w 78"/>
                <a:gd name="T61" fmla="*/ 4 h 15"/>
                <a:gd name="T62" fmla="*/ 12 w 78"/>
                <a:gd name="T63" fmla="*/ 5 h 15"/>
                <a:gd name="T64" fmla="*/ 6 w 78"/>
                <a:gd name="T65" fmla="*/ 7 h 15"/>
                <a:gd name="T66" fmla="*/ 0 w 78"/>
                <a:gd name="T67" fmla="*/ 8 h 15"/>
                <a:gd name="T68" fmla="*/ 0 w 78"/>
                <a:gd name="T6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8" h="15">
                  <a:moveTo>
                    <a:pt x="0" y="15"/>
                  </a:moveTo>
                  <a:lnTo>
                    <a:pt x="0" y="15"/>
                  </a:lnTo>
                  <a:lnTo>
                    <a:pt x="2" y="14"/>
                  </a:lnTo>
                  <a:lnTo>
                    <a:pt x="4" y="14"/>
                  </a:lnTo>
                  <a:lnTo>
                    <a:pt x="7" y="12"/>
                  </a:lnTo>
                  <a:lnTo>
                    <a:pt x="11" y="11"/>
                  </a:lnTo>
                  <a:lnTo>
                    <a:pt x="14" y="10"/>
                  </a:lnTo>
                  <a:lnTo>
                    <a:pt x="19" y="9"/>
                  </a:lnTo>
                  <a:lnTo>
                    <a:pt x="23" y="8"/>
                  </a:lnTo>
                  <a:lnTo>
                    <a:pt x="29" y="8"/>
                  </a:lnTo>
                  <a:lnTo>
                    <a:pt x="35" y="7"/>
                  </a:lnTo>
                  <a:lnTo>
                    <a:pt x="42" y="7"/>
                  </a:lnTo>
                  <a:lnTo>
                    <a:pt x="48" y="5"/>
                  </a:lnTo>
                  <a:lnTo>
                    <a:pt x="55" y="7"/>
                  </a:lnTo>
                  <a:lnTo>
                    <a:pt x="62" y="7"/>
                  </a:lnTo>
                  <a:lnTo>
                    <a:pt x="69" y="8"/>
                  </a:lnTo>
                  <a:lnTo>
                    <a:pt x="76" y="9"/>
                  </a:lnTo>
                  <a:lnTo>
                    <a:pt x="78" y="0"/>
                  </a:lnTo>
                  <a:lnTo>
                    <a:pt x="78" y="0"/>
                  </a:lnTo>
                  <a:lnTo>
                    <a:pt x="76" y="0"/>
                  </a:lnTo>
                  <a:lnTo>
                    <a:pt x="74" y="0"/>
                  </a:lnTo>
                  <a:lnTo>
                    <a:pt x="70" y="0"/>
                  </a:lnTo>
                  <a:lnTo>
                    <a:pt x="65" y="0"/>
                  </a:lnTo>
                  <a:lnTo>
                    <a:pt x="61" y="0"/>
                  </a:lnTo>
                  <a:lnTo>
                    <a:pt x="56" y="0"/>
                  </a:lnTo>
                  <a:lnTo>
                    <a:pt x="50" y="1"/>
                  </a:lnTo>
                  <a:lnTo>
                    <a:pt x="43" y="1"/>
                  </a:lnTo>
                  <a:lnTo>
                    <a:pt x="37" y="1"/>
                  </a:lnTo>
                  <a:lnTo>
                    <a:pt x="30" y="2"/>
                  </a:lnTo>
                  <a:lnTo>
                    <a:pt x="25" y="3"/>
                  </a:lnTo>
                  <a:lnTo>
                    <a:pt x="18" y="4"/>
                  </a:lnTo>
                  <a:lnTo>
                    <a:pt x="12" y="5"/>
                  </a:lnTo>
                  <a:lnTo>
                    <a:pt x="6" y="7"/>
                  </a:lnTo>
                  <a:lnTo>
                    <a:pt x="0" y="8"/>
                  </a:lnTo>
                  <a:lnTo>
                    <a:pt x="0" y="15"/>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16" name="Freeform 315"/>
            <p:cNvSpPr>
              <a:spLocks/>
            </p:cNvSpPr>
            <p:nvPr/>
          </p:nvSpPr>
          <p:spPr bwMode="auto">
            <a:xfrm>
              <a:off x="1814" y="2294"/>
              <a:ext cx="131" cy="44"/>
            </a:xfrm>
            <a:custGeom>
              <a:avLst/>
              <a:gdLst>
                <a:gd name="T0" fmla="*/ 54 w 131"/>
                <a:gd name="T1" fmla="*/ 43 h 44"/>
                <a:gd name="T2" fmla="*/ 56 w 131"/>
                <a:gd name="T3" fmla="*/ 42 h 44"/>
                <a:gd name="T4" fmla="*/ 56 w 131"/>
                <a:gd name="T5" fmla="*/ 42 h 44"/>
                <a:gd name="T6" fmla="*/ 57 w 131"/>
                <a:gd name="T7" fmla="*/ 42 h 44"/>
                <a:gd name="T8" fmla="*/ 59 w 131"/>
                <a:gd name="T9" fmla="*/ 41 h 44"/>
                <a:gd name="T10" fmla="*/ 60 w 131"/>
                <a:gd name="T11" fmla="*/ 41 h 44"/>
                <a:gd name="T12" fmla="*/ 63 w 131"/>
                <a:gd name="T13" fmla="*/ 40 h 44"/>
                <a:gd name="T14" fmla="*/ 65 w 131"/>
                <a:gd name="T15" fmla="*/ 39 h 44"/>
                <a:gd name="T16" fmla="*/ 67 w 131"/>
                <a:gd name="T17" fmla="*/ 37 h 44"/>
                <a:gd name="T18" fmla="*/ 71 w 131"/>
                <a:gd name="T19" fmla="*/ 36 h 44"/>
                <a:gd name="T20" fmla="*/ 73 w 131"/>
                <a:gd name="T21" fmla="*/ 34 h 44"/>
                <a:gd name="T22" fmla="*/ 75 w 131"/>
                <a:gd name="T23" fmla="*/ 33 h 44"/>
                <a:gd name="T24" fmla="*/ 78 w 131"/>
                <a:gd name="T25" fmla="*/ 30 h 44"/>
                <a:gd name="T26" fmla="*/ 80 w 131"/>
                <a:gd name="T27" fmla="*/ 29 h 44"/>
                <a:gd name="T28" fmla="*/ 81 w 131"/>
                <a:gd name="T29" fmla="*/ 27 h 44"/>
                <a:gd name="T30" fmla="*/ 84 w 131"/>
                <a:gd name="T31" fmla="*/ 26 h 44"/>
                <a:gd name="T32" fmla="*/ 85 w 131"/>
                <a:gd name="T33" fmla="*/ 23 h 44"/>
                <a:gd name="T34" fmla="*/ 0 w 131"/>
                <a:gd name="T35" fmla="*/ 2 h 44"/>
                <a:gd name="T36" fmla="*/ 5 w 131"/>
                <a:gd name="T37" fmla="*/ 0 h 44"/>
                <a:gd name="T38" fmla="*/ 131 w 131"/>
                <a:gd name="T39" fmla="*/ 32 h 44"/>
                <a:gd name="T40" fmla="*/ 126 w 131"/>
                <a:gd name="T41" fmla="*/ 34 h 44"/>
                <a:gd name="T42" fmla="*/ 89 w 131"/>
                <a:gd name="T43" fmla="*/ 25 h 44"/>
                <a:gd name="T44" fmla="*/ 89 w 131"/>
                <a:gd name="T45" fmla="*/ 25 h 44"/>
                <a:gd name="T46" fmla="*/ 89 w 131"/>
                <a:gd name="T47" fmla="*/ 26 h 44"/>
                <a:gd name="T48" fmla="*/ 88 w 131"/>
                <a:gd name="T49" fmla="*/ 26 h 44"/>
                <a:gd name="T50" fmla="*/ 88 w 131"/>
                <a:gd name="T51" fmla="*/ 27 h 44"/>
                <a:gd name="T52" fmla="*/ 87 w 131"/>
                <a:gd name="T53" fmla="*/ 28 h 44"/>
                <a:gd name="T54" fmla="*/ 86 w 131"/>
                <a:gd name="T55" fmla="*/ 29 h 44"/>
                <a:gd name="T56" fmla="*/ 85 w 131"/>
                <a:gd name="T57" fmla="*/ 30 h 44"/>
                <a:gd name="T58" fmla="*/ 82 w 131"/>
                <a:gd name="T59" fmla="*/ 32 h 44"/>
                <a:gd name="T60" fmla="*/ 80 w 131"/>
                <a:gd name="T61" fmla="*/ 33 h 44"/>
                <a:gd name="T62" fmla="*/ 78 w 131"/>
                <a:gd name="T63" fmla="*/ 34 h 44"/>
                <a:gd name="T64" fmla="*/ 75 w 131"/>
                <a:gd name="T65" fmla="*/ 36 h 44"/>
                <a:gd name="T66" fmla="*/ 72 w 131"/>
                <a:gd name="T67" fmla="*/ 37 h 44"/>
                <a:gd name="T68" fmla="*/ 70 w 131"/>
                <a:gd name="T69" fmla="*/ 40 h 44"/>
                <a:gd name="T70" fmla="*/ 65 w 131"/>
                <a:gd name="T71" fmla="*/ 41 h 44"/>
                <a:gd name="T72" fmla="*/ 61 w 131"/>
                <a:gd name="T73" fmla="*/ 42 h 44"/>
                <a:gd name="T74" fmla="*/ 57 w 131"/>
                <a:gd name="T75" fmla="*/ 44 h 44"/>
                <a:gd name="T76" fmla="*/ 54 w 131"/>
                <a:gd name="T7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1" h="44">
                  <a:moveTo>
                    <a:pt x="54" y="43"/>
                  </a:moveTo>
                  <a:lnTo>
                    <a:pt x="56" y="42"/>
                  </a:lnTo>
                  <a:lnTo>
                    <a:pt x="56" y="42"/>
                  </a:lnTo>
                  <a:lnTo>
                    <a:pt x="57" y="42"/>
                  </a:lnTo>
                  <a:lnTo>
                    <a:pt x="59" y="41"/>
                  </a:lnTo>
                  <a:lnTo>
                    <a:pt x="60" y="41"/>
                  </a:lnTo>
                  <a:lnTo>
                    <a:pt x="63" y="40"/>
                  </a:lnTo>
                  <a:lnTo>
                    <a:pt x="65" y="39"/>
                  </a:lnTo>
                  <a:lnTo>
                    <a:pt x="67" y="37"/>
                  </a:lnTo>
                  <a:lnTo>
                    <a:pt x="71" y="36"/>
                  </a:lnTo>
                  <a:lnTo>
                    <a:pt x="73" y="34"/>
                  </a:lnTo>
                  <a:lnTo>
                    <a:pt x="75" y="33"/>
                  </a:lnTo>
                  <a:lnTo>
                    <a:pt x="78" y="30"/>
                  </a:lnTo>
                  <a:lnTo>
                    <a:pt x="80" y="29"/>
                  </a:lnTo>
                  <a:lnTo>
                    <a:pt x="81" y="27"/>
                  </a:lnTo>
                  <a:lnTo>
                    <a:pt x="84" y="26"/>
                  </a:lnTo>
                  <a:lnTo>
                    <a:pt x="85" y="23"/>
                  </a:lnTo>
                  <a:lnTo>
                    <a:pt x="0" y="2"/>
                  </a:lnTo>
                  <a:lnTo>
                    <a:pt x="5" y="0"/>
                  </a:lnTo>
                  <a:lnTo>
                    <a:pt x="131" y="32"/>
                  </a:lnTo>
                  <a:lnTo>
                    <a:pt x="126" y="34"/>
                  </a:lnTo>
                  <a:lnTo>
                    <a:pt x="89" y="25"/>
                  </a:lnTo>
                  <a:lnTo>
                    <a:pt x="89" y="25"/>
                  </a:lnTo>
                  <a:lnTo>
                    <a:pt x="89" y="26"/>
                  </a:lnTo>
                  <a:lnTo>
                    <a:pt x="88" y="26"/>
                  </a:lnTo>
                  <a:lnTo>
                    <a:pt x="88" y="27"/>
                  </a:lnTo>
                  <a:lnTo>
                    <a:pt x="87" y="28"/>
                  </a:lnTo>
                  <a:lnTo>
                    <a:pt x="86" y="29"/>
                  </a:lnTo>
                  <a:lnTo>
                    <a:pt x="85" y="30"/>
                  </a:lnTo>
                  <a:lnTo>
                    <a:pt x="82" y="32"/>
                  </a:lnTo>
                  <a:lnTo>
                    <a:pt x="80" y="33"/>
                  </a:lnTo>
                  <a:lnTo>
                    <a:pt x="78" y="34"/>
                  </a:lnTo>
                  <a:lnTo>
                    <a:pt x="75" y="36"/>
                  </a:lnTo>
                  <a:lnTo>
                    <a:pt x="72" y="37"/>
                  </a:lnTo>
                  <a:lnTo>
                    <a:pt x="70" y="40"/>
                  </a:lnTo>
                  <a:lnTo>
                    <a:pt x="65" y="41"/>
                  </a:lnTo>
                  <a:lnTo>
                    <a:pt x="61" y="42"/>
                  </a:lnTo>
                  <a:lnTo>
                    <a:pt x="57" y="44"/>
                  </a:lnTo>
                  <a:lnTo>
                    <a:pt x="54"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17" name="Freeform 316"/>
            <p:cNvSpPr>
              <a:spLocks/>
            </p:cNvSpPr>
            <p:nvPr/>
          </p:nvSpPr>
          <p:spPr bwMode="auto">
            <a:xfrm>
              <a:off x="1786" y="2306"/>
              <a:ext cx="135" cy="39"/>
            </a:xfrm>
            <a:custGeom>
              <a:avLst/>
              <a:gdLst>
                <a:gd name="T0" fmla="*/ 0 w 135"/>
                <a:gd name="T1" fmla="*/ 0 h 39"/>
                <a:gd name="T2" fmla="*/ 131 w 135"/>
                <a:gd name="T3" fmla="*/ 39 h 39"/>
                <a:gd name="T4" fmla="*/ 135 w 135"/>
                <a:gd name="T5" fmla="*/ 39 h 39"/>
                <a:gd name="T6" fmla="*/ 4 w 135"/>
                <a:gd name="T7" fmla="*/ 0 h 39"/>
                <a:gd name="T8" fmla="*/ 0 w 135"/>
                <a:gd name="T9" fmla="*/ 0 h 39"/>
              </a:gdLst>
              <a:ahLst/>
              <a:cxnLst>
                <a:cxn ang="0">
                  <a:pos x="T0" y="T1"/>
                </a:cxn>
                <a:cxn ang="0">
                  <a:pos x="T2" y="T3"/>
                </a:cxn>
                <a:cxn ang="0">
                  <a:pos x="T4" y="T5"/>
                </a:cxn>
                <a:cxn ang="0">
                  <a:pos x="T6" y="T7"/>
                </a:cxn>
                <a:cxn ang="0">
                  <a:pos x="T8" y="T9"/>
                </a:cxn>
              </a:cxnLst>
              <a:rect l="0" t="0" r="r" b="b"/>
              <a:pathLst>
                <a:path w="135" h="39">
                  <a:moveTo>
                    <a:pt x="0" y="0"/>
                  </a:moveTo>
                  <a:lnTo>
                    <a:pt x="131" y="39"/>
                  </a:lnTo>
                  <a:lnTo>
                    <a:pt x="135" y="39"/>
                  </a:lnTo>
                  <a:lnTo>
                    <a:pt x="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18" name="Freeform 317"/>
            <p:cNvSpPr>
              <a:spLocks/>
            </p:cNvSpPr>
            <p:nvPr/>
          </p:nvSpPr>
          <p:spPr bwMode="auto">
            <a:xfrm>
              <a:off x="1809" y="2300"/>
              <a:ext cx="132" cy="36"/>
            </a:xfrm>
            <a:custGeom>
              <a:avLst/>
              <a:gdLst>
                <a:gd name="T0" fmla="*/ 0 w 132"/>
                <a:gd name="T1" fmla="*/ 0 h 36"/>
                <a:gd name="T2" fmla="*/ 129 w 132"/>
                <a:gd name="T3" fmla="*/ 36 h 36"/>
                <a:gd name="T4" fmla="*/ 132 w 132"/>
                <a:gd name="T5" fmla="*/ 35 h 36"/>
                <a:gd name="T6" fmla="*/ 3 w 132"/>
                <a:gd name="T7" fmla="*/ 0 h 36"/>
                <a:gd name="T8" fmla="*/ 0 w 132"/>
                <a:gd name="T9" fmla="*/ 0 h 36"/>
              </a:gdLst>
              <a:ahLst/>
              <a:cxnLst>
                <a:cxn ang="0">
                  <a:pos x="T0" y="T1"/>
                </a:cxn>
                <a:cxn ang="0">
                  <a:pos x="T2" y="T3"/>
                </a:cxn>
                <a:cxn ang="0">
                  <a:pos x="T4" y="T5"/>
                </a:cxn>
                <a:cxn ang="0">
                  <a:pos x="T6" y="T7"/>
                </a:cxn>
                <a:cxn ang="0">
                  <a:pos x="T8" y="T9"/>
                </a:cxn>
              </a:cxnLst>
              <a:rect l="0" t="0" r="r" b="b"/>
              <a:pathLst>
                <a:path w="132" h="36">
                  <a:moveTo>
                    <a:pt x="0" y="0"/>
                  </a:moveTo>
                  <a:lnTo>
                    <a:pt x="129" y="36"/>
                  </a:lnTo>
                  <a:lnTo>
                    <a:pt x="132" y="35"/>
                  </a:lnTo>
                  <a:lnTo>
                    <a:pt x="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19" name="Freeform 318"/>
            <p:cNvSpPr>
              <a:spLocks/>
            </p:cNvSpPr>
            <p:nvPr/>
          </p:nvSpPr>
          <p:spPr bwMode="auto">
            <a:xfrm>
              <a:off x="1798" y="2302"/>
              <a:ext cx="133" cy="39"/>
            </a:xfrm>
            <a:custGeom>
              <a:avLst/>
              <a:gdLst>
                <a:gd name="T0" fmla="*/ 0 w 133"/>
                <a:gd name="T1" fmla="*/ 0 h 39"/>
                <a:gd name="T2" fmla="*/ 131 w 133"/>
                <a:gd name="T3" fmla="*/ 39 h 39"/>
                <a:gd name="T4" fmla="*/ 133 w 133"/>
                <a:gd name="T5" fmla="*/ 39 h 39"/>
                <a:gd name="T6" fmla="*/ 4 w 133"/>
                <a:gd name="T7" fmla="*/ 0 h 39"/>
                <a:gd name="T8" fmla="*/ 0 w 133"/>
                <a:gd name="T9" fmla="*/ 0 h 39"/>
              </a:gdLst>
              <a:ahLst/>
              <a:cxnLst>
                <a:cxn ang="0">
                  <a:pos x="T0" y="T1"/>
                </a:cxn>
                <a:cxn ang="0">
                  <a:pos x="T2" y="T3"/>
                </a:cxn>
                <a:cxn ang="0">
                  <a:pos x="T4" y="T5"/>
                </a:cxn>
                <a:cxn ang="0">
                  <a:pos x="T6" y="T7"/>
                </a:cxn>
                <a:cxn ang="0">
                  <a:pos x="T8" y="T9"/>
                </a:cxn>
              </a:cxnLst>
              <a:rect l="0" t="0" r="r" b="b"/>
              <a:pathLst>
                <a:path w="133" h="39">
                  <a:moveTo>
                    <a:pt x="0" y="0"/>
                  </a:moveTo>
                  <a:lnTo>
                    <a:pt x="131" y="39"/>
                  </a:lnTo>
                  <a:lnTo>
                    <a:pt x="133" y="39"/>
                  </a:lnTo>
                  <a:lnTo>
                    <a:pt x="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20" name="Line 334"/>
            <p:cNvSpPr>
              <a:spLocks noChangeShapeType="1"/>
            </p:cNvSpPr>
            <p:nvPr/>
          </p:nvSpPr>
          <p:spPr bwMode="auto">
            <a:xfrm>
              <a:off x="2135" y="2613"/>
              <a:ext cx="274"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21" name="Freeform 320"/>
            <p:cNvSpPr>
              <a:spLocks/>
            </p:cNvSpPr>
            <p:nvPr/>
          </p:nvSpPr>
          <p:spPr bwMode="auto">
            <a:xfrm>
              <a:off x="2520" y="2428"/>
              <a:ext cx="203" cy="103"/>
            </a:xfrm>
            <a:custGeom>
              <a:avLst/>
              <a:gdLst>
                <a:gd name="T0" fmla="*/ 78 w 203"/>
                <a:gd name="T1" fmla="*/ 0 h 103"/>
                <a:gd name="T2" fmla="*/ 0 w 203"/>
                <a:gd name="T3" fmla="*/ 103 h 103"/>
                <a:gd name="T4" fmla="*/ 125 w 203"/>
                <a:gd name="T5" fmla="*/ 103 h 103"/>
                <a:gd name="T6" fmla="*/ 203 w 203"/>
                <a:gd name="T7" fmla="*/ 0 h 103"/>
                <a:gd name="T8" fmla="*/ 78 w 203"/>
                <a:gd name="T9" fmla="*/ 0 h 103"/>
              </a:gdLst>
              <a:ahLst/>
              <a:cxnLst>
                <a:cxn ang="0">
                  <a:pos x="T0" y="T1"/>
                </a:cxn>
                <a:cxn ang="0">
                  <a:pos x="T2" y="T3"/>
                </a:cxn>
                <a:cxn ang="0">
                  <a:pos x="T4" y="T5"/>
                </a:cxn>
                <a:cxn ang="0">
                  <a:pos x="T6" y="T7"/>
                </a:cxn>
                <a:cxn ang="0">
                  <a:pos x="T8" y="T9"/>
                </a:cxn>
              </a:cxnLst>
              <a:rect l="0" t="0" r="r" b="b"/>
              <a:pathLst>
                <a:path w="203" h="103">
                  <a:moveTo>
                    <a:pt x="78" y="0"/>
                  </a:moveTo>
                  <a:lnTo>
                    <a:pt x="0" y="103"/>
                  </a:lnTo>
                  <a:lnTo>
                    <a:pt x="125" y="103"/>
                  </a:lnTo>
                  <a:lnTo>
                    <a:pt x="203" y="0"/>
                  </a:lnTo>
                  <a:lnTo>
                    <a:pt x="78" y="0"/>
                  </a:lnTo>
                  <a:close/>
                </a:path>
              </a:pathLst>
            </a:custGeom>
            <a:solidFill>
              <a:srgbClr val="33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22" name="Rectangle 321"/>
            <p:cNvSpPr>
              <a:spLocks noChangeArrowheads="1"/>
            </p:cNvSpPr>
            <p:nvPr/>
          </p:nvSpPr>
          <p:spPr bwMode="auto">
            <a:xfrm>
              <a:off x="2622" y="2088"/>
              <a:ext cx="94" cy="343"/>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23" name="Rectangle 322"/>
            <p:cNvSpPr>
              <a:spLocks noChangeArrowheads="1"/>
            </p:cNvSpPr>
            <p:nvPr/>
          </p:nvSpPr>
          <p:spPr bwMode="auto">
            <a:xfrm>
              <a:off x="2522" y="2185"/>
              <a:ext cx="127" cy="343"/>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24" name="Rectangle 323"/>
            <p:cNvSpPr>
              <a:spLocks noChangeArrowheads="1"/>
            </p:cNvSpPr>
            <p:nvPr/>
          </p:nvSpPr>
          <p:spPr bwMode="auto">
            <a:xfrm>
              <a:off x="2522" y="2185"/>
              <a:ext cx="127" cy="343"/>
            </a:xfrm>
            <a:prstGeom prst="rect">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25" name="Freeform 324"/>
            <p:cNvSpPr>
              <a:spLocks/>
            </p:cNvSpPr>
            <p:nvPr/>
          </p:nvSpPr>
          <p:spPr bwMode="auto">
            <a:xfrm>
              <a:off x="2520" y="2085"/>
              <a:ext cx="203" cy="104"/>
            </a:xfrm>
            <a:custGeom>
              <a:avLst/>
              <a:gdLst>
                <a:gd name="T0" fmla="*/ 78 w 203"/>
                <a:gd name="T1" fmla="*/ 0 h 104"/>
                <a:gd name="T2" fmla="*/ 0 w 203"/>
                <a:gd name="T3" fmla="*/ 104 h 104"/>
                <a:gd name="T4" fmla="*/ 125 w 203"/>
                <a:gd name="T5" fmla="*/ 104 h 104"/>
                <a:gd name="T6" fmla="*/ 203 w 203"/>
                <a:gd name="T7" fmla="*/ 0 h 104"/>
                <a:gd name="T8" fmla="*/ 78 w 203"/>
                <a:gd name="T9" fmla="*/ 0 h 104"/>
              </a:gdLst>
              <a:ahLst/>
              <a:cxnLst>
                <a:cxn ang="0">
                  <a:pos x="T0" y="T1"/>
                </a:cxn>
                <a:cxn ang="0">
                  <a:pos x="T2" y="T3"/>
                </a:cxn>
                <a:cxn ang="0">
                  <a:pos x="T4" y="T5"/>
                </a:cxn>
                <a:cxn ang="0">
                  <a:pos x="T6" y="T7"/>
                </a:cxn>
                <a:cxn ang="0">
                  <a:pos x="T8" y="T9"/>
                </a:cxn>
              </a:cxnLst>
              <a:rect l="0" t="0" r="r" b="b"/>
              <a:pathLst>
                <a:path w="203" h="104">
                  <a:moveTo>
                    <a:pt x="78" y="0"/>
                  </a:moveTo>
                  <a:lnTo>
                    <a:pt x="0" y="104"/>
                  </a:lnTo>
                  <a:lnTo>
                    <a:pt x="125" y="104"/>
                  </a:lnTo>
                  <a:lnTo>
                    <a:pt x="203" y="0"/>
                  </a:lnTo>
                  <a:lnTo>
                    <a:pt x="78" y="0"/>
                  </a:lnTo>
                  <a:close/>
                </a:path>
              </a:pathLst>
            </a:custGeom>
            <a:solidFill>
              <a:srgbClr val="33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26" name="Freeform 325"/>
            <p:cNvSpPr>
              <a:spLocks/>
            </p:cNvSpPr>
            <p:nvPr/>
          </p:nvSpPr>
          <p:spPr bwMode="auto">
            <a:xfrm>
              <a:off x="2520" y="2085"/>
              <a:ext cx="203" cy="104"/>
            </a:xfrm>
            <a:custGeom>
              <a:avLst/>
              <a:gdLst>
                <a:gd name="T0" fmla="*/ 78 w 203"/>
                <a:gd name="T1" fmla="*/ 0 h 104"/>
                <a:gd name="T2" fmla="*/ 0 w 203"/>
                <a:gd name="T3" fmla="*/ 104 h 104"/>
                <a:gd name="T4" fmla="*/ 125 w 203"/>
                <a:gd name="T5" fmla="*/ 104 h 104"/>
                <a:gd name="T6" fmla="*/ 203 w 203"/>
                <a:gd name="T7" fmla="*/ 0 h 104"/>
                <a:gd name="T8" fmla="*/ 78 w 203"/>
                <a:gd name="T9" fmla="*/ 0 h 104"/>
              </a:gdLst>
              <a:ahLst/>
              <a:cxnLst>
                <a:cxn ang="0">
                  <a:pos x="T0" y="T1"/>
                </a:cxn>
                <a:cxn ang="0">
                  <a:pos x="T2" y="T3"/>
                </a:cxn>
                <a:cxn ang="0">
                  <a:pos x="T4" y="T5"/>
                </a:cxn>
                <a:cxn ang="0">
                  <a:pos x="T6" y="T7"/>
                </a:cxn>
                <a:cxn ang="0">
                  <a:pos x="T8" y="T9"/>
                </a:cxn>
              </a:cxnLst>
              <a:rect l="0" t="0" r="r" b="b"/>
              <a:pathLst>
                <a:path w="203" h="104">
                  <a:moveTo>
                    <a:pt x="78" y="0"/>
                  </a:moveTo>
                  <a:lnTo>
                    <a:pt x="0" y="104"/>
                  </a:lnTo>
                  <a:lnTo>
                    <a:pt x="125" y="104"/>
                  </a:lnTo>
                  <a:lnTo>
                    <a:pt x="203" y="0"/>
                  </a:lnTo>
                  <a:lnTo>
                    <a:pt x="78" y="0"/>
                  </a:lnTo>
                  <a:close/>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27" name="Line 341"/>
            <p:cNvSpPr>
              <a:spLocks noChangeShapeType="1"/>
            </p:cNvSpPr>
            <p:nvPr/>
          </p:nvSpPr>
          <p:spPr bwMode="auto">
            <a:xfrm>
              <a:off x="2723" y="2092"/>
              <a:ext cx="1" cy="33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28" name="Line 342"/>
            <p:cNvSpPr>
              <a:spLocks noChangeShapeType="1"/>
            </p:cNvSpPr>
            <p:nvPr/>
          </p:nvSpPr>
          <p:spPr bwMode="auto">
            <a:xfrm flipH="1">
              <a:off x="2649" y="2428"/>
              <a:ext cx="74" cy="1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29" name="Rectangle 328"/>
            <p:cNvSpPr>
              <a:spLocks noChangeArrowheads="1"/>
            </p:cNvSpPr>
            <p:nvPr/>
          </p:nvSpPr>
          <p:spPr bwMode="auto">
            <a:xfrm>
              <a:off x="2537" y="2230"/>
              <a:ext cx="85" cy="198"/>
            </a:xfrm>
            <a:prstGeom prst="rect">
              <a:avLst/>
            </a:prstGeom>
            <a:solidFill>
              <a:srgbClr val="3333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30" name="Rectangle 329"/>
            <p:cNvSpPr>
              <a:spLocks noChangeArrowheads="1"/>
            </p:cNvSpPr>
            <p:nvPr/>
          </p:nvSpPr>
          <p:spPr bwMode="auto">
            <a:xfrm>
              <a:off x="2537" y="2230"/>
              <a:ext cx="85" cy="198"/>
            </a:xfrm>
            <a:prstGeom prst="rect">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31" name="Rectangle 330"/>
            <p:cNvSpPr>
              <a:spLocks noChangeArrowheads="1"/>
            </p:cNvSpPr>
            <p:nvPr/>
          </p:nvSpPr>
          <p:spPr bwMode="auto">
            <a:xfrm>
              <a:off x="2550" y="2290"/>
              <a:ext cx="64" cy="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32" name="Freeform 331"/>
            <p:cNvSpPr>
              <a:spLocks/>
            </p:cNvSpPr>
            <p:nvPr/>
          </p:nvSpPr>
          <p:spPr bwMode="auto">
            <a:xfrm>
              <a:off x="3115" y="2220"/>
              <a:ext cx="1198" cy="719"/>
            </a:xfrm>
            <a:custGeom>
              <a:avLst/>
              <a:gdLst>
                <a:gd name="T0" fmla="*/ 1142 w 1198"/>
                <a:gd name="T1" fmla="*/ 3 h 719"/>
                <a:gd name="T2" fmla="*/ 1116 w 1198"/>
                <a:gd name="T3" fmla="*/ 0 h 719"/>
                <a:gd name="T4" fmla="*/ 1082 w 1198"/>
                <a:gd name="T5" fmla="*/ 7 h 719"/>
                <a:gd name="T6" fmla="*/ 1036 w 1198"/>
                <a:gd name="T7" fmla="*/ 24 h 719"/>
                <a:gd name="T8" fmla="*/ 956 w 1198"/>
                <a:gd name="T9" fmla="*/ 56 h 719"/>
                <a:gd name="T10" fmla="*/ 904 w 1198"/>
                <a:gd name="T11" fmla="*/ 73 h 719"/>
                <a:gd name="T12" fmla="*/ 866 w 1198"/>
                <a:gd name="T13" fmla="*/ 77 h 719"/>
                <a:gd name="T14" fmla="*/ 798 w 1198"/>
                <a:gd name="T15" fmla="*/ 75 h 719"/>
                <a:gd name="T16" fmla="*/ 719 w 1198"/>
                <a:gd name="T17" fmla="*/ 65 h 719"/>
                <a:gd name="T18" fmla="*/ 632 w 1198"/>
                <a:gd name="T19" fmla="*/ 56 h 719"/>
                <a:gd name="T20" fmla="*/ 574 w 1198"/>
                <a:gd name="T21" fmla="*/ 58 h 719"/>
                <a:gd name="T22" fmla="*/ 524 w 1198"/>
                <a:gd name="T23" fmla="*/ 65 h 719"/>
                <a:gd name="T24" fmla="*/ 464 w 1198"/>
                <a:gd name="T25" fmla="*/ 76 h 719"/>
                <a:gd name="T26" fmla="*/ 398 w 1198"/>
                <a:gd name="T27" fmla="*/ 89 h 719"/>
                <a:gd name="T28" fmla="*/ 274 w 1198"/>
                <a:gd name="T29" fmla="*/ 117 h 719"/>
                <a:gd name="T30" fmla="*/ 190 w 1198"/>
                <a:gd name="T31" fmla="*/ 144 h 719"/>
                <a:gd name="T32" fmla="*/ 131 w 1198"/>
                <a:gd name="T33" fmla="*/ 169 h 719"/>
                <a:gd name="T34" fmla="*/ 82 w 1198"/>
                <a:gd name="T35" fmla="*/ 198 h 719"/>
                <a:gd name="T36" fmla="*/ 47 w 1198"/>
                <a:gd name="T37" fmla="*/ 232 h 719"/>
                <a:gd name="T38" fmla="*/ 23 w 1198"/>
                <a:gd name="T39" fmla="*/ 273 h 719"/>
                <a:gd name="T40" fmla="*/ 8 w 1198"/>
                <a:gd name="T41" fmla="*/ 323 h 719"/>
                <a:gd name="T42" fmla="*/ 1 w 1198"/>
                <a:gd name="T43" fmla="*/ 378 h 719"/>
                <a:gd name="T44" fmla="*/ 0 w 1198"/>
                <a:gd name="T45" fmla="*/ 434 h 719"/>
                <a:gd name="T46" fmla="*/ 6 w 1198"/>
                <a:gd name="T47" fmla="*/ 489 h 719"/>
                <a:gd name="T48" fmla="*/ 17 w 1198"/>
                <a:gd name="T49" fmla="*/ 539 h 719"/>
                <a:gd name="T50" fmla="*/ 33 w 1198"/>
                <a:gd name="T51" fmla="*/ 582 h 719"/>
                <a:gd name="T52" fmla="*/ 51 w 1198"/>
                <a:gd name="T53" fmla="*/ 615 h 719"/>
                <a:gd name="T54" fmla="*/ 77 w 1198"/>
                <a:gd name="T55" fmla="*/ 638 h 719"/>
                <a:gd name="T56" fmla="*/ 110 w 1198"/>
                <a:gd name="T57" fmla="*/ 656 h 719"/>
                <a:gd name="T58" fmla="*/ 159 w 1198"/>
                <a:gd name="T59" fmla="*/ 670 h 719"/>
                <a:gd name="T60" fmla="*/ 248 w 1198"/>
                <a:gd name="T61" fmla="*/ 683 h 719"/>
                <a:gd name="T62" fmla="*/ 342 w 1198"/>
                <a:gd name="T63" fmla="*/ 692 h 719"/>
                <a:gd name="T64" fmla="*/ 401 w 1198"/>
                <a:gd name="T65" fmla="*/ 700 h 719"/>
                <a:gd name="T66" fmla="*/ 492 w 1198"/>
                <a:gd name="T67" fmla="*/ 710 h 719"/>
                <a:gd name="T68" fmla="*/ 631 w 1198"/>
                <a:gd name="T69" fmla="*/ 717 h 719"/>
                <a:gd name="T70" fmla="*/ 708 w 1198"/>
                <a:gd name="T71" fmla="*/ 719 h 719"/>
                <a:gd name="T72" fmla="*/ 753 w 1198"/>
                <a:gd name="T73" fmla="*/ 719 h 719"/>
                <a:gd name="T74" fmla="*/ 791 w 1198"/>
                <a:gd name="T75" fmla="*/ 719 h 719"/>
                <a:gd name="T76" fmla="*/ 824 w 1198"/>
                <a:gd name="T77" fmla="*/ 718 h 719"/>
                <a:gd name="T78" fmla="*/ 876 w 1198"/>
                <a:gd name="T79" fmla="*/ 712 h 719"/>
                <a:gd name="T80" fmla="*/ 931 w 1198"/>
                <a:gd name="T81" fmla="*/ 700 h 719"/>
                <a:gd name="T82" fmla="*/ 977 w 1198"/>
                <a:gd name="T83" fmla="*/ 687 h 719"/>
                <a:gd name="T84" fmla="*/ 1029 w 1198"/>
                <a:gd name="T85" fmla="*/ 672 h 719"/>
                <a:gd name="T86" fmla="*/ 1096 w 1198"/>
                <a:gd name="T87" fmla="*/ 652 h 719"/>
                <a:gd name="T88" fmla="*/ 1142 w 1198"/>
                <a:gd name="T89" fmla="*/ 627 h 719"/>
                <a:gd name="T90" fmla="*/ 1168 w 1198"/>
                <a:gd name="T91" fmla="*/ 601 h 719"/>
                <a:gd name="T92" fmla="*/ 1188 w 1198"/>
                <a:gd name="T93" fmla="*/ 554 h 719"/>
                <a:gd name="T94" fmla="*/ 1196 w 1198"/>
                <a:gd name="T95" fmla="*/ 498 h 719"/>
                <a:gd name="T96" fmla="*/ 1197 w 1198"/>
                <a:gd name="T97" fmla="*/ 433 h 719"/>
                <a:gd name="T98" fmla="*/ 1196 w 1198"/>
                <a:gd name="T99" fmla="*/ 361 h 719"/>
                <a:gd name="T100" fmla="*/ 1196 w 1198"/>
                <a:gd name="T101" fmla="*/ 321 h 719"/>
                <a:gd name="T102" fmla="*/ 1197 w 1198"/>
                <a:gd name="T103" fmla="*/ 271 h 719"/>
                <a:gd name="T104" fmla="*/ 1197 w 1198"/>
                <a:gd name="T105" fmla="*/ 166 h 719"/>
                <a:gd name="T106" fmla="*/ 1194 w 1198"/>
                <a:gd name="T107" fmla="*/ 103 h 719"/>
                <a:gd name="T108" fmla="*/ 1186 w 1198"/>
                <a:gd name="T109" fmla="*/ 61 h 719"/>
                <a:gd name="T110" fmla="*/ 1173 w 1198"/>
                <a:gd name="T111" fmla="*/ 28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98" h="719">
                  <a:moveTo>
                    <a:pt x="1160" y="13"/>
                  </a:moveTo>
                  <a:lnTo>
                    <a:pt x="1154" y="9"/>
                  </a:lnTo>
                  <a:lnTo>
                    <a:pt x="1149" y="5"/>
                  </a:lnTo>
                  <a:lnTo>
                    <a:pt x="1142" y="3"/>
                  </a:lnTo>
                  <a:lnTo>
                    <a:pt x="1137" y="2"/>
                  </a:lnTo>
                  <a:lnTo>
                    <a:pt x="1130" y="0"/>
                  </a:lnTo>
                  <a:lnTo>
                    <a:pt x="1123" y="0"/>
                  </a:lnTo>
                  <a:lnTo>
                    <a:pt x="1116" y="0"/>
                  </a:lnTo>
                  <a:lnTo>
                    <a:pt x="1107" y="2"/>
                  </a:lnTo>
                  <a:lnTo>
                    <a:pt x="1099" y="3"/>
                  </a:lnTo>
                  <a:lnTo>
                    <a:pt x="1091" y="5"/>
                  </a:lnTo>
                  <a:lnTo>
                    <a:pt x="1082" y="7"/>
                  </a:lnTo>
                  <a:lnTo>
                    <a:pt x="1074" y="10"/>
                  </a:lnTo>
                  <a:lnTo>
                    <a:pt x="1064" y="13"/>
                  </a:lnTo>
                  <a:lnTo>
                    <a:pt x="1055" y="17"/>
                  </a:lnTo>
                  <a:lnTo>
                    <a:pt x="1036" y="24"/>
                  </a:lnTo>
                  <a:lnTo>
                    <a:pt x="1016" y="32"/>
                  </a:lnTo>
                  <a:lnTo>
                    <a:pt x="997" y="40"/>
                  </a:lnTo>
                  <a:lnTo>
                    <a:pt x="977" y="49"/>
                  </a:lnTo>
                  <a:lnTo>
                    <a:pt x="956" y="56"/>
                  </a:lnTo>
                  <a:lnTo>
                    <a:pt x="936" y="65"/>
                  </a:lnTo>
                  <a:lnTo>
                    <a:pt x="925" y="67"/>
                  </a:lnTo>
                  <a:lnTo>
                    <a:pt x="915" y="70"/>
                  </a:lnTo>
                  <a:lnTo>
                    <a:pt x="904" y="73"/>
                  </a:lnTo>
                  <a:lnTo>
                    <a:pt x="895" y="75"/>
                  </a:lnTo>
                  <a:lnTo>
                    <a:pt x="885" y="76"/>
                  </a:lnTo>
                  <a:lnTo>
                    <a:pt x="875" y="77"/>
                  </a:lnTo>
                  <a:lnTo>
                    <a:pt x="866" y="77"/>
                  </a:lnTo>
                  <a:lnTo>
                    <a:pt x="855" y="79"/>
                  </a:lnTo>
                  <a:lnTo>
                    <a:pt x="837" y="77"/>
                  </a:lnTo>
                  <a:lnTo>
                    <a:pt x="817" y="76"/>
                  </a:lnTo>
                  <a:lnTo>
                    <a:pt x="798" y="75"/>
                  </a:lnTo>
                  <a:lnTo>
                    <a:pt x="778" y="73"/>
                  </a:lnTo>
                  <a:lnTo>
                    <a:pt x="758" y="70"/>
                  </a:lnTo>
                  <a:lnTo>
                    <a:pt x="739" y="67"/>
                  </a:lnTo>
                  <a:lnTo>
                    <a:pt x="719" y="65"/>
                  </a:lnTo>
                  <a:lnTo>
                    <a:pt x="698" y="61"/>
                  </a:lnTo>
                  <a:lnTo>
                    <a:pt x="677" y="59"/>
                  </a:lnTo>
                  <a:lnTo>
                    <a:pt x="655" y="58"/>
                  </a:lnTo>
                  <a:lnTo>
                    <a:pt x="632" y="56"/>
                  </a:lnTo>
                  <a:lnTo>
                    <a:pt x="610" y="56"/>
                  </a:lnTo>
                  <a:lnTo>
                    <a:pt x="599" y="56"/>
                  </a:lnTo>
                  <a:lnTo>
                    <a:pt x="586" y="56"/>
                  </a:lnTo>
                  <a:lnTo>
                    <a:pt x="574" y="58"/>
                  </a:lnTo>
                  <a:lnTo>
                    <a:pt x="562" y="59"/>
                  </a:lnTo>
                  <a:lnTo>
                    <a:pt x="550" y="61"/>
                  </a:lnTo>
                  <a:lnTo>
                    <a:pt x="537" y="63"/>
                  </a:lnTo>
                  <a:lnTo>
                    <a:pt x="524" y="65"/>
                  </a:lnTo>
                  <a:lnTo>
                    <a:pt x="510" y="68"/>
                  </a:lnTo>
                  <a:lnTo>
                    <a:pt x="495" y="70"/>
                  </a:lnTo>
                  <a:lnTo>
                    <a:pt x="480" y="73"/>
                  </a:lnTo>
                  <a:lnTo>
                    <a:pt x="464" y="76"/>
                  </a:lnTo>
                  <a:lnTo>
                    <a:pt x="448" y="79"/>
                  </a:lnTo>
                  <a:lnTo>
                    <a:pt x="432" y="82"/>
                  </a:lnTo>
                  <a:lnTo>
                    <a:pt x="415" y="86"/>
                  </a:lnTo>
                  <a:lnTo>
                    <a:pt x="398" y="89"/>
                  </a:lnTo>
                  <a:lnTo>
                    <a:pt x="380" y="93"/>
                  </a:lnTo>
                  <a:lnTo>
                    <a:pt x="345" y="100"/>
                  </a:lnTo>
                  <a:lnTo>
                    <a:pt x="310" y="108"/>
                  </a:lnTo>
                  <a:lnTo>
                    <a:pt x="274" y="117"/>
                  </a:lnTo>
                  <a:lnTo>
                    <a:pt x="240" y="128"/>
                  </a:lnTo>
                  <a:lnTo>
                    <a:pt x="223" y="132"/>
                  </a:lnTo>
                  <a:lnTo>
                    <a:pt x="206" y="138"/>
                  </a:lnTo>
                  <a:lnTo>
                    <a:pt x="190" y="144"/>
                  </a:lnTo>
                  <a:lnTo>
                    <a:pt x="175" y="150"/>
                  </a:lnTo>
                  <a:lnTo>
                    <a:pt x="159" y="156"/>
                  </a:lnTo>
                  <a:lnTo>
                    <a:pt x="145" y="163"/>
                  </a:lnTo>
                  <a:lnTo>
                    <a:pt x="131" y="169"/>
                  </a:lnTo>
                  <a:lnTo>
                    <a:pt x="117" y="176"/>
                  </a:lnTo>
                  <a:lnTo>
                    <a:pt x="104" y="183"/>
                  </a:lnTo>
                  <a:lnTo>
                    <a:pt x="92" y="191"/>
                  </a:lnTo>
                  <a:lnTo>
                    <a:pt x="82" y="198"/>
                  </a:lnTo>
                  <a:lnTo>
                    <a:pt x="71" y="206"/>
                  </a:lnTo>
                  <a:lnTo>
                    <a:pt x="62" y="214"/>
                  </a:lnTo>
                  <a:lnTo>
                    <a:pt x="54" y="222"/>
                  </a:lnTo>
                  <a:lnTo>
                    <a:pt x="47" y="232"/>
                  </a:lnTo>
                  <a:lnTo>
                    <a:pt x="40" y="241"/>
                  </a:lnTo>
                  <a:lnTo>
                    <a:pt x="34" y="250"/>
                  </a:lnTo>
                  <a:lnTo>
                    <a:pt x="28" y="262"/>
                  </a:lnTo>
                  <a:lnTo>
                    <a:pt x="23" y="273"/>
                  </a:lnTo>
                  <a:lnTo>
                    <a:pt x="19" y="284"/>
                  </a:lnTo>
                  <a:lnTo>
                    <a:pt x="14" y="297"/>
                  </a:lnTo>
                  <a:lnTo>
                    <a:pt x="10" y="310"/>
                  </a:lnTo>
                  <a:lnTo>
                    <a:pt x="8" y="323"/>
                  </a:lnTo>
                  <a:lnTo>
                    <a:pt x="6" y="336"/>
                  </a:lnTo>
                  <a:lnTo>
                    <a:pt x="3" y="350"/>
                  </a:lnTo>
                  <a:lnTo>
                    <a:pt x="2" y="364"/>
                  </a:lnTo>
                  <a:lnTo>
                    <a:pt x="1" y="378"/>
                  </a:lnTo>
                  <a:lnTo>
                    <a:pt x="0" y="391"/>
                  </a:lnTo>
                  <a:lnTo>
                    <a:pt x="0" y="406"/>
                  </a:lnTo>
                  <a:lnTo>
                    <a:pt x="0" y="420"/>
                  </a:lnTo>
                  <a:lnTo>
                    <a:pt x="0" y="434"/>
                  </a:lnTo>
                  <a:lnTo>
                    <a:pt x="1" y="448"/>
                  </a:lnTo>
                  <a:lnTo>
                    <a:pt x="2" y="461"/>
                  </a:lnTo>
                  <a:lnTo>
                    <a:pt x="5" y="475"/>
                  </a:lnTo>
                  <a:lnTo>
                    <a:pt x="6" y="489"/>
                  </a:lnTo>
                  <a:lnTo>
                    <a:pt x="8" y="502"/>
                  </a:lnTo>
                  <a:lnTo>
                    <a:pt x="12" y="514"/>
                  </a:lnTo>
                  <a:lnTo>
                    <a:pt x="14" y="526"/>
                  </a:lnTo>
                  <a:lnTo>
                    <a:pt x="17" y="539"/>
                  </a:lnTo>
                  <a:lnTo>
                    <a:pt x="21" y="551"/>
                  </a:lnTo>
                  <a:lnTo>
                    <a:pt x="24" y="561"/>
                  </a:lnTo>
                  <a:lnTo>
                    <a:pt x="28" y="572"/>
                  </a:lnTo>
                  <a:lnTo>
                    <a:pt x="33" y="582"/>
                  </a:lnTo>
                  <a:lnTo>
                    <a:pt x="37" y="590"/>
                  </a:lnTo>
                  <a:lnTo>
                    <a:pt x="42" y="600"/>
                  </a:lnTo>
                  <a:lnTo>
                    <a:pt x="47" y="607"/>
                  </a:lnTo>
                  <a:lnTo>
                    <a:pt x="51" y="615"/>
                  </a:lnTo>
                  <a:lnTo>
                    <a:pt x="57" y="621"/>
                  </a:lnTo>
                  <a:lnTo>
                    <a:pt x="63" y="627"/>
                  </a:lnTo>
                  <a:lnTo>
                    <a:pt x="70" y="632"/>
                  </a:lnTo>
                  <a:lnTo>
                    <a:pt x="77" y="638"/>
                  </a:lnTo>
                  <a:lnTo>
                    <a:pt x="85" y="643"/>
                  </a:lnTo>
                  <a:lnTo>
                    <a:pt x="92" y="648"/>
                  </a:lnTo>
                  <a:lnTo>
                    <a:pt x="101" y="651"/>
                  </a:lnTo>
                  <a:lnTo>
                    <a:pt x="110" y="656"/>
                  </a:lnTo>
                  <a:lnTo>
                    <a:pt x="119" y="659"/>
                  </a:lnTo>
                  <a:lnTo>
                    <a:pt x="128" y="662"/>
                  </a:lnTo>
                  <a:lnTo>
                    <a:pt x="138" y="665"/>
                  </a:lnTo>
                  <a:lnTo>
                    <a:pt x="159" y="670"/>
                  </a:lnTo>
                  <a:lnTo>
                    <a:pt x="180" y="673"/>
                  </a:lnTo>
                  <a:lnTo>
                    <a:pt x="202" y="677"/>
                  </a:lnTo>
                  <a:lnTo>
                    <a:pt x="225" y="680"/>
                  </a:lnTo>
                  <a:lnTo>
                    <a:pt x="248" y="683"/>
                  </a:lnTo>
                  <a:lnTo>
                    <a:pt x="272" y="685"/>
                  </a:lnTo>
                  <a:lnTo>
                    <a:pt x="295" y="686"/>
                  </a:lnTo>
                  <a:lnTo>
                    <a:pt x="319" y="689"/>
                  </a:lnTo>
                  <a:lnTo>
                    <a:pt x="342" y="692"/>
                  </a:lnTo>
                  <a:lnTo>
                    <a:pt x="365" y="696"/>
                  </a:lnTo>
                  <a:lnTo>
                    <a:pt x="377" y="697"/>
                  </a:lnTo>
                  <a:lnTo>
                    <a:pt x="389" y="698"/>
                  </a:lnTo>
                  <a:lnTo>
                    <a:pt x="401" y="700"/>
                  </a:lnTo>
                  <a:lnTo>
                    <a:pt x="413" y="701"/>
                  </a:lnTo>
                  <a:lnTo>
                    <a:pt x="439" y="704"/>
                  </a:lnTo>
                  <a:lnTo>
                    <a:pt x="466" y="707"/>
                  </a:lnTo>
                  <a:lnTo>
                    <a:pt x="492" y="710"/>
                  </a:lnTo>
                  <a:lnTo>
                    <a:pt x="520" y="711"/>
                  </a:lnTo>
                  <a:lnTo>
                    <a:pt x="576" y="714"/>
                  </a:lnTo>
                  <a:lnTo>
                    <a:pt x="604" y="715"/>
                  </a:lnTo>
                  <a:lnTo>
                    <a:pt x="631" y="717"/>
                  </a:lnTo>
                  <a:lnTo>
                    <a:pt x="658" y="718"/>
                  </a:lnTo>
                  <a:lnTo>
                    <a:pt x="684" y="719"/>
                  </a:lnTo>
                  <a:lnTo>
                    <a:pt x="695" y="719"/>
                  </a:lnTo>
                  <a:lnTo>
                    <a:pt x="708" y="719"/>
                  </a:lnTo>
                  <a:lnTo>
                    <a:pt x="720" y="719"/>
                  </a:lnTo>
                  <a:lnTo>
                    <a:pt x="732" y="719"/>
                  </a:lnTo>
                  <a:lnTo>
                    <a:pt x="742" y="719"/>
                  </a:lnTo>
                  <a:lnTo>
                    <a:pt x="753" y="719"/>
                  </a:lnTo>
                  <a:lnTo>
                    <a:pt x="763" y="719"/>
                  </a:lnTo>
                  <a:lnTo>
                    <a:pt x="773" y="719"/>
                  </a:lnTo>
                  <a:lnTo>
                    <a:pt x="782" y="719"/>
                  </a:lnTo>
                  <a:lnTo>
                    <a:pt x="791" y="719"/>
                  </a:lnTo>
                  <a:lnTo>
                    <a:pt x="801" y="719"/>
                  </a:lnTo>
                  <a:lnTo>
                    <a:pt x="809" y="718"/>
                  </a:lnTo>
                  <a:lnTo>
                    <a:pt x="816" y="718"/>
                  </a:lnTo>
                  <a:lnTo>
                    <a:pt x="824" y="718"/>
                  </a:lnTo>
                  <a:lnTo>
                    <a:pt x="839" y="717"/>
                  </a:lnTo>
                  <a:lnTo>
                    <a:pt x="852" y="715"/>
                  </a:lnTo>
                  <a:lnTo>
                    <a:pt x="865" y="713"/>
                  </a:lnTo>
                  <a:lnTo>
                    <a:pt x="876" y="712"/>
                  </a:lnTo>
                  <a:lnTo>
                    <a:pt x="888" y="710"/>
                  </a:lnTo>
                  <a:lnTo>
                    <a:pt x="900" y="707"/>
                  </a:lnTo>
                  <a:lnTo>
                    <a:pt x="910" y="705"/>
                  </a:lnTo>
                  <a:lnTo>
                    <a:pt x="931" y="700"/>
                  </a:lnTo>
                  <a:lnTo>
                    <a:pt x="943" y="697"/>
                  </a:lnTo>
                  <a:lnTo>
                    <a:pt x="953" y="693"/>
                  </a:lnTo>
                  <a:lnTo>
                    <a:pt x="965" y="691"/>
                  </a:lnTo>
                  <a:lnTo>
                    <a:pt x="977" y="687"/>
                  </a:lnTo>
                  <a:lnTo>
                    <a:pt x="990" y="683"/>
                  </a:lnTo>
                  <a:lnTo>
                    <a:pt x="1002" y="679"/>
                  </a:lnTo>
                  <a:lnTo>
                    <a:pt x="1015" y="676"/>
                  </a:lnTo>
                  <a:lnTo>
                    <a:pt x="1029" y="672"/>
                  </a:lnTo>
                  <a:lnTo>
                    <a:pt x="1056" y="665"/>
                  </a:lnTo>
                  <a:lnTo>
                    <a:pt x="1070" y="662"/>
                  </a:lnTo>
                  <a:lnTo>
                    <a:pt x="1083" y="657"/>
                  </a:lnTo>
                  <a:lnTo>
                    <a:pt x="1096" y="652"/>
                  </a:lnTo>
                  <a:lnTo>
                    <a:pt x="1109" y="647"/>
                  </a:lnTo>
                  <a:lnTo>
                    <a:pt x="1120" y="641"/>
                  </a:lnTo>
                  <a:lnTo>
                    <a:pt x="1132" y="635"/>
                  </a:lnTo>
                  <a:lnTo>
                    <a:pt x="1142" y="627"/>
                  </a:lnTo>
                  <a:lnTo>
                    <a:pt x="1152" y="620"/>
                  </a:lnTo>
                  <a:lnTo>
                    <a:pt x="1160" y="610"/>
                  </a:lnTo>
                  <a:lnTo>
                    <a:pt x="1165" y="606"/>
                  </a:lnTo>
                  <a:lnTo>
                    <a:pt x="1168" y="601"/>
                  </a:lnTo>
                  <a:lnTo>
                    <a:pt x="1174" y="590"/>
                  </a:lnTo>
                  <a:lnTo>
                    <a:pt x="1180" y="579"/>
                  </a:lnTo>
                  <a:lnTo>
                    <a:pt x="1184" y="567"/>
                  </a:lnTo>
                  <a:lnTo>
                    <a:pt x="1188" y="554"/>
                  </a:lnTo>
                  <a:lnTo>
                    <a:pt x="1191" y="541"/>
                  </a:lnTo>
                  <a:lnTo>
                    <a:pt x="1194" y="527"/>
                  </a:lnTo>
                  <a:lnTo>
                    <a:pt x="1195" y="513"/>
                  </a:lnTo>
                  <a:lnTo>
                    <a:pt x="1196" y="498"/>
                  </a:lnTo>
                  <a:lnTo>
                    <a:pt x="1197" y="483"/>
                  </a:lnTo>
                  <a:lnTo>
                    <a:pt x="1197" y="467"/>
                  </a:lnTo>
                  <a:lnTo>
                    <a:pt x="1197" y="450"/>
                  </a:lnTo>
                  <a:lnTo>
                    <a:pt x="1197" y="433"/>
                  </a:lnTo>
                  <a:lnTo>
                    <a:pt x="1197" y="415"/>
                  </a:lnTo>
                  <a:lnTo>
                    <a:pt x="1197" y="398"/>
                  </a:lnTo>
                  <a:lnTo>
                    <a:pt x="1197" y="380"/>
                  </a:lnTo>
                  <a:lnTo>
                    <a:pt x="1196" y="361"/>
                  </a:lnTo>
                  <a:lnTo>
                    <a:pt x="1196" y="352"/>
                  </a:lnTo>
                  <a:lnTo>
                    <a:pt x="1196" y="343"/>
                  </a:lnTo>
                  <a:lnTo>
                    <a:pt x="1196" y="331"/>
                  </a:lnTo>
                  <a:lnTo>
                    <a:pt x="1196" y="321"/>
                  </a:lnTo>
                  <a:lnTo>
                    <a:pt x="1197" y="309"/>
                  </a:lnTo>
                  <a:lnTo>
                    <a:pt x="1197" y="297"/>
                  </a:lnTo>
                  <a:lnTo>
                    <a:pt x="1197" y="284"/>
                  </a:lnTo>
                  <a:lnTo>
                    <a:pt x="1197" y="271"/>
                  </a:lnTo>
                  <a:lnTo>
                    <a:pt x="1198" y="246"/>
                  </a:lnTo>
                  <a:lnTo>
                    <a:pt x="1198" y="219"/>
                  </a:lnTo>
                  <a:lnTo>
                    <a:pt x="1198" y="192"/>
                  </a:lnTo>
                  <a:lnTo>
                    <a:pt x="1197" y="166"/>
                  </a:lnTo>
                  <a:lnTo>
                    <a:pt x="1196" y="141"/>
                  </a:lnTo>
                  <a:lnTo>
                    <a:pt x="1196" y="128"/>
                  </a:lnTo>
                  <a:lnTo>
                    <a:pt x="1195" y="116"/>
                  </a:lnTo>
                  <a:lnTo>
                    <a:pt x="1194" y="103"/>
                  </a:lnTo>
                  <a:lnTo>
                    <a:pt x="1191" y="93"/>
                  </a:lnTo>
                  <a:lnTo>
                    <a:pt x="1190" y="81"/>
                  </a:lnTo>
                  <a:lnTo>
                    <a:pt x="1188" y="70"/>
                  </a:lnTo>
                  <a:lnTo>
                    <a:pt x="1186" y="61"/>
                  </a:lnTo>
                  <a:lnTo>
                    <a:pt x="1183" y="52"/>
                  </a:lnTo>
                  <a:lnTo>
                    <a:pt x="1180" y="44"/>
                  </a:lnTo>
                  <a:lnTo>
                    <a:pt x="1176" y="35"/>
                  </a:lnTo>
                  <a:lnTo>
                    <a:pt x="1173" y="28"/>
                  </a:lnTo>
                  <a:lnTo>
                    <a:pt x="1169" y="23"/>
                  </a:lnTo>
                  <a:lnTo>
                    <a:pt x="1165" y="17"/>
                  </a:lnTo>
                  <a:lnTo>
                    <a:pt x="1160" y="13"/>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33" name="Line 347"/>
            <p:cNvSpPr>
              <a:spLocks noChangeShapeType="1"/>
            </p:cNvSpPr>
            <p:nvPr/>
          </p:nvSpPr>
          <p:spPr bwMode="auto">
            <a:xfrm flipV="1">
              <a:off x="2804" y="2602"/>
              <a:ext cx="309" cy="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34" name="Rectangle 333"/>
            <p:cNvSpPr>
              <a:spLocks noChangeArrowheads="1"/>
            </p:cNvSpPr>
            <p:nvPr/>
          </p:nvSpPr>
          <p:spPr bwMode="auto">
            <a:xfrm>
              <a:off x="2205" y="3109"/>
              <a:ext cx="4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r>
                <a:rPr lang="en-US" sz="1500">
                  <a:solidFill>
                    <a:srgbClr val="000000"/>
                  </a:solidFill>
                  <a:latin typeface="Times New Roman" pitchFamily="18" charset="0"/>
                </a:rPr>
                <a:t> </a:t>
              </a:r>
              <a:endParaRPr lang="en-US">
                <a:solidFill>
                  <a:prstClr val="black"/>
                </a:solidFill>
                <a:latin typeface="Times New Roman" pitchFamily="18" charset="0"/>
              </a:endParaRPr>
            </a:p>
          </p:txBody>
        </p:sp>
        <p:sp>
          <p:nvSpPr>
            <p:cNvPr id="335" name="Rectangle 334"/>
            <p:cNvSpPr>
              <a:spLocks noChangeArrowheads="1"/>
            </p:cNvSpPr>
            <p:nvPr/>
          </p:nvSpPr>
          <p:spPr bwMode="auto">
            <a:xfrm>
              <a:off x="2094" y="3243"/>
              <a:ext cx="4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r>
                <a:rPr lang="en-US" sz="1500">
                  <a:solidFill>
                    <a:srgbClr val="000000"/>
                  </a:solidFill>
                  <a:latin typeface="Times New Roman" pitchFamily="18" charset="0"/>
                </a:rPr>
                <a:t> </a:t>
              </a:r>
              <a:endParaRPr lang="en-US">
                <a:solidFill>
                  <a:prstClr val="black"/>
                </a:solidFill>
                <a:latin typeface="Times New Roman" pitchFamily="18" charset="0"/>
              </a:endParaRPr>
            </a:p>
          </p:txBody>
        </p:sp>
        <p:sp>
          <p:nvSpPr>
            <p:cNvPr id="336" name="Rectangle 335"/>
            <p:cNvSpPr>
              <a:spLocks noChangeArrowheads="1"/>
            </p:cNvSpPr>
            <p:nvPr/>
          </p:nvSpPr>
          <p:spPr bwMode="auto">
            <a:xfrm>
              <a:off x="3255" y="3073"/>
              <a:ext cx="913"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37" name="Rectangle 336"/>
            <p:cNvSpPr>
              <a:spLocks noChangeArrowheads="1"/>
            </p:cNvSpPr>
            <p:nvPr/>
          </p:nvSpPr>
          <p:spPr bwMode="auto">
            <a:xfrm>
              <a:off x="3907" y="3109"/>
              <a:ext cx="4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r>
                <a:rPr lang="en-US" sz="1500">
                  <a:solidFill>
                    <a:srgbClr val="000000"/>
                  </a:solidFill>
                  <a:latin typeface="Times New Roman" pitchFamily="18" charset="0"/>
                </a:rPr>
                <a:t> </a:t>
              </a:r>
              <a:endParaRPr lang="en-US">
                <a:solidFill>
                  <a:prstClr val="black"/>
                </a:solidFill>
                <a:latin typeface="Times New Roman" pitchFamily="18" charset="0"/>
              </a:endParaRPr>
            </a:p>
          </p:txBody>
        </p:sp>
        <p:sp>
          <p:nvSpPr>
            <p:cNvPr id="338" name="Rectangle 337"/>
            <p:cNvSpPr>
              <a:spLocks noChangeArrowheads="1"/>
            </p:cNvSpPr>
            <p:nvPr/>
          </p:nvSpPr>
          <p:spPr bwMode="auto">
            <a:xfrm>
              <a:off x="3912" y="3243"/>
              <a:ext cx="4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r>
                <a:rPr lang="en-US" sz="1500">
                  <a:solidFill>
                    <a:srgbClr val="000000"/>
                  </a:solidFill>
                  <a:latin typeface="Times New Roman" pitchFamily="18" charset="0"/>
                </a:rPr>
                <a:t> </a:t>
              </a:r>
              <a:endParaRPr lang="en-US">
                <a:solidFill>
                  <a:prstClr val="black"/>
                </a:solidFill>
                <a:latin typeface="Times New Roman" pitchFamily="18" charset="0"/>
              </a:endParaRPr>
            </a:p>
          </p:txBody>
        </p:sp>
        <p:sp>
          <p:nvSpPr>
            <p:cNvPr id="339" name="Freeform 338"/>
            <p:cNvSpPr>
              <a:spLocks noEditPoints="1"/>
            </p:cNvSpPr>
            <p:nvPr/>
          </p:nvSpPr>
          <p:spPr bwMode="auto">
            <a:xfrm>
              <a:off x="2182" y="3219"/>
              <a:ext cx="384" cy="59"/>
            </a:xfrm>
            <a:custGeom>
              <a:avLst/>
              <a:gdLst>
                <a:gd name="T0" fmla="*/ 4 w 384"/>
                <a:gd name="T1" fmla="*/ 26 h 59"/>
                <a:gd name="T2" fmla="*/ 335 w 384"/>
                <a:gd name="T3" fmla="*/ 26 h 59"/>
                <a:gd name="T4" fmla="*/ 337 w 384"/>
                <a:gd name="T5" fmla="*/ 26 h 59"/>
                <a:gd name="T6" fmla="*/ 338 w 384"/>
                <a:gd name="T7" fmla="*/ 26 h 59"/>
                <a:gd name="T8" fmla="*/ 339 w 384"/>
                <a:gd name="T9" fmla="*/ 27 h 59"/>
                <a:gd name="T10" fmla="*/ 339 w 384"/>
                <a:gd name="T11" fmla="*/ 30 h 59"/>
                <a:gd name="T12" fmla="*/ 339 w 384"/>
                <a:gd name="T13" fmla="*/ 31 h 59"/>
                <a:gd name="T14" fmla="*/ 338 w 384"/>
                <a:gd name="T15" fmla="*/ 32 h 59"/>
                <a:gd name="T16" fmla="*/ 337 w 384"/>
                <a:gd name="T17" fmla="*/ 33 h 59"/>
                <a:gd name="T18" fmla="*/ 335 w 384"/>
                <a:gd name="T19" fmla="*/ 33 h 59"/>
                <a:gd name="T20" fmla="*/ 4 w 384"/>
                <a:gd name="T21" fmla="*/ 33 h 59"/>
                <a:gd name="T22" fmla="*/ 3 w 384"/>
                <a:gd name="T23" fmla="*/ 33 h 59"/>
                <a:gd name="T24" fmla="*/ 2 w 384"/>
                <a:gd name="T25" fmla="*/ 32 h 59"/>
                <a:gd name="T26" fmla="*/ 2 w 384"/>
                <a:gd name="T27" fmla="*/ 31 h 59"/>
                <a:gd name="T28" fmla="*/ 0 w 384"/>
                <a:gd name="T29" fmla="*/ 30 h 59"/>
                <a:gd name="T30" fmla="*/ 2 w 384"/>
                <a:gd name="T31" fmla="*/ 27 h 59"/>
                <a:gd name="T32" fmla="*/ 2 w 384"/>
                <a:gd name="T33" fmla="*/ 26 h 59"/>
                <a:gd name="T34" fmla="*/ 3 w 384"/>
                <a:gd name="T35" fmla="*/ 26 h 59"/>
                <a:gd name="T36" fmla="*/ 4 w 384"/>
                <a:gd name="T37" fmla="*/ 26 h 59"/>
                <a:gd name="T38" fmla="*/ 4 w 384"/>
                <a:gd name="T39" fmla="*/ 26 h 59"/>
                <a:gd name="T40" fmla="*/ 326 w 384"/>
                <a:gd name="T41" fmla="*/ 0 h 59"/>
                <a:gd name="T42" fmla="*/ 384 w 384"/>
                <a:gd name="T43" fmla="*/ 30 h 59"/>
                <a:gd name="T44" fmla="*/ 326 w 384"/>
                <a:gd name="T45" fmla="*/ 59 h 59"/>
                <a:gd name="T46" fmla="*/ 326 w 384"/>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4" h="59">
                  <a:moveTo>
                    <a:pt x="4" y="26"/>
                  </a:moveTo>
                  <a:lnTo>
                    <a:pt x="335" y="26"/>
                  </a:lnTo>
                  <a:lnTo>
                    <a:pt x="337" y="26"/>
                  </a:lnTo>
                  <a:lnTo>
                    <a:pt x="338" y="26"/>
                  </a:lnTo>
                  <a:lnTo>
                    <a:pt x="339" y="27"/>
                  </a:lnTo>
                  <a:lnTo>
                    <a:pt x="339" y="30"/>
                  </a:lnTo>
                  <a:lnTo>
                    <a:pt x="339" y="31"/>
                  </a:lnTo>
                  <a:lnTo>
                    <a:pt x="338" y="32"/>
                  </a:lnTo>
                  <a:lnTo>
                    <a:pt x="337" y="33"/>
                  </a:lnTo>
                  <a:lnTo>
                    <a:pt x="335" y="33"/>
                  </a:lnTo>
                  <a:lnTo>
                    <a:pt x="4" y="33"/>
                  </a:lnTo>
                  <a:lnTo>
                    <a:pt x="3" y="33"/>
                  </a:lnTo>
                  <a:lnTo>
                    <a:pt x="2" y="32"/>
                  </a:lnTo>
                  <a:lnTo>
                    <a:pt x="2" y="31"/>
                  </a:lnTo>
                  <a:lnTo>
                    <a:pt x="0" y="30"/>
                  </a:lnTo>
                  <a:lnTo>
                    <a:pt x="2" y="27"/>
                  </a:lnTo>
                  <a:lnTo>
                    <a:pt x="2" y="26"/>
                  </a:lnTo>
                  <a:lnTo>
                    <a:pt x="3" y="26"/>
                  </a:lnTo>
                  <a:lnTo>
                    <a:pt x="4" y="26"/>
                  </a:lnTo>
                  <a:lnTo>
                    <a:pt x="4" y="26"/>
                  </a:lnTo>
                  <a:close/>
                  <a:moveTo>
                    <a:pt x="326" y="0"/>
                  </a:moveTo>
                  <a:lnTo>
                    <a:pt x="384" y="30"/>
                  </a:lnTo>
                  <a:lnTo>
                    <a:pt x="326" y="59"/>
                  </a:lnTo>
                  <a:lnTo>
                    <a:pt x="326" y="0"/>
                  </a:lnTo>
                  <a:close/>
                </a:path>
              </a:pathLst>
            </a:custGeom>
            <a:solidFill>
              <a:srgbClr val="000000"/>
            </a:solidFill>
            <a:ln w="1588">
              <a:solidFill>
                <a:srgbClr val="000000"/>
              </a:solidFill>
              <a:prstDash val="solid"/>
              <a:round/>
              <a:headEnd/>
              <a:tailEnd/>
            </a:ln>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40" name="Freeform 339"/>
            <p:cNvSpPr>
              <a:spLocks noEditPoints="1"/>
            </p:cNvSpPr>
            <p:nvPr/>
          </p:nvSpPr>
          <p:spPr bwMode="auto">
            <a:xfrm>
              <a:off x="1175" y="3219"/>
              <a:ext cx="384" cy="59"/>
            </a:xfrm>
            <a:custGeom>
              <a:avLst/>
              <a:gdLst>
                <a:gd name="T0" fmla="*/ 381 w 384"/>
                <a:gd name="T1" fmla="*/ 33 h 59"/>
                <a:gd name="T2" fmla="*/ 49 w 384"/>
                <a:gd name="T3" fmla="*/ 33 h 59"/>
                <a:gd name="T4" fmla="*/ 48 w 384"/>
                <a:gd name="T5" fmla="*/ 33 h 59"/>
                <a:gd name="T6" fmla="*/ 47 w 384"/>
                <a:gd name="T7" fmla="*/ 32 h 59"/>
                <a:gd name="T8" fmla="*/ 46 w 384"/>
                <a:gd name="T9" fmla="*/ 31 h 59"/>
                <a:gd name="T10" fmla="*/ 46 w 384"/>
                <a:gd name="T11" fmla="*/ 30 h 59"/>
                <a:gd name="T12" fmla="*/ 46 w 384"/>
                <a:gd name="T13" fmla="*/ 28 h 59"/>
                <a:gd name="T14" fmla="*/ 47 w 384"/>
                <a:gd name="T15" fmla="*/ 27 h 59"/>
                <a:gd name="T16" fmla="*/ 48 w 384"/>
                <a:gd name="T17" fmla="*/ 26 h 59"/>
                <a:gd name="T18" fmla="*/ 49 w 384"/>
                <a:gd name="T19" fmla="*/ 26 h 59"/>
                <a:gd name="T20" fmla="*/ 381 w 384"/>
                <a:gd name="T21" fmla="*/ 26 h 59"/>
                <a:gd name="T22" fmla="*/ 382 w 384"/>
                <a:gd name="T23" fmla="*/ 26 h 59"/>
                <a:gd name="T24" fmla="*/ 383 w 384"/>
                <a:gd name="T25" fmla="*/ 26 h 59"/>
                <a:gd name="T26" fmla="*/ 384 w 384"/>
                <a:gd name="T27" fmla="*/ 27 h 59"/>
                <a:gd name="T28" fmla="*/ 384 w 384"/>
                <a:gd name="T29" fmla="*/ 30 h 59"/>
                <a:gd name="T30" fmla="*/ 384 w 384"/>
                <a:gd name="T31" fmla="*/ 31 h 59"/>
                <a:gd name="T32" fmla="*/ 383 w 384"/>
                <a:gd name="T33" fmla="*/ 32 h 59"/>
                <a:gd name="T34" fmla="*/ 382 w 384"/>
                <a:gd name="T35" fmla="*/ 33 h 59"/>
                <a:gd name="T36" fmla="*/ 381 w 384"/>
                <a:gd name="T37" fmla="*/ 33 h 59"/>
                <a:gd name="T38" fmla="*/ 381 w 384"/>
                <a:gd name="T39" fmla="*/ 33 h 59"/>
                <a:gd name="T40" fmla="*/ 59 w 384"/>
                <a:gd name="T41" fmla="*/ 59 h 59"/>
                <a:gd name="T42" fmla="*/ 0 w 384"/>
                <a:gd name="T43" fmla="*/ 30 h 59"/>
                <a:gd name="T44" fmla="*/ 59 w 384"/>
                <a:gd name="T45" fmla="*/ 0 h 59"/>
                <a:gd name="T46" fmla="*/ 59 w 384"/>
                <a:gd name="T4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4" h="59">
                  <a:moveTo>
                    <a:pt x="381" y="33"/>
                  </a:moveTo>
                  <a:lnTo>
                    <a:pt x="49" y="33"/>
                  </a:lnTo>
                  <a:lnTo>
                    <a:pt x="48" y="33"/>
                  </a:lnTo>
                  <a:lnTo>
                    <a:pt x="47" y="32"/>
                  </a:lnTo>
                  <a:lnTo>
                    <a:pt x="46" y="31"/>
                  </a:lnTo>
                  <a:lnTo>
                    <a:pt x="46" y="30"/>
                  </a:lnTo>
                  <a:lnTo>
                    <a:pt x="46" y="28"/>
                  </a:lnTo>
                  <a:lnTo>
                    <a:pt x="47" y="27"/>
                  </a:lnTo>
                  <a:lnTo>
                    <a:pt x="48" y="26"/>
                  </a:lnTo>
                  <a:lnTo>
                    <a:pt x="49" y="26"/>
                  </a:lnTo>
                  <a:lnTo>
                    <a:pt x="381" y="26"/>
                  </a:lnTo>
                  <a:lnTo>
                    <a:pt x="382" y="26"/>
                  </a:lnTo>
                  <a:lnTo>
                    <a:pt x="383" y="26"/>
                  </a:lnTo>
                  <a:lnTo>
                    <a:pt x="384" y="27"/>
                  </a:lnTo>
                  <a:lnTo>
                    <a:pt x="384" y="30"/>
                  </a:lnTo>
                  <a:lnTo>
                    <a:pt x="384" y="31"/>
                  </a:lnTo>
                  <a:lnTo>
                    <a:pt x="383" y="32"/>
                  </a:lnTo>
                  <a:lnTo>
                    <a:pt x="382" y="33"/>
                  </a:lnTo>
                  <a:lnTo>
                    <a:pt x="381" y="33"/>
                  </a:lnTo>
                  <a:lnTo>
                    <a:pt x="381" y="33"/>
                  </a:lnTo>
                  <a:close/>
                  <a:moveTo>
                    <a:pt x="59" y="59"/>
                  </a:moveTo>
                  <a:lnTo>
                    <a:pt x="0" y="30"/>
                  </a:lnTo>
                  <a:lnTo>
                    <a:pt x="59" y="0"/>
                  </a:lnTo>
                  <a:lnTo>
                    <a:pt x="59" y="59"/>
                  </a:lnTo>
                  <a:close/>
                </a:path>
              </a:pathLst>
            </a:custGeom>
            <a:solidFill>
              <a:srgbClr val="000000"/>
            </a:solidFill>
            <a:ln w="1588">
              <a:solidFill>
                <a:srgbClr val="000000"/>
              </a:solidFill>
              <a:prstDash val="solid"/>
              <a:round/>
              <a:headEnd/>
              <a:tailEnd/>
            </a:ln>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41" name="Freeform 340"/>
            <p:cNvSpPr>
              <a:spLocks noEditPoints="1"/>
            </p:cNvSpPr>
            <p:nvPr/>
          </p:nvSpPr>
          <p:spPr bwMode="auto">
            <a:xfrm>
              <a:off x="3891" y="3219"/>
              <a:ext cx="384" cy="59"/>
            </a:xfrm>
            <a:custGeom>
              <a:avLst/>
              <a:gdLst>
                <a:gd name="T0" fmla="*/ 4 w 384"/>
                <a:gd name="T1" fmla="*/ 26 h 59"/>
                <a:gd name="T2" fmla="*/ 335 w 384"/>
                <a:gd name="T3" fmla="*/ 26 h 59"/>
                <a:gd name="T4" fmla="*/ 336 w 384"/>
                <a:gd name="T5" fmla="*/ 26 h 59"/>
                <a:gd name="T6" fmla="*/ 337 w 384"/>
                <a:gd name="T7" fmla="*/ 27 h 59"/>
                <a:gd name="T8" fmla="*/ 338 w 384"/>
                <a:gd name="T9" fmla="*/ 28 h 59"/>
                <a:gd name="T10" fmla="*/ 338 w 384"/>
                <a:gd name="T11" fmla="*/ 30 h 59"/>
                <a:gd name="T12" fmla="*/ 338 w 384"/>
                <a:gd name="T13" fmla="*/ 31 h 59"/>
                <a:gd name="T14" fmla="*/ 337 w 384"/>
                <a:gd name="T15" fmla="*/ 32 h 59"/>
                <a:gd name="T16" fmla="*/ 336 w 384"/>
                <a:gd name="T17" fmla="*/ 33 h 59"/>
                <a:gd name="T18" fmla="*/ 335 w 384"/>
                <a:gd name="T19" fmla="*/ 33 h 59"/>
                <a:gd name="T20" fmla="*/ 4 w 384"/>
                <a:gd name="T21" fmla="*/ 33 h 59"/>
                <a:gd name="T22" fmla="*/ 2 w 384"/>
                <a:gd name="T23" fmla="*/ 33 h 59"/>
                <a:gd name="T24" fmla="*/ 1 w 384"/>
                <a:gd name="T25" fmla="*/ 32 h 59"/>
                <a:gd name="T26" fmla="*/ 0 w 384"/>
                <a:gd name="T27" fmla="*/ 31 h 59"/>
                <a:gd name="T28" fmla="*/ 0 w 384"/>
                <a:gd name="T29" fmla="*/ 30 h 59"/>
                <a:gd name="T30" fmla="*/ 0 w 384"/>
                <a:gd name="T31" fmla="*/ 27 h 59"/>
                <a:gd name="T32" fmla="*/ 1 w 384"/>
                <a:gd name="T33" fmla="*/ 26 h 59"/>
                <a:gd name="T34" fmla="*/ 2 w 384"/>
                <a:gd name="T35" fmla="*/ 26 h 59"/>
                <a:gd name="T36" fmla="*/ 4 w 384"/>
                <a:gd name="T37" fmla="*/ 26 h 59"/>
                <a:gd name="T38" fmla="*/ 4 w 384"/>
                <a:gd name="T39" fmla="*/ 26 h 59"/>
                <a:gd name="T40" fmla="*/ 326 w 384"/>
                <a:gd name="T41" fmla="*/ 0 h 59"/>
                <a:gd name="T42" fmla="*/ 384 w 384"/>
                <a:gd name="T43" fmla="*/ 30 h 59"/>
                <a:gd name="T44" fmla="*/ 326 w 384"/>
                <a:gd name="T45" fmla="*/ 59 h 59"/>
                <a:gd name="T46" fmla="*/ 326 w 384"/>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84" h="59">
                  <a:moveTo>
                    <a:pt x="4" y="26"/>
                  </a:moveTo>
                  <a:lnTo>
                    <a:pt x="335" y="26"/>
                  </a:lnTo>
                  <a:lnTo>
                    <a:pt x="336" y="26"/>
                  </a:lnTo>
                  <a:lnTo>
                    <a:pt x="337" y="27"/>
                  </a:lnTo>
                  <a:lnTo>
                    <a:pt x="338" y="28"/>
                  </a:lnTo>
                  <a:lnTo>
                    <a:pt x="338" y="30"/>
                  </a:lnTo>
                  <a:lnTo>
                    <a:pt x="338" y="31"/>
                  </a:lnTo>
                  <a:lnTo>
                    <a:pt x="337" y="32"/>
                  </a:lnTo>
                  <a:lnTo>
                    <a:pt x="336" y="33"/>
                  </a:lnTo>
                  <a:lnTo>
                    <a:pt x="335" y="33"/>
                  </a:lnTo>
                  <a:lnTo>
                    <a:pt x="4" y="33"/>
                  </a:lnTo>
                  <a:lnTo>
                    <a:pt x="2" y="33"/>
                  </a:lnTo>
                  <a:lnTo>
                    <a:pt x="1" y="32"/>
                  </a:lnTo>
                  <a:lnTo>
                    <a:pt x="0" y="31"/>
                  </a:lnTo>
                  <a:lnTo>
                    <a:pt x="0" y="30"/>
                  </a:lnTo>
                  <a:lnTo>
                    <a:pt x="0" y="27"/>
                  </a:lnTo>
                  <a:lnTo>
                    <a:pt x="1" y="26"/>
                  </a:lnTo>
                  <a:lnTo>
                    <a:pt x="2" y="26"/>
                  </a:lnTo>
                  <a:lnTo>
                    <a:pt x="4" y="26"/>
                  </a:lnTo>
                  <a:lnTo>
                    <a:pt x="4" y="26"/>
                  </a:lnTo>
                  <a:close/>
                  <a:moveTo>
                    <a:pt x="326" y="0"/>
                  </a:moveTo>
                  <a:lnTo>
                    <a:pt x="384" y="30"/>
                  </a:lnTo>
                  <a:lnTo>
                    <a:pt x="326" y="59"/>
                  </a:lnTo>
                  <a:lnTo>
                    <a:pt x="326" y="0"/>
                  </a:lnTo>
                  <a:close/>
                </a:path>
              </a:pathLst>
            </a:custGeom>
            <a:solidFill>
              <a:srgbClr val="000000"/>
            </a:solidFill>
            <a:ln w="1588">
              <a:solidFill>
                <a:srgbClr val="000000"/>
              </a:solidFill>
              <a:prstDash val="solid"/>
              <a:round/>
              <a:headEnd/>
              <a:tailEnd/>
            </a:ln>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42" name="Freeform 341"/>
            <p:cNvSpPr>
              <a:spLocks noEditPoints="1"/>
            </p:cNvSpPr>
            <p:nvPr/>
          </p:nvSpPr>
          <p:spPr bwMode="auto">
            <a:xfrm>
              <a:off x="2843" y="3219"/>
              <a:ext cx="524" cy="59"/>
            </a:xfrm>
            <a:custGeom>
              <a:avLst/>
              <a:gdLst>
                <a:gd name="T0" fmla="*/ 668 w 671"/>
                <a:gd name="T1" fmla="*/ 33 h 59"/>
                <a:gd name="T2" fmla="*/ 49 w 671"/>
                <a:gd name="T3" fmla="*/ 33 h 59"/>
                <a:gd name="T4" fmla="*/ 48 w 671"/>
                <a:gd name="T5" fmla="*/ 33 h 59"/>
                <a:gd name="T6" fmla="*/ 47 w 671"/>
                <a:gd name="T7" fmla="*/ 32 h 59"/>
                <a:gd name="T8" fmla="*/ 45 w 671"/>
                <a:gd name="T9" fmla="*/ 31 h 59"/>
                <a:gd name="T10" fmla="*/ 45 w 671"/>
                <a:gd name="T11" fmla="*/ 30 h 59"/>
                <a:gd name="T12" fmla="*/ 45 w 671"/>
                <a:gd name="T13" fmla="*/ 28 h 59"/>
                <a:gd name="T14" fmla="*/ 47 w 671"/>
                <a:gd name="T15" fmla="*/ 27 h 59"/>
                <a:gd name="T16" fmla="*/ 48 w 671"/>
                <a:gd name="T17" fmla="*/ 26 h 59"/>
                <a:gd name="T18" fmla="*/ 49 w 671"/>
                <a:gd name="T19" fmla="*/ 26 h 59"/>
                <a:gd name="T20" fmla="*/ 668 w 671"/>
                <a:gd name="T21" fmla="*/ 26 h 59"/>
                <a:gd name="T22" fmla="*/ 669 w 671"/>
                <a:gd name="T23" fmla="*/ 26 h 59"/>
                <a:gd name="T24" fmla="*/ 670 w 671"/>
                <a:gd name="T25" fmla="*/ 26 h 59"/>
                <a:gd name="T26" fmla="*/ 671 w 671"/>
                <a:gd name="T27" fmla="*/ 27 h 59"/>
                <a:gd name="T28" fmla="*/ 671 w 671"/>
                <a:gd name="T29" fmla="*/ 30 h 59"/>
                <a:gd name="T30" fmla="*/ 671 w 671"/>
                <a:gd name="T31" fmla="*/ 31 h 59"/>
                <a:gd name="T32" fmla="*/ 670 w 671"/>
                <a:gd name="T33" fmla="*/ 32 h 59"/>
                <a:gd name="T34" fmla="*/ 669 w 671"/>
                <a:gd name="T35" fmla="*/ 33 h 59"/>
                <a:gd name="T36" fmla="*/ 668 w 671"/>
                <a:gd name="T37" fmla="*/ 33 h 59"/>
                <a:gd name="T38" fmla="*/ 668 w 671"/>
                <a:gd name="T39" fmla="*/ 33 h 59"/>
                <a:gd name="T40" fmla="*/ 58 w 671"/>
                <a:gd name="T41" fmla="*/ 59 h 59"/>
                <a:gd name="T42" fmla="*/ 0 w 671"/>
                <a:gd name="T43" fmla="*/ 30 h 59"/>
                <a:gd name="T44" fmla="*/ 58 w 671"/>
                <a:gd name="T45" fmla="*/ 0 h 59"/>
                <a:gd name="T46" fmla="*/ 58 w 671"/>
                <a:gd name="T4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1" h="59">
                  <a:moveTo>
                    <a:pt x="668" y="33"/>
                  </a:moveTo>
                  <a:lnTo>
                    <a:pt x="49" y="33"/>
                  </a:lnTo>
                  <a:lnTo>
                    <a:pt x="48" y="33"/>
                  </a:lnTo>
                  <a:lnTo>
                    <a:pt x="47" y="32"/>
                  </a:lnTo>
                  <a:lnTo>
                    <a:pt x="45" y="31"/>
                  </a:lnTo>
                  <a:lnTo>
                    <a:pt x="45" y="30"/>
                  </a:lnTo>
                  <a:lnTo>
                    <a:pt x="45" y="28"/>
                  </a:lnTo>
                  <a:lnTo>
                    <a:pt x="47" y="27"/>
                  </a:lnTo>
                  <a:lnTo>
                    <a:pt x="48" y="26"/>
                  </a:lnTo>
                  <a:lnTo>
                    <a:pt x="49" y="26"/>
                  </a:lnTo>
                  <a:lnTo>
                    <a:pt x="668" y="26"/>
                  </a:lnTo>
                  <a:lnTo>
                    <a:pt x="669" y="26"/>
                  </a:lnTo>
                  <a:lnTo>
                    <a:pt x="670" y="26"/>
                  </a:lnTo>
                  <a:lnTo>
                    <a:pt x="671" y="27"/>
                  </a:lnTo>
                  <a:lnTo>
                    <a:pt x="671" y="30"/>
                  </a:lnTo>
                  <a:lnTo>
                    <a:pt x="671" y="31"/>
                  </a:lnTo>
                  <a:lnTo>
                    <a:pt x="670" y="32"/>
                  </a:lnTo>
                  <a:lnTo>
                    <a:pt x="669" y="33"/>
                  </a:lnTo>
                  <a:lnTo>
                    <a:pt x="668" y="33"/>
                  </a:lnTo>
                  <a:lnTo>
                    <a:pt x="668" y="33"/>
                  </a:lnTo>
                  <a:close/>
                  <a:moveTo>
                    <a:pt x="58" y="59"/>
                  </a:moveTo>
                  <a:lnTo>
                    <a:pt x="0" y="30"/>
                  </a:lnTo>
                  <a:lnTo>
                    <a:pt x="58" y="0"/>
                  </a:lnTo>
                  <a:lnTo>
                    <a:pt x="58" y="59"/>
                  </a:lnTo>
                  <a:close/>
                </a:path>
              </a:pathLst>
            </a:custGeom>
            <a:solidFill>
              <a:srgbClr val="000000"/>
            </a:solidFill>
            <a:ln w="1588">
              <a:solidFill>
                <a:srgbClr val="000000"/>
              </a:solidFill>
              <a:prstDash val="solid"/>
              <a:round/>
              <a:headEnd/>
              <a:tailEnd/>
            </a:ln>
          </p:spPr>
          <p:txBody>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endParaRPr lang="en-US">
                <a:solidFill>
                  <a:prstClr val="black"/>
                </a:solidFill>
              </a:endParaRPr>
            </a:p>
          </p:txBody>
        </p:sp>
        <p:sp>
          <p:nvSpPr>
            <p:cNvPr id="343" name="Text Box 365"/>
            <p:cNvSpPr txBox="1">
              <a:spLocks noChangeArrowheads="1"/>
            </p:cNvSpPr>
            <p:nvPr/>
          </p:nvSpPr>
          <p:spPr bwMode="auto">
            <a:xfrm>
              <a:off x="1246" y="3061"/>
              <a:ext cx="1193"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r>
                <a:rPr lang="en-US" sz="1800" dirty="0">
                  <a:solidFill>
                    <a:prstClr val="black"/>
                  </a:solidFill>
                  <a:latin typeface="Calibri"/>
                </a:rPr>
                <a:t>administered</a:t>
              </a:r>
            </a:p>
            <a:p>
              <a:r>
                <a:rPr lang="en-US" sz="1800" dirty="0">
                  <a:solidFill>
                    <a:prstClr val="black"/>
                  </a:solidFill>
                  <a:latin typeface="Calibri"/>
                </a:rPr>
                <a:t>network</a:t>
              </a:r>
            </a:p>
          </p:txBody>
        </p:sp>
        <p:sp>
          <p:nvSpPr>
            <p:cNvPr id="344" name="Text Box 366"/>
            <p:cNvSpPr txBox="1">
              <a:spLocks noChangeArrowheads="1"/>
            </p:cNvSpPr>
            <p:nvPr/>
          </p:nvSpPr>
          <p:spPr bwMode="auto">
            <a:xfrm>
              <a:off x="3234" y="3039"/>
              <a:ext cx="812"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rtl="0" eaLnBrk="0" fontAlgn="base" hangingPunct="0">
                <a:spcBef>
                  <a:spcPct val="0"/>
                </a:spcBef>
                <a:spcAft>
                  <a:spcPct val="0"/>
                </a:spcAft>
                <a:defRPr sz="2400" kern="1200">
                  <a:solidFill>
                    <a:schemeClr val="tx1"/>
                  </a:solidFill>
                  <a:latin typeface="Comic Sans MS"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a:lstStyle>
            <a:p>
              <a:r>
                <a:rPr lang="en-US" sz="1800" dirty="0">
                  <a:solidFill>
                    <a:prstClr val="black"/>
                  </a:solidFill>
                  <a:latin typeface="Calibri"/>
                </a:rPr>
                <a:t>external</a:t>
              </a:r>
              <a:br>
                <a:rPr lang="en-US" sz="1800" dirty="0">
                  <a:solidFill>
                    <a:prstClr val="black"/>
                  </a:solidFill>
                  <a:latin typeface="Calibri"/>
                </a:rPr>
              </a:br>
              <a:r>
                <a:rPr lang="en-US" sz="1800" dirty="0">
                  <a:solidFill>
                    <a:prstClr val="black"/>
                  </a:solidFill>
                  <a:latin typeface="Calibri"/>
                </a:rPr>
                <a:t>network</a:t>
              </a:r>
            </a:p>
          </p:txBody>
        </p:sp>
      </p:grpSp>
    </p:spTree>
    <p:extLst>
      <p:ext uri="{BB962C8B-B14F-4D97-AF65-F5344CB8AC3E}">
        <p14:creationId xmlns:p14="http://schemas.microsoft.com/office/powerpoint/2010/main" val="33730638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Firewalls</a:t>
            </a:r>
            <a:endParaRPr lang="en-US" dirty="0"/>
          </a:p>
        </p:txBody>
      </p:sp>
      <p:sp>
        <p:nvSpPr>
          <p:cNvPr id="5" name="Content Placeholder 4"/>
          <p:cNvSpPr>
            <a:spLocks noGrp="1"/>
          </p:cNvSpPr>
          <p:nvPr>
            <p:ph idx="1"/>
          </p:nvPr>
        </p:nvSpPr>
        <p:spPr/>
        <p:txBody>
          <a:bodyPr>
            <a:normAutofit/>
          </a:bodyPr>
          <a:lstStyle/>
          <a:p>
            <a:r>
              <a:rPr lang="en-US" dirty="0"/>
              <a:t>Firewalls implement a security policy </a:t>
            </a:r>
            <a:r>
              <a:rPr lang="en-US" dirty="0" smtClean="0"/>
              <a:t>(accept </a:t>
            </a:r>
            <a:r>
              <a:rPr lang="en-US" dirty="0"/>
              <a:t>or deny), which distinguish “good” traffic from “bad” </a:t>
            </a:r>
            <a:r>
              <a:rPr lang="en-US" dirty="0" smtClean="0"/>
              <a:t>traffic</a:t>
            </a:r>
            <a:endParaRPr lang="en-US" dirty="0"/>
          </a:p>
          <a:p>
            <a:pPr lvl="1"/>
            <a:r>
              <a:rPr lang="en-US" dirty="0"/>
              <a:t>Part of the challenge of protecting a network with a firewall is determining the </a:t>
            </a:r>
            <a:r>
              <a:rPr lang="en-US" dirty="0" smtClean="0"/>
              <a:t>security policy </a:t>
            </a:r>
            <a:r>
              <a:rPr lang="en-US" dirty="0"/>
              <a:t>that meets the needs of the </a:t>
            </a:r>
            <a:r>
              <a:rPr lang="en-US" dirty="0" smtClean="0"/>
              <a:t>installation</a:t>
            </a:r>
          </a:p>
          <a:p>
            <a:endParaRPr lang="en-US" dirty="0"/>
          </a:p>
          <a:p>
            <a:r>
              <a:rPr lang="en-US" dirty="0" smtClean="0"/>
              <a:t>Firewalls </a:t>
            </a:r>
            <a:r>
              <a:rPr lang="en-US" dirty="0"/>
              <a:t>by Analogy</a:t>
            </a:r>
          </a:p>
          <a:p>
            <a:pPr lvl="1"/>
            <a:r>
              <a:rPr lang="en-US" dirty="0"/>
              <a:t>Passports are (generally) checked at the </a:t>
            </a:r>
            <a:r>
              <a:rPr lang="en-US" dirty="0" smtClean="0"/>
              <a:t>border</a:t>
            </a:r>
            <a:endParaRPr lang="en-US" dirty="0"/>
          </a:p>
          <a:p>
            <a:pPr lvl="1"/>
            <a:r>
              <a:rPr lang="en-US" dirty="0"/>
              <a:t>My office doesn’t have a door direct to the </a:t>
            </a:r>
            <a:r>
              <a:rPr lang="en-US" dirty="0" smtClean="0"/>
              <a:t>outside</a:t>
            </a:r>
            <a:endParaRPr lang="en-US" dirty="0"/>
          </a:p>
          <a:p>
            <a:pPr lvl="1"/>
            <a:r>
              <a:rPr lang="en-US" dirty="0" smtClean="0"/>
              <a:t>Bank still have vaults</a:t>
            </a:r>
            <a:endParaRPr lang="en-US" dirty="0"/>
          </a:p>
        </p:txBody>
      </p:sp>
    </p:spTree>
    <p:extLst>
      <p:ext uri="{BB962C8B-B14F-4D97-AF65-F5344CB8AC3E}">
        <p14:creationId xmlns:p14="http://schemas.microsoft.com/office/powerpoint/2010/main" val="1466160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Why Use Firewalls</a:t>
            </a:r>
            <a:endParaRPr lang="en-US" dirty="0"/>
          </a:p>
        </p:txBody>
      </p:sp>
      <p:sp>
        <p:nvSpPr>
          <p:cNvPr id="5" name="Content Placeholder 4"/>
          <p:cNvSpPr>
            <a:spLocks noGrp="1"/>
          </p:cNvSpPr>
          <p:nvPr>
            <p:ph idx="1"/>
          </p:nvPr>
        </p:nvSpPr>
        <p:spPr/>
        <p:txBody>
          <a:bodyPr>
            <a:normAutofit/>
          </a:bodyPr>
          <a:lstStyle/>
          <a:p>
            <a:r>
              <a:rPr lang="en-US" dirty="0"/>
              <a:t>Firewalls centrally manage access to services in ways that individual systems should but </a:t>
            </a:r>
            <a:r>
              <a:rPr lang="en-US" dirty="0" smtClean="0"/>
              <a:t>don't</a:t>
            </a:r>
          </a:p>
          <a:p>
            <a:pPr lvl="1"/>
            <a:r>
              <a:rPr lang="en-US" dirty="0" smtClean="0"/>
              <a:t>Hosts </a:t>
            </a:r>
            <a:r>
              <a:rPr lang="en-US" dirty="0"/>
              <a:t>have security holes</a:t>
            </a:r>
          </a:p>
          <a:p>
            <a:r>
              <a:rPr lang="en-US" dirty="0"/>
              <a:t>Firewalls can be professionally (and hence better) administered</a:t>
            </a:r>
          </a:p>
          <a:p>
            <a:r>
              <a:rPr lang="en-US" dirty="0"/>
              <a:t>They enforce the partition of a network into separate security </a:t>
            </a:r>
            <a:r>
              <a:rPr lang="en-US" dirty="0" smtClean="0"/>
              <a:t>domains</a:t>
            </a:r>
          </a:p>
          <a:p>
            <a:r>
              <a:rPr lang="en-US" dirty="0" smtClean="0"/>
              <a:t>They </a:t>
            </a:r>
            <a:r>
              <a:rPr lang="en-US" dirty="0"/>
              <a:t>can enforce policies such as systems outside the firewall can't </a:t>
            </a:r>
            <a:r>
              <a:rPr lang="en-US" dirty="0" smtClean="0"/>
              <a:t>access services </a:t>
            </a:r>
            <a:r>
              <a:rPr lang="en-US" dirty="0"/>
              <a:t>on any systems inside the firewall</a:t>
            </a:r>
          </a:p>
          <a:p>
            <a:r>
              <a:rPr lang="en-US" dirty="0"/>
              <a:t>With such a restriction, even if the internal systems are more open than they should be or have bugs, they can't be attacked directly from systems outside the </a:t>
            </a:r>
            <a:r>
              <a:rPr lang="en-US" dirty="0" smtClean="0"/>
              <a:t>firewall</a:t>
            </a:r>
            <a:endParaRPr lang="en-US" dirty="0"/>
          </a:p>
        </p:txBody>
      </p:sp>
    </p:spTree>
    <p:extLst>
      <p:ext uri="{BB962C8B-B14F-4D97-AF65-F5344CB8AC3E}">
        <p14:creationId xmlns:p14="http://schemas.microsoft.com/office/powerpoint/2010/main" val="11998909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Why Use Firewalls</a:t>
            </a:r>
            <a:endParaRPr lang="en-US" dirty="0"/>
          </a:p>
        </p:txBody>
      </p:sp>
      <p:sp>
        <p:nvSpPr>
          <p:cNvPr id="5" name="Content Placeholder 4"/>
          <p:cNvSpPr>
            <a:spLocks noGrp="1"/>
          </p:cNvSpPr>
          <p:nvPr>
            <p:ph idx="1"/>
          </p:nvPr>
        </p:nvSpPr>
        <p:spPr/>
        <p:txBody>
          <a:bodyPr>
            <a:normAutofit/>
          </a:bodyPr>
          <a:lstStyle/>
          <a:p>
            <a:r>
              <a:rPr lang="en-US" dirty="0"/>
              <a:t>Prevent denial of service attacks</a:t>
            </a:r>
          </a:p>
          <a:p>
            <a:pPr lvl="1"/>
            <a:r>
              <a:rPr lang="en-US" dirty="0"/>
              <a:t>SYN flooding: attacker establishes many bogus TCP connections, no resources left for “real” connections</a:t>
            </a:r>
          </a:p>
          <a:p>
            <a:r>
              <a:rPr lang="en-US" dirty="0"/>
              <a:t>Prevent illegal modification/access of internal data</a:t>
            </a:r>
          </a:p>
          <a:p>
            <a:pPr lvl="1"/>
            <a:r>
              <a:rPr lang="en-US" dirty="0"/>
              <a:t>e.g., attacker replaces CIA’s homepage with something else</a:t>
            </a:r>
          </a:p>
          <a:p>
            <a:r>
              <a:rPr lang="en-US" dirty="0"/>
              <a:t>Allow only authorized access to inside network</a:t>
            </a:r>
          </a:p>
          <a:p>
            <a:pPr lvl="1"/>
            <a:r>
              <a:rPr lang="en-US" dirty="0"/>
              <a:t>set of authenticated users/hosts</a:t>
            </a:r>
          </a:p>
          <a:p>
            <a:r>
              <a:rPr lang="en-US" dirty="0"/>
              <a:t>Prevent insider attacks on critical systems</a:t>
            </a:r>
          </a:p>
          <a:p>
            <a:pPr lvl="1"/>
            <a:r>
              <a:rPr lang="en-US" dirty="0"/>
              <a:t>Critical systems (human resources, payroll, etc.) can be hidden behind their own firewalls to prevent attacks from the inside</a:t>
            </a:r>
          </a:p>
        </p:txBody>
      </p:sp>
    </p:spTree>
    <p:extLst>
      <p:ext uri="{BB962C8B-B14F-4D97-AF65-F5344CB8AC3E}">
        <p14:creationId xmlns:p14="http://schemas.microsoft.com/office/powerpoint/2010/main" val="7284233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Firewall Policies</a:t>
            </a:r>
            <a:endParaRPr lang="en-US" dirty="0"/>
          </a:p>
        </p:txBody>
      </p:sp>
      <p:sp>
        <p:nvSpPr>
          <p:cNvPr id="5" name="Content Placeholder 4"/>
          <p:cNvSpPr>
            <a:spLocks noGrp="1"/>
          </p:cNvSpPr>
          <p:nvPr>
            <p:ph idx="1"/>
          </p:nvPr>
        </p:nvSpPr>
        <p:spPr/>
        <p:txBody>
          <a:bodyPr>
            <a:normAutofit/>
          </a:bodyPr>
          <a:lstStyle/>
          <a:p>
            <a:r>
              <a:rPr lang="en-US" dirty="0"/>
              <a:t>By careful positioning of a firewall within a network, we can ensure that all network </a:t>
            </a:r>
            <a:r>
              <a:rPr lang="en-US" dirty="0" smtClean="0"/>
              <a:t>access that </a:t>
            </a:r>
            <a:r>
              <a:rPr lang="en-US" dirty="0"/>
              <a:t>we want to control must pass through it</a:t>
            </a:r>
          </a:p>
          <a:p>
            <a:r>
              <a:rPr lang="en-US" dirty="0" smtClean="0"/>
              <a:t>There </a:t>
            </a:r>
            <a:r>
              <a:rPr lang="en-US" dirty="0"/>
              <a:t>are two main approaches to setting firewall policies regulating information flow</a:t>
            </a:r>
          </a:p>
          <a:p>
            <a:r>
              <a:rPr lang="en-US" dirty="0"/>
              <a:t>Default Permit:</a:t>
            </a:r>
          </a:p>
          <a:p>
            <a:pPr lvl="1"/>
            <a:r>
              <a:rPr lang="en-US" dirty="0"/>
              <a:t>Conditions are specified that will result in data being blocked; any host or protocol not covered by these conditions will pass through by default</a:t>
            </a:r>
          </a:p>
          <a:p>
            <a:pPr lvl="1"/>
            <a:r>
              <a:rPr lang="en-US" dirty="0"/>
              <a:t>Simpler to use, easy to configure, and more dangerous (you have to know everything that </a:t>
            </a:r>
            <a:r>
              <a:rPr lang="en-US" dirty="0" smtClean="0"/>
              <a:t>needs to be blocked)</a:t>
            </a:r>
            <a:endParaRPr lang="en-US" dirty="0"/>
          </a:p>
          <a:p>
            <a:r>
              <a:rPr lang="en-US" dirty="0"/>
              <a:t>Default Deny:</a:t>
            </a:r>
          </a:p>
          <a:p>
            <a:pPr lvl="1"/>
            <a:r>
              <a:rPr lang="en-US" dirty="0"/>
              <a:t>The particular protocols allowed through and the hosts that may pass data or be contacted are specified; all others are denied</a:t>
            </a:r>
          </a:p>
          <a:p>
            <a:pPr lvl="1"/>
            <a:r>
              <a:rPr lang="en-US" dirty="0"/>
              <a:t>Tends to be more secure</a:t>
            </a:r>
          </a:p>
        </p:txBody>
      </p:sp>
    </p:spTree>
    <p:extLst>
      <p:ext uri="{BB962C8B-B14F-4D97-AF65-F5344CB8AC3E}">
        <p14:creationId xmlns:p14="http://schemas.microsoft.com/office/powerpoint/2010/main" val="3066926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Schematic of a Firewall</a:t>
            </a:r>
            <a:endParaRPr lang="en-US" dirty="0"/>
          </a:p>
        </p:txBody>
      </p:sp>
      <p:sp>
        <p:nvSpPr>
          <p:cNvPr id="5" name="Content Placeholder 4"/>
          <p:cNvSpPr>
            <a:spLocks noGrp="1"/>
          </p:cNvSpPr>
          <p:nvPr>
            <p:ph idx="1"/>
          </p:nvPr>
        </p:nvSpPr>
        <p:spPr/>
        <p:txBody>
          <a:bodyPr>
            <a:normAutofit/>
          </a:bodyPr>
          <a:lstStyle/>
          <a:p>
            <a:r>
              <a:rPr lang="en-US" dirty="0"/>
              <a:t>An “</a:t>
            </a:r>
            <a:r>
              <a:rPr lang="en-US" dirty="0" smtClean="0"/>
              <a:t>inside” everyone </a:t>
            </a:r>
            <a:r>
              <a:rPr lang="en-US" dirty="0"/>
              <a:t>on the inside is presumed to be a good guy</a:t>
            </a:r>
          </a:p>
          <a:p>
            <a:r>
              <a:rPr lang="en-US" dirty="0"/>
              <a:t>An “outside” </a:t>
            </a:r>
            <a:r>
              <a:rPr lang="en-US" dirty="0" smtClean="0"/>
              <a:t>bad </a:t>
            </a:r>
            <a:r>
              <a:rPr lang="en-US" dirty="0"/>
              <a:t>guys live there</a:t>
            </a:r>
          </a:p>
          <a:p>
            <a:r>
              <a:rPr lang="en-US" dirty="0"/>
              <a:t>A “DMZ” (Demilitarized Zone) </a:t>
            </a:r>
            <a:r>
              <a:rPr lang="en-US" dirty="0" smtClean="0"/>
              <a:t>put </a:t>
            </a:r>
            <a:r>
              <a:rPr lang="en-US" dirty="0"/>
              <a:t>necessary but potentially dangerous servers there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9000" y="3124200"/>
            <a:ext cx="4457700" cy="3048000"/>
          </a:xfrm>
          <a:prstGeom prst="rect">
            <a:avLst/>
          </a:prstGeom>
        </p:spPr>
      </p:pic>
    </p:spTree>
    <p:extLst>
      <p:ext uri="{BB962C8B-B14F-4D97-AF65-F5344CB8AC3E}">
        <p14:creationId xmlns:p14="http://schemas.microsoft.com/office/powerpoint/2010/main" val="3557106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DMZ</a:t>
            </a:r>
            <a:endParaRPr lang="en-US" dirty="0"/>
          </a:p>
        </p:txBody>
      </p:sp>
      <p:sp>
        <p:nvSpPr>
          <p:cNvPr id="5" name="Content Placeholder 4"/>
          <p:cNvSpPr>
            <a:spLocks noGrp="1"/>
          </p:cNvSpPr>
          <p:nvPr>
            <p:ph idx="1"/>
          </p:nvPr>
        </p:nvSpPr>
        <p:spPr/>
        <p:txBody>
          <a:bodyPr>
            <a:normAutofit/>
          </a:bodyPr>
          <a:lstStyle/>
          <a:p>
            <a:r>
              <a:rPr lang="en-US" dirty="0"/>
              <a:t>Good spot for things like mail and web </a:t>
            </a:r>
            <a:r>
              <a:rPr lang="en-US" dirty="0" smtClean="0"/>
              <a:t>servers</a:t>
            </a:r>
          </a:p>
          <a:p>
            <a:pPr lvl="1"/>
            <a:r>
              <a:rPr lang="en-US" dirty="0"/>
              <a:t>Firewalls protect administrative divisions</a:t>
            </a:r>
          </a:p>
          <a:p>
            <a:r>
              <a:rPr lang="en-US" dirty="0" smtClean="0"/>
              <a:t>Outsiders </a:t>
            </a:r>
            <a:r>
              <a:rPr lang="en-US" dirty="0"/>
              <a:t>can send email, retrieve web pages</a:t>
            </a:r>
          </a:p>
          <a:p>
            <a:r>
              <a:rPr lang="en-US" dirty="0" smtClean="0"/>
              <a:t>Insiders </a:t>
            </a:r>
            <a:r>
              <a:rPr lang="en-US" dirty="0"/>
              <a:t>can retrieve email, update web pages</a:t>
            </a:r>
          </a:p>
          <a:p>
            <a:r>
              <a:rPr lang="en-US" dirty="0" smtClean="0"/>
              <a:t>Must </a:t>
            </a:r>
            <a:r>
              <a:rPr lang="en-US" dirty="0"/>
              <a:t>monitor such machines very </a:t>
            </a:r>
            <a:r>
              <a:rPr lang="en-US" dirty="0" smtClean="0"/>
              <a:t>carefully</a:t>
            </a:r>
            <a:endParaRPr lang="en-US" dirty="0"/>
          </a:p>
        </p:txBody>
      </p:sp>
    </p:spTree>
    <p:extLst>
      <p:ext uri="{BB962C8B-B14F-4D97-AF65-F5344CB8AC3E}">
        <p14:creationId xmlns:p14="http://schemas.microsoft.com/office/powerpoint/2010/main" val="15452503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Types of Firewalls</a:t>
            </a:r>
            <a:endParaRPr lang="en-US" dirty="0"/>
          </a:p>
        </p:txBody>
      </p:sp>
      <p:sp>
        <p:nvSpPr>
          <p:cNvPr id="5" name="Content Placeholder 4"/>
          <p:cNvSpPr>
            <a:spLocks noGrp="1"/>
          </p:cNvSpPr>
          <p:nvPr>
            <p:ph idx="1"/>
          </p:nvPr>
        </p:nvSpPr>
        <p:spPr/>
        <p:txBody>
          <a:bodyPr>
            <a:normAutofit/>
          </a:bodyPr>
          <a:lstStyle/>
          <a:p>
            <a:r>
              <a:rPr lang="en-US" dirty="0"/>
              <a:t>There are three main types of </a:t>
            </a:r>
            <a:r>
              <a:rPr lang="en-US" dirty="0" smtClean="0"/>
              <a:t>firewalls:</a:t>
            </a:r>
            <a:endParaRPr lang="en-US" dirty="0"/>
          </a:p>
          <a:p>
            <a:pPr lvl="1"/>
            <a:r>
              <a:rPr lang="en-US" sz="2400" dirty="0"/>
              <a:t>State-less packet filters</a:t>
            </a:r>
          </a:p>
          <a:p>
            <a:pPr lvl="1"/>
            <a:r>
              <a:rPr lang="en-US" sz="2400" dirty="0"/>
              <a:t>State-full packet filters</a:t>
            </a:r>
          </a:p>
          <a:p>
            <a:pPr lvl="1"/>
            <a:r>
              <a:rPr lang="en-US" sz="2400" dirty="0"/>
              <a:t>Application gateways</a:t>
            </a:r>
            <a:endParaRPr lang="en-US" dirty="0"/>
          </a:p>
          <a:p>
            <a:endParaRPr lang="en-US" dirty="0"/>
          </a:p>
          <a:p>
            <a:r>
              <a:rPr lang="en-US" dirty="0"/>
              <a:t>They all work towards the same goals, but take different approaches in doing so</a:t>
            </a:r>
          </a:p>
        </p:txBody>
      </p:sp>
    </p:spTree>
    <p:extLst>
      <p:ext uri="{BB962C8B-B14F-4D97-AF65-F5344CB8AC3E}">
        <p14:creationId xmlns:p14="http://schemas.microsoft.com/office/powerpoint/2010/main" val="2340655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State-less Packet Filters</a:t>
            </a:r>
            <a:endParaRPr lang="en-US" dirty="0"/>
          </a:p>
        </p:txBody>
      </p:sp>
      <p:sp>
        <p:nvSpPr>
          <p:cNvPr id="5" name="Content Placeholder 4"/>
          <p:cNvSpPr>
            <a:spLocks noGrp="1"/>
          </p:cNvSpPr>
          <p:nvPr>
            <p:ph idx="1"/>
          </p:nvPr>
        </p:nvSpPr>
        <p:spPr/>
        <p:txBody>
          <a:bodyPr>
            <a:normAutofit/>
          </a:bodyPr>
          <a:lstStyle/>
          <a:p>
            <a:r>
              <a:rPr lang="en-US" dirty="0"/>
              <a:t>Internal network connected to </a:t>
            </a:r>
            <a:r>
              <a:rPr lang="en-US" dirty="0" smtClean="0"/>
              <a:t>Internet (outside) </a:t>
            </a:r>
            <a:r>
              <a:rPr lang="en-US" dirty="0"/>
              <a:t>via router </a:t>
            </a:r>
            <a:r>
              <a:rPr lang="en-US" dirty="0" smtClean="0"/>
              <a:t>firewall</a:t>
            </a:r>
          </a:p>
          <a:p>
            <a:r>
              <a:rPr lang="en-US" dirty="0"/>
              <a:t>Look at the headers of packets </a:t>
            </a:r>
            <a:r>
              <a:rPr lang="en-US" dirty="0" smtClean="0"/>
              <a:t>(accept/reject; no context </a:t>
            </a:r>
            <a:r>
              <a:rPr lang="en-US" dirty="0"/>
              <a:t>is </a:t>
            </a:r>
            <a:r>
              <a:rPr lang="en-US" dirty="0" smtClean="0"/>
              <a:t>used), </a:t>
            </a:r>
            <a:r>
              <a:rPr lang="en-US" dirty="0"/>
              <a:t>simplest and, in some situations, the most effective type of </a:t>
            </a:r>
            <a:r>
              <a:rPr lang="en-US" dirty="0" smtClean="0"/>
              <a:t>firewall</a:t>
            </a:r>
            <a:endParaRPr lang="en-US" dirty="0"/>
          </a:p>
          <a:p>
            <a:endParaRPr lang="en-US" dirty="0"/>
          </a:p>
          <a:p>
            <a:r>
              <a:rPr lang="en-US" dirty="0"/>
              <a:t>Router filters </a:t>
            </a:r>
            <a:r>
              <a:rPr lang="en-US" dirty="0" smtClean="0"/>
              <a:t>packet-by-packet</a:t>
            </a:r>
          </a:p>
          <a:p>
            <a:r>
              <a:rPr lang="en-US" dirty="0" smtClean="0"/>
              <a:t>Decision to </a:t>
            </a:r>
            <a:r>
              <a:rPr lang="en-US" dirty="0"/>
              <a:t>forward/drop packet based on:</a:t>
            </a:r>
          </a:p>
          <a:p>
            <a:pPr lvl="1"/>
            <a:r>
              <a:rPr lang="en-US" dirty="0"/>
              <a:t>Source IP address, destination IP address</a:t>
            </a:r>
          </a:p>
          <a:p>
            <a:pPr lvl="1"/>
            <a:r>
              <a:rPr lang="en-US" dirty="0"/>
              <a:t>TCP/UDP source and destination port numbers</a:t>
            </a:r>
          </a:p>
          <a:p>
            <a:pPr lvl="1"/>
            <a:r>
              <a:rPr lang="en-US" dirty="0"/>
              <a:t>ICMP message type</a:t>
            </a:r>
          </a:p>
          <a:p>
            <a:pPr lvl="1"/>
            <a:r>
              <a:rPr lang="en-US" dirty="0"/>
              <a:t>TCP SYN and ACK bits</a:t>
            </a:r>
          </a:p>
        </p:txBody>
      </p:sp>
    </p:spTree>
    <p:extLst>
      <p:ext uri="{BB962C8B-B14F-4D97-AF65-F5344CB8AC3E}">
        <p14:creationId xmlns:p14="http://schemas.microsoft.com/office/powerpoint/2010/main" val="27202239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State-less Packet Filters</a:t>
            </a:r>
            <a:endParaRPr lang="en-US" dirty="0"/>
          </a:p>
        </p:txBody>
      </p:sp>
      <p:sp>
        <p:nvSpPr>
          <p:cNvPr id="5" name="Content Placeholder 4"/>
          <p:cNvSpPr>
            <a:spLocks noGrp="1"/>
          </p:cNvSpPr>
          <p:nvPr>
            <p:ph idx="1"/>
          </p:nvPr>
        </p:nvSpPr>
        <p:spPr/>
        <p:txBody>
          <a:bodyPr>
            <a:normAutofit/>
          </a:bodyPr>
          <a:lstStyle/>
          <a:p>
            <a:pPr marL="0" indent="0">
              <a:buNone/>
            </a:pPr>
            <a:r>
              <a:rPr lang="en-US" b="1" dirty="0" smtClean="0"/>
              <a:t>State-less </a:t>
            </a:r>
            <a:r>
              <a:rPr lang="en-US" b="1" dirty="0"/>
              <a:t>Packet Filtering: Examples</a:t>
            </a:r>
          </a:p>
          <a:p>
            <a:endParaRPr lang="en-US" dirty="0"/>
          </a:p>
          <a:p>
            <a:r>
              <a:rPr lang="en-US" dirty="0"/>
              <a:t>Example 1: block incoming and outgoing datagrams with IP protocol field 17 and with either source or destination port 23</a:t>
            </a:r>
          </a:p>
          <a:p>
            <a:pPr lvl="1"/>
            <a:r>
              <a:rPr lang="en-US" sz="2400" dirty="0" smtClean="0"/>
              <a:t>All </a:t>
            </a:r>
            <a:r>
              <a:rPr lang="en-US" sz="2400" dirty="0"/>
              <a:t>incoming, outgoing UDP flows and telnet connections are blocked</a:t>
            </a:r>
            <a:endParaRPr lang="en-US" dirty="0"/>
          </a:p>
          <a:p>
            <a:endParaRPr lang="en-US" dirty="0" smtClean="0"/>
          </a:p>
          <a:p>
            <a:r>
              <a:rPr lang="en-US" dirty="0">
                <a:hlinkClick r:id="rId2"/>
              </a:rPr>
              <a:t>https://</a:t>
            </a:r>
            <a:r>
              <a:rPr lang="en-US" dirty="0" smtClean="0">
                <a:hlinkClick r:id="rId2"/>
              </a:rPr>
              <a:t>en.wikipedia.org/wiki/List_of_IP_protocol_numbers</a:t>
            </a:r>
            <a:endParaRPr lang="en-US" dirty="0" smtClean="0"/>
          </a:p>
          <a:p>
            <a:r>
              <a:rPr lang="en-US" dirty="0">
                <a:hlinkClick r:id="rId3"/>
              </a:rPr>
              <a:t>https://</a:t>
            </a:r>
            <a:r>
              <a:rPr lang="en-US" dirty="0" smtClean="0">
                <a:hlinkClick r:id="rId3"/>
              </a:rPr>
              <a:t>en.wikipedia.org/wiki/List_of_TCP_and_UDP_port_numbers</a:t>
            </a:r>
            <a:endParaRPr lang="en-US" dirty="0"/>
          </a:p>
          <a:p>
            <a:endParaRPr lang="en-US" dirty="0"/>
          </a:p>
          <a:p>
            <a:r>
              <a:rPr lang="en-US" dirty="0"/>
              <a:t>Example 2: Block inbound TCP segments with ACK 0</a:t>
            </a:r>
          </a:p>
          <a:p>
            <a:pPr lvl="1"/>
            <a:r>
              <a:rPr lang="en-US" sz="2400" dirty="0"/>
              <a:t>Prevents external clients from making TCP connections with internal clients, but allows </a:t>
            </a:r>
            <a:r>
              <a:rPr lang="en-US" sz="2400" dirty="0" smtClean="0"/>
              <a:t>internal </a:t>
            </a:r>
            <a:r>
              <a:rPr lang="en-US" sz="2400" dirty="0"/>
              <a:t>clients to connect to outside</a:t>
            </a:r>
            <a:endParaRPr lang="en-US" dirty="0"/>
          </a:p>
        </p:txBody>
      </p:sp>
    </p:spTree>
    <p:extLst>
      <p:ext uri="{BB962C8B-B14F-4D97-AF65-F5344CB8AC3E}">
        <p14:creationId xmlns:p14="http://schemas.microsoft.com/office/powerpoint/2010/main" val="10999294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State-less Packet Filters</a:t>
            </a:r>
            <a:endParaRPr lang="en-US" dirty="0"/>
          </a:p>
        </p:txBody>
      </p:sp>
      <p:sp>
        <p:nvSpPr>
          <p:cNvPr id="5" name="Content Placeholder 4"/>
          <p:cNvSpPr>
            <a:spLocks noGrp="1"/>
          </p:cNvSpPr>
          <p:nvPr>
            <p:ph idx="1"/>
          </p:nvPr>
        </p:nvSpPr>
        <p:spPr/>
        <p:txBody>
          <a:bodyPr>
            <a:normAutofit/>
          </a:bodyPr>
          <a:lstStyle/>
          <a:p>
            <a:pPr marL="0" indent="0">
              <a:buNone/>
            </a:pPr>
            <a:r>
              <a:rPr lang="en-US" b="1" dirty="0" smtClean="0"/>
              <a:t>State-less </a:t>
            </a:r>
            <a:r>
              <a:rPr lang="en-US" b="1" dirty="0"/>
              <a:t>Packet Filtering: Examples</a:t>
            </a:r>
          </a:p>
          <a:p>
            <a:pPr eaLnBrk="0" fontAlgn="base" hangingPunct="0"/>
            <a:endParaRPr lang="en-US" u="sng" dirty="0" smtClean="0"/>
          </a:p>
          <a:p>
            <a:pPr eaLnBrk="0" fontAlgn="base" hangingPunct="0"/>
            <a:r>
              <a:rPr lang="en-US" u="sng" dirty="0" smtClean="0"/>
              <a:t>Policy:</a:t>
            </a:r>
            <a:r>
              <a:rPr lang="en-US" dirty="0" smtClean="0"/>
              <a:t> </a:t>
            </a:r>
            <a:r>
              <a:rPr lang="en-US" dirty="0"/>
              <a:t>No outside Web access</a:t>
            </a:r>
          </a:p>
          <a:p>
            <a:pPr eaLnBrk="0" fontAlgn="base" hangingPunct="0"/>
            <a:r>
              <a:rPr lang="en-US" u="sng" dirty="0"/>
              <a:t>Firewall </a:t>
            </a:r>
            <a:r>
              <a:rPr lang="en-US" u="sng" dirty="0" smtClean="0"/>
              <a:t>Setting:</a:t>
            </a:r>
            <a:r>
              <a:rPr lang="en-US" dirty="0" smtClean="0"/>
              <a:t> </a:t>
            </a:r>
            <a:r>
              <a:rPr lang="en-US" dirty="0"/>
              <a:t>Drop all outgoing packets to any IP address, port 80</a:t>
            </a:r>
          </a:p>
          <a:p>
            <a:pPr eaLnBrk="0" fontAlgn="base" hangingPunct="0"/>
            <a:endParaRPr lang="en-US" dirty="0"/>
          </a:p>
          <a:p>
            <a:pPr eaLnBrk="0" fontAlgn="base" hangingPunct="0"/>
            <a:r>
              <a:rPr lang="en-US" u="sng" dirty="0" smtClean="0"/>
              <a:t>Policy:</a:t>
            </a:r>
            <a:r>
              <a:rPr lang="en-US" dirty="0" smtClean="0"/>
              <a:t> No </a:t>
            </a:r>
            <a:r>
              <a:rPr lang="en-US" dirty="0"/>
              <a:t>incoming TCP connections, except those for institution’s public Web server </a:t>
            </a:r>
            <a:r>
              <a:rPr lang="en-US" dirty="0" smtClean="0"/>
              <a:t>only</a:t>
            </a:r>
            <a:endParaRPr lang="en-US" dirty="0"/>
          </a:p>
          <a:p>
            <a:pPr eaLnBrk="0" fontAlgn="base" hangingPunct="0"/>
            <a:r>
              <a:rPr lang="en-US" u="sng" dirty="0"/>
              <a:t>Firewall Setting:</a:t>
            </a:r>
            <a:r>
              <a:rPr lang="en-US" dirty="0"/>
              <a:t> </a:t>
            </a:r>
            <a:r>
              <a:rPr lang="en-US" dirty="0" smtClean="0"/>
              <a:t>Drop </a:t>
            </a:r>
            <a:r>
              <a:rPr lang="en-US" dirty="0"/>
              <a:t>all incoming TCP SYN packets to any IP except 130.207.244.203, port 80</a:t>
            </a:r>
          </a:p>
          <a:p>
            <a:pPr eaLnBrk="0" fontAlgn="base" hangingPunct="0"/>
            <a:endParaRPr lang="en-US" u="sng" dirty="0" smtClean="0"/>
          </a:p>
          <a:p>
            <a:pPr eaLnBrk="0" fontAlgn="base" hangingPunct="0"/>
            <a:r>
              <a:rPr lang="en-US" u="sng" dirty="0"/>
              <a:t>Policy:</a:t>
            </a:r>
            <a:r>
              <a:rPr lang="en-US" dirty="0"/>
              <a:t> Prevent your network from being trace-routed</a:t>
            </a:r>
          </a:p>
          <a:p>
            <a:pPr eaLnBrk="0" fontAlgn="base" hangingPunct="0"/>
            <a:r>
              <a:rPr lang="en-US" u="sng" dirty="0"/>
              <a:t>Firewall Setting:</a:t>
            </a:r>
            <a:r>
              <a:rPr lang="en-US" dirty="0"/>
              <a:t> Drop all outgoing ICMP TTL expired </a:t>
            </a:r>
            <a:r>
              <a:rPr lang="en-US" dirty="0" smtClean="0"/>
              <a:t>traffic</a:t>
            </a:r>
            <a:endParaRPr lang="en-US" dirty="0"/>
          </a:p>
        </p:txBody>
      </p:sp>
    </p:spTree>
    <p:extLst>
      <p:ext uri="{BB962C8B-B14F-4D97-AF65-F5344CB8AC3E}">
        <p14:creationId xmlns:p14="http://schemas.microsoft.com/office/powerpoint/2010/main" val="22459575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State-less Packet Filters</a:t>
            </a:r>
            <a:endParaRPr lang="en-US" dirty="0"/>
          </a:p>
        </p:txBody>
      </p:sp>
      <p:sp>
        <p:nvSpPr>
          <p:cNvPr id="5" name="Content Placeholder 4"/>
          <p:cNvSpPr>
            <a:spLocks noGrp="1"/>
          </p:cNvSpPr>
          <p:nvPr>
            <p:ph idx="1"/>
          </p:nvPr>
        </p:nvSpPr>
        <p:spPr/>
        <p:txBody>
          <a:bodyPr>
            <a:normAutofit/>
          </a:bodyPr>
          <a:lstStyle/>
          <a:p>
            <a:pPr marL="0" indent="0">
              <a:buNone/>
            </a:pPr>
            <a:r>
              <a:rPr lang="en-US" b="1" dirty="0" smtClean="0"/>
              <a:t>State-less </a:t>
            </a:r>
            <a:r>
              <a:rPr lang="en-US" b="1" dirty="0"/>
              <a:t>Packet Filtering: Examples</a:t>
            </a:r>
          </a:p>
          <a:p>
            <a:pPr eaLnBrk="0" fontAlgn="base" hangingPunct="0"/>
            <a:endParaRPr lang="en-US" u="sng" dirty="0" smtClean="0"/>
          </a:p>
          <a:p>
            <a:pPr eaLnBrk="0" fontAlgn="base" hangingPunct="0"/>
            <a:r>
              <a:rPr lang="en-US" u="sng" dirty="0"/>
              <a:t>Policy:</a:t>
            </a:r>
            <a:r>
              <a:rPr lang="en-US" dirty="0"/>
              <a:t> Prevent </a:t>
            </a:r>
            <a:r>
              <a:rPr lang="en-US" dirty="0" smtClean="0"/>
              <a:t>web-radios </a:t>
            </a:r>
            <a:r>
              <a:rPr lang="en-US" dirty="0"/>
              <a:t>from eating up the available bandwidth</a:t>
            </a:r>
          </a:p>
          <a:p>
            <a:pPr eaLnBrk="0" fontAlgn="base" hangingPunct="0"/>
            <a:r>
              <a:rPr lang="en-US" u="sng" dirty="0"/>
              <a:t>Firewall Setting:</a:t>
            </a:r>
            <a:r>
              <a:rPr lang="en-US" dirty="0"/>
              <a:t> Drop all incoming UDP packets - except DNS and router broadcasts </a:t>
            </a:r>
            <a:endParaRPr lang="en-US" dirty="0" smtClean="0"/>
          </a:p>
          <a:p>
            <a:pPr eaLnBrk="0" fontAlgn="base" hangingPunct="0"/>
            <a:endParaRPr lang="en-US" u="sng" dirty="0"/>
          </a:p>
          <a:p>
            <a:pPr eaLnBrk="0" fontAlgn="base" hangingPunct="0"/>
            <a:r>
              <a:rPr lang="en-US" u="sng" dirty="0" smtClean="0"/>
              <a:t>Policy</a:t>
            </a:r>
            <a:r>
              <a:rPr lang="en-US" u="sng" dirty="0"/>
              <a:t>:</a:t>
            </a:r>
            <a:r>
              <a:rPr lang="en-US" dirty="0"/>
              <a:t> </a:t>
            </a:r>
            <a:r>
              <a:rPr lang="en-US" dirty="0" smtClean="0"/>
              <a:t>Prevent </a:t>
            </a:r>
            <a:r>
              <a:rPr lang="en-US" dirty="0"/>
              <a:t>your network from being used for a </a:t>
            </a:r>
            <a:r>
              <a:rPr lang="en-US" dirty="0" err="1"/>
              <a:t>smurf</a:t>
            </a:r>
            <a:r>
              <a:rPr lang="en-US" dirty="0"/>
              <a:t> </a:t>
            </a:r>
            <a:r>
              <a:rPr lang="en-US" dirty="0" err="1"/>
              <a:t>DoS</a:t>
            </a:r>
            <a:r>
              <a:rPr lang="en-US" dirty="0"/>
              <a:t> </a:t>
            </a:r>
            <a:r>
              <a:rPr lang="en-US" dirty="0" smtClean="0"/>
              <a:t>attack</a:t>
            </a:r>
            <a:endParaRPr lang="en-US" dirty="0"/>
          </a:p>
          <a:p>
            <a:pPr eaLnBrk="0" fontAlgn="base" hangingPunct="0"/>
            <a:r>
              <a:rPr lang="en-US" u="sng" dirty="0"/>
              <a:t>Firewall Setting:</a:t>
            </a:r>
            <a:r>
              <a:rPr lang="en-US" dirty="0"/>
              <a:t> </a:t>
            </a:r>
            <a:r>
              <a:rPr lang="en-US" dirty="0" smtClean="0"/>
              <a:t>Drop </a:t>
            </a:r>
            <a:r>
              <a:rPr lang="en-US" dirty="0"/>
              <a:t>all ICMP packets going to a “broadcast” address (</a:t>
            </a:r>
            <a:r>
              <a:rPr lang="en-US" dirty="0" err="1"/>
              <a:t>eg</a:t>
            </a:r>
            <a:r>
              <a:rPr lang="en-US" dirty="0"/>
              <a:t> 130.207.255.255</a:t>
            </a:r>
            <a:r>
              <a:rPr lang="en-US" dirty="0" smtClean="0"/>
              <a:t>)</a:t>
            </a:r>
            <a:endParaRPr lang="en-US" dirty="0"/>
          </a:p>
          <a:p>
            <a:pPr eaLnBrk="0" fontAlgn="base" hangingPunct="0"/>
            <a:endParaRPr lang="en-US" u="sng" dirty="0" smtClean="0"/>
          </a:p>
        </p:txBody>
      </p:sp>
    </p:spTree>
    <p:extLst>
      <p:ext uri="{BB962C8B-B14F-4D97-AF65-F5344CB8AC3E}">
        <p14:creationId xmlns:p14="http://schemas.microsoft.com/office/powerpoint/2010/main" val="20652314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State-full Packet Filters</a:t>
            </a:r>
            <a:endParaRPr lang="en-US" dirty="0"/>
          </a:p>
        </p:txBody>
      </p:sp>
      <p:sp>
        <p:nvSpPr>
          <p:cNvPr id="5" name="Content Placeholder 4"/>
          <p:cNvSpPr>
            <a:spLocks noGrp="1"/>
          </p:cNvSpPr>
          <p:nvPr>
            <p:ph idx="1"/>
          </p:nvPr>
        </p:nvSpPr>
        <p:spPr/>
        <p:txBody>
          <a:bodyPr>
            <a:normAutofit/>
          </a:bodyPr>
          <a:lstStyle/>
          <a:p>
            <a:pPr eaLnBrk="0" fontAlgn="base" hangingPunct="0"/>
            <a:r>
              <a:rPr lang="en-US" dirty="0" smtClean="0"/>
              <a:t>State-less </a:t>
            </a:r>
            <a:r>
              <a:rPr lang="en-US" dirty="0"/>
              <a:t>packet filter is not always good enough</a:t>
            </a:r>
          </a:p>
          <a:p>
            <a:pPr eaLnBrk="0" fontAlgn="base" hangingPunct="0"/>
            <a:r>
              <a:rPr lang="en-US" dirty="0"/>
              <a:t>Admits packets that “make no sense,” e.g., destination port 80, ACK bit set, even though no TCP connection established</a:t>
            </a:r>
          </a:p>
          <a:p>
            <a:pPr eaLnBrk="0" fontAlgn="base" hangingPunct="0"/>
            <a:endParaRPr lang="en-US" dirty="0"/>
          </a:p>
          <a:p>
            <a:pPr eaLnBrk="0" fontAlgn="base" hangingPunct="0"/>
            <a:r>
              <a:rPr lang="en-US" dirty="0"/>
              <a:t>State-full packet filter </a:t>
            </a:r>
            <a:r>
              <a:rPr lang="en-US" dirty="0" smtClean="0"/>
              <a:t>examine </a:t>
            </a:r>
            <a:r>
              <a:rPr lang="en-US" dirty="0"/>
              <a:t>each IP packet </a:t>
            </a:r>
            <a:r>
              <a:rPr lang="en-US" dirty="0" smtClean="0"/>
              <a:t>“in context”</a:t>
            </a:r>
          </a:p>
          <a:p>
            <a:pPr eaLnBrk="0" fontAlgn="base" hangingPunct="0"/>
            <a:r>
              <a:rPr lang="en-US" dirty="0"/>
              <a:t>Keeping </a:t>
            </a:r>
            <a:r>
              <a:rPr lang="en-US" dirty="0" smtClean="0"/>
              <a:t>state means when </a:t>
            </a:r>
            <a:r>
              <a:rPr lang="en-US" dirty="0"/>
              <a:t>a packet is sent out, record that</a:t>
            </a:r>
          </a:p>
          <a:p>
            <a:pPr eaLnBrk="0" fontAlgn="base" hangingPunct="0"/>
            <a:r>
              <a:rPr lang="en-US" dirty="0"/>
              <a:t>Associate inbound packet with state created by outbound </a:t>
            </a:r>
            <a:r>
              <a:rPr lang="en-US" dirty="0" smtClean="0"/>
              <a:t>packet</a:t>
            </a:r>
            <a:endParaRPr lang="en-US" dirty="0"/>
          </a:p>
        </p:txBody>
      </p:sp>
    </p:spTree>
    <p:extLst>
      <p:ext uri="{BB962C8B-B14F-4D97-AF65-F5344CB8AC3E}">
        <p14:creationId xmlns:p14="http://schemas.microsoft.com/office/powerpoint/2010/main" val="9888809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State-full Packet Filters</a:t>
            </a:r>
            <a:endParaRPr lang="en-US" dirty="0"/>
          </a:p>
        </p:txBody>
      </p:sp>
      <p:sp>
        <p:nvSpPr>
          <p:cNvPr id="5" name="Content Placeholder 4"/>
          <p:cNvSpPr>
            <a:spLocks noGrp="1"/>
          </p:cNvSpPr>
          <p:nvPr>
            <p:ph idx="1"/>
          </p:nvPr>
        </p:nvSpPr>
        <p:spPr/>
        <p:txBody>
          <a:bodyPr>
            <a:normAutofit/>
          </a:bodyPr>
          <a:lstStyle/>
          <a:p>
            <a:pPr eaLnBrk="0" fontAlgn="base" hangingPunct="0"/>
            <a:r>
              <a:rPr lang="en-US" dirty="0"/>
              <a:t>Can track status of every TCP connection</a:t>
            </a:r>
          </a:p>
          <a:p>
            <a:pPr lvl="1" eaLnBrk="0" fontAlgn="base" hangingPunct="0"/>
            <a:r>
              <a:rPr lang="en-US" dirty="0"/>
              <a:t>Track connection setup (SYN), teardown (FIN), can determine whether incoming, outgoing packets “makes sense”</a:t>
            </a:r>
          </a:p>
          <a:p>
            <a:pPr lvl="1" eaLnBrk="0" fontAlgn="base" hangingPunct="0"/>
            <a:r>
              <a:rPr lang="en-US" dirty="0"/>
              <a:t>Timeout inactive connections at firewall, no longer admit packets</a:t>
            </a:r>
          </a:p>
          <a:p>
            <a:pPr eaLnBrk="0" fontAlgn="base" hangingPunct="0"/>
            <a:r>
              <a:rPr lang="en-US" dirty="0" smtClean="0"/>
              <a:t>Keeps tracks of client-server sessions</a:t>
            </a:r>
          </a:p>
          <a:p>
            <a:pPr eaLnBrk="0" fontAlgn="base" hangingPunct="0"/>
            <a:r>
              <a:rPr lang="en-US" dirty="0" smtClean="0"/>
              <a:t>Checks </a:t>
            </a:r>
            <a:r>
              <a:rPr lang="en-US" dirty="0"/>
              <a:t>each packet validly belongs to one</a:t>
            </a:r>
          </a:p>
          <a:p>
            <a:pPr eaLnBrk="0" fontAlgn="base" hangingPunct="0"/>
            <a:r>
              <a:rPr lang="en-US" dirty="0" smtClean="0"/>
              <a:t>Better </a:t>
            </a:r>
            <a:r>
              <a:rPr lang="en-US" dirty="0"/>
              <a:t>able to detect bogus packets out of </a:t>
            </a:r>
            <a:r>
              <a:rPr lang="en-US" dirty="0" smtClean="0"/>
              <a:t>context</a:t>
            </a:r>
          </a:p>
          <a:p>
            <a:pPr eaLnBrk="0" fontAlgn="base" hangingPunct="0"/>
            <a:endParaRPr lang="en-US" dirty="0" smtClean="0"/>
          </a:p>
          <a:p>
            <a:pPr eaLnBrk="0" fontAlgn="base" hangingPunct="0"/>
            <a:r>
              <a:rPr lang="en-US" dirty="0" smtClean="0"/>
              <a:t>Solves </a:t>
            </a:r>
            <a:r>
              <a:rPr lang="en-US" dirty="0"/>
              <a:t>many (</a:t>
            </a:r>
            <a:r>
              <a:rPr lang="en-US" dirty="0" smtClean="0"/>
              <a:t>but </a:t>
            </a:r>
            <a:r>
              <a:rPr lang="en-US" dirty="0"/>
              <a:t>not </a:t>
            </a:r>
            <a:r>
              <a:rPr lang="en-US" dirty="0" smtClean="0"/>
              <a:t>all) </a:t>
            </a:r>
            <a:r>
              <a:rPr lang="en-US" dirty="0"/>
              <a:t>of the </a:t>
            </a:r>
            <a:r>
              <a:rPr lang="en-US" dirty="0" smtClean="0"/>
              <a:t>problems with </a:t>
            </a:r>
            <a:r>
              <a:rPr lang="en-US" dirty="0"/>
              <a:t>simple packet filters</a:t>
            </a:r>
          </a:p>
          <a:p>
            <a:pPr eaLnBrk="0" fontAlgn="base" hangingPunct="0"/>
            <a:r>
              <a:rPr lang="en-US" dirty="0" smtClean="0"/>
              <a:t>Requires </a:t>
            </a:r>
            <a:r>
              <a:rPr lang="en-US" dirty="0"/>
              <a:t>per-connection state in the </a:t>
            </a:r>
            <a:r>
              <a:rPr lang="en-US" dirty="0" smtClean="0"/>
              <a:t>firewall</a:t>
            </a:r>
          </a:p>
        </p:txBody>
      </p:sp>
    </p:spTree>
    <p:extLst>
      <p:ext uri="{BB962C8B-B14F-4D97-AF65-F5344CB8AC3E}">
        <p14:creationId xmlns:p14="http://schemas.microsoft.com/office/powerpoint/2010/main" val="2264750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State-full Packet Filters</a:t>
            </a:r>
            <a:endParaRPr lang="en-US" dirty="0"/>
          </a:p>
        </p:txBody>
      </p:sp>
      <p:sp>
        <p:nvSpPr>
          <p:cNvPr id="5" name="Content Placeholder 4"/>
          <p:cNvSpPr>
            <a:spLocks noGrp="1"/>
          </p:cNvSpPr>
          <p:nvPr>
            <p:ph idx="1"/>
          </p:nvPr>
        </p:nvSpPr>
        <p:spPr/>
        <p:txBody>
          <a:bodyPr>
            <a:normAutofit/>
          </a:bodyPr>
          <a:lstStyle/>
          <a:p>
            <a:pPr marL="0" indent="0" eaLnBrk="0" fontAlgn="base" hangingPunct="0">
              <a:buNone/>
            </a:pPr>
            <a:r>
              <a:rPr lang="en-US" b="1" dirty="0"/>
              <a:t>State-full Packet </a:t>
            </a:r>
            <a:r>
              <a:rPr lang="en-US" b="1" dirty="0" smtClean="0"/>
              <a:t>Filtering: Example</a:t>
            </a:r>
            <a:endParaRPr lang="en-US" b="1" dirty="0"/>
          </a:p>
          <a:p>
            <a:pPr eaLnBrk="0" fontAlgn="base" hangingPunct="0"/>
            <a:endParaRPr lang="en-US" dirty="0"/>
          </a:p>
          <a:p>
            <a:pPr eaLnBrk="0" fontAlgn="base" hangingPunct="0"/>
            <a:r>
              <a:rPr lang="en-US" dirty="0"/>
              <a:t>A state-full packet filter could, for instance, note that a connection was initiated from inside using IP address </a:t>
            </a:r>
            <a:r>
              <a:rPr lang="en-US" i="1" dirty="0"/>
              <a:t>s</a:t>
            </a:r>
            <a:r>
              <a:rPr lang="en-US" dirty="0"/>
              <a:t>, to IP address </a:t>
            </a:r>
            <a:r>
              <a:rPr lang="en-US" i="1" dirty="0"/>
              <a:t>d</a:t>
            </a:r>
            <a:r>
              <a:rPr lang="en-US" dirty="0"/>
              <a:t>, and then allow (for some period of time) connections from IP address </a:t>
            </a:r>
            <a:r>
              <a:rPr lang="en-US" i="1" dirty="0"/>
              <a:t>d</a:t>
            </a:r>
            <a:r>
              <a:rPr lang="en-US" dirty="0"/>
              <a:t> to IP address </a:t>
            </a:r>
            <a:r>
              <a:rPr lang="en-US" i="1" dirty="0"/>
              <a:t>s</a:t>
            </a:r>
          </a:p>
          <a:p>
            <a:pPr eaLnBrk="0" fontAlgn="base" hangingPunct="0"/>
            <a:r>
              <a:rPr lang="en-US" dirty="0" smtClean="0"/>
              <a:t>In </a:t>
            </a:r>
            <a:r>
              <a:rPr lang="en-US" dirty="0"/>
              <a:t>the case of ftp, the state-full packet filter can notice when a connection is opened from </a:t>
            </a:r>
            <a:r>
              <a:rPr lang="en-US" i="1" dirty="0"/>
              <a:t>s</a:t>
            </a:r>
            <a:r>
              <a:rPr lang="en-US" dirty="0"/>
              <a:t> to the ftp control port (21) at </a:t>
            </a:r>
            <a:r>
              <a:rPr lang="en-US" i="1" dirty="0"/>
              <a:t>d</a:t>
            </a:r>
            <a:r>
              <a:rPr lang="en-US" dirty="0"/>
              <a:t>, and remember the incoming ftp data port (say </a:t>
            </a:r>
            <a:r>
              <a:rPr lang="en-US" i="1" dirty="0"/>
              <a:t>p</a:t>
            </a:r>
            <a:r>
              <a:rPr lang="en-US" dirty="0"/>
              <a:t>) requested by </a:t>
            </a:r>
            <a:r>
              <a:rPr lang="en-US" i="1" dirty="0"/>
              <a:t>s</a:t>
            </a:r>
          </a:p>
          <a:p>
            <a:pPr eaLnBrk="0" fontAlgn="base" hangingPunct="0"/>
            <a:r>
              <a:rPr lang="en-US" dirty="0"/>
              <a:t>As long as the ftp control connection stays opened, the state-full packet filter will allow connections from the ftp data port (20) at </a:t>
            </a:r>
            <a:r>
              <a:rPr lang="en-US" i="1" dirty="0"/>
              <a:t>d</a:t>
            </a:r>
            <a:r>
              <a:rPr lang="en-US" dirty="0"/>
              <a:t> to port </a:t>
            </a:r>
            <a:r>
              <a:rPr lang="en-US" i="1" dirty="0"/>
              <a:t>p</a:t>
            </a:r>
            <a:r>
              <a:rPr lang="en-US" dirty="0"/>
              <a:t> at </a:t>
            </a:r>
            <a:r>
              <a:rPr lang="en-US" i="1" dirty="0"/>
              <a:t>s</a:t>
            </a:r>
          </a:p>
        </p:txBody>
      </p:sp>
    </p:spTree>
    <p:extLst>
      <p:ext uri="{BB962C8B-B14F-4D97-AF65-F5344CB8AC3E}">
        <p14:creationId xmlns:p14="http://schemas.microsoft.com/office/powerpoint/2010/main" val="12305546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Application Gateways</a:t>
            </a:r>
            <a:endParaRPr lang="en-US" dirty="0"/>
          </a:p>
        </p:txBody>
      </p:sp>
      <p:sp>
        <p:nvSpPr>
          <p:cNvPr id="5" name="Content Placeholder 4"/>
          <p:cNvSpPr>
            <a:spLocks noGrp="1"/>
          </p:cNvSpPr>
          <p:nvPr>
            <p:ph idx="1"/>
          </p:nvPr>
        </p:nvSpPr>
        <p:spPr/>
        <p:txBody>
          <a:bodyPr>
            <a:normAutofit/>
          </a:bodyPr>
          <a:lstStyle/>
          <a:p>
            <a:pPr eaLnBrk="0" fontAlgn="base" hangingPunct="0"/>
            <a:r>
              <a:rPr lang="en-US" dirty="0" smtClean="0"/>
              <a:t>Filters </a:t>
            </a:r>
            <a:r>
              <a:rPr lang="en-US" dirty="0"/>
              <a:t>packets on application data as well as on IP/TCP/UDP </a:t>
            </a:r>
            <a:r>
              <a:rPr lang="en-US" dirty="0" smtClean="0"/>
              <a:t>fields</a:t>
            </a:r>
          </a:p>
          <a:p>
            <a:pPr lvl="1" eaLnBrk="0" fontAlgn="base" hangingPunct="0"/>
            <a:r>
              <a:rPr lang="en-US" dirty="0"/>
              <a:t>Look at the data inside the </a:t>
            </a:r>
            <a:r>
              <a:rPr lang="en-US" dirty="0" smtClean="0"/>
              <a:t>packets</a:t>
            </a:r>
            <a:endParaRPr lang="en-US" dirty="0"/>
          </a:p>
          <a:p>
            <a:pPr eaLnBrk="0" fontAlgn="base" hangingPunct="0"/>
            <a:r>
              <a:rPr lang="en-US" dirty="0"/>
              <a:t>Example: allow select internal users to telnet outside</a:t>
            </a:r>
          </a:p>
          <a:p>
            <a:pPr eaLnBrk="0" fontAlgn="base" hangingPunct="0"/>
            <a:endParaRPr lang="en-US" dirty="0"/>
          </a:p>
          <a:p>
            <a:pPr eaLnBrk="0" fontAlgn="base" hangingPunct="0"/>
            <a:r>
              <a:rPr lang="en-US" dirty="0"/>
              <a:t>Require all telnet users to telnet through gateway</a:t>
            </a:r>
          </a:p>
          <a:p>
            <a:pPr eaLnBrk="0" fontAlgn="base" hangingPunct="0"/>
            <a:r>
              <a:rPr lang="en-US" dirty="0"/>
              <a:t>For authorized users, gateway sets up telnet connection to destination </a:t>
            </a:r>
            <a:r>
              <a:rPr lang="en-US" dirty="0" smtClean="0"/>
              <a:t>host </a:t>
            </a:r>
            <a:r>
              <a:rPr lang="en-US" dirty="0"/>
              <a:t>Gateway relays data between 2 connections</a:t>
            </a:r>
          </a:p>
          <a:p>
            <a:pPr eaLnBrk="0" fontAlgn="base" hangingPunct="0"/>
            <a:r>
              <a:rPr lang="en-US" dirty="0"/>
              <a:t>Router filter blocks all telnet connections not originating from gateway</a:t>
            </a:r>
            <a:endParaRPr lang="en-US" i="1" dirty="0"/>
          </a:p>
        </p:txBody>
      </p:sp>
    </p:spTree>
    <p:extLst>
      <p:ext uri="{BB962C8B-B14F-4D97-AF65-F5344CB8AC3E}">
        <p14:creationId xmlns:p14="http://schemas.microsoft.com/office/powerpoint/2010/main" val="21756012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Application Gateways</a:t>
            </a:r>
            <a:endParaRPr lang="en-US" dirty="0"/>
          </a:p>
        </p:txBody>
      </p:sp>
      <p:sp>
        <p:nvSpPr>
          <p:cNvPr id="5" name="Content Placeholder 4"/>
          <p:cNvSpPr>
            <a:spLocks noGrp="1"/>
          </p:cNvSpPr>
          <p:nvPr>
            <p:ph idx="1"/>
          </p:nvPr>
        </p:nvSpPr>
        <p:spPr/>
        <p:txBody>
          <a:bodyPr>
            <a:normAutofit/>
          </a:bodyPr>
          <a:lstStyle/>
          <a:p>
            <a:pPr marL="0" indent="0" eaLnBrk="0" fontAlgn="base" hangingPunct="0">
              <a:buNone/>
            </a:pPr>
            <a:r>
              <a:rPr lang="en-US" b="1" dirty="0" smtClean="0"/>
              <a:t>Application Gateway </a:t>
            </a:r>
            <a:r>
              <a:rPr lang="en-US" b="1" dirty="0"/>
              <a:t>Example:</a:t>
            </a:r>
          </a:p>
          <a:p>
            <a:pPr eaLnBrk="0" fontAlgn="base" hangingPunct="0"/>
            <a:endParaRPr lang="en-US" dirty="0" smtClean="0"/>
          </a:p>
          <a:p>
            <a:pPr eaLnBrk="0" fontAlgn="base" hangingPunct="0"/>
            <a:r>
              <a:rPr lang="en-US" dirty="0" smtClean="0"/>
              <a:t>A </a:t>
            </a:r>
            <a:r>
              <a:rPr lang="en-US" dirty="0"/>
              <a:t>company wants to set up an on-line price list so that outsiders can see </a:t>
            </a:r>
            <a:r>
              <a:rPr lang="en-US" dirty="0" smtClean="0"/>
              <a:t>the products </a:t>
            </a:r>
            <a:r>
              <a:rPr lang="en-US" dirty="0"/>
              <a:t>and prices </a:t>
            </a:r>
            <a:r>
              <a:rPr lang="en-US" dirty="0" smtClean="0"/>
              <a:t>offered</a:t>
            </a:r>
          </a:p>
          <a:p>
            <a:pPr eaLnBrk="0" fontAlgn="base" hangingPunct="0"/>
            <a:r>
              <a:rPr lang="en-US" dirty="0" smtClean="0"/>
              <a:t>It </a:t>
            </a:r>
            <a:r>
              <a:rPr lang="en-US" dirty="0"/>
              <a:t>wants to be sure that no outside can change </a:t>
            </a:r>
            <a:r>
              <a:rPr lang="en-US" dirty="0" smtClean="0"/>
              <a:t>the prices </a:t>
            </a:r>
            <a:r>
              <a:rPr lang="en-US" dirty="0"/>
              <a:t>or product list and that outsiders can access only the price list, not any of </a:t>
            </a:r>
            <a:r>
              <a:rPr lang="en-US" dirty="0" smtClean="0"/>
              <a:t>the more </a:t>
            </a:r>
            <a:r>
              <a:rPr lang="en-US" dirty="0"/>
              <a:t>sensitive files stored </a:t>
            </a:r>
            <a:r>
              <a:rPr lang="en-US" dirty="0" smtClean="0"/>
              <a:t>inside</a:t>
            </a:r>
            <a:endParaRPr lang="en-US" i="1" dirty="0"/>
          </a:p>
        </p:txBody>
      </p:sp>
    </p:spTree>
    <p:extLst>
      <p:ext uri="{BB962C8B-B14F-4D97-AF65-F5344CB8AC3E}">
        <p14:creationId xmlns:p14="http://schemas.microsoft.com/office/powerpoint/2010/main" val="4187611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Application Gateways</a:t>
            </a:r>
            <a:endParaRPr lang="en-US" dirty="0"/>
          </a:p>
        </p:txBody>
      </p:sp>
      <p:sp>
        <p:nvSpPr>
          <p:cNvPr id="5" name="Content Placeholder 4"/>
          <p:cNvSpPr>
            <a:spLocks noGrp="1"/>
          </p:cNvSpPr>
          <p:nvPr>
            <p:ph idx="1"/>
          </p:nvPr>
        </p:nvSpPr>
        <p:spPr/>
        <p:txBody>
          <a:bodyPr>
            <a:normAutofit/>
          </a:bodyPr>
          <a:lstStyle/>
          <a:p>
            <a:pPr eaLnBrk="0" fontAlgn="base" hangingPunct="0"/>
            <a:r>
              <a:rPr lang="en-US" dirty="0" smtClean="0"/>
              <a:t>A </a:t>
            </a:r>
            <a:r>
              <a:rPr lang="en-US" dirty="0"/>
              <a:t>proxy server acts as the "man in the middle," so that there is no direct contact between a client on an internal network and a server on an untrusted </a:t>
            </a:r>
            <a:r>
              <a:rPr lang="en-US" dirty="0" smtClean="0"/>
              <a:t>network</a:t>
            </a:r>
          </a:p>
          <a:p>
            <a:pPr eaLnBrk="0" fontAlgn="base" hangingPunct="0"/>
            <a:endParaRPr lang="en-US" dirty="0"/>
          </a:p>
          <a:p>
            <a:pPr eaLnBrk="0" fontAlgn="base" hangingPunct="0"/>
            <a:r>
              <a:rPr lang="en-US" dirty="0"/>
              <a:t>Proxy has full access to </a:t>
            </a:r>
            <a:r>
              <a:rPr lang="en-US" dirty="0" smtClean="0"/>
              <a:t>the protocol</a:t>
            </a:r>
            <a:endParaRPr lang="en-US" dirty="0"/>
          </a:p>
          <a:p>
            <a:pPr lvl="1" eaLnBrk="0" fontAlgn="base" hangingPunct="0"/>
            <a:r>
              <a:rPr lang="en-US" dirty="0"/>
              <a:t>U</a:t>
            </a:r>
            <a:r>
              <a:rPr lang="en-US" dirty="0" smtClean="0"/>
              <a:t>ser </a:t>
            </a:r>
            <a:r>
              <a:rPr lang="en-US" dirty="0"/>
              <a:t>requests service from proxy</a:t>
            </a:r>
          </a:p>
          <a:p>
            <a:pPr lvl="1" eaLnBrk="0" fontAlgn="base" hangingPunct="0"/>
            <a:r>
              <a:rPr lang="en-US" dirty="0" smtClean="0"/>
              <a:t>Proxy </a:t>
            </a:r>
            <a:r>
              <a:rPr lang="en-US" dirty="0"/>
              <a:t>validates request as legal</a:t>
            </a:r>
          </a:p>
          <a:p>
            <a:pPr lvl="1" eaLnBrk="0" fontAlgn="base" hangingPunct="0"/>
            <a:r>
              <a:rPr lang="en-US" dirty="0" smtClean="0"/>
              <a:t>Actions </a:t>
            </a:r>
            <a:r>
              <a:rPr lang="en-US" dirty="0"/>
              <a:t>request and returns result to user</a:t>
            </a:r>
          </a:p>
        </p:txBody>
      </p:sp>
    </p:spTree>
    <p:extLst>
      <p:ext uri="{BB962C8B-B14F-4D97-AF65-F5344CB8AC3E}">
        <p14:creationId xmlns:p14="http://schemas.microsoft.com/office/powerpoint/2010/main" val="11473110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Limitations of Firewalls</a:t>
            </a:r>
            <a:endParaRPr lang="en-US" dirty="0"/>
          </a:p>
        </p:txBody>
      </p:sp>
      <p:sp>
        <p:nvSpPr>
          <p:cNvPr id="5" name="Content Placeholder 4"/>
          <p:cNvSpPr>
            <a:spLocks noGrp="1"/>
          </p:cNvSpPr>
          <p:nvPr>
            <p:ph idx="1"/>
          </p:nvPr>
        </p:nvSpPr>
        <p:spPr/>
        <p:txBody>
          <a:bodyPr>
            <a:normAutofit/>
          </a:bodyPr>
          <a:lstStyle/>
          <a:p>
            <a:pPr eaLnBrk="0" fontAlgn="base" hangingPunct="0"/>
            <a:r>
              <a:rPr lang="en-US" dirty="0" smtClean="0"/>
              <a:t>Firewalls </a:t>
            </a:r>
            <a:r>
              <a:rPr lang="en-US" dirty="0"/>
              <a:t>can’t </a:t>
            </a:r>
            <a:r>
              <a:rPr lang="en-US" dirty="0" smtClean="0"/>
              <a:t>judge </a:t>
            </a:r>
            <a:r>
              <a:rPr lang="en-US" dirty="0"/>
              <a:t>if data really comes from the claimed </a:t>
            </a:r>
            <a:r>
              <a:rPr lang="en-US" dirty="0" smtClean="0"/>
              <a:t>source (</a:t>
            </a:r>
            <a:r>
              <a:rPr lang="en-US" dirty="0"/>
              <a:t>IP spoofing</a:t>
            </a:r>
            <a:r>
              <a:rPr lang="en-US" dirty="0" smtClean="0"/>
              <a:t>), </a:t>
            </a:r>
            <a:r>
              <a:rPr lang="en-US" dirty="0"/>
              <a:t>so intruders may still be let in</a:t>
            </a:r>
          </a:p>
          <a:p>
            <a:pPr eaLnBrk="0" fontAlgn="base" hangingPunct="0"/>
            <a:r>
              <a:rPr lang="en-US" dirty="0"/>
              <a:t>Firewalls assumes that all the bad guys are on the outside, and everyone on the inside can be completely trusted</a:t>
            </a:r>
          </a:p>
          <a:p>
            <a:pPr eaLnBrk="0" fontAlgn="base" hangingPunct="0"/>
            <a:r>
              <a:rPr lang="en-US" dirty="0"/>
              <a:t>Firewalls often make it difficult for legitimate users to get their work done</a:t>
            </a:r>
          </a:p>
          <a:p>
            <a:pPr eaLnBrk="0" fontAlgn="base" hangingPunct="0"/>
            <a:r>
              <a:rPr lang="en-US" dirty="0"/>
              <a:t>If multiple applications need special treatment, each needs its own gateway</a:t>
            </a:r>
          </a:p>
          <a:p>
            <a:pPr eaLnBrk="0" fontAlgn="base" hangingPunct="0"/>
            <a:endParaRPr lang="en-US" dirty="0"/>
          </a:p>
        </p:txBody>
      </p:sp>
    </p:spTree>
    <p:extLst>
      <p:ext uri="{BB962C8B-B14F-4D97-AF65-F5344CB8AC3E}">
        <p14:creationId xmlns:p14="http://schemas.microsoft.com/office/powerpoint/2010/main" val="21229189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Limitations of Firewalls</a:t>
            </a:r>
            <a:endParaRPr lang="en-US" dirty="0"/>
          </a:p>
        </p:txBody>
      </p:sp>
      <p:sp>
        <p:nvSpPr>
          <p:cNvPr id="5" name="Content Placeholder 4"/>
          <p:cNvSpPr>
            <a:spLocks noGrp="1"/>
          </p:cNvSpPr>
          <p:nvPr>
            <p:ph idx="1"/>
          </p:nvPr>
        </p:nvSpPr>
        <p:spPr/>
        <p:txBody>
          <a:bodyPr>
            <a:normAutofit/>
          </a:bodyPr>
          <a:lstStyle/>
          <a:p>
            <a:pPr eaLnBrk="0" fontAlgn="base" hangingPunct="0"/>
            <a:r>
              <a:rPr lang="en-US" dirty="0"/>
              <a:t>Client software must know how to contact the gateway</a:t>
            </a:r>
          </a:p>
          <a:p>
            <a:pPr lvl="1" eaLnBrk="0" fontAlgn="base" hangingPunct="0"/>
            <a:r>
              <a:rPr lang="en-US" dirty="0"/>
              <a:t>For example, users must set the IP address of a proxy in their web browsers</a:t>
            </a:r>
          </a:p>
          <a:p>
            <a:pPr eaLnBrk="0" fontAlgn="base" hangingPunct="0"/>
            <a:r>
              <a:rPr lang="en-US" dirty="0"/>
              <a:t>Tradeoff,  degree of communication with outside world, level of security</a:t>
            </a:r>
          </a:p>
          <a:p>
            <a:pPr eaLnBrk="0" fontAlgn="base" hangingPunct="0"/>
            <a:r>
              <a:rPr lang="en-US" dirty="0"/>
              <a:t>The more exceptions and specializations needed for a firewall, the harder it is to configure and get to work properly</a:t>
            </a:r>
          </a:p>
          <a:p>
            <a:pPr eaLnBrk="0" fontAlgn="base" hangingPunct="0"/>
            <a:endParaRPr lang="en-US" dirty="0" smtClean="0"/>
          </a:p>
          <a:p>
            <a:pPr eaLnBrk="0" fontAlgn="base" hangingPunct="0"/>
            <a:r>
              <a:rPr lang="en-US" dirty="0" smtClean="0"/>
              <a:t>Many </a:t>
            </a:r>
            <a:r>
              <a:rPr lang="en-US" dirty="0"/>
              <a:t>highly protected sites still suffer from attacks, so are firewalls really the solution?</a:t>
            </a:r>
          </a:p>
        </p:txBody>
      </p:sp>
    </p:spTree>
    <p:extLst>
      <p:ext uri="{BB962C8B-B14F-4D97-AF65-F5344CB8AC3E}">
        <p14:creationId xmlns:p14="http://schemas.microsoft.com/office/powerpoint/2010/main" val="38008331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Limitations of Firewalls</a:t>
            </a:r>
            <a:endParaRPr lang="en-US" dirty="0"/>
          </a:p>
        </p:txBody>
      </p:sp>
      <p:sp>
        <p:nvSpPr>
          <p:cNvPr id="5" name="Content Placeholder 4"/>
          <p:cNvSpPr>
            <a:spLocks noGrp="1"/>
          </p:cNvSpPr>
          <p:nvPr>
            <p:ph idx="1"/>
          </p:nvPr>
        </p:nvSpPr>
        <p:spPr/>
        <p:txBody>
          <a:bodyPr>
            <a:normAutofit/>
          </a:bodyPr>
          <a:lstStyle/>
          <a:p>
            <a:pPr marL="0" indent="0" eaLnBrk="0" fontAlgn="base" hangingPunct="0">
              <a:buNone/>
            </a:pPr>
            <a:r>
              <a:rPr lang="en-US" u="sng" dirty="0"/>
              <a:t>Should </a:t>
            </a:r>
            <a:r>
              <a:rPr lang="en-US" u="sng" dirty="0" smtClean="0"/>
              <a:t>firewalls go away</a:t>
            </a:r>
            <a:r>
              <a:rPr lang="en-US" u="sng" dirty="0"/>
              <a:t>?</a:t>
            </a:r>
          </a:p>
          <a:p>
            <a:pPr eaLnBrk="0" fontAlgn="base" hangingPunct="0"/>
            <a:endParaRPr lang="en-US" dirty="0"/>
          </a:p>
          <a:p>
            <a:pPr eaLnBrk="0" fontAlgn="base" hangingPunct="0"/>
            <a:r>
              <a:rPr lang="en-US" dirty="0"/>
              <a:t>Even if the world deployed end-to-end security everywhere, firewalls still serve an important purpose</a:t>
            </a:r>
          </a:p>
          <a:p>
            <a:pPr eaLnBrk="0" fontAlgn="base" hangingPunct="0"/>
            <a:r>
              <a:rPr lang="en-US" dirty="0"/>
              <a:t>They can keep intruders from doing the equivalent of jiggling all the doors inside your building to see if someone accidentally left one unlocked</a:t>
            </a:r>
          </a:p>
          <a:p>
            <a:pPr eaLnBrk="0" fontAlgn="base" hangingPunct="0"/>
            <a:r>
              <a:rPr lang="en-US" dirty="0"/>
              <a:t>They can help protect against denial-of-service attacks by keeping nuisance traffic off your net</a:t>
            </a:r>
          </a:p>
        </p:txBody>
      </p:sp>
    </p:spTree>
    <p:extLst>
      <p:ext uri="{BB962C8B-B14F-4D97-AF65-F5344CB8AC3E}">
        <p14:creationId xmlns:p14="http://schemas.microsoft.com/office/powerpoint/2010/main" val="36813608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Access Control Lists</a:t>
            </a:r>
            <a:endParaRPr lang="en-US" dirty="0"/>
          </a:p>
        </p:txBody>
      </p:sp>
      <p:sp>
        <p:nvSpPr>
          <p:cNvPr id="5" name="Content Placeholder 4"/>
          <p:cNvSpPr>
            <a:spLocks noGrp="1"/>
          </p:cNvSpPr>
          <p:nvPr>
            <p:ph idx="1"/>
          </p:nvPr>
        </p:nvSpPr>
        <p:spPr/>
        <p:txBody>
          <a:bodyPr>
            <a:normAutofit/>
          </a:bodyPr>
          <a:lstStyle/>
          <a:p>
            <a:pPr eaLnBrk="0" fontAlgn="base" hangingPunct="0"/>
            <a:r>
              <a:rPr lang="en-US" dirty="0" smtClean="0"/>
              <a:t>Network </a:t>
            </a:r>
            <a:r>
              <a:rPr lang="en-US" dirty="0"/>
              <a:t>administrators must figure out how to deny unwanted access to the network while allowing internal users appropriate access to necessary services</a:t>
            </a:r>
          </a:p>
          <a:p>
            <a:pPr eaLnBrk="0" fontAlgn="base" hangingPunct="0"/>
            <a:r>
              <a:rPr lang="en-US" dirty="0"/>
              <a:t>Although security tools, such as passwords, callback equipment, and physical security devices are helpful, they often lack the flexibility of basic traffic filtering and the specific controls most administrators prefer</a:t>
            </a:r>
          </a:p>
          <a:p>
            <a:pPr eaLnBrk="0" fontAlgn="base" hangingPunct="0"/>
            <a:r>
              <a:rPr lang="en-US" dirty="0"/>
              <a:t>For example, a network administrator may want to allow users access to the Internet, but not permit external users telnet access into the LAN</a:t>
            </a:r>
          </a:p>
          <a:p>
            <a:pPr eaLnBrk="0" fontAlgn="base" hangingPunct="0"/>
            <a:r>
              <a:rPr lang="en-US" dirty="0"/>
              <a:t>Routers provide basic traffic filtering capabilities, such as blocking Internet traffic, with access control lists (ACLs)</a:t>
            </a:r>
          </a:p>
          <a:p>
            <a:pPr eaLnBrk="0" fontAlgn="base" hangingPunct="0"/>
            <a:r>
              <a:rPr lang="en-US" dirty="0"/>
              <a:t>Access Lists have become powerful tools for controlling the behavior of packets and frames</a:t>
            </a:r>
          </a:p>
        </p:txBody>
      </p:sp>
    </p:spTree>
    <p:extLst>
      <p:ext uri="{BB962C8B-B14F-4D97-AF65-F5344CB8AC3E}">
        <p14:creationId xmlns:p14="http://schemas.microsoft.com/office/powerpoint/2010/main" val="23088656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Access Control Lists</a:t>
            </a:r>
            <a:endParaRPr lang="en-US" dirty="0"/>
          </a:p>
        </p:txBody>
      </p:sp>
      <p:sp>
        <p:nvSpPr>
          <p:cNvPr id="5" name="Content Placeholder 4"/>
          <p:cNvSpPr>
            <a:spLocks noGrp="1"/>
          </p:cNvSpPr>
          <p:nvPr>
            <p:ph idx="1"/>
          </p:nvPr>
        </p:nvSpPr>
        <p:spPr/>
        <p:txBody>
          <a:bodyPr>
            <a:normAutofit/>
          </a:bodyPr>
          <a:lstStyle/>
          <a:p>
            <a:pPr eaLnBrk="0" fontAlgn="base" hangingPunct="0"/>
            <a:r>
              <a:rPr lang="en-US" dirty="0"/>
              <a:t>The goal of these filters (lists) is to prevent unwanted traffic in the network, whether to prevent hackers from penetrating the network or just to prevent employees from using systems they should not be using</a:t>
            </a:r>
          </a:p>
          <a:p>
            <a:pPr eaLnBrk="0" fontAlgn="base" hangingPunct="0"/>
            <a:r>
              <a:rPr lang="en-US" dirty="0"/>
              <a:t>IP access lists can also be used to filter routing updates, to match packets for prioritization, to match packets for VPN tunneling, and to match packets for implementing quality of service features</a:t>
            </a:r>
          </a:p>
        </p:txBody>
      </p:sp>
    </p:spTree>
    <p:extLst>
      <p:ext uri="{BB962C8B-B14F-4D97-AF65-F5344CB8AC3E}">
        <p14:creationId xmlns:p14="http://schemas.microsoft.com/office/powerpoint/2010/main" val="13152915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Access Control Lists</a:t>
            </a:r>
            <a:endParaRPr lang="en-US" dirty="0"/>
          </a:p>
        </p:txBody>
      </p:sp>
      <p:sp>
        <p:nvSpPr>
          <p:cNvPr id="5" name="Content Placeholder 4"/>
          <p:cNvSpPr>
            <a:spLocks noGrp="1"/>
          </p:cNvSpPr>
          <p:nvPr>
            <p:ph idx="1"/>
          </p:nvPr>
        </p:nvSpPr>
        <p:spPr/>
        <p:txBody>
          <a:bodyPr>
            <a:normAutofit/>
          </a:bodyPr>
          <a:lstStyle/>
          <a:p>
            <a:pPr marL="0" indent="0" eaLnBrk="0" fontAlgn="base" hangingPunct="0">
              <a:buNone/>
            </a:pPr>
            <a:r>
              <a:rPr lang="en-US" b="1" u="sng" dirty="0" smtClean="0"/>
              <a:t>ACLs</a:t>
            </a:r>
            <a:endParaRPr lang="en-US" b="1" u="sng" dirty="0"/>
          </a:p>
          <a:p>
            <a:pPr eaLnBrk="0" fontAlgn="base" hangingPunct="0"/>
            <a:r>
              <a:rPr lang="en-US" dirty="0"/>
              <a:t>are read sequentially</a:t>
            </a:r>
          </a:p>
          <a:p>
            <a:pPr eaLnBrk="0" fontAlgn="base" hangingPunct="0"/>
            <a:r>
              <a:rPr lang="en-US" dirty="0"/>
              <a:t>are set up so that as soon as the packet matches a statement it stops comparing and permits or denies the packet</a:t>
            </a:r>
          </a:p>
          <a:p>
            <a:pPr eaLnBrk="0" fontAlgn="base" hangingPunct="0"/>
            <a:r>
              <a:rPr lang="en-US" dirty="0"/>
              <a:t>need to be written to take care of the most abundant traffic first</a:t>
            </a:r>
          </a:p>
          <a:p>
            <a:pPr eaLnBrk="0" fontAlgn="base" hangingPunct="0"/>
            <a:r>
              <a:rPr lang="en-US" dirty="0"/>
              <a:t>can be written for all supported routed protocols; but each routed protocol must have a different ACL for each interface</a:t>
            </a:r>
          </a:p>
          <a:p>
            <a:pPr eaLnBrk="0" fontAlgn="base" hangingPunct="0"/>
            <a:r>
              <a:rPr lang="en-US" dirty="0"/>
              <a:t>must be applied to an interface to work</a:t>
            </a:r>
          </a:p>
        </p:txBody>
      </p:sp>
    </p:spTree>
    <p:extLst>
      <p:ext uri="{BB962C8B-B14F-4D97-AF65-F5344CB8AC3E}">
        <p14:creationId xmlns:p14="http://schemas.microsoft.com/office/powerpoint/2010/main" val="9792797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Access Control Lists</a:t>
            </a:r>
            <a:endParaRPr lang="en-US" dirty="0"/>
          </a:p>
        </p:txBody>
      </p:sp>
      <p:sp>
        <p:nvSpPr>
          <p:cNvPr id="5" name="Content Placeholder 4"/>
          <p:cNvSpPr>
            <a:spLocks noGrp="1"/>
          </p:cNvSpPr>
          <p:nvPr>
            <p:ph idx="1"/>
          </p:nvPr>
        </p:nvSpPr>
        <p:spPr/>
        <p:txBody>
          <a:bodyPr>
            <a:normAutofit/>
          </a:bodyPr>
          <a:lstStyle/>
          <a:p>
            <a:pPr eaLnBrk="0" fontAlgn="base" hangingPunct="0"/>
            <a:r>
              <a:rPr lang="en-US" dirty="0" smtClean="0"/>
              <a:t>Only </a:t>
            </a:r>
            <a:r>
              <a:rPr lang="en-US" dirty="0"/>
              <a:t>one list, per protocol, per direction can be applied to an interface</a:t>
            </a:r>
          </a:p>
          <a:p>
            <a:pPr eaLnBrk="0" fontAlgn="base" hangingPunct="0"/>
            <a:endParaRPr lang="en-US" dirty="0"/>
          </a:p>
          <a:p>
            <a:pPr eaLnBrk="0" fontAlgn="base" hangingPunct="0"/>
            <a:endParaRPr lang="en-US" dirty="0" smtClean="0"/>
          </a:p>
          <a:p>
            <a:pPr eaLnBrk="0" fontAlgn="base" hangingPunct="0"/>
            <a:endParaRPr lang="en-US" dirty="0"/>
          </a:p>
          <a:p>
            <a:pPr eaLnBrk="0" fontAlgn="base" hangingPunct="0"/>
            <a:endParaRPr lang="en-US" dirty="0"/>
          </a:p>
          <a:p>
            <a:pPr eaLnBrk="0" fontAlgn="base" hangingPunct="0"/>
            <a:endParaRPr lang="en-US" dirty="0"/>
          </a:p>
          <a:p>
            <a:pPr eaLnBrk="0" fontAlgn="base" hangingPunct="0"/>
            <a:r>
              <a:rPr lang="en-US" dirty="0"/>
              <a:t>ACLs control traffic in one direction at a time on an interface</a:t>
            </a:r>
          </a:p>
          <a:p>
            <a:pPr eaLnBrk="0" fontAlgn="base" hangingPunct="0"/>
            <a:r>
              <a:rPr lang="en-US" dirty="0"/>
              <a:t>A separate ACL would need to be created for each direction, one for inbound and one for outbound traffic</a:t>
            </a:r>
          </a:p>
          <a:p>
            <a:pPr eaLnBrk="0" fontAlgn="base" hangingPunct="0"/>
            <a:r>
              <a:rPr lang="en-US" dirty="0"/>
              <a:t>Finally every interface can have multiple protocols and directions defined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8851" y="2209800"/>
            <a:ext cx="3868616" cy="1219200"/>
          </a:xfrm>
          <a:prstGeom prst="rect">
            <a:avLst/>
          </a:prstGeom>
        </p:spPr>
      </p:pic>
    </p:spTree>
    <p:extLst>
      <p:ext uri="{BB962C8B-B14F-4D97-AF65-F5344CB8AC3E}">
        <p14:creationId xmlns:p14="http://schemas.microsoft.com/office/powerpoint/2010/main" val="409961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Access Control Lists</a:t>
            </a:r>
            <a:endParaRPr lang="en-US" dirty="0"/>
          </a:p>
        </p:txBody>
      </p:sp>
      <p:sp>
        <p:nvSpPr>
          <p:cNvPr id="5" name="Content Placeholder 4"/>
          <p:cNvSpPr>
            <a:spLocks noGrp="1"/>
          </p:cNvSpPr>
          <p:nvPr>
            <p:ph idx="1"/>
          </p:nvPr>
        </p:nvSpPr>
        <p:spPr/>
        <p:txBody>
          <a:bodyPr>
            <a:normAutofit/>
          </a:bodyPr>
          <a:lstStyle/>
          <a:p>
            <a:pPr marL="0" indent="0" eaLnBrk="0" fontAlgn="base" hangingPunct="0">
              <a:buNone/>
            </a:pPr>
            <a:r>
              <a:rPr lang="en-US" b="1" u="sng" dirty="0"/>
              <a:t>How ACLs Work</a:t>
            </a:r>
          </a:p>
          <a:p>
            <a:pPr eaLnBrk="0" fontAlgn="base" hangingPunct="0"/>
            <a:endParaRPr lang="en-US" dirty="0"/>
          </a:p>
          <a:p>
            <a:pPr eaLnBrk="0" fontAlgn="base" hangingPunct="0"/>
            <a:r>
              <a:rPr lang="en-US" dirty="0"/>
              <a:t>Access list statements operate in sequential, logical order</a:t>
            </a:r>
          </a:p>
          <a:p>
            <a:pPr eaLnBrk="0" fontAlgn="base" hangingPunct="0"/>
            <a:r>
              <a:rPr lang="en-US" dirty="0"/>
              <a:t>They evaluate packets from the top down</a:t>
            </a:r>
          </a:p>
          <a:p>
            <a:pPr eaLnBrk="0" fontAlgn="base" hangingPunct="0"/>
            <a:r>
              <a:rPr lang="en-US" dirty="0"/>
              <a:t>Once there is an access list statement match, the packet skips the rest of the statements</a:t>
            </a:r>
          </a:p>
          <a:p>
            <a:pPr eaLnBrk="0" fontAlgn="base" hangingPunct="0"/>
            <a:r>
              <a:rPr lang="en-US" dirty="0"/>
              <a:t>If a condition match is true, the packet is permitted or denied</a:t>
            </a:r>
          </a:p>
          <a:p>
            <a:pPr eaLnBrk="0" fontAlgn="base" hangingPunct="0"/>
            <a:r>
              <a:rPr lang="en-US" dirty="0"/>
              <a:t>There is an implicit “deny any” at the end of every access list</a:t>
            </a:r>
          </a:p>
          <a:p>
            <a:pPr eaLnBrk="0" fontAlgn="base" hangingPunct="0"/>
            <a:endParaRPr lang="en-US" dirty="0"/>
          </a:p>
          <a:p>
            <a:pPr eaLnBrk="0" fontAlgn="base" hangingPunct="0"/>
            <a:r>
              <a:rPr lang="en-US" dirty="0"/>
              <a:t>ACLs do not block packets that originate within the router  (</a:t>
            </a:r>
            <a:r>
              <a:rPr lang="en-US" dirty="0" err="1"/>
              <a:t>ie</a:t>
            </a:r>
            <a:r>
              <a:rPr lang="en-US" dirty="0"/>
              <a:t>. pings, telnets, etc.)</a:t>
            </a:r>
          </a:p>
        </p:txBody>
      </p:sp>
    </p:spTree>
    <p:extLst>
      <p:ext uri="{BB962C8B-B14F-4D97-AF65-F5344CB8AC3E}">
        <p14:creationId xmlns:p14="http://schemas.microsoft.com/office/powerpoint/2010/main" val="32618598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Access Control Lists</a:t>
            </a:r>
            <a:endParaRPr lang="en-US" dirty="0"/>
          </a:p>
        </p:txBody>
      </p:sp>
      <p:sp>
        <p:nvSpPr>
          <p:cNvPr id="5" name="Content Placeholder 4"/>
          <p:cNvSpPr>
            <a:spLocks noGrp="1"/>
          </p:cNvSpPr>
          <p:nvPr>
            <p:ph idx="1"/>
          </p:nvPr>
        </p:nvSpPr>
        <p:spPr/>
        <p:txBody>
          <a:bodyPr>
            <a:normAutofit/>
          </a:bodyPr>
          <a:lstStyle/>
          <a:p>
            <a:pPr marL="0" indent="0" eaLnBrk="0" fontAlgn="base" hangingPunct="0">
              <a:buNone/>
            </a:pPr>
            <a:r>
              <a:rPr lang="en-US" b="1" u="sng" dirty="0" smtClean="0"/>
              <a:t>How ACLs Work</a:t>
            </a:r>
          </a:p>
          <a:p>
            <a:pPr eaLnBrk="0" fontAlgn="base" hangingPunct="0"/>
            <a:endParaRPr lang="en-US" dirty="0" smtClean="0"/>
          </a:p>
          <a:p>
            <a:pPr eaLnBrk="0" fontAlgn="base" hangingPunct="0"/>
            <a:r>
              <a:rPr lang="en-US" dirty="0"/>
              <a:t>When an access lists applied to an inbound interface, the packets are checked against the access list before any routing table lookup process occurs</a:t>
            </a:r>
          </a:p>
          <a:p>
            <a:pPr eaLnBrk="0" fontAlgn="base" hangingPunct="0"/>
            <a:r>
              <a:rPr lang="en-US" dirty="0"/>
              <a:t>Outbound access lists are applied after the forwarding decision is made, after the routing table lookup process takes place and an exit interface is determined</a:t>
            </a:r>
          </a:p>
        </p:txBody>
      </p:sp>
    </p:spTree>
    <p:extLst>
      <p:ext uri="{BB962C8B-B14F-4D97-AF65-F5344CB8AC3E}">
        <p14:creationId xmlns:p14="http://schemas.microsoft.com/office/powerpoint/2010/main" val="6857178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Access Control Lists</a:t>
            </a:r>
            <a:endParaRPr lang="en-US" dirty="0"/>
          </a:p>
        </p:txBody>
      </p:sp>
      <p:sp>
        <p:nvSpPr>
          <p:cNvPr id="5" name="Content Placeholder 4"/>
          <p:cNvSpPr>
            <a:spLocks noGrp="1"/>
          </p:cNvSpPr>
          <p:nvPr>
            <p:ph idx="1"/>
          </p:nvPr>
        </p:nvSpPr>
        <p:spPr/>
        <p:txBody>
          <a:bodyPr>
            <a:normAutofit/>
          </a:bodyPr>
          <a:lstStyle/>
          <a:p>
            <a:pPr eaLnBrk="0" fontAlgn="base" hangingPunct="0"/>
            <a:r>
              <a:rPr lang="en-US" dirty="0" smtClean="0"/>
              <a:t>When </a:t>
            </a:r>
            <a:r>
              <a:rPr lang="en-US" dirty="0"/>
              <a:t>writing an access list, the order of the lines is vital</a:t>
            </a:r>
          </a:p>
          <a:p>
            <a:pPr eaLnBrk="0" fontAlgn="base" hangingPunct="0"/>
            <a:r>
              <a:rPr lang="en-US" dirty="0"/>
              <a:t>The access list is compared to the packet on a line-by-line basis from top to bottom; once a match is found, the packet is either permitted or denied by the router</a:t>
            </a:r>
          </a:p>
          <a:p>
            <a:pPr eaLnBrk="0" fontAlgn="base" hangingPunct="0"/>
            <a:r>
              <a:rPr lang="en-US" dirty="0"/>
              <a:t>There is an "implied deny" for traffic that is not permitted</a:t>
            </a:r>
          </a:p>
          <a:p>
            <a:pPr eaLnBrk="0" fontAlgn="base" hangingPunct="0"/>
            <a:r>
              <a:rPr lang="en-US" dirty="0"/>
              <a:t>If there is no match, the implicit deny is applied to the packet</a:t>
            </a:r>
          </a:p>
          <a:p>
            <a:pPr eaLnBrk="0" fontAlgn="base" hangingPunct="0"/>
            <a:r>
              <a:rPr lang="en-US" dirty="0"/>
              <a:t>A single-entry ACL with only one "deny" entry has the effect of denying all traffic</a:t>
            </a:r>
          </a:p>
          <a:p>
            <a:pPr eaLnBrk="0" fontAlgn="base" hangingPunct="0"/>
            <a:r>
              <a:rPr lang="en-US" dirty="0"/>
              <a:t>You must have at least one "permit" statement in an ACL or all traffic will be blocked</a:t>
            </a:r>
          </a:p>
        </p:txBody>
      </p:sp>
    </p:spTree>
    <p:extLst>
      <p:ext uri="{BB962C8B-B14F-4D97-AF65-F5344CB8AC3E}">
        <p14:creationId xmlns:p14="http://schemas.microsoft.com/office/powerpoint/2010/main" val="732255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Access Control Lists</a:t>
            </a:r>
            <a:endParaRPr lang="en-US" dirty="0"/>
          </a:p>
        </p:txBody>
      </p:sp>
      <p:sp>
        <p:nvSpPr>
          <p:cNvPr id="5" name="Content Placeholder 4"/>
          <p:cNvSpPr>
            <a:spLocks noGrp="1"/>
          </p:cNvSpPr>
          <p:nvPr>
            <p:ph idx="1"/>
          </p:nvPr>
        </p:nvSpPr>
        <p:spPr/>
        <p:txBody>
          <a:bodyPr>
            <a:normAutofit/>
          </a:bodyPr>
          <a:lstStyle/>
          <a:p>
            <a:pPr eaLnBrk="0" fontAlgn="base" hangingPunct="0"/>
            <a:r>
              <a:rPr lang="en-US" dirty="0"/>
              <a:t>There are two types of IP ACLs: </a:t>
            </a:r>
            <a:r>
              <a:rPr lang="en-US" u="sng" dirty="0"/>
              <a:t>Standard and Extended</a:t>
            </a:r>
          </a:p>
          <a:p>
            <a:pPr eaLnBrk="0" fontAlgn="base" hangingPunct="0"/>
            <a:endParaRPr lang="en-US" dirty="0"/>
          </a:p>
          <a:p>
            <a:pPr eaLnBrk="0" fontAlgn="base" hangingPunct="0"/>
            <a:r>
              <a:rPr lang="en-US" dirty="0"/>
              <a:t>Standard IP ACLs can only control traffic based on the source IP address</a:t>
            </a:r>
          </a:p>
          <a:p>
            <a:pPr eaLnBrk="0" fontAlgn="base" hangingPunct="0"/>
            <a:r>
              <a:rPr lang="en-US" dirty="0"/>
              <a:t>Extended IP ACLs are far more powerful; they can identify traffic based on source IP, source port, destination IP, and destination port</a:t>
            </a:r>
          </a:p>
          <a:p>
            <a:pPr eaLnBrk="0" fontAlgn="base" hangingPunct="0"/>
            <a:endParaRPr lang="en-US" dirty="0"/>
          </a:p>
        </p:txBody>
      </p:sp>
    </p:spTree>
    <p:extLst>
      <p:ext uri="{BB962C8B-B14F-4D97-AF65-F5344CB8AC3E}">
        <p14:creationId xmlns:p14="http://schemas.microsoft.com/office/powerpoint/2010/main" val="28075580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Access Control Lists</a:t>
            </a:r>
            <a:endParaRPr lang="en-US" dirty="0"/>
          </a:p>
        </p:txBody>
      </p:sp>
      <p:sp>
        <p:nvSpPr>
          <p:cNvPr id="5" name="Content Placeholder 4"/>
          <p:cNvSpPr>
            <a:spLocks noGrp="1"/>
          </p:cNvSpPr>
          <p:nvPr>
            <p:ph idx="1"/>
          </p:nvPr>
        </p:nvSpPr>
        <p:spPr/>
        <p:txBody>
          <a:bodyPr>
            <a:normAutofit/>
          </a:bodyPr>
          <a:lstStyle/>
          <a:p>
            <a:pPr marL="0" indent="0" eaLnBrk="0" fontAlgn="base" hangingPunct="0">
              <a:buNone/>
            </a:pPr>
            <a:r>
              <a:rPr lang="en-US" u="sng" dirty="0"/>
              <a:t>Standard Access </a:t>
            </a:r>
            <a:r>
              <a:rPr lang="en-US" u="sng" dirty="0" smtClean="0"/>
              <a:t>Lists</a:t>
            </a:r>
            <a:endParaRPr lang="en-US" dirty="0"/>
          </a:p>
          <a:p>
            <a:pPr eaLnBrk="0" fontAlgn="base" hangingPunct="0"/>
            <a:r>
              <a:rPr lang="en-US" dirty="0"/>
              <a:t>filter (permit or deny) only source addresses</a:t>
            </a:r>
          </a:p>
          <a:p>
            <a:pPr eaLnBrk="0" fontAlgn="base" hangingPunct="0"/>
            <a:endParaRPr lang="en-US" dirty="0" smtClean="0"/>
          </a:p>
          <a:p>
            <a:pPr eaLnBrk="0" fontAlgn="base" hangingPunct="0"/>
            <a:r>
              <a:rPr lang="en-US" dirty="0" smtClean="0"/>
              <a:t>do </a:t>
            </a:r>
            <a:r>
              <a:rPr lang="en-US" dirty="0"/>
              <a:t>not have any destination information so it must placed as close to the destination as possible</a:t>
            </a:r>
          </a:p>
          <a:p>
            <a:pPr eaLnBrk="0" fontAlgn="base" hangingPunct="0"/>
            <a:endParaRPr lang="en-US" dirty="0" smtClean="0"/>
          </a:p>
          <a:p>
            <a:pPr eaLnBrk="0" fontAlgn="base" hangingPunct="0"/>
            <a:r>
              <a:rPr lang="en-US" dirty="0" smtClean="0"/>
              <a:t>work </a:t>
            </a:r>
            <a:r>
              <a:rPr lang="en-US" dirty="0"/>
              <a:t>at layer 3 of the OSI </a:t>
            </a:r>
            <a:r>
              <a:rPr lang="en-US" dirty="0" smtClean="0"/>
              <a:t>model</a:t>
            </a:r>
            <a:endParaRPr lang="en-US" dirty="0"/>
          </a:p>
        </p:txBody>
      </p:sp>
    </p:spTree>
    <p:extLst>
      <p:ext uri="{BB962C8B-B14F-4D97-AF65-F5344CB8AC3E}">
        <p14:creationId xmlns:p14="http://schemas.microsoft.com/office/powerpoint/2010/main" val="16659625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Access Control Lists</a:t>
            </a:r>
            <a:endParaRPr lang="en-US" dirty="0"/>
          </a:p>
        </p:txBody>
      </p:sp>
      <p:sp>
        <p:nvSpPr>
          <p:cNvPr id="5" name="Content Placeholder 4"/>
          <p:cNvSpPr>
            <a:spLocks noGrp="1"/>
          </p:cNvSpPr>
          <p:nvPr>
            <p:ph idx="1"/>
          </p:nvPr>
        </p:nvSpPr>
        <p:spPr/>
        <p:txBody>
          <a:bodyPr>
            <a:normAutofit/>
          </a:bodyPr>
          <a:lstStyle/>
          <a:p>
            <a:pPr marL="0" indent="0" eaLnBrk="0" fontAlgn="base" hangingPunct="0">
              <a:buNone/>
            </a:pPr>
            <a:r>
              <a:rPr lang="en-US" u="sng" dirty="0"/>
              <a:t>Extended Access Lists</a:t>
            </a:r>
          </a:p>
          <a:p>
            <a:pPr eaLnBrk="0" fontAlgn="base" hangingPunct="0"/>
            <a:endParaRPr lang="en-US" dirty="0" smtClean="0"/>
          </a:p>
          <a:p>
            <a:pPr eaLnBrk="0" fontAlgn="base" hangingPunct="0"/>
            <a:r>
              <a:rPr lang="en-US" dirty="0" smtClean="0"/>
              <a:t>filter </a:t>
            </a:r>
            <a:r>
              <a:rPr lang="en-US" dirty="0"/>
              <a:t>(permit or deny) based on the: source address, destination address, protocol and port number</a:t>
            </a:r>
          </a:p>
          <a:p>
            <a:pPr eaLnBrk="0" fontAlgn="base" hangingPunct="0"/>
            <a:endParaRPr lang="en-US" dirty="0" smtClean="0"/>
          </a:p>
          <a:p>
            <a:pPr eaLnBrk="0" fontAlgn="base" hangingPunct="0"/>
            <a:r>
              <a:rPr lang="en-US" dirty="0" smtClean="0"/>
              <a:t>are </a:t>
            </a:r>
            <a:r>
              <a:rPr lang="en-US" dirty="0"/>
              <a:t>placed close to the source</a:t>
            </a:r>
          </a:p>
          <a:p>
            <a:pPr eaLnBrk="0" fontAlgn="base" hangingPunct="0"/>
            <a:endParaRPr lang="en-US" dirty="0" smtClean="0"/>
          </a:p>
          <a:p>
            <a:pPr eaLnBrk="0" fontAlgn="base" hangingPunct="0"/>
            <a:r>
              <a:rPr lang="en-US" dirty="0" smtClean="0"/>
              <a:t>work </a:t>
            </a:r>
            <a:r>
              <a:rPr lang="en-US" dirty="0"/>
              <a:t>at both layer 3 and 4 of the OSI model</a:t>
            </a:r>
          </a:p>
        </p:txBody>
      </p:sp>
    </p:spTree>
    <p:extLst>
      <p:ext uri="{BB962C8B-B14F-4D97-AF65-F5344CB8AC3E}">
        <p14:creationId xmlns:p14="http://schemas.microsoft.com/office/powerpoint/2010/main" val="33275912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custDataLst>
              <p:tags r:id="rId2"/>
            </p:custDataLst>
          </p:nvPr>
        </p:nvSpPr>
        <p:spPr/>
        <p:txBody>
          <a:bodyPr/>
          <a:lstStyle/>
          <a:p>
            <a:pPr>
              <a:defRPr/>
            </a:pPr>
            <a:r>
              <a:rPr lang="en-US" dirty="0" smtClean="0">
                <a:solidFill>
                  <a:srgbClr val="0070C0"/>
                </a:solidFill>
              </a:rPr>
              <a:t>THANKS</a:t>
            </a:r>
          </a:p>
        </p:txBody>
      </p:sp>
    </p:spTree>
    <p:custDataLst>
      <p:tags r:id="rId1"/>
    </p:custDataLst>
    <p:extLst>
      <p:ext uri="{BB962C8B-B14F-4D97-AF65-F5344CB8AC3E}">
        <p14:creationId xmlns:p14="http://schemas.microsoft.com/office/powerpoint/2010/main" val="2807810135"/>
      </p:ext>
    </p:extLst>
  </p:cSld>
  <p:clrMapOvr>
    <a:masterClrMapping/>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VSECTIONID" val="yI2DOt6RzRcU51QxdhNewL"/>
</p:tagLst>
</file>

<file path=ppt/tags/tag2.xml><?xml version="1.0" encoding="utf-8"?>
<p:tagLst xmlns:a="http://schemas.openxmlformats.org/drawingml/2006/main" xmlns:r="http://schemas.openxmlformats.org/officeDocument/2006/relationships" xmlns:p="http://schemas.openxmlformats.org/presentationml/2006/main">
  <p:tag name="DVSHAPEID" val="HAGzTPKJNXuuOK4v20iPS7"/>
</p:tagLst>
</file>

<file path=ppt/tags/tag3.xml><?xml version="1.0" encoding="utf-8"?>
<p:tagLst xmlns:a="http://schemas.openxmlformats.org/drawingml/2006/main" xmlns:r="http://schemas.openxmlformats.org/officeDocument/2006/relationships" xmlns:p="http://schemas.openxmlformats.org/presentationml/2006/main">
  <p:tag name="DVSHAPEID" val="0uhWvCQomImT50qU5y4Znw"/>
</p:tagLst>
</file>

<file path=ppt/tags/tag4.xml><?xml version="1.0" encoding="utf-8"?>
<p:tagLst xmlns:a="http://schemas.openxmlformats.org/drawingml/2006/main" xmlns:r="http://schemas.openxmlformats.org/officeDocument/2006/relationships" xmlns:p="http://schemas.openxmlformats.org/presentationml/2006/main">
  <p:tag name="DVSECTIONID" val="c48BxRTjzwKhAarpC8SPOi"/>
</p:tagLst>
</file>

<file path=ppt/tags/tag5.xml><?xml version="1.0" encoding="utf-8"?>
<p:tagLst xmlns:a="http://schemas.openxmlformats.org/drawingml/2006/main" xmlns:r="http://schemas.openxmlformats.org/officeDocument/2006/relationships" xmlns:p="http://schemas.openxmlformats.org/presentationml/2006/main">
  <p:tag name="DVSHAPEID" val="GFUQynbDZ7CnnKAa7cx9M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rain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2305</Words>
  <Application>Microsoft Office PowerPoint</Application>
  <PresentationFormat>On-screen Show (4:3)</PresentationFormat>
  <Paragraphs>254</Paragraphs>
  <Slides>35</Slides>
  <Notes>2</Notes>
  <HiddenSlides>0</HiddenSlides>
  <MMClips>0</MMClips>
  <ScaleCrop>false</ScaleCrop>
  <HeadingPairs>
    <vt:vector size="4" baseType="variant">
      <vt:variant>
        <vt:lpstr>Theme</vt:lpstr>
      </vt:variant>
      <vt:variant>
        <vt:i4>2</vt:i4>
      </vt:variant>
      <vt:variant>
        <vt:lpstr>Slide Titles</vt:lpstr>
      </vt:variant>
      <vt:variant>
        <vt:i4>35</vt:i4>
      </vt:variant>
    </vt:vector>
  </HeadingPairs>
  <TitlesOfParts>
    <vt:vector size="37" baseType="lpstr">
      <vt:lpstr>Office Theme</vt:lpstr>
      <vt:lpstr>Training</vt:lpstr>
      <vt:lpstr>CSC332 – Data Security  and Encryption</vt:lpstr>
      <vt:lpstr>Firewalls and Access Control Lists</vt:lpstr>
      <vt:lpstr>Firewalls</vt:lpstr>
      <vt:lpstr>Firewalls</vt:lpstr>
      <vt:lpstr>Firewalls</vt:lpstr>
      <vt:lpstr>Why Use Firewalls</vt:lpstr>
      <vt:lpstr>Why Use Firewalls</vt:lpstr>
      <vt:lpstr>Firewall Policies</vt:lpstr>
      <vt:lpstr>Schematic of a Firewall</vt:lpstr>
      <vt:lpstr>DMZ</vt:lpstr>
      <vt:lpstr>Types of Firewalls</vt:lpstr>
      <vt:lpstr>State-less Packet Filters</vt:lpstr>
      <vt:lpstr>State-less Packet Filters</vt:lpstr>
      <vt:lpstr>State-less Packet Filters</vt:lpstr>
      <vt:lpstr>State-less Packet Filters</vt:lpstr>
      <vt:lpstr>State-full Packet Filters</vt:lpstr>
      <vt:lpstr>State-full Packet Filters</vt:lpstr>
      <vt:lpstr>State-full Packet Filters</vt:lpstr>
      <vt:lpstr>Application Gateways</vt:lpstr>
      <vt:lpstr>Application Gateways</vt:lpstr>
      <vt:lpstr>Application Gateways</vt:lpstr>
      <vt:lpstr>Limitations of Firewalls</vt:lpstr>
      <vt:lpstr>Limitations of Firewalls</vt:lpstr>
      <vt:lpstr>Limitations of Firewalls</vt:lpstr>
      <vt:lpstr>Access Control Lists</vt:lpstr>
      <vt:lpstr>Access Control Lists</vt:lpstr>
      <vt:lpstr>Access Control Lists</vt:lpstr>
      <vt:lpstr>Access Control Lists</vt:lpstr>
      <vt:lpstr>Access Control Lists</vt:lpstr>
      <vt:lpstr>Access Control Lists</vt:lpstr>
      <vt:lpstr>Access Control Lists</vt:lpstr>
      <vt:lpstr>Access Control Lists</vt:lpstr>
      <vt:lpstr>Access Control Lists</vt:lpstr>
      <vt:lpstr>Access Control Lists</vt:lpstr>
      <vt:lpstr>THANKS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CSC332 – Data Security  and Encryption</dc:title>
  <dc:creator>Dr. Ahmad</dc:creator>
  <cp:lastModifiedBy>Dr. Ahmad</cp:lastModifiedBy>
  <cp:revision>3</cp:revision>
  <dcterms:created xsi:type="dcterms:W3CDTF">2006-08-16T00:00:00Z</dcterms:created>
  <dcterms:modified xsi:type="dcterms:W3CDTF">2016-02-09T09:36:48Z</dcterms:modified>
</cp:coreProperties>
</file>