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4" r:id="rId2"/>
  </p:sldMasterIdLst>
  <p:notesMasterIdLst>
    <p:notesMasterId r:id="rId27"/>
  </p:notesMasterIdLst>
  <p:sldIdLst>
    <p:sldId id="263" r:id="rId3"/>
    <p:sldId id="507" r:id="rId4"/>
    <p:sldId id="498" r:id="rId5"/>
    <p:sldId id="499" r:id="rId6"/>
    <p:sldId id="514" r:id="rId7"/>
    <p:sldId id="500" r:id="rId8"/>
    <p:sldId id="501" r:id="rId9"/>
    <p:sldId id="502" r:id="rId10"/>
    <p:sldId id="503" r:id="rId11"/>
    <p:sldId id="504" r:id="rId12"/>
    <p:sldId id="506" r:id="rId13"/>
    <p:sldId id="508" r:id="rId14"/>
    <p:sldId id="509" r:id="rId15"/>
    <p:sldId id="510" r:id="rId16"/>
    <p:sldId id="511" r:id="rId17"/>
    <p:sldId id="512" r:id="rId18"/>
    <p:sldId id="513" r:id="rId19"/>
    <p:sldId id="515" r:id="rId20"/>
    <p:sldId id="516" r:id="rId21"/>
    <p:sldId id="517" r:id="rId22"/>
    <p:sldId id="518" r:id="rId23"/>
    <p:sldId id="519" r:id="rId24"/>
    <p:sldId id="496" r:id="rId25"/>
    <p:sldId id="26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3300"/>
    <a:srgbClr val="959595"/>
    <a:srgbClr val="385D8A"/>
    <a:srgbClr val="C9E4CD"/>
    <a:srgbClr val="0AA1C5"/>
    <a:srgbClr val="54B7DF"/>
    <a:srgbClr val="52B6DE"/>
    <a:srgbClr val="465F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60" autoAdjust="0"/>
    <p:restoredTop sz="87583" autoAdjust="0"/>
  </p:normalViewPr>
  <p:slideViewPr>
    <p:cSldViewPr>
      <p:cViewPr>
        <p:scale>
          <a:sx n="77" d="100"/>
          <a:sy n="77" d="100"/>
        </p:scale>
        <p:origin x="-486" y="-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94327F-8B66-4593-A96D-4C34C104BA71}" type="datetimeFigureOut">
              <a:rPr lang="en-US" smtClean="0"/>
              <a:t>2/9/2016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1BBE10-DA82-4B89-A9D0-B48EB606E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85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3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>
                <a:solidFill>
                  <a:prstClr val="black"/>
                </a:solidFill>
              </a:rPr>
              <a:t>Microsoft </a:t>
            </a:r>
            <a:r>
              <a:rPr lang="en-US" b="1" dirty="0" smtClean="0">
                <a:solidFill>
                  <a:prstClr val="black"/>
                </a:solidFill>
              </a:rPr>
              <a:t>Engineering Excellence</a:t>
            </a:r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43011" name="Rectangle 25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>
                <a:solidFill>
                  <a:prstClr val="black"/>
                </a:solidFill>
              </a:rPr>
              <a:t>Microsoft Confidential</a:t>
            </a:r>
          </a:p>
        </p:txBody>
      </p:sp>
      <p:sp>
        <p:nvSpPr>
          <p:cNvPr id="43012" name="Rectangle 26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FF76F4-FC11-42FE-9D94-04E3E6D16C06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450850"/>
            <a:ext cx="6096000" cy="3429000"/>
          </a:xfrm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492" y="4130103"/>
            <a:ext cx="6261652" cy="4603230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61005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58" y="0"/>
            <a:ext cx="12133943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54400" y="2286001"/>
            <a:ext cx="8240299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83200" y="4038600"/>
            <a:ext cx="6363371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4962157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9144000" y="5105400"/>
            <a:ext cx="24384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74377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58" y="0"/>
            <a:ext cx="12133943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684632" y="-4705653"/>
            <a:ext cx="2819400" cy="122307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048000"/>
            <a:ext cx="5791200" cy="1362075"/>
          </a:xfrm>
        </p:spPr>
        <p:txBody>
          <a:bodyPr anchor="b" anchorCtr="0">
            <a:normAutofit/>
          </a:bodyPr>
          <a:lstStyle>
            <a:lvl1pPr algn="ctr">
              <a:defRPr sz="3600" b="1" cap="small" baseline="0">
                <a:solidFill>
                  <a:srgbClr val="0AA1C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9042400" y="5334000"/>
            <a:ext cx="2844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6400800" y="959824"/>
            <a:ext cx="467360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Lecture No 12</a:t>
            </a:r>
            <a:endParaRPr lang="en-US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526399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00" y="152401"/>
            <a:ext cx="11176000" cy="864207"/>
          </a:xfrm>
          <a:noFill/>
        </p:spPr>
        <p:txBody>
          <a:bodyPr lIns="182880" anchor="ctr" anchorCtr="0">
            <a:normAutofit/>
          </a:bodyPr>
          <a:lstStyle>
            <a:lvl1pPr algn="l">
              <a:defRPr lang="en-US" sz="3600" b="1" dirty="0">
                <a:solidFill>
                  <a:srgbClr val="0AA1C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169009"/>
            <a:ext cx="11176000" cy="5536592"/>
          </a:xfrm>
        </p:spPr>
        <p:txBody>
          <a:bodyPr tIns="91440" rIns="365760" bIns="91440">
            <a:normAutofit/>
          </a:bodyPr>
          <a:lstStyle>
            <a:lvl1pPr marL="457200" indent="-457200" algn="just">
              <a:buFont typeface="Wingdings" panose="05000000000000000000" pitchFamily="2" charset="2"/>
              <a:buChar char="q"/>
              <a:defRPr sz="2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806450" indent="-349250" algn="just">
              <a:buFont typeface="Wingdings" panose="05000000000000000000" pitchFamily="2" charset="2"/>
              <a:buChar char="q"/>
              <a:defRPr sz="20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1263650" indent="-349250" algn="just">
              <a:buFont typeface="Wingdings" panose="05000000000000000000" pitchFamily="2" charset="2"/>
              <a:buChar char="q"/>
              <a:defRPr sz="18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720850" indent="-349250" algn="just">
              <a:buFont typeface="Wingdings" panose="05000000000000000000" pitchFamily="2" charset="2"/>
              <a:buChar char="q"/>
              <a:defRPr sz="16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2057400" indent="-228600" algn="just">
              <a:buFont typeface="Wingdings" panose="05000000000000000000" pitchFamily="2" charset="2"/>
              <a:buChar char="q"/>
              <a:defRPr sz="1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31520" y="990600"/>
            <a:ext cx="10241280" cy="0"/>
          </a:xfrm>
          <a:prstGeom prst="line">
            <a:avLst/>
          </a:prstGeom>
          <a:ln w="69850">
            <a:solidFill>
              <a:srgbClr val="0AA1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933127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27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24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81240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81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981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365601"/>
      </p:ext>
    </p:extLst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869905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577532"/>
      </p:ext>
    </p:extLst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825837"/>
      </p:ext>
    </p:extLst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0" y="274639"/>
            <a:ext cx="78232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692983"/>
      </p:ext>
    </p:extLst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77661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21244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58" y="0"/>
            <a:ext cx="12133943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1016000" y="6356351"/>
            <a:ext cx="2844800" cy="365125"/>
          </a:xfrm>
        </p:spPr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70400" y="6356351"/>
            <a:ext cx="3860800" cy="365125"/>
          </a:xfr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40800" y="6356351"/>
            <a:ext cx="2844800" cy="365125"/>
          </a:xfrm>
        </p:spPr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42765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58" y="0"/>
            <a:ext cx="12133943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54400" y="2286001"/>
            <a:ext cx="8240299" cy="1470025"/>
          </a:xfrm>
        </p:spPr>
        <p:txBody>
          <a:bodyPr anchor="t">
            <a:normAutofit/>
          </a:bodyPr>
          <a:lstStyle>
            <a:lvl1pPr algn="r">
              <a:defRPr lang="en-US" sz="3600" b="1" kern="1200" cap="small" baseline="0" dirty="0">
                <a:solidFill>
                  <a:srgbClr val="0AA1C5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83200" y="4038600"/>
            <a:ext cx="6363371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4962157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9144000" y="5105400"/>
            <a:ext cx="24384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219027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58" y="0"/>
            <a:ext cx="12133943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684632" y="-4705653"/>
            <a:ext cx="2819400" cy="122307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048000"/>
            <a:ext cx="5791200" cy="1362075"/>
          </a:xfrm>
        </p:spPr>
        <p:txBody>
          <a:bodyPr anchor="b" anchorCtr="0">
            <a:normAutofit/>
          </a:bodyPr>
          <a:lstStyle>
            <a:lvl1pPr algn="l">
              <a:defRPr lang="en-US" sz="3600" b="1" kern="1200" cap="small" baseline="0" dirty="0">
                <a:solidFill>
                  <a:srgbClr val="0AA1C5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9042400" y="5334000"/>
            <a:ext cx="2844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60210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6000" y="269632"/>
            <a:ext cx="10769600" cy="1143000"/>
          </a:xfrm>
        </p:spPr>
        <p:txBody>
          <a:bodyPr anchor="ctr" anchorCtr="0"/>
          <a:lstStyle>
            <a:lvl1pPr algn="l">
              <a:defRPr lang="en-US" dirty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0" y="1596413"/>
            <a:ext cx="10769600" cy="4297363"/>
          </a:xfrm>
        </p:spPr>
        <p:txBody>
          <a:bodyPr>
            <a:normAutofit/>
          </a:bodyPr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40800" y="6356351"/>
            <a:ext cx="2844800" cy="365125"/>
          </a:xfrm>
        </p:spPr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74607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24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032952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81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981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045137"/>
      </p:ext>
    </p:extLst>
  </p:cSld>
  <p:clrMapOvr>
    <a:masterClrMapping/>
  </p:clrMapOvr>
  <p:transition spd="slow"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32816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435198"/>
      </p:ext>
    </p:extLst>
  </p:cSld>
  <p:clrMapOvr>
    <a:masterClrMapping/>
  </p:clrMapOvr>
  <p:transition spd="slow"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681826"/>
      </p:ext>
    </p:extLst>
  </p:cSld>
  <p:clrMapOvr>
    <a:masterClrMapping/>
  </p:clrMapOvr>
  <p:transition spd="slow"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0" y="274639"/>
            <a:ext cx="78232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622838"/>
      </p:ext>
    </p:extLst>
  </p:cSld>
  <p:clrMapOvr>
    <a:masterClrMapping/>
  </p:clrMapOvr>
  <p:transition spd="slow"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57847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96138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58" y="0"/>
            <a:ext cx="12133943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1016000" y="6356351"/>
            <a:ext cx="2844800" cy="365125"/>
          </a:xfrm>
        </p:spPr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70400" y="6356351"/>
            <a:ext cx="3860800" cy="365125"/>
          </a:xfr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40800" y="6356351"/>
            <a:ext cx="2844800" cy="365125"/>
          </a:xfrm>
        </p:spPr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289949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58" y="0"/>
            <a:ext cx="12133943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0" y="274638"/>
            <a:ext cx="1076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1600201"/>
            <a:ext cx="1076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04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408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3199" y="-109183"/>
            <a:ext cx="1091609" cy="70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09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spd="slow">
    <p:wipe dir="d"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58" y="0"/>
            <a:ext cx="12133943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0" y="274638"/>
            <a:ext cx="1076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1600201"/>
            <a:ext cx="1076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2/9/2016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04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408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3199" y="-109183"/>
            <a:ext cx="1091609" cy="70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62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ransition spd="slow">
    <p:wipe dir="d"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3048001"/>
            <a:ext cx="8077200" cy="1362075"/>
          </a:xfrm>
        </p:spPr>
        <p:txBody>
          <a:bodyPr anchor="ctr">
            <a:normAutofit/>
          </a:bodyPr>
          <a:lstStyle/>
          <a:p>
            <a:r>
              <a:rPr lang="en-US" dirty="0" smtClean="0"/>
              <a:t>Intrusion Detection and Prevention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91972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Intruders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Intruder is a person who attempts to gain unauthorized access to a </a:t>
            </a:r>
            <a:r>
              <a:rPr lang="en-US" dirty="0" smtClean="0"/>
              <a:t>system (or network), </a:t>
            </a:r>
            <a:r>
              <a:rPr lang="en-US" dirty="0"/>
              <a:t>to damage that system, or to disturb data on that </a:t>
            </a:r>
            <a:r>
              <a:rPr lang="en-US" dirty="0" smtClean="0"/>
              <a:t>system</a:t>
            </a:r>
          </a:p>
          <a:p>
            <a:endParaRPr lang="en-US" dirty="0"/>
          </a:p>
          <a:p>
            <a:r>
              <a:rPr lang="en-US" dirty="0" smtClean="0"/>
              <a:t>Intruders </a:t>
            </a:r>
            <a:r>
              <a:rPr lang="en-US" dirty="0"/>
              <a:t>may enter a computer system in order </a:t>
            </a:r>
            <a:r>
              <a:rPr lang="en-US" dirty="0" smtClean="0"/>
              <a:t>to inspect, insert, modify or delete data </a:t>
            </a:r>
            <a:r>
              <a:rPr lang="en-US" dirty="0"/>
              <a:t>which would normally be under the control of </a:t>
            </a:r>
            <a:r>
              <a:rPr lang="en-US" dirty="0" smtClean="0"/>
              <a:t>the legitimate </a:t>
            </a:r>
            <a:r>
              <a:rPr lang="en-US" dirty="0"/>
              <a:t>users of the </a:t>
            </a:r>
            <a:r>
              <a:rPr lang="en-US" dirty="0" smtClean="0"/>
              <a:t>system</a:t>
            </a:r>
          </a:p>
          <a:p>
            <a:endParaRPr lang="en-US" dirty="0"/>
          </a:p>
          <a:p>
            <a:r>
              <a:rPr lang="en-US" dirty="0"/>
              <a:t>An intruder can be </a:t>
            </a:r>
            <a:r>
              <a:rPr lang="en-US" dirty="0" smtClean="0"/>
              <a:t>any person with malicious thinking, </a:t>
            </a:r>
            <a:r>
              <a:rPr lang="en-US" dirty="0"/>
              <a:t>former employee or one of the thousands of third-party connections organizations have opened to help further business </a:t>
            </a:r>
            <a:r>
              <a:rPr lang="en-US" dirty="0" smtClean="0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698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Packet </a:t>
            </a:r>
            <a:r>
              <a:rPr lang="en-US" sz="3200" dirty="0" smtClean="0"/>
              <a:t>Filtering </a:t>
            </a:r>
            <a:r>
              <a:rPr lang="en-US" sz="3200" dirty="0"/>
              <a:t>Firewalls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Operates </a:t>
            </a:r>
            <a:r>
              <a:rPr lang="en-US" dirty="0"/>
              <a:t>on TCP/IP headers only</a:t>
            </a:r>
          </a:p>
          <a:p>
            <a:r>
              <a:rPr lang="en-US" dirty="0"/>
              <a:t>No correlation check among sessions </a:t>
            </a:r>
          </a:p>
          <a:p>
            <a:endParaRPr lang="en-US" dirty="0" smtClean="0"/>
          </a:p>
          <a:p>
            <a:r>
              <a:rPr lang="en-US" dirty="0" smtClean="0"/>
              <a:t>Intrusion </a:t>
            </a:r>
            <a:r>
              <a:rPr lang="en-US" dirty="0"/>
              <a:t>Detection </a:t>
            </a:r>
            <a:r>
              <a:rPr lang="en-US" dirty="0" smtClean="0"/>
              <a:t>System (</a:t>
            </a:r>
            <a:r>
              <a:rPr lang="en-US" dirty="0"/>
              <a:t>IDS</a:t>
            </a:r>
            <a:r>
              <a:rPr lang="en-US" dirty="0" smtClean="0"/>
              <a:t>) monitor packets in detail</a:t>
            </a:r>
            <a:endParaRPr lang="en-US" dirty="0"/>
          </a:p>
          <a:p>
            <a:r>
              <a:rPr lang="en-US" dirty="0" smtClean="0"/>
              <a:t>Inspect packets deeply and look </a:t>
            </a:r>
            <a:r>
              <a:rPr lang="en-US" dirty="0"/>
              <a:t>at packet contents (e.g., check character strings in packet against database of known virus, attack strings)</a:t>
            </a:r>
          </a:p>
          <a:p>
            <a:r>
              <a:rPr lang="en-US" dirty="0"/>
              <a:t>Examine correlation among multiple packets</a:t>
            </a:r>
          </a:p>
          <a:p>
            <a:pPr lvl="1"/>
            <a:r>
              <a:rPr lang="en-US" dirty="0"/>
              <a:t>Port scanning</a:t>
            </a:r>
          </a:p>
          <a:p>
            <a:pPr lvl="1"/>
            <a:r>
              <a:rPr lang="en-US" dirty="0"/>
              <a:t>Network mapping</a:t>
            </a:r>
          </a:p>
          <a:p>
            <a:pPr lvl="1"/>
            <a:r>
              <a:rPr lang="en-US" dirty="0" err="1"/>
              <a:t>DoS</a:t>
            </a:r>
            <a:r>
              <a:rPr lang="en-US" dirty="0"/>
              <a:t> attack</a:t>
            </a:r>
          </a:p>
        </p:txBody>
      </p:sp>
    </p:spTree>
    <p:extLst>
      <p:ext uri="{BB962C8B-B14F-4D97-AF65-F5344CB8AC3E}">
        <p14:creationId xmlns:p14="http://schemas.microsoft.com/office/powerpoint/2010/main" val="3138273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Detection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A security service that monitors and </a:t>
            </a:r>
            <a:r>
              <a:rPr lang="en-US" i="1" dirty="0" smtClean="0"/>
              <a:t>analyzes system </a:t>
            </a:r>
            <a:r>
              <a:rPr lang="en-US" i="1" dirty="0"/>
              <a:t>events for the purpose of finding, and providing real-time or </a:t>
            </a:r>
            <a:r>
              <a:rPr lang="en-US" i="1" dirty="0" smtClean="0"/>
              <a:t>near real-time </a:t>
            </a:r>
            <a:r>
              <a:rPr lang="en-US" i="1" dirty="0"/>
              <a:t>warning of, attempts to access system resources in </a:t>
            </a:r>
            <a:r>
              <a:rPr lang="en-US" i="1" dirty="0" smtClean="0"/>
              <a:t>an unauthorized manner</a:t>
            </a:r>
          </a:p>
          <a:p>
            <a:endParaRPr lang="en-US" dirty="0"/>
          </a:p>
          <a:p>
            <a:r>
              <a:rPr lang="en-US" dirty="0" smtClean="0"/>
              <a:t>IDS </a:t>
            </a:r>
            <a:r>
              <a:rPr lang="en-US" dirty="0"/>
              <a:t>aims at detecting </a:t>
            </a:r>
            <a:r>
              <a:rPr lang="en-US" dirty="0" smtClean="0"/>
              <a:t>the presence </a:t>
            </a:r>
            <a:r>
              <a:rPr lang="en-US" dirty="0"/>
              <a:t>of intruders before serious damage is </a:t>
            </a:r>
            <a:r>
              <a:rPr lang="en-US" dirty="0" smtClean="0"/>
              <a:t>done</a:t>
            </a:r>
          </a:p>
          <a:p>
            <a:r>
              <a:rPr lang="en-US" dirty="0"/>
              <a:t>Intrusion detection is a reactive concept that tries to identify a hacker when a penetration is attempted</a:t>
            </a:r>
          </a:p>
          <a:p>
            <a:pPr lvl="1"/>
            <a:r>
              <a:rPr lang="en-US" dirty="0"/>
              <a:t>Ideally, such a system will only alarm when a successful attack is made</a:t>
            </a:r>
          </a:p>
          <a:p>
            <a:r>
              <a:rPr lang="en-US" dirty="0"/>
              <a:t>Intrusion detection can also assist in the proactive identification of active threats by providing indications and warnings that a threat is gathering information for an </a:t>
            </a:r>
            <a:r>
              <a:rPr lang="en-US" dirty="0" smtClean="0"/>
              <a:t>attack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31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</a:t>
            </a:r>
            <a:r>
              <a:rPr lang="en-US" sz="3200" dirty="0" smtClean="0"/>
              <a:t>Prevention </a:t>
            </a:r>
            <a:r>
              <a:rPr lang="en-US" sz="3200" dirty="0"/>
              <a:t>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dirty="0" smtClean="0"/>
              <a:t>Intrusion Prevention System </a:t>
            </a:r>
            <a:r>
              <a:rPr lang="en-US" dirty="0"/>
              <a:t>(IPS) </a:t>
            </a:r>
            <a:r>
              <a:rPr lang="en-US" dirty="0" smtClean="0"/>
              <a:t>has </a:t>
            </a:r>
            <a:r>
              <a:rPr lang="en-US" dirty="0"/>
              <a:t>all the capabilities of an intrusion detection </a:t>
            </a:r>
            <a:r>
              <a:rPr lang="en-US" dirty="0" smtClean="0"/>
              <a:t>system and </a:t>
            </a:r>
            <a:r>
              <a:rPr lang="en-US" dirty="0"/>
              <a:t>can also attempt to stop possible </a:t>
            </a:r>
            <a:r>
              <a:rPr lang="en-US" dirty="0" smtClean="0"/>
              <a:t>incidents</a:t>
            </a:r>
          </a:p>
          <a:p>
            <a:endParaRPr lang="en-US" dirty="0"/>
          </a:p>
          <a:p>
            <a:r>
              <a:rPr lang="en-US" dirty="0"/>
              <a:t>IPS can actively stop malicious activities</a:t>
            </a:r>
          </a:p>
          <a:p>
            <a:pPr lvl="1"/>
            <a:r>
              <a:rPr lang="en-US" dirty="0"/>
              <a:t>Enables pro-active mitigation of attacks</a:t>
            </a:r>
          </a:p>
          <a:p>
            <a:pPr lvl="1"/>
            <a:r>
              <a:rPr lang="en-US" dirty="0"/>
              <a:t>IPS has to be deployed ‚in-band‘ with data stream</a:t>
            </a:r>
          </a:p>
          <a:p>
            <a:r>
              <a:rPr lang="en-US" dirty="0"/>
              <a:t>Possible mitigation measures?</a:t>
            </a:r>
          </a:p>
          <a:p>
            <a:pPr lvl="1"/>
            <a:r>
              <a:rPr lang="en-US" dirty="0"/>
              <a:t>Terminate malicious network connections</a:t>
            </a:r>
          </a:p>
          <a:p>
            <a:pPr lvl="1"/>
            <a:r>
              <a:rPr lang="en-US" dirty="0"/>
              <a:t>Terminate malicious processes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92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Detection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Intrusion </a:t>
            </a:r>
            <a:r>
              <a:rPr lang="en-US" dirty="0"/>
              <a:t>detection systems (IDS) have existed for a long time</a:t>
            </a:r>
          </a:p>
          <a:p>
            <a:r>
              <a:rPr lang="en-US" dirty="0"/>
              <a:t>Fire </a:t>
            </a:r>
            <a:r>
              <a:rPr lang="en-US" dirty="0" smtClean="0"/>
              <a:t>detectors, warning systems, burglar </a:t>
            </a:r>
            <a:r>
              <a:rPr lang="en-US" dirty="0"/>
              <a:t>and car alarms are also forms of </a:t>
            </a:r>
            <a:r>
              <a:rPr lang="en-US" dirty="0" smtClean="0"/>
              <a:t>IDS</a:t>
            </a:r>
          </a:p>
          <a:p>
            <a:endParaRPr lang="en-US" dirty="0"/>
          </a:p>
          <a:p>
            <a:r>
              <a:rPr lang="en-US" dirty="0"/>
              <a:t>If the alarm system detects an event that it is programmed to notice (such as the breaking of a window or the opening of a door), lights go on, an alarm sounds, or the police are called</a:t>
            </a:r>
          </a:p>
          <a:p>
            <a:r>
              <a:rPr lang="en-US" dirty="0"/>
              <a:t>The deterrent function is provided by a window sticker or a sign in the front yard of the house</a:t>
            </a:r>
          </a:p>
          <a:p>
            <a:r>
              <a:rPr lang="en-US" dirty="0"/>
              <a:t>Cars often have a red light visible on the dashboard to give an indication that an alarm is active</a:t>
            </a:r>
          </a:p>
        </p:txBody>
      </p:sp>
    </p:spTree>
    <p:extLst>
      <p:ext uri="{BB962C8B-B14F-4D97-AF65-F5344CB8AC3E}">
        <p14:creationId xmlns:p14="http://schemas.microsoft.com/office/powerpoint/2010/main" val="4201197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Detection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of these examples share a single, principal aim: detect any attempt to penetrate the security perimeter of the item (business, building, car, and so on) being protected</a:t>
            </a:r>
          </a:p>
          <a:p>
            <a:r>
              <a:rPr lang="en-US" dirty="0"/>
              <a:t>In the case of a building or car, the security perimeter is easy to identify</a:t>
            </a:r>
          </a:p>
          <a:p>
            <a:r>
              <a:rPr lang="en-US" dirty="0"/>
              <a:t>The walls of the building, a fence around the property, or the doors and windows of the car clearly define the security perimeter</a:t>
            </a:r>
          </a:p>
          <a:p>
            <a:r>
              <a:rPr lang="en-US" dirty="0"/>
              <a:t>Another characteristic that all of these examples have in common is well-defined criteria for what constitutes a penetration attempt and what constitutes the security perimeter</a:t>
            </a:r>
          </a:p>
        </p:txBody>
      </p:sp>
    </p:spTree>
    <p:extLst>
      <p:ext uri="{BB962C8B-B14F-4D97-AF65-F5344CB8AC3E}">
        <p14:creationId xmlns:p14="http://schemas.microsoft.com/office/powerpoint/2010/main" val="3383073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Detection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we translate the concept of the alarm system into the computer world, we have the base concept of an IDS</a:t>
            </a:r>
          </a:p>
          <a:p>
            <a:r>
              <a:rPr lang="en-US" dirty="0"/>
              <a:t>Now we must define what the security perimeter of our computer system or network actually is</a:t>
            </a:r>
          </a:p>
          <a:p>
            <a:r>
              <a:rPr lang="en-US" dirty="0"/>
              <a:t>Clearly, the security perimeter does not exist in the same way as a wall or fence</a:t>
            </a:r>
          </a:p>
          <a:p>
            <a:r>
              <a:rPr lang="en-US" dirty="0"/>
              <a:t>Instead, the security perimeter of a network refers to the virtual perimeter surrounding an organization’s computer systems</a:t>
            </a:r>
          </a:p>
          <a:p>
            <a:r>
              <a:rPr lang="en-US" dirty="0"/>
              <a:t>This perimeter can be defined by firewalls, telecom demarcation points, or desktop computers with modems</a:t>
            </a:r>
          </a:p>
          <a:p>
            <a:r>
              <a:rPr lang="en-US" dirty="0"/>
              <a:t>It may also be extended to include the home computers of employees who are allowed to telecommute or a business partner that is allowed to connect to the network</a:t>
            </a:r>
          </a:p>
        </p:txBody>
      </p:sp>
    </p:spTree>
    <p:extLst>
      <p:ext uri="{BB962C8B-B14F-4D97-AF65-F5344CB8AC3E}">
        <p14:creationId xmlns:p14="http://schemas.microsoft.com/office/powerpoint/2010/main" val="2324352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Detection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IDS is designed to differentiate between an authorized entry and a malicious intrusion, which is much more difficult</a:t>
            </a:r>
          </a:p>
          <a:p>
            <a:r>
              <a:rPr lang="en-US" dirty="0"/>
              <a:t>A good analogy to further explain this is a jewelry store with a burglar alarm</a:t>
            </a:r>
          </a:p>
          <a:p>
            <a:r>
              <a:rPr lang="en-US" dirty="0"/>
              <a:t>If anyone, even the owner, opens the door, the alarm sounds</a:t>
            </a:r>
          </a:p>
          <a:p>
            <a:r>
              <a:rPr lang="en-US" dirty="0"/>
              <a:t>The owner must then notify the alarm company that he has opened his store and all is well</a:t>
            </a:r>
          </a:p>
          <a:p>
            <a:r>
              <a:rPr lang="en-US" dirty="0"/>
              <a:t>An IDS is more like the guard at the front door watching every patron of the store and looking for malicious intent (carrying a gun for example)</a:t>
            </a:r>
          </a:p>
          <a:p>
            <a:r>
              <a:rPr lang="en-US" dirty="0"/>
              <a:t>Unfortunately, in the virtual world the gun is very often invisible</a:t>
            </a:r>
          </a:p>
        </p:txBody>
      </p:sp>
    </p:spTree>
    <p:extLst>
      <p:ext uri="{BB962C8B-B14F-4D97-AF65-F5344CB8AC3E}">
        <p14:creationId xmlns:p14="http://schemas.microsoft.com/office/powerpoint/2010/main" val="2725916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Detection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</a:t>
            </a:r>
            <a:r>
              <a:rPr lang="en-US" dirty="0" smtClean="0"/>
              <a:t>IDSs for different </a:t>
            </a:r>
            <a:r>
              <a:rPr lang="en-US" dirty="0"/>
              <a:t>types of checking at different locations</a:t>
            </a:r>
          </a:p>
        </p:txBody>
      </p:sp>
      <p:sp>
        <p:nvSpPr>
          <p:cNvPr id="4" name="Freeform 2"/>
          <p:cNvSpPr>
            <a:spLocks/>
          </p:cNvSpPr>
          <p:nvPr/>
        </p:nvSpPr>
        <p:spPr bwMode="auto">
          <a:xfrm>
            <a:off x="6810375" y="3067050"/>
            <a:ext cx="3324225" cy="1131888"/>
          </a:xfrm>
          <a:custGeom>
            <a:avLst/>
            <a:gdLst>
              <a:gd name="T0" fmla="*/ 1142 w 1198"/>
              <a:gd name="T1" fmla="*/ 3 h 719"/>
              <a:gd name="T2" fmla="*/ 1116 w 1198"/>
              <a:gd name="T3" fmla="*/ 0 h 719"/>
              <a:gd name="T4" fmla="*/ 1082 w 1198"/>
              <a:gd name="T5" fmla="*/ 7 h 719"/>
              <a:gd name="T6" fmla="*/ 1036 w 1198"/>
              <a:gd name="T7" fmla="*/ 24 h 719"/>
              <a:gd name="T8" fmla="*/ 956 w 1198"/>
              <a:gd name="T9" fmla="*/ 56 h 719"/>
              <a:gd name="T10" fmla="*/ 904 w 1198"/>
              <a:gd name="T11" fmla="*/ 73 h 719"/>
              <a:gd name="T12" fmla="*/ 866 w 1198"/>
              <a:gd name="T13" fmla="*/ 77 h 719"/>
              <a:gd name="T14" fmla="*/ 798 w 1198"/>
              <a:gd name="T15" fmla="*/ 75 h 719"/>
              <a:gd name="T16" fmla="*/ 719 w 1198"/>
              <a:gd name="T17" fmla="*/ 65 h 719"/>
              <a:gd name="T18" fmla="*/ 632 w 1198"/>
              <a:gd name="T19" fmla="*/ 56 h 719"/>
              <a:gd name="T20" fmla="*/ 574 w 1198"/>
              <a:gd name="T21" fmla="*/ 58 h 719"/>
              <a:gd name="T22" fmla="*/ 524 w 1198"/>
              <a:gd name="T23" fmla="*/ 65 h 719"/>
              <a:gd name="T24" fmla="*/ 464 w 1198"/>
              <a:gd name="T25" fmla="*/ 76 h 719"/>
              <a:gd name="T26" fmla="*/ 398 w 1198"/>
              <a:gd name="T27" fmla="*/ 89 h 719"/>
              <a:gd name="T28" fmla="*/ 274 w 1198"/>
              <a:gd name="T29" fmla="*/ 117 h 719"/>
              <a:gd name="T30" fmla="*/ 190 w 1198"/>
              <a:gd name="T31" fmla="*/ 144 h 719"/>
              <a:gd name="T32" fmla="*/ 131 w 1198"/>
              <a:gd name="T33" fmla="*/ 169 h 719"/>
              <a:gd name="T34" fmla="*/ 82 w 1198"/>
              <a:gd name="T35" fmla="*/ 198 h 719"/>
              <a:gd name="T36" fmla="*/ 47 w 1198"/>
              <a:gd name="T37" fmla="*/ 232 h 719"/>
              <a:gd name="T38" fmla="*/ 23 w 1198"/>
              <a:gd name="T39" fmla="*/ 273 h 719"/>
              <a:gd name="T40" fmla="*/ 8 w 1198"/>
              <a:gd name="T41" fmla="*/ 323 h 719"/>
              <a:gd name="T42" fmla="*/ 1 w 1198"/>
              <a:gd name="T43" fmla="*/ 378 h 719"/>
              <a:gd name="T44" fmla="*/ 0 w 1198"/>
              <a:gd name="T45" fmla="*/ 434 h 719"/>
              <a:gd name="T46" fmla="*/ 6 w 1198"/>
              <a:gd name="T47" fmla="*/ 489 h 719"/>
              <a:gd name="T48" fmla="*/ 17 w 1198"/>
              <a:gd name="T49" fmla="*/ 539 h 719"/>
              <a:gd name="T50" fmla="*/ 33 w 1198"/>
              <a:gd name="T51" fmla="*/ 582 h 719"/>
              <a:gd name="T52" fmla="*/ 51 w 1198"/>
              <a:gd name="T53" fmla="*/ 615 h 719"/>
              <a:gd name="T54" fmla="*/ 77 w 1198"/>
              <a:gd name="T55" fmla="*/ 638 h 719"/>
              <a:gd name="T56" fmla="*/ 110 w 1198"/>
              <a:gd name="T57" fmla="*/ 656 h 719"/>
              <a:gd name="T58" fmla="*/ 159 w 1198"/>
              <a:gd name="T59" fmla="*/ 670 h 719"/>
              <a:gd name="T60" fmla="*/ 248 w 1198"/>
              <a:gd name="T61" fmla="*/ 683 h 719"/>
              <a:gd name="T62" fmla="*/ 342 w 1198"/>
              <a:gd name="T63" fmla="*/ 692 h 719"/>
              <a:gd name="T64" fmla="*/ 401 w 1198"/>
              <a:gd name="T65" fmla="*/ 700 h 719"/>
              <a:gd name="T66" fmla="*/ 492 w 1198"/>
              <a:gd name="T67" fmla="*/ 710 h 719"/>
              <a:gd name="T68" fmla="*/ 631 w 1198"/>
              <a:gd name="T69" fmla="*/ 717 h 719"/>
              <a:gd name="T70" fmla="*/ 708 w 1198"/>
              <a:gd name="T71" fmla="*/ 719 h 719"/>
              <a:gd name="T72" fmla="*/ 753 w 1198"/>
              <a:gd name="T73" fmla="*/ 719 h 719"/>
              <a:gd name="T74" fmla="*/ 791 w 1198"/>
              <a:gd name="T75" fmla="*/ 719 h 719"/>
              <a:gd name="T76" fmla="*/ 824 w 1198"/>
              <a:gd name="T77" fmla="*/ 718 h 719"/>
              <a:gd name="T78" fmla="*/ 876 w 1198"/>
              <a:gd name="T79" fmla="*/ 712 h 719"/>
              <a:gd name="T80" fmla="*/ 931 w 1198"/>
              <a:gd name="T81" fmla="*/ 700 h 719"/>
              <a:gd name="T82" fmla="*/ 977 w 1198"/>
              <a:gd name="T83" fmla="*/ 687 h 719"/>
              <a:gd name="T84" fmla="*/ 1029 w 1198"/>
              <a:gd name="T85" fmla="*/ 672 h 719"/>
              <a:gd name="T86" fmla="*/ 1096 w 1198"/>
              <a:gd name="T87" fmla="*/ 652 h 719"/>
              <a:gd name="T88" fmla="*/ 1142 w 1198"/>
              <a:gd name="T89" fmla="*/ 627 h 719"/>
              <a:gd name="T90" fmla="*/ 1168 w 1198"/>
              <a:gd name="T91" fmla="*/ 601 h 719"/>
              <a:gd name="T92" fmla="*/ 1188 w 1198"/>
              <a:gd name="T93" fmla="*/ 554 h 719"/>
              <a:gd name="T94" fmla="*/ 1196 w 1198"/>
              <a:gd name="T95" fmla="*/ 498 h 719"/>
              <a:gd name="T96" fmla="*/ 1197 w 1198"/>
              <a:gd name="T97" fmla="*/ 433 h 719"/>
              <a:gd name="T98" fmla="*/ 1196 w 1198"/>
              <a:gd name="T99" fmla="*/ 361 h 719"/>
              <a:gd name="T100" fmla="*/ 1196 w 1198"/>
              <a:gd name="T101" fmla="*/ 321 h 719"/>
              <a:gd name="T102" fmla="*/ 1197 w 1198"/>
              <a:gd name="T103" fmla="*/ 271 h 719"/>
              <a:gd name="T104" fmla="*/ 1197 w 1198"/>
              <a:gd name="T105" fmla="*/ 166 h 719"/>
              <a:gd name="T106" fmla="*/ 1194 w 1198"/>
              <a:gd name="T107" fmla="*/ 103 h 719"/>
              <a:gd name="T108" fmla="*/ 1186 w 1198"/>
              <a:gd name="T109" fmla="*/ 61 h 719"/>
              <a:gd name="T110" fmla="*/ 1173 w 1198"/>
              <a:gd name="T111" fmla="*/ 28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198" h="719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Freeform 3"/>
          <p:cNvSpPr>
            <a:spLocks/>
          </p:cNvSpPr>
          <p:nvPr/>
        </p:nvSpPr>
        <p:spPr bwMode="auto">
          <a:xfrm>
            <a:off x="2436812" y="2514600"/>
            <a:ext cx="2916238" cy="2033588"/>
          </a:xfrm>
          <a:custGeom>
            <a:avLst/>
            <a:gdLst>
              <a:gd name="T0" fmla="*/ 77 w 1672"/>
              <a:gd name="T1" fmla="*/ 3 h 977"/>
              <a:gd name="T2" fmla="*/ 127 w 1672"/>
              <a:gd name="T3" fmla="*/ 1 h 977"/>
              <a:gd name="T4" fmla="*/ 187 w 1672"/>
              <a:gd name="T5" fmla="*/ 17 h 977"/>
              <a:gd name="T6" fmla="*/ 281 w 1672"/>
              <a:gd name="T7" fmla="*/ 54 h 977"/>
              <a:gd name="T8" fmla="*/ 380 w 1672"/>
              <a:gd name="T9" fmla="*/ 90 h 977"/>
              <a:gd name="T10" fmla="*/ 451 w 1672"/>
              <a:gd name="T11" fmla="*/ 104 h 977"/>
              <a:gd name="T12" fmla="*/ 518 w 1672"/>
              <a:gd name="T13" fmla="*/ 104 h 977"/>
              <a:gd name="T14" fmla="*/ 641 w 1672"/>
              <a:gd name="T15" fmla="*/ 90 h 977"/>
              <a:gd name="T16" fmla="*/ 774 w 1672"/>
              <a:gd name="T17" fmla="*/ 76 h 977"/>
              <a:gd name="T18" fmla="*/ 853 w 1672"/>
              <a:gd name="T19" fmla="*/ 76 h 977"/>
              <a:gd name="T20" fmla="*/ 942 w 1672"/>
              <a:gd name="T21" fmla="*/ 88 h 977"/>
              <a:gd name="T22" fmla="*/ 1046 w 1672"/>
              <a:gd name="T23" fmla="*/ 106 h 977"/>
              <a:gd name="T24" fmla="*/ 1190 w 1672"/>
              <a:gd name="T25" fmla="*/ 134 h 977"/>
              <a:gd name="T26" fmla="*/ 1361 w 1672"/>
              <a:gd name="T27" fmla="*/ 180 h 977"/>
              <a:gd name="T28" fmla="*/ 1471 w 1672"/>
              <a:gd name="T29" fmla="*/ 220 h 977"/>
              <a:gd name="T30" fmla="*/ 1543 w 1672"/>
              <a:gd name="T31" fmla="*/ 258 h 977"/>
              <a:gd name="T32" fmla="*/ 1579 w 1672"/>
              <a:gd name="T33" fmla="*/ 284 h 977"/>
              <a:gd name="T34" fmla="*/ 1616 w 1672"/>
              <a:gd name="T35" fmla="*/ 326 h 977"/>
              <a:gd name="T36" fmla="*/ 1651 w 1672"/>
              <a:gd name="T37" fmla="*/ 403 h 977"/>
              <a:gd name="T38" fmla="*/ 1669 w 1672"/>
              <a:gd name="T39" fmla="*/ 493 h 977"/>
              <a:gd name="T40" fmla="*/ 1671 w 1672"/>
              <a:gd name="T41" fmla="*/ 588 h 977"/>
              <a:gd name="T42" fmla="*/ 1660 w 1672"/>
              <a:gd name="T43" fmla="*/ 680 h 977"/>
              <a:gd name="T44" fmla="*/ 1637 w 1672"/>
              <a:gd name="T45" fmla="*/ 762 h 977"/>
              <a:gd name="T46" fmla="*/ 1607 w 1672"/>
              <a:gd name="T47" fmla="*/ 825 h 977"/>
              <a:gd name="T48" fmla="*/ 1564 w 1672"/>
              <a:gd name="T49" fmla="*/ 867 h 977"/>
              <a:gd name="T50" fmla="*/ 1506 w 1672"/>
              <a:gd name="T51" fmla="*/ 895 h 977"/>
              <a:gd name="T52" fmla="*/ 1436 w 1672"/>
              <a:gd name="T53" fmla="*/ 912 h 977"/>
              <a:gd name="T54" fmla="*/ 1293 w 1672"/>
              <a:gd name="T55" fmla="*/ 930 h 977"/>
              <a:gd name="T56" fmla="*/ 1146 w 1672"/>
              <a:gd name="T57" fmla="*/ 946 h 977"/>
              <a:gd name="T58" fmla="*/ 1059 w 1672"/>
              <a:gd name="T59" fmla="*/ 956 h 977"/>
              <a:gd name="T60" fmla="*/ 907 w 1672"/>
              <a:gd name="T61" fmla="*/ 969 h 977"/>
              <a:gd name="T62" fmla="*/ 754 w 1672"/>
              <a:gd name="T63" fmla="*/ 974 h 977"/>
              <a:gd name="T64" fmla="*/ 668 w 1672"/>
              <a:gd name="T65" fmla="*/ 977 h 977"/>
              <a:gd name="T66" fmla="*/ 593 w 1672"/>
              <a:gd name="T67" fmla="*/ 977 h 977"/>
              <a:gd name="T68" fmla="*/ 532 w 1672"/>
              <a:gd name="T69" fmla="*/ 974 h 977"/>
              <a:gd name="T70" fmla="*/ 483 w 1672"/>
              <a:gd name="T71" fmla="*/ 971 h 977"/>
              <a:gd name="T72" fmla="*/ 417 w 1672"/>
              <a:gd name="T73" fmla="*/ 960 h 977"/>
              <a:gd name="T74" fmla="*/ 326 w 1672"/>
              <a:gd name="T75" fmla="*/ 937 h 977"/>
              <a:gd name="T76" fmla="*/ 236 w 1672"/>
              <a:gd name="T77" fmla="*/ 914 h 977"/>
              <a:gd name="T78" fmla="*/ 142 w 1672"/>
              <a:gd name="T79" fmla="*/ 886 h 977"/>
              <a:gd name="T80" fmla="*/ 78 w 1672"/>
              <a:gd name="T81" fmla="*/ 852 h 977"/>
              <a:gd name="T82" fmla="*/ 47 w 1672"/>
              <a:gd name="T83" fmla="*/ 822 h 977"/>
              <a:gd name="T84" fmla="*/ 26 w 1672"/>
              <a:gd name="T85" fmla="*/ 786 h 977"/>
              <a:gd name="T86" fmla="*/ 7 w 1672"/>
              <a:gd name="T87" fmla="*/ 716 h 977"/>
              <a:gd name="T88" fmla="*/ 0 w 1672"/>
              <a:gd name="T89" fmla="*/ 611 h 977"/>
              <a:gd name="T90" fmla="*/ 2 w 1672"/>
              <a:gd name="T91" fmla="*/ 491 h 977"/>
              <a:gd name="T92" fmla="*/ 1 w 1672"/>
              <a:gd name="T93" fmla="*/ 418 h 977"/>
              <a:gd name="T94" fmla="*/ 0 w 1672"/>
              <a:gd name="T95" fmla="*/ 333 h 977"/>
              <a:gd name="T96" fmla="*/ 2 w 1672"/>
              <a:gd name="T97" fmla="*/ 189 h 977"/>
              <a:gd name="T98" fmla="*/ 12 w 1672"/>
              <a:gd name="T99" fmla="*/ 110 h 977"/>
              <a:gd name="T100" fmla="*/ 29 w 1672"/>
              <a:gd name="T101" fmla="*/ 48 h 977"/>
              <a:gd name="T102" fmla="*/ 47 w 1672"/>
              <a:gd name="T103" fmla="*/ 22 h 9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672" h="977">
                <a:moveTo>
                  <a:pt x="54" y="16"/>
                </a:moveTo>
                <a:lnTo>
                  <a:pt x="57" y="14"/>
                </a:lnTo>
                <a:lnTo>
                  <a:pt x="61" y="10"/>
                </a:lnTo>
                <a:lnTo>
                  <a:pt x="69" y="7"/>
                </a:lnTo>
                <a:lnTo>
                  <a:pt x="77" y="3"/>
                </a:lnTo>
                <a:lnTo>
                  <a:pt x="86" y="1"/>
                </a:lnTo>
                <a:lnTo>
                  <a:pt x="96" y="0"/>
                </a:lnTo>
                <a:lnTo>
                  <a:pt x="105" y="0"/>
                </a:lnTo>
                <a:lnTo>
                  <a:pt x="116" y="0"/>
                </a:lnTo>
                <a:lnTo>
                  <a:pt x="127" y="1"/>
                </a:lnTo>
                <a:lnTo>
                  <a:pt x="138" y="3"/>
                </a:lnTo>
                <a:lnTo>
                  <a:pt x="149" y="6"/>
                </a:lnTo>
                <a:lnTo>
                  <a:pt x="161" y="9"/>
                </a:lnTo>
                <a:lnTo>
                  <a:pt x="174" y="13"/>
                </a:lnTo>
                <a:lnTo>
                  <a:pt x="187" y="17"/>
                </a:lnTo>
                <a:lnTo>
                  <a:pt x="200" y="22"/>
                </a:lnTo>
                <a:lnTo>
                  <a:pt x="212" y="27"/>
                </a:lnTo>
                <a:lnTo>
                  <a:pt x="225" y="31"/>
                </a:lnTo>
                <a:lnTo>
                  <a:pt x="253" y="43"/>
                </a:lnTo>
                <a:lnTo>
                  <a:pt x="281" y="54"/>
                </a:lnTo>
                <a:lnTo>
                  <a:pt x="309" y="65"/>
                </a:lnTo>
                <a:lnTo>
                  <a:pt x="338" y="76"/>
                </a:lnTo>
                <a:lnTo>
                  <a:pt x="352" y="82"/>
                </a:lnTo>
                <a:lnTo>
                  <a:pt x="366" y="86"/>
                </a:lnTo>
                <a:lnTo>
                  <a:pt x="380" y="90"/>
                </a:lnTo>
                <a:lnTo>
                  <a:pt x="394" y="95"/>
                </a:lnTo>
                <a:lnTo>
                  <a:pt x="408" y="97"/>
                </a:lnTo>
                <a:lnTo>
                  <a:pt x="422" y="100"/>
                </a:lnTo>
                <a:lnTo>
                  <a:pt x="436" y="103"/>
                </a:lnTo>
                <a:lnTo>
                  <a:pt x="451" y="104"/>
                </a:lnTo>
                <a:lnTo>
                  <a:pt x="465" y="105"/>
                </a:lnTo>
                <a:lnTo>
                  <a:pt x="477" y="105"/>
                </a:lnTo>
                <a:lnTo>
                  <a:pt x="491" y="105"/>
                </a:lnTo>
                <a:lnTo>
                  <a:pt x="504" y="105"/>
                </a:lnTo>
                <a:lnTo>
                  <a:pt x="518" y="104"/>
                </a:lnTo>
                <a:lnTo>
                  <a:pt x="532" y="104"/>
                </a:lnTo>
                <a:lnTo>
                  <a:pt x="559" y="100"/>
                </a:lnTo>
                <a:lnTo>
                  <a:pt x="586" y="98"/>
                </a:lnTo>
                <a:lnTo>
                  <a:pt x="614" y="95"/>
                </a:lnTo>
                <a:lnTo>
                  <a:pt x="641" y="90"/>
                </a:lnTo>
                <a:lnTo>
                  <a:pt x="670" y="86"/>
                </a:lnTo>
                <a:lnTo>
                  <a:pt x="698" y="83"/>
                </a:lnTo>
                <a:lnTo>
                  <a:pt x="727" y="79"/>
                </a:lnTo>
                <a:lnTo>
                  <a:pt x="757" y="77"/>
                </a:lnTo>
                <a:lnTo>
                  <a:pt x="774" y="76"/>
                </a:lnTo>
                <a:lnTo>
                  <a:pt x="789" y="75"/>
                </a:lnTo>
                <a:lnTo>
                  <a:pt x="804" y="75"/>
                </a:lnTo>
                <a:lnTo>
                  <a:pt x="820" y="75"/>
                </a:lnTo>
                <a:lnTo>
                  <a:pt x="837" y="76"/>
                </a:lnTo>
                <a:lnTo>
                  <a:pt x="853" y="76"/>
                </a:lnTo>
                <a:lnTo>
                  <a:pt x="871" y="77"/>
                </a:lnTo>
                <a:lnTo>
                  <a:pt x="888" y="79"/>
                </a:lnTo>
                <a:lnTo>
                  <a:pt x="906" y="82"/>
                </a:lnTo>
                <a:lnTo>
                  <a:pt x="923" y="84"/>
                </a:lnTo>
                <a:lnTo>
                  <a:pt x="942" y="88"/>
                </a:lnTo>
                <a:lnTo>
                  <a:pt x="961" y="91"/>
                </a:lnTo>
                <a:lnTo>
                  <a:pt x="980" y="95"/>
                </a:lnTo>
                <a:lnTo>
                  <a:pt x="1003" y="98"/>
                </a:lnTo>
                <a:lnTo>
                  <a:pt x="1024" y="102"/>
                </a:lnTo>
                <a:lnTo>
                  <a:pt x="1046" y="106"/>
                </a:lnTo>
                <a:lnTo>
                  <a:pt x="1069" y="110"/>
                </a:lnTo>
                <a:lnTo>
                  <a:pt x="1092" y="114"/>
                </a:lnTo>
                <a:lnTo>
                  <a:pt x="1117" y="119"/>
                </a:lnTo>
                <a:lnTo>
                  <a:pt x="1141" y="124"/>
                </a:lnTo>
                <a:lnTo>
                  <a:pt x="1190" y="134"/>
                </a:lnTo>
                <a:lnTo>
                  <a:pt x="1239" y="146"/>
                </a:lnTo>
                <a:lnTo>
                  <a:pt x="1288" y="159"/>
                </a:lnTo>
                <a:lnTo>
                  <a:pt x="1313" y="166"/>
                </a:lnTo>
                <a:lnTo>
                  <a:pt x="1337" y="173"/>
                </a:lnTo>
                <a:lnTo>
                  <a:pt x="1361" y="180"/>
                </a:lnTo>
                <a:lnTo>
                  <a:pt x="1384" y="187"/>
                </a:lnTo>
                <a:lnTo>
                  <a:pt x="1406" y="195"/>
                </a:lnTo>
                <a:lnTo>
                  <a:pt x="1429" y="203"/>
                </a:lnTo>
                <a:lnTo>
                  <a:pt x="1450" y="211"/>
                </a:lnTo>
                <a:lnTo>
                  <a:pt x="1471" y="220"/>
                </a:lnTo>
                <a:lnTo>
                  <a:pt x="1490" y="229"/>
                </a:lnTo>
                <a:lnTo>
                  <a:pt x="1509" y="238"/>
                </a:lnTo>
                <a:lnTo>
                  <a:pt x="1527" y="248"/>
                </a:lnTo>
                <a:lnTo>
                  <a:pt x="1535" y="252"/>
                </a:lnTo>
                <a:lnTo>
                  <a:pt x="1543" y="258"/>
                </a:lnTo>
                <a:lnTo>
                  <a:pt x="1551" y="263"/>
                </a:lnTo>
                <a:lnTo>
                  <a:pt x="1558" y="267"/>
                </a:lnTo>
                <a:lnTo>
                  <a:pt x="1565" y="273"/>
                </a:lnTo>
                <a:lnTo>
                  <a:pt x="1572" y="279"/>
                </a:lnTo>
                <a:lnTo>
                  <a:pt x="1579" y="284"/>
                </a:lnTo>
                <a:lnTo>
                  <a:pt x="1585" y="290"/>
                </a:lnTo>
                <a:lnTo>
                  <a:pt x="1591" y="296"/>
                </a:lnTo>
                <a:lnTo>
                  <a:pt x="1597" y="301"/>
                </a:lnTo>
                <a:lnTo>
                  <a:pt x="1607" y="313"/>
                </a:lnTo>
                <a:lnTo>
                  <a:pt x="1616" y="326"/>
                </a:lnTo>
                <a:lnTo>
                  <a:pt x="1625" y="340"/>
                </a:lnTo>
                <a:lnTo>
                  <a:pt x="1633" y="355"/>
                </a:lnTo>
                <a:lnTo>
                  <a:pt x="1640" y="370"/>
                </a:lnTo>
                <a:lnTo>
                  <a:pt x="1647" y="385"/>
                </a:lnTo>
                <a:lnTo>
                  <a:pt x="1651" y="403"/>
                </a:lnTo>
                <a:lnTo>
                  <a:pt x="1656" y="419"/>
                </a:lnTo>
                <a:lnTo>
                  <a:pt x="1661" y="438"/>
                </a:lnTo>
                <a:lnTo>
                  <a:pt x="1664" y="456"/>
                </a:lnTo>
                <a:lnTo>
                  <a:pt x="1667" y="474"/>
                </a:lnTo>
                <a:lnTo>
                  <a:pt x="1669" y="493"/>
                </a:lnTo>
                <a:lnTo>
                  <a:pt x="1671" y="512"/>
                </a:lnTo>
                <a:lnTo>
                  <a:pt x="1671" y="530"/>
                </a:lnTo>
                <a:lnTo>
                  <a:pt x="1672" y="550"/>
                </a:lnTo>
                <a:lnTo>
                  <a:pt x="1671" y="569"/>
                </a:lnTo>
                <a:lnTo>
                  <a:pt x="1671" y="588"/>
                </a:lnTo>
                <a:lnTo>
                  <a:pt x="1670" y="607"/>
                </a:lnTo>
                <a:lnTo>
                  <a:pt x="1668" y="626"/>
                </a:lnTo>
                <a:lnTo>
                  <a:pt x="1665" y="645"/>
                </a:lnTo>
                <a:lnTo>
                  <a:pt x="1663" y="662"/>
                </a:lnTo>
                <a:lnTo>
                  <a:pt x="1660" y="680"/>
                </a:lnTo>
                <a:lnTo>
                  <a:pt x="1656" y="697"/>
                </a:lnTo>
                <a:lnTo>
                  <a:pt x="1651" y="715"/>
                </a:lnTo>
                <a:lnTo>
                  <a:pt x="1648" y="731"/>
                </a:lnTo>
                <a:lnTo>
                  <a:pt x="1643" y="747"/>
                </a:lnTo>
                <a:lnTo>
                  <a:pt x="1637" y="762"/>
                </a:lnTo>
                <a:lnTo>
                  <a:pt x="1632" y="776"/>
                </a:lnTo>
                <a:lnTo>
                  <a:pt x="1626" y="790"/>
                </a:lnTo>
                <a:lnTo>
                  <a:pt x="1620" y="803"/>
                </a:lnTo>
                <a:lnTo>
                  <a:pt x="1614" y="814"/>
                </a:lnTo>
                <a:lnTo>
                  <a:pt x="1607" y="825"/>
                </a:lnTo>
                <a:lnTo>
                  <a:pt x="1600" y="834"/>
                </a:lnTo>
                <a:lnTo>
                  <a:pt x="1592" y="843"/>
                </a:lnTo>
                <a:lnTo>
                  <a:pt x="1584" y="852"/>
                </a:lnTo>
                <a:lnTo>
                  <a:pt x="1574" y="859"/>
                </a:lnTo>
                <a:lnTo>
                  <a:pt x="1564" y="867"/>
                </a:lnTo>
                <a:lnTo>
                  <a:pt x="1553" y="873"/>
                </a:lnTo>
                <a:lnTo>
                  <a:pt x="1543" y="879"/>
                </a:lnTo>
                <a:lnTo>
                  <a:pt x="1531" y="884"/>
                </a:lnTo>
                <a:lnTo>
                  <a:pt x="1518" y="890"/>
                </a:lnTo>
                <a:lnTo>
                  <a:pt x="1506" y="895"/>
                </a:lnTo>
                <a:lnTo>
                  <a:pt x="1493" y="898"/>
                </a:lnTo>
                <a:lnTo>
                  <a:pt x="1479" y="902"/>
                </a:lnTo>
                <a:lnTo>
                  <a:pt x="1465" y="905"/>
                </a:lnTo>
                <a:lnTo>
                  <a:pt x="1451" y="909"/>
                </a:lnTo>
                <a:lnTo>
                  <a:pt x="1436" y="912"/>
                </a:lnTo>
                <a:lnTo>
                  <a:pt x="1420" y="915"/>
                </a:lnTo>
                <a:lnTo>
                  <a:pt x="1390" y="919"/>
                </a:lnTo>
                <a:lnTo>
                  <a:pt x="1358" y="923"/>
                </a:lnTo>
                <a:lnTo>
                  <a:pt x="1326" y="926"/>
                </a:lnTo>
                <a:lnTo>
                  <a:pt x="1293" y="930"/>
                </a:lnTo>
                <a:lnTo>
                  <a:pt x="1259" y="932"/>
                </a:lnTo>
                <a:lnTo>
                  <a:pt x="1227" y="936"/>
                </a:lnTo>
                <a:lnTo>
                  <a:pt x="1194" y="939"/>
                </a:lnTo>
                <a:lnTo>
                  <a:pt x="1162" y="944"/>
                </a:lnTo>
                <a:lnTo>
                  <a:pt x="1146" y="946"/>
                </a:lnTo>
                <a:lnTo>
                  <a:pt x="1130" y="949"/>
                </a:lnTo>
                <a:lnTo>
                  <a:pt x="1112" y="950"/>
                </a:lnTo>
                <a:lnTo>
                  <a:pt x="1095" y="952"/>
                </a:lnTo>
                <a:lnTo>
                  <a:pt x="1077" y="954"/>
                </a:lnTo>
                <a:lnTo>
                  <a:pt x="1059" y="956"/>
                </a:lnTo>
                <a:lnTo>
                  <a:pt x="1041" y="958"/>
                </a:lnTo>
                <a:lnTo>
                  <a:pt x="1022" y="959"/>
                </a:lnTo>
                <a:lnTo>
                  <a:pt x="984" y="963"/>
                </a:lnTo>
                <a:lnTo>
                  <a:pt x="945" y="966"/>
                </a:lnTo>
                <a:lnTo>
                  <a:pt x="907" y="969"/>
                </a:lnTo>
                <a:lnTo>
                  <a:pt x="867" y="970"/>
                </a:lnTo>
                <a:lnTo>
                  <a:pt x="829" y="972"/>
                </a:lnTo>
                <a:lnTo>
                  <a:pt x="791" y="973"/>
                </a:lnTo>
                <a:lnTo>
                  <a:pt x="773" y="974"/>
                </a:lnTo>
                <a:lnTo>
                  <a:pt x="754" y="974"/>
                </a:lnTo>
                <a:lnTo>
                  <a:pt x="736" y="976"/>
                </a:lnTo>
                <a:lnTo>
                  <a:pt x="718" y="976"/>
                </a:lnTo>
                <a:lnTo>
                  <a:pt x="701" y="976"/>
                </a:lnTo>
                <a:lnTo>
                  <a:pt x="684" y="977"/>
                </a:lnTo>
                <a:lnTo>
                  <a:pt x="668" y="977"/>
                </a:lnTo>
                <a:lnTo>
                  <a:pt x="651" y="977"/>
                </a:lnTo>
                <a:lnTo>
                  <a:pt x="636" y="977"/>
                </a:lnTo>
                <a:lnTo>
                  <a:pt x="621" y="977"/>
                </a:lnTo>
                <a:lnTo>
                  <a:pt x="607" y="977"/>
                </a:lnTo>
                <a:lnTo>
                  <a:pt x="593" y="977"/>
                </a:lnTo>
                <a:lnTo>
                  <a:pt x="580" y="976"/>
                </a:lnTo>
                <a:lnTo>
                  <a:pt x="567" y="976"/>
                </a:lnTo>
                <a:lnTo>
                  <a:pt x="556" y="976"/>
                </a:lnTo>
                <a:lnTo>
                  <a:pt x="544" y="974"/>
                </a:lnTo>
                <a:lnTo>
                  <a:pt x="532" y="974"/>
                </a:lnTo>
                <a:lnTo>
                  <a:pt x="522" y="974"/>
                </a:lnTo>
                <a:lnTo>
                  <a:pt x="511" y="973"/>
                </a:lnTo>
                <a:lnTo>
                  <a:pt x="502" y="972"/>
                </a:lnTo>
                <a:lnTo>
                  <a:pt x="493" y="972"/>
                </a:lnTo>
                <a:lnTo>
                  <a:pt x="483" y="971"/>
                </a:lnTo>
                <a:lnTo>
                  <a:pt x="474" y="970"/>
                </a:lnTo>
                <a:lnTo>
                  <a:pt x="465" y="969"/>
                </a:lnTo>
                <a:lnTo>
                  <a:pt x="448" y="966"/>
                </a:lnTo>
                <a:lnTo>
                  <a:pt x="432" y="964"/>
                </a:lnTo>
                <a:lnTo>
                  <a:pt x="417" y="960"/>
                </a:lnTo>
                <a:lnTo>
                  <a:pt x="401" y="958"/>
                </a:lnTo>
                <a:lnTo>
                  <a:pt x="372" y="950"/>
                </a:lnTo>
                <a:lnTo>
                  <a:pt x="357" y="946"/>
                </a:lnTo>
                <a:lnTo>
                  <a:pt x="342" y="942"/>
                </a:lnTo>
                <a:lnTo>
                  <a:pt x="326" y="937"/>
                </a:lnTo>
                <a:lnTo>
                  <a:pt x="308" y="932"/>
                </a:lnTo>
                <a:lnTo>
                  <a:pt x="291" y="928"/>
                </a:lnTo>
                <a:lnTo>
                  <a:pt x="273" y="923"/>
                </a:lnTo>
                <a:lnTo>
                  <a:pt x="254" y="918"/>
                </a:lnTo>
                <a:lnTo>
                  <a:pt x="236" y="914"/>
                </a:lnTo>
                <a:lnTo>
                  <a:pt x="216" y="908"/>
                </a:lnTo>
                <a:lnTo>
                  <a:pt x="197" y="903"/>
                </a:lnTo>
                <a:lnTo>
                  <a:pt x="179" y="897"/>
                </a:lnTo>
                <a:lnTo>
                  <a:pt x="160" y="891"/>
                </a:lnTo>
                <a:lnTo>
                  <a:pt x="142" y="886"/>
                </a:lnTo>
                <a:lnTo>
                  <a:pt x="125" y="877"/>
                </a:lnTo>
                <a:lnTo>
                  <a:pt x="109" y="870"/>
                </a:lnTo>
                <a:lnTo>
                  <a:pt x="92" y="861"/>
                </a:lnTo>
                <a:lnTo>
                  <a:pt x="85" y="856"/>
                </a:lnTo>
                <a:lnTo>
                  <a:pt x="78" y="852"/>
                </a:lnTo>
                <a:lnTo>
                  <a:pt x="71" y="846"/>
                </a:lnTo>
                <a:lnTo>
                  <a:pt x="64" y="841"/>
                </a:lnTo>
                <a:lnTo>
                  <a:pt x="58" y="835"/>
                </a:lnTo>
                <a:lnTo>
                  <a:pt x="53" y="828"/>
                </a:lnTo>
                <a:lnTo>
                  <a:pt x="47" y="822"/>
                </a:lnTo>
                <a:lnTo>
                  <a:pt x="42" y="815"/>
                </a:lnTo>
                <a:lnTo>
                  <a:pt x="37" y="808"/>
                </a:lnTo>
                <a:lnTo>
                  <a:pt x="34" y="801"/>
                </a:lnTo>
                <a:lnTo>
                  <a:pt x="29" y="793"/>
                </a:lnTo>
                <a:lnTo>
                  <a:pt x="26" y="786"/>
                </a:lnTo>
                <a:lnTo>
                  <a:pt x="22" y="778"/>
                </a:lnTo>
                <a:lnTo>
                  <a:pt x="20" y="770"/>
                </a:lnTo>
                <a:lnTo>
                  <a:pt x="14" y="752"/>
                </a:lnTo>
                <a:lnTo>
                  <a:pt x="9" y="735"/>
                </a:lnTo>
                <a:lnTo>
                  <a:pt x="7" y="716"/>
                </a:lnTo>
                <a:lnTo>
                  <a:pt x="5" y="696"/>
                </a:lnTo>
                <a:lnTo>
                  <a:pt x="2" y="675"/>
                </a:lnTo>
                <a:lnTo>
                  <a:pt x="1" y="654"/>
                </a:lnTo>
                <a:lnTo>
                  <a:pt x="1" y="633"/>
                </a:lnTo>
                <a:lnTo>
                  <a:pt x="0" y="611"/>
                </a:lnTo>
                <a:lnTo>
                  <a:pt x="0" y="588"/>
                </a:lnTo>
                <a:lnTo>
                  <a:pt x="1" y="564"/>
                </a:lnTo>
                <a:lnTo>
                  <a:pt x="1" y="540"/>
                </a:lnTo>
                <a:lnTo>
                  <a:pt x="2" y="515"/>
                </a:lnTo>
                <a:lnTo>
                  <a:pt x="2" y="491"/>
                </a:lnTo>
                <a:lnTo>
                  <a:pt x="2" y="478"/>
                </a:lnTo>
                <a:lnTo>
                  <a:pt x="2" y="464"/>
                </a:lnTo>
                <a:lnTo>
                  <a:pt x="2" y="450"/>
                </a:lnTo>
                <a:lnTo>
                  <a:pt x="2" y="435"/>
                </a:lnTo>
                <a:lnTo>
                  <a:pt x="1" y="418"/>
                </a:lnTo>
                <a:lnTo>
                  <a:pt x="1" y="402"/>
                </a:lnTo>
                <a:lnTo>
                  <a:pt x="1" y="385"/>
                </a:lnTo>
                <a:lnTo>
                  <a:pt x="0" y="368"/>
                </a:lnTo>
                <a:lnTo>
                  <a:pt x="0" y="350"/>
                </a:lnTo>
                <a:lnTo>
                  <a:pt x="0" y="333"/>
                </a:lnTo>
                <a:lnTo>
                  <a:pt x="0" y="297"/>
                </a:lnTo>
                <a:lnTo>
                  <a:pt x="0" y="260"/>
                </a:lnTo>
                <a:lnTo>
                  <a:pt x="0" y="224"/>
                </a:lnTo>
                <a:lnTo>
                  <a:pt x="1" y="207"/>
                </a:lnTo>
                <a:lnTo>
                  <a:pt x="2" y="189"/>
                </a:lnTo>
                <a:lnTo>
                  <a:pt x="4" y="173"/>
                </a:lnTo>
                <a:lnTo>
                  <a:pt x="5" y="156"/>
                </a:lnTo>
                <a:lnTo>
                  <a:pt x="7" y="140"/>
                </a:lnTo>
                <a:lnTo>
                  <a:pt x="8" y="125"/>
                </a:lnTo>
                <a:lnTo>
                  <a:pt x="12" y="110"/>
                </a:lnTo>
                <a:lnTo>
                  <a:pt x="14" y="96"/>
                </a:lnTo>
                <a:lnTo>
                  <a:pt x="18" y="82"/>
                </a:lnTo>
                <a:lnTo>
                  <a:pt x="21" y="70"/>
                </a:lnTo>
                <a:lnTo>
                  <a:pt x="26" y="58"/>
                </a:lnTo>
                <a:lnTo>
                  <a:pt x="29" y="48"/>
                </a:lnTo>
                <a:lnTo>
                  <a:pt x="35" y="37"/>
                </a:lnTo>
                <a:lnTo>
                  <a:pt x="37" y="34"/>
                </a:lnTo>
                <a:lnTo>
                  <a:pt x="41" y="29"/>
                </a:lnTo>
                <a:lnTo>
                  <a:pt x="43" y="26"/>
                </a:lnTo>
                <a:lnTo>
                  <a:pt x="47" y="22"/>
                </a:lnTo>
                <a:lnTo>
                  <a:pt x="50" y="19"/>
                </a:lnTo>
                <a:lnTo>
                  <a:pt x="54" y="16"/>
                </a:lnTo>
                <a:close/>
              </a:path>
            </a:pathLst>
          </a:cu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4"/>
          <p:cNvSpPr>
            <a:spLocks/>
          </p:cNvSpPr>
          <p:nvPr/>
        </p:nvSpPr>
        <p:spPr bwMode="auto">
          <a:xfrm>
            <a:off x="4103687" y="3932238"/>
            <a:ext cx="2581275" cy="1916112"/>
          </a:xfrm>
          <a:custGeom>
            <a:avLst/>
            <a:gdLst>
              <a:gd name="T0" fmla="*/ 1027 w 1626"/>
              <a:gd name="T1" fmla="*/ 0 h 1207"/>
              <a:gd name="T2" fmla="*/ 1082 w 1626"/>
              <a:gd name="T3" fmla="*/ 16 h 1207"/>
              <a:gd name="T4" fmla="*/ 1128 w 1626"/>
              <a:gd name="T5" fmla="*/ 47 h 1207"/>
              <a:gd name="T6" fmla="*/ 1175 w 1626"/>
              <a:gd name="T7" fmla="*/ 62 h 1207"/>
              <a:gd name="T8" fmla="*/ 1245 w 1626"/>
              <a:gd name="T9" fmla="*/ 101 h 1207"/>
              <a:gd name="T10" fmla="*/ 1292 w 1626"/>
              <a:gd name="T11" fmla="*/ 148 h 1207"/>
              <a:gd name="T12" fmla="*/ 1338 w 1626"/>
              <a:gd name="T13" fmla="*/ 164 h 1207"/>
              <a:gd name="T14" fmla="*/ 1408 w 1626"/>
              <a:gd name="T15" fmla="*/ 218 h 1207"/>
              <a:gd name="T16" fmla="*/ 1424 w 1626"/>
              <a:gd name="T17" fmla="*/ 241 h 1207"/>
              <a:gd name="T18" fmla="*/ 1471 w 1626"/>
              <a:gd name="T19" fmla="*/ 273 h 1207"/>
              <a:gd name="T20" fmla="*/ 1510 w 1626"/>
              <a:gd name="T21" fmla="*/ 366 h 1207"/>
              <a:gd name="T22" fmla="*/ 1541 w 1626"/>
              <a:gd name="T23" fmla="*/ 413 h 1207"/>
              <a:gd name="T24" fmla="*/ 1580 w 1626"/>
              <a:gd name="T25" fmla="*/ 483 h 1207"/>
              <a:gd name="T26" fmla="*/ 1587 w 1626"/>
              <a:gd name="T27" fmla="*/ 506 h 1207"/>
              <a:gd name="T28" fmla="*/ 1603 w 1626"/>
              <a:gd name="T29" fmla="*/ 529 h 1207"/>
              <a:gd name="T30" fmla="*/ 1626 w 1626"/>
              <a:gd name="T31" fmla="*/ 623 h 1207"/>
              <a:gd name="T32" fmla="*/ 1619 w 1626"/>
              <a:gd name="T33" fmla="*/ 911 h 1207"/>
              <a:gd name="T34" fmla="*/ 1572 w 1626"/>
              <a:gd name="T35" fmla="*/ 1090 h 1207"/>
              <a:gd name="T36" fmla="*/ 1136 w 1626"/>
              <a:gd name="T37" fmla="*/ 1207 h 1207"/>
              <a:gd name="T38" fmla="*/ 669 w 1626"/>
              <a:gd name="T39" fmla="*/ 1191 h 1207"/>
              <a:gd name="T40" fmla="*/ 576 w 1626"/>
              <a:gd name="T41" fmla="*/ 1160 h 1207"/>
              <a:gd name="T42" fmla="*/ 397 w 1626"/>
              <a:gd name="T43" fmla="*/ 1137 h 1207"/>
              <a:gd name="T44" fmla="*/ 342 w 1626"/>
              <a:gd name="T45" fmla="*/ 1113 h 1207"/>
              <a:gd name="T46" fmla="*/ 280 w 1626"/>
              <a:gd name="T47" fmla="*/ 1074 h 1207"/>
              <a:gd name="T48" fmla="*/ 249 w 1626"/>
              <a:gd name="T49" fmla="*/ 1059 h 1207"/>
              <a:gd name="T50" fmla="*/ 194 w 1626"/>
              <a:gd name="T51" fmla="*/ 1020 h 1207"/>
              <a:gd name="T52" fmla="*/ 124 w 1626"/>
              <a:gd name="T53" fmla="*/ 973 h 1207"/>
              <a:gd name="T54" fmla="*/ 70 w 1626"/>
              <a:gd name="T55" fmla="*/ 872 h 1207"/>
              <a:gd name="T56" fmla="*/ 54 w 1626"/>
              <a:gd name="T57" fmla="*/ 849 h 1207"/>
              <a:gd name="T58" fmla="*/ 194 w 1626"/>
              <a:gd name="T59" fmla="*/ 389 h 1207"/>
              <a:gd name="T60" fmla="*/ 311 w 1626"/>
              <a:gd name="T61" fmla="*/ 280 h 1207"/>
              <a:gd name="T62" fmla="*/ 358 w 1626"/>
              <a:gd name="T63" fmla="*/ 241 h 1207"/>
              <a:gd name="T64" fmla="*/ 420 w 1626"/>
              <a:gd name="T65" fmla="*/ 226 h 1207"/>
              <a:gd name="T66" fmla="*/ 552 w 1626"/>
              <a:gd name="T67" fmla="*/ 179 h 1207"/>
              <a:gd name="T68" fmla="*/ 599 w 1626"/>
              <a:gd name="T69" fmla="*/ 148 h 1207"/>
              <a:gd name="T70" fmla="*/ 739 w 1626"/>
              <a:gd name="T71" fmla="*/ 93 h 1207"/>
              <a:gd name="T72" fmla="*/ 762 w 1626"/>
              <a:gd name="T73" fmla="*/ 78 h 1207"/>
              <a:gd name="T74" fmla="*/ 786 w 1626"/>
              <a:gd name="T75" fmla="*/ 70 h 1207"/>
              <a:gd name="T76" fmla="*/ 926 w 1626"/>
              <a:gd name="T77" fmla="*/ 31 h 1207"/>
              <a:gd name="T78" fmla="*/ 1027 w 1626"/>
              <a:gd name="T79" fmla="*/ 0 h 1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626" h="1207">
                <a:moveTo>
                  <a:pt x="1027" y="0"/>
                </a:moveTo>
                <a:cubicBezTo>
                  <a:pt x="1034" y="2"/>
                  <a:pt x="1073" y="11"/>
                  <a:pt x="1082" y="16"/>
                </a:cubicBezTo>
                <a:cubicBezTo>
                  <a:pt x="1098" y="25"/>
                  <a:pt x="1110" y="41"/>
                  <a:pt x="1128" y="47"/>
                </a:cubicBezTo>
                <a:cubicBezTo>
                  <a:pt x="1144" y="52"/>
                  <a:pt x="1175" y="62"/>
                  <a:pt x="1175" y="62"/>
                </a:cubicBezTo>
                <a:cubicBezTo>
                  <a:pt x="1197" y="78"/>
                  <a:pt x="1225" y="83"/>
                  <a:pt x="1245" y="101"/>
                </a:cubicBezTo>
                <a:cubicBezTo>
                  <a:pt x="1262" y="116"/>
                  <a:pt x="1276" y="132"/>
                  <a:pt x="1292" y="148"/>
                </a:cubicBezTo>
                <a:cubicBezTo>
                  <a:pt x="1303" y="159"/>
                  <a:pt x="1323" y="159"/>
                  <a:pt x="1338" y="164"/>
                </a:cubicBezTo>
                <a:cubicBezTo>
                  <a:pt x="1365" y="173"/>
                  <a:pt x="1385" y="202"/>
                  <a:pt x="1408" y="218"/>
                </a:cubicBezTo>
                <a:cubicBezTo>
                  <a:pt x="1413" y="226"/>
                  <a:pt x="1417" y="235"/>
                  <a:pt x="1424" y="241"/>
                </a:cubicBezTo>
                <a:cubicBezTo>
                  <a:pt x="1438" y="253"/>
                  <a:pt x="1471" y="273"/>
                  <a:pt x="1471" y="273"/>
                </a:cubicBezTo>
                <a:cubicBezTo>
                  <a:pt x="1482" y="305"/>
                  <a:pt x="1494" y="337"/>
                  <a:pt x="1510" y="366"/>
                </a:cubicBezTo>
                <a:cubicBezTo>
                  <a:pt x="1519" y="382"/>
                  <a:pt x="1535" y="395"/>
                  <a:pt x="1541" y="413"/>
                </a:cubicBezTo>
                <a:cubicBezTo>
                  <a:pt x="1550" y="438"/>
                  <a:pt x="1580" y="483"/>
                  <a:pt x="1580" y="483"/>
                </a:cubicBezTo>
                <a:cubicBezTo>
                  <a:pt x="1582" y="491"/>
                  <a:pt x="1583" y="499"/>
                  <a:pt x="1587" y="506"/>
                </a:cubicBezTo>
                <a:cubicBezTo>
                  <a:pt x="1591" y="514"/>
                  <a:pt x="1600" y="520"/>
                  <a:pt x="1603" y="529"/>
                </a:cubicBezTo>
                <a:cubicBezTo>
                  <a:pt x="1614" y="557"/>
                  <a:pt x="1617" y="593"/>
                  <a:pt x="1626" y="623"/>
                </a:cubicBezTo>
                <a:cubicBezTo>
                  <a:pt x="1624" y="719"/>
                  <a:pt x="1623" y="815"/>
                  <a:pt x="1619" y="911"/>
                </a:cubicBezTo>
                <a:cubicBezTo>
                  <a:pt x="1617" y="957"/>
                  <a:pt x="1610" y="1056"/>
                  <a:pt x="1572" y="1090"/>
                </a:cubicBezTo>
                <a:cubicBezTo>
                  <a:pt x="1469" y="1181"/>
                  <a:pt x="1263" y="1198"/>
                  <a:pt x="1136" y="1207"/>
                </a:cubicBezTo>
                <a:cubicBezTo>
                  <a:pt x="962" y="1162"/>
                  <a:pt x="1147" y="1207"/>
                  <a:pt x="669" y="1191"/>
                </a:cubicBezTo>
                <a:cubicBezTo>
                  <a:pt x="635" y="1190"/>
                  <a:pt x="609" y="1165"/>
                  <a:pt x="576" y="1160"/>
                </a:cubicBezTo>
                <a:cubicBezTo>
                  <a:pt x="516" y="1152"/>
                  <a:pt x="456" y="1150"/>
                  <a:pt x="397" y="1137"/>
                </a:cubicBezTo>
                <a:cubicBezTo>
                  <a:pt x="308" y="1078"/>
                  <a:pt x="444" y="1165"/>
                  <a:pt x="342" y="1113"/>
                </a:cubicBezTo>
                <a:cubicBezTo>
                  <a:pt x="320" y="1102"/>
                  <a:pt x="302" y="1085"/>
                  <a:pt x="280" y="1074"/>
                </a:cubicBezTo>
                <a:cubicBezTo>
                  <a:pt x="270" y="1069"/>
                  <a:pt x="259" y="1064"/>
                  <a:pt x="249" y="1059"/>
                </a:cubicBezTo>
                <a:cubicBezTo>
                  <a:pt x="182" y="992"/>
                  <a:pt x="271" y="1075"/>
                  <a:pt x="194" y="1020"/>
                </a:cubicBezTo>
                <a:cubicBezTo>
                  <a:pt x="167" y="1001"/>
                  <a:pt x="157" y="984"/>
                  <a:pt x="124" y="973"/>
                </a:cubicBezTo>
                <a:cubicBezTo>
                  <a:pt x="111" y="935"/>
                  <a:pt x="93" y="906"/>
                  <a:pt x="70" y="872"/>
                </a:cubicBezTo>
                <a:cubicBezTo>
                  <a:pt x="65" y="864"/>
                  <a:pt x="54" y="849"/>
                  <a:pt x="54" y="849"/>
                </a:cubicBezTo>
                <a:cubicBezTo>
                  <a:pt x="0" y="687"/>
                  <a:pt x="9" y="453"/>
                  <a:pt x="194" y="389"/>
                </a:cubicBezTo>
                <a:cubicBezTo>
                  <a:pt x="225" y="344"/>
                  <a:pt x="270" y="315"/>
                  <a:pt x="311" y="280"/>
                </a:cubicBezTo>
                <a:cubicBezTo>
                  <a:pt x="335" y="260"/>
                  <a:pt x="330" y="255"/>
                  <a:pt x="358" y="241"/>
                </a:cubicBezTo>
                <a:cubicBezTo>
                  <a:pt x="371" y="235"/>
                  <a:pt x="411" y="228"/>
                  <a:pt x="420" y="226"/>
                </a:cubicBezTo>
                <a:cubicBezTo>
                  <a:pt x="468" y="215"/>
                  <a:pt x="508" y="201"/>
                  <a:pt x="552" y="179"/>
                </a:cubicBezTo>
                <a:cubicBezTo>
                  <a:pt x="623" y="144"/>
                  <a:pt x="530" y="184"/>
                  <a:pt x="599" y="148"/>
                </a:cubicBezTo>
                <a:cubicBezTo>
                  <a:pt x="643" y="125"/>
                  <a:pt x="691" y="110"/>
                  <a:pt x="739" y="93"/>
                </a:cubicBezTo>
                <a:cubicBezTo>
                  <a:pt x="748" y="90"/>
                  <a:pt x="754" y="82"/>
                  <a:pt x="762" y="78"/>
                </a:cubicBezTo>
                <a:cubicBezTo>
                  <a:pt x="770" y="74"/>
                  <a:pt x="778" y="72"/>
                  <a:pt x="786" y="70"/>
                </a:cubicBezTo>
                <a:cubicBezTo>
                  <a:pt x="831" y="57"/>
                  <a:pt x="881" y="39"/>
                  <a:pt x="926" y="31"/>
                </a:cubicBezTo>
                <a:cubicBezTo>
                  <a:pt x="966" y="24"/>
                  <a:pt x="994" y="23"/>
                  <a:pt x="1027" y="0"/>
                </a:cubicBezTo>
                <a:close/>
              </a:path>
            </a:pathLst>
          </a:cu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Freeform 5"/>
          <p:cNvSpPr>
            <a:spLocks/>
          </p:cNvSpPr>
          <p:nvPr/>
        </p:nvSpPr>
        <p:spPr bwMode="auto">
          <a:xfrm>
            <a:off x="3889375" y="4051300"/>
            <a:ext cx="177800" cy="114300"/>
          </a:xfrm>
          <a:custGeom>
            <a:avLst/>
            <a:gdLst>
              <a:gd name="T0" fmla="*/ 43 w 112"/>
              <a:gd name="T1" fmla="*/ 0 h 72"/>
              <a:gd name="T2" fmla="*/ 0 w 112"/>
              <a:gd name="T3" fmla="*/ 72 h 72"/>
              <a:gd name="T4" fmla="*/ 69 w 112"/>
              <a:gd name="T5" fmla="*/ 72 h 72"/>
              <a:gd name="T6" fmla="*/ 112 w 112"/>
              <a:gd name="T7" fmla="*/ 0 h 72"/>
              <a:gd name="T8" fmla="*/ 43 w 112"/>
              <a:gd name="T9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72">
                <a:moveTo>
                  <a:pt x="43" y="0"/>
                </a:moveTo>
                <a:lnTo>
                  <a:pt x="0" y="72"/>
                </a:lnTo>
                <a:lnTo>
                  <a:pt x="69" y="72"/>
                </a:lnTo>
                <a:lnTo>
                  <a:pt x="112" y="0"/>
                </a:lnTo>
                <a:lnTo>
                  <a:pt x="43" y="0"/>
                </a:lnTo>
                <a:close/>
              </a:path>
            </a:pathLst>
          </a:cu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979862" y="3681413"/>
            <a:ext cx="82550" cy="37465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890962" y="3787775"/>
            <a:ext cx="112713" cy="374650"/>
          </a:xfrm>
          <a:prstGeom prst="rect">
            <a:avLst/>
          </a:pr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3890962" y="3787775"/>
            <a:ext cx="112713" cy="374650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9"/>
          <p:cNvSpPr>
            <a:spLocks/>
          </p:cNvSpPr>
          <p:nvPr/>
        </p:nvSpPr>
        <p:spPr bwMode="auto">
          <a:xfrm>
            <a:off x="3889375" y="3676650"/>
            <a:ext cx="177800" cy="114300"/>
          </a:xfrm>
          <a:custGeom>
            <a:avLst/>
            <a:gdLst>
              <a:gd name="T0" fmla="*/ 43 w 112"/>
              <a:gd name="T1" fmla="*/ 0 h 72"/>
              <a:gd name="T2" fmla="*/ 0 w 112"/>
              <a:gd name="T3" fmla="*/ 72 h 72"/>
              <a:gd name="T4" fmla="*/ 69 w 112"/>
              <a:gd name="T5" fmla="*/ 72 h 72"/>
              <a:gd name="T6" fmla="*/ 112 w 112"/>
              <a:gd name="T7" fmla="*/ 0 h 72"/>
              <a:gd name="T8" fmla="*/ 43 w 112"/>
              <a:gd name="T9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72">
                <a:moveTo>
                  <a:pt x="43" y="0"/>
                </a:moveTo>
                <a:lnTo>
                  <a:pt x="0" y="72"/>
                </a:lnTo>
                <a:lnTo>
                  <a:pt x="69" y="72"/>
                </a:lnTo>
                <a:lnTo>
                  <a:pt x="112" y="0"/>
                </a:lnTo>
                <a:lnTo>
                  <a:pt x="43" y="0"/>
                </a:lnTo>
                <a:close/>
              </a:path>
            </a:pathLst>
          </a:cu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0"/>
          <p:cNvSpPr>
            <a:spLocks/>
          </p:cNvSpPr>
          <p:nvPr/>
        </p:nvSpPr>
        <p:spPr bwMode="auto">
          <a:xfrm>
            <a:off x="3889375" y="3676650"/>
            <a:ext cx="177800" cy="114300"/>
          </a:xfrm>
          <a:custGeom>
            <a:avLst/>
            <a:gdLst>
              <a:gd name="T0" fmla="*/ 43 w 112"/>
              <a:gd name="T1" fmla="*/ 0 h 72"/>
              <a:gd name="T2" fmla="*/ 0 w 112"/>
              <a:gd name="T3" fmla="*/ 72 h 72"/>
              <a:gd name="T4" fmla="*/ 69 w 112"/>
              <a:gd name="T5" fmla="*/ 72 h 72"/>
              <a:gd name="T6" fmla="*/ 112 w 112"/>
              <a:gd name="T7" fmla="*/ 0 h 72"/>
              <a:gd name="T8" fmla="*/ 43 w 112"/>
              <a:gd name="T9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72">
                <a:moveTo>
                  <a:pt x="43" y="0"/>
                </a:moveTo>
                <a:lnTo>
                  <a:pt x="0" y="72"/>
                </a:lnTo>
                <a:lnTo>
                  <a:pt x="69" y="72"/>
                </a:lnTo>
                <a:lnTo>
                  <a:pt x="112" y="0"/>
                </a:lnTo>
                <a:lnTo>
                  <a:pt x="43" y="0"/>
                </a:lnTo>
                <a:close/>
              </a:path>
            </a:pathLst>
          </a:cu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4067175" y="3686175"/>
            <a:ext cx="1587" cy="365125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 flipH="1">
            <a:off x="4003675" y="4051300"/>
            <a:ext cx="63500" cy="111125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3906837" y="3836988"/>
            <a:ext cx="73025" cy="214312"/>
          </a:xfrm>
          <a:prstGeom prst="rect">
            <a:avLst/>
          </a:prstGeom>
          <a:solidFill>
            <a:srgbClr val="3333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3906837" y="3836988"/>
            <a:ext cx="73025" cy="214312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3917950" y="3902075"/>
            <a:ext cx="55562" cy="76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Freeform 16"/>
          <p:cNvSpPr>
            <a:spLocks/>
          </p:cNvSpPr>
          <p:nvPr/>
        </p:nvSpPr>
        <p:spPr bwMode="auto">
          <a:xfrm>
            <a:off x="2771775" y="3683000"/>
            <a:ext cx="395287" cy="330200"/>
          </a:xfrm>
          <a:custGeom>
            <a:avLst/>
            <a:gdLst>
              <a:gd name="T0" fmla="*/ 70 w 249"/>
              <a:gd name="T1" fmla="*/ 14 h 208"/>
              <a:gd name="T2" fmla="*/ 70 w 249"/>
              <a:gd name="T3" fmla="*/ 14 h 208"/>
              <a:gd name="T4" fmla="*/ 73 w 249"/>
              <a:gd name="T5" fmla="*/ 14 h 208"/>
              <a:gd name="T6" fmla="*/ 75 w 249"/>
              <a:gd name="T7" fmla="*/ 13 h 208"/>
              <a:gd name="T8" fmla="*/ 79 w 249"/>
              <a:gd name="T9" fmla="*/ 12 h 208"/>
              <a:gd name="T10" fmla="*/ 83 w 249"/>
              <a:gd name="T11" fmla="*/ 10 h 208"/>
              <a:gd name="T12" fmla="*/ 88 w 249"/>
              <a:gd name="T13" fmla="*/ 9 h 208"/>
              <a:gd name="T14" fmla="*/ 95 w 249"/>
              <a:gd name="T15" fmla="*/ 8 h 208"/>
              <a:gd name="T16" fmla="*/ 103 w 249"/>
              <a:gd name="T17" fmla="*/ 6 h 208"/>
              <a:gd name="T18" fmla="*/ 111 w 249"/>
              <a:gd name="T19" fmla="*/ 5 h 208"/>
              <a:gd name="T20" fmla="*/ 121 w 249"/>
              <a:gd name="T21" fmla="*/ 3 h 208"/>
              <a:gd name="T22" fmla="*/ 132 w 249"/>
              <a:gd name="T23" fmla="*/ 2 h 208"/>
              <a:gd name="T24" fmla="*/ 144 w 249"/>
              <a:gd name="T25" fmla="*/ 1 h 208"/>
              <a:gd name="T26" fmla="*/ 157 w 249"/>
              <a:gd name="T27" fmla="*/ 0 h 208"/>
              <a:gd name="T28" fmla="*/ 170 w 249"/>
              <a:gd name="T29" fmla="*/ 0 h 208"/>
              <a:gd name="T30" fmla="*/ 185 w 249"/>
              <a:gd name="T31" fmla="*/ 0 h 208"/>
              <a:gd name="T32" fmla="*/ 201 w 249"/>
              <a:gd name="T33" fmla="*/ 0 h 208"/>
              <a:gd name="T34" fmla="*/ 208 w 249"/>
              <a:gd name="T35" fmla="*/ 28 h 208"/>
              <a:gd name="T36" fmla="*/ 210 w 249"/>
              <a:gd name="T37" fmla="*/ 29 h 208"/>
              <a:gd name="T38" fmla="*/ 216 w 249"/>
              <a:gd name="T39" fmla="*/ 33 h 208"/>
              <a:gd name="T40" fmla="*/ 222 w 249"/>
              <a:gd name="T41" fmla="*/ 40 h 208"/>
              <a:gd name="T42" fmla="*/ 226 w 249"/>
              <a:gd name="T43" fmla="*/ 50 h 208"/>
              <a:gd name="T44" fmla="*/ 240 w 249"/>
              <a:gd name="T45" fmla="*/ 116 h 208"/>
              <a:gd name="T46" fmla="*/ 247 w 249"/>
              <a:gd name="T47" fmla="*/ 144 h 208"/>
              <a:gd name="T48" fmla="*/ 247 w 249"/>
              <a:gd name="T49" fmla="*/ 146 h 208"/>
              <a:gd name="T50" fmla="*/ 248 w 249"/>
              <a:gd name="T51" fmla="*/ 151 h 208"/>
              <a:gd name="T52" fmla="*/ 248 w 249"/>
              <a:gd name="T53" fmla="*/ 159 h 208"/>
              <a:gd name="T54" fmla="*/ 244 w 249"/>
              <a:gd name="T55" fmla="*/ 169 h 208"/>
              <a:gd name="T56" fmla="*/ 0 w 249"/>
              <a:gd name="T57" fmla="*/ 162 h 208"/>
              <a:gd name="T58" fmla="*/ 25 w 249"/>
              <a:gd name="T59" fmla="*/ 149 h 208"/>
              <a:gd name="T60" fmla="*/ 25 w 249"/>
              <a:gd name="T61" fmla="*/ 28 h 208"/>
              <a:gd name="T62" fmla="*/ 26 w 249"/>
              <a:gd name="T63" fmla="*/ 27 h 208"/>
              <a:gd name="T64" fmla="*/ 28 w 249"/>
              <a:gd name="T65" fmla="*/ 26 h 208"/>
              <a:gd name="T66" fmla="*/ 32 w 249"/>
              <a:gd name="T67" fmla="*/ 24 h 208"/>
              <a:gd name="T68" fmla="*/ 37 w 249"/>
              <a:gd name="T69" fmla="*/ 22 h 208"/>
              <a:gd name="T70" fmla="*/ 42 w 249"/>
              <a:gd name="T71" fmla="*/ 22 h 208"/>
              <a:gd name="T72" fmla="*/ 49 w 249"/>
              <a:gd name="T73" fmla="*/ 22 h 208"/>
              <a:gd name="T74" fmla="*/ 58 w 249"/>
              <a:gd name="T75" fmla="*/ 23 h 208"/>
              <a:gd name="T76" fmla="*/ 68 w 249"/>
              <a:gd name="T77" fmla="*/ 27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49" h="208">
                <a:moveTo>
                  <a:pt x="68" y="27"/>
                </a:moveTo>
                <a:lnTo>
                  <a:pt x="70" y="14"/>
                </a:lnTo>
                <a:lnTo>
                  <a:pt x="70" y="14"/>
                </a:lnTo>
                <a:lnTo>
                  <a:pt x="70" y="14"/>
                </a:lnTo>
                <a:lnTo>
                  <a:pt x="72" y="14"/>
                </a:lnTo>
                <a:lnTo>
                  <a:pt x="73" y="14"/>
                </a:lnTo>
                <a:lnTo>
                  <a:pt x="74" y="13"/>
                </a:lnTo>
                <a:lnTo>
                  <a:pt x="75" y="13"/>
                </a:lnTo>
                <a:lnTo>
                  <a:pt x="76" y="13"/>
                </a:lnTo>
                <a:lnTo>
                  <a:pt x="79" y="12"/>
                </a:lnTo>
                <a:lnTo>
                  <a:pt x="81" y="12"/>
                </a:lnTo>
                <a:lnTo>
                  <a:pt x="83" y="10"/>
                </a:lnTo>
                <a:lnTo>
                  <a:pt x="86" y="9"/>
                </a:lnTo>
                <a:lnTo>
                  <a:pt x="88" y="9"/>
                </a:lnTo>
                <a:lnTo>
                  <a:pt x="91" y="8"/>
                </a:lnTo>
                <a:lnTo>
                  <a:pt x="95" y="8"/>
                </a:lnTo>
                <a:lnTo>
                  <a:pt x="98" y="7"/>
                </a:lnTo>
                <a:lnTo>
                  <a:pt x="103" y="6"/>
                </a:lnTo>
                <a:lnTo>
                  <a:pt x="107" y="6"/>
                </a:lnTo>
                <a:lnTo>
                  <a:pt x="111" y="5"/>
                </a:lnTo>
                <a:lnTo>
                  <a:pt x="116" y="5"/>
                </a:lnTo>
                <a:lnTo>
                  <a:pt x="121" y="3"/>
                </a:lnTo>
                <a:lnTo>
                  <a:pt x="126" y="2"/>
                </a:lnTo>
                <a:lnTo>
                  <a:pt x="132" y="2"/>
                </a:lnTo>
                <a:lnTo>
                  <a:pt x="137" y="1"/>
                </a:lnTo>
                <a:lnTo>
                  <a:pt x="144" y="1"/>
                </a:lnTo>
                <a:lnTo>
                  <a:pt x="150" y="1"/>
                </a:lnTo>
                <a:lnTo>
                  <a:pt x="157" y="0"/>
                </a:lnTo>
                <a:lnTo>
                  <a:pt x="163" y="0"/>
                </a:lnTo>
                <a:lnTo>
                  <a:pt x="170" y="0"/>
                </a:lnTo>
                <a:lnTo>
                  <a:pt x="178" y="0"/>
                </a:lnTo>
                <a:lnTo>
                  <a:pt x="185" y="0"/>
                </a:lnTo>
                <a:lnTo>
                  <a:pt x="193" y="0"/>
                </a:lnTo>
                <a:lnTo>
                  <a:pt x="201" y="0"/>
                </a:lnTo>
                <a:lnTo>
                  <a:pt x="210" y="5"/>
                </a:lnTo>
                <a:lnTo>
                  <a:pt x="208" y="28"/>
                </a:lnTo>
                <a:lnTo>
                  <a:pt x="208" y="28"/>
                </a:lnTo>
                <a:lnTo>
                  <a:pt x="210" y="29"/>
                </a:lnTo>
                <a:lnTo>
                  <a:pt x="213" y="31"/>
                </a:lnTo>
                <a:lnTo>
                  <a:pt x="216" y="33"/>
                </a:lnTo>
                <a:lnTo>
                  <a:pt x="220" y="36"/>
                </a:lnTo>
                <a:lnTo>
                  <a:pt x="222" y="40"/>
                </a:lnTo>
                <a:lnTo>
                  <a:pt x="224" y="44"/>
                </a:lnTo>
                <a:lnTo>
                  <a:pt x="226" y="50"/>
                </a:lnTo>
                <a:lnTo>
                  <a:pt x="245" y="68"/>
                </a:lnTo>
                <a:lnTo>
                  <a:pt x="240" y="116"/>
                </a:lnTo>
                <a:lnTo>
                  <a:pt x="208" y="132"/>
                </a:lnTo>
                <a:lnTo>
                  <a:pt x="247" y="144"/>
                </a:lnTo>
                <a:lnTo>
                  <a:pt x="247" y="144"/>
                </a:lnTo>
                <a:lnTo>
                  <a:pt x="247" y="146"/>
                </a:lnTo>
                <a:lnTo>
                  <a:pt x="248" y="148"/>
                </a:lnTo>
                <a:lnTo>
                  <a:pt x="248" y="151"/>
                </a:lnTo>
                <a:lnTo>
                  <a:pt x="249" y="154"/>
                </a:lnTo>
                <a:lnTo>
                  <a:pt x="248" y="159"/>
                </a:lnTo>
                <a:lnTo>
                  <a:pt x="247" y="163"/>
                </a:lnTo>
                <a:lnTo>
                  <a:pt x="244" y="169"/>
                </a:lnTo>
                <a:lnTo>
                  <a:pt x="144" y="208"/>
                </a:lnTo>
                <a:lnTo>
                  <a:pt x="0" y="162"/>
                </a:lnTo>
                <a:lnTo>
                  <a:pt x="3" y="158"/>
                </a:lnTo>
                <a:lnTo>
                  <a:pt x="25" y="149"/>
                </a:lnTo>
                <a:lnTo>
                  <a:pt x="25" y="28"/>
                </a:lnTo>
                <a:lnTo>
                  <a:pt x="25" y="28"/>
                </a:lnTo>
                <a:lnTo>
                  <a:pt x="25" y="28"/>
                </a:lnTo>
                <a:lnTo>
                  <a:pt x="26" y="27"/>
                </a:lnTo>
                <a:lnTo>
                  <a:pt x="27" y="27"/>
                </a:lnTo>
                <a:lnTo>
                  <a:pt x="28" y="26"/>
                </a:lnTo>
                <a:lnTo>
                  <a:pt x="31" y="24"/>
                </a:lnTo>
                <a:lnTo>
                  <a:pt x="32" y="24"/>
                </a:lnTo>
                <a:lnTo>
                  <a:pt x="34" y="23"/>
                </a:lnTo>
                <a:lnTo>
                  <a:pt x="37" y="22"/>
                </a:lnTo>
                <a:lnTo>
                  <a:pt x="40" y="22"/>
                </a:lnTo>
                <a:lnTo>
                  <a:pt x="42" y="22"/>
                </a:lnTo>
                <a:lnTo>
                  <a:pt x="46" y="22"/>
                </a:lnTo>
                <a:lnTo>
                  <a:pt x="49" y="22"/>
                </a:lnTo>
                <a:lnTo>
                  <a:pt x="53" y="22"/>
                </a:lnTo>
                <a:lnTo>
                  <a:pt x="58" y="23"/>
                </a:lnTo>
                <a:lnTo>
                  <a:pt x="61" y="24"/>
                </a:lnTo>
                <a:lnTo>
                  <a:pt x="68" y="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Freeform 17"/>
          <p:cNvSpPr>
            <a:spLocks/>
          </p:cNvSpPr>
          <p:nvPr/>
        </p:nvSpPr>
        <p:spPr bwMode="auto">
          <a:xfrm>
            <a:off x="2909887" y="3706813"/>
            <a:ext cx="125413" cy="144462"/>
          </a:xfrm>
          <a:custGeom>
            <a:avLst/>
            <a:gdLst>
              <a:gd name="T0" fmla="*/ 78 w 79"/>
              <a:gd name="T1" fmla="*/ 4 h 91"/>
              <a:gd name="T2" fmla="*/ 78 w 79"/>
              <a:gd name="T3" fmla="*/ 4 h 91"/>
              <a:gd name="T4" fmla="*/ 77 w 79"/>
              <a:gd name="T5" fmla="*/ 4 h 91"/>
              <a:gd name="T6" fmla="*/ 74 w 79"/>
              <a:gd name="T7" fmla="*/ 2 h 91"/>
              <a:gd name="T8" fmla="*/ 72 w 79"/>
              <a:gd name="T9" fmla="*/ 2 h 91"/>
              <a:gd name="T10" fmla="*/ 69 w 79"/>
              <a:gd name="T11" fmla="*/ 1 h 91"/>
              <a:gd name="T12" fmla="*/ 65 w 79"/>
              <a:gd name="T13" fmla="*/ 1 h 91"/>
              <a:gd name="T14" fmla="*/ 60 w 79"/>
              <a:gd name="T15" fmla="*/ 1 h 91"/>
              <a:gd name="T16" fmla="*/ 56 w 79"/>
              <a:gd name="T17" fmla="*/ 0 h 91"/>
              <a:gd name="T18" fmla="*/ 50 w 79"/>
              <a:gd name="T19" fmla="*/ 0 h 91"/>
              <a:gd name="T20" fmla="*/ 44 w 79"/>
              <a:gd name="T21" fmla="*/ 0 h 91"/>
              <a:gd name="T22" fmla="*/ 38 w 79"/>
              <a:gd name="T23" fmla="*/ 1 h 91"/>
              <a:gd name="T24" fmla="*/ 31 w 79"/>
              <a:gd name="T25" fmla="*/ 2 h 91"/>
              <a:gd name="T26" fmla="*/ 25 w 79"/>
              <a:gd name="T27" fmla="*/ 4 h 91"/>
              <a:gd name="T28" fmla="*/ 18 w 79"/>
              <a:gd name="T29" fmla="*/ 6 h 91"/>
              <a:gd name="T30" fmla="*/ 11 w 79"/>
              <a:gd name="T31" fmla="*/ 8 h 91"/>
              <a:gd name="T32" fmla="*/ 4 w 79"/>
              <a:gd name="T33" fmla="*/ 11 h 91"/>
              <a:gd name="T34" fmla="*/ 4 w 79"/>
              <a:gd name="T35" fmla="*/ 13 h 91"/>
              <a:gd name="T36" fmla="*/ 3 w 79"/>
              <a:gd name="T37" fmla="*/ 18 h 91"/>
              <a:gd name="T38" fmla="*/ 1 w 79"/>
              <a:gd name="T39" fmla="*/ 26 h 91"/>
              <a:gd name="T40" fmla="*/ 0 w 79"/>
              <a:gd name="T41" fmla="*/ 35 h 91"/>
              <a:gd name="T42" fmla="*/ 0 w 79"/>
              <a:gd name="T43" fmla="*/ 47 h 91"/>
              <a:gd name="T44" fmla="*/ 0 w 79"/>
              <a:gd name="T45" fmla="*/ 60 h 91"/>
              <a:gd name="T46" fmla="*/ 2 w 79"/>
              <a:gd name="T47" fmla="*/ 74 h 91"/>
              <a:gd name="T48" fmla="*/ 6 w 79"/>
              <a:gd name="T49" fmla="*/ 89 h 91"/>
              <a:gd name="T50" fmla="*/ 7 w 79"/>
              <a:gd name="T51" fmla="*/ 89 h 91"/>
              <a:gd name="T52" fmla="*/ 8 w 79"/>
              <a:gd name="T53" fmla="*/ 89 h 91"/>
              <a:gd name="T54" fmla="*/ 9 w 79"/>
              <a:gd name="T55" fmla="*/ 88 h 91"/>
              <a:gd name="T56" fmla="*/ 11 w 79"/>
              <a:gd name="T57" fmla="*/ 88 h 91"/>
              <a:gd name="T58" fmla="*/ 15 w 79"/>
              <a:gd name="T59" fmla="*/ 88 h 91"/>
              <a:gd name="T60" fmla="*/ 18 w 79"/>
              <a:gd name="T61" fmla="*/ 88 h 91"/>
              <a:gd name="T62" fmla="*/ 22 w 79"/>
              <a:gd name="T63" fmla="*/ 88 h 91"/>
              <a:gd name="T64" fmla="*/ 27 w 79"/>
              <a:gd name="T65" fmla="*/ 88 h 91"/>
              <a:gd name="T66" fmla="*/ 32 w 79"/>
              <a:gd name="T67" fmla="*/ 87 h 91"/>
              <a:gd name="T68" fmla="*/ 38 w 79"/>
              <a:gd name="T69" fmla="*/ 88 h 91"/>
              <a:gd name="T70" fmla="*/ 44 w 79"/>
              <a:gd name="T71" fmla="*/ 88 h 91"/>
              <a:gd name="T72" fmla="*/ 50 w 79"/>
              <a:gd name="T73" fmla="*/ 88 h 91"/>
              <a:gd name="T74" fmla="*/ 57 w 79"/>
              <a:gd name="T75" fmla="*/ 88 h 91"/>
              <a:gd name="T76" fmla="*/ 64 w 79"/>
              <a:gd name="T77" fmla="*/ 89 h 91"/>
              <a:gd name="T78" fmla="*/ 71 w 79"/>
              <a:gd name="T79" fmla="*/ 90 h 91"/>
              <a:gd name="T80" fmla="*/ 79 w 79"/>
              <a:gd name="T81" fmla="*/ 91 h 91"/>
              <a:gd name="T82" fmla="*/ 79 w 79"/>
              <a:gd name="T83" fmla="*/ 88 h 91"/>
              <a:gd name="T84" fmla="*/ 78 w 79"/>
              <a:gd name="T85" fmla="*/ 81 h 91"/>
              <a:gd name="T86" fmla="*/ 77 w 79"/>
              <a:gd name="T87" fmla="*/ 70 h 91"/>
              <a:gd name="T88" fmla="*/ 76 w 79"/>
              <a:gd name="T89" fmla="*/ 57 h 91"/>
              <a:gd name="T90" fmla="*/ 76 w 79"/>
              <a:gd name="T91" fmla="*/ 43 h 91"/>
              <a:gd name="T92" fmla="*/ 76 w 79"/>
              <a:gd name="T93" fmla="*/ 28 h 91"/>
              <a:gd name="T94" fmla="*/ 77 w 79"/>
              <a:gd name="T95" fmla="*/ 15 h 91"/>
              <a:gd name="T96" fmla="*/ 78 w 79"/>
              <a:gd name="T97" fmla="*/ 4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91">
                <a:moveTo>
                  <a:pt x="78" y="4"/>
                </a:moveTo>
                <a:lnTo>
                  <a:pt x="78" y="4"/>
                </a:lnTo>
                <a:lnTo>
                  <a:pt x="77" y="4"/>
                </a:lnTo>
                <a:lnTo>
                  <a:pt x="74" y="2"/>
                </a:lnTo>
                <a:lnTo>
                  <a:pt x="72" y="2"/>
                </a:lnTo>
                <a:lnTo>
                  <a:pt x="69" y="1"/>
                </a:lnTo>
                <a:lnTo>
                  <a:pt x="65" y="1"/>
                </a:lnTo>
                <a:lnTo>
                  <a:pt x="60" y="1"/>
                </a:lnTo>
                <a:lnTo>
                  <a:pt x="56" y="0"/>
                </a:lnTo>
                <a:lnTo>
                  <a:pt x="50" y="0"/>
                </a:lnTo>
                <a:lnTo>
                  <a:pt x="44" y="0"/>
                </a:lnTo>
                <a:lnTo>
                  <a:pt x="38" y="1"/>
                </a:lnTo>
                <a:lnTo>
                  <a:pt x="31" y="2"/>
                </a:lnTo>
                <a:lnTo>
                  <a:pt x="25" y="4"/>
                </a:lnTo>
                <a:lnTo>
                  <a:pt x="18" y="6"/>
                </a:lnTo>
                <a:lnTo>
                  <a:pt x="11" y="8"/>
                </a:lnTo>
                <a:lnTo>
                  <a:pt x="4" y="11"/>
                </a:lnTo>
                <a:lnTo>
                  <a:pt x="4" y="13"/>
                </a:lnTo>
                <a:lnTo>
                  <a:pt x="3" y="18"/>
                </a:lnTo>
                <a:lnTo>
                  <a:pt x="1" y="26"/>
                </a:lnTo>
                <a:lnTo>
                  <a:pt x="0" y="35"/>
                </a:lnTo>
                <a:lnTo>
                  <a:pt x="0" y="47"/>
                </a:lnTo>
                <a:lnTo>
                  <a:pt x="0" y="60"/>
                </a:lnTo>
                <a:lnTo>
                  <a:pt x="2" y="74"/>
                </a:lnTo>
                <a:lnTo>
                  <a:pt x="6" y="89"/>
                </a:lnTo>
                <a:lnTo>
                  <a:pt x="7" y="89"/>
                </a:lnTo>
                <a:lnTo>
                  <a:pt x="8" y="89"/>
                </a:lnTo>
                <a:lnTo>
                  <a:pt x="9" y="88"/>
                </a:lnTo>
                <a:lnTo>
                  <a:pt x="11" y="88"/>
                </a:lnTo>
                <a:lnTo>
                  <a:pt x="15" y="88"/>
                </a:lnTo>
                <a:lnTo>
                  <a:pt x="18" y="88"/>
                </a:lnTo>
                <a:lnTo>
                  <a:pt x="22" y="88"/>
                </a:lnTo>
                <a:lnTo>
                  <a:pt x="27" y="88"/>
                </a:lnTo>
                <a:lnTo>
                  <a:pt x="32" y="87"/>
                </a:lnTo>
                <a:lnTo>
                  <a:pt x="38" y="88"/>
                </a:lnTo>
                <a:lnTo>
                  <a:pt x="44" y="88"/>
                </a:lnTo>
                <a:lnTo>
                  <a:pt x="50" y="88"/>
                </a:lnTo>
                <a:lnTo>
                  <a:pt x="57" y="88"/>
                </a:lnTo>
                <a:lnTo>
                  <a:pt x="64" y="89"/>
                </a:lnTo>
                <a:lnTo>
                  <a:pt x="71" y="90"/>
                </a:lnTo>
                <a:lnTo>
                  <a:pt x="79" y="91"/>
                </a:lnTo>
                <a:lnTo>
                  <a:pt x="79" y="88"/>
                </a:lnTo>
                <a:lnTo>
                  <a:pt x="78" y="81"/>
                </a:lnTo>
                <a:lnTo>
                  <a:pt x="77" y="70"/>
                </a:lnTo>
                <a:lnTo>
                  <a:pt x="76" y="57"/>
                </a:lnTo>
                <a:lnTo>
                  <a:pt x="76" y="43"/>
                </a:lnTo>
                <a:lnTo>
                  <a:pt x="76" y="28"/>
                </a:lnTo>
                <a:lnTo>
                  <a:pt x="77" y="15"/>
                </a:lnTo>
                <a:lnTo>
                  <a:pt x="78" y="4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Freeform 18"/>
          <p:cNvSpPr>
            <a:spLocks/>
          </p:cNvSpPr>
          <p:nvPr/>
        </p:nvSpPr>
        <p:spPr bwMode="auto">
          <a:xfrm>
            <a:off x="2922587" y="3746500"/>
            <a:ext cx="209550" cy="142875"/>
          </a:xfrm>
          <a:custGeom>
            <a:avLst/>
            <a:gdLst>
              <a:gd name="T0" fmla="*/ 1 w 132"/>
              <a:gd name="T1" fmla="*/ 67 h 90"/>
              <a:gd name="T2" fmla="*/ 0 w 132"/>
              <a:gd name="T3" fmla="*/ 79 h 90"/>
              <a:gd name="T4" fmla="*/ 86 w 132"/>
              <a:gd name="T5" fmla="*/ 90 h 90"/>
              <a:gd name="T6" fmla="*/ 86 w 132"/>
              <a:gd name="T7" fmla="*/ 90 h 90"/>
              <a:gd name="T8" fmla="*/ 89 w 132"/>
              <a:gd name="T9" fmla="*/ 88 h 90"/>
              <a:gd name="T10" fmla="*/ 91 w 132"/>
              <a:gd name="T11" fmla="*/ 87 h 90"/>
              <a:gd name="T12" fmla="*/ 94 w 132"/>
              <a:gd name="T13" fmla="*/ 85 h 90"/>
              <a:gd name="T14" fmla="*/ 98 w 132"/>
              <a:gd name="T15" fmla="*/ 83 h 90"/>
              <a:gd name="T16" fmla="*/ 103 w 132"/>
              <a:gd name="T17" fmla="*/ 79 h 90"/>
              <a:gd name="T18" fmla="*/ 107 w 132"/>
              <a:gd name="T19" fmla="*/ 76 h 90"/>
              <a:gd name="T20" fmla="*/ 112 w 132"/>
              <a:gd name="T21" fmla="*/ 71 h 90"/>
              <a:gd name="T22" fmla="*/ 117 w 132"/>
              <a:gd name="T23" fmla="*/ 66 h 90"/>
              <a:gd name="T24" fmla="*/ 121 w 132"/>
              <a:gd name="T25" fmla="*/ 60 h 90"/>
              <a:gd name="T26" fmla="*/ 125 w 132"/>
              <a:gd name="T27" fmla="*/ 55 h 90"/>
              <a:gd name="T28" fmla="*/ 128 w 132"/>
              <a:gd name="T29" fmla="*/ 47 h 90"/>
              <a:gd name="T30" fmla="*/ 131 w 132"/>
              <a:gd name="T31" fmla="*/ 39 h 90"/>
              <a:gd name="T32" fmla="*/ 132 w 132"/>
              <a:gd name="T33" fmla="*/ 31 h 90"/>
              <a:gd name="T34" fmla="*/ 132 w 132"/>
              <a:gd name="T35" fmla="*/ 23 h 90"/>
              <a:gd name="T36" fmla="*/ 129 w 132"/>
              <a:gd name="T37" fmla="*/ 14 h 90"/>
              <a:gd name="T38" fmla="*/ 129 w 132"/>
              <a:gd name="T39" fmla="*/ 12 h 90"/>
              <a:gd name="T40" fmla="*/ 128 w 132"/>
              <a:gd name="T41" fmla="*/ 11 h 90"/>
              <a:gd name="T42" fmla="*/ 127 w 132"/>
              <a:gd name="T43" fmla="*/ 9 h 90"/>
              <a:gd name="T44" fmla="*/ 126 w 132"/>
              <a:gd name="T45" fmla="*/ 7 h 90"/>
              <a:gd name="T46" fmla="*/ 124 w 132"/>
              <a:gd name="T47" fmla="*/ 4 h 90"/>
              <a:gd name="T48" fmla="*/ 120 w 132"/>
              <a:gd name="T49" fmla="*/ 2 h 90"/>
              <a:gd name="T50" fmla="*/ 117 w 132"/>
              <a:gd name="T51" fmla="*/ 1 h 90"/>
              <a:gd name="T52" fmla="*/ 113 w 132"/>
              <a:gd name="T53" fmla="*/ 0 h 90"/>
              <a:gd name="T54" fmla="*/ 113 w 132"/>
              <a:gd name="T55" fmla="*/ 2 h 90"/>
              <a:gd name="T56" fmla="*/ 114 w 132"/>
              <a:gd name="T57" fmla="*/ 5 h 90"/>
              <a:gd name="T58" fmla="*/ 117 w 132"/>
              <a:gd name="T59" fmla="*/ 11 h 90"/>
              <a:gd name="T60" fmla="*/ 118 w 132"/>
              <a:gd name="T61" fmla="*/ 19 h 90"/>
              <a:gd name="T62" fmla="*/ 118 w 132"/>
              <a:gd name="T63" fmla="*/ 29 h 90"/>
              <a:gd name="T64" fmla="*/ 117 w 132"/>
              <a:gd name="T65" fmla="*/ 39 h 90"/>
              <a:gd name="T66" fmla="*/ 114 w 132"/>
              <a:gd name="T67" fmla="*/ 51 h 90"/>
              <a:gd name="T68" fmla="*/ 108 w 132"/>
              <a:gd name="T69" fmla="*/ 64 h 90"/>
              <a:gd name="T70" fmla="*/ 108 w 132"/>
              <a:gd name="T71" fmla="*/ 64 h 90"/>
              <a:gd name="T72" fmla="*/ 108 w 132"/>
              <a:gd name="T73" fmla="*/ 64 h 90"/>
              <a:gd name="T74" fmla="*/ 107 w 132"/>
              <a:gd name="T75" fmla="*/ 65 h 90"/>
              <a:gd name="T76" fmla="*/ 106 w 132"/>
              <a:gd name="T77" fmla="*/ 66 h 90"/>
              <a:gd name="T78" fmla="*/ 105 w 132"/>
              <a:gd name="T79" fmla="*/ 66 h 90"/>
              <a:gd name="T80" fmla="*/ 103 w 132"/>
              <a:gd name="T81" fmla="*/ 67 h 90"/>
              <a:gd name="T82" fmla="*/ 100 w 132"/>
              <a:gd name="T83" fmla="*/ 69 h 90"/>
              <a:gd name="T84" fmla="*/ 98 w 132"/>
              <a:gd name="T85" fmla="*/ 70 h 90"/>
              <a:gd name="T86" fmla="*/ 96 w 132"/>
              <a:gd name="T87" fmla="*/ 71 h 90"/>
              <a:gd name="T88" fmla="*/ 92 w 132"/>
              <a:gd name="T89" fmla="*/ 72 h 90"/>
              <a:gd name="T90" fmla="*/ 90 w 132"/>
              <a:gd name="T91" fmla="*/ 72 h 90"/>
              <a:gd name="T92" fmla="*/ 85 w 132"/>
              <a:gd name="T93" fmla="*/ 73 h 90"/>
              <a:gd name="T94" fmla="*/ 82 w 132"/>
              <a:gd name="T95" fmla="*/ 73 h 90"/>
              <a:gd name="T96" fmla="*/ 78 w 132"/>
              <a:gd name="T97" fmla="*/ 73 h 90"/>
              <a:gd name="T98" fmla="*/ 73 w 132"/>
              <a:gd name="T99" fmla="*/ 72 h 90"/>
              <a:gd name="T100" fmla="*/ 69 w 132"/>
              <a:gd name="T101" fmla="*/ 72 h 90"/>
              <a:gd name="T102" fmla="*/ 69 w 132"/>
              <a:gd name="T103" fmla="*/ 84 h 90"/>
              <a:gd name="T104" fmla="*/ 3 w 132"/>
              <a:gd name="T105" fmla="*/ 77 h 90"/>
              <a:gd name="T106" fmla="*/ 1 w 132"/>
              <a:gd name="T107" fmla="*/ 67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32" h="90">
                <a:moveTo>
                  <a:pt x="1" y="67"/>
                </a:moveTo>
                <a:lnTo>
                  <a:pt x="0" y="79"/>
                </a:lnTo>
                <a:lnTo>
                  <a:pt x="86" y="90"/>
                </a:lnTo>
                <a:lnTo>
                  <a:pt x="86" y="90"/>
                </a:lnTo>
                <a:lnTo>
                  <a:pt x="89" y="88"/>
                </a:lnTo>
                <a:lnTo>
                  <a:pt x="91" y="87"/>
                </a:lnTo>
                <a:lnTo>
                  <a:pt x="94" y="85"/>
                </a:lnTo>
                <a:lnTo>
                  <a:pt x="98" y="83"/>
                </a:lnTo>
                <a:lnTo>
                  <a:pt x="103" y="79"/>
                </a:lnTo>
                <a:lnTo>
                  <a:pt x="107" y="76"/>
                </a:lnTo>
                <a:lnTo>
                  <a:pt x="112" y="71"/>
                </a:lnTo>
                <a:lnTo>
                  <a:pt x="117" y="66"/>
                </a:lnTo>
                <a:lnTo>
                  <a:pt x="121" y="60"/>
                </a:lnTo>
                <a:lnTo>
                  <a:pt x="125" y="55"/>
                </a:lnTo>
                <a:lnTo>
                  <a:pt x="128" y="47"/>
                </a:lnTo>
                <a:lnTo>
                  <a:pt x="131" y="39"/>
                </a:lnTo>
                <a:lnTo>
                  <a:pt x="132" y="31"/>
                </a:lnTo>
                <a:lnTo>
                  <a:pt x="132" y="23"/>
                </a:lnTo>
                <a:lnTo>
                  <a:pt x="129" y="14"/>
                </a:lnTo>
                <a:lnTo>
                  <a:pt x="129" y="12"/>
                </a:lnTo>
                <a:lnTo>
                  <a:pt x="128" y="11"/>
                </a:lnTo>
                <a:lnTo>
                  <a:pt x="127" y="9"/>
                </a:lnTo>
                <a:lnTo>
                  <a:pt x="126" y="7"/>
                </a:lnTo>
                <a:lnTo>
                  <a:pt x="124" y="4"/>
                </a:lnTo>
                <a:lnTo>
                  <a:pt x="120" y="2"/>
                </a:lnTo>
                <a:lnTo>
                  <a:pt x="117" y="1"/>
                </a:lnTo>
                <a:lnTo>
                  <a:pt x="113" y="0"/>
                </a:lnTo>
                <a:lnTo>
                  <a:pt x="113" y="2"/>
                </a:lnTo>
                <a:lnTo>
                  <a:pt x="114" y="5"/>
                </a:lnTo>
                <a:lnTo>
                  <a:pt x="117" y="11"/>
                </a:lnTo>
                <a:lnTo>
                  <a:pt x="118" y="19"/>
                </a:lnTo>
                <a:lnTo>
                  <a:pt x="118" y="29"/>
                </a:lnTo>
                <a:lnTo>
                  <a:pt x="117" y="39"/>
                </a:lnTo>
                <a:lnTo>
                  <a:pt x="114" y="51"/>
                </a:lnTo>
                <a:lnTo>
                  <a:pt x="108" y="64"/>
                </a:lnTo>
                <a:lnTo>
                  <a:pt x="108" y="64"/>
                </a:lnTo>
                <a:lnTo>
                  <a:pt x="108" y="64"/>
                </a:lnTo>
                <a:lnTo>
                  <a:pt x="107" y="65"/>
                </a:lnTo>
                <a:lnTo>
                  <a:pt x="106" y="66"/>
                </a:lnTo>
                <a:lnTo>
                  <a:pt x="105" y="66"/>
                </a:lnTo>
                <a:lnTo>
                  <a:pt x="103" y="67"/>
                </a:lnTo>
                <a:lnTo>
                  <a:pt x="100" y="69"/>
                </a:lnTo>
                <a:lnTo>
                  <a:pt x="98" y="70"/>
                </a:lnTo>
                <a:lnTo>
                  <a:pt x="96" y="71"/>
                </a:lnTo>
                <a:lnTo>
                  <a:pt x="92" y="72"/>
                </a:lnTo>
                <a:lnTo>
                  <a:pt x="90" y="72"/>
                </a:lnTo>
                <a:lnTo>
                  <a:pt x="85" y="73"/>
                </a:lnTo>
                <a:lnTo>
                  <a:pt x="82" y="73"/>
                </a:lnTo>
                <a:lnTo>
                  <a:pt x="78" y="73"/>
                </a:lnTo>
                <a:lnTo>
                  <a:pt x="73" y="72"/>
                </a:lnTo>
                <a:lnTo>
                  <a:pt x="69" y="72"/>
                </a:lnTo>
                <a:lnTo>
                  <a:pt x="69" y="84"/>
                </a:lnTo>
                <a:lnTo>
                  <a:pt x="3" y="77"/>
                </a:lnTo>
                <a:lnTo>
                  <a:pt x="1" y="67"/>
                </a:lnTo>
                <a:close/>
              </a:path>
            </a:pathLst>
          </a:custGeom>
          <a:solidFill>
            <a:srgbClr val="99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Freeform 19"/>
          <p:cNvSpPr>
            <a:spLocks/>
          </p:cNvSpPr>
          <p:nvPr/>
        </p:nvSpPr>
        <p:spPr bwMode="auto">
          <a:xfrm>
            <a:off x="2897187" y="3886200"/>
            <a:ext cx="152400" cy="50800"/>
          </a:xfrm>
          <a:custGeom>
            <a:avLst/>
            <a:gdLst>
              <a:gd name="T0" fmla="*/ 96 w 96"/>
              <a:gd name="T1" fmla="*/ 12 h 32"/>
              <a:gd name="T2" fmla="*/ 1 w 96"/>
              <a:gd name="T3" fmla="*/ 0 h 32"/>
              <a:gd name="T4" fmla="*/ 0 w 96"/>
              <a:gd name="T5" fmla="*/ 12 h 32"/>
              <a:gd name="T6" fmla="*/ 93 w 96"/>
              <a:gd name="T7" fmla="*/ 32 h 32"/>
              <a:gd name="T8" fmla="*/ 96 w 96"/>
              <a:gd name="T9" fmla="*/ 1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32">
                <a:moveTo>
                  <a:pt x="96" y="12"/>
                </a:moveTo>
                <a:lnTo>
                  <a:pt x="1" y="0"/>
                </a:lnTo>
                <a:lnTo>
                  <a:pt x="0" y="12"/>
                </a:lnTo>
                <a:lnTo>
                  <a:pt x="93" y="32"/>
                </a:lnTo>
                <a:lnTo>
                  <a:pt x="96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Freeform 20"/>
          <p:cNvSpPr>
            <a:spLocks/>
          </p:cNvSpPr>
          <p:nvPr/>
        </p:nvSpPr>
        <p:spPr bwMode="auto">
          <a:xfrm>
            <a:off x="2971800" y="3903663"/>
            <a:ext cx="66675" cy="22225"/>
          </a:xfrm>
          <a:custGeom>
            <a:avLst/>
            <a:gdLst>
              <a:gd name="T0" fmla="*/ 42 w 42"/>
              <a:gd name="T1" fmla="*/ 6 h 14"/>
              <a:gd name="T2" fmla="*/ 2 w 42"/>
              <a:gd name="T3" fmla="*/ 0 h 14"/>
              <a:gd name="T4" fmla="*/ 0 w 42"/>
              <a:gd name="T5" fmla="*/ 6 h 14"/>
              <a:gd name="T6" fmla="*/ 40 w 42"/>
              <a:gd name="T7" fmla="*/ 14 h 14"/>
              <a:gd name="T8" fmla="*/ 42 w 42"/>
              <a:gd name="T9" fmla="*/ 6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" h="14">
                <a:moveTo>
                  <a:pt x="42" y="6"/>
                </a:moveTo>
                <a:lnTo>
                  <a:pt x="2" y="0"/>
                </a:lnTo>
                <a:lnTo>
                  <a:pt x="0" y="6"/>
                </a:lnTo>
                <a:lnTo>
                  <a:pt x="40" y="14"/>
                </a:lnTo>
                <a:lnTo>
                  <a:pt x="42" y="6"/>
                </a:lnTo>
                <a:close/>
              </a:path>
            </a:pathLst>
          </a:custGeom>
          <a:solidFill>
            <a:srgbClr val="99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Freeform 21"/>
          <p:cNvSpPr>
            <a:spLocks/>
          </p:cNvSpPr>
          <p:nvPr/>
        </p:nvSpPr>
        <p:spPr bwMode="auto">
          <a:xfrm>
            <a:off x="2905125" y="3892550"/>
            <a:ext cx="44450" cy="15875"/>
          </a:xfrm>
          <a:custGeom>
            <a:avLst/>
            <a:gdLst>
              <a:gd name="T0" fmla="*/ 28 w 28"/>
              <a:gd name="T1" fmla="*/ 5 h 10"/>
              <a:gd name="T2" fmla="*/ 0 w 28"/>
              <a:gd name="T3" fmla="*/ 0 h 10"/>
              <a:gd name="T4" fmla="*/ 0 w 28"/>
              <a:gd name="T5" fmla="*/ 5 h 10"/>
              <a:gd name="T6" fmla="*/ 27 w 28"/>
              <a:gd name="T7" fmla="*/ 10 h 10"/>
              <a:gd name="T8" fmla="*/ 28 w 28"/>
              <a:gd name="T9" fmla="*/ 5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" h="10">
                <a:moveTo>
                  <a:pt x="28" y="5"/>
                </a:moveTo>
                <a:lnTo>
                  <a:pt x="0" y="0"/>
                </a:lnTo>
                <a:lnTo>
                  <a:pt x="0" y="5"/>
                </a:lnTo>
                <a:lnTo>
                  <a:pt x="27" y="10"/>
                </a:lnTo>
                <a:lnTo>
                  <a:pt x="28" y="5"/>
                </a:lnTo>
                <a:close/>
              </a:path>
            </a:pathLst>
          </a:custGeom>
          <a:solidFill>
            <a:srgbClr val="99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Freeform 22"/>
          <p:cNvSpPr>
            <a:spLocks/>
          </p:cNvSpPr>
          <p:nvPr/>
        </p:nvSpPr>
        <p:spPr bwMode="auto">
          <a:xfrm>
            <a:off x="2797175" y="3906838"/>
            <a:ext cx="257175" cy="87312"/>
          </a:xfrm>
          <a:custGeom>
            <a:avLst/>
            <a:gdLst>
              <a:gd name="T0" fmla="*/ 0 w 162"/>
              <a:gd name="T1" fmla="*/ 17 h 55"/>
              <a:gd name="T2" fmla="*/ 0 w 162"/>
              <a:gd name="T3" fmla="*/ 17 h 55"/>
              <a:gd name="T4" fmla="*/ 1 w 162"/>
              <a:gd name="T5" fmla="*/ 17 h 55"/>
              <a:gd name="T6" fmla="*/ 2 w 162"/>
              <a:gd name="T7" fmla="*/ 17 h 55"/>
              <a:gd name="T8" fmla="*/ 4 w 162"/>
              <a:gd name="T9" fmla="*/ 15 h 55"/>
              <a:gd name="T10" fmla="*/ 7 w 162"/>
              <a:gd name="T11" fmla="*/ 15 h 55"/>
              <a:gd name="T12" fmla="*/ 10 w 162"/>
              <a:gd name="T13" fmla="*/ 15 h 55"/>
              <a:gd name="T14" fmla="*/ 14 w 162"/>
              <a:gd name="T15" fmla="*/ 14 h 55"/>
              <a:gd name="T16" fmla="*/ 17 w 162"/>
              <a:gd name="T17" fmla="*/ 13 h 55"/>
              <a:gd name="T18" fmla="*/ 21 w 162"/>
              <a:gd name="T19" fmla="*/ 12 h 55"/>
              <a:gd name="T20" fmla="*/ 24 w 162"/>
              <a:gd name="T21" fmla="*/ 11 h 55"/>
              <a:gd name="T22" fmla="*/ 28 w 162"/>
              <a:gd name="T23" fmla="*/ 10 h 55"/>
              <a:gd name="T24" fmla="*/ 31 w 162"/>
              <a:gd name="T25" fmla="*/ 8 h 55"/>
              <a:gd name="T26" fmla="*/ 35 w 162"/>
              <a:gd name="T27" fmla="*/ 6 h 55"/>
              <a:gd name="T28" fmla="*/ 37 w 162"/>
              <a:gd name="T29" fmla="*/ 5 h 55"/>
              <a:gd name="T30" fmla="*/ 40 w 162"/>
              <a:gd name="T31" fmla="*/ 3 h 55"/>
              <a:gd name="T32" fmla="*/ 43 w 162"/>
              <a:gd name="T33" fmla="*/ 0 h 55"/>
              <a:gd name="T34" fmla="*/ 162 w 162"/>
              <a:gd name="T35" fmla="*/ 28 h 55"/>
              <a:gd name="T36" fmla="*/ 162 w 162"/>
              <a:gd name="T37" fmla="*/ 28 h 55"/>
              <a:gd name="T38" fmla="*/ 161 w 162"/>
              <a:gd name="T39" fmla="*/ 29 h 55"/>
              <a:gd name="T40" fmla="*/ 159 w 162"/>
              <a:gd name="T41" fmla="*/ 31 h 55"/>
              <a:gd name="T42" fmla="*/ 158 w 162"/>
              <a:gd name="T43" fmla="*/ 32 h 55"/>
              <a:gd name="T44" fmla="*/ 157 w 162"/>
              <a:gd name="T45" fmla="*/ 33 h 55"/>
              <a:gd name="T46" fmla="*/ 155 w 162"/>
              <a:gd name="T47" fmla="*/ 35 h 55"/>
              <a:gd name="T48" fmla="*/ 152 w 162"/>
              <a:gd name="T49" fmla="*/ 36 h 55"/>
              <a:gd name="T50" fmla="*/ 150 w 162"/>
              <a:gd name="T51" fmla="*/ 39 h 55"/>
              <a:gd name="T52" fmla="*/ 147 w 162"/>
              <a:gd name="T53" fmla="*/ 41 h 55"/>
              <a:gd name="T54" fmla="*/ 144 w 162"/>
              <a:gd name="T55" fmla="*/ 43 h 55"/>
              <a:gd name="T56" fmla="*/ 141 w 162"/>
              <a:gd name="T57" fmla="*/ 46 h 55"/>
              <a:gd name="T58" fmla="*/ 137 w 162"/>
              <a:gd name="T59" fmla="*/ 48 h 55"/>
              <a:gd name="T60" fmla="*/ 135 w 162"/>
              <a:gd name="T61" fmla="*/ 50 h 55"/>
              <a:gd name="T62" fmla="*/ 131 w 162"/>
              <a:gd name="T63" fmla="*/ 52 h 55"/>
              <a:gd name="T64" fmla="*/ 128 w 162"/>
              <a:gd name="T65" fmla="*/ 53 h 55"/>
              <a:gd name="T66" fmla="*/ 126 w 162"/>
              <a:gd name="T67" fmla="*/ 55 h 55"/>
              <a:gd name="T68" fmla="*/ 0 w 162"/>
              <a:gd name="T69" fmla="*/ 17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62" h="55">
                <a:moveTo>
                  <a:pt x="0" y="17"/>
                </a:moveTo>
                <a:lnTo>
                  <a:pt x="0" y="17"/>
                </a:lnTo>
                <a:lnTo>
                  <a:pt x="1" y="17"/>
                </a:lnTo>
                <a:lnTo>
                  <a:pt x="2" y="17"/>
                </a:lnTo>
                <a:lnTo>
                  <a:pt x="4" y="15"/>
                </a:lnTo>
                <a:lnTo>
                  <a:pt x="7" y="15"/>
                </a:lnTo>
                <a:lnTo>
                  <a:pt x="10" y="15"/>
                </a:lnTo>
                <a:lnTo>
                  <a:pt x="14" y="14"/>
                </a:lnTo>
                <a:lnTo>
                  <a:pt x="17" y="13"/>
                </a:lnTo>
                <a:lnTo>
                  <a:pt x="21" y="12"/>
                </a:lnTo>
                <a:lnTo>
                  <a:pt x="24" y="11"/>
                </a:lnTo>
                <a:lnTo>
                  <a:pt x="28" y="10"/>
                </a:lnTo>
                <a:lnTo>
                  <a:pt x="31" y="8"/>
                </a:lnTo>
                <a:lnTo>
                  <a:pt x="35" y="6"/>
                </a:lnTo>
                <a:lnTo>
                  <a:pt x="37" y="5"/>
                </a:lnTo>
                <a:lnTo>
                  <a:pt x="40" y="3"/>
                </a:lnTo>
                <a:lnTo>
                  <a:pt x="43" y="0"/>
                </a:lnTo>
                <a:lnTo>
                  <a:pt x="162" y="28"/>
                </a:lnTo>
                <a:lnTo>
                  <a:pt x="162" y="28"/>
                </a:lnTo>
                <a:lnTo>
                  <a:pt x="161" y="29"/>
                </a:lnTo>
                <a:lnTo>
                  <a:pt x="159" y="31"/>
                </a:lnTo>
                <a:lnTo>
                  <a:pt x="158" y="32"/>
                </a:lnTo>
                <a:lnTo>
                  <a:pt x="157" y="33"/>
                </a:lnTo>
                <a:lnTo>
                  <a:pt x="155" y="35"/>
                </a:lnTo>
                <a:lnTo>
                  <a:pt x="152" y="36"/>
                </a:lnTo>
                <a:lnTo>
                  <a:pt x="150" y="39"/>
                </a:lnTo>
                <a:lnTo>
                  <a:pt x="147" y="41"/>
                </a:lnTo>
                <a:lnTo>
                  <a:pt x="144" y="43"/>
                </a:lnTo>
                <a:lnTo>
                  <a:pt x="141" y="46"/>
                </a:lnTo>
                <a:lnTo>
                  <a:pt x="137" y="48"/>
                </a:lnTo>
                <a:lnTo>
                  <a:pt x="135" y="50"/>
                </a:lnTo>
                <a:lnTo>
                  <a:pt x="131" y="52"/>
                </a:lnTo>
                <a:lnTo>
                  <a:pt x="128" y="53"/>
                </a:lnTo>
                <a:lnTo>
                  <a:pt x="126" y="55"/>
                </a:lnTo>
                <a:lnTo>
                  <a:pt x="0" y="17"/>
                </a:lnTo>
                <a:close/>
              </a:path>
            </a:pathLst>
          </a:custGeom>
          <a:solidFill>
            <a:srgbClr val="99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Freeform 23"/>
          <p:cNvSpPr>
            <a:spLocks/>
          </p:cNvSpPr>
          <p:nvPr/>
        </p:nvSpPr>
        <p:spPr bwMode="auto">
          <a:xfrm>
            <a:off x="3054350" y="3897313"/>
            <a:ext cx="90487" cy="41275"/>
          </a:xfrm>
          <a:custGeom>
            <a:avLst/>
            <a:gdLst>
              <a:gd name="T0" fmla="*/ 6 w 57"/>
              <a:gd name="T1" fmla="*/ 26 h 26"/>
              <a:gd name="T2" fmla="*/ 57 w 57"/>
              <a:gd name="T3" fmla="*/ 11 h 26"/>
              <a:gd name="T4" fmla="*/ 25 w 57"/>
              <a:gd name="T5" fmla="*/ 0 h 26"/>
              <a:gd name="T6" fmla="*/ 0 w 57"/>
              <a:gd name="T7" fmla="*/ 4 h 26"/>
              <a:gd name="T8" fmla="*/ 0 w 57"/>
              <a:gd name="T9" fmla="*/ 25 h 26"/>
              <a:gd name="T10" fmla="*/ 6 w 57"/>
              <a:gd name="T11" fmla="*/ 26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" h="26">
                <a:moveTo>
                  <a:pt x="6" y="26"/>
                </a:moveTo>
                <a:lnTo>
                  <a:pt x="57" y="11"/>
                </a:lnTo>
                <a:lnTo>
                  <a:pt x="25" y="0"/>
                </a:lnTo>
                <a:lnTo>
                  <a:pt x="0" y="4"/>
                </a:lnTo>
                <a:lnTo>
                  <a:pt x="0" y="25"/>
                </a:lnTo>
                <a:lnTo>
                  <a:pt x="6" y="26"/>
                </a:lnTo>
                <a:close/>
              </a:path>
            </a:pathLst>
          </a:custGeom>
          <a:solidFill>
            <a:srgbClr val="001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Freeform 24"/>
          <p:cNvSpPr>
            <a:spLocks/>
          </p:cNvSpPr>
          <p:nvPr/>
        </p:nvSpPr>
        <p:spPr bwMode="auto">
          <a:xfrm>
            <a:off x="2814637" y="3724275"/>
            <a:ext cx="50800" cy="193675"/>
          </a:xfrm>
          <a:custGeom>
            <a:avLst/>
            <a:gdLst>
              <a:gd name="T0" fmla="*/ 32 w 32"/>
              <a:gd name="T1" fmla="*/ 2 h 122"/>
              <a:gd name="T2" fmla="*/ 32 w 32"/>
              <a:gd name="T3" fmla="*/ 2 h 122"/>
              <a:gd name="T4" fmla="*/ 31 w 32"/>
              <a:gd name="T5" fmla="*/ 2 h 122"/>
              <a:gd name="T6" fmla="*/ 31 w 32"/>
              <a:gd name="T7" fmla="*/ 2 h 122"/>
              <a:gd name="T8" fmla="*/ 29 w 32"/>
              <a:gd name="T9" fmla="*/ 1 h 122"/>
              <a:gd name="T10" fmla="*/ 27 w 32"/>
              <a:gd name="T11" fmla="*/ 1 h 122"/>
              <a:gd name="T12" fmla="*/ 26 w 32"/>
              <a:gd name="T13" fmla="*/ 1 h 122"/>
              <a:gd name="T14" fmla="*/ 24 w 32"/>
              <a:gd name="T15" fmla="*/ 0 h 122"/>
              <a:gd name="T16" fmla="*/ 22 w 32"/>
              <a:gd name="T17" fmla="*/ 0 h 122"/>
              <a:gd name="T18" fmla="*/ 20 w 32"/>
              <a:gd name="T19" fmla="*/ 0 h 122"/>
              <a:gd name="T20" fmla="*/ 18 w 32"/>
              <a:gd name="T21" fmla="*/ 0 h 122"/>
              <a:gd name="T22" fmla="*/ 14 w 32"/>
              <a:gd name="T23" fmla="*/ 0 h 122"/>
              <a:gd name="T24" fmla="*/ 12 w 32"/>
              <a:gd name="T25" fmla="*/ 0 h 122"/>
              <a:gd name="T26" fmla="*/ 10 w 32"/>
              <a:gd name="T27" fmla="*/ 1 h 122"/>
              <a:gd name="T28" fmla="*/ 6 w 32"/>
              <a:gd name="T29" fmla="*/ 2 h 122"/>
              <a:gd name="T30" fmla="*/ 4 w 32"/>
              <a:gd name="T31" fmla="*/ 3 h 122"/>
              <a:gd name="T32" fmla="*/ 0 w 32"/>
              <a:gd name="T33" fmla="*/ 5 h 122"/>
              <a:gd name="T34" fmla="*/ 0 w 32"/>
              <a:gd name="T35" fmla="*/ 122 h 122"/>
              <a:gd name="T36" fmla="*/ 1 w 32"/>
              <a:gd name="T37" fmla="*/ 122 h 122"/>
              <a:gd name="T38" fmla="*/ 1 w 32"/>
              <a:gd name="T39" fmla="*/ 122 h 122"/>
              <a:gd name="T40" fmla="*/ 3 w 32"/>
              <a:gd name="T41" fmla="*/ 122 h 122"/>
              <a:gd name="T42" fmla="*/ 4 w 32"/>
              <a:gd name="T43" fmla="*/ 122 h 122"/>
              <a:gd name="T44" fmla="*/ 5 w 32"/>
              <a:gd name="T45" fmla="*/ 122 h 122"/>
              <a:gd name="T46" fmla="*/ 7 w 32"/>
              <a:gd name="T47" fmla="*/ 121 h 122"/>
              <a:gd name="T48" fmla="*/ 8 w 32"/>
              <a:gd name="T49" fmla="*/ 121 h 122"/>
              <a:gd name="T50" fmla="*/ 11 w 32"/>
              <a:gd name="T51" fmla="*/ 121 h 122"/>
              <a:gd name="T52" fmla="*/ 13 w 32"/>
              <a:gd name="T53" fmla="*/ 120 h 122"/>
              <a:gd name="T54" fmla="*/ 15 w 32"/>
              <a:gd name="T55" fmla="*/ 119 h 122"/>
              <a:gd name="T56" fmla="*/ 18 w 32"/>
              <a:gd name="T57" fmla="*/ 119 h 122"/>
              <a:gd name="T58" fmla="*/ 21 w 32"/>
              <a:gd name="T59" fmla="*/ 118 h 122"/>
              <a:gd name="T60" fmla="*/ 24 w 32"/>
              <a:gd name="T61" fmla="*/ 115 h 122"/>
              <a:gd name="T62" fmla="*/ 26 w 32"/>
              <a:gd name="T63" fmla="*/ 114 h 122"/>
              <a:gd name="T64" fmla="*/ 29 w 32"/>
              <a:gd name="T65" fmla="*/ 113 h 122"/>
              <a:gd name="T66" fmla="*/ 32 w 32"/>
              <a:gd name="T67" fmla="*/ 111 h 122"/>
              <a:gd name="T68" fmla="*/ 32 w 32"/>
              <a:gd name="T69" fmla="*/ 2 h 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2" h="122">
                <a:moveTo>
                  <a:pt x="32" y="2"/>
                </a:moveTo>
                <a:lnTo>
                  <a:pt x="32" y="2"/>
                </a:lnTo>
                <a:lnTo>
                  <a:pt x="31" y="2"/>
                </a:lnTo>
                <a:lnTo>
                  <a:pt x="31" y="2"/>
                </a:lnTo>
                <a:lnTo>
                  <a:pt x="29" y="1"/>
                </a:lnTo>
                <a:lnTo>
                  <a:pt x="27" y="1"/>
                </a:lnTo>
                <a:lnTo>
                  <a:pt x="26" y="1"/>
                </a:lnTo>
                <a:lnTo>
                  <a:pt x="24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4" y="0"/>
                </a:lnTo>
                <a:lnTo>
                  <a:pt x="12" y="0"/>
                </a:lnTo>
                <a:lnTo>
                  <a:pt x="10" y="1"/>
                </a:lnTo>
                <a:lnTo>
                  <a:pt x="6" y="2"/>
                </a:lnTo>
                <a:lnTo>
                  <a:pt x="4" y="3"/>
                </a:lnTo>
                <a:lnTo>
                  <a:pt x="0" y="5"/>
                </a:lnTo>
                <a:lnTo>
                  <a:pt x="0" y="122"/>
                </a:lnTo>
                <a:lnTo>
                  <a:pt x="1" y="122"/>
                </a:lnTo>
                <a:lnTo>
                  <a:pt x="1" y="122"/>
                </a:lnTo>
                <a:lnTo>
                  <a:pt x="3" y="122"/>
                </a:lnTo>
                <a:lnTo>
                  <a:pt x="4" y="122"/>
                </a:lnTo>
                <a:lnTo>
                  <a:pt x="5" y="122"/>
                </a:lnTo>
                <a:lnTo>
                  <a:pt x="7" y="121"/>
                </a:lnTo>
                <a:lnTo>
                  <a:pt x="8" y="121"/>
                </a:lnTo>
                <a:lnTo>
                  <a:pt x="11" y="121"/>
                </a:lnTo>
                <a:lnTo>
                  <a:pt x="13" y="120"/>
                </a:lnTo>
                <a:lnTo>
                  <a:pt x="15" y="119"/>
                </a:lnTo>
                <a:lnTo>
                  <a:pt x="18" y="119"/>
                </a:lnTo>
                <a:lnTo>
                  <a:pt x="21" y="118"/>
                </a:lnTo>
                <a:lnTo>
                  <a:pt x="24" y="115"/>
                </a:lnTo>
                <a:lnTo>
                  <a:pt x="26" y="114"/>
                </a:lnTo>
                <a:lnTo>
                  <a:pt x="29" y="113"/>
                </a:lnTo>
                <a:lnTo>
                  <a:pt x="32" y="111"/>
                </a:lnTo>
                <a:lnTo>
                  <a:pt x="32" y="2"/>
                </a:lnTo>
                <a:close/>
              </a:path>
            </a:pathLst>
          </a:custGeom>
          <a:solidFill>
            <a:srgbClr val="7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Freeform 25"/>
          <p:cNvSpPr>
            <a:spLocks/>
          </p:cNvSpPr>
          <p:nvPr/>
        </p:nvSpPr>
        <p:spPr bwMode="auto">
          <a:xfrm>
            <a:off x="2816225" y="3725863"/>
            <a:ext cx="42862" cy="165100"/>
          </a:xfrm>
          <a:custGeom>
            <a:avLst/>
            <a:gdLst>
              <a:gd name="T0" fmla="*/ 27 w 27"/>
              <a:gd name="T1" fmla="*/ 2 h 104"/>
              <a:gd name="T2" fmla="*/ 27 w 27"/>
              <a:gd name="T3" fmla="*/ 2 h 104"/>
              <a:gd name="T4" fmla="*/ 26 w 27"/>
              <a:gd name="T5" fmla="*/ 2 h 104"/>
              <a:gd name="T6" fmla="*/ 26 w 27"/>
              <a:gd name="T7" fmla="*/ 1 h 104"/>
              <a:gd name="T8" fmla="*/ 25 w 27"/>
              <a:gd name="T9" fmla="*/ 1 h 104"/>
              <a:gd name="T10" fmla="*/ 24 w 27"/>
              <a:gd name="T11" fmla="*/ 1 h 104"/>
              <a:gd name="T12" fmla="*/ 23 w 27"/>
              <a:gd name="T13" fmla="*/ 0 h 104"/>
              <a:gd name="T14" fmla="*/ 20 w 27"/>
              <a:gd name="T15" fmla="*/ 0 h 104"/>
              <a:gd name="T16" fmla="*/ 19 w 27"/>
              <a:gd name="T17" fmla="*/ 0 h 104"/>
              <a:gd name="T18" fmla="*/ 17 w 27"/>
              <a:gd name="T19" fmla="*/ 0 h 104"/>
              <a:gd name="T20" fmla="*/ 14 w 27"/>
              <a:gd name="T21" fmla="*/ 0 h 104"/>
              <a:gd name="T22" fmla="*/ 12 w 27"/>
              <a:gd name="T23" fmla="*/ 0 h 104"/>
              <a:gd name="T24" fmla="*/ 10 w 27"/>
              <a:gd name="T25" fmla="*/ 0 h 104"/>
              <a:gd name="T26" fmla="*/ 9 w 27"/>
              <a:gd name="T27" fmla="*/ 1 h 104"/>
              <a:gd name="T28" fmla="*/ 5 w 27"/>
              <a:gd name="T29" fmla="*/ 2 h 104"/>
              <a:gd name="T30" fmla="*/ 3 w 27"/>
              <a:gd name="T31" fmla="*/ 3 h 104"/>
              <a:gd name="T32" fmla="*/ 0 w 27"/>
              <a:gd name="T33" fmla="*/ 4 h 104"/>
              <a:gd name="T34" fmla="*/ 0 w 27"/>
              <a:gd name="T35" fmla="*/ 104 h 104"/>
              <a:gd name="T36" fmla="*/ 0 w 27"/>
              <a:gd name="T37" fmla="*/ 104 h 104"/>
              <a:gd name="T38" fmla="*/ 2 w 27"/>
              <a:gd name="T39" fmla="*/ 104 h 104"/>
              <a:gd name="T40" fmla="*/ 2 w 27"/>
              <a:gd name="T41" fmla="*/ 103 h 104"/>
              <a:gd name="T42" fmla="*/ 3 w 27"/>
              <a:gd name="T43" fmla="*/ 103 h 104"/>
              <a:gd name="T44" fmla="*/ 4 w 27"/>
              <a:gd name="T45" fmla="*/ 103 h 104"/>
              <a:gd name="T46" fmla="*/ 6 w 27"/>
              <a:gd name="T47" fmla="*/ 103 h 104"/>
              <a:gd name="T48" fmla="*/ 7 w 27"/>
              <a:gd name="T49" fmla="*/ 103 h 104"/>
              <a:gd name="T50" fmla="*/ 10 w 27"/>
              <a:gd name="T51" fmla="*/ 101 h 104"/>
              <a:gd name="T52" fmla="*/ 11 w 27"/>
              <a:gd name="T53" fmla="*/ 101 h 104"/>
              <a:gd name="T54" fmla="*/ 13 w 27"/>
              <a:gd name="T55" fmla="*/ 100 h 104"/>
              <a:gd name="T56" fmla="*/ 16 w 27"/>
              <a:gd name="T57" fmla="*/ 99 h 104"/>
              <a:gd name="T58" fmla="*/ 18 w 27"/>
              <a:gd name="T59" fmla="*/ 99 h 104"/>
              <a:gd name="T60" fmla="*/ 20 w 27"/>
              <a:gd name="T61" fmla="*/ 98 h 104"/>
              <a:gd name="T62" fmla="*/ 23 w 27"/>
              <a:gd name="T63" fmla="*/ 97 h 104"/>
              <a:gd name="T64" fmla="*/ 25 w 27"/>
              <a:gd name="T65" fmla="*/ 94 h 104"/>
              <a:gd name="T66" fmla="*/ 27 w 27"/>
              <a:gd name="T67" fmla="*/ 93 h 104"/>
              <a:gd name="T68" fmla="*/ 27 w 27"/>
              <a:gd name="T69" fmla="*/ 2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" h="104">
                <a:moveTo>
                  <a:pt x="27" y="2"/>
                </a:moveTo>
                <a:lnTo>
                  <a:pt x="27" y="2"/>
                </a:lnTo>
                <a:lnTo>
                  <a:pt x="26" y="2"/>
                </a:lnTo>
                <a:lnTo>
                  <a:pt x="26" y="1"/>
                </a:lnTo>
                <a:lnTo>
                  <a:pt x="25" y="1"/>
                </a:lnTo>
                <a:lnTo>
                  <a:pt x="24" y="1"/>
                </a:lnTo>
                <a:lnTo>
                  <a:pt x="23" y="0"/>
                </a:lnTo>
                <a:lnTo>
                  <a:pt x="20" y="0"/>
                </a:lnTo>
                <a:lnTo>
                  <a:pt x="19" y="0"/>
                </a:lnTo>
                <a:lnTo>
                  <a:pt x="17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9" y="1"/>
                </a:lnTo>
                <a:lnTo>
                  <a:pt x="5" y="2"/>
                </a:lnTo>
                <a:lnTo>
                  <a:pt x="3" y="3"/>
                </a:lnTo>
                <a:lnTo>
                  <a:pt x="0" y="4"/>
                </a:lnTo>
                <a:lnTo>
                  <a:pt x="0" y="104"/>
                </a:lnTo>
                <a:lnTo>
                  <a:pt x="0" y="104"/>
                </a:lnTo>
                <a:lnTo>
                  <a:pt x="2" y="104"/>
                </a:lnTo>
                <a:lnTo>
                  <a:pt x="2" y="103"/>
                </a:lnTo>
                <a:lnTo>
                  <a:pt x="3" y="103"/>
                </a:lnTo>
                <a:lnTo>
                  <a:pt x="4" y="103"/>
                </a:lnTo>
                <a:lnTo>
                  <a:pt x="6" y="103"/>
                </a:lnTo>
                <a:lnTo>
                  <a:pt x="7" y="103"/>
                </a:lnTo>
                <a:lnTo>
                  <a:pt x="10" y="101"/>
                </a:lnTo>
                <a:lnTo>
                  <a:pt x="11" y="101"/>
                </a:lnTo>
                <a:lnTo>
                  <a:pt x="13" y="100"/>
                </a:lnTo>
                <a:lnTo>
                  <a:pt x="16" y="99"/>
                </a:lnTo>
                <a:lnTo>
                  <a:pt x="18" y="99"/>
                </a:lnTo>
                <a:lnTo>
                  <a:pt x="20" y="98"/>
                </a:lnTo>
                <a:lnTo>
                  <a:pt x="23" y="97"/>
                </a:lnTo>
                <a:lnTo>
                  <a:pt x="25" y="94"/>
                </a:lnTo>
                <a:lnTo>
                  <a:pt x="27" y="93"/>
                </a:lnTo>
                <a:lnTo>
                  <a:pt x="27" y="2"/>
                </a:lnTo>
                <a:close/>
              </a:path>
            </a:pathLst>
          </a:custGeom>
          <a:solidFill>
            <a:srgbClr val="9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Freeform 26"/>
          <p:cNvSpPr>
            <a:spLocks/>
          </p:cNvSpPr>
          <p:nvPr/>
        </p:nvSpPr>
        <p:spPr bwMode="auto">
          <a:xfrm>
            <a:off x="2819400" y="3727450"/>
            <a:ext cx="34925" cy="133350"/>
          </a:xfrm>
          <a:custGeom>
            <a:avLst/>
            <a:gdLst>
              <a:gd name="T0" fmla="*/ 22 w 22"/>
              <a:gd name="T1" fmla="*/ 1 h 84"/>
              <a:gd name="T2" fmla="*/ 22 w 22"/>
              <a:gd name="T3" fmla="*/ 1 h 84"/>
              <a:gd name="T4" fmla="*/ 21 w 22"/>
              <a:gd name="T5" fmla="*/ 1 h 84"/>
              <a:gd name="T6" fmla="*/ 21 w 22"/>
              <a:gd name="T7" fmla="*/ 1 h 84"/>
              <a:gd name="T8" fmla="*/ 19 w 22"/>
              <a:gd name="T9" fmla="*/ 1 h 84"/>
              <a:gd name="T10" fmla="*/ 18 w 22"/>
              <a:gd name="T11" fmla="*/ 0 h 84"/>
              <a:gd name="T12" fmla="*/ 17 w 22"/>
              <a:gd name="T13" fmla="*/ 0 h 84"/>
              <a:gd name="T14" fmla="*/ 16 w 22"/>
              <a:gd name="T15" fmla="*/ 0 h 84"/>
              <a:gd name="T16" fmla="*/ 15 w 22"/>
              <a:gd name="T17" fmla="*/ 0 h 84"/>
              <a:gd name="T18" fmla="*/ 14 w 22"/>
              <a:gd name="T19" fmla="*/ 0 h 84"/>
              <a:gd name="T20" fmla="*/ 11 w 22"/>
              <a:gd name="T21" fmla="*/ 0 h 84"/>
              <a:gd name="T22" fmla="*/ 9 w 22"/>
              <a:gd name="T23" fmla="*/ 0 h 84"/>
              <a:gd name="T24" fmla="*/ 8 w 22"/>
              <a:gd name="T25" fmla="*/ 0 h 84"/>
              <a:gd name="T26" fmla="*/ 5 w 22"/>
              <a:gd name="T27" fmla="*/ 0 h 84"/>
              <a:gd name="T28" fmla="*/ 3 w 22"/>
              <a:gd name="T29" fmla="*/ 1 h 84"/>
              <a:gd name="T30" fmla="*/ 2 w 22"/>
              <a:gd name="T31" fmla="*/ 2 h 84"/>
              <a:gd name="T32" fmla="*/ 0 w 22"/>
              <a:gd name="T33" fmla="*/ 3 h 84"/>
              <a:gd name="T34" fmla="*/ 0 w 22"/>
              <a:gd name="T35" fmla="*/ 84 h 84"/>
              <a:gd name="T36" fmla="*/ 0 w 22"/>
              <a:gd name="T37" fmla="*/ 84 h 84"/>
              <a:gd name="T38" fmla="*/ 0 w 22"/>
              <a:gd name="T39" fmla="*/ 84 h 84"/>
              <a:gd name="T40" fmla="*/ 1 w 22"/>
              <a:gd name="T41" fmla="*/ 84 h 84"/>
              <a:gd name="T42" fmla="*/ 2 w 22"/>
              <a:gd name="T43" fmla="*/ 84 h 84"/>
              <a:gd name="T44" fmla="*/ 3 w 22"/>
              <a:gd name="T45" fmla="*/ 84 h 84"/>
              <a:gd name="T46" fmla="*/ 4 w 22"/>
              <a:gd name="T47" fmla="*/ 83 h 84"/>
              <a:gd name="T48" fmla="*/ 5 w 22"/>
              <a:gd name="T49" fmla="*/ 83 h 84"/>
              <a:gd name="T50" fmla="*/ 7 w 22"/>
              <a:gd name="T51" fmla="*/ 83 h 84"/>
              <a:gd name="T52" fmla="*/ 9 w 22"/>
              <a:gd name="T53" fmla="*/ 82 h 84"/>
              <a:gd name="T54" fmla="*/ 10 w 22"/>
              <a:gd name="T55" fmla="*/ 82 h 84"/>
              <a:gd name="T56" fmla="*/ 12 w 22"/>
              <a:gd name="T57" fmla="*/ 81 h 84"/>
              <a:gd name="T58" fmla="*/ 14 w 22"/>
              <a:gd name="T59" fmla="*/ 81 h 84"/>
              <a:gd name="T60" fmla="*/ 16 w 22"/>
              <a:gd name="T61" fmla="*/ 79 h 84"/>
              <a:gd name="T62" fmla="*/ 18 w 22"/>
              <a:gd name="T63" fmla="*/ 78 h 84"/>
              <a:gd name="T64" fmla="*/ 19 w 22"/>
              <a:gd name="T65" fmla="*/ 77 h 84"/>
              <a:gd name="T66" fmla="*/ 22 w 22"/>
              <a:gd name="T67" fmla="*/ 76 h 84"/>
              <a:gd name="T68" fmla="*/ 22 w 22"/>
              <a:gd name="T69" fmla="*/ 1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2" h="84">
                <a:moveTo>
                  <a:pt x="22" y="1"/>
                </a:moveTo>
                <a:lnTo>
                  <a:pt x="22" y="1"/>
                </a:lnTo>
                <a:lnTo>
                  <a:pt x="21" y="1"/>
                </a:lnTo>
                <a:lnTo>
                  <a:pt x="21" y="1"/>
                </a:lnTo>
                <a:lnTo>
                  <a:pt x="19" y="1"/>
                </a:lnTo>
                <a:lnTo>
                  <a:pt x="18" y="0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lnTo>
                  <a:pt x="14" y="0"/>
                </a:lnTo>
                <a:lnTo>
                  <a:pt x="11" y="0"/>
                </a:lnTo>
                <a:lnTo>
                  <a:pt x="9" y="0"/>
                </a:lnTo>
                <a:lnTo>
                  <a:pt x="8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0" y="3"/>
                </a:lnTo>
                <a:lnTo>
                  <a:pt x="0" y="84"/>
                </a:lnTo>
                <a:lnTo>
                  <a:pt x="0" y="84"/>
                </a:lnTo>
                <a:lnTo>
                  <a:pt x="0" y="84"/>
                </a:lnTo>
                <a:lnTo>
                  <a:pt x="1" y="84"/>
                </a:lnTo>
                <a:lnTo>
                  <a:pt x="2" y="84"/>
                </a:lnTo>
                <a:lnTo>
                  <a:pt x="3" y="84"/>
                </a:lnTo>
                <a:lnTo>
                  <a:pt x="4" y="83"/>
                </a:lnTo>
                <a:lnTo>
                  <a:pt x="5" y="83"/>
                </a:lnTo>
                <a:lnTo>
                  <a:pt x="7" y="83"/>
                </a:lnTo>
                <a:lnTo>
                  <a:pt x="9" y="82"/>
                </a:lnTo>
                <a:lnTo>
                  <a:pt x="10" y="82"/>
                </a:lnTo>
                <a:lnTo>
                  <a:pt x="12" y="81"/>
                </a:lnTo>
                <a:lnTo>
                  <a:pt x="14" y="81"/>
                </a:lnTo>
                <a:lnTo>
                  <a:pt x="16" y="79"/>
                </a:lnTo>
                <a:lnTo>
                  <a:pt x="18" y="78"/>
                </a:lnTo>
                <a:lnTo>
                  <a:pt x="19" y="77"/>
                </a:lnTo>
                <a:lnTo>
                  <a:pt x="22" y="76"/>
                </a:lnTo>
                <a:lnTo>
                  <a:pt x="22" y="1"/>
                </a:lnTo>
                <a:close/>
              </a:path>
            </a:pathLst>
          </a:custGeom>
          <a:solidFill>
            <a:srgbClr val="A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Freeform 27"/>
          <p:cNvSpPr>
            <a:spLocks/>
          </p:cNvSpPr>
          <p:nvPr/>
        </p:nvSpPr>
        <p:spPr bwMode="auto">
          <a:xfrm>
            <a:off x="2820987" y="3727450"/>
            <a:ext cx="26988" cy="103188"/>
          </a:xfrm>
          <a:custGeom>
            <a:avLst/>
            <a:gdLst>
              <a:gd name="T0" fmla="*/ 17 w 17"/>
              <a:gd name="T1" fmla="*/ 2 h 65"/>
              <a:gd name="T2" fmla="*/ 17 w 17"/>
              <a:gd name="T3" fmla="*/ 2 h 65"/>
              <a:gd name="T4" fmla="*/ 16 w 17"/>
              <a:gd name="T5" fmla="*/ 1 h 65"/>
              <a:gd name="T6" fmla="*/ 14 w 17"/>
              <a:gd name="T7" fmla="*/ 1 h 65"/>
              <a:gd name="T8" fmla="*/ 11 w 17"/>
              <a:gd name="T9" fmla="*/ 1 h 65"/>
              <a:gd name="T10" fmla="*/ 9 w 17"/>
              <a:gd name="T11" fmla="*/ 0 h 65"/>
              <a:gd name="T12" fmla="*/ 6 w 17"/>
              <a:gd name="T13" fmla="*/ 1 h 65"/>
              <a:gd name="T14" fmla="*/ 2 w 17"/>
              <a:gd name="T15" fmla="*/ 2 h 65"/>
              <a:gd name="T16" fmla="*/ 0 w 17"/>
              <a:gd name="T17" fmla="*/ 3 h 65"/>
              <a:gd name="T18" fmla="*/ 0 w 17"/>
              <a:gd name="T19" fmla="*/ 65 h 65"/>
              <a:gd name="T20" fmla="*/ 0 w 17"/>
              <a:gd name="T21" fmla="*/ 65 h 65"/>
              <a:gd name="T22" fmla="*/ 1 w 17"/>
              <a:gd name="T23" fmla="*/ 65 h 65"/>
              <a:gd name="T24" fmla="*/ 3 w 17"/>
              <a:gd name="T25" fmla="*/ 65 h 65"/>
              <a:gd name="T26" fmla="*/ 6 w 17"/>
              <a:gd name="T27" fmla="*/ 64 h 65"/>
              <a:gd name="T28" fmla="*/ 8 w 17"/>
              <a:gd name="T29" fmla="*/ 64 h 65"/>
              <a:gd name="T30" fmla="*/ 11 w 17"/>
              <a:gd name="T31" fmla="*/ 63 h 65"/>
              <a:gd name="T32" fmla="*/ 14 w 17"/>
              <a:gd name="T33" fmla="*/ 61 h 65"/>
              <a:gd name="T34" fmla="*/ 17 w 17"/>
              <a:gd name="T35" fmla="*/ 58 h 65"/>
              <a:gd name="T36" fmla="*/ 17 w 17"/>
              <a:gd name="T37" fmla="*/ 2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7" h="65">
                <a:moveTo>
                  <a:pt x="17" y="2"/>
                </a:moveTo>
                <a:lnTo>
                  <a:pt x="17" y="2"/>
                </a:lnTo>
                <a:lnTo>
                  <a:pt x="16" y="1"/>
                </a:lnTo>
                <a:lnTo>
                  <a:pt x="14" y="1"/>
                </a:lnTo>
                <a:lnTo>
                  <a:pt x="11" y="1"/>
                </a:lnTo>
                <a:lnTo>
                  <a:pt x="9" y="0"/>
                </a:lnTo>
                <a:lnTo>
                  <a:pt x="6" y="1"/>
                </a:lnTo>
                <a:lnTo>
                  <a:pt x="2" y="2"/>
                </a:lnTo>
                <a:lnTo>
                  <a:pt x="0" y="3"/>
                </a:lnTo>
                <a:lnTo>
                  <a:pt x="0" y="65"/>
                </a:lnTo>
                <a:lnTo>
                  <a:pt x="0" y="65"/>
                </a:lnTo>
                <a:lnTo>
                  <a:pt x="1" y="65"/>
                </a:lnTo>
                <a:lnTo>
                  <a:pt x="3" y="65"/>
                </a:lnTo>
                <a:lnTo>
                  <a:pt x="6" y="64"/>
                </a:lnTo>
                <a:lnTo>
                  <a:pt x="8" y="64"/>
                </a:lnTo>
                <a:lnTo>
                  <a:pt x="11" y="63"/>
                </a:lnTo>
                <a:lnTo>
                  <a:pt x="14" y="61"/>
                </a:lnTo>
                <a:lnTo>
                  <a:pt x="17" y="58"/>
                </a:lnTo>
                <a:lnTo>
                  <a:pt x="17" y="2"/>
                </a:lnTo>
                <a:close/>
              </a:path>
            </a:pathLst>
          </a:custGeom>
          <a:solidFill>
            <a:srgbClr val="BC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Freeform 28"/>
          <p:cNvSpPr>
            <a:spLocks/>
          </p:cNvSpPr>
          <p:nvPr/>
        </p:nvSpPr>
        <p:spPr bwMode="auto">
          <a:xfrm>
            <a:off x="2820987" y="3729038"/>
            <a:ext cx="22225" cy="74612"/>
          </a:xfrm>
          <a:custGeom>
            <a:avLst/>
            <a:gdLst>
              <a:gd name="T0" fmla="*/ 14 w 14"/>
              <a:gd name="T1" fmla="*/ 1 h 47"/>
              <a:gd name="T2" fmla="*/ 14 w 14"/>
              <a:gd name="T3" fmla="*/ 1 h 47"/>
              <a:gd name="T4" fmla="*/ 13 w 14"/>
              <a:gd name="T5" fmla="*/ 1 h 47"/>
              <a:gd name="T6" fmla="*/ 11 w 14"/>
              <a:gd name="T7" fmla="*/ 1 h 47"/>
              <a:gd name="T8" fmla="*/ 9 w 14"/>
              <a:gd name="T9" fmla="*/ 0 h 47"/>
              <a:gd name="T10" fmla="*/ 8 w 14"/>
              <a:gd name="T11" fmla="*/ 0 h 47"/>
              <a:gd name="T12" fmla="*/ 6 w 14"/>
              <a:gd name="T13" fmla="*/ 1 h 47"/>
              <a:gd name="T14" fmla="*/ 2 w 14"/>
              <a:gd name="T15" fmla="*/ 1 h 47"/>
              <a:gd name="T16" fmla="*/ 0 w 14"/>
              <a:gd name="T17" fmla="*/ 4 h 47"/>
              <a:gd name="T18" fmla="*/ 0 w 14"/>
              <a:gd name="T19" fmla="*/ 47 h 47"/>
              <a:gd name="T20" fmla="*/ 1 w 14"/>
              <a:gd name="T21" fmla="*/ 47 h 47"/>
              <a:gd name="T22" fmla="*/ 1 w 14"/>
              <a:gd name="T23" fmla="*/ 46 h 47"/>
              <a:gd name="T24" fmla="*/ 3 w 14"/>
              <a:gd name="T25" fmla="*/ 46 h 47"/>
              <a:gd name="T26" fmla="*/ 4 w 14"/>
              <a:gd name="T27" fmla="*/ 46 h 47"/>
              <a:gd name="T28" fmla="*/ 7 w 14"/>
              <a:gd name="T29" fmla="*/ 44 h 47"/>
              <a:gd name="T30" fmla="*/ 9 w 14"/>
              <a:gd name="T31" fmla="*/ 44 h 47"/>
              <a:gd name="T32" fmla="*/ 11 w 14"/>
              <a:gd name="T33" fmla="*/ 43 h 47"/>
              <a:gd name="T34" fmla="*/ 14 w 14"/>
              <a:gd name="T35" fmla="*/ 41 h 47"/>
              <a:gd name="T36" fmla="*/ 14 w 14"/>
              <a:gd name="T37" fmla="*/ 1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" h="47">
                <a:moveTo>
                  <a:pt x="14" y="1"/>
                </a:move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0"/>
                </a:lnTo>
                <a:lnTo>
                  <a:pt x="8" y="0"/>
                </a:lnTo>
                <a:lnTo>
                  <a:pt x="6" y="1"/>
                </a:lnTo>
                <a:lnTo>
                  <a:pt x="2" y="1"/>
                </a:lnTo>
                <a:lnTo>
                  <a:pt x="0" y="4"/>
                </a:lnTo>
                <a:lnTo>
                  <a:pt x="0" y="47"/>
                </a:lnTo>
                <a:lnTo>
                  <a:pt x="1" y="47"/>
                </a:lnTo>
                <a:lnTo>
                  <a:pt x="1" y="46"/>
                </a:lnTo>
                <a:lnTo>
                  <a:pt x="3" y="46"/>
                </a:lnTo>
                <a:lnTo>
                  <a:pt x="4" y="46"/>
                </a:lnTo>
                <a:lnTo>
                  <a:pt x="7" y="44"/>
                </a:lnTo>
                <a:lnTo>
                  <a:pt x="9" y="44"/>
                </a:lnTo>
                <a:lnTo>
                  <a:pt x="11" y="43"/>
                </a:lnTo>
                <a:lnTo>
                  <a:pt x="14" y="41"/>
                </a:lnTo>
                <a:lnTo>
                  <a:pt x="14" y="1"/>
                </a:lnTo>
                <a:close/>
              </a:path>
            </a:pathLst>
          </a:custGeom>
          <a:solidFill>
            <a:srgbClr val="D1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Freeform 29"/>
          <p:cNvSpPr>
            <a:spLocks/>
          </p:cNvSpPr>
          <p:nvPr/>
        </p:nvSpPr>
        <p:spPr bwMode="auto">
          <a:xfrm>
            <a:off x="2822575" y="3730625"/>
            <a:ext cx="14287" cy="42863"/>
          </a:xfrm>
          <a:custGeom>
            <a:avLst/>
            <a:gdLst>
              <a:gd name="T0" fmla="*/ 9 w 9"/>
              <a:gd name="T1" fmla="*/ 1 h 27"/>
              <a:gd name="T2" fmla="*/ 9 w 9"/>
              <a:gd name="T3" fmla="*/ 1 h 27"/>
              <a:gd name="T4" fmla="*/ 8 w 9"/>
              <a:gd name="T5" fmla="*/ 1 h 27"/>
              <a:gd name="T6" fmla="*/ 7 w 9"/>
              <a:gd name="T7" fmla="*/ 1 h 27"/>
              <a:gd name="T8" fmla="*/ 6 w 9"/>
              <a:gd name="T9" fmla="*/ 0 h 27"/>
              <a:gd name="T10" fmla="*/ 5 w 9"/>
              <a:gd name="T11" fmla="*/ 0 h 27"/>
              <a:gd name="T12" fmla="*/ 3 w 9"/>
              <a:gd name="T13" fmla="*/ 0 h 27"/>
              <a:gd name="T14" fmla="*/ 1 w 9"/>
              <a:gd name="T15" fmla="*/ 1 h 27"/>
              <a:gd name="T16" fmla="*/ 0 w 9"/>
              <a:gd name="T17" fmla="*/ 3 h 27"/>
              <a:gd name="T18" fmla="*/ 0 w 9"/>
              <a:gd name="T19" fmla="*/ 27 h 27"/>
              <a:gd name="T20" fmla="*/ 0 w 9"/>
              <a:gd name="T21" fmla="*/ 27 h 27"/>
              <a:gd name="T22" fmla="*/ 1 w 9"/>
              <a:gd name="T23" fmla="*/ 27 h 27"/>
              <a:gd name="T24" fmla="*/ 2 w 9"/>
              <a:gd name="T25" fmla="*/ 27 h 27"/>
              <a:gd name="T26" fmla="*/ 3 w 9"/>
              <a:gd name="T27" fmla="*/ 27 h 27"/>
              <a:gd name="T28" fmla="*/ 5 w 9"/>
              <a:gd name="T29" fmla="*/ 26 h 27"/>
              <a:gd name="T30" fmla="*/ 6 w 9"/>
              <a:gd name="T31" fmla="*/ 26 h 27"/>
              <a:gd name="T32" fmla="*/ 8 w 9"/>
              <a:gd name="T33" fmla="*/ 25 h 27"/>
              <a:gd name="T34" fmla="*/ 9 w 9"/>
              <a:gd name="T35" fmla="*/ 24 h 27"/>
              <a:gd name="T36" fmla="*/ 9 w 9"/>
              <a:gd name="T37" fmla="*/ 1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" h="27">
                <a:moveTo>
                  <a:pt x="9" y="1"/>
                </a:moveTo>
                <a:lnTo>
                  <a:pt x="9" y="1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3" y="0"/>
                </a:lnTo>
                <a:lnTo>
                  <a:pt x="1" y="1"/>
                </a:lnTo>
                <a:lnTo>
                  <a:pt x="0" y="3"/>
                </a:lnTo>
                <a:lnTo>
                  <a:pt x="0" y="27"/>
                </a:lnTo>
                <a:lnTo>
                  <a:pt x="0" y="27"/>
                </a:lnTo>
                <a:lnTo>
                  <a:pt x="1" y="27"/>
                </a:lnTo>
                <a:lnTo>
                  <a:pt x="2" y="27"/>
                </a:lnTo>
                <a:lnTo>
                  <a:pt x="3" y="27"/>
                </a:lnTo>
                <a:lnTo>
                  <a:pt x="5" y="26"/>
                </a:lnTo>
                <a:lnTo>
                  <a:pt x="6" y="26"/>
                </a:lnTo>
                <a:lnTo>
                  <a:pt x="8" y="25"/>
                </a:lnTo>
                <a:lnTo>
                  <a:pt x="9" y="24"/>
                </a:lnTo>
                <a:lnTo>
                  <a:pt x="9" y="1"/>
                </a:lnTo>
                <a:close/>
              </a:path>
            </a:pathLst>
          </a:custGeom>
          <a:solidFill>
            <a:srgbClr val="E5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Freeform 30"/>
          <p:cNvSpPr>
            <a:spLocks/>
          </p:cNvSpPr>
          <p:nvPr/>
        </p:nvSpPr>
        <p:spPr bwMode="auto">
          <a:xfrm>
            <a:off x="2998787" y="3852863"/>
            <a:ext cx="22225" cy="20637"/>
          </a:xfrm>
          <a:custGeom>
            <a:avLst/>
            <a:gdLst>
              <a:gd name="T0" fmla="*/ 7 w 14"/>
              <a:gd name="T1" fmla="*/ 13 h 13"/>
              <a:gd name="T2" fmla="*/ 8 w 14"/>
              <a:gd name="T3" fmla="*/ 13 h 13"/>
              <a:gd name="T4" fmla="*/ 9 w 14"/>
              <a:gd name="T5" fmla="*/ 13 h 13"/>
              <a:gd name="T6" fmla="*/ 10 w 14"/>
              <a:gd name="T7" fmla="*/ 12 h 13"/>
              <a:gd name="T8" fmla="*/ 11 w 14"/>
              <a:gd name="T9" fmla="*/ 11 h 13"/>
              <a:gd name="T10" fmla="*/ 13 w 14"/>
              <a:gd name="T11" fmla="*/ 11 h 13"/>
              <a:gd name="T12" fmla="*/ 13 w 14"/>
              <a:gd name="T13" fmla="*/ 10 h 13"/>
              <a:gd name="T14" fmla="*/ 14 w 14"/>
              <a:gd name="T15" fmla="*/ 7 h 13"/>
              <a:gd name="T16" fmla="*/ 14 w 14"/>
              <a:gd name="T17" fmla="*/ 6 h 13"/>
              <a:gd name="T18" fmla="*/ 14 w 14"/>
              <a:gd name="T19" fmla="*/ 5 h 13"/>
              <a:gd name="T20" fmla="*/ 13 w 14"/>
              <a:gd name="T21" fmla="*/ 4 h 13"/>
              <a:gd name="T22" fmla="*/ 13 w 14"/>
              <a:gd name="T23" fmla="*/ 3 h 13"/>
              <a:gd name="T24" fmla="*/ 11 w 14"/>
              <a:gd name="T25" fmla="*/ 2 h 13"/>
              <a:gd name="T26" fmla="*/ 10 w 14"/>
              <a:gd name="T27" fmla="*/ 0 h 13"/>
              <a:gd name="T28" fmla="*/ 9 w 14"/>
              <a:gd name="T29" fmla="*/ 0 h 13"/>
              <a:gd name="T30" fmla="*/ 8 w 14"/>
              <a:gd name="T31" fmla="*/ 0 h 13"/>
              <a:gd name="T32" fmla="*/ 7 w 14"/>
              <a:gd name="T33" fmla="*/ 0 h 13"/>
              <a:gd name="T34" fmla="*/ 6 w 14"/>
              <a:gd name="T35" fmla="*/ 0 h 13"/>
              <a:gd name="T36" fmla="*/ 4 w 14"/>
              <a:gd name="T37" fmla="*/ 0 h 13"/>
              <a:gd name="T38" fmla="*/ 3 w 14"/>
              <a:gd name="T39" fmla="*/ 0 h 13"/>
              <a:gd name="T40" fmla="*/ 2 w 14"/>
              <a:gd name="T41" fmla="*/ 2 h 13"/>
              <a:gd name="T42" fmla="*/ 1 w 14"/>
              <a:gd name="T43" fmla="*/ 3 h 13"/>
              <a:gd name="T44" fmla="*/ 1 w 14"/>
              <a:gd name="T45" fmla="*/ 4 h 13"/>
              <a:gd name="T46" fmla="*/ 0 w 14"/>
              <a:gd name="T47" fmla="*/ 5 h 13"/>
              <a:gd name="T48" fmla="*/ 0 w 14"/>
              <a:gd name="T49" fmla="*/ 6 h 13"/>
              <a:gd name="T50" fmla="*/ 0 w 14"/>
              <a:gd name="T51" fmla="*/ 7 h 13"/>
              <a:gd name="T52" fmla="*/ 1 w 14"/>
              <a:gd name="T53" fmla="*/ 10 h 13"/>
              <a:gd name="T54" fmla="*/ 1 w 14"/>
              <a:gd name="T55" fmla="*/ 11 h 13"/>
              <a:gd name="T56" fmla="*/ 2 w 14"/>
              <a:gd name="T57" fmla="*/ 11 h 13"/>
              <a:gd name="T58" fmla="*/ 3 w 14"/>
              <a:gd name="T59" fmla="*/ 12 h 13"/>
              <a:gd name="T60" fmla="*/ 4 w 14"/>
              <a:gd name="T61" fmla="*/ 13 h 13"/>
              <a:gd name="T62" fmla="*/ 6 w 14"/>
              <a:gd name="T63" fmla="*/ 13 h 13"/>
              <a:gd name="T64" fmla="*/ 7 w 14"/>
              <a:gd name="T65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4" h="13">
                <a:moveTo>
                  <a:pt x="7" y="13"/>
                </a:moveTo>
                <a:lnTo>
                  <a:pt x="8" y="13"/>
                </a:lnTo>
                <a:lnTo>
                  <a:pt x="9" y="13"/>
                </a:lnTo>
                <a:lnTo>
                  <a:pt x="10" y="12"/>
                </a:lnTo>
                <a:lnTo>
                  <a:pt x="11" y="11"/>
                </a:lnTo>
                <a:lnTo>
                  <a:pt x="13" y="11"/>
                </a:lnTo>
                <a:lnTo>
                  <a:pt x="13" y="10"/>
                </a:lnTo>
                <a:lnTo>
                  <a:pt x="14" y="7"/>
                </a:lnTo>
                <a:lnTo>
                  <a:pt x="14" y="6"/>
                </a:lnTo>
                <a:lnTo>
                  <a:pt x="14" y="5"/>
                </a:lnTo>
                <a:lnTo>
                  <a:pt x="13" y="4"/>
                </a:lnTo>
                <a:lnTo>
                  <a:pt x="13" y="3"/>
                </a:lnTo>
                <a:lnTo>
                  <a:pt x="11" y="2"/>
                </a:lnTo>
                <a:lnTo>
                  <a:pt x="10" y="0"/>
                </a:lnTo>
                <a:lnTo>
                  <a:pt x="9" y="0"/>
                </a:lnTo>
                <a:lnTo>
                  <a:pt x="8" y="0"/>
                </a:lnTo>
                <a:lnTo>
                  <a:pt x="7" y="0"/>
                </a:lnTo>
                <a:lnTo>
                  <a:pt x="6" y="0"/>
                </a:lnTo>
                <a:lnTo>
                  <a:pt x="4" y="0"/>
                </a:lnTo>
                <a:lnTo>
                  <a:pt x="3" y="0"/>
                </a:lnTo>
                <a:lnTo>
                  <a:pt x="2" y="2"/>
                </a:lnTo>
                <a:lnTo>
                  <a:pt x="1" y="3"/>
                </a:lnTo>
                <a:lnTo>
                  <a:pt x="1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10"/>
                </a:lnTo>
                <a:lnTo>
                  <a:pt x="1" y="11"/>
                </a:lnTo>
                <a:lnTo>
                  <a:pt x="2" y="11"/>
                </a:lnTo>
                <a:lnTo>
                  <a:pt x="3" y="12"/>
                </a:lnTo>
                <a:lnTo>
                  <a:pt x="4" y="13"/>
                </a:lnTo>
                <a:lnTo>
                  <a:pt x="6" y="13"/>
                </a:lnTo>
                <a:lnTo>
                  <a:pt x="7" y="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Freeform 31"/>
          <p:cNvSpPr>
            <a:spLocks/>
          </p:cNvSpPr>
          <p:nvPr/>
        </p:nvSpPr>
        <p:spPr bwMode="auto">
          <a:xfrm>
            <a:off x="2933700" y="3852863"/>
            <a:ext cx="11112" cy="11112"/>
          </a:xfrm>
          <a:custGeom>
            <a:avLst/>
            <a:gdLst>
              <a:gd name="T0" fmla="*/ 3 w 7"/>
              <a:gd name="T1" fmla="*/ 7 h 7"/>
              <a:gd name="T2" fmla="*/ 5 w 7"/>
              <a:gd name="T3" fmla="*/ 6 h 7"/>
              <a:gd name="T4" fmla="*/ 6 w 7"/>
              <a:gd name="T5" fmla="*/ 6 h 7"/>
              <a:gd name="T6" fmla="*/ 6 w 7"/>
              <a:gd name="T7" fmla="*/ 5 h 7"/>
              <a:gd name="T8" fmla="*/ 7 w 7"/>
              <a:gd name="T9" fmla="*/ 4 h 7"/>
              <a:gd name="T10" fmla="*/ 6 w 7"/>
              <a:gd name="T11" fmla="*/ 2 h 7"/>
              <a:gd name="T12" fmla="*/ 6 w 7"/>
              <a:gd name="T13" fmla="*/ 2 h 7"/>
              <a:gd name="T14" fmla="*/ 5 w 7"/>
              <a:gd name="T15" fmla="*/ 0 h 7"/>
              <a:gd name="T16" fmla="*/ 3 w 7"/>
              <a:gd name="T17" fmla="*/ 0 h 7"/>
              <a:gd name="T18" fmla="*/ 2 w 7"/>
              <a:gd name="T19" fmla="*/ 0 h 7"/>
              <a:gd name="T20" fmla="*/ 1 w 7"/>
              <a:gd name="T21" fmla="*/ 2 h 7"/>
              <a:gd name="T22" fmla="*/ 0 w 7"/>
              <a:gd name="T23" fmla="*/ 2 h 7"/>
              <a:gd name="T24" fmla="*/ 0 w 7"/>
              <a:gd name="T25" fmla="*/ 4 h 7"/>
              <a:gd name="T26" fmla="*/ 0 w 7"/>
              <a:gd name="T27" fmla="*/ 5 h 7"/>
              <a:gd name="T28" fmla="*/ 1 w 7"/>
              <a:gd name="T29" fmla="*/ 6 h 7"/>
              <a:gd name="T30" fmla="*/ 2 w 7"/>
              <a:gd name="T31" fmla="*/ 6 h 7"/>
              <a:gd name="T32" fmla="*/ 3 w 7"/>
              <a:gd name="T33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7" h="7">
                <a:moveTo>
                  <a:pt x="3" y="7"/>
                </a:moveTo>
                <a:lnTo>
                  <a:pt x="5" y="6"/>
                </a:lnTo>
                <a:lnTo>
                  <a:pt x="6" y="6"/>
                </a:lnTo>
                <a:lnTo>
                  <a:pt x="6" y="5"/>
                </a:lnTo>
                <a:lnTo>
                  <a:pt x="7" y="4"/>
                </a:lnTo>
                <a:lnTo>
                  <a:pt x="6" y="2"/>
                </a:lnTo>
                <a:lnTo>
                  <a:pt x="6" y="2"/>
                </a:lnTo>
                <a:lnTo>
                  <a:pt x="5" y="0"/>
                </a:lnTo>
                <a:lnTo>
                  <a:pt x="3" y="0"/>
                </a:lnTo>
                <a:lnTo>
                  <a:pt x="2" y="0"/>
                </a:lnTo>
                <a:lnTo>
                  <a:pt x="1" y="2"/>
                </a:lnTo>
                <a:lnTo>
                  <a:pt x="0" y="2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2" y="6"/>
                </a:lnTo>
                <a:lnTo>
                  <a:pt x="3" y="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Freeform 32"/>
          <p:cNvSpPr>
            <a:spLocks/>
          </p:cNvSpPr>
          <p:nvPr/>
        </p:nvSpPr>
        <p:spPr bwMode="auto">
          <a:xfrm>
            <a:off x="2952750" y="3852863"/>
            <a:ext cx="7937" cy="11112"/>
          </a:xfrm>
          <a:custGeom>
            <a:avLst/>
            <a:gdLst>
              <a:gd name="T0" fmla="*/ 3 w 5"/>
              <a:gd name="T1" fmla="*/ 7 h 7"/>
              <a:gd name="T2" fmla="*/ 4 w 5"/>
              <a:gd name="T3" fmla="*/ 7 h 7"/>
              <a:gd name="T4" fmla="*/ 5 w 5"/>
              <a:gd name="T5" fmla="*/ 6 h 7"/>
              <a:gd name="T6" fmla="*/ 5 w 5"/>
              <a:gd name="T7" fmla="*/ 5 h 7"/>
              <a:gd name="T8" fmla="*/ 5 w 5"/>
              <a:gd name="T9" fmla="*/ 4 h 7"/>
              <a:gd name="T10" fmla="*/ 5 w 5"/>
              <a:gd name="T11" fmla="*/ 3 h 7"/>
              <a:gd name="T12" fmla="*/ 5 w 5"/>
              <a:gd name="T13" fmla="*/ 2 h 7"/>
              <a:gd name="T14" fmla="*/ 4 w 5"/>
              <a:gd name="T15" fmla="*/ 0 h 7"/>
              <a:gd name="T16" fmla="*/ 3 w 5"/>
              <a:gd name="T17" fmla="*/ 0 h 7"/>
              <a:gd name="T18" fmla="*/ 2 w 5"/>
              <a:gd name="T19" fmla="*/ 0 h 7"/>
              <a:gd name="T20" fmla="*/ 1 w 5"/>
              <a:gd name="T21" fmla="*/ 2 h 7"/>
              <a:gd name="T22" fmla="*/ 0 w 5"/>
              <a:gd name="T23" fmla="*/ 3 h 7"/>
              <a:gd name="T24" fmla="*/ 0 w 5"/>
              <a:gd name="T25" fmla="*/ 4 h 7"/>
              <a:gd name="T26" fmla="*/ 0 w 5"/>
              <a:gd name="T27" fmla="*/ 5 h 7"/>
              <a:gd name="T28" fmla="*/ 1 w 5"/>
              <a:gd name="T29" fmla="*/ 6 h 7"/>
              <a:gd name="T30" fmla="*/ 2 w 5"/>
              <a:gd name="T31" fmla="*/ 7 h 7"/>
              <a:gd name="T32" fmla="*/ 3 w 5"/>
              <a:gd name="T33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" h="7">
                <a:moveTo>
                  <a:pt x="3" y="7"/>
                </a:moveTo>
                <a:lnTo>
                  <a:pt x="4" y="7"/>
                </a:lnTo>
                <a:lnTo>
                  <a:pt x="5" y="6"/>
                </a:lnTo>
                <a:lnTo>
                  <a:pt x="5" y="5"/>
                </a:lnTo>
                <a:lnTo>
                  <a:pt x="5" y="4"/>
                </a:lnTo>
                <a:lnTo>
                  <a:pt x="5" y="3"/>
                </a:lnTo>
                <a:lnTo>
                  <a:pt x="5" y="2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2" y="7"/>
                </a:lnTo>
                <a:lnTo>
                  <a:pt x="3" y="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Freeform 33"/>
          <p:cNvSpPr>
            <a:spLocks/>
          </p:cNvSpPr>
          <p:nvPr/>
        </p:nvSpPr>
        <p:spPr bwMode="auto">
          <a:xfrm>
            <a:off x="2879725" y="3706813"/>
            <a:ext cx="30162" cy="146050"/>
          </a:xfrm>
          <a:custGeom>
            <a:avLst/>
            <a:gdLst>
              <a:gd name="T0" fmla="*/ 6 w 19"/>
              <a:gd name="T1" fmla="*/ 1 h 92"/>
              <a:gd name="T2" fmla="*/ 6 w 19"/>
              <a:gd name="T3" fmla="*/ 4 h 92"/>
              <a:gd name="T4" fmla="*/ 4 w 19"/>
              <a:gd name="T5" fmla="*/ 8 h 92"/>
              <a:gd name="T6" fmla="*/ 2 w 19"/>
              <a:gd name="T7" fmla="*/ 16 h 92"/>
              <a:gd name="T8" fmla="*/ 1 w 19"/>
              <a:gd name="T9" fmla="*/ 28 h 92"/>
              <a:gd name="T10" fmla="*/ 0 w 19"/>
              <a:gd name="T11" fmla="*/ 41 h 92"/>
              <a:gd name="T12" fmla="*/ 0 w 19"/>
              <a:gd name="T13" fmla="*/ 56 h 92"/>
              <a:gd name="T14" fmla="*/ 1 w 19"/>
              <a:gd name="T15" fmla="*/ 74 h 92"/>
              <a:gd name="T16" fmla="*/ 5 w 19"/>
              <a:gd name="T17" fmla="*/ 92 h 92"/>
              <a:gd name="T18" fmla="*/ 19 w 19"/>
              <a:gd name="T19" fmla="*/ 91 h 92"/>
              <a:gd name="T20" fmla="*/ 18 w 19"/>
              <a:gd name="T21" fmla="*/ 89 h 92"/>
              <a:gd name="T22" fmla="*/ 16 w 19"/>
              <a:gd name="T23" fmla="*/ 81 h 92"/>
              <a:gd name="T24" fmla="*/ 15 w 19"/>
              <a:gd name="T25" fmla="*/ 70 h 92"/>
              <a:gd name="T26" fmla="*/ 14 w 19"/>
              <a:gd name="T27" fmla="*/ 56 h 92"/>
              <a:gd name="T28" fmla="*/ 13 w 19"/>
              <a:gd name="T29" fmla="*/ 42 h 92"/>
              <a:gd name="T30" fmla="*/ 13 w 19"/>
              <a:gd name="T31" fmla="*/ 27 h 92"/>
              <a:gd name="T32" fmla="*/ 15 w 19"/>
              <a:gd name="T33" fmla="*/ 13 h 92"/>
              <a:gd name="T34" fmla="*/ 19 w 19"/>
              <a:gd name="T35" fmla="*/ 1 h 92"/>
              <a:gd name="T36" fmla="*/ 19 w 19"/>
              <a:gd name="T37" fmla="*/ 0 h 92"/>
              <a:gd name="T38" fmla="*/ 19 w 19"/>
              <a:gd name="T39" fmla="*/ 0 h 92"/>
              <a:gd name="T40" fmla="*/ 19 w 19"/>
              <a:gd name="T41" fmla="*/ 0 h 92"/>
              <a:gd name="T42" fmla="*/ 18 w 19"/>
              <a:gd name="T43" fmla="*/ 0 h 92"/>
              <a:gd name="T44" fmla="*/ 16 w 19"/>
              <a:gd name="T45" fmla="*/ 0 h 92"/>
              <a:gd name="T46" fmla="*/ 14 w 19"/>
              <a:gd name="T47" fmla="*/ 0 h 92"/>
              <a:gd name="T48" fmla="*/ 11 w 19"/>
              <a:gd name="T49" fmla="*/ 0 h 92"/>
              <a:gd name="T50" fmla="*/ 6 w 19"/>
              <a:gd name="T51" fmla="*/ 1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9" h="92">
                <a:moveTo>
                  <a:pt x="6" y="1"/>
                </a:moveTo>
                <a:lnTo>
                  <a:pt x="6" y="4"/>
                </a:lnTo>
                <a:lnTo>
                  <a:pt x="4" y="8"/>
                </a:lnTo>
                <a:lnTo>
                  <a:pt x="2" y="16"/>
                </a:lnTo>
                <a:lnTo>
                  <a:pt x="1" y="28"/>
                </a:lnTo>
                <a:lnTo>
                  <a:pt x="0" y="41"/>
                </a:lnTo>
                <a:lnTo>
                  <a:pt x="0" y="56"/>
                </a:lnTo>
                <a:lnTo>
                  <a:pt x="1" y="74"/>
                </a:lnTo>
                <a:lnTo>
                  <a:pt x="5" y="92"/>
                </a:lnTo>
                <a:lnTo>
                  <a:pt x="19" y="91"/>
                </a:lnTo>
                <a:lnTo>
                  <a:pt x="18" y="89"/>
                </a:lnTo>
                <a:lnTo>
                  <a:pt x="16" y="81"/>
                </a:lnTo>
                <a:lnTo>
                  <a:pt x="15" y="70"/>
                </a:lnTo>
                <a:lnTo>
                  <a:pt x="14" y="56"/>
                </a:lnTo>
                <a:lnTo>
                  <a:pt x="13" y="42"/>
                </a:lnTo>
                <a:lnTo>
                  <a:pt x="13" y="27"/>
                </a:lnTo>
                <a:lnTo>
                  <a:pt x="15" y="13"/>
                </a:lnTo>
                <a:lnTo>
                  <a:pt x="19" y="1"/>
                </a:lnTo>
                <a:lnTo>
                  <a:pt x="19" y="0"/>
                </a:lnTo>
                <a:lnTo>
                  <a:pt x="19" y="0"/>
                </a:lnTo>
                <a:lnTo>
                  <a:pt x="19" y="0"/>
                </a:lnTo>
                <a:lnTo>
                  <a:pt x="18" y="0"/>
                </a:lnTo>
                <a:lnTo>
                  <a:pt x="16" y="0"/>
                </a:lnTo>
                <a:lnTo>
                  <a:pt x="14" y="0"/>
                </a:lnTo>
                <a:lnTo>
                  <a:pt x="11" y="0"/>
                </a:lnTo>
                <a:lnTo>
                  <a:pt x="6" y="1"/>
                </a:lnTo>
                <a:close/>
              </a:path>
            </a:pathLst>
          </a:custGeom>
          <a:solidFill>
            <a:srgbClr val="3F9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Freeform 34"/>
          <p:cNvSpPr>
            <a:spLocks/>
          </p:cNvSpPr>
          <p:nvPr/>
        </p:nvSpPr>
        <p:spPr bwMode="auto">
          <a:xfrm>
            <a:off x="3035300" y="3687763"/>
            <a:ext cx="42862" cy="163512"/>
          </a:xfrm>
          <a:custGeom>
            <a:avLst/>
            <a:gdLst>
              <a:gd name="T0" fmla="*/ 27 w 27"/>
              <a:gd name="T1" fmla="*/ 0 h 103"/>
              <a:gd name="T2" fmla="*/ 26 w 27"/>
              <a:gd name="T3" fmla="*/ 2 h 103"/>
              <a:gd name="T4" fmla="*/ 25 w 27"/>
              <a:gd name="T5" fmla="*/ 4 h 103"/>
              <a:gd name="T6" fmla="*/ 22 w 27"/>
              <a:gd name="T7" fmla="*/ 10 h 103"/>
              <a:gd name="T8" fmla="*/ 20 w 27"/>
              <a:gd name="T9" fmla="*/ 18 h 103"/>
              <a:gd name="T10" fmla="*/ 18 w 27"/>
              <a:gd name="T11" fmla="*/ 32 h 103"/>
              <a:gd name="T12" fmla="*/ 16 w 27"/>
              <a:gd name="T13" fmla="*/ 49 h 103"/>
              <a:gd name="T14" fmla="*/ 18 w 27"/>
              <a:gd name="T15" fmla="*/ 73 h 103"/>
              <a:gd name="T16" fmla="*/ 20 w 27"/>
              <a:gd name="T17" fmla="*/ 103 h 103"/>
              <a:gd name="T18" fmla="*/ 5 w 27"/>
              <a:gd name="T19" fmla="*/ 103 h 103"/>
              <a:gd name="T20" fmla="*/ 5 w 27"/>
              <a:gd name="T21" fmla="*/ 101 h 103"/>
              <a:gd name="T22" fmla="*/ 4 w 27"/>
              <a:gd name="T23" fmla="*/ 92 h 103"/>
              <a:gd name="T24" fmla="*/ 2 w 27"/>
              <a:gd name="T25" fmla="*/ 80 h 103"/>
              <a:gd name="T26" fmla="*/ 1 w 27"/>
              <a:gd name="T27" fmla="*/ 65 h 103"/>
              <a:gd name="T28" fmla="*/ 0 w 27"/>
              <a:gd name="T29" fmla="*/ 47 h 103"/>
              <a:gd name="T30" fmla="*/ 1 w 27"/>
              <a:gd name="T31" fmla="*/ 31 h 103"/>
              <a:gd name="T32" fmla="*/ 4 w 27"/>
              <a:gd name="T33" fmla="*/ 14 h 103"/>
              <a:gd name="T34" fmla="*/ 9 w 27"/>
              <a:gd name="T35" fmla="*/ 0 h 103"/>
              <a:gd name="T36" fmla="*/ 27 w 27"/>
              <a:gd name="T37" fmla="*/ 0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" h="103">
                <a:moveTo>
                  <a:pt x="27" y="0"/>
                </a:moveTo>
                <a:lnTo>
                  <a:pt x="26" y="2"/>
                </a:lnTo>
                <a:lnTo>
                  <a:pt x="25" y="4"/>
                </a:lnTo>
                <a:lnTo>
                  <a:pt x="22" y="10"/>
                </a:lnTo>
                <a:lnTo>
                  <a:pt x="20" y="18"/>
                </a:lnTo>
                <a:lnTo>
                  <a:pt x="18" y="32"/>
                </a:lnTo>
                <a:lnTo>
                  <a:pt x="16" y="49"/>
                </a:lnTo>
                <a:lnTo>
                  <a:pt x="18" y="73"/>
                </a:lnTo>
                <a:lnTo>
                  <a:pt x="20" y="103"/>
                </a:lnTo>
                <a:lnTo>
                  <a:pt x="5" y="103"/>
                </a:lnTo>
                <a:lnTo>
                  <a:pt x="5" y="101"/>
                </a:lnTo>
                <a:lnTo>
                  <a:pt x="4" y="92"/>
                </a:lnTo>
                <a:lnTo>
                  <a:pt x="2" y="80"/>
                </a:lnTo>
                <a:lnTo>
                  <a:pt x="1" y="65"/>
                </a:lnTo>
                <a:lnTo>
                  <a:pt x="0" y="47"/>
                </a:lnTo>
                <a:lnTo>
                  <a:pt x="1" y="31"/>
                </a:lnTo>
                <a:lnTo>
                  <a:pt x="4" y="14"/>
                </a:lnTo>
                <a:lnTo>
                  <a:pt x="9" y="0"/>
                </a:lnTo>
                <a:lnTo>
                  <a:pt x="27" y="0"/>
                </a:lnTo>
                <a:close/>
              </a:path>
            </a:pathLst>
          </a:custGeom>
          <a:solidFill>
            <a:srgbClr val="3F9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Freeform 35"/>
          <p:cNvSpPr>
            <a:spLocks/>
          </p:cNvSpPr>
          <p:nvPr/>
        </p:nvSpPr>
        <p:spPr bwMode="auto">
          <a:xfrm>
            <a:off x="2879725" y="3714750"/>
            <a:ext cx="28575" cy="127000"/>
          </a:xfrm>
          <a:custGeom>
            <a:avLst/>
            <a:gdLst>
              <a:gd name="T0" fmla="*/ 6 w 18"/>
              <a:gd name="T1" fmla="*/ 2 h 80"/>
              <a:gd name="T2" fmla="*/ 6 w 18"/>
              <a:gd name="T3" fmla="*/ 3 h 80"/>
              <a:gd name="T4" fmla="*/ 5 w 18"/>
              <a:gd name="T5" fmla="*/ 8 h 80"/>
              <a:gd name="T6" fmla="*/ 2 w 18"/>
              <a:gd name="T7" fmla="*/ 15 h 80"/>
              <a:gd name="T8" fmla="*/ 1 w 18"/>
              <a:gd name="T9" fmla="*/ 24 h 80"/>
              <a:gd name="T10" fmla="*/ 0 w 18"/>
              <a:gd name="T11" fmla="*/ 36 h 80"/>
              <a:gd name="T12" fmla="*/ 1 w 18"/>
              <a:gd name="T13" fmla="*/ 50 h 80"/>
              <a:gd name="T14" fmla="*/ 2 w 18"/>
              <a:gd name="T15" fmla="*/ 65 h 80"/>
              <a:gd name="T16" fmla="*/ 5 w 18"/>
              <a:gd name="T17" fmla="*/ 80 h 80"/>
              <a:gd name="T18" fmla="*/ 16 w 18"/>
              <a:gd name="T19" fmla="*/ 80 h 80"/>
              <a:gd name="T20" fmla="*/ 16 w 18"/>
              <a:gd name="T21" fmla="*/ 78 h 80"/>
              <a:gd name="T22" fmla="*/ 15 w 18"/>
              <a:gd name="T23" fmla="*/ 71 h 80"/>
              <a:gd name="T24" fmla="*/ 14 w 18"/>
              <a:gd name="T25" fmla="*/ 62 h 80"/>
              <a:gd name="T26" fmla="*/ 13 w 18"/>
              <a:gd name="T27" fmla="*/ 50 h 80"/>
              <a:gd name="T28" fmla="*/ 12 w 18"/>
              <a:gd name="T29" fmla="*/ 37 h 80"/>
              <a:gd name="T30" fmla="*/ 12 w 18"/>
              <a:gd name="T31" fmla="*/ 24 h 80"/>
              <a:gd name="T32" fmla="*/ 14 w 18"/>
              <a:gd name="T33" fmla="*/ 11 h 80"/>
              <a:gd name="T34" fmla="*/ 18 w 18"/>
              <a:gd name="T35" fmla="*/ 1 h 80"/>
              <a:gd name="T36" fmla="*/ 18 w 18"/>
              <a:gd name="T37" fmla="*/ 1 h 80"/>
              <a:gd name="T38" fmla="*/ 18 w 18"/>
              <a:gd name="T39" fmla="*/ 1 h 80"/>
              <a:gd name="T40" fmla="*/ 18 w 18"/>
              <a:gd name="T41" fmla="*/ 1 h 80"/>
              <a:gd name="T42" fmla="*/ 16 w 18"/>
              <a:gd name="T43" fmla="*/ 0 h 80"/>
              <a:gd name="T44" fmla="*/ 15 w 18"/>
              <a:gd name="T45" fmla="*/ 0 h 80"/>
              <a:gd name="T46" fmla="*/ 13 w 18"/>
              <a:gd name="T47" fmla="*/ 0 h 80"/>
              <a:gd name="T48" fmla="*/ 9 w 18"/>
              <a:gd name="T49" fmla="*/ 1 h 80"/>
              <a:gd name="T50" fmla="*/ 6 w 18"/>
              <a:gd name="T51" fmla="*/ 2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8" h="80">
                <a:moveTo>
                  <a:pt x="6" y="2"/>
                </a:moveTo>
                <a:lnTo>
                  <a:pt x="6" y="3"/>
                </a:lnTo>
                <a:lnTo>
                  <a:pt x="5" y="8"/>
                </a:lnTo>
                <a:lnTo>
                  <a:pt x="2" y="15"/>
                </a:lnTo>
                <a:lnTo>
                  <a:pt x="1" y="24"/>
                </a:lnTo>
                <a:lnTo>
                  <a:pt x="0" y="36"/>
                </a:lnTo>
                <a:lnTo>
                  <a:pt x="1" y="50"/>
                </a:lnTo>
                <a:lnTo>
                  <a:pt x="2" y="65"/>
                </a:lnTo>
                <a:lnTo>
                  <a:pt x="5" y="80"/>
                </a:lnTo>
                <a:lnTo>
                  <a:pt x="16" y="80"/>
                </a:lnTo>
                <a:lnTo>
                  <a:pt x="16" y="78"/>
                </a:lnTo>
                <a:lnTo>
                  <a:pt x="15" y="71"/>
                </a:lnTo>
                <a:lnTo>
                  <a:pt x="14" y="62"/>
                </a:lnTo>
                <a:lnTo>
                  <a:pt x="13" y="50"/>
                </a:lnTo>
                <a:lnTo>
                  <a:pt x="12" y="37"/>
                </a:lnTo>
                <a:lnTo>
                  <a:pt x="12" y="24"/>
                </a:lnTo>
                <a:lnTo>
                  <a:pt x="14" y="11"/>
                </a:lnTo>
                <a:lnTo>
                  <a:pt x="18" y="1"/>
                </a:lnTo>
                <a:lnTo>
                  <a:pt x="18" y="1"/>
                </a:lnTo>
                <a:lnTo>
                  <a:pt x="18" y="1"/>
                </a:lnTo>
                <a:lnTo>
                  <a:pt x="18" y="1"/>
                </a:lnTo>
                <a:lnTo>
                  <a:pt x="16" y="0"/>
                </a:lnTo>
                <a:lnTo>
                  <a:pt x="15" y="0"/>
                </a:lnTo>
                <a:lnTo>
                  <a:pt x="13" y="0"/>
                </a:lnTo>
                <a:lnTo>
                  <a:pt x="9" y="1"/>
                </a:lnTo>
                <a:lnTo>
                  <a:pt x="6" y="2"/>
                </a:lnTo>
                <a:close/>
              </a:path>
            </a:pathLst>
          </a:custGeom>
          <a:solidFill>
            <a:srgbClr val="59B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Freeform 36"/>
          <p:cNvSpPr>
            <a:spLocks/>
          </p:cNvSpPr>
          <p:nvPr/>
        </p:nvSpPr>
        <p:spPr bwMode="auto">
          <a:xfrm>
            <a:off x="2881312" y="3724275"/>
            <a:ext cx="22225" cy="109538"/>
          </a:xfrm>
          <a:custGeom>
            <a:avLst/>
            <a:gdLst>
              <a:gd name="T0" fmla="*/ 5 w 14"/>
              <a:gd name="T1" fmla="*/ 1 h 69"/>
              <a:gd name="T2" fmla="*/ 5 w 14"/>
              <a:gd name="T3" fmla="*/ 2 h 69"/>
              <a:gd name="T4" fmla="*/ 4 w 14"/>
              <a:gd name="T5" fmla="*/ 7 h 69"/>
              <a:gd name="T6" fmla="*/ 3 w 14"/>
              <a:gd name="T7" fmla="*/ 12 h 69"/>
              <a:gd name="T8" fmla="*/ 1 w 14"/>
              <a:gd name="T9" fmla="*/ 21 h 69"/>
              <a:gd name="T10" fmla="*/ 0 w 14"/>
              <a:gd name="T11" fmla="*/ 30 h 69"/>
              <a:gd name="T12" fmla="*/ 0 w 14"/>
              <a:gd name="T13" fmla="*/ 42 h 69"/>
              <a:gd name="T14" fmla="*/ 1 w 14"/>
              <a:gd name="T15" fmla="*/ 54 h 69"/>
              <a:gd name="T16" fmla="*/ 4 w 14"/>
              <a:gd name="T17" fmla="*/ 69 h 69"/>
              <a:gd name="T18" fmla="*/ 14 w 14"/>
              <a:gd name="T19" fmla="*/ 67 h 69"/>
              <a:gd name="T20" fmla="*/ 13 w 14"/>
              <a:gd name="T21" fmla="*/ 66 h 69"/>
              <a:gd name="T22" fmla="*/ 13 w 14"/>
              <a:gd name="T23" fmla="*/ 60 h 69"/>
              <a:gd name="T24" fmla="*/ 12 w 14"/>
              <a:gd name="T25" fmla="*/ 52 h 69"/>
              <a:gd name="T26" fmla="*/ 11 w 14"/>
              <a:gd name="T27" fmla="*/ 42 h 69"/>
              <a:gd name="T28" fmla="*/ 10 w 14"/>
              <a:gd name="T29" fmla="*/ 31 h 69"/>
              <a:gd name="T30" fmla="*/ 10 w 14"/>
              <a:gd name="T31" fmla="*/ 19 h 69"/>
              <a:gd name="T32" fmla="*/ 12 w 14"/>
              <a:gd name="T33" fmla="*/ 9 h 69"/>
              <a:gd name="T34" fmla="*/ 14 w 14"/>
              <a:gd name="T35" fmla="*/ 1 h 69"/>
              <a:gd name="T36" fmla="*/ 14 w 14"/>
              <a:gd name="T37" fmla="*/ 1 h 69"/>
              <a:gd name="T38" fmla="*/ 14 w 14"/>
              <a:gd name="T39" fmla="*/ 0 h 69"/>
              <a:gd name="T40" fmla="*/ 14 w 14"/>
              <a:gd name="T41" fmla="*/ 0 h 69"/>
              <a:gd name="T42" fmla="*/ 14 w 14"/>
              <a:gd name="T43" fmla="*/ 0 h 69"/>
              <a:gd name="T44" fmla="*/ 13 w 14"/>
              <a:gd name="T45" fmla="*/ 0 h 69"/>
              <a:gd name="T46" fmla="*/ 11 w 14"/>
              <a:gd name="T47" fmla="*/ 0 h 69"/>
              <a:gd name="T48" fmla="*/ 8 w 14"/>
              <a:gd name="T49" fmla="*/ 0 h 69"/>
              <a:gd name="T50" fmla="*/ 5 w 14"/>
              <a:gd name="T51" fmla="*/ 1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" h="69">
                <a:moveTo>
                  <a:pt x="5" y="1"/>
                </a:moveTo>
                <a:lnTo>
                  <a:pt x="5" y="2"/>
                </a:lnTo>
                <a:lnTo>
                  <a:pt x="4" y="7"/>
                </a:lnTo>
                <a:lnTo>
                  <a:pt x="3" y="12"/>
                </a:lnTo>
                <a:lnTo>
                  <a:pt x="1" y="21"/>
                </a:lnTo>
                <a:lnTo>
                  <a:pt x="0" y="30"/>
                </a:lnTo>
                <a:lnTo>
                  <a:pt x="0" y="42"/>
                </a:lnTo>
                <a:lnTo>
                  <a:pt x="1" y="54"/>
                </a:lnTo>
                <a:lnTo>
                  <a:pt x="4" y="69"/>
                </a:lnTo>
                <a:lnTo>
                  <a:pt x="14" y="67"/>
                </a:lnTo>
                <a:lnTo>
                  <a:pt x="13" y="66"/>
                </a:lnTo>
                <a:lnTo>
                  <a:pt x="13" y="60"/>
                </a:lnTo>
                <a:lnTo>
                  <a:pt x="12" y="52"/>
                </a:lnTo>
                <a:lnTo>
                  <a:pt x="11" y="42"/>
                </a:lnTo>
                <a:lnTo>
                  <a:pt x="10" y="31"/>
                </a:lnTo>
                <a:lnTo>
                  <a:pt x="10" y="19"/>
                </a:lnTo>
                <a:lnTo>
                  <a:pt x="12" y="9"/>
                </a:lnTo>
                <a:lnTo>
                  <a:pt x="14" y="1"/>
                </a:lnTo>
                <a:lnTo>
                  <a:pt x="14" y="1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3" y="0"/>
                </a:lnTo>
                <a:lnTo>
                  <a:pt x="11" y="0"/>
                </a:lnTo>
                <a:lnTo>
                  <a:pt x="8" y="0"/>
                </a:lnTo>
                <a:lnTo>
                  <a:pt x="5" y="1"/>
                </a:lnTo>
                <a:close/>
              </a:path>
            </a:pathLst>
          </a:custGeom>
          <a:solidFill>
            <a:srgbClr val="72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Freeform 37"/>
          <p:cNvSpPr>
            <a:spLocks/>
          </p:cNvSpPr>
          <p:nvPr/>
        </p:nvSpPr>
        <p:spPr bwMode="auto">
          <a:xfrm>
            <a:off x="2882900" y="3732213"/>
            <a:ext cx="19050" cy="88900"/>
          </a:xfrm>
          <a:custGeom>
            <a:avLst/>
            <a:gdLst>
              <a:gd name="T0" fmla="*/ 4 w 12"/>
              <a:gd name="T1" fmla="*/ 2 h 56"/>
              <a:gd name="T2" fmla="*/ 3 w 12"/>
              <a:gd name="T3" fmla="*/ 2 h 56"/>
              <a:gd name="T4" fmla="*/ 3 w 12"/>
              <a:gd name="T5" fmla="*/ 5 h 56"/>
              <a:gd name="T6" fmla="*/ 2 w 12"/>
              <a:gd name="T7" fmla="*/ 11 h 56"/>
              <a:gd name="T8" fmla="*/ 0 w 12"/>
              <a:gd name="T9" fmla="*/ 17 h 56"/>
              <a:gd name="T10" fmla="*/ 0 w 12"/>
              <a:gd name="T11" fmla="*/ 25 h 56"/>
              <a:gd name="T12" fmla="*/ 0 w 12"/>
              <a:gd name="T13" fmla="*/ 35 h 56"/>
              <a:gd name="T14" fmla="*/ 2 w 12"/>
              <a:gd name="T15" fmla="*/ 46 h 56"/>
              <a:gd name="T16" fmla="*/ 3 w 12"/>
              <a:gd name="T17" fmla="*/ 56 h 56"/>
              <a:gd name="T18" fmla="*/ 11 w 12"/>
              <a:gd name="T19" fmla="*/ 56 h 56"/>
              <a:gd name="T20" fmla="*/ 11 w 12"/>
              <a:gd name="T21" fmla="*/ 55 h 56"/>
              <a:gd name="T22" fmla="*/ 10 w 12"/>
              <a:gd name="T23" fmla="*/ 51 h 56"/>
              <a:gd name="T24" fmla="*/ 10 w 12"/>
              <a:gd name="T25" fmla="*/ 44 h 56"/>
              <a:gd name="T26" fmla="*/ 9 w 12"/>
              <a:gd name="T27" fmla="*/ 35 h 56"/>
              <a:gd name="T28" fmla="*/ 7 w 12"/>
              <a:gd name="T29" fmla="*/ 26 h 56"/>
              <a:gd name="T30" fmla="*/ 9 w 12"/>
              <a:gd name="T31" fmla="*/ 17 h 56"/>
              <a:gd name="T32" fmla="*/ 10 w 12"/>
              <a:gd name="T33" fmla="*/ 7 h 56"/>
              <a:gd name="T34" fmla="*/ 12 w 12"/>
              <a:gd name="T35" fmla="*/ 0 h 56"/>
              <a:gd name="T36" fmla="*/ 12 w 12"/>
              <a:gd name="T37" fmla="*/ 0 h 56"/>
              <a:gd name="T38" fmla="*/ 12 w 12"/>
              <a:gd name="T39" fmla="*/ 0 h 56"/>
              <a:gd name="T40" fmla="*/ 12 w 12"/>
              <a:gd name="T41" fmla="*/ 0 h 56"/>
              <a:gd name="T42" fmla="*/ 11 w 12"/>
              <a:gd name="T43" fmla="*/ 0 h 56"/>
              <a:gd name="T44" fmla="*/ 10 w 12"/>
              <a:gd name="T45" fmla="*/ 0 h 56"/>
              <a:gd name="T46" fmla="*/ 9 w 12"/>
              <a:gd name="T47" fmla="*/ 0 h 56"/>
              <a:gd name="T48" fmla="*/ 6 w 12"/>
              <a:gd name="T49" fmla="*/ 0 h 56"/>
              <a:gd name="T50" fmla="*/ 4 w 12"/>
              <a:gd name="T51" fmla="*/ 2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" h="56">
                <a:moveTo>
                  <a:pt x="4" y="2"/>
                </a:moveTo>
                <a:lnTo>
                  <a:pt x="3" y="2"/>
                </a:lnTo>
                <a:lnTo>
                  <a:pt x="3" y="5"/>
                </a:lnTo>
                <a:lnTo>
                  <a:pt x="2" y="11"/>
                </a:lnTo>
                <a:lnTo>
                  <a:pt x="0" y="17"/>
                </a:lnTo>
                <a:lnTo>
                  <a:pt x="0" y="25"/>
                </a:lnTo>
                <a:lnTo>
                  <a:pt x="0" y="35"/>
                </a:lnTo>
                <a:lnTo>
                  <a:pt x="2" y="46"/>
                </a:lnTo>
                <a:lnTo>
                  <a:pt x="3" y="56"/>
                </a:lnTo>
                <a:lnTo>
                  <a:pt x="11" y="56"/>
                </a:lnTo>
                <a:lnTo>
                  <a:pt x="11" y="55"/>
                </a:lnTo>
                <a:lnTo>
                  <a:pt x="10" y="51"/>
                </a:lnTo>
                <a:lnTo>
                  <a:pt x="10" y="44"/>
                </a:lnTo>
                <a:lnTo>
                  <a:pt x="9" y="35"/>
                </a:lnTo>
                <a:lnTo>
                  <a:pt x="7" y="26"/>
                </a:lnTo>
                <a:lnTo>
                  <a:pt x="9" y="17"/>
                </a:lnTo>
                <a:lnTo>
                  <a:pt x="10" y="7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1" y="0"/>
                </a:lnTo>
                <a:lnTo>
                  <a:pt x="10" y="0"/>
                </a:lnTo>
                <a:lnTo>
                  <a:pt x="9" y="0"/>
                </a:lnTo>
                <a:lnTo>
                  <a:pt x="6" y="0"/>
                </a:lnTo>
                <a:lnTo>
                  <a:pt x="4" y="2"/>
                </a:lnTo>
                <a:close/>
              </a:path>
            </a:pathLst>
          </a:custGeom>
          <a:solidFill>
            <a:srgbClr val="8CD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Freeform 38"/>
          <p:cNvSpPr>
            <a:spLocks/>
          </p:cNvSpPr>
          <p:nvPr/>
        </p:nvSpPr>
        <p:spPr bwMode="auto">
          <a:xfrm>
            <a:off x="2882900" y="3740150"/>
            <a:ext cx="15875" cy="73025"/>
          </a:xfrm>
          <a:custGeom>
            <a:avLst/>
            <a:gdLst>
              <a:gd name="T0" fmla="*/ 4 w 10"/>
              <a:gd name="T1" fmla="*/ 1 h 46"/>
              <a:gd name="T2" fmla="*/ 3 w 10"/>
              <a:gd name="T3" fmla="*/ 2 h 46"/>
              <a:gd name="T4" fmla="*/ 3 w 10"/>
              <a:gd name="T5" fmla="*/ 5 h 46"/>
              <a:gd name="T6" fmla="*/ 2 w 10"/>
              <a:gd name="T7" fmla="*/ 8 h 46"/>
              <a:gd name="T8" fmla="*/ 2 w 10"/>
              <a:gd name="T9" fmla="*/ 14 h 46"/>
              <a:gd name="T10" fmla="*/ 0 w 10"/>
              <a:gd name="T11" fmla="*/ 21 h 46"/>
              <a:gd name="T12" fmla="*/ 0 w 10"/>
              <a:gd name="T13" fmla="*/ 28 h 46"/>
              <a:gd name="T14" fmla="*/ 2 w 10"/>
              <a:gd name="T15" fmla="*/ 36 h 46"/>
              <a:gd name="T16" fmla="*/ 3 w 10"/>
              <a:gd name="T17" fmla="*/ 46 h 46"/>
              <a:gd name="T18" fmla="*/ 10 w 10"/>
              <a:gd name="T19" fmla="*/ 46 h 46"/>
              <a:gd name="T20" fmla="*/ 10 w 10"/>
              <a:gd name="T21" fmla="*/ 43 h 46"/>
              <a:gd name="T22" fmla="*/ 9 w 10"/>
              <a:gd name="T23" fmla="*/ 40 h 46"/>
              <a:gd name="T24" fmla="*/ 7 w 10"/>
              <a:gd name="T25" fmla="*/ 35 h 46"/>
              <a:gd name="T26" fmla="*/ 7 w 10"/>
              <a:gd name="T27" fmla="*/ 28 h 46"/>
              <a:gd name="T28" fmla="*/ 6 w 10"/>
              <a:gd name="T29" fmla="*/ 21 h 46"/>
              <a:gd name="T30" fmla="*/ 7 w 10"/>
              <a:gd name="T31" fmla="*/ 14 h 46"/>
              <a:gd name="T32" fmla="*/ 7 w 10"/>
              <a:gd name="T33" fmla="*/ 7 h 46"/>
              <a:gd name="T34" fmla="*/ 10 w 10"/>
              <a:gd name="T35" fmla="*/ 1 h 46"/>
              <a:gd name="T36" fmla="*/ 10 w 10"/>
              <a:gd name="T37" fmla="*/ 1 h 46"/>
              <a:gd name="T38" fmla="*/ 10 w 10"/>
              <a:gd name="T39" fmla="*/ 1 h 46"/>
              <a:gd name="T40" fmla="*/ 10 w 10"/>
              <a:gd name="T41" fmla="*/ 0 h 46"/>
              <a:gd name="T42" fmla="*/ 10 w 10"/>
              <a:gd name="T43" fmla="*/ 0 h 46"/>
              <a:gd name="T44" fmla="*/ 9 w 10"/>
              <a:gd name="T45" fmla="*/ 0 h 46"/>
              <a:gd name="T46" fmla="*/ 7 w 10"/>
              <a:gd name="T47" fmla="*/ 0 h 46"/>
              <a:gd name="T48" fmla="*/ 6 w 10"/>
              <a:gd name="T49" fmla="*/ 1 h 46"/>
              <a:gd name="T50" fmla="*/ 4 w 10"/>
              <a:gd name="T51" fmla="*/ 1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0" h="46">
                <a:moveTo>
                  <a:pt x="4" y="1"/>
                </a:moveTo>
                <a:lnTo>
                  <a:pt x="3" y="2"/>
                </a:lnTo>
                <a:lnTo>
                  <a:pt x="3" y="5"/>
                </a:lnTo>
                <a:lnTo>
                  <a:pt x="2" y="8"/>
                </a:lnTo>
                <a:lnTo>
                  <a:pt x="2" y="14"/>
                </a:lnTo>
                <a:lnTo>
                  <a:pt x="0" y="21"/>
                </a:lnTo>
                <a:lnTo>
                  <a:pt x="0" y="28"/>
                </a:lnTo>
                <a:lnTo>
                  <a:pt x="2" y="36"/>
                </a:lnTo>
                <a:lnTo>
                  <a:pt x="3" y="46"/>
                </a:lnTo>
                <a:lnTo>
                  <a:pt x="10" y="46"/>
                </a:lnTo>
                <a:lnTo>
                  <a:pt x="10" y="43"/>
                </a:lnTo>
                <a:lnTo>
                  <a:pt x="9" y="40"/>
                </a:lnTo>
                <a:lnTo>
                  <a:pt x="7" y="35"/>
                </a:lnTo>
                <a:lnTo>
                  <a:pt x="7" y="28"/>
                </a:lnTo>
                <a:lnTo>
                  <a:pt x="6" y="21"/>
                </a:lnTo>
                <a:lnTo>
                  <a:pt x="7" y="14"/>
                </a:lnTo>
                <a:lnTo>
                  <a:pt x="7" y="7"/>
                </a:lnTo>
                <a:lnTo>
                  <a:pt x="10" y="1"/>
                </a:lnTo>
                <a:lnTo>
                  <a:pt x="10" y="1"/>
                </a:lnTo>
                <a:lnTo>
                  <a:pt x="10" y="1"/>
                </a:lnTo>
                <a:lnTo>
                  <a:pt x="10" y="0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6" y="1"/>
                </a:lnTo>
                <a:lnTo>
                  <a:pt x="4" y="1"/>
                </a:lnTo>
                <a:close/>
              </a:path>
            </a:pathLst>
          </a:custGeom>
          <a:solidFill>
            <a:srgbClr val="A5E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Freeform 39"/>
          <p:cNvSpPr>
            <a:spLocks/>
          </p:cNvSpPr>
          <p:nvPr/>
        </p:nvSpPr>
        <p:spPr bwMode="auto">
          <a:xfrm>
            <a:off x="2886075" y="3749675"/>
            <a:ext cx="11112" cy="52388"/>
          </a:xfrm>
          <a:custGeom>
            <a:avLst/>
            <a:gdLst>
              <a:gd name="T0" fmla="*/ 2 w 7"/>
              <a:gd name="T1" fmla="*/ 1 h 33"/>
              <a:gd name="T2" fmla="*/ 1 w 7"/>
              <a:gd name="T3" fmla="*/ 1 h 33"/>
              <a:gd name="T4" fmla="*/ 1 w 7"/>
              <a:gd name="T5" fmla="*/ 3 h 33"/>
              <a:gd name="T6" fmla="*/ 0 w 7"/>
              <a:gd name="T7" fmla="*/ 6 h 33"/>
              <a:gd name="T8" fmla="*/ 0 w 7"/>
              <a:gd name="T9" fmla="*/ 10 h 33"/>
              <a:gd name="T10" fmla="*/ 0 w 7"/>
              <a:gd name="T11" fmla="*/ 15 h 33"/>
              <a:gd name="T12" fmla="*/ 0 w 7"/>
              <a:gd name="T13" fmla="*/ 20 h 33"/>
              <a:gd name="T14" fmla="*/ 0 w 7"/>
              <a:gd name="T15" fmla="*/ 27 h 33"/>
              <a:gd name="T16" fmla="*/ 1 w 7"/>
              <a:gd name="T17" fmla="*/ 33 h 33"/>
              <a:gd name="T18" fmla="*/ 5 w 7"/>
              <a:gd name="T19" fmla="*/ 33 h 33"/>
              <a:gd name="T20" fmla="*/ 5 w 7"/>
              <a:gd name="T21" fmla="*/ 31 h 33"/>
              <a:gd name="T22" fmla="*/ 5 w 7"/>
              <a:gd name="T23" fmla="*/ 29 h 33"/>
              <a:gd name="T24" fmla="*/ 4 w 7"/>
              <a:gd name="T25" fmla="*/ 26 h 33"/>
              <a:gd name="T26" fmla="*/ 4 w 7"/>
              <a:gd name="T27" fmla="*/ 20 h 33"/>
              <a:gd name="T28" fmla="*/ 4 w 7"/>
              <a:gd name="T29" fmla="*/ 15 h 33"/>
              <a:gd name="T30" fmla="*/ 4 w 7"/>
              <a:gd name="T31" fmla="*/ 9 h 33"/>
              <a:gd name="T32" fmla="*/ 4 w 7"/>
              <a:gd name="T33" fmla="*/ 5 h 33"/>
              <a:gd name="T34" fmla="*/ 7 w 7"/>
              <a:gd name="T35" fmla="*/ 0 h 33"/>
              <a:gd name="T36" fmla="*/ 7 w 7"/>
              <a:gd name="T37" fmla="*/ 0 h 33"/>
              <a:gd name="T38" fmla="*/ 7 w 7"/>
              <a:gd name="T39" fmla="*/ 0 h 33"/>
              <a:gd name="T40" fmla="*/ 5 w 7"/>
              <a:gd name="T41" fmla="*/ 0 h 33"/>
              <a:gd name="T42" fmla="*/ 5 w 7"/>
              <a:gd name="T43" fmla="*/ 0 h 33"/>
              <a:gd name="T44" fmla="*/ 5 w 7"/>
              <a:gd name="T45" fmla="*/ 0 h 33"/>
              <a:gd name="T46" fmla="*/ 4 w 7"/>
              <a:gd name="T47" fmla="*/ 0 h 33"/>
              <a:gd name="T48" fmla="*/ 3 w 7"/>
              <a:gd name="T49" fmla="*/ 0 h 33"/>
              <a:gd name="T50" fmla="*/ 2 w 7"/>
              <a:gd name="T51" fmla="*/ 1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" h="33">
                <a:moveTo>
                  <a:pt x="2" y="1"/>
                </a:moveTo>
                <a:lnTo>
                  <a:pt x="1" y="1"/>
                </a:lnTo>
                <a:lnTo>
                  <a:pt x="1" y="3"/>
                </a:lnTo>
                <a:lnTo>
                  <a:pt x="0" y="6"/>
                </a:lnTo>
                <a:lnTo>
                  <a:pt x="0" y="10"/>
                </a:lnTo>
                <a:lnTo>
                  <a:pt x="0" y="15"/>
                </a:lnTo>
                <a:lnTo>
                  <a:pt x="0" y="20"/>
                </a:lnTo>
                <a:lnTo>
                  <a:pt x="0" y="27"/>
                </a:lnTo>
                <a:lnTo>
                  <a:pt x="1" y="33"/>
                </a:lnTo>
                <a:lnTo>
                  <a:pt x="5" y="33"/>
                </a:lnTo>
                <a:lnTo>
                  <a:pt x="5" y="31"/>
                </a:lnTo>
                <a:lnTo>
                  <a:pt x="5" y="29"/>
                </a:lnTo>
                <a:lnTo>
                  <a:pt x="4" y="26"/>
                </a:lnTo>
                <a:lnTo>
                  <a:pt x="4" y="20"/>
                </a:lnTo>
                <a:lnTo>
                  <a:pt x="4" y="15"/>
                </a:lnTo>
                <a:lnTo>
                  <a:pt x="4" y="9"/>
                </a:lnTo>
                <a:lnTo>
                  <a:pt x="4" y="5"/>
                </a:lnTo>
                <a:lnTo>
                  <a:pt x="7" y="0"/>
                </a:lnTo>
                <a:lnTo>
                  <a:pt x="7" y="0"/>
                </a:lnTo>
                <a:lnTo>
                  <a:pt x="7" y="0"/>
                </a:lnTo>
                <a:lnTo>
                  <a:pt x="5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close/>
              </a:path>
            </a:pathLst>
          </a:custGeom>
          <a:solidFill>
            <a:srgbClr val="B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Freeform 40"/>
          <p:cNvSpPr>
            <a:spLocks/>
          </p:cNvSpPr>
          <p:nvPr/>
        </p:nvSpPr>
        <p:spPr bwMode="auto">
          <a:xfrm>
            <a:off x="3036887" y="3697288"/>
            <a:ext cx="38100" cy="142875"/>
          </a:xfrm>
          <a:custGeom>
            <a:avLst/>
            <a:gdLst>
              <a:gd name="T0" fmla="*/ 24 w 24"/>
              <a:gd name="T1" fmla="*/ 1 h 90"/>
              <a:gd name="T2" fmla="*/ 22 w 24"/>
              <a:gd name="T3" fmla="*/ 1 h 90"/>
              <a:gd name="T4" fmla="*/ 21 w 24"/>
              <a:gd name="T5" fmla="*/ 4 h 90"/>
              <a:gd name="T6" fmla="*/ 19 w 24"/>
              <a:gd name="T7" fmla="*/ 8 h 90"/>
              <a:gd name="T8" fmla="*/ 17 w 24"/>
              <a:gd name="T9" fmla="*/ 17 h 90"/>
              <a:gd name="T10" fmla="*/ 15 w 24"/>
              <a:gd name="T11" fmla="*/ 28 h 90"/>
              <a:gd name="T12" fmla="*/ 14 w 24"/>
              <a:gd name="T13" fmla="*/ 43 h 90"/>
              <a:gd name="T14" fmla="*/ 15 w 24"/>
              <a:gd name="T15" fmla="*/ 64 h 90"/>
              <a:gd name="T16" fmla="*/ 18 w 24"/>
              <a:gd name="T17" fmla="*/ 90 h 90"/>
              <a:gd name="T18" fmla="*/ 5 w 24"/>
              <a:gd name="T19" fmla="*/ 90 h 90"/>
              <a:gd name="T20" fmla="*/ 4 w 24"/>
              <a:gd name="T21" fmla="*/ 88 h 90"/>
              <a:gd name="T22" fmla="*/ 3 w 24"/>
              <a:gd name="T23" fmla="*/ 81 h 90"/>
              <a:gd name="T24" fmla="*/ 1 w 24"/>
              <a:gd name="T25" fmla="*/ 69 h 90"/>
              <a:gd name="T26" fmla="*/ 0 w 24"/>
              <a:gd name="T27" fmla="*/ 56 h 90"/>
              <a:gd name="T28" fmla="*/ 0 w 24"/>
              <a:gd name="T29" fmla="*/ 41 h 90"/>
              <a:gd name="T30" fmla="*/ 1 w 24"/>
              <a:gd name="T31" fmla="*/ 27 h 90"/>
              <a:gd name="T32" fmla="*/ 4 w 24"/>
              <a:gd name="T33" fmla="*/ 13 h 90"/>
              <a:gd name="T34" fmla="*/ 7 w 24"/>
              <a:gd name="T35" fmla="*/ 0 h 90"/>
              <a:gd name="T36" fmla="*/ 24 w 24"/>
              <a:gd name="T37" fmla="*/ 1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4" h="90">
                <a:moveTo>
                  <a:pt x="24" y="1"/>
                </a:moveTo>
                <a:lnTo>
                  <a:pt x="22" y="1"/>
                </a:lnTo>
                <a:lnTo>
                  <a:pt x="21" y="4"/>
                </a:lnTo>
                <a:lnTo>
                  <a:pt x="19" y="8"/>
                </a:lnTo>
                <a:lnTo>
                  <a:pt x="17" y="17"/>
                </a:lnTo>
                <a:lnTo>
                  <a:pt x="15" y="28"/>
                </a:lnTo>
                <a:lnTo>
                  <a:pt x="14" y="43"/>
                </a:lnTo>
                <a:lnTo>
                  <a:pt x="15" y="64"/>
                </a:lnTo>
                <a:lnTo>
                  <a:pt x="18" y="90"/>
                </a:lnTo>
                <a:lnTo>
                  <a:pt x="5" y="90"/>
                </a:lnTo>
                <a:lnTo>
                  <a:pt x="4" y="88"/>
                </a:lnTo>
                <a:lnTo>
                  <a:pt x="3" y="81"/>
                </a:lnTo>
                <a:lnTo>
                  <a:pt x="1" y="69"/>
                </a:lnTo>
                <a:lnTo>
                  <a:pt x="0" y="56"/>
                </a:lnTo>
                <a:lnTo>
                  <a:pt x="0" y="41"/>
                </a:lnTo>
                <a:lnTo>
                  <a:pt x="1" y="27"/>
                </a:lnTo>
                <a:lnTo>
                  <a:pt x="4" y="13"/>
                </a:lnTo>
                <a:lnTo>
                  <a:pt x="7" y="0"/>
                </a:lnTo>
                <a:lnTo>
                  <a:pt x="24" y="1"/>
                </a:lnTo>
                <a:close/>
              </a:path>
            </a:pathLst>
          </a:custGeom>
          <a:solidFill>
            <a:srgbClr val="59B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Freeform 41"/>
          <p:cNvSpPr>
            <a:spLocks/>
          </p:cNvSpPr>
          <p:nvPr/>
        </p:nvSpPr>
        <p:spPr bwMode="auto">
          <a:xfrm>
            <a:off x="3038475" y="3708400"/>
            <a:ext cx="30162" cy="120650"/>
          </a:xfrm>
          <a:custGeom>
            <a:avLst/>
            <a:gdLst>
              <a:gd name="T0" fmla="*/ 19 w 19"/>
              <a:gd name="T1" fmla="*/ 0 h 76"/>
              <a:gd name="T2" fmla="*/ 19 w 19"/>
              <a:gd name="T3" fmla="*/ 0 h 76"/>
              <a:gd name="T4" fmla="*/ 18 w 19"/>
              <a:gd name="T5" fmla="*/ 3 h 76"/>
              <a:gd name="T6" fmla="*/ 17 w 19"/>
              <a:gd name="T7" fmla="*/ 7 h 76"/>
              <a:gd name="T8" fmla="*/ 14 w 19"/>
              <a:gd name="T9" fmla="*/ 13 h 76"/>
              <a:gd name="T10" fmla="*/ 13 w 19"/>
              <a:gd name="T11" fmla="*/ 22 h 76"/>
              <a:gd name="T12" fmla="*/ 12 w 19"/>
              <a:gd name="T13" fmla="*/ 36 h 76"/>
              <a:gd name="T14" fmla="*/ 13 w 19"/>
              <a:gd name="T15" fmla="*/ 54 h 76"/>
              <a:gd name="T16" fmla="*/ 14 w 19"/>
              <a:gd name="T17" fmla="*/ 76 h 76"/>
              <a:gd name="T18" fmla="*/ 4 w 19"/>
              <a:gd name="T19" fmla="*/ 76 h 76"/>
              <a:gd name="T20" fmla="*/ 4 w 19"/>
              <a:gd name="T21" fmla="*/ 74 h 76"/>
              <a:gd name="T22" fmla="*/ 3 w 19"/>
              <a:gd name="T23" fmla="*/ 68 h 76"/>
              <a:gd name="T24" fmla="*/ 2 w 19"/>
              <a:gd name="T25" fmla="*/ 59 h 76"/>
              <a:gd name="T26" fmla="*/ 0 w 19"/>
              <a:gd name="T27" fmla="*/ 47 h 76"/>
              <a:gd name="T28" fmla="*/ 0 w 19"/>
              <a:gd name="T29" fmla="*/ 35 h 76"/>
              <a:gd name="T30" fmla="*/ 0 w 19"/>
              <a:gd name="T31" fmla="*/ 22 h 76"/>
              <a:gd name="T32" fmla="*/ 3 w 19"/>
              <a:gd name="T33" fmla="*/ 10 h 76"/>
              <a:gd name="T34" fmla="*/ 6 w 19"/>
              <a:gd name="T35" fmla="*/ 0 h 76"/>
              <a:gd name="T36" fmla="*/ 19 w 19"/>
              <a:gd name="T37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9" h="76">
                <a:moveTo>
                  <a:pt x="19" y="0"/>
                </a:moveTo>
                <a:lnTo>
                  <a:pt x="19" y="0"/>
                </a:lnTo>
                <a:lnTo>
                  <a:pt x="18" y="3"/>
                </a:lnTo>
                <a:lnTo>
                  <a:pt x="17" y="7"/>
                </a:lnTo>
                <a:lnTo>
                  <a:pt x="14" y="13"/>
                </a:lnTo>
                <a:lnTo>
                  <a:pt x="13" y="22"/>
                </a:lnTo>
                <a:lnTo>
                  <a:pt x="12" y="36"/>
                </a:lnTo>
                <a:lnTo>
                  <a:pt x="13" y="54"/>
                </a:lnTo>
                <a:lnTo>
                  <a:pt x="14" y="76"/>
                </a:lnTo>
                <a:lnTo>
                  <a:pt x="4" y="76"/>
                </a:lnTo>
                <a:lnTo>
                  <a:pt x="4" y="74"/>
                </a:lnTo>
                <a:lnTo>
                  <a:pt x="3" y="68"/>
                </a:lnTo>
                <a:lnTo>
                  <a:pt x="2" y="59"/>
                </a:lnTo>
                <a:lnTo>
                  <a:pt x="0" y="47"/>
                </a:lnTo>
                <a:lnTo>
                  <a:pt x="0" y="35"/>
                </a:lnTo>
                <a:lnTo>
                  <a:pt x="0" y="22"/>
                </a:lnTo>
                <a:lnTo>
                  <a:pt x="3" y="10"/>
                </a:lnTo>
                <a:lnTo>
                  <a:pt x="6" y="0"/>
                </a:lnTo>
                <a:lnTo>
                  <a:pt x="19" y="0"/>
                </a:lnTo>
                <a:close/>
              </a:path>
            </a:pathLst>
          </a:custGeom>
          <a:solidFill>
            <a:srgbClr val="72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3041650" y="3717925"/>
            <a:ext cx="23812" cy="100013"/>
          </a:xfrm>
          <a:custGeom>
            <a:avLst/>
            <a:gdLst>
              <a:gd name="T0" fmla="*/ 15 w 15"/>
              <a:gd name="T1" fmla="*/ 0 h 63"/>
              <a:gd name="T2" fmla="*/ 15 w 15"/>
              <a:gd name="T3" fmla="*/ 1 h 63"/>
              <a:gd name="T4" fmla="*/ 14 w 15"/>
              <a:gd name="T5" fmla="*/ 2 h 63"/>
              <a:gd name="T6" fmla="*/ 12 w 15"/>
              <a:gd name="T7" fmla="*/ 6 h 63"/>
              <a:gd name="T8" fmla="*/ 11 w 15"/>
              <a:gd name="T9" fmla="*/ 12 h 63"/>
              <a:gd name="T10" fmla="*/ 10 w 15"/>
              <a:gd name="T11" fmla="*/ 19 h 63"/>
              <a:gd name="T12" fmla="*/ 9 w 15"/>
              <a:gd name="T13" fmla="*/ 30 h 63"/>
              <a:gd name="T14" fmla="*/ 10 w 15"/>
              <a:gd name="T15" fmla="*/ 44 h 63"/>
              <a:gd name="T16" fmla="*/ 11 w 15"/>
              <a:gd name="T17" fmla="*/ 63 h 63"/>
              <a:gd name="T18" fmla="*/ 2 w 15"/>
              <a:gd name="T19" fmla="*/ 63 h 63"/>
              <a:gd name="T20" fmla="*/ 2 w 15"/>
              <a:gd name="T21" fmla="*/ 62 h 63"/>
              <a:gd name="T22" fmla="*/ 1 w 15"/>
              <a:gd name="T23" fmla="*/ 56 h 63"/>
              <a:gd name="T24" fmla="*/ 0 w 15"/>
              <a:gd name="T25" fmla="*/ 49 h 63"/>
              <a:gd name="T26" fmla="*/ 0 w 15"/>
              <a:gd name="T27" fmla="*/ 40 h 63"/>
              <a:gd name="T28" fmla="*/ 0 w 15"/>
              <a:gd name="T29" fmla="*/ 29 h 63"/>
              <a:gd name="T30" fmla="*/ 0 w 15"/>
              <a:gd name="T31" fmla="*/ 19 h 63"/>
              <a:gd name="T32" fmla="*/ 1 w 15"/>
              <a:gd name="T33" fmla="*/ 8 h 63"/>
              <a:gd name="T34" fmla="*/ 4 w 15"/>
              <a:gd name="T35" fmla="*/ 0 h 63"/>
              <a:gd name="T36" fmla="*/ 15 w 15"/>
              <a:gd name="T37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5" h="63">
                <a:moveTo>
                  <a:pt x="15" y="0"/>
                </a:moveTo>
                <a:lnTo>
                  <a:pt x="15" y="1"/>
                </a:lnTo>
                <a:lnTo>
                  <a:pt x="14" y="2"/>
                </a:lnTo>
                <a:lnTo>
                  <a:pt x="12" y="6"/>
                </a:lnTo>
                <a:lnTo>
                  <a:pt x="11" y="12"/>
                </a:lnTo>
                <a:lnTo>
                  <a:pt x="10" y="19"/>
                </a:lnTo>
                <a:lnTo>
                  <a:pt x="9" y="30"/>
                </a:lnTo>
                <a:lnTo>
                  <a:pt x="10" y="44"/>
                </a:lnTo>
                <a:lnTo>
                  <a:pt x="11" y="63"/>
                </a:lnTo>
                <a:lnTo>
                  <a:pt x="2" y="63"/>
                </a:lnTo>
                <a:lnTo>
                  <a:pt x="2" y="62"/>
                </a:lnTo>
                <a:lnTo>
                  <a:pt x="1" y="56"/>
                </a:lnTo>
                <a:lnTo>
                  <a:pt x="0" y="49"/>
                </a:lnTo>
                <a:lnTo>
                  <a:pt x="0" y="40"/>
                </a:lnTo>
                <a:lnTo>
                  <a:pt x="0" y="29"/>
                </a:lnTo>
                <a:lnTo>
                  <a:pt x="0" y="19"/>
                </a:lnTo>
                <a:lnTo>
                  <a:pt x="1" y="8"/>
                </a:lnTo>
                <a:lnTo>
                  <a:pt x="4" y="0"/>
                </a:lnTo>
                <a:lnTo>
                  <a:pt x="15" y="0"/>
                </a:lnTo>
                <a:close/>
              </a:path>
            </a:pathLst>
          </a:custGeom>
          <a:solidFill>
            <a:srgbClr val="8CD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Freeform 43"/>
          <p:cNvSpPr>
            <a:spLocks/>
          </p:cNvSpPr>
          <p:nvPr/>
        </p:nvSpPr>
        <p:spPr bwMode="auto">
          <a:xfrm>
            <a:off x="3041650" y="3727450"/>
            <a:ext cx="19050" cy="79375"/>
          </a:xfrm>
          <a:custGeom>
            <a:avLst/>
            <a:gdLst>
              <a:gd name="T0" fmla="*/ 12 w 12"/>
              <a:gd name="T1" fmla="*/ 1 h 50"/>
              <a:gd name="T2" fmla="*/ 12 w 12"/>
              <a:gd name="T3" fmla="*/ 1 h 50"/>
              <a:gd name="T4" fmla="*/ 11 w 12"/>
              <a:gd name="T5" fmla="*/ 2 h 50"/>
              <a:gd name="T6" fmla="*/ 10 w 12"/>
              <a:gd name="T7" fmla="*/ 5 h 50"/>
              <a:gd name="T8" fmla="*/ 9 w 12"/>
              <a:gd name="T9" fmla="*/ 9 h 50"/>
              <a:gd name="T10" fmla="*/ 9 w 12"/>
              <a:gd name="T11" fmla="*/ 15 h 50"/>
              <a:gd name="T12" fmla="*/ 8 w 12"/>
              <a:gd name="T13" fmla="*/ 24 h 50"/>
              <a:gd name="T14" fmla="*/ 8 w 12"/>
              <a:gd name="T15" fmla="*/ 36 h 50"/>
              <a:gd name="T16" fmla="*/ 9 w 12"/>
              <a:gd name="T17" fmla="*/ 50 h 50"/>
              <a:gd name="T18" fmla="*/ 2 w 12"/>
              <a:gd name="T19" fmla="*/ 50 h 50"/>
              <a:gd name="T20" fmla="*/ 2 w 12"/>
              <a:gd name="T21" fmla="*/ 49 h 50"/>
              <a:gd name="T22" fmla="*/ 2 w 12"/>
              <a:gd name="T23" fmla="*/ 45 h 50"/>
              <a:gd name="T24" fmla="*/ 1 w 12"/>
              <a:gd name="T25" fmla="*/ 38 h 50"/>
              <a:gd name="T26" fmla="*/ 1 w 12"/>
              <a:gd name="T27" fmla="*/ 31 h 50"/>
              <a:gd name="T28" fmla="*/ 0 w 12"/>
              <a:gd name="T29" fmla="*/ 23 h 50"/>
              <a:gd name="T30" fmla="*/ 1 w 12"/>
              <a:gd name="T31" fmla="*/ 15 h 50"/>
              <a:gd name="T32" fmla="*/ 2 w 12"/>
              <a:gd name="T33" fmla="*/ 7 h 50"/>
              <a:gd name="T34" fmla="*/ 4 w 12"/>
              <a:gd name="T35" fmla="*/ 0 h 50"/>
              <a:gd name="T36" fmla="*/ 12 w 12"/>
              <a:gd name="T37" fmla="*/ 1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" h="50">
                <a:moveTo>
                  <a:pt x="12" y="1"/>
                </a:moveTo>
                <a:lnTo>
                  <a:pt x="12" y="1"/>
                </a:lnTo>
                <a:lnTo>
                  <a:pt x="11" y="2"/>
                </a:lnTo>
                <a:lnTo>
                  <a:pt x="10" y="5"/>
                </a:lnTo>
                <a:lnTo>
                  <a:pt x="9" y="9"/>
                </a:lnTo>
                <a:lnTo>
                  <a:pt x="9" y="15"/>
                </a:lnTo>
                <a:lnTo>
                  <a:pt x="8" y="24"/>
                </a:lnTo>
                <a:lnTo>
                  <a:pt x="8" y="36"/>
                </a:lnTo>
                <a:lnTo>
                  <a:pt x="9" y="50"/>
                </a:lnTo>
                <a:lnTo>
                  <a:pt x="2" y="50"/>
                </a:lnTo>
                <a:lnTo>
                  <a:pt x="2" y="49"/>
                </a:lnTo>
                <a:lnTo>
                  <a:pt x="2" y="45"/>
                </a:lnTo>
                <a:lnTo>
                  <a:pt x="1" y="38"/>
                </a:lnTo>
                <a:lnTo>
                  <a:pt x="1" y="31"/>
                </a:lnTo>
                <a:lnTo>
                  <a:pt x="0" y="23"/>
                </a:lnTo>
                <a:lnTo>
                  <a:pt x="1" y="15"/>
                </a:lnTo>
                <a:lnTo>
                  <a:pt x="2" y="7"/>
                </a:lnTo>
                <a:lnTo>
                  <a:pt x="4" y="0"/>
                </a:lnTo>
                <a:lnTo>
                  <a:pt x="12" y="1"/>
                </a:lnTo>
                <a:close/>
              </a:path>
            </a:pathLst>
          </a:custGeom>
          <a:solidFill>
            <a:srgbClr val="A5E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Freeform 44"/>
          <p:cNvSpPr>
            <a:spLocks/>
          </p:cNvSpPr>
          <p:nvPr/>
        </p:nvSpPr>
        <p:spPr bwMode="auto">
          <a:xfrm>
            <a:off x="3043237" y="3738563"/>
            <a:ext cx="14288" cy="57150"/>
          </a:xfrm>
          <a:custGeom>
            <a:avLst/>
            <a:gdLst>
              <a:gd name="T0" fmla="*/ 9 w 9"/>
              <a:gd name="T1" fmla="*/ 0 h 36"/>
              <a:gd name="T2" fmla="*/ 9 w 9"/>
              <a:gd name="T3" fmla="*/ 0 h 36"/>
              <a:gd name="T4" fmla="*/ 8 w 9"/>
              <a:gd name="T5" fmla="*/ 1 h 36"/>
              <a:gd name="T6" fmla="*/ 8 w 9"/>
              <a:gd name="T7" fmla="*/ 3 h 36"/>
              <a:gd name="T8" fmla="*/ 7 w 9"/>
              <a:gd name="T9" fmla="*/ 6 h 36"/>
              <a:gd name="T10" fmla="*/ 6 w 9"/>
              <a:gd name="T11" fmla="*/ 10 h 36"/>
              <a:gd name="T12" fmla="*/ 6 w 9"/>
              <a:gd name="T13" fmla="*/ 17 h 36"/>
              <a:gd name="T14" fmla="*/ 6 w 9"/>
              <a:gd name="T15" fmla="*/ 26 h 36"/>
              <a:gd name="T16" fmla="*/ 7 w 9"/>
              <a:gd name="T17" fmla="*/ 36 h 36"/>
              <a:gd name="T18" fmla="*/ 2 w 9"/>
              <a:gd name="T19" fmla="*/ 36 h 36"/>
              <a:gd name="T20" fmla="*/ 1 w 9"/>
              <a:gd name="T21" fmla="*/ 36 h 36"/>
              <a:gd name="T22" fmla="*/ 1 w 9"/>
              <a:gd name="T23" fmla="*/ 33 h 36"/>
              <a:gd name="T24" fmla="*/ 1 w 9"/>
              <a:gd name="T25" fmla="*/ 28 h 36"/>
              <a:gd name="T26" fmla="*/ 0 w 9"/>
              <a:gd name="T27" fmla="*/ 22 h 36"/>
              <a:gd name="T28" fmla="*/ 0 w 9"/>
              <a:gd name="T29" fmla="*/ 16 h 36"/>
              <a:gd name="T30" fmla="*/ 0 w 9"/>
              <a:gd name="T31" fmla="*/ 10 h 36"/>
              <a:gd name="T32" fmla="*/ 1 w 9"/>
              <a:gd name="T33" fmla="*/ 5 h 36"/>
              <a:gd name="T34" fmla="*/ 3 w 9"/>
              <a:gd name="T35" fmla="*/ 0 h 36"/>
              <a:gd name="T36" fmla="*/ 9 w 9"/>
              <a:gd name="T37" fmla="*/ 0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" h="36">
                <a:moveTo>
                  <a:pt x="9" y="0"/>
                </a:moveTo>
                <a:lnTo>
                  <a:pt x="9" y="0"/>
                </a:lnTo>
                <a:lnTo>
                  <a:pt x="8" y="1"/>
                </a:lnTo>
                <a:lnTo>
                  <a:pt x="8" y="3"/>
                </a:lnTo>
                <a:lnTo>
                  <a:pt x="7" y="6"/>
                </a:lnTo>
                <a:lnTo>
                  <a:pt x="6" y="10"/>
                </a:lnTo>
                <a:lnTo>
                  <a:pt x="6" y="17"/>
                </a:lnTo>
                <a:lnTo>
                  <a:pt x="6" y="26"/>
                </a:lnTo>
                <a:lnTo>
                  <a:pt x="7" y="36"/>
                </a:lnTo>
                <a:lnTo>
                  <a:pt x="2" y="36"/>
                </a:lnTo>
                <a:lnTo>
                  <a:pt x="1" y="36"/>
                </a:lnTo>
                <a:lnTo>
                  <a:pt x="1" y="33"/>
                </a:lnTo>
                <a:lnTo>
                  <a:pt x="1" y="28"/>
                </a:lnTo>
                <a:lnTo>
                  <a:pt x="0" y="22"/>
                </a:lnTo>
                <a:lnTo>
                  <a:pt x="0" y="16"/>
                </a:lnTo>
                <a:lnTo>
                  <a:pt x="0" y="10"/>
                </a:lnTo>
                <a:lnTo>
                  <a:pt x="1" y="5"/>
                </a:lnTo>
                <a:lnTo>
                  <a:pt x="3" y="0"/>
                </a:lnTo>
                <a:lnTo>
                  <a:pt x="9" y="0"/>
                </a:lnTo>
                <a:close/>
              </a:path>
            </a:pathLst>
          </a:custGeom>
          <a:solidFill>
            <a:srgbClr val="B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Rectangle 45"/>
          <p:cNvSpPr>
            <a:spLocks noChangeArrowheads="1"/>
          </p:cNvSpPr>
          <p:nvPr/>
        </p:nvSpPr>
        <p:spPr bwMode="auto">
          <a:xfrm>
            <a:off x="2847975" y="3724275"/>
            <a:ext cx="6350" cy="1873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Freeform 46"/>
          <p:cNvSpPr>
            <a:spLocks/>
          </p:cNvSpPr>
          <p:nvPr/>
        </p:nvSpPr>
        <p:spPr bwMode="auto">
          <a:xfrm>
            <a:off x="2914650" y="3719513"/>
            <a:ext cx="73025" cy="87312"/>
          </a:xfrm>
          <a:custGeom>
            <a:avLst/>
            <a:gdLst>
              <a:gd name="T0" fmla="*/ 4 w 46"/>
              <a:gd name="T1" fmla="*/ 6 h 55"/>
              <a:gd name="T2" fmla="*/ 4 w 46"/>
              <a:gd name="T3" fmla="*/ 7 h 55"/>
              <a:gd name="T4" fmla="*/ 3 w 46"/>
              <a:gd name="T5" fmla="*/ 10 h 55"/>
              <a:gd name="T6" fmla="*/ 1 w 46"/>
              <a:gd name="T7" fmla="*/ 14 h 55"/>
              <a:gd name="T8" fmla="*/ 0 w 46"/>
              <a:gd name="T9" fmla="*/ 20 h 55"/>
              <a:gd name="T10" fmla="*/ 0 w 46"/>
              <a:gd name="T11" fmla="*/ 28 h 55"/>
              <a:gd name="T12" fmla="*/ 0 w 46"/>
              <a:gd name="T13" fmla="*/ 36 h 55"/>
              <a:gd name="T14" fmla="*/ 0 w 46"/>
              <a:gd name="T15" fmla="*/ 46 h 55"/>
              <a:gd name="T16" fmla="*/ 3 w 46"/>
              <a:gd name="T17" fmla="*/ 55 h 55"/>
              <a:gd name="T18" fmla="*/ 3 w 46"/>
              <a:gd name="T19" fmla="*/ 54 h 55"/>
              <a:gd name="T20" fmla="*/ 3 w 46"/>
              <a:gd name="T21" fmla="*/ 53 h 55"/>
              <a:gd name="T22" fmla="*/ 3 w 46"/>
              <a:gd name="T23" fmla="*/ 52 h 55"/>
              <a:gd name="T24" fmla="*/ 3 w 46"/>
              <a:gd name="T25" fmla="*/ 49 h 55"/>
              <a:gd name="T26" fmla="*/ 3 w 46"/>
              <a:gd name="T27" fmla="*/ 46 h 55"/>
              <a:gd name="T28" fmla="*/ 4 w 46"/>
              <a:gd name="T29" fmla="*/ 42 h 55"/>
              <a:gd name="T30" fmla="*/ 4 w 46"/>
              <a:gd name="T31" fmla="*/ 39 h 55"/>
              <a:gd name="T32" fmla="*/ 5 w 46"/>
              <a:gd name="T33" fmla="*/ 35 h 55"/>
              <a:gd name="T34" fmla="*/ 6 w 46"/>
              <a:gd name="T35" fmla="*/ 32 h 55"/>
              <a:gd name="T36" fmla="*/ 7 w 46"/>
              <a:gd name="T37" fmla="*/ 28 h 55"/>
              <a:gd name="T38" fmla="*/ 8 w 46"/>
              <a:gd name="T39" fmla="*/ 25 h 55"/>
              <a:gd name="T40" fmla="*/ 11 w 46"/>
              <a:gd name="T41" fmla="*/ 21 h 55"/>
              <a:gd name="T42" fmla="*/ 14 w 46"/>
              <a:gd name="T43" fmla="*/ 19 h 55"/>
              <a:gd name="T44" fmla="*/ 17 w 46"/>
              <a:gd name="T45" fmla="*/ 17 h 55"/>
              <a:gd name="T46" fmla="*/ 21 w 46"/>
              <a:gd name="T47" fmla="*/ 14 h 55"/>
              <a:gd name="T48" fmla="*/ 26 w 46"/>
              <a:gd name="T49" fmla="*/ 14 h 55"/>
              <a:gd name="T50" fmla="*/ 26 w 46"/>
              <a:gd name="T51" fmla="*/ 13 h 55"/>
              <a:gd name="T52" fmla="*/ 26 w 46"/>
              <a:gd name="T53" fmla="*/ 13 h 55"/>
              <a:gd name="T54" fmla="*/ 28 w 46"/>
              <a:gd name="T55" fmla="*/ 12 h 55"/>
              <a:gd name="T56" fmla="*/ 29 w 46"/>
              <a:gd name="T57" fmla="*/ 11 h 55"/>
              <a:gd name="T58" fmla="*/ 33 w 46"/>
              <a:gd name="T59" fmla="*/ 10 h 55"/>
              <a:gd name="T60" fmla="*/ 36 w 46"/>
              <a:gd name="T61" fmla="*/ 7 h 55"/>
              <a:gd name="T62" fmla="*/ 41 w 46"/>
              <a:gd name="T63" fmla="*/ 5 h 55"/>
              <a:gd name="T64" fmla="*/ 46 w 46"/>
              <a:gd name="T65" fmla="*/ 3 h 55"/>
              <a:gd name="T66" fmla="*/ 46 w 46"/>
              <a:gd name="T67" fmla="*/ 3 h 55"/>
              <a:gd name="T68" fmla="*/ 45 w 46"/>
              <a:gd name="T69" fmla="*/ 3 h 55"/>
              <a:gd name="T70" fmla="*/ 43 w 46"/>
              <a:gd name="T71" fmla="*/ 3 h 55"/>
              <a:gd name="T72" fmla="*/ 42 w 46"/>
              <a:gd name="T73" fmla="*/ 1 h 55"/>
              <a:gd name="T74" fmla="*/ 40 w 46"/>
              <a:gd name="T75" fmla="*/ 1 h 55"/>
              <a:gd name="T76" fmla="*/ 38 w 46"/>
              <a:gd name="T77" fmla="*/ 1 h 55"/>
              <a:gd name="T78" fmla="*/ 35 w 46"/>
              <a:gd name="T79" fmla="*/ 1 h 55"/>
              <a:gd name="T80" fmla="*/ 32 w 46"/>
              <a:gd name="T81" fmla="*/ 0 h 55"/>
              <a:gd name="T82" fmla="*/ 28 w 46"/>
              <a:gd name="T83" fmla="*/ 0 h 55"/>
              <a:gd name="T84" fmla="*/ 26 w 46"/>
              <a:gd name="T85" fmla="*/ 0 h 55"/>
              <a:gd name="T86" fmla="*/ 22 w 46"/>
              <a:gd name="T87" fmla="*/ 1 h 55"/>
              <a:gd name="T88" fmla="*/ 19 w 46"/>
              <a:gd name="T89" fmla="*/ 1 h 55"/>
              <a:gd name="T90" fmla="*/ 14 w 46"/>
              <a:gd name="T91" fmla="*/ 1 h 55"/>
              <a:gd name="T92" fmla="*/ 11 w 46"/>
              <a:gd name="T93" fmla="*/ 3 h 55"/>
              <a:gd name="T94" fmla="*/ 7 w 46"/>
              <a:gd name="T95" fmla="*/ 4 h 55"/>
              <a:gd name="T96" fmla="*/ 4 w 46"/>
              <a:gd name="T97" fmla="*/ 6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46" h="55">
                <a:moveTo>
                  <a:pt x="4" y="6"/>
                </a:moveTo>
                <a:lnTo>
                  <a:pt x="4" y="7"/>
                </a:lnTo>
                <a:lnTo>
                  <a:pt x="3" y="10"/>
                </a:lnTo>
                <a:lnTo>
                  <a:pt x="1" y="14"/>
                </a:lnTo>
                <a:lnTo>
                  <a:pt x="0" y="20"/>
                </a:lnTo>
                <a:lnTo>
                  <a:pt x="0" y="28"/>
                </a:lnTo>
                <a:lnTo>
                  <a:pt x="0" y="36"/>
                </a:lnTo>
                <a:lnTo>
                  <a:pt x="0" y="46"/>
                </a:lnTo>
                <a:lnTo>
                  <a:pt x="3" y="55"/>
                </a:lnTo>
                <a:lnTo>
                  <a:pt x="3" y="54"/>
                </a:lnTo>
                <a:lnTo>
                  <a:pt x="3" y="53"/>
                </a:lnTo>
                <a:lnTo>
                  <a:pt x="3" y="52"/>
                </a:lnTo>
                <a:lnTo>
                  <a:pt x="3" y="49"/>
                </a:lnTo>
                <a:lnTo>
                  <a:pt x="3" y="46"/>
                </a:lnTo>
                <a:lnTo>
                  <a:pt x="4" y="42"/>
                </a:lnTo>
                <a:lnTo>
                  <a:pt x="4" y="39"/>
                </a:lnTo>
                <a:lnTo>
                  <a:pt x="5" y="35"/>
                </a:lnTo>
                <a:lnTo>
                  <a:pt x="6" y="32"/>
                </a:lnTo>
                <a:lnTo>
                  <a:pt x="7" y="28"/>
                </a:lnTo>
                <a:lnTo>
                  <a:pt x="8" y="25"/>
                </a:lnTo>
                <a:lnTo>
                  <a:pt x="11" y="21"/>
                </a:lnTo>
                <a:lnTo>
                  <a:pt x="14" y="19"/>
                </a:lnTo>
                <a:lnTo>
                  <a:pt x="17" y="17"/>
                </a:lnTo>
                <a:lnTo>
                  <a:pt x="21" y="14"/>
                </a:lnTo>
                <a:lnTo>
                  <a:pt x="26" y="14"/>
                </a:lnTo>
                <a:lnTo>
                  <a:pt x="26" y="13"/>
                </a:lnTo>
                <a:lnTo>
                  <a:pt x="26" y="13"/>
                </a:lnTo>
                <a:lnTo>
                  <a:pt x="28" y="12"/>
                </a:lnTo>
                <a:lnTo>
                  <a:pt x="29" y="11"/>
                </a:lnTo>
                <a:lnTo>
                  <a:pt x="33" y="10"/>
                </a:lnTo>
                <a:lnTo>
                  <a:pt x="36" y="7"/>
                </a:lnTo>
                <a:lnTo>
                  <a:pt x="41" y="5"/>
                </a:lnTo>
                <a:lnTo>
                  <a:pt x="46" y="3"/>
                </a:lnTo>
                <a:lnTo>
                  <a:pt x="46" y="3"/>
                </a:lnTo>
                <a:lnTo>
                  <a:pt x="45" y="3"/>
                </a:lnTo>
                <a:lnTo>
                  <a:pt x="43" y="3"/>
                </a:lnTo>
                <a:lnTo>
                  <a:pt x="42" y="1"/>
                </a:lnTo>
                <a:lnTo>
                  <a:pt x="40" y="1"/>
                </a:lnTo>
                <a:lnTo>
                  <a:pt x="38" y="1"/>
                </a:lnTo>
                <a:lnTo>
                  <a:pt x="35" y="1"/>
                </a:lnTo>
                <a:lnTo>
                  <a:pt x="32" y="0"/>
                </a:lnTo>
                <a:lnTo>
                  <a:pt x="28" y="0"/>
                </a:lnTo>
                <a:lnTo>
                  <a:pt x="26" y="0"/>
                </a:lnTo>
                <a:lnTo>
                  <a:pt x="22" y="1"/>
                </a:lnTo>
                <a:lnTo>
                  <a:pt x="19" y="1"/>
                </a:lnTo>
                <a:lnTo>
                  <a:pt x="14" y="1"/>
                </a:lnTo>
                <a:lnTo>
                  <a:pt x="11" y="3"/>
                </a:lnTo>
                <a:lnTo>
                  <a:pt x="7" y="4"/>
                </a:lnTo>
                <a:lnTo>
                  <a:pt x="4" y="6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Freeform 47"/>
          <p:cNvSpPr>
            <a:spLocks/>
          </p:cNvSpPr>
          <p:nvPr/>
        </p:nvSpPr>
        <p:spPr bwMode="auto">
          <a:xfrm>
            <a:off x="2813050" y="3784600"/>
            <a:ext cx="58737" cy="14288"/>
          </a:xfrm>
          <a:custGeom>
            <a:avLst/>
            <a:gdLst>
              <a:gd name="T0" fmla="*/ 0 w 37"/>
              <a:gd name="T1" fmla="*/ 6 h 9"/>
              <a:gd name="T2" fmla="*/ 0 w 37"/>
              <a:gd name="T3" fmla="*/ 6 h 9"/>
              <a:gd name="T4" fmla="*/ 0 w 37"/>
              <a:gd name="T5" fmla="*/ 6 h 9"/>
              <a:gd name="T6" fmla="*/ 1 w 37"/>
              <a:gd name="T7" fmla="*/ 5 h 9"/>
              <a:gd name="T8" fmla="*/ 1 w 37"/>
              <a:gd name="T9" fmla="*/ 5 h 9"/>
              <a:gd name="T10" fmla="*/ 2 w 37"/>
              <a:gd name="T11" fmla="*/ 4 h 9"/>
              <a:gd name="T12" fmla="*/ 4 w 37"/>
              <a:gd name="T13" fmla="*/ 2 h 9"/>
              <a:gd name="T14" fmla="*/ 5 w 37"/>
              <a:gd name="T15" fmla="*/ 2 h 9"/>
              <a:gd name="T16" fmla="*/ 7 w 37"/>
              <a:gd name="T17" fmla="*/ 1 h 9"/>
              <a:gd name="T18" fmla="*/ 9 w 37"/>
              <a:gd name="T19" fmla="*/ 0 h 9"/>
              <a:gd name="T20" fmla="*/ 12 w 37"/>
              <a:gd name="T21" fmla="*/ 0 h 9"/>
              <a:gd name="T22" fmla="*/ 15 w 37"/>
              <a:gd name="T23" fmla="*/ 0 h 9"/>
              <a:gd name="T24" fmla="*/ 19 w 37"/>
              <a:gd name="T25" fmla="*/ 0 h 9"/>
              <a:gd name="T26" fmla="*/ 22 w 37"/>
              <a:gd name="T27" fmla="*/ 0 h 9"/>
              <a:gd name="T28" fmla="*/ 27 w 37"/>
              <a:gd name="T29" fmla="*/ 1 h 9"/>
              <a:gd name="T30" fmla="*/ 32 w 37"/>
              <a:gd name="T31" fmla="*/ 1 h 9"/>
              <a:gd name="T32" fmla="*/ 37 w 37"/>
              <a:gd name="T33" fmla="*/ 4 h 9"/>
              <a:gd name="T34" fmla="*/ 37 w 37"/>
              <a:gd name="T35" fmla="*/ 6 h 9"/>
              <a:gd name="T36" fmla="*/ 36 w 37"/>
              <a:gd name="T37" fmla="*/ 6 h 9"/>
              <a:gd name="T38" fmla="*/ 36 w 37"/>
              <a:gd name="T39" fmla="*/ 5 h 9"/>
              <a:gd name="T40" fmla="*/ 34 w 37"/>
              <a:gd name="T41" fmla="*/ 5 h 9"/>
              <a:gd name="T42" fmla="*/ 33 w 37"/>
              <a:gd name="T43" fmla="*/ 5 h 9"/>
              <a:gd name="T44" fmla="*/ 30 w 37"/>
              <a:gd name="T45" fmla="*/ 4 h 9"/>
              <a:gd name="T46" fmla="*/ 28 w 37"/>
              <a:gd name="T47" fmla="*/ 4 h 9"/>
              <a:gd name="T48" fmla="*/ 25 w 37"/>
              <a:gd name="T49" fmla="*/ 2 h 9"/>
              <a:gd name="T50" fmla="*/ 22 w 37"/>
              <a:gd name="T51" fmla="*/ 2 h 9"/>
              <a:gd name="T52" fmla="*/ 19 w 37"/>
              <a:gd name="T53" fmla="*/ 2 h 9"/>
              <a:gd name="T54" fmla="*/ 15 w 37"/>
              <a:gd name="T55" fmla="*/ 2 h 9"/>
              <a:gd name="T56" fmla="*/ 13 w 37"/>
              <a:gd name="T57" fmla="*/ 2 h 9"/>
              <a:gd name="T58" fmla="*/ 9 w 37"/>
              <a:gd name="T59" fmla="*/ 4 h 9"/>
              <a:gd name="T60" fmla="*/ 7 w 37"/>
              <a:gd name="T61" fmla="*/ 5 h 9"/>
              <a:gd name="T62" fmla="*/ 5 w 37"/>
              <a:gd name="T63" fmla="*/ 6 h 9"/>
              <a:gd name="T64" fmla="*/ 2 w 37"/>
              <a:gd name="T65" fmla="*/ 7 h 9"/>
              <a:gd name="T66" fmla="*/ 0 w 37"/>
              <a:gd name="T67" fmla="*/ 9 h 9"/>
              <a:gd name="T68" fmla="*/ 0 w 37"/>
              <a:gd name="T69" fmla="*/ 6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7" h="9">
                <a:moveTo>
                  <a:pt x="0" y="6"/>
                </a:moveTo>
                <a:lnTo>
                  <a:pt x="0" y="6"/>
                </a:lnTo>
                <a:lnTo>
                  <a:pt x="0" y="6"/>
                </a:lnTo>
                <a:lnTo>
                  <a:pt x="1" y="5"/>
                </a:lnTo>
                <a:lnTo>
                  <a:pt x="1" y="5"/>
                </a:lnTo>
                <a:lnTo>
                  <a:pt x="2" y="4"/>
                </a:lnTo>
                <a:lnTo>
                  <a:pt x="4" y="2"/>
                </a:lnTo>
                <a:lnTo>
                  <a:pt x="5" y="2"/>
                </a:lnTo>
                <a:lnTo>
                  <a:pt x="7" y="1"/>
                </a:lnTo>
                <a:lnTo>
                  <a:pt x="9" y="0"/>
                </a:lnTo>
                <a:lnTo>
                  <a:pt x="12" y="0"/>
                </a:lnTo>
                <a:lnTo>
                  <a:pt x="15" y="0"/>
                </a:lnTo>
                <a:lnTo>
                  <a:pt x="19" y="0"/>
                </a:lnTo>
                <a:lnTo>
                  <a:pt x="22" y="0"/>
                </a:lnTo>
                <a:lnTo>
                  <a:pt x="27" y="1"/>
                </a:lnTo>
                <a:lnTo>
                  <a:pt x="32" y="1"/>
                </a:lnTo>
                <a:lnTo>
                  <a:pt x="37" y="4"/>
                </a:lnTo>
                <a:lnTo>
                  <a:pt x="37" y="6"/>
                </a:lnTo>
                <a:lnTo>
                  <a:pt x="36" y="6"/>
                </a:lnTo>
                <a:lnTo>
                  <a:pt x="36" y="5"/>
                </a:lnTo>
                <a:lnTo>
                  <a:pt x="34" y="5"/>
                </a:lnTo>
                <a:lnTo>
                  <a:pt x="33" y="5"/>
                </a:lnTo>
                <a:lnTo>
                  <a:pt x="30" y="4"/>
                </a:lnTo>
                <a:lnTo>
                  <a:pt x="28" y="4"/>
                </a:lnTo>
                <a:lnTo>
                  <a:pt x="25" y="2"/>
                </a:lnTo>
                <a:lnTo>
                  <a:pt x="22" y="2"/>
                </a:lnTo>
                <a:lnTo>
                  <a:pt x="19" y="2"/>
                </a:lnTo>
                <a:lnTo>
                  <a:pt x="15" y="2"/>
                </a:lnTo>
                <a:lnTo>
                  <a:pt x="13" y="2"/>
                </a:lnTo>
                <a:lnTo>
                  <a:pt x="9" y="4"/>
                </a:lnTo>
                <a:lnTo>
                  <a:pt x="7" y="5"/>
                </a:lnTo>
                <a:lnTo>
                  <a:pt x="5" y="6"/>
                </a:lnTo>
                <a:lnTo>
                  <a:pt x="2" y="7"/>
                </a:lnTo>
                <a:lnTo>
                  <a:pt x="0" y="9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Freeform 48"/>
          <p:cNvSpPr>
            <a:spLocks/>
          </p:cNvSpPr>
          <p:nvPr/>
        </p:nvSpPr>
        <p:spPr bwMode="auto">
          <a:xfrm>
            <a:off x="2813050" y="3746500"/>
            <a:ext cx="58737" cy="15875"/>
          </a:xfrm>
          <a:custGeom>
            <a:avLst/>
            <a:gdLst>
              <a:gd name="T0" fmla="*/ 0 w 37"/>
              <a:gd name="T1" fmla="*/ 5 h 10"/>
              <a:gd name="T2" fmla="*/ 0 w 37"/>
              <a:gd name="T3" fmla="*/ 5 h 10"/>
              <a:gd name="T4" fmla="*/ 0 w 37"/>
              <a:gd name="T5" fmla="*/ 5 h 10"/>
              <a:gd name="T6" fmla="*/ 1 w 37"/>
              <a:gd name="T7" fmla="*/ 5 h 10"/>
              <a:gd name="T8" fmla="*/ 1 w 37"/>
              <a:gd name="T9" fmla="*/ 4 h 10"/>
              <a:gd name="T10" fmla="*/ 2 w 37"/>
              <a:gd name="T11" fmla="*/ 3 h 10"/>
              <a:gd name="T12" fmla="*/ 4 w 37"/>
              <a:gd name="T13" fmla="*/ 3 h 10"/>
              <a:gd name="T14" fmla="*/ 5 w 37"/>
              <a:gd name="T15" fmla="*/ 2 h 10"/>
              <a:gd name="T16" fmla="*/ 7 w 37"/>
              <a:gd name="T17" fmla="*/ 1 h 10"/>
              <a:gd name="T18" fmla="*/ 9 w 37"/>
              <a:gd name="T19" fmla="*/ 1 h 10"/>
              <a:gd name="T20" fmla="*/ 12 w 37"/>
              <a:gd name="T21" fmla="*/ 0 h 10"/>
              <a:gd name="T22" fmla="*/ 15 w 37"/>
              <a:gd name="T23" fmla="*/ 0 h 10"/>
              <a:gd name="T24" fmla="*/ 19 w 37"/>
              <a:gd name="T25" fmla="*/ 0 h 10"/>
              <a:gd name="T26" fmla="*/ 22 w 37"/>
              <a:gd name="T27" fmla="*/ 0 h 10"/>
              <a:gd name="T28" fmla="*/ 27 w 37"/>
              <a:gd name="T29" fmla="*/ 1 h 10"/>
              <a:gd name="T30" fmla="*/ 32 w 37"/>
              <a:gd name="T31" fmla="*/ 2 h 10"/>
              <a:gd name="T32" fmla="*/ 37 w 37"/>
              <a:gd name="T33" fmla="*/ 3 h 10"/>
              <a:gd name="T34" fmla="*/ 37 w 37"/>
              <a:gd name="T35" fmla="*/ 5 h 10"/>
              <a:gd name="T36" fmla="*/ 36 w 37"/>
              <a:gd name="T37" fmla="*/ 5 h 10"/>
              <a:gd name="T38" fmla="*/ 36 w 37"/>
              <a:gd name="T39" fmla="*/ 4 h 10"/>
              <a:gd name="T40" fmla="*/ 34 w 37"/>
              <a:gd name="T41" fmla="*/ 4 h 10"/>
              <a:gd name="T42" fmla="*/ 33 w 37"/>
              <a:gd name="T43" fmla="*/ 4 h 10"/>
              <a:gd name="T44" fmla="*/ 30 w 37"/>
              <a:gd name="T45" fmla="*/ 3 h 10"/>
              <a:gd name="T46" fmla="*/ 28 w 37"/>
              <a:gd name="T47" fmla="*/ 3 h 10"/>
              <a:gd name="T48" fmla="*/ 25 w 37"/>
              <a:gd name="T49" fmla="*/ 3 h 10"/>
              <a:gd name="T50" fmla="*/ 22 w 37"/>
              <a:gd name="T51" fmla="*/ 2 h 10"/>
              <a:gd name="T52" fmla="*/ 19 w 37"/>
              <a:gd name="T53" fmla="*/ 2 h 10"/>
              <a:gd name="T54" fmla="*/ 15 w 37"/>
              <a:gd name="T55" fmla="*/ 2 h 10"/>
              <a:gd name="T56" fmla="*/ 13 w 37"/>
              <a:gd name="T57" fmla="*/ 2 h 10"/>
              <a:gd name="T58" fmla="*/ 9 w 37"/>
              <a:gd name="T59" fmla="*/ 3 h 10"/>
              <a:gd name="T60" fmla="*/ 7 w 37"/>
              <a:gd name="T61" fmla="*/ 4 h 10"/>
              <a:gd name="T62" fmla="*/ 5 w 37"/>
              <a:gd name="T63" fmla="*/ 5 h 10"/>
              <a:gd name="T64" fmla="*/ 2 w 37"/>
              <a:gd name="T65" fmla="*/ 8 h 10"/>
              <a:gd name="T66" fmla="*/ 0 w 37"/>
              <a:gd name="T67" fmla="*/ 10 h 10"/>
              <a:gd name="T68" fmla="*/ 0 w 37"/>
              <a:gd name="T69" fmla="*/ 5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7" h="10">
                <a:moveTo>
                  <a:pt x="0" y="5"/>
                </a:moveTo>
                <a:lnTo>
                  <a:pt x="0" y="5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2" y="3"/>
                </a:lnTo>
                <a:lnTo>
                  <a:pt x="4" y="3"/>
                </a:lnTo>
                <a:lnTo>
                  <a:pt x="5" y="2"/>
                </a:lnTo>
                <a:lnTo>
                  <a:pt x="7" y="1"/>
                </a:lnTo>
                <a:lnTo>
                  <a:pt x="9" y="1"/>
                </a:lnTo>
                <a:lnTo>
                  <a:pt x="12" y="0"/>
                </a:lnTo>
                <a:lnTo>
                  <a:pt x="15" y="0"/>
                </a:lnTo>
                <a:lnTo>
                  <a:pt x="19" y="0"/>
                </a:lnTo>
                <a:lnTo>
                  <a:pt x="22" y="0"/>
                </a:lnTo>
                <a:lnTo>
                  <a:pt x="27" y="1"/>
                </a:lnTo>
                <a:lnTo>
                  <a:pt x="32" y="2"/>
                </a:lnTo>
                <a:lnTo>
                  <a:pt x="37" y="3"/>
                </a:lnTo>
                <a:lnTo>
                  <a:pt x="37" y="5"/>
                </a:lnTo>
                <a:lnTo>
                  <a:pt x="36" y="5"/>
                </a:lnTo>
                <a:lnTo>
                  <a:pt x="36" y="4"/>
                </a:lnTo>
                <a:lnTo>
                  <a:pt x="34" y="4"/>
                </a:lnTo>
                <a:lnTo>
                  <a:pt x="33" y="4"/>
                </a:lnTo>
                <a:lnTo>
                  <a:pt x="30" y="3"/>
                </a:lnTo>
                <a:lnTo>
                  <a:pt x="28" y="3"/>
                </a:lnTo>
                <a:lnTo>
                  <a:pt x="25" y="3"/>
                </a:lnTo>
                <a:lnTo>
                  <a:pt x="22" y="2"/>
                </a:lnTo>
                <a:lnTo>
                  <a:pt x="19" y="2"/>
                </a:lnTo>
                <a:lnTo>
                  <a:pt x="15" y="2"/>
                </a:lnTo>
                <a:lnTo>
                  <a:pt x="13" y="2"/>
                </a:lnTo>
                <a:lnTo>
                  <a:pt x="9" y="3"/>
                </a:lnTo>
                <a:lnTo>
                  <a:pt x="7" y="4"/>
                </a:lnTo>
                <a:lnTo>
                  <a:pt x="5" y="5"/>
                </a:lnTo>
                <a:lnTo>
                  <a:pt x="2" y="8"/>
                </a:lnTo>
                <a:lnTo>
                  <a:pt x="0" y="10"/>
                </a:lnTo>
                <a:lnTo>
                  <a:pt x="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Freeform 49"/>
          <p:cNvSpPr>
            <a:spLocks/>
          </p:cNvSpPr>
          <p:nvPr/>
        </p:nvSpPr>
        <p:spPr bwMode="auto">
          <a:xfrm>
            <a:off x="2868612" y="3727450"/>
            <a:ext cx="96838" cy="177800"/>
          </a:xfrm>
          <a:custGeom>
            <a:avLst/>
            <a:gdLst>
              <a:gd name="T0" fmla="*/ 0 w 61"/>
              <a:gd name="T1" fmla="*/ 0 h 112"/>
              <a:gd name="T2" fmla="*/ 0 w 61"/>
              <a:gd name="T3" fmla="*/ 109 h 112"/>
              <a:gd name="T4" fmla="*/ 19 w 61"/>
              <a:gd name="T5" fmla="*/ 112 h 112"/>
              <a:gd name="T6" fmla="*/ 18 w 61"/>
              <a:gd name="T7" fmla="*/ 98 h 112"/>
              <a:gd name="T8" fmla="*/ 61 w 61"/>
              <a:gd name="T9" fmla="*/ 104 h 112"/>
              <a:gd name="T10" fmla="*/ 61 w 61"/>
              <a:gd name="T11" fmla="*/ 98 h 112"/>
              <a:gd name="T12" fmla="*/ 30 w 61"/>
              <a:gd name="T13" fmla="*/ 95 h 112"/>
              <a:gd name="T14" fmla="*/ 29 w 61"/>
              <a:gd name="T15" fmla="*/ 82 h 112"/>
              <a:gd name="T16" fmla="*/ 9 w 61"/>
              <a:gd name="T17" fmla="*/ 82 h 112"/>
              <a:gd name="T18" fmla="*/ 8 w 61"/>
              <a:gd name="T19" fmla="*/ 81 h 112"/>
              <a:gd name="T20" fmla="*/ 7 w 61"/>
              <a:gd name="T21" fmla="*/ 76 h 112"/>
              <a:gd name="T22" fmla="*/ 6 w 61"/>
              <a:gd name="T23" fmla="*/ 69 h 112"/>
              <a:gd name="T24" fmla="*/ 4 w 61"/>
              <a:gd name="T25" fmla="*/ 58 h 112"/>
              <a:gd name="T26" fmla="*/ 2 w 61"/>
              <a:gd name="T27" fmla="*/ 47 h 112"/>
              <a:gd name="T28" fmla="*/ 1 w 61"/>
              <a:gd name="T29" fmla="*/ 34 h 112"/>
              <a:gd name="T30" fmla="*/ 2 w 61"/>
              <a:gd name="T31" fmla="*/ 19 h 112"/>
              <a:gd name="T32" fmla="*/ 6 w 61"/>
              <a:gd name="T33" fmla="*/ 3 h 112"/>
              <a:gd name="T34" fmla="*/ 0 w 61"/>
              <a:gd name="T3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1" h="112">
                <a:moveTo>
                  <a:pt x="0" y="0"/>
                </a:moveTo>
                <a:lnTo>
                  <a:pt x="0" y="109"/>
                </a:lnTo>
                <a:lnTo>
                  <a:pt x="19" y="112"/>
                </a:lnTo>
                <a:lnTo>
                  <a:pt x="18" y="98"/>
                </a:lnTo>
                <a:lnTo>
                  <a:pt x="61" y="104"/>
                </a:lnTo>
                <a:lnTo>
                  <a:pt x="61" y="98"/>
                </a:lnTo>
                <a:lnTo>
                  <a:pt x="30" y="95"/>
                </a:lnTo>
                <a:lnTo>
                  <a:pt x="29" y="82"/>
                </a:lnTo>
                <a:lnTo>
                  <a:pt x="9" y="82"/>
                </a:lnTo>
                <a:lnTo>
                  <a:pt x="8" y="81"/>
                </a:lnTo>
                <a:lnTo>
                  <a:pt x="7" y="76"/>
                </a:lnTo>
                <a:lnTo>
                  <a:pt x="6" y="69"/>
                </a:lnTo>
                <a:lnTo>
                  <a:pt x="4" y="58"/>
                </a:lnTo>
                <a:lnTo>
                  <a:pt x="2" y="47"/>
                </a:lnTo>
                <a:lnTo>
                  <a:pt x="1" y="34"/>
                </a:lnTo>
                <a:lnTo>
                  <a:pt x="2" y="19"/>
                </a:lnTo>
                <a:lnTo>
                  <a:pt x="6" y="3"/>
                </a:lnTo>
                <a:lnTo>
                  <a:pt x="0" y="0"/>
                </a:lnTo>
                <a:close/>
              </a:path>
            </a:pathLst>
          </a:custGeom>
          <a:solidFill>
            <a:srgbClr val="001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Freeform 50"/>
          <p:cNvSpPr>
            <a:spLocks/>
          </p:cNvSpPr>
          <p:nvPr/>
        </p:nvSpPr>
        <p:spPr bwMode="auto">
          <a:xfrm>
            <a:off x="2916237" y="3686175"/>
            <a:ext cx="125413" cy="23813"/>
          </a:xfrm>
          <a:custGeom>
            <a:avLst/>
            <a:gdLst>
              <a:gd name="T0" fmla="*/ 0 w 79"/>
              <a:gd name="T1" fmla="*/ 15 h 15"/>
              <a:gd name="T2" fmla="*/ 0 w 79"/>
              <a:gd name="T3" fmla="*/ 15 h 15"/>
              <a:gd name="T4" fmla="*/ 3 w 79"/>
              <a:gd name="T5" fmla="*/ 14 h 15"/>
              <a:gd name="T6" fmla="*/ 4 w 79"/>
              <a:gd name="T7" fmla="*/ 14 h 15"/>
              <a:gd name="T8" fmla="*/ 7 w 79"/>
              <a:gd name="T9" fmla="*/ 13 h 15"/>
              <a:gd name="T10" fmla="*/ 11 w 79"/>
              <a:gd name="T11" fmla="*/ 12 h 15"/>
              <a:gd name="T12" fmla="*/ 14 w 79"/>
              <a:gd name="T13" fmla="*/ 11 h 15"/>
              <a:gd name="T14" fmla="*/ 19 w 79"/>
              <a:gd name="T15" fmla="*/ 10 h 15"/>
              <a:gd name="T16" fmla="*/ 24 w 79"/>
              <a:gd name="T17" fmla="*/ 8 h 15"/>
              <a:gd name="T18" fmla="*/ 30 w 79"/>
              <a:gd name="T19" fmla="*/ 8 h 15"/>
              <a:gd name="T20" fmla="*/ 35 w 79"/>
              <a:gd name="T21" fmla="*/ 7 h 15"/>
              <a:gd name="T22" fmla="*/ 42 w 79"/>
              <a:gd name="T23" fmla="*/ 7 h 15"/>
              <a:gd name="T24" fmla="*/ 48 w 79"/>
              <a:gd name="T25" fmla="*/ 6 h 15"/>
              <a:gd name="T26" fmla="*/ 55 w 79"/>
              <a:gd name="T27" fmla="*/ 7 h 15"/>
              <a:gd name="T28" fmla="*/ 62 w 79"/>
              <a:gd name="T29" fmla="*/ 7 h 15"/>
              <a:gd name="T30" fmla="*/ 69 w 79"/>
              <a:gd name="T31" fmla="*/ 8 h 15"/>
              <a:gd name="T32" fmla="*/ 76 w 79"/>
              <a:gd name="T33" fmla="*/ 10 h 15"/>
              <a:gd name="T34" fmla="*/ 79 w 79"/>
              <a:gd name="T35" fmla="*/ 0 h 15"/>
              <a:gd name="T36" fmla="*/ 79 w 79"/>
              <a:gd name="T37" fmla="*/ 0 h 15"/>
              <a:gd name="T38" fmla="*/ 76 w 79"/>
              <a:gd name="T39" fmla="*/ 0 h 15"/>
              <a:gd name="T40" fmla="*/ 74 w 79"/>
              <a:gd name="T41" fmla="*/ 0 h 15"/>
              <a:gd name="T42" fmla="*/ 70 w 79"/>
              <a:gd name="T43" fmla="*/ 0 h 15"/>
              <a:gd name="T44" fmla="*/ 66 w 79"/>
              <a:gd name="T45" fmla="*/ 0 h 15"/>
              <a:gd name="T46" fmla="*/ 61 w 79"/>
              <a:gd name="T47" fmla="*/ 0 h 15"/>
              <a:gd name="T48" fmla="*/ 56 w 79"/>
              <a:gd name="T49" fmla="*/ 0 h 15"/>
              <a:gd name="T50" fmla="*/ 51 w 79"/>
              <a:gd name="T51" fmla="*/ 1 h 15"/>
              <a:gd name="T52" fmla="*/ 44 w 79"/>
              <a:gd name="T53" fmla="*/ 1 h 15"/>
              <a:gd name="T54" fmla="*/ 38 w 79"/>
              <a:gd name="T55" fmla="*/ 1 h 15"/>
              <a:gd name="T56" fmla="*/ 31 w 79"/>
              <a:gd name="T57" fmla="*/ 3 h 15"/>
              <a:gd name="T58" fmla="*/ 25 w 79"/>
              <a:gd name="T59" fmla="*/ 4 h 15"/>
              <a:gd name="T60" fmla="*/ 18 w 79"/>
              <a:gd name="T61" fmla="*/ 5 h 15"/>
              <a:gd name="T62" fmla="*/ 12 w 79"/>
              <a:gd name="T63" fmla="*/ 6 h 15"/>
              <a:gd name="T64" fmla="*/ 6 w 79"/>
              <a:gd name="T65" fmla="*/ 7 h 15"/>
              <a:gd name="T66" fmla="*/ 0 w 79"/>
              <a:gd name="T67" fmla="*/ 8 h 15"/>
              <a:gd name="T68" fmla="*/ 0 w 79"/>
              <a:gd name="T69" fmla="*/ 15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9" h="15">
                <a:moveTo>
                  <a:pt x="0" y="15"/>
                </a:moveTo>
                <a:lnTo>
                  <a:pt x="0" y="15"/>
                </a:lnTo>
                <a:lnTo>
                  <a:pt x="3" y="14"/>
                </a:lnTo>
                <a:lnTo>
                  <a:pt x="4" y="14"/>
                </a:lnTo>
                <a:lnTo>
                  <a:pt x="7" y="13"/>
                </a:lnTo>
                <a:lnTo>
                  <a:pt x="11" y="12"/>
                </a:lnTo>
                <a:lnTo>
                  <a:pt x="14" y="11"/>
                </a:lnTo>
                <a:lnTo>
                  <a:pt x="19" y="10"/>
                </a:lnTo>
                <a:lnTo>
                  <a:pt x="24" y="8"/>
                </a:lnTo>
                <a:lnTo>
                  <a:pt x="30" y="8"/>
                </a:lnTo>
                <a:lnTo>
                  <a:pt x="35" y="7"/>
                </a:lnTo>
                <a:lnTo>
                  <a:pt x="42" y="7"/>
                </a:lnTo>
                <a:lnTo>
                  <a:pt x="48" y="6"/>
                </a:lnTo>
                <a:lnTo>
                  <a:pt x="55" y="7"/>
                </a:lnTo>
                <a:lnTo>
                  <a:pt x="62" y="7"/>
                </a:lnTo>
                <a:lnTo>
                  <a:pt x="69" y="8"/>
                </a:lnTo>
                <a:lnTo>
                  <a:pt x="76" y="10"/>
                </a:lnTo>
                <a:lnTo>
                  <a:pt x="79" y="0"/>
                </a:lnTo>
                <a:lnTo>
                  <a:pt x="79" y="0"/>
                </a:lnTo>
                <a:lnTo>
                  <a:pt x="76" y="0"/>
                </a:lnTo>
                <a:lnTo>
                  <a:pt x="74" y="0"/>
                </a:lnTo>
                <a:lnTo>
                  <a:pt x="70" y="0"/>
                </a:lnTo>
                <a:lnTo>
                  <a:pt x="66" y="0"/>
                </a:lnTo>
                <a:lnTo>
                  <a:pt x="61" y="0"/>
                </a:lnTo>
                <a:lnTo>
                  <a:pt x="56" y="0"/>
                </a:lnTo>
                <a:lnTo>
                  <a:pt x="51" y="1"/>
                </a:lnTo>
                <a:lnTo>
                  <a:pt x="44" y="1"/>
                </a:lnTo>
                <a:lnTo>
                  <a:pt x="38" y="1"/>
                </a:lnTo>
                <a:lnTo>
                  <a:pt x="31" y="3"/>
                </a:lnTo>
                <a:lnTo>
                  <a:pt x="25" y="4"/>
                </a:lnTo>
                <a:lnTo>
                  <a:pt x="18" y="5"/>
                </a:lnTo>
                <a:lnTo>
                  <a:pt x="12" y="6"/>
                </a:lnTo>
                <a:lnTo>
                  <a:pt x="6" y="7"/>
                </a:lnTo>
                <a:lnTo>
                  <a:pt x="0" y="8"/>
                </a:lnTo>
                <a:lnTo>
                  <a:pt x="0" y="15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Freeform 51"/>
          <p:cNvSpPr>
            <a:spLocks/>
          </p:cNvSpPr>
          <p:nvPr/>
        </p:nvSpPr>
        <p:spPr bwMode="auto">
          <a:xfrm>
            <a:off x="2844800" y="3908425"/>
            <a:ext cx="209550" cy="71438"/>
          </a:xfrm>
          <a:custGeom>
            <a:avLst/>
            <a:gdLst>
              <a:gd name="T0" fmla="*/ 55 w 132"/>
              <a:gd name="T1" fmla="*/ 44 h 45"/>
              <a:gd name="T2" fmla="*/ 56 w 132"/>
              <a:gd name="T3" fmla="*/ 44 h 45"/>
              <a:gd name="T4" fmla="*/ 56 w 132"/>
              <a:gd name="T5" fmla="*/ 42 h 45"/>
              <a:gd name="T6" fmla="*/ 57 w 132"/>
              <a:gd name="T7" fmla="*/ 42 h 45"/>
              <a:gd name="T8" fmla="*/ 59 w 132"/>
              <a:gd name="T9" fmla="*/ 41 h 45"/>
              <a:gd name="T10" fmla="*/ 61 w 132"/>
              <a:gd name="T11" fmla="*/ 41 h 45"/>
              <a:gd name="T12" fmla="*/ 63 w 132"/>
              <a:gd name="T13" fmla="*/ 40 h 45"/>
              <a:gd name="T14" fmla="*/ 65 w 132"/>
              <a:gd name="T15" fmla="*/ 39 h 45"/>
              <a:gd name="T16" fmla="*/ 68 w 132"/>
              <a:gd name="T17" fmla="*/ 38 h 45"/>
              <a:gd name="T18" fmla="*/ 71 w 132"/>
              <a:gd name="T19" fmla="*/ 37 h 45"/>
              <a:gd name="T20" fmla="*/ 73 w 132"/>
              <a:gd name="T21" fmla="*/ 34 h 45"/>
              <a:gd name="T22" fmla="*/ 76 w 132"/>
              <a:gd name="T23" fmla="*/ 33 h 45"/>
              <a:gd name="T24" fmla="*/ 78 w 132"/>
              <a:gd name="T25" fmla="*/ 32 h 45"/>
              <a:gd name="T26" fmla="*/ 80 w 132"/>
              <a:gd name="T27" fmla="*/ 30 h 45"/>
              <a:gd name="T28" fmla="*/ 82 w 132"/>
              <a:gd name="T29" fmla="*/ 28 h 45"/>
              <a:gd name="T30" fmla="*/ 84 w 132"/>
              <a:gd name="T31" fmla="*/ 26 h 45"/>
              <a:gd name="T32" fmla="*/ 85 w 132"/>
              <a:gd name="T33" fmla="*/ 24 h 45"/>
              <a:gd name="T34" fmla="*/ 0 w 132"/>
              <a:gd name="T35" fmla="*/ 3 h 45"/>
              <a:gd name="T36" fmla="*/ 6 w 132"/>
              <a:gd name="T37" fmla="*/ 0 h 45"/>
              <a:gd name="T38" fmla="*/ 132 w 132"/>
              <a:gd name="T39" fmla="*/ 32 h 45"/>
              <a:gd name="T40" fmla="*/ 126 w 132"/>
              <a:gd name="T41" fmla="*/ 34 h 45"/>
              <a:gd name="T42" fmla="*/ 90 w 132"/>
              <a:gd name="T43" fmla="*/ 25 h 45"/>
              <a:gd name="T44" fmla="*/ 90 w 132"/>
              <a:gd name="T45" fmla="*/ 25 h 45"/>
              <a:gd name="T46" fmla="*/ 90 w 132"/>
              <a:gd name="T47" fmla="*/ 26 h 45"/>
              <a:gd name="T48" fmla="*/ 89 w 132"/>
              <a:gd name="T49" fmla="*/ 26 h 45"/>
              <a:gd name="T50" fmla="*/ 89 w 132"/>
              <a:gd name="T51" fmla="*/ 27 h 45"/>
              <a:gd name="T52" fmla="*/ 87 w 132"/>
              <a:gd name="T53" fmla="*/ 28 h 45"/>
              <a:gd name="T54" fmla="*/ 86 w 132"/>
              <a:gd name="T55" fmla="*/ 30 h 45"/>
              <a:gd name="T56" fmla="*/ 85 w 132"/>
              <a:gd name="T57" fmla="*/ 31 h 45"/>
              <a:gd name="T58" fmla="*/ 83 w 132"/>
              <a:gd name="T59" fmla="*/ 32 h 45"/>
              <a:gd name="T60" fmla="*/ 80 w 132"/>
              <a:gd name="T61" fmla="*/ 33 h 45"/>
              <a:gd name="T62" fmla="*/ 78 w 132"/>
              <a:gd name="T63" fmla="*/ 35 h 45"/>
              <a:gd name="T64" fmla="*/ 76 w 132"/>
              <a:gd name="T65" fmla="*/ 37 h 45"/>
              <a:gd name="T66" fmla="*/ 72 w 132"/>
              <a:gd name="T67" fmla="*/ 38 h 45"/>
              <a:gd name="T68" fmla="*/ 70 w 132"/>
              <a:gd name="T69" fmla="*/ 40 h 45"/>
              <a:gd name="T70" fmla="*/ 65 w 132"/>
              <a:gd name="T71" fmla="*/ 41 h 45"/>
              <a:gd name="T72" fmla="*/ 62 w 132"/>
              <a:gd name="T73" fmla="*/ 44 h 45"/>
              <a:gd name="T74" fmla="*/ 57 w 132"/>
              <a:gd name="T75" fmla="*/ 45 h 45"/>
              <a:gd name="T76" fmla="*/ 55 w 132"/>
              <a:gd name="T77" fmla="*/ 44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32" h="45">
                <a:moveTo>
                  <a:pt x="55" y="44"/>
                </a:moveTo>
                <a:lnTo>
                  <a:pt x="56" y="44"/>
                </a:lnTo>
                <a:lnTo>
                  <a:pt x="56" y="42"/>
                </a:lnTo>
                <a:lnTo>
                  <a:pt x="57" y="42"/>
                </a:lnTo>
                <a:lnTo>
                  <a:pt x="59" y="41"/>
                </a:lnTo>
                <a:lnTo>
                  <a:pt x="61" y="41"/>
                </a:lnTo>
                <a:lnTo>
                  <a:pt x="63" y="40"/>
                </a:lnTo>
                <a:lnTo>
                  <a:pt x="65" y="39"/>
                </a:lnTo>
                <a:lnTo>
                  <a:pt x="68" y="38"/>
                </a:lnTo>
                <a:lnTo>
                  <a:pt x="71" y="37"/>
                </a:lnTo>
                <a:lnTo>
                  <a:pt x="73" y="34"/>
                </a:lnTo>
                <a:lnTo>
                  <a:pt x="76" y="33"/>
                </a:lnTo>
                <a:lnTo>
                  <a:pt x="78" y="32"/>
                </a:lnTo>
                <a:lnTo>
                  <a:pt x="80" y="30"/>
                </a:lnTo>
                <a:lnTo>
                  <a:pt x="82" y="28"/>
                </a:lnTo>
                <a:lnTo>
                  <a:pt x="84" y="26"/>
                </a:lnTo>
                <a:lnTo>
                  <a:pt x="85" y="24"/>
                </a:lnTo>
                <a:lnTo>
                  <a:pt x="0" y="3"/>
                </a:lnTo>
                <a:lnTo>
                  <a:pt x="6" y="0"/>
                </a:lnTo>
                <a:lnTo>
                  <a:pt x="132" y="32"/>
                </a:lnTo>
                <a:lnTo>
                  <a:pt x="126" y="34"/>
                </a:lnTo>
                <a:lnTo>
                  <a:pt x="90" y="25"/>
                </a:lnTo>
                <a:lnTo>
                  <a:pt x="90" y="25"/>
                </a:lnTo>
                <a:lnTo>
                  <a:pt x="90" y="26"/>
                </a:lnTo>
                <a:lnTo>
                  <a:pt x="89" y="26"/>
                </a:lnTo>
                <a:lnTo>
                  <a:pt x="89" y="27"/>
                </a:lnTo>
                <a:lnTo>
                  <a:pt x="87" y="28"/>
                </a:lnTo>
                <a:lnTo>
                  <a:pt x="86" y="30"/>
                </a:lnTo>
                <a:lnTo>
                  <a:pt x="85" y="31"/>
                </a:lnTo>
                <a:lnTo>
                  <a:pt x="83" y="32"/>
                </a:lnTo>
                <a:lnTo>
                  <a:pt x="80" y="33"/>
                </a:lnTo>
                <a:lnTo>
                  <a:pt x="78" y="35"/>
                </a:lnTo>
                <a:lnTo>
                  <a:pt x="76" y="37"/>
                </a:lnTo>
                <a:lnTo>
                  <a:pt x="72" y="38"/>
                </a:lnTo>
                <a:lnTo>
                  <a:pt x="70" y="40"/>
                </a:lnTo>
                <a:lnTo>
                  <a:pt x="65" y="41"/>
                </a:lnTo>
                <a:lnTo>
                  <a:pt x="62" y="44"/>
                </a:lnTo>
                <a:lnTo>
                  <a:pt x="57" y="45"/>
                </a:lnTo>
                <a:lnTo>
                  <a:pt x="55" y="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" name="Freeform 52"/>
          <p:cNvSpPr>
            <a:spLocks/>
          </p:cNvSpPr>
          <p:nvPr/>
        </p:nvSpPr>
        <p:spPr bwMode="auto">
          <a:xfrm>
            <a:off x="2800350" y="3927475"/>
            <a:ext cx="214312" cy="63500"/>
          </a:xfrm>
          <a:custGeom>
            <a:avLst/>
            <a:gdLst>
              <a:gd name="T0" fmla="*/ 0 w 135"/>
              <a:gd name="T1" fmla="*/ 0 h 40"/>
              <a:gd name="T2" fmla="*/ 132 w 135"/>
              <a:gd name="T3" fmla="*/ 40 h 40"/>
              <a:gd name="T4" fmla="*/ 135 w 135"/>
              <a:gd name="T5" fmla="*/ 40 h 40"/>
              <a:gd name="T6" fmla="*/ 5 w 135"/>
              <a:gd name="T7" fmla="*/ 0 h 40"/>
              <a:gd name="T8" fmla="*/ 0 w 135"/>
              <a:gd name="T9" fmla="*/ 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5" h="40">
                <a:moveTo>
                  <a:pt x="0" y="0"/>
                </a:moveTo>
                <a:lnTo>
                  <a:pt x="132" y="40"/>
                </a:lnTo>
                <a:lnTo>
                  <a:pt x="135" y="40"/>
                </a:ln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Freeform 53"/>
          <p:cNvSpPr>
            <a:spLocks/>
          </p:cNvSpPr>
          <p:nvPr/>
        </p:nvSpPr>
        <p:spPr bwMode="auto">
          <a:xfrm>
            <a:off x="2836862" y="3919538"/>
            <a:ext cx="209550" cy="55562"/>
          </a:xfrm>
          <a:custGeom>
            <a:avLst/>
            <a:gdLst>
              <a:gd name="T0" fmla="*/ 0 w 132"/>
              <a:gd name="T1" fmla="*/ 0 h 35"/>
              <a:gd name="T2" fmla="*/ 130 w 132"/>
              <a:gd name="T3" fmla="*/ 35 h 35"/>
              <a:gd name="T4" fmla="*/ 132 w 132"/>
              <a:gd name="T5" fmla="*/ 35 h 35"/>
              <a:gd name="T6" fmla="*/ 4 w 132"/>
              <a:gd name="T7" fmla="*/ 0 h 35"/>
              <a:gd name="T8" fmla="*/ 0 w 132"/>
              <a:gd name="T9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2" h="35">
                <a:moveTo>
                  <a:pt x="0" y="0"/>
                </a:moveTo>
                <a:lnTo>
                  <a:pt x="130" y="35"/>
                </a:lnTo>
                <a:lnTo>
                  <a:pt x="132" y="35"/>
                </a:ln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Freeform 54"/>
          <p:cNvSpPr>
            <a:spLocks/>
          </p:cNvSpPr>
          <p:nvPr/>
        </p:nvSpPr>
        <p:spPr bwMode="auto">
          <a:xfrm>
            <a:off x="2820987" y="3922713"/>
            <a:ext cx="211138" cy="60325"/>
          </a:xfrm>
          <a:custGeom>
            <a:avLst/>
            <a:gdLst>
              <a:gd name="T0" fmla="*/ 0 w 133"/>
              <a:gd name="T1" fmla="*/ 0 h 38"/>
              <a:gd name="T2" fmla="*/ 130 w 133"/>
              <a:gd name="T3" fmla="*/ 38 h 38"/>
              <a:gd name="T4" fmla="*/ 133 w 133"/>
              <a:gd name="T5" fmla="*/ 38 h 38"/>
              <a:gd name="T6" fmla="*/ 3 w 133"/>
              <a:gd name="T7" fmla="*/ 0 h 38"/>
              <a:gd name="T8" fmla="*/ 0 w 133"/>
              <a:gd name="T9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3" h="38">
                <a:moveTo>
                  <a:pt x="0" y="0"/>
                </a:moveTo>
                <a:lnTo>
                  <a:pt x="130" y="38"/>
                </a:lnTo>
                <a:lnTo>
                  <a:pt x="133" y="38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Freeform 55"/>
          <p:cNvSpPr>
            <a:spLocks/>
          </p:cNvSpPr>
          <p:nvPr/>
        </p:nvSpPr>
        <p:spPr bwMode="auto">
          <a:xfrm>
            <a:off x="3590925" y="3419475"/>
            <a:ext cx="517525" cy="103188"/>
          </a:xfrm>
          <a:custGeom>
            <a:avLst/>
            <a:gdLst>
              <a:gd name="T0" fmla="*/ 146 w 326"/>
              <a:gd name="T1" fmla="*/ 0 h 65"/>
              <a:gd name="T2" fmla="*/ 115 w 326"/>
              <a:gd name="T3" fmla="*/ 1 h 65"/>
              <a:gd name="T4" fmla="*/ 85 w 326"/>
              <a:gd name="T5" fmla="*/ 3 h 65"/>
              <a:gd name="T6" fmla="*/ 60 w 326"/>
              <a:gd name="T7" fmla="*/ 7 h 65"/>
              <a:gd name="T8" fmla="*/ 38 w 326"/>
              <a:gd name="T9" fmla="*/ 12 h 65"/>
              <a:gd name="T10" fmla="*/ 28 w 326"/>
              <a:gd name="T11" fmla="*/ 14 h 65"/>
              <a:gd name="T12" fmla="*/ 20 w 326"/>
              <a:gd name="T13" fmla="*/ 17 h 65"/>
              <a:gd name="T14" fmla="*/ 13 w 326"/>
              <a:gd name="T15" fmla="*/ 20 h 65"/>
              <a:gd name="T16" fmla="*/ 7 w 326"/>
              <a:gd name="T17" fmla="*/ 23 h 65"/>
              <a:gd name="T18" fmla="*/ 4 w 326"/>
              <a:gd name="T19" fmla="*/ 26 h 65"/>
              <a:gd name="T20" fmla="*/ 0 w 326"/>
              <a:gd name="T21" fmla="*/ 29 h 65"/>
              <a:gd name="T22" fmla="*/ 0 w 326"/>
              <a:gd name="T23" fmla="*/ 33 h 65"/>
              <a:gd name="T24" fmla="*/ 0 w 326"/>
              <a:gd name="T25" fmla="*/ 36 h 65"/>
              <a:gd name="T26" fmla="*/ 4 w 326"/>
              <a:gd name="T27" fmla="*/ 40 h 65"/>
              <a:gd name="T28" fmla="*/ 7 w 326"/>
              <a:gd name="T29" fmla="*/ 43 h 65"/>
              <a:gd name="T30" fmla="*/ 13 w 326"/>
              <a:gd name="T31" fmla="*/ 46 h 65"/>
              <a:gd name="T32" fmla="*/ 20 w 326"/>
              <a:gd name="T33" fmla="*/ 49 h 65"/>
              <a:gd name="T34" fmla="*/ 28 w 326"/>
              <a:gd name="T35" fmla="*/ 51 h 65"/>
              <a:gd name="T36" fmla="*/ 38 w 326"/>
              <a:gd name="T37" fmla="*/ 54 h 65"/>
              <a:gd name="T38" fmla="*/ 60 w 326"/>
              <a:gd name="T39" fmla="*/ 58 h 65"/>
              <a:gd name="T40" fmla="*/ 85 w 326"/>
              <a:gd name="T41" fmla="*/ 62 h 65"/>
              <a:gd name="T42" fmla="*/ 115 w 326"/>
              <a:gd name="T43" fmla="*/ 64 h 65"/>
              <a:gd name="T44" fmla="*/ 146 w 326"/>
              <a:gd name="T45" fmla="*/ 65 h 65"/>
              <a:gd name="T46" fmla="*/ 180 w 326"/>
              <a:gd name="T47" fmla="*/ 65 h 65"/>
              <a:gd name="T48" fmla="*/ 211 w 326"/>
              <a:gd name="T49" fmla="*/ 64 h 65"/>
              <a:gd name="T50" fmla="*/ 241 w 326"/>
              <a:gd name="T51" fmla="*/ 62 h 65"/>
              <a:gd name="T52" fmla="*/ 266 w 326"/>
              <a:gd name="T53" fmla="*/ 58 h 65"/>
              <a:gd name="T54" fmla="*/ 288 w 326"/>
              <a:gd name="T55" fmla="*/ 54 h 65"/>
              <a:gd name="T56" fmla="*/ 298 w 326"/>
              <a:gd name="T57" fmla="*/ 51 h 65"/>
              <a:gd name="T58" fmla="*/ 306 w 326"/>
              <a:gd name="T59" fmla="*/ 49 h 65"/>
              <a:gd name="T60" fmla="*/ 313 w 326"/>
              <a:gd name="T61" fmla="*/ 46 h 65"/>
              <a:gd name="T62" fmla="*/ 319 w 326"/>
              <a:gd name="T63" fmla="*/ 43 h 65"/>
              <a:gd name="T64" fmla="*/ 322 w 326"/>
              <a:gd name="T65" fmla="*/ 40 h 65"/>
              <a:gd name="T66" fmla="*/ 325 w 326"/>
              <a:gd name="T67" fmla="*/ 36 h 65"/>
              <a:gd name="T68" fmla="*/ 326 w 326"/>
              <a:gd name="T69" fmla="*/ 33 h 65"/>
              <a:gd name="T70" fmla="*/ 325 w 326"/>
              <a:gd name="T71" fmla="*/ 29 h 65"/>
              <a:gd name="T72" fmla="*/ 322 w 326"/>
              <a:gd name="T73" fmla="*/ 26 h 65"/>
              <a:gd name="T74" fmla="*/ 319 w 326"/>
              <a:gd name="T75" fmla="*/ 23 h 65"/>
              <a:gd name="T76" fmla="*/ 313 w 326"/>
              <a:gd name="T77" fmla="*/ 20 h 65"/>
              <a:gd name="T78" fmla="*/ 306 w 326"/>
              <a:gd name="T79" fmla="*/ 17 h 65"/>
              <a:gd name="T80" fmla="*/ 298 w 326"/>
              <a:gd name="T81" fmla="*/ 14 h 65"/>
              <a:gd name="T82" fmla="*/ 288 w 326"/>
              <a:gd name="T83" fmla="*/ 12 h 65"/>
              <a:gd name="T84" fmla="*/ 266 w 326"/>
              <a:gd name="T85" fmla="*/ 7 h 65"/>
              <a:gd name="T86" fmla="*/ 241 w 326"/>
              <a:gd name="T87" fmla="*/ 3 h 65"/>
              <a:gd name="T88" fmla="*/ 211 w 326"/>
              <a:gd name="T89" fmla="*/ 1 h 65"/>
              <a:gd name="T90" fmla="*/ 180 w 326"/>
              <a:gd name="T91" fmla="*/ 0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26" h="65">
                <a:moveTo>
                  <a:pt x="162" y="0"/>
                </a:moveTo>
                <a:lnTo>
                  <a:pt x="146" y="0"/>
                </a:lnTo>
                <a:lnTo>
                  <a:pt x="130" y="0"/>
                </a:lnTo>
                <a:lnTo>
                  <a:pt x="115" y="1"/>
                </a:lnTo>
                <a:lnTo>
                  <a:pt x="99" y="2"/>
                </a:lnTo>
                <a:lnTo>
                  <a:pt x="85" y="3"/>
                </a:lnTo>
                <a:lnTo>
                  <a:pt x="71" y="6"/>
                </a:lnTo>
                <a:lnTo>
                  <a:pt x="60" y="7"/>
                </a:lnTo>
                <a:lnTo>
                  <a:pt x="48" y="9"/>
                </a:lnTo>
                <a:lnTo>
                  <a:pt x="38" y="12"/>
                </a:lnTo>
                <a:lnTo>
                  <a:pt x="32" y="13"/>
                </a:lnTo>
                <a:lnTo>
                  <a:pt x="28" y="14"/>
                </a:lnTo>
                <a:lnTo>
                  <a:pt x="24" y="15"/>
                </a:lnTo>
                <a:lnTo>
                  <a:pt x="20" y="17"/>
                </a:lnTo>
                <a:lnTo>
                  <a:pt x="15" y="19"/>
                </a:lnTo>
                <a:lnTo>
                  <a:pt x="13" y="20"/>
                </a:lnTo>
                <a:lnTo>
                  <a:pt x="10" y="21"/>
                </a:lnTo>
                <a:lnTo>
                  <a:pt x="7" y="23"/>
                </a:lnTo>
                <a:lnTo>
                  <a:pt x="5" y="24"/>
                </a:lnTo>
                <a:lnTo>
                  <a:pt x="4" y="26"/>
                </a:lnTo>
                <a:lnTo>
                  <a:pt x="1" y="28"/>
                </a:lnTo>
                <a:lnTo>
                  <a:pt x="0" y="29"/>
                </a:lnTo>
                <a:lnTo>
                  <a:pt x="0" y="31"/>
                </a:lnTo>
                <a:lnTo>
                  <a:pt x="0" y="33"/>
                </a:lnTo>
                <a:lnTo>
                  <a:pt x="0" y="35"/>
                </a:lnTo>
                <a:lnTo>
                  <a:pt x="0" y="36"/>
                </a:lnTo>
                <a:lnTo>
                  <a:pt x="1" y="37"/>
                </a:lnTo>
                <a:lnTo>
                  <a:pt x="4" y="40"/>
                </a:lnTo>
                <a:lnTo>
                  <a:pt x="5" y="41"/>
                </a:lnTo>
                <a:lnTo>
                  <a:pt x="7" y="43"/>
                </a:lnTo>
                <a:lnTo>
                  <a:pt x="10" y="44"/>
                </a:lnTo>
                <a:lnTo>
                  <a:pt x="13" y="46"/>
                </a:lnTo>
                <a:lnTo>
                  <a:pt x="15" y="47"/>
                </a:lnTo>
                <a:lnTo>
                  <a:pt x="20" y="49"/>
                </a:lnTo>
                <a:lnTo>
                  <a:pt x="24" y="50"/>
                </a:lnTo>
                <a:lnTo>
                  <a:pt x="28" y="51"/>
                </a:lnTo>
                <a:lnTo>
                  <a:pt x="32" y="53"/>
                </a:lnTo>
                <a:lnTo>
                  <a:pt x="38" y="54"/>
                </a:lnTo>
                <a:lnTo>
                  <a:pt x="48" y="56"/>
                </a:lnTo>
                <a:lnTo>
                  <a:pt x="60" y="58"/>
                </a:lnTo>
                <a:lnTo>
                  <a:pt x="71" y="61"/>
                </a:lnTo>
                <a:lnTo>
                  <a:pt x="85" y="62"/>
                </a:lnTo>
                <a:lnTo>
                  <a:pt x="99" y="63"/>
                </a:lnTo>
                <a:lnTo>
                  <a:pt x="115" y="64"/>
                </a:lnTo>
                <a:lnTo>
                  <a:pt x="130" y="65"/>
                </a:lnTo>
                <a:lnTo>
                  <a:pt x="146" y="65"/>
                </a:lnTo>
                <a:lnTo>
                  <a:pt x="162" y="65"/>
                </a:lnTo>
                <a:lnTo>
                  <a:pt x="180" y="65"/>
                </a:lnTo>
                <a:lnTo>
                  <a:pt x="195" y="65"/>
                </a:lnTo>
                <a:lnTo>
                  <a:pt x="211" y="64"/>
                </a:lnTo>
                <a:lnTo>
                  <a:pt x="227" y="63"/>
                </a:lnTo>
                <a:lnTo>
                  <a:pt x="241" y="62"/>
                </a:lnTo>
                <a:lnTo>
                  <a:pt x="253" y="61"/>
                </a:lnTo>
                <a:lnTo>
                  <a:pt x="266" y="58"/>
                </a:lnTo>
                <a:lnTo>
                  <a:pt x="278" y="56"/>
                </a:lnTo>
                <a:lnTo>
                  <a:pt x="288" y="54"/>
                </a:lnTo>
                <a:lnTo>
                  <a:pt x="293" y="53"/>
                </a:lnTo>
                <a:lnTo>
                  <a:pt x="298" y="51"/>
                </a:lnTo>
                <a:lnTo>
                  <a:pt x="302" y="50"/>
                </a:lnTo>
                <a:lnTo>
                  <a:pt x="306" y="49"/>
                </a:lnTo>
                <a:lnTo>
                  <a:pt x="309" y="47"/>
                </a:lnTo>
                <a:lnTo>
                  <a:pt x="313" y="46"/>
                </a:lnTo>
                <a:lnTo>
                  <a:pt x="315" y="44"/>
                </a:lnTo>
                <a:lnTo>
                  <a:pt x="319" y="43"/>
                </a:lnTo>
                <a:lnTo>
                  <a:pt x="321" y="41"/>
                </a:lnTo>
                <a:lnTo>
                  <a:pt x="322" y="40"/>
                </a:lnTo>
                <a:lnTo>
                  <a:pt x="324" y="37"/>
                </a:lnTo>
                <a:lnTo>
                  <a:pt x="325" y="36"/>
                </a:lnTo>
                <a:lnTo>
                  <a:pt x="326" y="35"/>
                </a:lnTo>
                <a:lnTo>
                  <a:pt x="326" y="33"/>
                </a:lnTo>
                <a:lnTo>
                  <a:pt x="326" y="31"/>
                </a:lnTo>
                <a:lnTo>
                  <a:pt x="325" y="29"/>
                </a:lnTo>
                <a:lnTo>
                  <a:pt x="324" y="28"/>
                </a:lnTo>
                <a:lnTo>
                  <a:pt x="322" y="26"/>
                </a:lnTo>
                <a:lnTo>
                  <a:pt x="321" y="24"/>
                </a:lnTo>
                <a:lnTo>
                  <a:pt x="319" y="23"/>
                </a:lnTo>
                <a:lnTo>
                  <a:pt x="315" y="21"/>
                </a:lnTo>
                <a:lnTo>
                  <a:pt x="313" y="20"/>
                </a:lnTo>
                <a:lnTo>
                  <a:pt x="309" y="19"/>
                </a:lnTo>
                <a:lnTo>
                  <a:pt x="306" y="17"/>
                </a:lnTo>
                <a:lnTo>
                  <a:pt x="302" y="15"/>
                </a:lnTo>
                <a:lnTo>
                  <a:pt x="298" y="14"/>
                </a:lnTo>
                <a:lnTo>
                  <a:pt x="293" y="13"/>
                </a:lnTo>
                <a:lnTo>
                  <a:pt x="288" y="12"/>
                </a:lnTo>
                <a:lnTo>
                  <a:pt x="278" y="9"/>
                </a:lnTo>
                <a:lnTo>
                  <a:pt x="266" y="7"/>
                </a:lnTo>
                <a:lnTo>
                  <a:pt x="253" y="6"/>
                </a:lnTo>
                <a:lnTo>
                  <a:pt x="241" y="3"/>
                </a:lnTo>
                <a:lnTo>
                  <a:pt x="227" y="2"/>
                </a:lnTo>
                <a:lnTo>
                  <a:pt x="211" y="1"/>
                </a:lnTo>
                <a:lnTo>
                  <a:pt x="195" y="0"/>
                </a:lnTo>
                <a:lnTo>
                  <a:pt x="180" y="0"/>
                </a:lnTo>
                <a:lnTo>
                  <a:pt x="162" y="0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Freeform 56"/>
          <p:cNvSpPr>
            <a:spLocks/>
          </p:cNvSpPr>
          <p:nvPr/>
        </p:nvSpPr>
        <p:spPr bwMode="auto">
          <a:xfrm>
            <a:off x="3590925" y="3419475"/>
            <a:ext cx="517525" cy="103188"/>
          </a:xfrm>
          <a:custGeom>
            <a:avLst/>
            <a:gdLst>
              <a:gd name="T0" fmla="*/ 146 w 326"/>
              <a:gd name="T1" fmla="*/ 0 h 65"/>
              <a:gd name="T2" fmla="*/ 115 w 326"/>
              <a:gd name="T3" fmla="*/ 1 h 65"/>
              <a:gd name="T4" fmla="*/ 85 w 326"/>
              <a:gd name="T5" fmla="*/ 3 h 65"/>
              <a:gd name="T6" fmla="*/ 60 w 326"/>
              <a:gd name="T7" fmla="*/ 7 h 65"/>
              <a:gd name="T8" fmla="*/ 38 w 326"/>
              <a:gd name="T9" fmla="*/ 12 h 65"/>
              <a:gd name="T10" fmla="*/ 28 w 326"/>
              <a:gd name="T11" fmla="*/ 14 h 65"/>
              <a:gd name="T12" fmla="*/ 20 w 326"/>
              <a:gd name="T13" fmla="*/ 17 h 65"/>
              <a:gd name="T14" fmla="*/ 13 w 326"/>
              <a:gd name="T15" fmla="*/ 20 h 65"/>
              <a:gd name="T16" fmla="*/ 7 w 326"/>
              <a:gd name="T17" fmla="*/ 23 h 65"/>
              <a:gd name="T18" fmla="*/ 4 w 326"/>
              <a:gd name="T19" fmla="*/ 26 h 65"/>
              <a:gd name="T20" fmla="*/ 0 w 326"/>
              <a:gd name="T21" fmla="*/ 29 h 65"/>
              <a:gd name="T22" fmla="*/ 0 w 326"/>
              <a:gd name="T23" fmla="*/ 33 h 65"/>
              <a:gd name="T24" fmla="*/ 0 w 326"/>
              <a:gd name="T25" fmla="*/ 36 h 65"/>
              <a:gd name="T26" fmla="*/ 4 w 326"/>
              <a:gd name="T27" fmla="*/ 40 h 65"/>
              <a:gd name="T28" fmla="*/ 7 w 326"/>
              <a:gd name="T29" fmla="*/ 43 h 65"/>
              <a:gd name="T30" fmla="*/ 13 w 326"/>
              <a:gd name="T31" fmla="*/ 46 h 65"/>
              <a:gd name="T32" fmla="*/ 20 w 326"/>
              <a:gd name="T33" fmla="*/ 49 h 65"/>
              <a:gd name="T34" fmla="*/ 28 w 326"/>
              <a:gd name="T35" fmla="*/ 51 h 65"/>
              <a:gd name="T36" fmla="*/ 38 w 326"/>
              <a:gd name="T37" fmla="*/ 54 h 65"/>
              <a:gd name="T38" fmla="*/ 60 w 326"/>
              <a:gd name="T39" fmla="*/ 58 h 65"/>
              <a:gd name="T40" fmla="*/ 85 w 326"/>
              <a:gd name="T41" fmla="*/ 62 h 65"/>
              <a:gd name="T42" fmla="*/ 115 w 326"/>
              <a:gd name="T43" fmla="*/ 64 h 65"/>
              <a:gd name="T44" fmla="*/ 146 w 326"/>
              <a:gd name="T45" fmla="*/ 65 h 65"/>
              <a:gd name="T46" fmla="*/ 180 w 326"/>
              <a:gd name="T47" fmla="*/ 65 h 65"/>
              <a:gd name="T48" fmla="*/ 211 w 326"/>
              <a:gd name="T49" fmla="*/ 64 h 65"/>
              <a:gd name="T50" fmla="*/ 241 w 326"/>
              <a:gd name="T51" fmla="*/ 62 h 65"/>
              <a:gd name="T52" fmla="*/ 266 w 326"/>
              <a:gd name="T53" fmla="*/ 58 h 65"/>
              <a:gd name="T54" fmla="*/ 288 w 326"/>
              <a:gd name="T55" fmla="*/ 54 h 65"/>
              <a:gd name="T56" fmla="*/ 298 w 326"/>
              <a:gd name="T57" fmla="*/ 51 h 65"/>
              <a:gd name="T58" fmla="*/ 306 w 326"/>
              <a:gd name="T59" fmla="*/ 49 h 65"/>
              <a:gd name="T60" fmla="*/ 313 w 326"/>
              <a:gd name="T61" fmla="*/ 46 h 65"/>
              <a:gd name="T62" fmla="*/ 319 w 326"/>
              <a:gd name="T63" fmla="*/ 43 h 65"/>
              <a:gd name="T64" fmla="*/ 322 w 326"/>
              <a:gd name="T65" fmla="*/ 40 h 65"/>
              <a:gd name="T66" fmla="*/ 325 w 326"/>
              <a:gd name="T67" fmla="*/ 36 h 65"/>
              <a:gd name="T68" fmla="*/ 326 w 326"/>
              <a:gd name="T69" fmla="*/ 33 h 65"/>
              <a:gd name="T70" fmla="*/ 325 w 326"/>
              <a:gd name="T71" fmla="*/ 29 h 65"/>
              <a:gd name="T72" fmla="*/ 322 w 326"/>
              <a:gd name="T73" fmla="*/ 26 h 65"/>
              <a:gd name="T74" fmla="*/ 319 w 326"/>
              <a:gd name="T75" fmla="*/ 23 h 65"/>
              <a:gd name="T76" fmla="*/ 313 w 326"/>
              <a:gd name="T77" fmla="*/ 20 h 65"/>
              <a:gd name="T78" fmla="*/ 306 w 326"/>
              <a:gd name="T79" fmla="*/ 17 h 65"/>
              <a:gd name="T80" fmla="*/ 298 w 326"/>
              <a:gd name="T81" fmla="*/ 14 h 65"/>
              <a:gd name="T82" fmla="*/ 288 w 326"/>
              <a:gd name="T83" fmla="*/ 12 h 65"/>
              <a:gd name="T84" fmla="*/ 266 w 326"/>
              <a:gd name="T85" fmla="*/ 7 h 65"/>
              <a:gd name="T86" fmla="*/ 241 w 326"/>
              <a:gd name="T87" fmla="*/ 3 h 65"/>
              <a:gd name="T88" fmla="*/ 211 w 326"/>
              <a:gd name="T89" fmla="*/ 1 h 65"/>
              <a:gd name="T90" fmla="*/ 180 w 326"/>
              <a:gd name="T91" fmla="*/ 0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26" h="65">
                <a:moveTo>
                  <a:pt x="162" y="0"/>
                </a:moveTo>
                <a:lnTo>
                  <a:pt x="146" y="0"/>
                </a:lnTo>
                <a:lnTo>
                  <a:pt x="130" y="0"/>
                </a:lnTo>
                <a:lnTo>
                  <a:pt x="115" y="1"/>
                </a:lnTo>
                <a:lnTo>
                  <a:pt x="99" y="2"/>
                </a:lnTo>
                <a:lnTo>
                  <a:pt x="85" y="3"/>
                </a:lnTo>
                <a:lnTo>
                  <a:pt x="71" y="6"/>
                </a:lnTo>
                <a:lnTo>
                  <a:pt x="60" y="7"/>
                </a:lnTo>
                <a:lnTo>
                  <a:pt x="48" y="9"/>
                </a:lnTo>
                <a:lnTo>
                  <a:pt x="38" y="12"/>
                </a:lnTo>
                <a:lnTo>
                  <a:pt x="32" y="13"/>
                </a:lnTo>
                <a:lnTo>
                  <a:pt x="28" y="14"/>
                </a:lnTo>
                <a:lnTo>
                  <a:pt x="24" y="15"/>
                </a:lnTo>
                <a:lnTo>
                  <a:pt x="20" y="17"/>
                </a:lnTo>
                <a:lnTo>
                  <a:pt x="15" y="19"/>
                </a:lnTo>
                <a:lnTo>
                  <a:pt x="13" y="20"/>
                </a:lnTo>
                <a:lnTo>
                  <a:pt x="10" y="21"/>
                </a:lnTo>
                <a:lnTo>
                  <a:pt x="7" y="23"/>
                </a:lnTo>
                <a:lnTo>
                  <a:pt x="5" y="24"/>
                </a:lnTo>
                <a:lnTo>
                  <a:pt x="4" y="26"/>
                </a:lnTo>
                <a:lnTo>
                  <a:pt x="1" y="28"/>
                </a:lnTo>
                <a:lnTo>
                  <a:pt x="0" y="29"/>
                </a:lnTo>
                <a:lnTo>
                  <a:pt x="0" y="31"/>
                </a:lnTo>
                <a:lnTo>
                  <a:pt x="0" y="33"/>
                </a:lnTo>
                <a:lnTo>
                  <a:pt x="0" y="35"/>
                </a:lnTo>
                <a:lnTo>
                  <a:pt x="0" y="36"/>
                </a:lnTo>
                <a:lnTo>
                  <a:pt x="1" y="37"/>
                </a:lnTo>
                <a:lnTo>
                  <a:pt x="4" y="40"/>
                </a:lnTo>
                <a:lnTo>
                  <a:pt x="5" y="41"/>
                </a:lnTo>
                <a:lnTo>
                  <a:pt x="7" y="43"/>
                </a:lnTo>
                <a:lnTo>
                  <a:pt x="10" y="44"/>
                </a:lnTo>
                <a:lnTo>
                  <a:pt x="13" y="46"/>
                </a:lnTo>
                <a:lnTo>
                  <a:pt x="15" y="47"/>
                </a:lnTo>
                <a:lnTo>
                  <a:pt x="20" y="49"/>
                </a:lnTo>
                <a:lnTo>
                  <a:pt x="24" y="50"/>
                </a:lnTo>
                <a:lnTo>
                  <a:pt x="28" y="51"/>
                </a:lnTo>
                <a:lnTo>
                  <a:pt x="32" y="53"/>
                </a:lnTo>
                <a:lnTo>
                  <a:pt x="38" y="54"/>
                </a:lnTo>
                <a:lnTo>
                  <a:pt x="48" y="56"/>
                </a:lnTo>
                <a:lnTo>
                  <a:pt x="60" y="58"/>
                </a:lnTo>
                <a:lnTo>
                  <a:pt x="71" y="61"/>
                </a:lnTo>
                <a:lnTo>
                  <a:pt x="85" y="62"/>
                </a:lnTo>
                <a:lnTo>
                  <a:pt x="99" y="63"/>
                </a:lnTo>
                <a:lnTo>
                  <a:pt x="115" y="64"/>
                </a:lnTo>
                <a:lnTo>
                  <a:pt x="130" y="65"/>
                </a:lnTo>
                <a:lnTo>
                  <a:pt x="146" y="65"/>
                </a:lnTo>
                <a:lnTo>
                  <a:pt x="162" y="65"/>
                </a:lnTo>
                <a:lnTo>
                  <a:pt x="180" y="65"/>
                </a:lnTo>
                <a:lnTo>
                  <a:pt x="195" y="65"/>
                </a:lnTo>
                <a:lnTo>
                  <a:pt x="211" y="64"/>
                </a:lnTo>
                <a:lnTo>
                  <a:pt x="227" y="63"/>
                </a:lnTo>
                <a:lnTo>
                  <a:pt x="241" y="62"/>
                </a:lnTo>
                <a:lnTo>
                  <a:pt x="253" y="61"/>
                </a:lnTo>
                <a:lnTo>
                  <a:pt x="266" y="58"/>
                </a:lnTo>
                <a:lnTo>
                  <a:pt x="278" y="56"/>
                </a:lnTo>
                <a:lnTo>
                  <a:pt x="288" y="54"/>
                </a:lnTo>
                <a:lnTo>
                  <a:pt x="293" y="53"/>
                </a:lnTo>
                <a:lnTo>
                  <a:pt x="298" y="51"/>
                </a:lnTo>
                <a:lnTo>
                  <a:pt x="302" y="50"/>
                </a:lnTo>
                <a:lnTo>
                  <a:pt x="306" y="49"/>
                </a:lnTo>
                <a:lnTo>
                  <a:pt x="309" y="47"/>
                </a:lnTo>
                <a:lnTo>
                  <a:pt x="313" y="46"/>
                </a:lnTo>
                <a:lnTo>
                  <a:pt x="315" y="44"/>
                </a:lnTo>
                <a:lnTo>
                  <a:pt x="319" y="43"/>
                </a:lnTo>
                <a:lnTo>
                  <a:pt x="321" y="41"/>
                </a:lnTo>
                <a:lnTo>
                  <a:pt x="322" y="40"/>
                </a:lnTo>
                <a:lnTo>
                  <a:pt x="324" y="37"/>
                </a:lnTo>
                <a:lnTo>
                  <a:pt x="325" y="36"/>
                </a:lnTo>
                <a:lnTo>
                  <a:pt x="326" y="35"/>
                </a:lnTo>
                <a:lnTo>
                  <a:pt x="326" y="33"/>
                </a:lnTo>
                <a:lnTo>
                  <a:pt x="326" y="31"/>
                </a:lnTo>
                <a:lnTo>
                  <a:pt x="325" y="29"/>
                </a:lnTo>
                <a:lnTo>
                  <a:pt x="324" y="28"/>
                </a:lnTo>
                <a:lnTo>
                  <a:pt x="322" y="26"/>
                </a:lnTo>
                <a:lnTo>
                  <a:pt x="321" y="24"/>
                </a:lnTo>
                <a:lnTo>
                  <a:pt x="319" y="23"/>
                </a:lnTo>
                <a:lnTo>
                  <a:pt x="315" y="21"/>
                </a:lnTo>
                <a:lnTo>
                  <a:pt x="313" y="20"/>
                </a:lnTo>
                <a:lnTo>
                  <a:pt x="309" y="19"/>
                </a:lnTo>
                <a:lnTo>
                  <a:pt x="306" y="17"/>
                </a:lnTo>
                <a:lnTo>
                  <a:pt x="302" y="15"/>
                </a:lnTo>
                <a:lnTo>
                  <a:pt x="298" y="14"/>
                </a:lnTo>
                <a:lnTo>
                  <a:pt x="293" y="13"/>
                </a:lnTo>
                <a:lnTo>
                  <a:pt x="288" y="12"/>
                </a:lnTo>
                <a:lnTo>
                  <a:pt x="278" y="9"/>
                </a:lnTo>
                <a:lnTo>
                  <a:pt x="266" y="7"/>
                </a:lnTo>
                <a:lnTo>
                  <a:pt x="253" y="6"/>
                </a:lnTo>
                <a:lnTo>
                  <a:pt x="241" y="3"/>
                </a:lnTo>
                <a:lnTo>
                  <a:pt x="227" y="2"/>
                </a:lnTo>
                <a:lnTo>
                  <a:pt x="211" y="1"/>
                </a:lnTo>
                <a:lnTo>
                  <a:pt x="195" y="0"/>
                </a:lnTo>
                <a:lnTo>
                  <a:pt x="180" y="0"/>
                </a:lnTo>
                <a:lnTo>
                  <a:pt x="162" y="0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Line 57"/>
          <p:cNvSpPr>
            <a:spLocks noChangeShapeType="1"/>
          </p:cNvSpPr>
          <p:nvPr/>
        </p:nvSpPr>
        <p:spPr bwMode="auto">
          <a:xfrm>
            <a:off x="3590925" y="3409950"/>
            <a:ext cx="1587" cy="65088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Line 58"/>
          <p:cNvSpPr>
            <a:spLocks noChangeShapeType="1"/>
          </p:cNvSpPr>
          <p:nvPr/>
        </p:nvSpPr>
        <p:spPr bwMode="auto">
          <a:xfrm>
            <a:off x="4108450" y="3409950"/>
            <a:ext cx="1587" cy="65088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Rectangle 59"/>
          <p:cNvSpPr>
            <a:spLocks noChangeArrowheads="1"/>
          </p:cNvSpPr>
          <p:nvPr/>
        </p:nvSpPr>
        <p:spPr bwMode="auto">
          <a:xfrm>
            <a:off x="3590925" y="3409950"/>
            <a:ext cx="511175" cy="6350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Rectangle 60"/>
          <p:cNvSpPr>
            <a:spLocks noChangeArrowheads="1"/>
          </p:cNvSpPr>
          <p:nvPr/>
        </p:nvSpPr>
        <p:spPr bwMode="auto">
          <a:xfrm>
            <a:off x="3883025" y="3436938"/>
            <a:ext cx="412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64" name="Freeform 61"/>
          <p:cNvSpPr>
            <a:spLocks/>
          </p:cNvSpPr>
          <p:nvPr/>
        </p:nvSpPr>
        <p:spPr bwMode="auto">
          <a:xfrm>
            <a:off x="3586162" y="3333750"/>
            <a:ext cx="515938" cy="122238"/>
          </a:xfrm>
          <a:custGeom>
            <a:avLst/>
            <a:gdLst>
              <a:gd name="T0" fmla="*/ 147 w 325"/>
              <a:gd name="T1" fmla="*/ 0 h 77"/>
              <a:gd name="T2" fmla="*/ 114 w 325"/>
              <a:gd name="T3" fmla="*/ 1 h 77"/>
              <a:gd name="T4" fmla="*/ 85 w 325"/>
              <a:gd name="T5" fmla="*/ 5 h 77"/>
              <a:gd name="T6" fmla="*/ 59 w 325"/>
              <a:gd name="T7" fmla="*/ 10 h 77"/>
              <a:gd name="T8" fmla="*/ 37 w 325"/>
              <a:gd name="T9" fmla="*/ 14 h 77"/>
              <a:gd name="T10" fmla="*/ 28 w 325"/>
              <a:gd name="T11" fmla="*/ 18 h 77"/>
              <a:gd name="T12" fmla="*/ 20 w 325"/>
              <a:gd name="T13" fmla="*/ 20 h 77"/>
              <a:gd name="T14" fmla="*/ 13 w 325"/>
              <a:gd name="T15" fmla="*/ 24 h 77"/>
              <a:gd name="T16" fmla="*/ 8 w 325"/>
              <a:gd name="T17" fmla="*/ 27 h 77"/>
              <a:gd name="T18" fmla="*/ 3 w 325"/>
              <a:gd name="T19" fmla="*/ 31 h 77"/>
              <a:gd name="T20" fmla="*/ 1 w 325"/>
              <a:gd name="T21" fmla="*/ 35 h 77"/>
              <a:gd name="T22" fmla="*/ 0 w 325"/>
              <a:gd name="T23" fmla="*/ 39 h 77"/>
              <a:gd name="T24" fmla="*/ 1 w 325"/>
              <a:gd name="T25" fmla="*/ 42 h 77"/>
              <a:gd name="T26" fmla="*/ 3 w 325"/>
              <a:gd name="T27" fmla="*/ 47 h 77"/>
              <a:gd name="T28" fmla="*/ 8 w 325"/>
              <a:gd name="T29" fmla="*/ 50 h 77"/>
              <a:gd name="T30" fmla="*/ 13 w 325"/>
              <a:gd name="T31" fmla="*/ 54 h 77"/>
              <a:gd name="T32" fmla="*/ 20 w 325"/>
              <a:gd name="T33" fmla="*/ 57 h 77"/>
              <a:gd name="T34" fmla="*/ 28 w 325"/>
              <a:gd name="T35" fmla="*/ 61 h 77"/>
              <a:gd name="T36" fmla="*/ 37 w 325"/>
              <a:gd name="T37" fmla="*/ 63 h 77"/>
              <a:gd name="T38" fmla="*/ 59 w 325"/>
              <a:gd name="T39" fmla="*/ 69 h 77"/>
              <a:gd name="T40" fmla="*/ 85 w 325"/>
              <a:gd name="T41" fmla="*/ 73 h 77"/>
              <a:gd name="T42" fmla="*/ 114 w 325"/>
              <a:gd name="T43" fmla="*/ 76 h 77"/>
              <a:gd name="T44" fmla="*/ 146 w 325"/>
              <a:gd name="T45" fmla="*/ 77 h 77"/>
              <a:gd name="T46" fmla="*/ 179 w 325"/>
              <a:gd name="T47" fmla="*/ 77 h 77"/>
              <a:gd name="T48" fmla="*/ 211 w 325"/>
              <a:gd name="T49" fmla="*/ 76 h 77"/>
              <a:gd name="T50" fmla="*/ 240 w 325"/>
              <a:gd name="T51" fmla="*/ 73 h 77"/>
              <a:gd name="T52" fmla="*/ 267 w 325"/>
              <a:gd name="T53" fmla="*/ 69 h 77"/>
              <a:gd name="T54" fmla="*/ 289 w 325"/>
              <a:gd name="T55" fmla="*/ 63 h 77"/>
              <a:gd name="T56" fmla="*/ 298 w 325"/>
              <a:gd name="T57" fmla="*/ 61 h 77"/>
              <a:gd name="T58" fmla="*/ 307 w 325"/>
              <a:gd name="T59" fmla="*/ 57 h 77"/>
              <a:gd name="T60" fmla="*/ 312 w 325"/>
              <a:gd name="T61" fmla="*/ 54 h 77"/>
              <a:gd name="T62" fmla="*/ 318 w 325"/>
              <a:gd name="T63" fmla="*/ 50 h 77"/>
              <a:gd name="T64" fmla="*/ 323 w 325"/>
              <a:gd name="T65" fmla="*/ 47 h 77"/>
              <a:gd name="T66" fmla="*/ 325 w 325"/>
              <a:gd name="T67" fmla="*/ 42 h 77"/>
              <a:gd name="T68" fmla="*/ 325 w 325"/>
              <a:gd name="T69" fmla="*/ 39 h 77"/>
              <a:gd name="T70" fmla="*/ 325 w 325"/>
              <a:gd name="T71" fmla="*/ 35 h 77"/>
              <a:gd name="T72" fmla="*/ 323 w 325"/>
              <a:gd name="T73" fmla="*/ 31 h 77"/>
              <a:gd name="T74" fmla="*/ 318 w 325"/>
              <a:gd name="T75" fmla="*/ 27 h 77"/>
              <a:gd name="T76" fmla="*/ 312 w 325"/>
              <a:gd name="T77" fmla="*/ 24 h 77"/>
              <a:gd name="T78" fmla="*/ 307 w 325"/>
              <a:gd name="T79" fmla="*/ 20 h 77"/>
              <a:gd name="T80" fmla="*/ 298 w 325"/>
              <a:gd name="T81" fmla="*/ 18 h 77"/>
              <a:gd name="T82" fmla="*/ 289 w 325"/>
              <a:gd name="T83" fmla="*/ 14 h 77"/>
              <a:gd name="T84" fmla="*/ 267 w 325"/>
              <a:gd name="T85" fmla="*/ 10 h 77"/>
              <a:gd name="T86" fmla="*/ 240 w 325"/>
              <a:gd name="T87" fmla="*/ 5 h 77"/>
              <a:gd name="T88" fmla="*/ 211 w 325"/>
              <a:gd name="T89" fmla="*/ 1 h 77"/>
              <a:gd name="T90" fmla="*/ 179 w 325"/>
              <a:gd name="T91" fmla="*/ 0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25" h="77">
                <a:moveTo>
                  <a:pt x="163" y="0"/>
                </a:moveTo>
                <a:lnTo>
                  <a:pt x="147" y="0"/>
                </a:lnTo>
                <a:lnTo>
                  <a:pt x="130" y="1"/>
                </a:lnTo>
                <a:lnTo>
                  <a:pt x="114" y="1"/>
                </a:lnTo>
                <a:lnTo>
                  <a:pt x="99" y="4"/>
                </a:lnTo>
                <a:lnTo>
                  <a:pt x="85" y="5"/>
                </a:lnTo>
                <a:lnTo>
                  <a:pt x="72" y="7"/>
                </a:lnTo>
                <a:lnTo>
                  <a:pt x="59" y="10"/>
                </a:lnTo>
                <a:lnTo>
                  <a:pt x="48" y="12"/>
                </a:lnTo>
                <a:lnTo>
                  <a:pt x="37" y="14"/>
                </a:lnTo>
                <a:lnTo>
                  <a:pt x="32" y="15"/>
                </a:lnTo>
                <a:lnTo>
                  <a:pt x="28" y="18"/>
                </a:lnTo>
                <a:lnTo>
                  <a:pt x="23" y="19"/>
                </a:lnTo>
                <a:lnTo>
                  <a:pt x="20" y="20"/>
                </a:lnTo>
                <a:lnTo>
                  <a:pt x="16" y="22"/>
                </a:lnTo>
                <a:lnTo>
                  <a:pt x="13" y="24"/>
                </a:lnTo>
                <a:lnTo>
                  <a:pt x="10" y="26"/>
                </a:lnTo>
                <a:lnTo>
                  <a:pt x="8" y="27"/>
                </a:lnTo>
                <a:lnTo>
                  <a:pt x="6" y="29"/>
                </a:lnTo>
                <a:lnTo>
                  <a:pt x="3" y="31"/>
                </a:lnTo>
                <a:lnTo>
                  <a:pt x="2" y="33"/>
                </a:lnTo>
                <a:lnTo>
                  <a:pt x="1" y="35"/>
                </a:lnTo>
                <a:lnTo>
                  <a:pt x="0" y="36"/>
                </a:lnTo>
                <a:lnTo>
                  <a:pt x="0" y="39"/>
                </a:lnTo>
                <a:lnTo>
                  <a:pt x="0" y="41"/>
                </a:lnTo>
                <a:lnTo>
                  <a:pt x="1" y="42"/>
                </a:lnTo>
                <a:lnTo>
                  <a:pt x="2" y="45"/>
                </a:lnTo>
                <a:lnTo>
                  <a:pt x="3" y="47"/>
                </a:lnTo>
                <a:lnTo>
                  <a:pt x="6" y="48"/>
                </a:lnTo>
                <a:lnTo>
                  <a:pt x="8" y="50"/>
                </a:lnTo>
                <a:lnTo>
                  <a:pt x="10" y="52"/>
                </a:lnTo>
                <a:lnTo>
                  <a:pt x="13" y="54"/>
                </a:lnTo>
                <a:lnTo>
                  <a:pt x="16" y="55"/>
                </a:lnTo>
                <a:lnTo>
                  <a:pt x="20" y="57"/>
                </a:lnTo>
                <a:lnTo>
                  <a:pt x="23" y="59"/>
                </a:lnTo>
                <a:lnTo>
                  <a:pt x="28" y="61"/>
                </a:lnTo>
                <a:lnTo>
                  <a:pt x="32" y="62"/>
                </a:lnTo>
                <a:lnTo>
                  <a:pt x="37" y="63"/>
                </a:lnTo>
                <a:lnTo>
                  <a:pt x="48" y="67"/>
                </a:lnTo>
                <a:lnTo>
                  <a:pt x="59" y="69"/>
                </a:lnTo>
                <a:lnTo>
                  <a:pt x="72" y="71"/>
                </a:lnTo>
                <a:lnTo>
                  <a:pt x="85" y="73"/>
                </a:lnTo>
                <a:lnTo>
                  <a:pt x="99" y="75"/>
                </a:lnTo>
                <a:lnTo>
                  <a:pt x="114" y="76"/>
                </a:lnTo>
                <a:lnTo>
                  <a:pt x="130" y="77"/>
                </a:lnTo>
                <a:lnTo>
                  <a:pt x="146" y="77"/>
                </a:lnTo>
                <a:lnTo>
                  <a:pt x="163" y="77"/>
                </a:lnTo>
                <a:lnTo>
                  <a:pt x="179" y="77"/>
                </a:lnTo>
                <a:lnTo>
                  <a:pt x="196" y="77"/>
                </a:lnTo>
                <a:lnTo>
                  <a:pt x="211" y="76"/>
                </a:lnTo>
                <a:lnTo>
                  <a:pt x="226" y="75"/>
                </a:lnTo>
                <a:lnTo>
                  <a:pt x="240" y="73"/>
                </a:lnTo>
                <a:lnTo>
                  <a:pt x="254" y="71"/>
                </a:lnTo>
                <a:lnTo>
                  <a:pt x="267" y="69"/>
                </a:lnTo>
                <a:lnTo>
                  <a:pt x="279" y="67"/>
                </a:lnTo>
                <a:lnTo>
                  <a:pt x="289" y="63"/>
                </a:lnTo>
                <a:lnTo>
                  <a:pt x="294" y="62"/>
                </a:lnTo>
                <a:lnTo>
                  <a:pt x="298" y="61"/>
                </a:lnTo>
                <a:lnTo>
                  <a:pt x="302" y="59"/>
                </a:lnTo>
                <a:lnTo>
                  <a:pt x="307" y="57"/>
                </a:lnTo>
                <a:lnTo>
                  <a:pt x="310" y="55"/>
                </a:lnTo>
                <a:lnTo>
                  <a:pt x="312" y="54"/>
                </a:lnTo>
                <a:lnTo>
                  <a:pt x="316" y="52"/>
                </a:lnTo>
                <a:lnTo>
                  <a:pt x="318" y="50"/>
                </a:lnTo>
                <a:lnTo>
                  <a:pt x="321" y="48"/>
                </a:lnTo>
                <a:lnTo>
                  <a:pt x="323" y="47"/>
                </a:lnTo>
                <a:lnTo>
                  <a:pt x="324" y="45"/>
                </a:lnTo>
                <a:lnTo>
                  <a:pt x="325" y="42"/>
                </a:lnTo>
                <a:lnTo>
                  <a:pt x="325" y="41"/>
                </a:lnTo>
                <a:lnTo>
                  <a:pt x="325" y="39"/>
                </a:lnTo>
                <a:lnTo>
                  <a:pt x="325" y="36"/>
                </a:lnTo>
                <a:lnTo>
                  <a:pt x="325" y="35"/>
                </a:lnTo>
                <a:lnTo>
                  <a:pt x="324" y="33"/>
                </a:lnTo>
                <a:lnTo>
                  <a:pt x="323" y="31"/>
                </a:lnTo>
                <a:lnTo>
                  <a:pt x="321" y="29"/>
                </a:lnTo>
                <a:lnTo>
                  <a:pt x="318" y="27"/>
                </a:lnTo>
                <a:lnTo>
                  <a:pt x="316" y="26"/>
                </a:lnTo>
                <a:lnTo>
                  <a:pt x="312" y="24"/>
                </a:lnTo>
                <a:lnTo>
                  <a:pt x="310" y="22"/>
                </a:lnTo>
                <a:lnTo>
                  <a:pt x="307" y="20"/>
                </a:lnTo>
                <a:lnTo>
                  <a:pt x="302" y="19"/>
                </a:lnTo>
                <a:lnTo>
                  <a:pt x="298" y="18"/>
                </a:lnTo>
                <a:lnTo>
                  <a:pt x="294" y="15"/>
                </a:lnTo>
                <a:lnTo>
                  <a:pt x="289" y="14"/>
                </a:lnTo>
                <a:lnTo>
                  <a:pt x="279" y="12"/>
                </a:lnTo>
                <a:lnTo>
                  <a:pt x="267" y="10"/>
                </a:lnTo>
                <a:lnTo>
                  <a:pt x="254" y="7"/>
                </a:lnTo>
                <a:lnTo>
                  <a:pt x="240" y="5"/>
                </a:lnTo>
                <a:lnTo>
                  <a:pt x="226" y="4"/>
                </a:lnTo>
                <a:lnTo>
                  <a:pt x="211" y="1"/>
                </a:lnTo>
                <a:lnTo>
                  <a:pt x="196" y="1"/>
                </a:lnTo>
                <a:lnTo>
                  <a:pt x="179" y="0"/>
                </a:lnTo>
                <a:lnTo>
                  <a:pt x="163" y="0"/>
                </a:lnTo>
                <a:close/>
              </a:path>
            </a:pathLst>
          </a:cu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Freeform 62"/>
          <p:cNvSpPr>
            <a:spLocks/>
          </p:cNvSpPr>
          <p:nvPr/>
        </p:nvSpPr>
        <p:spPr bwMode="auto">
          <a:xfrm>
            <a:off x="3586162" y="3333750"/>
            <a:ext cx="515938" cy="122238"/>
          </a:xfrm>
          <a:custGeom>
            <a:avLst/>
            <a:gdLst>
              <a:gd name="T0" fmla="*/ 147 w 325"/>
              <a:gd name="T1" fmla="*/ 0 h 77"/>
              <a:gd name="T2" fmla="*/ 114 w 325"/>
              <a:gd name="T3" fmla="*/ 1 h 77"/>
              <a:gd name="T4" fmla="*/ 85 w 325"/>
              <a:gd name="T5" fmla="*/ 5 h 77"/>
              <a:gd name="T6" fmla="*/ 59 w 325"/>
              <a:gd name="T7" fmla="*/ 10 h 77"/>
              <a:gd name="T8" fmla="*/ 37 w 325"/>
              <a:gd name="T9" fmla="*/ 14 h 77"/>
              <a:gd name="T10" fmla="*/ 28 w 325"/>
              <a:gd name="T11" fmla="*/ 18 h 77"/>
              <a:gd name="T12" fmla="*/ 20 w 325"/>
              <a:gd name="T13" fmla="*/ 20 h 77"/>
              <a:gd name="T14" fmla="*/ 13 w 325"/>
              <a:gd name="T15" fmla="*/ 24 h 77"/>
              <a:gd name="T16" fmla="*/ 8 w 325"/>
              <a:gd name="T17" fmla="*/ 27 h 77"/>
              <a:gd name="T18" fmla="*/ 3 w 325"/>
              <a:gd name="T19" fmla="*/ 31 h 77"/>
              <a:gd name="T20" fmla="*/ 1 w 325"/>
              <a:gd name="T21" fmla="*/ 35 h 77"/>
              <a:gd name="T22" fmla="*/ 0 w 325"/>
              <a:gd name="T23" fmla="*/ 39 h 77"/>
              <a:gd name="T24" fmla="*/ 1 w 325"/>
              <a:gd name="T25" fmla="*/ 42 h 77"/>
              <a:gd name="T26" fmla="*/ 3 w 325"/>
              <a:gd name="T27" fmla="*/ 47 h 77"/>
              <a:gd name="T28" fmla="*/ 8 w 325"/>
              <a:gd name="T29" fmla="*/ 50 h 77"/>
              <a:gd name="T30" fmla="*/ 13 w 325"/>
              <a:gd name="T31" fmla="*/ 54 h 77"/>
              <a:gd name="T32" fmla="*/ 20 w 325"/>
              <a:gd name="T33" fmla="*/ 57 h 77"/>
              <a:gd name="T34" fmla="*/ 28 w 325"/>
              <a:gd name="T35" fmla="*/ 61 h 77"/>
              <a:gd name="T36" fmla="*/ 37 w 325"/>
              <a:gd name="T37" fmla="*/ 63 h 77"/>
              <a:gd name="T38" fmla="*/ 59 w 325"/>
              <a:gd name="T39" fmla="*/ 69 h 77"/>
              <a:gd name="T40" fmla="*/ 85 w 325"/>
              <a:gd name="T41" fmla="*/ 73 h 77"/>
              <a:gd name="T42" fmla="*/ 114 w 325"/>
              <a:gd name="T43" fmla="*/ 76 h 77"/>
              <a:gd name="T44" fmla="*/ 146 w 325"/>
              <a:gd name="T45" fmla="*/ 77 h 77"/>
              <a:gd name="T46" fmla="*/ 179 w 325"/>
              <a:gd name="T47" fmla="*/ 77 h 77"/>
              <a:gd name="T48" fmla="*/ 211 w 325"/>
              <a:gd name="T49" fmla="*/ 76 h 77"/>
              <a:gd name="T50" fmla="*/ 240 w 325"/>
              <a:gd name="T51" fmla="*/ 73 h 77"/>
              <a:gd name="T52" fmla="*/ 267 w 325"/>
              <a:gd name="T53" fmla="*/ 69 h 77"/>
              <a:gd name="T54" fmla="*/ 289 w 325"/>
              <a:gd name="T55" fmla="*/ 63 h 77"/>
              <a:gd name="T56" fmla="*/ 298 w 325"/>
              <a:gd name="T57" fmla="*/ 61 h 77"/>
              <a:gd name="T58" fmla="*/ 307 w 325"/>
              <a:gd name="T59" fmla="*/ 57 h 77"/>
              <a:gd name="T60" fmla="*/ 312 w 325"/>
              <a:gd name="T61" fmla="*/ 54 h 77"/>
              <a:gd name="T62" fmla="*/ 318 w 325"/>
              <a:gd name="T63" fmla="*/ 50 h 77"/>
              <a:gd name="T64" fmla="*/ 323 w 325"/>
              <a:gd name="T65" fmla="*/ 47 h 77"/>
              <a:gd name="T66" fmla="*/ 325 w 325"/>
              <a:gd name="T67" fmla="*/ 42 h 77"/>
              <a:gd name="T68" fmla="*/ 325 w 325"/>
              <a:gd name="T69" fmla="*/ 39 h 77"/>
              <a:gd name="T70" fmla="*/ 325 w 325"/>
              <a:gd name="T71" fmla="*/ 35 h 77"/>
              <a:gd name="T72" fmla="*/ 323 w 325"/>
              <a:gd name="T73" fmla="*/ 31 h 77"/>
              <a:gd name="T74" fmla="*/ 318 w 325"/>
              <a:gd name="T75" fmla="*/ 27 h 77"/>
              <a:gd name="T76" fmla="*/ 312 w 325"/>
              <a:gd name="T77" fmla="*/ 24 h 77"/>
              <a:gd name="T78" fmla="*/ 307 w 325"/>
              <a:gd name="T79" fmla="*/ 20 h 77"/>
              <a:gd name="T80" fmla="*/ 298 w 325"/>
              <a:gd name="T81" fmla="*/ 18 h 77"/>
              <a:gd name="T82" fmla="*/ 289 w 325"/>
              <a:gd name="T83" fmla="*/ 14 h 77"/>
              <a:gd name="T84" fmla="*/ 267 w 325"/>
              <a:gd name="T85" fmla="*/ 10 h 77"/>
              <a:gd name="T86" fmla="*/ 240 w 325"/>
              <a:gd name="T87" fmla="*/ 5 h 77"/>
              <a:gd name="T88" fmla="*/ 211 w 325"/>
              <a:gd name="T89" fmla="*/ 1 h 77"/>
              <a:gd name="T90" fmla="*/ 179 w 325"/>
              <a:gd name="T91" fmla="*/ 0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25" h="77">
                <a:moveTo>
                  <a:pt x="163" y="0"/>
                </a:moveTo>
                <a:lnTo>
                  <a:pt x="147" y="0"/>
                </a:lnTo>
                <a:lnTo>
                  <a:pt x="130" y="1"/>
                </a:lnTo>
                <a:lnTo>
                  <a:pt x="114" y="1"/>
                </a:lnTo>
                <a:lnTo>
                  <a:pt x="99" y="4"/>
                </a:lnTo>
                <a:lnTo>
                  <a:pt x="85" y="5"/>
                </a:lnTo>
                <a:lnTo>
                  <a:pt x="72" y="7"/>
                </a:lnTo>
                <a:lnTo>
                  <a:pt x="59" y="10"/>
                </a:lnTo>
                <a:lnTo>
                  <a:pt x="48" y="12"/>
                </a:lnTo>
                <a:lnTo>
                  <a:pt x="37" y="14"/>
                </a:lnTo>
                <a:lnTo>
                  <a:pt x="32" y="15"/>
                </a:lnTo>
                <a:lnTo>
                  <a:pt x="28" y="18"/>
                </a:lnTo>
                <a:lnTo>
                  <a:pt x="23" y="19"/>
                </a:lnTo>
                <a:lnTo>
                  <a:pt x="20" y="20"/>
                </a:lnTo>
                <a:lnTo>
                  <a:pt x="16" y="22"/>
                </a:lnTo>
                <a:lnTo>
                  <a:pt x="13" y="24"/>
                </a:lnTo>
                <a:lnTo>
                  <a:pt x="10" y="26"/>
                </a:lnTo>
                <a:lnTo>
                  <a:pt x="8" y="27"/>
                </a:lnTo>
                <a:lnTo>
                  <a:pt x="6" y="29"/>
                </a:lnTo>
                <a:lnTo>
                  <a:pt x="3" y="31"/>
                </a:lnTo>
                <a:lnTo>
                  <a:pt x="2" y="33"/>
                </a:lnTo>
                <a:lnTo>
                  <a:pt x="1" y="35"/>
                </a:lnTo>
                <a:lnTo>
                  <a:pt x="0" y="36"/>
                </a:lnTo>
                <a:lnTo>
                  <a:pt x="0" y="39"/>
                </a:lnTo>
                <a:lnTo>
                  <a:pt x="0" y="41"/>
                </a:lnTo>
                <a:lnTo>
                  <a:pt x="1" y="42"/>
                </a:lnTo>
                <a:lnTo>
                  <a:pt x="2" y="45"/>
                </a:lnTo>
                <a:lnTo>
                  <a:pt x="3" y="47"/>
                </a:lnTo>
                <a:lnTo>
                  <a:pt x="6" y="48"/>
                </a:lnTo>
                <a:lnTo>
                  <a:pt x="8" y="50"/>
                </a:lnTo>
                <a:lnTo>
                  <a:pt x="10" y="52"/>
                </a:lnTo>
                <a:lnTo>
                  <a:pt x="13" y="54"/>
                </a:lnTo>
                <a:lnTo>
                  <a:pt x="16" y="55"/>
                </a:lnTo>
                <a:lnTo>
                  <a:pt x="20" y="57"/>
                </a:lnTo>
                <a:lnTo>
                  <a:pt x="23" y="59"/>
                </a:lnTo>
                <a:lnTo>
                  <a:pt x="28" y="61"/>
                </a:lnTo>
                <a:lnTo>
                  <a:pt x="32" y="62"/>
                </a:lnTo>
                <a:lnTo>
                  <a:pt x="37" y="63"/>
                </a:lnTo>
                <a:lnTo>
                  <a:pt x="48" y="67"/>
                </a:lnTo>
                <a:lnTo>
                  <a:pt x="59" y="69"/>
                </a:lnTo>
                <a:lnTo>
                  <a:pt x="72" y="71"/>
                </a:lnTo>
                <a:lnTo>
                  <a:pt x="85" y="73"/>
                </a:lnTo>
                <a:lnTo>
                  <a:pt x="99" y="75"/>
                </a:lnTo>
                <a:lnTo>
                  <a:pt x="114" y="76"/>
                </a:lnTo>
                <a:lnTo>
                  <a:pt x="130" y="77"/>
                </a:lnTo>
                <a:lnTo>
                  <a:pt x="146" y="77"/>
                </a:lnTo>
                <a:lnTo>
                  <a:pt x="163" y="77"/>
                </a:lnTo>
                <a:lnTo>
                  <a:pt x="179" y="77"/>
                </a:lnTo>
                <a:lnTo>
                  <a:pt x="196" y="77"/>
                </a:lnTo>
                <a:lnTo>
                  <a:pt x="211" y="76"/>
                </a:lnTo>
                <a:lnTo>
                  <a:pt x="226" y="75"/>
                </a:lnTo>
                <a:lnTo>
                  <a:pt x="240" y="73"/>
                </a:lnTo>
                <a:lnTo>
                  <a:pt x="254" y="71"/>
                </a:lnTo>
                <a:lnTo>
                  <a:pt x="267" y="69"/>
                </a:lnTo>
                <a:lnTo>
                  <a:pt x="279" y="67"/>
                </a:lnTo>
                <a:lnTo>
                  <a:pt x="289" y="63"/>
                </a:lnTo>
                <a:lnTo>
                  <a:pt x="294" y="62"/>
                </a:lnTo>
                <a:lnTo>
                  <a:pt x="298" y="61"/>
                </a:lnTo>
                <a:lnTo>
                  <a:pt x="302" y="59"/>
                </a:lnTo>
                <a:lnTo>
                  <a:pt x="307" y="57"/>
                </a:lnTo>
                <a:lnTo>
                  <a:pt x="310" y="55"/>
                </a:lnTo>
                <a:lnTo>
                  <a:pt x="312" y="54"/>
                </a:lnTo>
                <a:lnTo>
                  <a:pt x="316" y="52"/>
                </a:lnTo>
                <a:lnTo>
                  <a:pt x="318" y="50"/>
                </a:lnTo>
                <a:lnTo>
                  <a:pt x="321" y="48"/>
                </a:lnTo>
                <a:lnTo>
                  <a:pt x="323" y="47"/>
                </a:lnTo>
                <a:lnTo>
                  <a:pt x="324" y="45"/>
                </a:lnTo>
                <a:lnTo>
                  <a:pt x="325" y="42"/>
                </a:lnTo>
                <a:lnTo>
                  <a:pt x="325" y="41"/>
                </a:lnTo>
                <a:lnTo>
                  <a:pt x="325" y="39"/>
                </a:lnTo>
                <a:lnTo>
                  <a:pt x="325" y="36"/>
                </a:lnTo>
                <a:lnTo>
                  <a:pt x="325" y="35"/>
                </a:lnTo>
                <a:lnTo>
                  <a:pt x="324" y="33"/>
                </a:lnTo>
                <a:lnTo>
                  <a:pt x="323" y="31"/>
                </a:lnTo>
                <a:lnTo>
                  <a:pt x="321" y="29"/>
                </a:lnTo>
                <a:lnTo>
                  <a:pt x="318" y="27"/>
                </a:lnTo>
                <a:lnTo>
                  <a:pt x="316" y="26"/>
                </a:lnTo>
                <a:lnTo>
                  <a:pt x="312" y="24"/>
                </a:lnTo>
                <a:lnTo>
                  <a:pt x="310" y="22"/>
                </a:lnTo>
                <a:lnTo>
                  <a:pt x="307" y="20"/>
                </a:lnTo>
                <a:lnTo>
                  <a:pt x="302" y="19"/>
                </a:lnTo>
                <a:lnTo>
                  <a:pt x="298" y="18"/>
                </a:lnTo>
                <a:lnTo>
                  <a:pt x="294" y="15"/>
                </a:lnTo>
                <a:lnTo>
                  <a:pt x="289" y="14"/>
                </a:lnTo>
                <a:lnTo>
                  <a:pt x="279" y="12"/>
                </a:lnTo>
                <a:lnTo>
                  <a:pt x="267" y="10"/>
                </a:lnTo>
                <a:lnTo>
                  <a:pt x="254" y="7"/>
                </a:lnTo>
                <a:lnTo>
                  <a:pt x="240" y="5"/>
                </a:lnTo>
                <a:lnTo>
                  <a:pt x="226" y="4"/>
                </a:lnTo>
                <a:lnTo>
                  <a:pt x="211" y="1"/>
                </a:lnTo>
                <a:lnTo>
                  <a:pt x="196" y="1"/>
                </a:lnTo>
                <a:lnTo>
                  <a:pt x="179" y="0"/>
                </a:lnTo>
                <a:lnTo>
                  <a:pt x="163" y="0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Line 63"/>
          <p:cNvSpPr>
            <a:spLocks noChangeShapeType="1"/>
          </p:cNvSpPr>
          <p:nvPr/>
        </p:nvSpPr>
        <p:spPr bwMode="auto">
          <a:xfrm>
            <a:off x="3709987" y="3362325"/>
            <a:ext cx="92075" cy="1588"/>
          </a:xfrm>
          <a:prstGeom prst="line">
            <a:avLst/>
          </a:prstGeom>
          <a:noFill/>
          <a:ln w="349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Line 64"/>
          <p:cNvSpPr>
            <a:spLocks noChangeShapeType="1"/>
          </p:cNvSpPr>
          <p:nvPr/>
        </p:nvSpPr>
        <p:spPr bwMode="auto">
          <a:xfrm>
            <a:off x="3886200" y="3432175"/>
            <a:ext cx="80962" cy="1588"/>
          </a:xfrm>
          <a:prstGeom prst="line">
            <a:avLst/>
          </a:prstGeom>
          <a:noFill/>
          <a:ln w="349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Line 65"/>
          <p:cNvSpPr>
            <a:spLocks noChangeShapeType="1"/>
          </p:cNvSpPr>
          <p:nvPr/>
        </p:nvSpPr>
        <p:spPr bwMode="auto">
          <a:xfrm>
            <a:off x="3795712" y="3362325"/>
            <a:ext cx="93663" cy="69850"/>
          </a:xfrm>
          <a:prstGeom prst="line">
            <a:avLst/>
          </a:prstGeom>
          <a:noFill/>
          <a:ln w="349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Line 66"/>
          <p:cNvSpPr>
            <a:spLocks noChangeShapeType="1"/>
          </p:cNvSpPr>
          <p:nvPr/>
        </p:nvSpPr>
        <p:spPr bwMode="auto">
          <a:xfrm>
            <a:off x="3709987" y="3430588"/>
            <a:ext cx="92075" cy="1587"/>
          </a:xfrm>
          <a:prstGeom prst="line">
            <a:avLst/>
          </a:prstGeom>
          <a:noFill/>
          <a:ln w="349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Line 67"/>
          <p:cNvSpPr>
            <a:spLocks noChangeShapeType="1"/>
          </p:cNvSpPr>
          <p:nvPr/>
        </p:nvSpPr>
        <p:spPr bwMode="auto">
          <a:xfrm>
            <a:off x="3886200" y="3360738"/>
            <a:ext cx="80962" cy="1587"/>
          </a:xfrm>
          <a:prstGeom prst="line">
            <a:avLst/>
          </a:prstGeom>
          <a:noFill/>
          <a:ln w="349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Line 68"/>
          <p:cNvSpPr>
            <a:spLocks noChangeShapeType="1"/>
          </p:cNvSpPr>
          <p:nvPr/>
        </p:nvSpPr>
        <p:spPr bwMode="auto">
          <a:xfrm flipV="1">
            <a:off x="3795712" y="3360738"/>
            <a:ext cx="93663" cy="69850"/>
          </a:xfrm>
          <a:prstGeom prst="line">
            <a:avLst/>
          </a:prstGeom>
          <a:noFill/>
          <a:ln w="349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Line 69"/>
          <p:cNvSpPr>
            <a:spLocks noChangeShapeType="1"/>
          </p:cNvSpPr>
          <p:nvPr/>
        </p:nvSpPr>
        <p:spPr bwMode="auto">
          <a:xfrm>
            <a:off x="4716462" y="3576638"/>
            <a:ext cx="1588" cy="7620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Line 70"/>
          <p:cNvSpPr>
            <a:spLocks noChangeShapeType="1"/>
          </p:cNvSpPr>
          <p:nvPr/>
        </p:nvSpPr>
        <p:spPr bwMode="auto">
          <a:xfrm>
            <a:off x="5356225" y="3576638"/>
            <a:ext cx="1587" cy="7620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Rectangle 71"/>
          <p:cNvSpPr>
            <a:spLocks noChangeArrowheads="1"/>
          </p:cNvSpPr>
          <p:nvPr/>
        </p:nvSpPr>
        <p:spPr bwMode="auto">
          <a:xfrm>
            <a:off x="5068887" y="3605213"/>
            <a:ext cx="412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75" name="Line 72"/>
          <p:cNvSpPr>
            <a:spLocks noChangeShapeType="1"/>
          </p:cNvSpPr>
          <p:nvPr/>
        </p:nvSpPr>
        <p:spPr bwMode="auto">
          <a:xfrm>
            <a:off x="3402012" y="2957513"/>
            <a:ext cx="1588" cy="868362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Line 73"/>
          <p:cNvSpPr>
            <a:spLocks noChangeShapeType="1"/>
          </p:cNvSpPr>
          <p:nvPr/>
        </p:nvSpPr>
        <p:spPr bwMode="auto">
          <a:xfrm>
            <a:off x="3171825" y="2957513"/>
            <a:ext cx="230187" cy="1587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Line 74"/>
          <p:cNvSpPr>
            <a:spLocks noChangeShapeType="1"/>
          </p:cNvSpPr>
          <p:nvPr/>
        </p:nvSpPr>
        <p:spPr bwMode="auto">
          <a:xfrm>
            <a:off x="3171825" y="3467100"/>
            <a:ext cx="230187" cy="1588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Line 75"/>
          <p:cNvSpPr>
            <a:spLocks noChangeShapeType="1"/>
          </p:cNvSpPr>
          <p:nvPr/>
        </p:nvSpPr>
        <p:spPr bwMode="auto">
          <a:xfrm>
            <a:off x="3171825" y="3821113"/>
            <a:ext cx="230187" cy="1587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" name="Line 76"/>
          <p:cNvSpPr>
            <a:spLocks noChangeShapeType="1"/>
          </p:cNvSpPr>
          <p:nvPr/>
        </p:nvSpPr>
        <p:spPr bwMode="auto">
          <a:xfrm>
            <a:off x="3402012" y="3413125"/>
            <a:ext cx="184150" cy="1588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" name="Line 77"/>
          <p:cNvSpPr>
            <a:spLocks noChangeShapeType="1"/>
          </p:cNvSpPr>
          <p:nvPr/>
        </p:nvSpPr>
        <p:spPr bwMode="auto">
          <a:xfrm>
            <a:off x="4108450" y="3432175"/>
            <a:ext cx="182562" cy="1588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Line 78"/>
          <p:cNvSpPr>
            <a:spLocks noChangeShapeType="1"/>
          </p:cNvSpPr>
          <p:nvPr/>
        </p:nvSpPr>
        <p:spPr bwMode="auto">
          <a:xfrm>
            <a:off x="4294187" y="3048000"/>
            <a:ext cx="1588" cy="777875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Line 79"/>
          <p:cNvSpPr>
            <a:spLocks noChangeShapeType="1"/>
          </p:cNvSpPr>
          <p:nvPr/>
        </p:nvSpPr>
        <p:spPr bwMode="auto">
          <a:xfrm>
            <a:off x="4062412" y="3048000"/>
            <a:ext cx="228600" cy="1588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Line 80"/>
          <p:cNvSpPr>
            <a:spLocks noChangeShapeType="1"/>
          </p:cNvSpPr>
          <p:nvPr/>
        </p:nvSpPr>
        <p:spPr bwMode="auto">
          <a:xfrm>
            <a:off x="4062412" y="3825875"/>
            <a:ext cx="228600" cy="1588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" name="Freeform 81"/>
          <p:cNvSpPr>
            <a:spLocks/>
          </p:cNvSpPr>
          <p:nvPr/>
        </p:nvSpPr>
        <p:spPr bwMode="auto">
          <a:xfrm>
            <a:off x="2771775" y="3287713"/>
            <a:ext cx="395287" cy="330200"/>
          </a:xfrm>
          <a:custGeom>
            <a:avLst/>
            <a:gdLst>
              <a:gd name="T0" fmla="*/ 70 w 249"/>
              <a:gd name="T1" fmla="*/ 14 h 208"/>
              <a:gd name="T2" fmla="*/ 70 w 249"/>
              <a:gd name="T3" fmla="*/ 14 h 208"/>
              <a:gd name="T4" fmla="*/ 73 w 249"/>
              <a:gd name="T5" fmla="*/ 14 h 208"/>
              <a:gd name="T6" fmla="*/ 75 w 249"/>
              <a:gd name="T7" fmla="*/ 12 h 208"/>
              <a:gd name="T8" fmla="*/ 79 w 249"/>
              <a:gd name="T9" fmla="*/ 11 h 208"/>
              <a:gd name="T10" fmla="*/ 83 w 249"/>
              <a:gd name="T11" fmla="*/ 10 h 208"/>
              <a:gd name="T12" fmla="*/ 88 w 249"/>
              <a:gd name="T13" fmla="*/ 9 h 208"/>
              <a:gd name="T14" fmla="*/ 95 w 249"/>
              <a:gd name="T15" fmla="*/ 8 h 208"/>
              <a:gd name="T16" fmla="*/ 103 w 249"/>
              <a:gd name="T17" fmla="*/ 5 h 208"/>
              <a:gd name="T18" fmla="*/ 111 w 249"/>
              <a:gd name="T19" fmla="*/ 4 h 208"/>
              <a:gd name="T20" fmla="*/ 121 w 249"/>
              <a:gd name="T21" fmla="*/ 3 h 208"/>
              <a:gd name="T22" fmla="*/ 132 w 249"/>
              <a:gd name="T23" fmla="*/ 2 h 208"/>
              <a:gd name="T24" fmla="*/ 144 w 249"/>
              <a:gd name="T25" fmla="*/ 1 h 208"/>
              <a:gd name="T26" fmla="*/ 157 w 249"/>
              <a:gd name="T27" fmla="*/ 0 h 208"/>
              <a:gd name="T28" fmla="*/ 170 w 249"/>
              <a:gd name="T29" fmla="*/ 0 h 208"/>
              <a:gd name="T30" fmla="*/ 185 w 249"/>
              <a:gd name="T31" fmla="*/ 0 h 208"/>
              <a:gd name="T32" fmla="*/ 201 w 249"/>
              <a:gd name="T33" fmla="*/ 0 h 208"/>
              <a:gd name="T34" fmla="*/ 208 w 249"/>
              <a:gd name="T35" fmla="*/ 28 h 208"/>
              <a:gd name="T36" fmla="*/ 210 w 249"/>
              <a:gd name="T37" fmla="*/ 29 h 208"/>
              <a:gd name="T38" fmla="*/ 216 w 249"/>
              <a:gd name="T39" fmla="*/ 32 h 208"/>
              <a:gd name="T40" fmla="*/ 222 w 249"/>
              <a:gd name="T41" fmla="*/ 39 h 208"/>
              <a:gd name="T42" fmla="*/ 226 w 249"/>
              <a:gd name="T43" fmla="*/ 50 h 208"/>
              <a:gd name="T44" fmla="*/ 240 w 249"/>
              <a:gd name="T45" fmla="*/ 115 h 208"/>
              <a:gd name="T46" fmla="*/ 247 w 249"/>
              <a:gd name="T47" fmla="*/ 143 h 208"/>
              <a:gd name="T48" fmla="*/ 247 w 249"/>
              <a:gd name="T49" fmla="*/ 146 h 208"/>
              <a:gd name="T50" fmla="*/ 248 w 249"/>
              <a:gd name="T51" fmla="*/ 150 h 208"/>
              <a:gd name="T52" fmla="*/ 248 w 249"/>
              <a:gd name="T53" fmla="*/ 159 h 208"/>
              <a:gd name="T54" fmla="*/ 244 w 249"/>
              <a:gd name="T55" fmla="*/ 169 h 208"/>
              <a:gd name="T56" fmla="*/ 0 w 249"/>
              <a:gd name="T57" fmla="*/ 162 h 208"/>
              <a:gd name="T58" fmla="*/ 25 w 249"/>
              <a:gd name="T59" fmla="*/ 149 h 208"/>
              <a:gd name="T60" fmla="*/ 25 w 249"/>
              <a:gd name="T61" fmla="*/ 28 h 208"/>
              <a:gd name="T62" fmla="*/ 26 w 249"/>
              <a:gd name="T63" fmla="*/ 27 h 208"/>
              <a:gd name="T64" fmla="*/ 28 w 249"/>
              <a:gd name="T65" fmla="*/ 25 h 208"/>
              <a:gd name="T66" fmla="*/ 32 w 249"/>
              <a:gd name="T67" fmla="*/ 24 h 208"/>
              <a:gd name="T68" fmla="*/ 37 w 249"/>
              <a:gd name="T69" fmla="*/ 22 h 208"/>
              <a:gd name="T70" fmla="*/ 42 w 249"/>
              <a:gd name="T71" fmla="*/ 22 h 208"/>
              <a:gd name="T72" fmla="*/ 49 w 249"/>
              <a:gd name="T73" fmla="*/ 22 h 208"/>
              <a:gd name="T74" fmla="*/ 58 w 249"/>
              <a:gd name="T75" fmla="*/ 23 h 208"/>
              <a:gd name="T76" fmla="*/ 68 w 249"/>
              <a:gd name="T77" fmla="*/ 27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49" h="208">
                <a:moveTo>
                  <a:pt x="68" y="27"/>
                </a:moveTo>
                <a:lnTo>
                  <a:pt x="70" y="14"/>
                </a:lnTo>
                <a:lnTo>
                  <a:pt x="70" y="14"/>
                </a:lnTo>
                <a:lnTo>
                  <a:pt x="70" y="14"/>
                </a:lnTo>
                <a:lnTo>
                  <a:pt x="72" y="14"/>
                </a:lnTo>
                <a:lnTo>
                  <a:pt x="73" y="14"/>
                </a:lnTo>
                <a:lnTo>
                  <a:pt x="74" y="12"/>
                </a:lnTo>
                <a:lnTo>
                  <a:pt x="75" y="12"/>
                </a:lnTo>
                <a:lnTo>
                  <a:pt x="76" y="12"/>
                </a:lnTo>
                <a:lnTo>
                  <a:pt x="79" y="11"/>
                </a:lnTo>
                <a:lnTo>
                  <a:pt x="81" y="11"/>
                </a:lnTo>
                <a:lnTo>
                  <a:pt x="83" y="10"/>
                </a:lnTo>
                <a:lnTo>
                  <a:pt x="86" y="9"/>
                </a:lnTo>
                <a:lnTo>
                  <a:pt x="88" y="9"/>
                </a:lnTo>
                <a:lnTo>
                  <a:pt x="91" y="8"/>
                </a:lnTo>
                <a:lnTo>
                  <a:pt x="95" y="8"/>
                </a:lnTo>
                <a:lnTo>
                  <a:pt x="98" y="7"/>
                </a:lnTo>
                <a:lnTo>
                  <a:pt x="103" y="5"/>
                </a:lnTo>
                <a:lnTo>
                  <a:pt x="107" y="5"/>
                </a:lnTo>
                <a:lnTo>
                  <a:pt x="111" y="4"/>
                </a:lnTo>
                <a:lnTo>
                  <a:pt x="116" y="4"/>
                </a:lnTo>
                <a:lnTo>
                  <a:pt x="121" y="3"/>
                </a:lnTo>
                <a:lnTo>
                  <a:pt x="126" y="2"/>
                </a:lnTo>
                <a:lnTo>
                  <a:pt x="132" y="2"/>
                </a:lnTo>
                <a:lnTo>
                  <a:pt x="137" y="1"/>
                </a:lnTo>
                <a:lnTo>
                  <a:pt x="144" y="1"/>
                </a:lnTo>
                <a:lnTo>
                  <a:pt x="150" y="1"/>
                </a:lnTo>
                <a:lnTo>
                  <a:pt x="157" y="0"/>
                </a:lnTo>
                <a:lnTo>
                  <a:pt x="163" y="0"/>
                </a:lnTo>
                <a:lnTo>
                  <a:pt x="170" y="0"/>
                </a:lnTo>
                <a:lnTo>
                  <a:pt x="178" y="0"/>
                </a:lnTo>
                <a:lnTo>
                  <a:pt x="185" y="0"/>
                </a:lnTo>
                <a:lnTo>
                  <a:pt x="193" y="0"/>
                </a:lnTo>
                <a:lnTo>
                  <a:pt x="201" y="0"/>
                </a:lnTo>
                <a:lnTo>
                  <a:pt x="210" y="4"/>
                </a:lnTo>
                <a:lnTo>
                  <a:pt x="208" y="28"/>
                </a:lnTo>
                <a:lnTo>
                  <a:pt x="208" y="28"/>
                </a:lnTo>
                <a:lnTo>
                  <a:pt x="210" y="29"/>
                </a:lnTo>
                <a:lnTo>
                  <a:pt x="213" y="31"/>
                </a:lnTo>
                <a:lnTo>
                  <a:pt x="216" y="32"/>
                </a:lnTo>
                <a:lnTo>
                  <a:pt x="220" y="36"/>
                </a:lnTo>
                <a:lnTo>
                  <a:pt x="222" y="39"/>
                </a:lnTo>
                <a:lnTo>
                  <a:pt x="224" y="44"/>
                </a:lnTo>
                <a:lnTo>
                  <a:pt x="226" y="50"/>
                </a:lnTo>
                <a:lnTo>
                  <a:pt x="245" y="67"/>
                </a:lnTo>
                <a:lnTo>
                  <a:pt x="240" y="115"/>
                </a:lnTo>
                <a:lnTo>
                  <a:pt x="208" y="132"/>
                </a:lnTo>
                <a:lnTo>
                  <a:pt x="247" y="143"/>
                </a:lnTo>
                <a:lnTo>
                  <a:pt x="247" y="143"/>
                </a:lnTo>
                <a:lnTo>
                  <a:pt x="247" y="146"/>
                </a:lnTo>
                <a:lnTo>
                  <a:pt x="248" y="148"/>
                </a:lnTo>
                <a:lnTo>
                  <a:pt x="248" y="150"/>
                </a:lnTo>
                <a:lnTo>
                  <a:pt x="249" y="154"/>
                </a:lnTo>
                <a:lnTo>
                  <a:pt x="248" y="159"/>
                </a:lnTo>
                <a:lnTo>
                  <a:pt x="247" y="163"/>
                </a:lnTo>
                <a:lnTo>
                  <a:pt x="244" y="169"/>
                </a:lnTo>
                <a:lnTo>
                  <a:pt x="144" y="208"/>
                </a:lnTo>
                <a:lnTo>
                  <a:pt x="0" y="162"/>
                </a:lnTo>
                <a:lnTo>
                  <a:pt x="3" y="157"/>
                </a:lnTo>
                <a:lnTo>
                  <a:pt x="25" y="149"/>
                </a:lnTo>
                <a:lnTo>
                  <a:pt x="25" y="28"/>
                </a:lnTo>
                <a:lnTo>
                  <a:pt x="25" y="28"/>
                </a:lnTo>
                <a:lnTo>
                  <a:pt x="25" y="28"/>
                </a:lnTo>
                <a:lnTo>
                  <a:pt x="26" y="27"/>
                </a:lnTo>
                <a:lnTo>
                  <a:pt x="27" y="27"/>
                </a:lnTo>
                <a:lnTo>
                  <a:pt x="28" y="25"/>
                </a:lnTo>
                <a:lnTo>
                  <a:pt x="31" y="24"/>
                </a:lnTo>
                <a:lnTo>
                  <a:pt x="32" y="24"/>
                </a:lnTo>
                <a:lnTo>
                  <a:pt x="34" y="23"/>
                </a:lnTo>
                <a:lnTo>
                  <a:pt x="37" y="22"/>
                </a:lnTo>
                <a:lnTo>
                  <a:pt x="40" y="22"/>
                </a:lnTo>
                <a:lnTo>
                  <a:pt x="42" y="22"/>
                </a:lnTo>
                <a:lnTo>
                  <a:pt x="46" y="22"/>
                </a:lnTo>
                <a:lnTo>
                  <a:pt x="49" y="22"/>
                </a:lnTo>
                <a:lnTo>
                  <a:pt x="53" y="22"/>
                </a:lnTo>
                <a:lnTo>
                  <a:pt x="58" y="23"/>
                </a:lnTo>
                <a:lnTo>
                  <a:pt x="61" y="24"/>
                </a:lnTo>
                <a:lnTo>
                  <a:pt x="68" y="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" name="Freeform 82"/>
          <p:cNvSpPr>
            <a:spLocks/>
          </p:cNvSpPr>
          <p:nvPr/>
        </p:nvSpPr>
        <p:spPr bwMode="auto">
          <a:xfrm>
            <a:off x="2909887" y="3311525"/>
            <a:ext cx="125413" cy="144463"/>
          </a:xfrm>
          <a:custGeom>
            <a:avLst/>
            <a:gdLst>
              <a:gd name="T0" fmla="*/ 78 w 79"/>
              <a:gd name="T1" fmla="*/ 3 h 91"/>
              <a:gd name="T2" fmla="*/ 78 w 79"/>
              <a:gd name="T3" fmla="*/ 3 h 91"/>
              <a:gd name="T4" fmla="*/ 77 w 79"/>
              <a:gd name="T5" fmla="*/ 3 h 91"/>
              <a:gd name="T6" fmla="*/ 74 w 79"/>
              <a:gd name="T7" fmla="*/ 2 h 91"/>
              <a:gd name="T8" fmla="*/ 72 w 79"/>
              <a:gd name="T9" fmla="*/ 2 h 91"/>
              <a:gd name="T10" fmla="*/ 69 w 79"/>
              <a:gd name="T11" fmla="*/ 1 h 91"/>
              <a:gd name="T12" fmla="*/ 65 w 79"/>
              <a:gd name="T13" fmla="*/ 1 h 91"/>
              <a:gd name="T14" fmla="*/ 60 w 79"/>
              <a:gd name="T15" fmla="*/ 1 h 91"/>
              <a:gd name="T16" fmla="*/ 56 w 79"/>
              <a:gd name="T17" fmla="*/ 0 h 91"/>
              <a:gd name="T18" fmla="*/ 50 w 79"/>
              <a:gd name="T19" fmla="*/ 0 h 91"/>
              <a:gd name="T20" fmla="*/ 44 w 79"/>
              <a:gd name="T21" fmla="*/ 0 h 91"/>
              <a:gd name="T22" fmla="*/ 38 w 79"/>
              <a:gd name="T23" fmla="*/ 1 h 91"/>
              <a:gd name="T24" fmla="*/ 31 w 79"/>
              <a:gd name="T25" fmla="*/ 2 h 91"/>
              <a:gd name="T26" fmla="*/ 25 w 79"/>
              <a:gd name="T27" fmla="*/ 3 h 91"/>
              <a:gd name="T28" fmla="*/ 18 w 79"/>
              <a:gd name="T29" fmla="*/ 6 h 91"/>
              <a:gd name="T30" fmla="*/ 11 w 79"/>
              <a:gd name="T31" fmla="*/ 8 h 91"/>
              <a:gd name="T32" fmla="*/ 4 w 79"/>
              <a:gd name="T33" fmla="*/ 10 h 91"/>
              <a:gd name="T34" fmla="*/ 4 w 79"/>
              <a:gd name="T35" fmla="*/ 13 h 91"/>
              <a:gd name="T36" fmla="*/ 3 w 79"/>
              <a:gd name="T37" fmla="*/ 17 h 91"/>
              <a:gd name="T38" fmla="*/ 1 w 79"/>
              <a:gd name="T39" fmla="*/ 26 h 91"/>
              <a:gd name="T40" fmla="*/ 0 w 79"/>
              <a:gd name="T41" fmla="*/ 35 h 91"/>
              <a:gd name="T42" fmla="*/ 0 w 79"/>
              <a:gd name="T43" fmla="*/ 47 h 91"/>
              <a:gd name="T44" fmla="*/ 0 w 79"/>
              <a:gd name="T45" fmla="*/ 59 h 91"/>
              <a:gd name="T46" fmla="*/ 2 w 79"/>
              <a:gd name="T47" fmla="*/ 73 h 91"/>
              <a:gd name="T48" fmla="*/ 6 w 79"/>
              <a:gd name="T49" fmla="*/ 89 h 91"/>
              <a:gd name="T50" fmla="*/ 7 w 79"/>
              <a:gd name="T51" fmla="*/ 89 h 91"/>
              <a:gd name="T52" fmla="*/ 8 w 79"/>
              <a:gd name="T53" fmla="*/ 89 h 91"/>
              <a:gd name="T54" fmla="*/ 9 w 79"/>
              <a:gd name="T55" fmla="*/ 87 h 91"/>
              <a:gd name="T56" fmla="*/ 11 w 79"/>
              <a:gd name="T57" fmla="*/ 87 h 91"/>
              <a:gd name="T58" fmla="*/ 15 w 79"/>
              <a:gd name="T59" fmla="*/ 87 h 91"/>
              <a:gd name="T60" fmla="*/ 18 w 79"/>
              <a:gd name="T61" fmla="*/ 87 h 91"/>
              <a:gd name="T62" fmla="*/ 22 w 79"/>
              <a:gd name="T63" fmla="*/ 87 h 91"/>
              <a:gd name="T64" fmla="*/ 27 w 79"/>
              <a:gd name="T65" fmla="*/ 87 h 91"/>
              <a:gd name="T66" fmla="*/ 32 w 79"/>
              <a:gd name="T67" fmla="*/ 86 h 91"/>
              <a:gd name="T68" fmla="*/ 38 w 79"/>
              <a:gd name="T69" fmla="*/ 87 h 91"/>
              <a:gd name="T70" fmla="*/ 44 w 79"/>
              <a:gd name="T71" fmla="*/ 87 h 91"/>
              <a:gd name="T72" fmla="*/ 50 w 79"/>
              <a:gd name="T73" fmla="*/ 87 h 91"/>
              <a:gd name="T74" fmla="*/ 57 w 79"/>
              <a:gd name="T75" fmla="*/ 87 h 91"/>
              <a:gd name="T76" fmla="*/ 64 w 79"/>
              <a:gd name="T77" fmla="*/ 89 h 91"/>
              <a:gd name="T78" fmla="*/ 71 w 79"/>
              <a:gd name="T79" fmla="*/ 90 h 91"/>
              <a:gd name="T80" fmla="*/ 79 w 79"/>
              <a:gd name="T81" fmla="*/ 91 h 91"/>
              <a:gd name="T82" fmla="*/ 79 w 79"/>
              <a:gd name="T83" fmla="*/ 87 h 91"/>
              <a:gd name="T84" fmla="*/ 78 w 79"/>
              <a:gd name="T85" fmla="*/ 80 h 91"/>
              <a:gd name="T86" fmla="*/ 77 w 79"/>
              <a:gd name="T87" fmla="*/ 70 h 91"/>
              <a:gd name="T88" fmla="*/ 76 w 79"/>
              <a:gd name="T89" fmla="*/ 57 h 91"/>
              <a:gd name="T90" fmla="*/ 76 w 79"/>
              <a:gd name="T91" fmla="*/ 43 h 91"/>
              <a:gd name="T92" fmla="*/ 76 w 79"/>
              <a:gd name="T93" fmla="*/ 28 h 91"/>
              <a:gd name="T94" fmla="*/ 77 w 79"/>
              <a:gd name="T95" fmla="*/ 15 h 91"/>
              <a:gd name="T96" fmla="*/ 78 w 79"/>
              <a:gd name="T97" fmla="*/ 3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91">
                <a:moveTo>
                  <a:pt x="78" y="3"/>
                </a:moveTo>
                <a:lnTo>
                  <a:pt x="78" y="3"/>
                </a:lnTo>
                <a:lnTo>
                  <a:pt x="77" y="3"/>
                </a:lnTo>
                <a:lnTo>
                  <a:pt x="74" y="2"/>
                </a:lnTo>
                <a:lnTo>
                  <a:pt x="72" y="2"/>
                </a:lnTo>
                <a:lnTo>
                  <a:pt x="69" y="1"/>
                </a:lnTo>
                <a:lnTo>
                  <a:pt x="65" y="1"/>
                </a:lnTo>
                <a:lnTo>
                  <a:pt x="60" y="1"/>
                </a:lnTo>
                <a:lnTo>
                  <a:pt x="56" y="0"/>
                </a:lnTo>
                <a:lnTo>
                  <a:pt x="50" y="0"/>
                </a:lnTo>
                <a:lnTo>
                  <a:pt x="44" y="0"/>
                </a:lnTo>
                <a:lnTo>
                  <a:pt x="38" y="1"/>
                </a:lnTo>
                <a:lnTo>
                  <a:pt x="31" y="2"/>
                </a:lnTo>
                <a:lnTo>
                  <a:pt x="25" y="3"/>
                </a:lnTo>
                <a:lnTo>
                  <a:pt x="18" y="6"/>
                </a:lnTo>
                <a:lnTo>
                  <a:pt x="11" y="8"/>
                </a:lnTo>
                <a:lnTo>
                  <a:pt x="4" y="10"/>
                </a:lnTo>
                <a:lnTo>
                  <a:pt x="4" y="13"/>
                </a:lnTo>
                <a:lnTo>
                  <a:pt x="3" y="17"/>
                </a:lnTo>
                <a:lnTo>
                  <a:pt x="1" y="26"/>
                </a:lnTo>
                <a:lnTo>
                  <a:pt x="0" y="35"/>
                </a:lnTo>
                <a:lnTo>
                  <a:pt x="0" y="47"/>
                </a:lnTo>
                <a:lnTo>
                  <a:pt x="0" y="59"/>
                </a:lnTo>
                <a:lnTo>
                  <a:pt x="2" y="73"/>
                </a:lnTo>
                <a:lnTo>
                  <a:pt x="6" y="89"/>
                </a:lnTo>
                <a:lnTo>
                  <a:pt x="7" y="89"/>
                </a:lnTo>
                <a:lnTo>
                  <a:pt x="8" y="89"/>
                </a:lnTo>
                <a:lnTo>
                  <a:pt x="9" y="87"/>
                </a:lnTo>
                <a:lnTo>
                  <a:pt x="11" y="87"/>
                </a:lnTo>
                <a:lnTo>
                  <a:pt x="15" y="87"/>
                </a:lnTo>
                <a:lnTo>
                  <a:pt x="18" y="87"/>
                </a:lnTo>
                <a:lnTo>
                  <a:pt x="22" y="87"/>
                </a:lnTo>
                <a:lnTo>
                  <a:pt x="27" y="87"/>
                </a:lnTo>
                <a:lnTo>
                  <a:pt x="32" y="86"/>
                </a:lnTo>
                <a:lnTo>
                  <a:pt x="38" y="87"/>
                </a:lnTo>
                <a:lnTo>
                  <a:pt x="44" y="87"/>
                </a:lnTo>
                <a:lnTo>
                  <a:pt x="50" y="87"/>
                </a:lnTo>
                <a:lnTo>
                  <a:pt x="57" y="87"/>
                </a:lnTo>
                <a:lnTo>
                  <a:pt x="64" y="89"/>
                </a:lnTo>
                <a:lnTo>
                  <a:pt x="71" y="90"/>
                </a:lnTo>
                <a:lnTo>
                  <a:pt x="79" y="91"/>
                </a:lnTo>
                <a:lnTo>
                  <a:pt x="79" y="87"/>
                </a:lnTo>
                <a:lnTo>
                  <a:pt x="78" y="80"/>
                </a:lnTo>
                <a:lnTo>
                  <a:pt x="77" y="70"/>
                </a:lnTo>
                <a:lnTo>
                  <a:pt x="76" y="57"/>
                </a:lnTo>
                <a:lnTo>
                  <a:pt x="76" y="43"/>
                </a:lnTo>
                <a:lnTo>
                  <a:pt x="76" y="28"/>
                </a:lnTo>
                <a:lnTo>
                  <a:pt x="77" y="15"/>
                </a:lnTo>
                <a:lnTo>
                  <a:pt x="78" y="3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Freeform 83"/>
          <p:cNvSpPr>
            <a:spLocks/>
          </p:cNvSpPr>
          <p:nvPr/>
        </p:nvSpPr>
        <p:spPr bwMode="auto">
          <a:xfrm>
            <a:off x="2922587" y="3349625"/>
            <a:ext cx="209550" cy="142875"/>
          </a:xfrm>
          <a:custGeom>
            <a:avLst/>
            <a:gdLst>
              <a:gd name="T0" fmla="*/ 1 w 132"/>
              <a:gd name="T1" fmla="*/ 68 h 90"/>
              <a:gd name="T2" fmla="*/ 0 w 132"/>
              <a:gd name="T3" fmla="*/ 80 h 90"/>
              <a:gd name="T4" fmla="*/ 86 w 132"/>
              <a:gd name="T5" fmla="*/ 90 h 90"/>
              <a:gd name="T6" fmla="*/ 86 w 132"/>
              <a:gd name="T7" fmla="*/ 90 h 90"/>
              <a:gd name="T8" fmla="*/ 89 w 132"/>
              <a:gd name="T9" fmla="*/ 89 h 90"/>
              <a:gd name="T10" fmla="*/ 91 w 132"/>
              <a:gd name="T11" fmla="*/ 88 h 90"/>
              <a:gd name="T12" fmla="*/ 94 w 132"/>
              <a:gd name="T13" fmla="*/ 86 h 90"/>
              <a:gd name="T14" fmla="*/ 98 w 132"/>
              <a:gd name="T15" fmla="*/ 83 h 90"/>
              <a:gd name="T16" fmla="*/ 103 w 132"/>
              <a:gd name="T17" fmla="*/ 80 h 90"/>
              <a:gd name="T18" fmla="*/ 107 w 132"/>
              <a:gd name="T19" fmla="*/ 76 h 90"/>
              <a:gd name="T20" fmla="*/ 112 w 132"/>
              <a:gd name="T21" fmla="*/ 72 h 90"/>
              <a:gd name="T22" fmla="*/ 117 w 132"/>
              <a:gd name="T23" fmla="*/ 67 h 90"/>
              <a:gd name="T24" fmla="*/ 121 w 132"/>
              <a:gd name="T25" fmla="*/ 61 h 90"/>
              <a:gd name="T26" fmla="*/ 125 w 132"/>
              <a:gd name="T27" fmla="*/ 55 h 90"/>
              <a:gd name="T28" fmla="*/ 128 w 132"/>
              <a:gd name="T29" fmla="*/ 48 h 90"/>
              <a:gd name="T30" fmla="*/ 131 w 132"/>
              <a:gd name="T31" fmla="*/ 40 h 90"/>
              <a:gd name="T32" fmla="*/ 132 w 132"/>
              <a:gd name="T33" fmla="*/ 32 h 90"/>
              <a:gd name="T34" fmla="*/ 132 w 132"/>
              <a:gd name="T35" fmla="*/ 24 h 90"/>
              <a:gd name="T36" fmla="*/ 129 w 132"/>
              <a:gd name="T37" fmla="*/ 14 h 90"/>
              <a:gd name="T38" fmla="*/ 129 w 132"/>
              <a:gd name="T39" fmla="*/ 13 h 90"/>
              <a:gd name="T40" fmla="*/ 128 w 132"/>
              <a:gd name="T41" fmla="*/ 12 h 90"/>
              <a:gd name="T42" fmla="*/ 127 w 132"/>
              <a:gd name="T43" fmla="*/ 10 h 90"/>
              <a:gd name="T44" fmla="*/ 126 w 132"/>
              <a:gd name="T45" fmla="*/ 7 h 90"/>
              <a:gd name="T46" fmla="*/ 124 w 132"/>
              <a:gd name="T47" fmla="*/ 5 h 90"/>
              <a:gd name="T48" fmla="*/ 120 w 132"/>
              <a:gd name="T49" fmla="*/ 3 h 90"/>
              <a:gd name="T50" fmla="*/ 117 w 132"/>
              <a:gd name="T51" fmla="*/ 2 h 90"/>
              <a:gd name="T52" fmla="*/ 113 w 132"/>
              <a:gd name="T53" fmla="*/ 0 h 90"/>
              <a:gd name="T54" fmla="*/ 113 w 132"/>
              <a:gd name="T55" fmla="*/ 3 h 90"/>
              <a:gd name="T56" fmla="*/ 114 w 132"/>
              <a:gd name="T57" fmla="*/ 6 h 90"/>
              <a:gd name="T58" fmla="*/ 117 w 132"/>
              <a:gd name="T59" fmla="*/ 12 h 90"/>
              <a:gd name="T60" fmla="*/ 118 w 132"/>
              <a:gd name="T61" fmla="*/ 20 h 90"/>
              <a:gd name="T62" fmla="*/ 118 w 132"/>
              <a:gd name="T63" fmla="*/ 30 h 90"/>
              <a:gd name="T64" fmla="*/ 117 w 132"/>
              <a:gd name="T65" fmla="*/ 40 h 90"/>
              <a:gd name="T66" fmla="*/ 114 w 132"/>
              <a:gd name="T67" fmla="*/ 52 h 90"/>
              <a:gd name="T68" fmla="*/ 108 w 132"/>
              <a:gd name="T69" fmla="*/ 65 h 90"/>
              <a:gd name="T70" fmla="*/ 108 w 132"/>
              <a:gd name="T71" fmla="*/ 65 h 90"/>
              <a:gd name="T72" fmla="*/ 108 w 132"/>
              <a:gd name="T73" fmla="*/ 65 h 90"/>
              <a:gd name="T74" fmla="*/ 107 w 132"/>
              <a:gd name="T75" fmla="*/ 66 h 90"/>
              <a:gd name="T76" fmla="*/ 106 w 132"/>
              <a:gd name="T77" fmla="*/ 67 h 90"/>
              <a:gd name="T78" fmla="*/ 105 w 132"/>
              <a:gd name="T79" fmla="*/ 67 h 90"/>
              <a:gd name="T80" fmla="*/ 103 w 132"/>
              <a:gd name="T81" fmla="*/ 68 h 90"/>
              <a:gd name="T82" fmla="*/ 100 w 132"/>
              <a:gd name="T83" fmla="*/ 69 h 90"/>
              <a:gd name="T84" fmla="*/ 98 w 132"/>
              <a:gd name="T85" fmla="*/ 70 h 90"/>
              <a:gd name="T86" fmla="*/ 96 w 132"/>
              <a:gd name="T87" fmla="*/ 72 h 90"/>
              <a:gd name="T88" fmla="*/ 92 w 132"/>
              <a:gd name="T89" fmla="*/ 73 h 90"/>
              <a:gd name="T90" fmla="*/ 90 w 132"/>
              <a:gd name="T91" fmla="*/ 73 h 90"/>
              <a:gd name="T92" fmla="*/ 85 w 132"/>
              <a:gd name="T93" fmla="*/ 74 h 90"/>
              <a:gd name="T94" fmla="*/ 82 w 132"/>
              <a:gd name="T95" fmla="*/ 74 h 90"/>
              <a:gd name="T96" fmla="*/ 78 w 132"/>
              <a:gd name="T97" fmla="*/ 74 h 90"/>
              <a:gd name="T98" fmla="*/ 73 w 132"/>
              <a:gd name="T99" fmla="*/ 73 h 90"/>
              <a:gd name="T100" fmla="*/ 69 w 132"/>
              <a:gd name="T101" fmla="*/ 73 h 90"/>
              <a:gd name="T102" fmla="*/ 69 w 132"/>
              <a:gd name="T103" fmla="*/ 84 h 90"/>
              <a:gd name="T104" fmla="*/ 3 w 132"/>
              <a:gd name="T105" fmla="*/ 77 h 90"/>
              <a:gd name="T106" fmla="*/ 1 w 132"/>
              <a:gd name="T107" fmla="*/ 68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32" h="90">
                <a:moveTo>
                  <a:pt x="1" y="68"/>
                </a:moveTo>
                <a:lnTo>
                  <a:pt x="0" y="80"/>
                </a:lnTo>
                <a:lnTo>
                  <a:pt x="86" y="90"/>
                </a:lnTo>
                <a:lnTo>
                  <a:pt x="86" y="90"/>
                </a:lnTo>
                <a:lnTo>
                  <a:pt x="89" y="89"/>
                </a:lnTo>
                <a:lnTo>
                  <a:pt x="91" y="88"/>
                </a:lnTo>
                <a:lnTo>
                  <a:pt x="94" y="86"/>
                </a:lnTo>
                <a:lnTo>
                  <a:pt x="98" y="83"/>
                </a:lnTo>
                <a:lnTo>
                  <a:pt x="103" y="80"/>
                </a:lnTo>
                <a:lnTo>
                  <a:pt x="107" y="76"/>
                </a:lnTo>
                <a:lnTo>
                  <a:pt x="112" y="72"/>
                </a:lnTo>
                <a:lnTo>
                  <a:pt x="117" y="67"/>
                </a:lnTo>
                <a:lnTo>
                  <a:pt x="121" y="61"/>
                </a:lnTo>
                <a:lnTo>
                  <a:pt x="125" y="55"/>
                </a:lnTo>
                <a:lnTo>
                  <a:pt x="128" y="48"/>
                </a:lnTo>
                <a:lnTo>
                  <a:pt x="131" y="40"/>
                </a:lnTo>
                <a:lnTo>
                  <a:pt x="132" y="32"/>
                </a:lnTo>
                <a:lnTo>
                  <a:pt x="132" y="24"/>
                </a:lnTo>
                <a:lnTo>
                  <a:pt x="129" y="14"/>
                </a:lnTo>
                <a:lnTo>
                  <a:pt x="129" y="13"/>
                </a:lnTo>
                <a:lnTo>
                  <a:pt x="128" y="12"/>
                </a:lnTo>
                <a:lnTo>
                  <a:pt x="127" y="10"/>
                </a:lnTo>
                <a:lnTo>
                  <a:pt x="126" y="7"/>
                </a:lnTo>
                <a:lnTo>
                  <a:pt x="124" y="5"/>
                </a:lnTo>
                <a:lnTo>
                  <a:pt x="120" y="3"/>
                </a:lnTo>
                <a:lnTo>
                  <a:pt x="117" y="2"/>
                </a:lnTo>
                <a:lnTo>
                  <a:pt x="113" y="0"/>
                </a:lnTo>
                <a:lnTo>
                  <a:pt x="113" y="3"/>
                </a:lnTo>
                <a:lnTo>
                  <a:pt x="114" y="6"/>
                </a:lnTo>
                <a:lnTo>
                  <a:pt x="117" y="12"/>
                </a:lnTo>
                <a:lnTo>
                  <a:pt x="118" y="20"/>
                </a:lnTo>
                <a:lnTo>
                  <a:pt x="118" y="30"/>
                </a:lnTo>
                <a:lnTo>
                  <a:pt x="117" y="40"/>
                </a:lnTo>
                <a:lnTo>
                  <a:pt x="114" y="52"/>
                </a:lnTo>
                <a:lnTo>
                  <a:pt x="108" y="65"/>
                </a:lnTo>
                <a:lnTo>
                  <a:pt x="108" y="65"/>
                </a:lnTo>
                <a:lnTo>
                  <a:pt x="108" y="65"/>
                </a:lnTo>
                <a:lnTo>
                  <a:pt x="107" y="66"/>
                </a:lnTo>
                <a:lnTo>
                  <a:pt x="106" y="67"/>
                </a:lnTo>
                <a:lnTo>
                  <a:pt x="105" y="67"/>
                </a:lnTo>
                <a:lnTo>
                  <a:pt x="103" y="68"/>
                </a:lnTo>
                <a:lnTo>
                  <a:pt x="100" y="69"/>
                </a:lnTo>
                <a:lnTo>
                  <a:pt x="98" y="70"/>
                </a:lnTo>
                <a:lnTo>
                  <a:pt x="96" y="72"/>
                </a:lnTo>
                <a:lnTo>
                  <a:pt x="92" y="73"/>
                </a:lnTo>
                <a:lnTo>
                  <a:pt x="90" y="73"/>
                </a:lnTo>
                <a:lnTo>
                  <a:pt x="85" y="74"/>
                </a:lnTo>
                <a:lnTo>
                  <a:pt x="82" y="74"/>
                </a:lnTo>
                <a:lnTo>
                  <a:pt x="78" y="74"/>
                </a:lnTo>
                <a:lnTo>
                  <a:pt x="73" y="73"/>
                </a:lnTo>
                <a:lnTo>
                  <a:pt x="69" y="73"/>
                </a:lnTo>
                <a:lnTo>
                  <a:pt x="69" y="84"/>
                </a:lnTo>
                <a:lnTo>
                  <a:pt x="3" y="77"/>
                </a:lnTo>
                <a:lnTo>
                  <a:pt x="1" y="68"/>
                </a:lnTo>
                <a:close/>
              </a:path>
            </a:pathLst>
          </a:custGeom>
          <a:solidFill>
            <a:srgbClr val="99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Freeform 84"/>
          <p:cNvSpPr>
            <a:spLocks/>
          </p:cNvSpPr>
          <p:nvPr/>
        </p:nvSpPr>
        <p:spPr bwMode="auto">
          <a:xfrm>
            <a:off x="2897187" y="3490913"/>
            <a:ext cx="152400" cy="50800"/>
          </a:xfrm>
          <a:custGeom>
            <a:avLst/>
            <a:gdLst>
              <a:gd name="T0" fmla="*/ 96 w 96"/>
              <a:gd name="T1" fmla="*/ 12 h 32"/>
              <a:gd name="T2" fmla="*/ 1 w 96"/>
              <a:gd name="T3" fmla="*/ 0 h 32"/>
              <a:gd name="T4" fmla="*/ 0 w 96"/>
              <a:gd name="T5" fmla="*/ 12 h 32"/>
              <a:gd name="T6" fmla="*/ 93 w 96"/>
              <a:gd name="T7" fmla="*/ 32 h 32"/>
              <a:gd name="T8" fmla="*/ 96 w 96"/>
              <a:gd name="T9" fmla="*/ 1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32">
                <a:moveTo>
                  <a:pt x="96" y="12"/>
                </a:moveTo>
                <a:lnTo>
                  <a:pt x="1" y="0"/>
                </a:lnTo>
                <a:lnTo>
                  <a:pt x="0" y="12"/>
                </a:lnTo>
                <a:lnTo>
                  <a:pt x="93" y="32"/>
                </a:lnTo>
                <a:lnTo>
                  <a:pt x="96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" name="Freeform 85"/>
          <p:cNvSpPr>
            <a:spLocks/>
          </p:cNvSpPr>
          <p:nvPr/>
        </p:nvSpPr>
        <p:spPr bwMode="auto">
          <a:xfrm>
            <a:off x="2971800" y="3508375"/>
            <a:ext cx="66675" cy="22225"/>
          </a:xfrm>
          <a:custGeom>
            <a:avLst/>
            <a:gdLst>
              <a:gd name="T0" fmla="*/ 42 w 42"/>
              <a:gd name="T1" fmla="*/ 6 h 14"/>
              <a:gd name="T2" fmla="*/ 2 w 42"/>
              <a:gd name="T3" fmla="*/ 0 h 14"/>
              <a:gd name="T4" fmla="*/ 0 w 42"/>
              <a:gd name="T5" fmla="*/ 6 h 14"/>
              <a:gd name="T6" fmla="*/ 40 w 42"/>
              <a:gd name="T7" fmla="*/ 14 h 14"/>
              <a:gd name="T8" fmla="*/ 42 w 42"/>
              <a:gd name="T9" fmla="*/ 6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" h="14">
                <a:moveTo>
                  <a:pt x="42" y="6"/>
                </a:moveTo>
                <a:lnTo>
                  <a:pt x="2" y="0"/>
                </a:lnTo>
                <a:lnTo>
                  <a:pt x="0" y="6"/>
                </a:lnTo>
                <a:lnTo>
                  <a:pt x="40" y="14"/>
                </a:lnTo>
                <a:lnTo>
                  <a:pt x="42" y="6"/>
                </a:lnTo>
                <a:close/>
              </a:path>
            </a:pathLst>
          </a:custGeom>
          <a:solidFill>
            <a:srgbClr val="99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" name="Freeform 86"/>
          <p:cNvSpPr>
            <a:spLocks/>
          </p:cNvSpPr>
          <p:nvPr/>
        </p:nvSpPr>
        <p:spPr bwMode="auto">
          <a:xfrm>
            <a:off x="2905125" y="3497263"/>
            <a:ext cx="44450" cy="15875"/>
          </a:xfrm>
          <a:custGeom>
            <a:avLst/>
            <a:gdLst>
              <a:gd name="T0" fmla="*/ 28 w 28"/>
              <a:gd name="T1" fmla="*/ 4 h 10"/>
              <a:gd name="T2" fmla="*/ 0 w 28"/>
              <a:gd name="T3" fmla="*/ 0 h 10"/>
              <a:gd name="T4" fmla="*/ 0 w 28"/>
              <a:gd name="T5" fmla="*/ 4 h 10"/>
              <a:gd name="T6" fmla="*/ 27 w 28"/>
              <a:gd name="T7" fmla="*/ 10 h 10"/>
              <a:gd name="T8" fmla="*/ 28 w 28"/>
              <a:gd name="T9" fmla="*/ 4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" h="10">
                <a:moveTo>
                  <a:pt x="28" y="4"/>
                </a:moveTo>
                <a:lnTo>
                  <a:pt x="0" y="0"/>
                </a:lnTo>
                <a:lnTo>
                  <a:pt x="0" y="4"/>
                </a:lnTo>
                <a:lnTo>
                  <a:pt x="27" y="10"/>
                </a:lnTo>
                <a:lnTo>
                  <a:pt x="28" y="4"/>
                </a:lnTo>
                <a:close/>
              </a:path>
            </a:pathLst>
          </a:custGeom>
          <a:solidFill>
            <a:srgbClr val="99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Freeform 87"/>
          <p:cNvSpPr>
            <a:spLocks/>
          </p:cNvSpPr>
          <p:nvPr/>
        </p:nvSpPr>
        <p:spPr bwMode="auto">
          <a:xfrm>
            <a:off x="2797175" y="3511550"/>
            <a:ext cx="257175" cy="87313"/>
          </a:xfrm>
          <a:custGeom>
            <a:avLst/>
            <a:gdLst>
              <a:gd name="T0" fmla="*/ 0 w 162"/>
              <a:gd name="T1" fmla="*/ 16 h 55"/>
              <a:gd name="T2" fmla="*/ 0 w 162"/>
              <a:gd name="T3" fmla="*/ 16 h 55"/>
              <a:gd name="T4" fmla="*/ 1 w 162"/>
              <a:gd name="T5" fmla="*/ 16 h 55"/>
              <a:gd name="T6" fmla="*/ 2 w 162"/>
              <a:gd name="T7" fmla="*/ 16 h 55"/>
              <a:gd name="T8" fmla="*/ 4 w 162"/>
              <a:gd name="T9" fmla="*/ 15 h 55"/>
              <a:gd name="T10" fmla="*/ 7 w 162"/>
              <a:gd name="T11" fmla="*/ 15 h 55"/>
              <a:gd name="T12" fmla="*/ 10 w 162"/>
              <a:gd name="T13" fmla="*/ 15 h 55"/>
              <a:gd name="T14" fmla="*/ 14 w 162"/>
              <a:gd name="T15" fmla="*/ 14 h 55"/>
              <a:gd name="T16" fmla="*/ 17 w 162"/>
              <a:gd name="T17" fmla="*/ 13 h 55"/>
              <a:gd name="T18" fmla="*/ 21 w 162"/>
              <a:gd name="T19" fmla="*/ 12 h 55"/>
              <a:gd name="T20" fmla="*/ 24 w 162"/>
              <a:gd name="T21" fmla="*/ 11 h 55"/>
              <a:gd name="T22" fmla="*/ 28 w 162"/>
              <a:gd name="T23" fmla="*/ 9 h 55"/>
              <a:gd name="T24" fmla="*/ 31 w 162"/>
              <a:gd name="T25" fmla="*/ 8 h 55"/>
              <a:gd name="T26" fmla="*/ 35 w 162"/>
              <a:gd name="T27" fmla="*/ 6 h 55"/>
              <a:gd name="T28" fmla="*/ 37 w 162"/>
              <a:gd name="T29" fmla="*/ 5 h 55"/>
              <a:gd name="T30" fmla="*/ 40 w 162"/>
              <a:gd name="T31" fmla="*/ 2 h 55"/>
              <a:gd name="T32" fmla="*/ 43 w 162"/>
              <a:gd name="T33" fmla="*/ 0 h 55"/>
              <a:gd name="T34" fmla="*/ 162 w 162"/>
              <a:gd name="T35" fmla="*/ 28 h 55"/>
              <a:gd name="T36" fmla="*/ 162 w 162"/>
              <a:gd name="T37" fmla="*/ 28 h 55"/>
              <a:gd name="T38" fmla="*/ 161 w 162"/>
              <a:gd name="T39" fmla="*/ 29 h 55"/>
              <a:gd name="T40" fmla="*/ 159 w 162"/>
              <a:gd name="T41" fmla="*/ 30 h 55"/>
              <a:gd name="T42" fmla="*/ 158 w 162"/>
              <a:gd name="T43" fmla="*/ 32 h 55"/>
              <a:gd name="T44" fmla="*/ 157 w 162"/>
              <a:gd name="T45" fmla="*/ 33 h 55"/>
              <a:gd name="T46" fmla="*/ 155 w 162"/>
              <a:gd name="T47" fmla="*/ 35 h 55"/>
              <a:gd name="T48" fmla="*/ 152 w 162"/>
              <a:gd name="T49" fmla="*/ 36 h 55"/>
              <a:gd name="T50" fmla="*/ 150 w 162"/>
              <a:gd name="T51" fmla="*/ 39 h 55"/>
              <a:gd name="T52" fmla="*/ 147 w 162"/>
              <a:gd name="T53" fmla="*/ 41 h 55"/>
              <a:gd name="T54" fmla="*/ 144 w 162"/>
              <a:gd name="T55" fmla="*/ 43 h 55"/>
              <a:gd name="T56" fmla="*/ 141 w 162"/>
              <a:gd name="T57" fmla="*/ 46 h 55"/>
              <a:gd name="T58" fmla="*/ 137 w 162"/>
              <a:gd name="T59" fmla="*/ 48 h 55"/>
              <a:gd name="T60" fmla="*/ 135 w 162"/>
              <a:gd name="T61" fmla="*/ 50 h 55"/>
              <a:gd name="T62" fmla="*/ 131 w 162"/>
              <a:gd name="T63" fmla="*/ 51 h 55"/>
              <a:gd name="T64" fmla="*/ 128 w 162"/>
              <a:gd name="T65" fmla="*/ 53 h 55"/>
              <a:gd name="T66" fmla="*/ 126 w 162"/>
              <a:gd name="T67" fmla="*/ 55 h 55"/>
              <a:gd name="T68" fmla="*/ 0 w 162"/>
              <a:gd name="T69" fmla="*/ 16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62" h="55">
                <a:moveTo>
                  <a:pt x="0" y="16"/>
                </a:moveTo>
                <a:lnTo>
                  <a:pt x="0" y="16"/>
                </a:lnTo>
                <a:lnTo>
                  <a:pt x="1" y="16"/>
                </a:lnTo>
                <a:lnTo>
                  <a:pt x="2" y="16"/>
                </a:lnTo>
                <a:lnTo>
                  <a:pt x="4" y="15"/>
                </a:lnTo>
                <a:lnTo>
                  <a:pt x="7" y="15"/>
                </a:lnTo>
                <a:lnTo>
                  <a:pt x="10" y="15"/>
                </a:lnTo>
                <a:lnTo>
                  <a:pt x="14" y="14"/>
                </a:lnTo>
                <a:lnTo>
                  <a:pt x="17" y="13"/>
                </a:lnTo>
                <a:lnTo>
                  <a:pt x="21" y="12"/>
                </a:lnTo>
                <a:lnTo>
                  <a:pt x="24" y="11"/>
                </a:lnTo>
                <a:lnTo>
                  <a:pt x="28" y="9"/>
                </a:lnTo>
                <a:lnTo>
                  <a:pt x="31" y="8"/>
                </a:lnTo>
                <a:lnTo>
                  <a:pt x="35" y="6"/>
                </a:lnTo>
                <a:lnTo>
                  <a:pt x="37" y="5"/>
                </a:lnTo>
                <a:lnTo>
                  <a:pt x="40" y="2"/>
                </a:lnTo>
                <a:lnTo>
                  <a:pt x="43" y="0"/>
                </a:lnTo>
                <a:lnTo>
                  <a:pt x="162" y="28"/>
                </a:lnTo>
                <a:lnTo>
                  <a:pt x="162" y="28"/>
                </a:lnTo>
                <a:lnTo>
                  <a:pt x="161" y="29"/>
                </a:lnTo>
                <a:lnTo>
                  <a:pt x="159" y="30"/>
                </a:lnTo>
                <a:lnTo>
                  <a:pt x="158" y="32"/>
                </a:lnTo>
                <a:lnTo>
                  <a:pt x="157" y="33"/>
                </a:lnTo>
                <a:lnTo>
                  <a:pt x="155" y="35"/>
                </a:lnTo>
                <a:lnTo>
                  <a:pt x="152" y="36"/>
                </a:lnTo>
                <a:lnTo>
                  <a:pt x="150" y="39"/>
                </a:lnTo>
                <a:lnTo>
                  <a:pt x="147" y="41"/>
                </a:lnTo>
                <a:lnTo>
                  <a:pt x="144" y="43"/>
                </a:lnTo>
                <a:lnTo>
                  <a:pt x="141" y="46"/>
                </a:lnTo>
                <a:lnTo>
                  <a:pt x="137" y="48"/>
                </a:lnTo>
                <a:lnTo>
                  <a:pt x="135" y="50"/>
                </a:lnTo>
                <a:lnTo>
                  <a:pt x="131" y="51"/>
                </a:lnTo>
                <a:lnTo>
                  <a:pt x="128" y="53"/>
                </a:lnTo>
                <a:lnTo>
                  <a:pt x="126" y="55"/>
                </a:lnTo>
                <a:lnTo>
                  <a:pt x="0" y="16"/>
                </a:lnTo>
                <a:close/>
              </a:path>
            </a:pathLst>
          </a:custGeom>
          <a:solidFill>
            <a:srgbClr val="99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" name="Freeform 88"/>
          <p:cNvSpPr>
            <a:spLocks/>
          </p:cNvSpPr>
          <p:nvPr/>
        </p:nvSpPr>
        <p:spPr bwMode="auto">
          <a:xfrm>
            <a:off x="3054350" y="3502025"/>
            <a:ext cx="90487" cy="41275"/>
          </a:xfrm>
          <a:custGeom>
            <a:avLst/>
            <a:gdLst>
              <a:gd name="T0" fmla="*/ 6 w 57"/>
              <a:gd name="T1" fmla="*/ 26 h 26"/>
              <a:gd name="T2" fmla="*/ 57 w 57"/>
              <a:gd name="T3" fmla="*/ 11 h 26"/>
              <a:gd name="T4" fmla="*/ 25 w 57"/>
              <a:gd name="T5" fmla="*/ 0 h 26"/>
              <a:gd name="T6" fmla="*/ 0 w 57"/>
              <a:gd name="T7" fmla="*/ 4 h 26"/>
              <a:gd name="T8" fmla="*/ 0 w 57"/>
              <a:gd name="T9" fmla="*/ 25 h 26"/>
              <a:gd name="T10" fmla="*/ 6 w 57"/>
              <a:gd name="T11" fmla="*/ 26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" h="26">
                <a:moveTo>
                  <a:pt x="6" y="26"/>
                </a:moveTo>
                <a:lnTo>
                  <a:pt x="57" y="11"/>
                </a:lnTo>
                <a:lnTo>
                  <a:pt x="25" y="0"/>
                </a:lnTo>
                <a:lnTo>
                  <a:pt x="0" y="4"/>
                </a:lnTo>
                <a:lnTo>
                  <a:pt x="0" y="25"/>
                </a:lnTo>
                <a:lnTo>
                  <a:pt x="6" y="26"/>
                </a:lnTo>
                <a:close/>
              </a:path>
            </a:pathLst>
          </a:custGeom>
          <a:solidFill>
            <a:srgbClr val="001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Freeform 89"/>
          <p:cNvSpPr>
            <a:spLocks/>
          </p:cNvSpPr>
          <p:nvPr/>
        </p:nvSpPr>
        <p:spPr bwMode="auto">
          <a:xfrm>
            <a:off x="2814637" y="3327400"/>
            <a:ext cx="50800" cy="195263"/>
          </a:xfrm>
          <a:custGeom>
            <a:avLst/>
            <a:gdLst>
              <a:gd name="T0" fmla="*/ 32 w 32"/>
              <a:gd name="T1" fmla="*/ 3 h 123"/>
              <a:gd name="T2" fmla="*/ 32 w 32"/>
              <a:gd name="T3" fmla="*/ 3 h 123"/>
              <a:gd name="T4" fmla="*/ 31 w 32"/>
              <a:gd name="T5" fmla="*/ 3 h 123"/>
              <a:gd name="T6" fmla="*/ 31 w 32"/>
              <a:gd name="T7" fmla="*/ 3 h 123"/>
              <a:gd name="T8" fmla="*/ 29 w 32"/>
              <a:gd name="T9" fmla="*/ 2 h 123"/>
              <a:gd name="T10" fmla="*/ 27 w 32"/>
              <a:gd name="T11" fmla="*/ 2 h 123"/>
              <a:gd name="T12" fmla="*/ 26 w 32"/>
              <a:gd name="T13" fmla="*/ 2 h 123"/>
              <a:gd name="T14" fmla="*/ 24 w 32"/>
              <a:gd name="T15" fmla="*/ 0 h 123"/>
              <a:gd name="T16" fmla="*/ 22 w 32"/>
              <a:gd name="T17" fmla="*/ 0 h 123"/>
              <a:gd name="T18" fmla="*/ 20 w 32"/>
              <a:gd name="T19" fmla="*/ 0 h 123"/>
              <a:gd name="T20" fmla="*/ 18 w 32"/>
              <a:gd name="T21" fmla="*/ 0 h 123"/>
              <a:gd name="T22" fmla="*/ 14 w 32"/>
              <a:gd name="T23" fmla="*/ 0 h 123"/>
              <a:gd name="T24" fmla="*/ 12 w 32"/>
              <a:gd name="T25" fmla="*/ 0 h 123"/>
              <a:gd name="T26" fmla="*/ 10 w 32"/>
              <a:gd name="T27" fmla="*/ 2 h 123"/>
              <a:gd name="T28" fmla="*/ 6 w 32"/>
              <a:gd name="T29" fmla="*/ 3 h 123"/>
              <a:gd name="T30" fmla="*/ 4 w 32"/>
              <a:gd name="T31" fmla="*/ 4 h 123"/>
              <a:gd name="T32" fmla="*/ 0 w 32"/>
              <a:gd name="T33" fmla="*/ 6 h 123"/>
              <a:gd name="T34" fmla="*/ 0 w 32"/>
              <a:gd name="T35" fmla="*/ 123 h 123"/>
              <a:gd name="T36" fmla="*/ 1 w 32"/>
              <a:gd name="T37" fmla="*/ 123 h 123"/>
              <a:gd name="T38" fmla="*/ 1 w 32"/>
              <a:gd name="T39" fmla="*/ 123 h 123"/>
              <a:gd name="T40" fmla="*/ 3 w 32"/>
              <a:gd name="T41" fmla="*/ 123 h 123"/>
              <a:gd name="T42" fmla="*/ 4 w 32"/>
              <a:gd name="T43" fmla="*/ 123 h 123"/>
              <a:gd name="T44" fmla="*/ 5 w 32"/>
              <a:gd name="T45" fmla="*/ 123 h 123"/>
              <a:gd name="T46" fmla="*/ 7 w 32"/>
              <a:gd name="T47" fmla="*/ 122 h 123"/>
              <a:gd name="T48" fmla="*/ 8 w 32"/>
              <a:gd name="T49" fmla="*/ 122 h 123"/>
              <a:gd name="T50" fmla="*/ 11 w 32"/>
              <a:gd name="T51" fmla="*/ 122 h 123"/>
              <a:gd name="T52" fmla="*/ 13 w 32"/>
              <a:gd name="T53" fmla="*/ 121 h 123"/>
              <a:gd name="T54" fmla="*/ 15 w 32"/>
              <a:gd name="T55" fmla="*/ 120 h 123"/>
              <a:gd name="T56" fmla="*/ 18 w 32"/>
              <a:gd name="T57" fmla="*/ 120 h 123"/>
              <a:gd name="T58" fmla="*/ 21 w 32"/>
              <a:gd name="T59" fmla="*/ 118 h 123"/>
              <a:gd name="T60" fmla="*/ 24 w 32"/>
              <a:gd name="T61" fmla="*/ 116 h 123"/>
              <a:gd name="T62" fmla="*/ 26 w 32"/>
              <a:gd name="T63" fmla="*/ 115 h 123"/>
              <a:gd name="T64" fmla="*/ 29 w 32"/>
              <a:gd name="T65" fmla="*/ 114 h 123"/>
              <a:gd name="T66" fmla="*/ 32 w 32"/>
              <a:gd name="T67" fmla="*/ 111 h 123"/>
              <a:gd name="T68" fmla="*/ 32 w 32"/>
              <a:gd name="T69" fmla="*/ 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2" h="123">
                <a:moveTo>
                  <a:pt x="32" y="3"/>
                </a:moveTo>
                <a:lnTo>
                  <a:pt x="32" y="3"/>
                </a:lnTo>
                <a:lnTo>
                  <a:pt x="31" y="3"/>
                </a:lnTo>
                <a:lnTo>
                  <a:pt x="31" y="3"/>
                </a:lnTo>
                <a:lnTo>
                  <a:pt x="29" y="2"/>
                </a:lnTo>
                <a:lnTo>
                  <a:pt x="27" y="2"/>
                </a:lnTo>
                <a:lnTo>
                  <a:pt x="26" y="2"/>
                </a:lnTo>
                <a:lnTo>
                  <a:pt x="24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4" y="0"/>
                </a:lnTo>
                <a:lnTo>
                  <a:pt x="12" y="0"/>
                </a:lnTo>
                <a:lnTo>
                  <a:pt x="10" y="2"/>
                </a:lnTo>
                <a:lnTo>
                  <a:pt x="6" y="3"/>
                </a:lnTo>
                <a:lnTo>
                  <a:pt x="4" y="4"/>
                </a:lnTo>
                <a:lnTo>
                  <a:pt x="0" y="6"/>
                </a:lnTo>
                <a:lnTo>
                  <a:pt x="0" y="123"/>
                </a:lnTo>
                <a:lnTo>
                  <a:pt x="1" y="123"/>
                </a:lnTo>
                <a:lnTo>
                  <a:pt x="1" y="123"/>
                </a:lnTo>
                <a:lnTo>
                  <a:pt x="3" y="123"/>
                </a:lnTo>
                <a:lnTo>
                  <a:pt x="4" y="123"/>
                </a:lnTo>
                <a:lnTo>
                  <a:pt x="5" y="123"/>
                </a:lnTo>
                <a:lnTo>
                  <a:pt x="7" y="122"/>
                </a:lnTo>
                <a:lnTo>
                  <a:pt x="8" y="122"/>
                </a:lnTo>
                <a:lnTo>
                  <a:pt x="11" y="122"/>
                </a:lnTo>
                <a:lnTo>
                  <a:pt x="13" y="121"/>
                </a:lnTo>
                <a:lnTo>
                  <a:pt x="15" y="120"/>
                </a:lnTo>
                <a:lnTo>
                  <a:pt x="18" y="120"/>
                </a:lnTo>
                <a:lnTo>
                  <a:pt x="21" y="118"/>
                </a:lnTo>
                <a:lnTo>
                  <a:pt x="24" y="116"/>
                </a:lnTo>
                <a:lnTo>
                  <a:pt x="26" y="115"/>
                </a:lnTo>
                <a:lnTo>
                  <a:pt x="29" y="114"/>
                </a:lnTo>
                <a:lnTo>
                  <a:pt x="32" y="111"/>
                </a:lnTo>
                <a:lnTo>
                  <a:pt x="32" y="3"/>
                </a:lnTo>
                <a:close/>
              </a:path>
            </a:pathLst>
          </a:custGeom>
          <a:solidFill>
            <a:srgbClr val="7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Freeform 90"/>
          <p:cNvSpPr>
            <a:spLocks/>
          </p:cNvSpPr>
          <p:nvPr/>
        </p:nvSpPr>
        <p:spPr bwMode="auto">
          <a:xfrm>
            <a:off x="2816225" y="3330575"/>
            <a:ext cx="42862" cy="165100"/>
          </a:xfrm>
          <a:custGeom>
            <a:avLst/>
            <a:gdLst>
              <a:gd name="T0" fmla="*/ 27 w 27"/>
              <a:gd name="T1" fmla="*/ 2 h 104"/>
              <a:gd name="T2" fmla="*/ 27 w 27"/>
              <a:gd name="T3" fmla="*/ 2 h 104"/>
              <a:gd name="T4" fmla="*/ 26 w 27"/>
              <a:gd name="T5" fmla="*/ 2 h 104"/>
              <a:gd name="T6" fmla="*/ 26 w 27"/>
              <a:gd name="T7" fmla="*/ 1 h 104"/>
              <a:gd name="T8" fmla="*/ 25 w 27"/>
              <a:gd name="T9" fmla="*/ 1 h 104"/>
              <a:gd name="T10" fmla="*/ 24 w 27"/>
              <a:gd name="T11" fmla="*/ 1 h 104"/>
              <a:gd name="T12" fmla="*/ 23 w 27"/>
              <a:gd name="T13" fmla="*/ 0 h 104"/>
              <a:gd name="T14" fmla="*/ 20 w 27"/>
              <a:gd name="T15" fmla="*/ 0 h 104"/>
              <a:gd name="T16" fmla="*/ 19 w 27"/>
              <a:gd name="T17" fmla="*/ 0 h 104"/>
              <a:gd name="T18" fmla="*/ 17 w 27"/>
              <a:gd name="T19" fmla="*/ 0 h 104"/>
              <a:gd name="T20" fmla="*/ 14 w 27"/>
              <a:gd name="T21" fmla="*/ 0 h 104"/>
              <a:gd name="T22" fmla="*/ 12 w 27"/>
              <a:gd name="T23" fmla="*/ 0 h 104"/>
              <a:gd name="T24" fmla="*/ 10 w 27"/>
              <a:gd name="T25" fmla="*/ 0 h 104"/>
              <a:gd name="T26" fmla="*/ 9 w 27"/>
              <a:gd name="T27" fmla="*/ 1 h 104"/>
              <a:gd name="T28" fmla="*/ 5 w 27"/>
              <a:gd name="T29" fmla="*/ 2 h 104"/>
              <a:gd name="T30" fmla="*/ 3 w 27"/>
              <a:gd name="T31" fmla="*/ 3 h 104"/>
              <a:gd name="T32" fmla="*/ 0 w 27"/>
              <a:gd name="T33" fmla="*/ 4 h 104"/>
              <a:gd name="T34" fmla="*/ 0 w 27"/>
              <a:gd name="T35" fmla="*/ 104 h 104"/>
              <a:gd name="T36" fmla="*/ 0 w 27"/>
              <a:gd name="T37" fmla="*/ 104 h 104"/>
              <a:gd name="T38" fmla="*/ 2 w 27"/>
              <a:gd name="T39" fmla="*/ 104 h 104"/>
              <a:gd name="T40" fmla="*/ 2 w 27"/>
              <a:gd name="T41" fmla="*/ 102 h 104"/>
              <a:gd name="T42" fmla="*/ 3 w 27"/>
              <a:gd name="T43" fmla="*/ 102 h 104"/>
              <a:gd name="T44" fmla="*/ 4 w 27"/>
              <a:gd name="T45" fmla="*/ 102 h 104"/>
              <a:gd name="T46" fmla="*/ 6 w 27"/>
              <a:gd name="T47" fmla="*/ 102 h 104"/>
              <a:gd name="T48" fmla="*/ 7 w 27"/>
              <a:gd name="T49" fmla="*/ 102 h 104"/>
              <a:gd name="T50" fmla="*/ 10 w 27"/>
              <a:gd name="T51" fmla="*/ 101 h 104"/>
              <a:gd name="T52" fmla="*/ 11 w 27"/>
              <a:gd name="T53" fmla="*/ 101 h 104"/>
              <a:gd name="T54" fmla="*/ 13 w 27"/>
              <a:gd name="T55" fmla="*/ 100 h 104"/>
              <a:gd name="T56" fmla="*/ 16 w 27"/>
              <a:gd name="T57" fmla="*/ 99 h 104"/>
              <a:gd name="T58" fmla="*/ 18 w 27"/>
              <a:gd name="T59" fmla="*/ 99 h 104"/>
              <a:gd name="T60" fmla="*/ 20 w 27"/>
              <a:gd name="T61" fmla="*/ 98 h 104"/>
              <a:gd name="T62" fmla="*/ 23 w 27"/>
              <a:gd name="T63" fmla="*/ 96 h 104"/>
              <a:gd name="T64" fmla="*/ 25 w 27"/>
              <a:gd name="T65" fmla="*/ 94 h 104"/>
              <a:gd name="T66" fmla="*/ 27 w 27"/>
              <a:gd name="T67" fmla="*/ 93 h 104"/>
              <a:gd name="T68" fmla="*/ 27 w 27"/>
              <a:gd name="T69" fmla="*/ 2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" h="104">
                <a:moveTo>
                  <a:pt x="27" y="2"/>
                </a:moveTo>
                <a:lnTo>
                  <a:pt x="27" y="2"/>
                </a:lnTo>
                <a:lnTo>
                  <a:pt x="26" y="2"/>
                </a:lnTo>
                <a:lnTo>
                  <a:pt x="26" y="1"/>
                </a:lnTo>
                <a:lnTo>
                  <a:pt x="25" y="1"/>
                </a:lnTo>
                <a:lnTo>
                  <a:pt x="24" y="1"/>
                </a:lnTo>
                <a:lnTo>
                  <a:pt x="23" y="0"/>
                </a:lnTo>
                <a:lnTo>
                  <a:pt x="20" y="0"/>
                </a:lnTo>
                <a:lnTo>
                  <a:pt x="19" y="0"/>
                </a:lnTo>
                <a:lnTo>
                  <a:pt x="17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9" y="1"/>
                </a:lnTo>
                <a:lnTo>
                  <a:pt x="5" y="2"/>
                </a:lnTo>
                <a:lnTo>
                  <a:pt x="3" y="3"/>
                </a:lnTo>
                <a:lnTo>
                  <a:pt x="0" y="4"/>
                </a:lnTo>
                <a:lnTo>
                  <a:pt x="0" y="104"/>
                </a:lnTo>
                <a:lnTo>
                  <a:pt x="0" y="104"/>
                </a:lnTo>
                <a:lnTo>
                  <a:pt x="2" y="104"/>
                </a:lnTo>
                <a:lnTo>
                  <a:pt x="2" y="102"/>
                </a:lnTo>
                <a:lnTo>
                  <a:pt x="3" y="102"/>
                </a:lnTo>
                <a:lnTo>
                  <a:pt x="4" y="102"/>
                </a:lnTo>
                <a:lnTo>
                  <a:pt x="6" y="102"/>
                </a:lnTo>
                <a:lnTo>
                  <a:pt x="7" y="102"/>
                </a:lnTo>
                <a:lnTo>
                  <a:pt x="10" y="101"/>
                </a:lnTo>
                <a:lnTo>
                  <a:pt x="11" y="101"/>
                </a:lnTo>
                <a:lnTo>
                  <a:pt x="13" y="100"/>
                </a:lnTo>
                <a:lnTo>
                  <a:pt x="16" y="99"/>
                </a:lnTo>
                <a:lnTo>
                  <a:pt x="18" y="99"/>
                </a:lnTo>
                <a:lnTo>
                  <a:pt x="20" y="98"/>
                </a:lnTo>
                <a:lnTo>
                  <a:pt x="23" y="96"/>
                </a:lnTo>
                <a:lnTo>
                  <a:pt x="25" y="94"/>
                </a:lnTo>
                <a:lnTo>
                  <a:pt x="27" y="93"/>
                </a:lnTo>
                <a:lnTo>
                  <a:pt x="27" y="2"/>
                </a:lnTo>
                <a:close/>
              </a:path>
            </a:pathLst>
          </a:custGeom>
          <a:solidFill>
            <a:srgbClr val="9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" name="Freeform 91"/>
          <p:cNvSpPr>
            <a:spLocks/>
          </p:cNvSpPr>
          <p:nvPr/>
        </p:nvSpPr>
        <p:spPr bwMode="auto">
          <a:xfrm>
            <a:off x="2819400" y="3332163"/>
            <a:ext cx="34925" cy="133350"/>
          </a:xfrm>
          <a:custGeom>
            <a:avLst/>
            <a:gdLst>
              <a:gd name="T0" fmla="*/ 22 w 22"/>
              <a:gd name="T1" fmla="*/ 1 h 84"/>
              <a:gd name="T2" fmla="*/ 22 w 22"/>
              <a:gd name="T3" fmla="*/ 1 h 84"/>
              <a:gd name="T4" fmla="*/ 21 w 22"/>
              <a:gd name="T5" fmla="*/ 1 h 84"/>
              <a:gd name="T6" fmla="*/ 21 w 22"/>
              <a:gd name="T7" fmla="*/ 1 h 84"/>
              <a:gd name="T8" fmla="*/ 19 w 22"/>
              <a:gd name="T9" fmla="*/ 1 h 84"/>
              <a:gd name="T10" fmla="*/ 18 w 22"/>
              <a:gd name="T11" fmla="*/ 0 h 84"/>
              <a:gd name="T12" fmla="*/ 17 w 22"/>
              <a:gd name="T13" fmla="*/ 0 h 84"/>
              <a:gd name="T14" fmla="*/ 16 w 22"/>
              <a:gd name="T15" fmla="*/ 0 h 84"/>
              <a:gd name="T16" fmla="*/ 15 w 22"/>
              <a:gd name="T17" fmla="*/ 0 h 84"/>
              <a:gd name="T18" fmla="*/ 14 w 22"/>
              <a:gd name="T19" fmla="*/ 0 h 84"/>
              <a:gd name="T20" fmla="*/ 11 w 22"/>
              <a:gd name="T21" fmla="*/ 0 h 84"/>
              <a:gd name="T22" fmla="*/ 9 w 22"/>
              <a:gd name="T23" fmla="*/ 0 h 84"/>
              <a:gd name="T24" fmla="*/ 8 w 22"/>
              <a:gd name="T25" fmla="*/ 0 h 84"/>
              <a:gd name="T26" fmla="*/ 5 w 22"/>
              <a:gd name="T27" fmla="*/ 0 h 84"/>
              <a:gd name="T28" fmla="*/ 3 w 22"/>
              <a:gd name="T29" fmla="*/ 1 h 84"/>
              <a:gd name="T30" fmla="*/ 2 w 22"/>
              <a:gd name="T31" fmla="*/ 2 h 84"/>
              <a:gd name="T32" fmla="*/ 0 w 22"/>
              <a:gd name="T33" fmla="*/ 3 h 84"/>
              <a:gd name="T34" fmla="*/ 0 w 22"/>
              <a:gd name="T35" fmla="*/ 84 h 84"/>
              <a:gd name="T36" fmla="*/ 0 w 22"/>
              <a:gd name="T37" fmla="*/ 84 h 84"/>
              <a:gd name="T38" fmla="*/ 0 w 22"/>
              <a:gd name="T39" fmla="*/ 84 h 84"/>
              <a:gd name="T40" fmla="*/ 1 w 22"/>
              <a:gd name="T41" fmla="*/ 84 h 84"/>
              <a:gd name="T42" fmla="*/ 2 w 22"/>
              <a:gd name="T43" fmla="*/ 84 h 84"/>
              <a:gd name="T44" fmla="*/ 3 w 22"/>
              <a:gd name="T45" fmla="*/ 84 h 84"/>
              <a:gd name="T46" fmla="*/ 4 w 22"/>
              <a:gd name="T47" fmla="*/ 83 h 84"/>
              <a:gd name="T48" fmla="*/ 5 w 22"/>
              <a:gd name="T49" fmla="*/ 83 h 84"/>
              <a:gd name="T50" fmla="*/ 7 w 22"/>
              <a:gd name="T51" fmla="*/ 83 h 84"/>
              <a:gd name="T52" fmla="*/ 9 w 22"/>
              <a:gd name="T53" fmla="*/ 81 h 84"/>
              <a:gd name="T54" fmla="*/ 10 w 22"/>
              <a:gd name="T55" fmla="*/ 81 h 84"/>
              <a:gd name="T56" fmla="*/ 12 w 22"/>
              <a:gd name="T57" fmla="*/ 80 h 84"/>
              <a:gd name="T58" fmla="*/ 14 w 22"/>
              <a:gd name="T59" fmla="*/ 80 h 84"/>
              <a:gd name="T60" fmla="*/ 16 w 22"/>
              <a:gd name="T61" fmla="*/ 79 h 84"/>
              <a:gd name="T62" fmla="*/ 18 w 22"/>
              <a:gd name="T63" fmla="*/ 78 h 84"/>
              <a:gd name="T64" fmla="*/ 19 w 22"/>
              <a:gd name="T65" fmla="*/ 77 h 84"/>
              <a:gd name="T66" fmla="*/ 22 w 22"/>
              <a:gd name="T67" fmla="*/ 76 h 84"/>
              <a:gd name="T68" fmla="*/ 22 w 22"/>
              <a:gd name="T69" fmla="*/ 1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2" h="84">
                <a:moveTo>
                  <a:pt x="22" y="1"/>
                </a:moveTo>
                <a:lnTo>
                  <a:pt x="22" y="1"/>
                </a:lnTo>
                <a:lnTo>
                  <a:pt x="21" y="1"/>
                </a:lnTo>
                <a:lnTo>
                  <a:pt x="21" y="1"/>
                </a:lnTo>
                <a:lnTo>
                  <a:pt x="19" y="1"/>
                </a:lnTo>
                <a:lnTo>
                  <a:pt x="18" y="0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lnTo>
                  <a:pt x="14" y="0"/>
                </a:lnTo>
                <a:lnTo>
                  <a:pt x="11" y="0"/>
                </a:lnTo>
                <a:lnTo>
                  <a:pt x="9" y="0"/>
                </a:lnTo>
                <a:lnTo>
                  <a:pt x="8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0" y="3"/>
                </a:lnTo>
                <a:lnTo>
                  <a:pt x="0" y="84"/>
                </a:lnTo>
                <a:lnTo>
                  <a:pt x="0" y="84"/>
                </a:lnTo>
                <a:lnTo>
                  <a:pt x="0" y="84"/>
                </a:lnTo>
                <a:lnTo>
                  <a:pt x="1" y="84"/>
                </a:lnTo>
                <a:lnTo>
                  <a:pt x="2" y="84"/>
                </a:lnTo>
                <a:lnTo>
                  <a:pt x="3" y="84"/>
                </a:lnTo>
                <a:lnTo>
                  <a:pt x="4" y="83"/>
                </a:lnTo>
                <a:lnTo>
                  <a:pt x="5" y="83"/>
                </a:lnTo>
                <a:lnTo>
                  <a:pt x="7" y="83"/>
                </a:lnTo>
                <a:lnTo>
                  <a:pt x="9" y="81"/>
                </a:lnTo>
                <a:lnTo>
                  <a:pt x="10" y="81"/>
                </a:lnTo>
                <a:lnTo>
                  <a:pt x="12" y="80"/>
                </a:lnTo>
                <a:lnTo>
                  <a:pt x="14" y="80"/>
                </a:lnTo>
                <a:lnTo>
                  <a:pt x="16" y="79"/>
                </a:lnTo>
                <a:lnTo>
                  <a:pt x="18" y="78"/>
                </a:lnTo>
                <a:lnTo>
                  <a:pt x="19" y="77"/>
                </a:lnTo>
                <a:lnTo>
                  <a:pt x="22" y="76"/>
                </a:lnTo>
                <a:lnTo>
                  <a:pt x="22" y="1"/>
                </a:lnTo>
                <a:close/>
              </a:path>
            </a:pathLst>
          </a:custGeom>
          <a:solidFill>
            <a:srgbClr val="A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Freeform 92"/>
          <p:cNvSpPr>
            <a:spLocks/>
          </p:cNvSpPr>
          <p:nvPr/>
        </p:nvSpPr>
        <p:spPr bwMode="auto">
          <a:xfrm>
            <a:off x="2820987" y="3332163"/>
            <a:ext cx="26988" cy="103187"/>
          </a:xfrm>
          <a:custGeom>
            <a:avLst/>
            <a:gdLst>
              <a:gd name="T0" fmla="*/ 17 w 17"/>
              <a:gd name="T1" fmla="*/ 2 h 65"/>
              <a:gd name="T2" fmla="*/ 17 w 17"/>
              <a:gd name="T3" fmla="*/ 2 h 65"/>
              <a:gd name="T4" fmla="*/ 16 w 17"/>
              <a:gd name="T5" fmla="*/ 1 h 65"/>
              <a:gd name="T6" fmla="*/ 14 w 17"/>
              <a:gd name="T7" fmla="*/ 1 h 65"/>
              <a:gd name="T8" fmla="*/ 11 w 17"/>
              <a:gd name="T9" fmla="*/ 1 h 65"/>
              <a:gd name="T10" fmla="*/ 9 w 17"/>
              <a:gd name="T11" fmla="*/ 0 h 65"/>
              <a:gd name="T12" fmla="*/ 6 w 17"/>
              <a:gd name="T13" fmla="*/ 1 h 65"/>
              <a:gd name="T14" fmla="*/ 2 w 17"/>
              <a:gd name="T15" fmla="*/ 2 h 65"/>
              <a:gd name="T16" fmla="*/ 0 w 17"/>
              <a:gd name="T17" fmla="*/ 3 h 65"/>
              <a:gd name="T18" fmla="*/ 0 w 17"/>
              <a:gd name="T19" fmla="*/ 65 h 65"/>
              <a:gd name="T20" fmla="*/ 0 w 17"/>
              <a:gd name="T21" fmla="*/ 65 h 65"/>
              <a:gd name="T22" fmla="*/ 1 w 17"/>
              <a:gd name="T23" fmla="*/ 65 h 65"/>
              <a:gd name="T24" fmla="*/ 3 w 17"/>
              <a:gd name="T25" fmla="*/ 65 h 65"/>
              <a:gd name="T26" fmla="*/ 6 w 17"/>
              <a:gd name="T27" fmla="*/ 64 h 65"/>
              <a:gd name="T28" fmla="*/ 8 w 17"/>
              <a:gd name="T29" fmla="*/ 64 h 65"/>
              <a:gd name="T30" fmla="*/ 11 w 17"/>
              <a:gd name="T31" fmla="*/ 63 h 65"/>
              <a:gd name="T32" fmla="*/ 14 w 17"/>
              <a:gd name="T33" fmla="*/ 60 h 65"/>
              <a:gd name="T34" fmla="*/ 17 w 17"/>
              <a:gd name="T35" fmla="*/ 58 h 65"/>
              <a:gd name="T36" fmla="*/ 17 w 17"/>
              <a:gd name="T37" fmla="*/ 2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7" h="65">
                <a:moveTo>
                  <a:pt x="17" y="2"/>
                </a:moveTo>
                <a:lnTo>
                  <a:pt x="17" y="2"/>
                </a:lnTo>
                <a:lnTo>
                  <a:pt x="16" y="1"/>
                </a:lnTo>
                <a:lnTo>
                  <a:pt x="14" y="1"/>
                </a:lnTo>
                <a:lnTo>
                  <a:pt x="11" y="1"/>
                </a:lnTo>
                <a:lnTo>
                  <a:pt x="9" y="0"/>
                </a:lnTo>
                <a:lnTo>
                  <a:pt x="6" y="1"/>
                </a:lnTo>
                <a:lnTo>
                  <a:pt x="2" y="2"/>
                </a:lnTo>
                <a:lnTo>
                  <a:pt x="0" y="3"/>
                </a:lnTo>
                <a:lnTo>
                  <a:pt x="0" y="65"/>
                </a:lnTo>
                <a:lnTo>
                  <a:pt x="0" y="65"/>
                </a:lnTo>
                <a:lnTo>
                  <a:pt x="1" y="65"/>
                </a:lnTo>
                <a:lnTo>
                  <a:pt x="3" y="65"/>
                </a:lnTo>
                <a:lnTo>
                  <a:pt x="6" y="64"/>
                </a:lnTo>
                <a:lnTo>
                  <a:pt x="8" y="64"/>
                </a:lnTo>
                <a:lnTo>
                  <a:pt x="11" y="63"/>
                </a:lnTo>
                <a:lnTo>
                  <a:pt x="14" y="60"/>
                </a:lnTo>
                <a:lnTo>
                  <a:pt x="17" y="58"/>
                </a:lnTo>
                <a:lnTo>
                  <a:pt x="17" y="2"/>
                </a:lnTo>
                <a:close/>
              </a:path>
            </a:pathLst>
          </a:custGeom>
          <a:solidFill>
            <a:srgbClr val="BC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Freeform 93"/>
          <p:cNvSpPr>
            <a:spLocks/>
          </p:cNvSpPr>
          <p:nvPr/>
        </p:nvSpPr>
        <p:spPr bwMode="auto">
          <a:xfrm>
            <a:off x="2820987" y="3333750"/>
            <a:ext cx="22225" cy="74613"/>
          </a:xfrm>
          <a:custGeom>
            <a:avLst/>
            <a:gdLst>
              <a:gd name="T0" fmla="*/ 14 w 14"/>
              <a:gd name="T1" fmla="*/ 1 h 47"/>
              <a:gd name="T2" fmla="*/ 14 w 14"/>
              <a:gd name="T3" fmla="*/ 1 h 47"/>
              <a:gd name="T4" fmla="*/ 13 w 14"/>
              <a:gd name="T5" fmla="*/ 1 h 47"/>
              <a:gd name="T6" fmla="*/ 11 w 14"/>
              <a:gd name="T7" fmla="*/ 1 h 47"/>
              <a:gd name="T8" fmla="*/ 9 w 14"/>
              <a:gd name="T9" fmla="*/ 0 h 47"/>
              <a:gd name="T10" fmla="*/ 8 w 14"/>
              <a:gd name="T11" fmla="*/ 0 h 47"/>
              <a:gd name="T12" fmla="*/ 6 w 14"/>
              <a:gd name="T13" fmla="*/ 1 h 47"/>
              <a:gd name="T14" fmla="*/ 2 w 14"/>
              <a:gd name="T15" fmla="*/ 1 h 47"/>
              <a:gd name="T16" fmla="*/ 0 w 14"/>
              <a:gd name="T17" fmla="*/ 3 h 47"/>
              <a:gd name="T18" fmla="*/ 0 w 14"/>
              <a:gd name="T19" fmla="*/ 47 h 47"/>
              <a:gd name="T20" fmla="*/ 1 w 14"/>
              <a:gd name="T21" fmla="*/ 47 h 47"/>
              <a:gd name="T22" fmla="*/ 1 w 14"/>
              <a:gd name="T23" fmla="*/ 45 h 47"/>
              <a:gd name="T24" fmla="*/ 3 w 14"/>
              <a:gd name="T25" fmla="*/ 45 h 47"/>
              <a:gd name="T26" fmla="*/ 4 w 14"/>
              <a:gd name="T27" fmla="*/ 45 h 47"/>
              <a:gd name="T28" fmla="*/ 7 w 14"/>
              <a:gd name="T29" fmla="*/ 44 h 47"/>
              <a:gd name="T30" fmla="*/ 9 w 14"/>
              <a:gd name="T31" fmla="*/ 44 h 47"/>
              <a:gd name="T32" fmla="*/ 11 w 14"/>
              <a:gd name="T33" fmla="*/ 43 h 47"/>
              <a:gd name="T34" fmla="*/ 14 w 14"/>
              <a:gd name="T35" fmla="*/ 41 h 47"/>
              <a:gd name="T36" fmla="*/ 14 w 14"/>
              <a:gd name="T37" fmla="*/ 1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" h="47">
                <a:moveTo>
                  <a:pt x="14" y="1"/>
                </a:move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0"/>
                </a:lnTo>
                <a:lnTo>
                  <a:pt x="8" y="0"/>
                </a:lnTo>
                <a:lnTo>
                  <a:pt x="6" y="1"/>
                </a:lnTo>
                <a:lnTo>
                  <a:pt x="2" y="1"/>
                </a:lnTo>
                <a:lnTo>
                  <a:pt x="0" y="3"/>
                </a:lnTo>
                <a:lnTo>
                  <a:pt x="0" y="47"/>
                </a:lnTo>
                <a:lnTo>
                  <a:pt x="1" y="47"/>
                </a:lnTo>
                <a:lnTo>
                  <a:pt x="1" y="45"/>
                </a:lnTo>
                <a:lnTo>
                  <a:pt x="3" y="45"/>
                </a:lnTo>
                <a:lnTo>
                  <a:pt x="4" y="45"/>
                </a:lnTo>
                <a:lnTo>
                  <a:pt x="7" y="44"/>
                </a:lnTo>
                <a:lnTo>
                  <a:pt x="9" y="44"/>
                </a:lnTo>
                <a:lnTo>
                  <a:pt x="11" y="43"/>
                </a:lnTo>
                <a:lnTo>
                  <a:pt x="14" y="41"/>
                </a:lnTo>
                <a:lnTo>
                  <a:pt x="14" y="1"/>
                </a:lnTo>
                <a:close/>
              </a:path>
            </a:pathLst>
          </a:custGeom>
          <a:solidFill>
            <a:srgbClr val="D1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" name="Freeform 94"/>
          <p:cNvSpPr>
            <a:spLocks/>
          </p:cNvSpPr>
          <p:nvPr/>
        </p:nvSpPr>
        <p:spPr bwMode="auto">
          <a:xfrm>
            <a:off x="2822575" y="3335338"/>
            <a:ext cx="14287" cy="42862"/>
          </a:xfrm>
          <a:custGeom>
            <a:avLst/>
            <a:gdLst>
              <a:gd name="T0" fmla="*/ 9 w 9"/>
              <a:gd name="T1" fmla="*/ 1 h 27"/>
              <a:gd name="T2" fmla="*/ 9 w 9"/>
              <a:gd name="T3" fmla="*/ 1 h 27"/>
              <a:gd name="T4" fmla="*/ 8 w 9"/>
              <a:gd name="T5" fmla="*/ 1 h 27"/>
              <a:gd name="T6" fmla="*/ 7 w 9"/>
              <a:gd name="T7" fmla="*/ 1 h 27"/>
              <a:gd name="T8" fmla="*/ 6 w 9"/>
              <a:gd name="T9" fmla="*/ 0 h 27"/>
              <a:gd name="T10" fmla="*/ 5 w 9"/>
              <a:gd name="T11" fmla="*/ 0 h 27"/>
              <a:gd name="T12" fmla="*/ 3 w 9"/>
              <a:gd name="T13" fmla="*/ 0 h 27"/>
              <a:gd name="T14" fmla="*/ 1 w 9"/>
              <a:gd name="T15" fmla="*/ 1 h 27"/>
              <a:gd name="T16" fmla="*/ 0 w 9"/>
              <a:gd name="T17" fmla="*/ 2 h 27"/>
              <a:gd name="T18" fmla="*/ 0 w 9"/>
              <a:gd name="T19" fmla="*/ 27 h 27"/>
              <a:gd name="T20" fmla="*/ 0 w 9"/>
              <a:gd name="T21" fmla="*/ 27 h 27"/>
              <a:gd name="T22" fmla="*/ 1 w 9"/>
              <a:gd name="T23" fmla="*/ 27 h 27"/>
              <a:gd name="T24" fmla="*/ 2 w 9"/>
              <a:gd name="T25" fmla="*/ 27 h 27"/>
              <a:gd name="T26" fmla="*/ 3 w 9"/>
              <a:gd name="T27" fmla="*/ 27 h 27"/>
              <a:gd name="T28" fmla="*/ 5 w 9"/>
              <a:gd name="T29" fmla="*/ 26 h 27"/>
              <a:gd name="T30" fmla="*/ 6 w 9"/>
              <a:gd name="T31" fmla="*/ 26 h 27"/>
              <a:gd name="T32" fmla="*/ 8 w 9"/>
              <a:gd name="T33" fmla="*/ 25 h 27"/>
              <a:gd name="T34" fmla="*/ 9 w 9"/>
              <a:gd name="T35" fmla="*/ 23 h 27"/>
              <a:gd name="T36" fmla="*/ 9 w 9"/>
              <a:gd name="T37" fmla="*/ 1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" h="27">
                <a:moveTo>
                  <a:pt x="9" y="1"/>
                </a:moveTo>
                <a:lnTo>
                  <a:pt x="9" y="1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3" y="0"/>
                </a:lnTo>
                <a:lnTo>
                  <a:pt x="1" y="1"/>
                </a:lnTo>
                <a:lnTo>
                  <a:pt x="0" y="2"/>
                </a:lnTo>
                <a:lnTo>
                  <a:pt x="0" y="27"/>
                </a:lnTo>
                <a:lnTo>
                  <a:pt x="0" y="27"/>
                </a:lnTo>
                <a:lnTo>
                  <a:pt x="1" y="27"/>
                </a:lnTo>
                <a:lnTo>
                  <a:pt x="2" y="27"/>
                </a:lnTo>
                <a:lnTo>
                  <a:pt x="3" y="27"/>
                </a:lnTo>
                <a:lnTo>
                  <a:pt x="5" y="26"/>
                </a:lnTo>
                <a:lnTo>
                  <a:pt x="6" y="26"/>
                </a:lnTo>
                <a:lnTo>
                  <a:pt x="8" y="25"/>
                </a:lnTo>
                <a:lnTo>
                  <a:pt x="9" y="23"/>
                </a:lnTo>
                <a:lnTo>
                  <a:pt x="9" y="1"/>
                </a:lnTo>
                <a:close/>
              </a:path>
            </a:pathLst>
          </a:custGeom>
          <a:solidFill>
            <a:srgbClr val="E5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Freeform 95"/>
          <p:cNvSpPr>
            <a:spLocks/>
          </p:cNvSpPr>
          <p:nvPr/>
        </p:nvSpPr>
        <p:spPr bwMode="auto">
          <a:xfrm>
            <a:off x="2998787" y="3457575"/>
            <a:ext cx="22225" cy="20638"/>
          </a:xfrm>
          <a:custGeom>
            <a:avLst/>
            <a:gdLst>
              <a:gd name="T0" fmla="*/ 7 w 14"/>
              <a:gd name="T1" fmla="*/ 13 h 13"/>
              <a:gd name="T2" fmla="*/ 8 w 14"/>
              <a:gd name="T3" fmla="*/ 13 h 13"/>
              <a:gd name="T4" fmla="*/ 9 w 14"/>
              <a:gd name="T5" fmla="*/ 13 h 13"/>
              <a:gd name="T6" fmla="*/ 10 w 14"/>
              <a:gd name="T7" fmla="*/ 12 h 13"/>
              <a:gd name="T8" fmla="*/ 11 w 14"/>
              <a:gd name="T9" fmla="*/ 11 h 13"/>
              <a:gd name="T10" fmla="*/ 13 w 14"/>
              <a:gd name="T11" fmla="*/ 11 h 13"/>
              <a:gd name="T12" fmla="*/ 13 w 14"/>
              <a:gd name="T13" fmla="*/ 9 h 13"/>
              <a:gd name="T14" fmla="*/ 14 w 14"/>
              <a:gd name="T15" fmla="*/ 7 h 13"/>
              <a:gd name="T16" fmla="*/ 14 w 14"/>
              <a:gd name="T17" fmla="*/ 6 h 13"/>
              <a:gd name="T18" fmla="*/ 14 w 14"/>
              <a:gd name="T19" fmla="*/ 5 h 13"/>
              <a:gd name="T20" fmla="*/ 13 w 14"/>
              <a:gd name="T21" fmla="*/ 4 h 13"/>
              <a:gd name="T22" fmla="*/ 13 w 14"/>
              <a:gd name="T23" fmla="*/ 2 h 13"/>
              <a:gd name="T24" fmla="*/ 11 w 14"/>
              <a:gd name="T25" fmla="*/ 1 h 13"/>
              <a:gd name="T26" fmla="*/ 10 w 14"/>
              <a:gd name="T27" fmla="*/ 0 h 13"/>
              <a:gd name="T28" fmla="*/ 9 w 14"/>
              <a:gd name="T29" fmla="*/ 0 h 13"/>
              <a:gd name="T30" fmla="*/ 8 w 14"/>
              <a:gd name="T31" fmla="*/ 0 h 13"/>
              <a:gd name="T32" fmla="*/ 7 w 14"/>
              <a:gd name="T33" fmla="*/ 0 h 13"/>
              <a:gd name="T34" fmla="*/ 6 w 14"/>
              <a:gd name="T35" fmla="*/ 0 h 13"/>
              <a:gd name="T36" fmla="*/ 4 w 14"/>
              <a:gd name="T37" fmla="*/ 0 h 13"/>
              <a:gd name="T38" fmla="*/ 3 w 14"/>
              <a:gd name="T39" fmla="*/ 0 h 13"/>
              <a:gd name="T40" fmla="*/ 2 w 14"/>
              <a:gd name="T41" fmla="*/ 1 h 13"/>
              <a:gd name="T42" fmla="*/ 1 w 14"/>
              <a:gd name="T43" fmla="*/ 2 h 13"/>
              <a:gd name="T44" fmla="*/ 1 w 14"/>
              <a:gd name="T45" fmla="*/ 4 h 13"/>
              <a:gd name="T46" fmla="*/ 0 w 14"/>
              <a:gd name="T47" fmla="*/ 5 h 13"/>
              <a:gd name="T48" fmla="*/ 0 w 14"/>
              <a:gd name="T49" fmla="*/ 6 h 13"/>
              <a:gd name="T50" fmla="*/ 0 w 14"/>
              <a:gd name="T51" fmla="*/ 7 h 13"/>
              <a:gd name="T52" fmla="*/ 1 w 14"/>
              <a:gd name="T53" fmla="*/ 9 h 13"/>
              <a:gd name="T54" fmla="*/ 1 w 14"/>
              <a:gd name="T55" fmla="*/ 11 h 13"/>
              <a:gd name="T56" fmla="*/ 2 w 14"/>
              <a:gd name="T57" fmla="*/ 11 h 13"/>
              <a:gd name="T58" fmla="*/ 3 w 14"/>
              <a:gd name="T59" fmla="*/ 12 h 13"/>
              <a:gd name="T60" fmla="*/ 4 w 14"/>
              <a:gd name="T61" fmla="*/ 13 h 13"/>
              <a:gd name="T62" fmla="*/ 6 w 14"/>
              <a:gd name="T63" fmla="*/ 13 h 13"/>
              <a:gd name="T64" fmla="*/ 7 w 14"/>
              <a:gd name="T65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4" h="13">
                <a:moveTo>
                  <a:pt x="7" y="13"/>
                </a:moveTo>
                <a:lnTo>
                  <a:pt x="8" y="13"/>
                </a:lnTo>
                <a:lnTo>
                  <a:pt x="9" y="13"/>
                </a:lnTo>
                <a:lnTo>
                  <a:pt x="10" y="12"/>
                </a:lnTo>
                <a:lnTo>
                  <a:pt x="11" y="11"/>
                </a:lnTo>
                <a:lnTo>
                  <a:pt x="13" y="11"/>
                </a:lnTo>
                <a:lnTo>
                  <a:pt x="13" y="9"/>
                </a:lnTo>
                <a:lnTo>
                  <a:pt x="14" y="7"/>
                </a:lnTo>
                <a:lnTo>
                  <a:pt x="14" y="6"/>
                </a:lnTo>
                <a:lnTo>
                  <a:pt x="14" y="5"/>
                </a:lnTo>
                <a:lnTo>
                  <a:pt x="13" y="4"/>
                </a:lnTo>
                <a:lnTo>
                  <a:pt x="13" y="2"/>
                </a:lnTo>
                <a:lnTo>
                  <a:pt x="11" y="1"/>
                </a:lnTo>
                <a:lnTo>
                  <a:pt x="10" y="0"/>
                </a:lnTo>
                <a:lnTo>
                  <a:pt x="9" y="0"/>
                </a:lnTo>
                <a:lnTo>
                  <a:pt x="8" y="0"/>
                </a:lnTo>
                <a:lnTo>
                  <a:pt x="7" y="0"/>
                </a:lnTo>
                <a:lnTo>
                  <a:pt x="6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1" y="2"/>
                </a:lnTo>
                <a:lnTo>
                  <a:pt x="1" y="4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9"/>
                </a:lnTo>
                <a:lnTo>
                  <a:pt x="1" y="11"/>
                </a:lnTo>
                <a:lnTo>
                  <a:pt x="2" y="11"/>
                </a:lnTo>
                <a:lnTo>
                  <a:pt x="3" y="12"/>
                </a:lnTo>
                <a:lnTo>
                  <a:pt x="4" y="13"/>
                </a:lnTo>
                <a:lnTo>
                  <a:pt x="6" y="13"/>
                </a:lnTo>
                <a:lnTo>
                  <a:pt x="7" y="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Freeform 96"/>
          <p:cNvSpPr>
            <a:spLocks/>
          </p:cNvSpPr>
          <p:nvPr/>
        </p:nvSpPr>
        <p:spPr bwMode="auto">
          <a:xfrm>
            <a:off x="2933700" y="3457575"/>
            <a:ext cx="11112" cy="11113"/>
          </a:xfrm>
          <a:custGeom>
            <a:avLst/>
            <a:gdLst>
              <a:gd name="T0" fmla="*/ 3 w 7"/>
              <a:gd name="T1" fmla="*/ 7 h 7"/>
              <a:gd name="T2" fmla="*/ 5 w 7"/>
              <a:gd name="T3" fmla="*/ 6 h 7"/>
              <a:gd name="T4" fmla="*/ 6 w 7"/>
              <a:gd name="T5" fmla="*/ 6 h 7"/>
              <a:gd name="T6" fmla="*/ 6 w 7"/>
              <a:gd name="T7" fmla="*/ 5 h 7"/>
              <a:gd name="T8" fmla="*/ 7 w 7"/>
              <a:gd name="T9" fmla="*/ 4 h 7"/>
              <a:gd name="T10" fmla="*/ 6 w 7"/>
              <a:gd name="T11" fmla="*/ 1 h 7"/>
              <a:gd name="T12" fmla="*/ 6 w 7"/>
              <a:gd name="T13" fmla="*/ 1 h 7"/>
              <a:gd name="T14" fmla="*/ 5 w 7"/>
              <a:gd name="T15" fmla="*/ 0 h 7"/>
              <a:gd name="T16" fmla="*/ 3 w 7"/>
              <a:gd name="T17" fmla="*/ 0 h 7"/>
              <a:gd name="T18" fmla="*/ 2 w 7"/>
              <a:gd name="T19" fmla="*/ 0 h 7"/>
              <a:gd name="T20" fmla="*/ 1 w 7"/>
              <a:gd name="T21" fmla="*/ 1 h 7"/>
              <a:gd name="T22" fmla="*/ 0 w 7"/>
              <a:gd name="T23" fmla="*/ 1 h 7"/>
              <a:gd name="T24" fmla="*/ 0 w 7"/>
              <a:gd name="T25" fmla="*/ 4 h 7"/>
              <a:gd name="T26" fmla="*/ 0 w 7"/>
              <a:gd name="T27" fmla="*/ 5 h 7"/>
              <a:gd name="T28" fmla="*/ 1 w 7"/>
              <a:gd name="T29" fmla="*/ 6 h 7"/>
              <a:gd name="T30" fmla="*/ 2 w 7"/>
              <a:gd name="T31" fmla="*/ 6 h 7"/>
              <a:gd name="T32" fmla="*/ 3 w 7"/>
              <a:gd name="T33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7" h="7">
                <a:moveTo>
                  <a:pt x="3" y="7"/>
                </a:moveTo>
                <a:lnTo>
                  <a:pt x="5" y="6"/>
                </a:lnTo>
                <a:lnTo>
                  <a:pt x="6" y="6"/>
                </a:lnTo>
                <a:lnTo>
                  <a:pt x="6" y="5"/>
                </a:lnTo>
                <a:lnTo>
                  <a:pt x="7" y="4"/>
                </a:lnTo>
                <a:lnTo>
                  <a:pt x="6" y="1"/>
                </a:lnTo>
                <a:lnTo>
                  <a:pt x="6" y="1"/>
                </a:lnTo>
                <a:lnTo>
                  <a:pt x="5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2" y="6"/>
                </a:lnTo>
                <a:lnTo>
                  <a:pt x="3" y="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" name="Freeform 97"/>
          <p:cNvSpPr>
            <a:spLocks/>
          </p:cNvSpPr>
          <p:nvPr/>
        </p:nvSpPr>
        <p:spPr bwMode="auto">
          <a:xfrm>
            <a:off x="2952750" y="3457575"/>
            <a:ext cx="7937" cy="11113"/>
          </a:xfrm>
          <a:custGeom>
            <a:avLst/>
            <a:gdLst>
              <a:gd name="T0" fmla="*/ 3 w 5"/>
              <a:gd name="T1" fmla="*/ 7 h 7"/>
              <a:gd name="T2" fmla="*/ 4 w 5"/>
              <a:gd name="T3" fmla="*/ 7 h 7"/>
              <a:gd name="T4" fmla="*/ 5 w 5"/>
              <a:gd name="T5" fmla="*/ 6 h 7"/>
              <a:gd name="T6" fmla="*/ 5 w 5"/>
              <a:gd name="T7" fmla="*/ 5 h 7"/>
              <a:gd name="T8" fmla="*/ 5 w 5"/>
              <a:gd name="T9" fmla="*/ 4 h 7"/>
              <a:gd name="T10" fmla="*/ 5 w 5"/>
              <a:gd name="T11" fmla="*/ 2 h 7"/>
              <a:gd name="T12" fmla="*/ 5 w 5"/>
              <a:gd name="T13" fmla="*/ 1 h 7"/>
              <a:gd name="T14" fmla="*/ 4 w 5"/>
              <a:gd name="T15" fmla="*/ 0 h 7"/>
              <a:gd name="T16" fmla="*/ 3 w 5"/>
              <a:gd name="T17" fmla="*/ 0 h 7"/>
              <a:gd name="T18" fmla="*/ 2 w 5"/>
              <a:gd name="T19" fmla="*/ 0 h 7"/>
              <a:gd name="T20" fmla="*/ 1 w 5"/>
              <a:gd name="T21" fmla="*/ 1 h 7"/>
              <a:gd name="T22" fmla="*/ 0 w 5"/>
              <a:gd name="T23" fmla="*/ 2 h 7"/>
              <a:gd name="T24" fmla="*/ 0 w 5"/>
              <a:gd name="T25" fmla="*/ 4 h 7"/>
              <a:gd name="T26" fmla="*/ 0 w 5"/>
              <a:gd name="T27" fmla="*/ 5 h 7"/>
              <a:gd name="T28" fmla="*/ 1 w 5"/>
              <a:gd name="T29" fmla="*/ 6 h 7"/>
              <a:gd name="T30" fmla="*/ 2 w 5"/>
              <a:gd name="T31" fmla="*/ 7 h 7"/>
              <a:gd name="T32" fmla="*/ 3 w 5"/>
              <a:gd name="T33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" h="7">
                <a:moveTo>
                  <a:pt x="3" y="7"/>
                </a:moveTo>
                <a:lnTo>
                  <a:pt x="4" y="7"/>
                </a:lnTo>
                <a:lnTo>
                  <a:pt x="5" y="6"/>
                </a:lnTo>
                <a:lnTo>
                  <a:pt x="5" y="5"/>
                </a:lnTo>
                <a:lnTo>
                  <a:pt x="5" y="4"/>
                </a:lnTo>
                <a:lnTo>
                  <a:pt x="5" y="2"/>
                </a:lnTo>
                <a:lnTo>
                  <a:pt x="5" y="1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0" y="2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2" y="7"/>
                </a:lnTo>
                <a:lnTo>
                  <a:pt x="3" y="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" name="Freeform 98"/>
          <p:cNvSpPr>
            <a:spLocks/>
          </p:cNvSpPr>
          <p:nvPr/>
        </p:nvSpPr>
        <p:spPr bwMode="auto">
          <a:xfrm>
            <a:off x="2879725" y="3311525"/>
            <a:ext cx="30162" cy="146050"/>
          </a:xfrm>
          <a:custGeom>
            <a:avLst/>
            <a:gdLst>
              <a:gd name="T0" fmla="*/ 6 w 19"/>
              <a:gd name="T1" fmla="*/ 1 h 92"/>
              <a:gd name="T2" fmla="*/ 6 w 19"/>
              <a:gd name="T3" fmla="*/ 3 h 92"/>
              <a:gd name="T4" fmla="*/ 4 w 19"/>
              <a:gd name="T5" fmla="*/ 8 h 92"/>
              <a:gd name="T6" fmla="*/ 2 w 19"/>
              <a:gd name="T7" fmla="*/ 16 h 92"/>
              <a:gd name="T8" fmla="*/ 1 w 19"/>
              <a:gd name="T9" fmla="*/ 28 h 92"/>
              <a:gd name="T10" fmla="*/ 0 w 19"/>
              <a:gd name="T11" fmla="*/ 41 h 92"/>
              <a:gd name="T12" fmla="*/ 0 w 19"/>
              <a:gd name="T13" fmla="*/ 56 h 92"/>
              <a:gd name="T14" fmla="*/ 1 w 19"/>
              <a:gd name="T15" fmla="*/ 73 h 92"/>
              <a:gd name="T16" fmla="*/ 5 w 19"/>
              <a:gd name="T17" fmla="*/ 92 h 92"/>
              <a:gd name="T18" fmla="*/ 19 w 19"/>
              <a:gd name="T19" fmla="*/ 91 h 92"/>
              <a:gd name="T20" fmla="*/ 18 w 19"/>
              <a:gd name="T21" fmla="*/ 89 h 92"/>
              <a:gd name="T22" fmla="*/ 16 w 19"/>
              <a:gd name="T23" fmla="*/ 80 h 92"/>
              <a:gd name="T24" fmla="*/ 15 w 19"/>
              <a:gd name="T25" fmla="*/ 70 h 92"/>
              <a:gd name="T26" fmla="*/ 14 w 19"/>
              <a:gd name="T27" fmla="*/ 56 h 92"/>
              <a:gd name="T28" fmla="*/ 13 w 19"/>
              <a:gd name="T29" fmla="*/ 42 h 92"/>
              <a:gd name="T30" fmla="*/ 13 w 19"/>
              <a:gd name="T31" fmla="*/ 27 h 92"/>
              <a:gd name="T32" fmla="*/ 15 w 19"/>
              <a:gd name="T33" fmla="*/ 13 h 92"/>
              <a:gd name="T34" fmla="*/ 19 w 19"/>
              <a:gd name="T35" fmla="*/ 1 h 92"/>
              <a:gd name="T36" fmla="*/ 19 w 19"/>
              <a:gd name="T37" fmla="*/ 0 h 92"/>
              <a:gd name="T38" fmla="*/ 19 w 19"/>
              <a:gd name="T39" fmla="*/ 0 h 92"/>
              <a:gd name="T40" fmla="*/ 19 w 19"/>
              <a:gd name="T41" fmla="*/ 0 h 92"/>
              <a:gd name="T42" fmla="*/ 18 w 19"/>
              <a:gd name="T43" fmla="*/ 0 h 92"/>
              <a:gd name="T44" fmla="*/ 16 w 19"/>
              <a:gd name="T45" fmla="*/ 0 h 92"/>
              <a:gd name="T46" fmla="*/ 14 w 19"/>
              <a:gd name="T47" fmla="*/ 0 h 92"/>
              <a:gd name="T48" fmla="*/ 11 w 19"/>
              <a:gd name="T49" fmla="*/ 0 h 92"/>
              <a:gd name="T50" fmla="*/ 6 w 19"/>
              <a:gd name="T51" fmla="*/ 1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9" h="92">
                <a:moveTo>
                  <a:pt x="6" y="1"/>
                </a:moveTo>
                <a:lnTo>
                  <a:pt x="6" y="3"/>
                </a:lnTo>
                <a:lnTo>
                  <a:pt x="4" y="8"/>
                </a:lnTo>
                <a:lnTo>
                  <a:pt x="2" y="16"/>
                </a:lnTo>
                <a:lnTo>
                  <a:pt x="1" y="28"/>
                </a:lnTo>
                <a:lnTo>
                  <a:pt x="0" y="41"/>
                </a:lnTo>
                <a:lnTo>
                  <a:pt x="0" y="56"/>
                </a:lnTo>
                <a:lnTo>
                  <a:pt x="1" y="73"/>
                </a:lnTo>
                <a:lnTo>
                  <a:pt x="5" y="92"/>
                </a:lnTo>
                <a:lnTo>
                  <a:pt x="19" y="91"/>
                </a:lnTo>
                <a:lnTo>
                  <a:pt x="18" y="89"/>
                </a:lnTo>
                <a:lnTo>
                  <a:pt x="16" y="80"/>
                </a:lnTo>
                <a:lnTo>
                  <a:pt x="15" y="70"/>
                </a:lnTo>
                <a:lnTo>
                  <a:pt x="14" y="56"/>
                </a:lnTo>
                <a:lnTo>
                  <a:pt x="13" y="42"/>
                </a:lnTo>
                <a:lnTo>
                  <a:pt x="13" y="27"/>
                </a:lnTo>
                <a:lnTo>
                  <a:pt x="15" y="13"/>
                </a:lnTo>
                <a:lnTo>
                  <a:pt x="19" y="1"/>
                </a:lnTo>
                <a:lnTo>
                  <a:pt x="19" y="0"/>
                </a:lnTo>
                <a:lnTo>
                  <a:pt x="19" y="0"/>
                </a:lnTo>
                <a:lnTo>
                  <a:pt x="19" y="0"/>
                </a:lnTo>
                <a:lnTo>
                  <a:pt x="18" y="0"/>
                </a:lnTo>
                <a:lnTo>
                  <a:pt x="16" y="0"/>
                </a:lnTo>
                <a:lnTo>
                  <a:pt x="14" y="0"/>
                </a:lnTo>
                <a:lnTo>
                  <a:pt x="11" y="0"/>
                </a:lnTo>
                <a:lnTo>
                  <a:pt x="6" y="1"/>
                </a:lnTo>
                <a:close/>
              </a:path>
            </a:pathLst>
          </a:custGeom>
          <a:solidFill>
            <a:srgbClr val="3F9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Freeform 99"/>
          <p:cNvSpPr>
            <a:spLocks/>
          </p:cNvSpPr>
          <p:nvPr/>
        </p:nvSpPr>
        <p:spPr bwMode="auto">
          <a:xfrm>
            <a:off x="3035300" y="3292475"/>
            <a:ext cx="42862" cy="163513"/>
          </a:xfrm>
          <a:custGeom>
            <a:avLst/>
            <a:gdLst>
              <a:gd name="T0" fmla="*/ 27 w 27"/>
              <a:gd name="T1" fmla="*/ 0 h 103"/>
              <a:gd name="T2" fmla="*/ 26 w 27"/>
              <a:gd name="T3" fmla="*/ 1 h 103"/>
              <a:gd name="T4" fmla="*/ 25 w 27"/>
              <a:gd name="T5" fmla="*/ 4 h 103"/>
              <a:gd name="T6" fmla="*/ 22 w 27"/>
              <a:gd name="T7" fmla="*/ 9 h 103"/>
              <a:gd name="T8" fmla="*/ 20 w 27"/>
              <a:gd name="T9" fmla="*/ 18 h 103"/>
              <a:gd name="T10" fmla="*/ 18 w 27"/>
              <a:gd name="T11" fmla="*/ 32 h 103"/>
              <a:gd name="T12" fmla="*/ 16 w 27"/>
              <a:gd name="T13" fmla="*/ 49 h 103"/>
              <a:gd name="T14" fmla="*/ 18 w 27"/>
              <a:gd name="T15" fmla="*/ 73 h 103"/>
              <a:gd name="T16" fmla="*/ 20 w 27"/>
              <a:gd name="T17" fmla="*/ 103 h 103"/>
              <a:gd name="T18" fmla="*/ 5 w 27"/>
              <a:gd name="T19" fmla="*/ 103 h 103"/>
              <a:gd name="T20" fmla="*/ 5 w 27"/>
              <a:gd name="T21" fmla="*/ 101 h 103"/>
              <a:gd name="T22" fmla="*/ 4 w 27"/>
              <a:gd name="T23" fmla="*/ 91 h 103"/>
              <a:gd name="T24" fmla="*/ 2 w 27"/>
              <a:gd name="T25" fmla="*/ 80 h 103"/>
              <a:gd name="T26" fmla="*/ 1 w 27"/>
              <a:gd name="T27" fmla="*/ 64 h 103"/>
              <a:gd name="T28" fmla="*/ 0 w 27"/>
              <a:gd name="T29" fmla="*/ 47 h 103"/>
              <a:gd name="T30" fmla="*/ 1 w 27"/>
              <a:gd name="T31" fmla="*/ 31 h 103"/>
              <a:gd name="T32" fmla="*/ 4 w 27"/>
              <a:gd name="T33" fmla="*/ 14 h 103"/>
              <a:gd name="T34" fmla="*/ 9 w 27"/>
              <a:gd name="T35" fmla="*/ 0 h 103"/>
              <a:gd name="T36" fmla="*/ 27 w 27"/>
              <a:gd name="T37" fmla="*/ 0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" h="103">
                <a:moveTo>
                  <a:pt x="27" y="0"/>
                </a:moveTo>
                <a:lnTo>
                  <a:pt x="26" y="1"/>
                </a:lnTo>
                <a:lnTo>
                  <a:pt x="25" y="4"/>
                </a:lnTo>
                <a:lnTo>
                  <a:pt x="22" y="9"/>
                </a:lnTo>
                <a:lnTo>
                  <a:pt x="20" y="18"/>
                </a:lnTo>
                <a:lnTo>
                  <a:pt x="18" y="32"/>
                </a:lnTo>
                <a:lnTo>
                  <a:pt x="16" y="49"/>
                </a:lnTo>
                <a:lnTo>
                  <a:pt x="18" y="73"/>
                </a:lnTo>
                <a:lnTo>
                  <a:pt x="20" y="103"/>
                </a:lnTo>
                <a:lnTo>
                  <a:pt x="5" y="103"/>
                </a:lnTo>
                <a:lnTo>
                  <a:pt x="5" y="101"/>
                </a:lnTo>
                <a:lnTo>
                  <a:pt x="4" y="91"/>
                </a:lnTo>
                <a:lnTo>
                  <a:pt x="2" y="80"/>
                </a:lnTo>
                <a:lnTo>
                  <a:pt x="1" y="64"/>
                </a:lnTo>
                <a:lnTo>
                  <a:pt x="0" y="47"/>
                </a:lnTo>
                <a:lnTo>
                  <a:pt x="1" y="31"/>
                </a:lnTo>
                <a:lnTo>
                  <a:pt x="4" y="14"/>
                </a:lnTo>
                <a:lnTo>
                  <a:pt x="9" y="0"/>
                </a:lnTo>
                <a:lnTo>
                  <a:pt x="27" y="0"/>
                </a:lnTo>
                <a:close/>
              </a:path>
            </a:pathLst>
          </a:custGeom>
          <a:solidFill>
            <a:srgbClr val="3F9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Freeform 100"/>
          <p:cNvSpPr>
            <a:spLocks/>
          </p:cNvSpPr>
          <p:nvPr/>
        </p:nvSpPr>
        <p:spPr bwMode="auto">
          <a:xfrm>
            <a:off x="2879725" y="3319463"/>
            <a:ext cx="28575" cy="127000"/>
          </a:xfrm>
          <a:custGeom>
            <a:avLst/>
            <a:gdLst>
              <a:gd name="T0" fmla="*/ 6 w 18"/>
              <a:gd name="T1" fmla="*/ 2 h 80"/>
              <a:gd name="T2" fmla="*/ 6 w 18"/>
              <a:gd name="T3" fmla="*/ 3 h 80"/>
              <a:gd name="T4" fmla="*/ 5 w 18"/>
              <a:gd name="T5" fmla="*/ 8 h 80"/>
              <a:gd name="T6" fmla="*/ 2 w 18"/>
              <a:gd name="T7" fmla="*/ 15 h 80"/>
              <a:gd name="T8" fmla="*/ 1 w 18"/>
              <a:gd name="T9" fmla="*/ 24 h 80"/>
              <a:gd name="T10" fmla="*/ 0 w 18"/>
              <a:gd name="T11" fmla="*/ 36 h 80"/>
              <a:gd name="T12" fmla="*/ 1 w 18"/>
              <a:gd name="T13" fmla="*/ 50 h 80"/>
              <a:gd name="T14" fmla="*/ 2 w 18"/>
              <a:gd name="T15" fmla="*/ 65 h 80"/>
              <a:gd name="T16" fmla="*/ 5 w 18"/>
              <a:gd name="T17" fmla="*/ 80 h 80"/>
              <a:gd name="T18" fmla="*/ 16 w 18"/>
              <a:gd name="T19" fmla="*/ 80 h 80"/>
              <a:gd name="T20" fmla="*/ 16 w 18"/>
              <a:gd name="T21" fmla="*/ 78 h 80"/>
              <a:gd name="T22" fmla="*/ 15 w 18"/>
              <a:gd name="T23" fmla="*/ 71 h 80"/>
              <a:gd name="T24" fmla="*/ 14 w 18"/>
              <a:gd name="T25" fmla="*/ 61 h 80"/>
              <a:gd name="T26" fmla="*/ 13 w 18"/>
              <a:gd name="T27" fmla="*/ 50 h 80"/>
              <a:gd name="T28" fmla="*/ 12 w 18"/>
              <a:gd name="T29" fmla="*/ 37 h 80"/>
              <a:gd name="T30" fmla="*/ 12 w 18"/>
              <a:gd name="T31" fmla="*/ 24 h 80"/>
              <a:gd name="T32" fmla="*/ 14 w 18"/>
              <a:gd name="T33" fmla="*/ 11 h 80"/>
              <a:gd name="T34" fmla="*/ 18 w 18"/>
              <a:gd name="T35" fmla="*/ 1 h 80"/>
              <a:gd name="T36" fmla="*/ 18 w 18"/>
              <a:gd name="T37" fmla="*/ 1 h 80"/>
              <a:gd name="T38" fmla="*/ 18 w 18"/>
              <a:gd name="T39" fmla="*/ 1 h 80"/>
              <a:gd name="T40" fmla="*/ 18 w 18"/>
              <a:gd name="T41" fmla="*/ 1 h 80"/>
              <a:gd name="T42" fmla="*/ 16 w 18"/>
              <a:gd name="T43" fmla="*/ 0 h 80"/>
              <a:gd name="T44" fmla="*/ 15 w 18"/>
              <a:gd name="T45" fmla="*/ 0 h 80"/>
              <a:gd name="T46" fmla="*/ 13 w 18"/>
              <a:gd name="T47" fmla="*/ 0 h 80"/>
              <a:gd name="T48" fmla="*/ 9 w 18"/>
              <a:gd name="T49" fmla="*/ 1 h 80"/>
              <a:gd name="T50" fmla="*/ 6 w 18"/>
              <a:gd name="T51" fmla="*/ 2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8" h="80">
                <a:moveTo>
                  <a:pt x="6" y="2"/>
                </a:moveTo>
                <a:lnTo>
                  <a:pt x="6" y="3"/>
                </a:lnTo>
                <a:lnTo>
                  <a:pt x="5" y="8"/>
                </a:lnTo>
                <a:lnTo>
                  <a:pt x="2" y="15"/>
                </a:lnTo>
                <a:lnTo>
                  <a:pt x="1" y="24"/>
                </a:lnTo>
                <a:lnTo>
                  <a:pt x="0" y="36"/>
                </a:lnTo>
                <a:lnTo>
                  <a:pt x="1" y="50"/>
                </a:lnTo>
                <a:lnTo>
                  <a:pt x="2" y="65"/>
                </a:lnTo>
                <a:lnTo>
                  <a:pt x="5" y="80"/>
                </a:lnTo>
                <a:lnTo>
                  <a:pt x="16" y="80"/>
                </a:lnTo>
                <a:lnTo>
                  <a:pt x="16" y="78"/>
                </a:lnTo>
                <a:lnTo>
                  <a:pt x="15" y="71"/>
                </a:lnTo>
                <a:lnTo>
                  <a:pt x="14" y="61"/>
                </a:lnTo>
                <a:lnTo>
                  <a:pt x="13" y="50"/>
                </a:lnTo>
                <a:lnTo>
                  <a:pt x="12" y="37"/>
                </a:lnTo>
                <a:lnTo>
                  <a:pt x="12" y="24"/>
                </a:lnTo>
                <a:lnTo>
                  <a:pt x="14" y="11"/>
                </a:lnTo>
                <a:lnTo>
                  <a:pt x="18" y="1"/>
                </a:lnTo>
                <a:lnTo>
                  <a:pt x="18" y="1"/>
                </a:lnTo>
                <a:lnTo>
                  <a:pt x="18" y="1"/>
                </a:lnTo>
                <a:lnTo>
                  <a:pt x="18" y="1"/>
                </a:lnTo>
                <a:lnTo>
                  <a:pt x="16" y="0"/>
                </a:lnTo>
                <a:lnTo>
                  <a:pt x="15" y="0"/>
                </a:lnTo>
                <a:lnTo>
                  <a:pt x="13" y="0"/>
                </a:lnTo>
                <a:lnTo>
                  <a:pt x="9" y="1"/>
                </a:lnTo>
                <a:lnTo>
                  <a:pt x="6" y="2"/>
                </a:lnTo>
                <a:close/>
              </a:path>
            </a:pathLst>
          </a:custGeom>
          <a:solidFill>
            <a:srgbClr val="59B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Freeform 101"/>
          <p:cNvSpPr>
            <a:spLocks/>
          </p:cNvSpPr>
          <p:nvPr/>
        </p:nvSpPr>
        <p:spPr bwMode="auto">
          <a:xfrm>
            <a:off x="2881312" y="3327400"/>
            <a:ext cx="22225" cy="109538"/>
          </a:xfrm>
          <a:custGeom>
            <a:avLst/>
            <a:gdLst>
              <a:gd name="T0" fmla="*/ 5 w 14"/>
              <a:gd name="T1" fmla="*/ 2 h 69"/>
              <a:gd name="T2" fmla="*/ 5 w 14"/>
              <a:gd name="T3" fmla="*/ 3 h 69"/>
              <a:gd name="T4" fmla="*/ 4 w 14"/>
              <a:gd name="T5" fmla="*/ 7 h 69"/>
              <a:gd name="T6" fmla="*/ 3 w 14"/>
              <a:gd name="T7" fmla="*/ 13 h 69"/>
              <a:gd name="T8" fmla="*/ 1 w 14"/>
              <a:gd name="T9" fmla="*/ 21 h 69"/>
              <a:gd name="T10" fmla="*/ 0 w 14"/>
              <a:gd name="T11" fmla="*/ 31 h 69"/>
              <a:gd name="T12" fmla="*/ 0 w 14"/>
              <a:gd name="T13" fmla="*/ 42 h 69"/>
              <a:gd name="T14" fmla="*/ 1 w 14"/>
              <a:gd name="T15" fmla="*/ 55 h 69"/>
              <a:gd name="T16" fmla="*/ 4 w 14"/>
              <a:gd name="T17" fmla="*/ 69 h 69"/>
              <a:gd name="T18" fmla="*/ 14 w 14"/>
              <a:gd name="T19" fmla="*/ 68 h 69"/>
              <a:gd name="T20" fmla="*/ 13 w 14"/>
              <a:gd name="T21" fmla="*/ 67 h 69"/>
              <a:gd name="T22" fmla="*/ 13 w 14"/>
              <a:gd name="T23" fmla="*/ 61 h 69"/>
              <a:gd name="T24" fmla="*/ 12 w 14"/>
              <a:gd name="T25" fmla="*/ 53 h 69"/>
              <a:gd name="T26" fmla="*/ 11 w 14"/>
              <a:gd name="T27" fmla="*/ 42 h 69"/>
              <a:gd name="T28" fmla="*/ 10 w 14"/>
              <a:gd name="T29" fmla="*/ 32 h 69"/>
              <a:gd name="T30" fmla="*/ 10 w 14"/>
              <a:gd name="T31" fmla="*/ 20 h 69"/>
              <a:gd name="T32" fmla="*/ 12 w 14"/>
              <a:gd name="T33" fmla="*/ 10 h 69"/>
              <a:gd name="T34" fmla="*/ 14 w 14"/>
              <a:gd name="T35" fmla="*/ 2 h 69"/>
              <a:gd name="T36" fmla="*/ 14 w 14"/>
              <a:gd name="T37" fmla="*/ 2 h 69"/>
              <a:gd name="T38" fmla="*/ 14 w 14"/>
              <a:gd name="T39" fmla="*/ 0 h 69"/>
              <a:gd name="T40" fmla="*/ 14 w 14"/>
              <a:gd name="T41" fmla="*/ 0 h 69"/>
              <a:gd name="T42" fmla="*/ 14 w 14"/>
              <a:gd name="T43" fmla="*/ 0 h 69"/>
              <a:gd name="T44" fmla="*/ 13 w 14"/>
              <a:gd name="T45" fmla="*/ 0 h 69"/>
              <a:gd name="T46" fmla="*/ 11 w 14"/>
              <a:gd name="T47" fmla="*/ 0 h 69"/>
              <a:gd name="T48" fmla="*/ 8 w 14"/>
              <a:gd name="T49" fmla="*/ 0 h 69"/>
              <a:gd name="T50" fmla="*/ 5 w 14"/>
              <a:gd name="T51" fmla="*/ 2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" h="69">
                <a:moveTo>
                  <a:pt x="5" y="2"/>
                </a:moveTo>
                <a:lnTo>
                  <a:pt x="5" y="3"/>
                </a:lnTo>
                <a:lnTo>
                  <a:pt x="4" y="7"/>
                </a:lnTo>
                <a:lnTo>
                  <a:pt x="3" y="13"/>
                </a:lnTo>
                <a:lnTo>
                  <a:pt x="1" y="21"/>
                </a:lnTo>
                <a:lnTo>
                  <a:pt x="0" y="31"/>
                </a:lnTo>
                <a:lnTo>
                  <a:pt x="0" y="42"/>
                </a:lnTo>
                <a:lnTo>
                  <a:pt x="1" y="55"/>
                </a:lnTo>
                <a:lnTo>
                  <a:pt x="4" y="69"/>
                </a:lnTo>
                <a:lnTo>
                  <a:pt x="14" y="68"/>
                </a:lnTo>
                <a:lnTo>
                  <a:pt x="13" y="67"/>
                </a:lnTo>
                <a:lnTo>
                  <a:pt x="13" y="61"/>
                </a:lnTo>
                <a:lnTo>
                  <a:pt x="12" y="53"/>
                </a:lnTo>
                <a:lnTo>
                  <a:pt x="11" y="42"/>
                </a:lnTo>
                <a:lnTo>
                  <a:pt x="10" y="32"/>
                </a:lnTo>
                <a:lnTo>
                  <a:pt x="10" y="20"/>
                </a:lnTo>
                <a:lnTo>
                  <a:pt x="12" y="10"/>
                </a:lnTo>
                <a:lnTo>
                  <a:pt x="14" y="2"/>
                </a:lnTo>
                <a:lnTo>
                  <a:pt x="14" y="2"/>
                </a:lnTo>
                <a:lnTo>
                  <a:pt x="14" y="0"/>
                </a:lnTo>
                <a:lnTo>
                  <a:pt x="14" y="0"/>
                </a:lnTo>
                <a:lnTo>
                  <a:pt x="14" y="0"/>
                </a:lnTo>
                <a:lnTo>
                  <a:pt x="13" y="0"/>
                </a:lnTo>
                <a:lnTo>
                  <a:pt x="11" y="0"/>
                </a:lnTo>
                <a:lnTo>
                  <a:pt x="8" y="0"/>
                </a:lnTo>
                <a:lnTo>
                  <a:pt x="5" y="2"/>
                </a:lnTo>
                <a:close/>
              </a:path>
            </a:pathLst>
          </a:custGeom>
          <a:solidFill>
            <a:srgbClr val="72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Freeform 102"/>
          <p:cNvSpPr>
            <a:spLocks/>
          </p:cNvSpPr>
          <p:nvPr/>
        </p:nvSpPr>
        <p:spPr bwMode="auto">
          <a:xfrm>
            <a:off x="2882900" y="3336925"/>
            <a:ext cx="19050" cy="88900"/>
          </a:xfrm>
          <a:custGeom>
            <a:avLst/>
            <a:gdLst>
              <a:gd name="T0" fmla="*/ 4 w 12"/>
              <a:gd name="T1" fmla="*/ 1 h 56"/>
              <a:gd name="T2" fmla="*/ 3 w 12"/>
              <a:gd name="T3" fmla="*/ 1 h 56"/>
              <a:gd name="T4" fmla="*/ 3 w 12"/>
              <a:gd name="T5" fmla="*/ 5 h 56"/>
              <a:gd name="T6" fmla="*/ 2 w 12"/>
              <a:gd name="T7" fmla="*/ 11 h 56"/>
              <a:gd name="T8" fmla="*/ 0 w 12"/>
              <a:gd name="T9" fmla="*/ 17 h 56"/>
              <a:gd name="T10" fmla="*/ 0 w 12"/>
              <a:gd name="T11" fmla="*/ 25 h 56"/>
              <a:gd name="T12" fmla="*/ 0 w 12"/>
              <a:gd name="T13" fmla="*/ 35 h 56"/>
              <a:gd name="T14" fmla="*/ 2 w 12"/>
              <a:gd name="T15" fmla="*/ 46 h 56"/>
              <a:gd name="T16" fmla="*/ 3 w 12"/>
              <a:gd name="T17" fmla="*/ 56 h 56"/>
              <a:gd name="T18" fmla="*/ 11 w 12"/>
              <a:gd name="T19" fmla="*/ 56 h 56"/>
              <a:gd name="T20" fmla="*/ 11 w 12"/>
              <a:gd name="T21" fmla="*/ 55 h 56"/>
              <a:gd name="T22" fmla="*/ 10 w 12"/>
              <a:gd name="T23" fmla="*/ 50 h 56"/>
              <a:gd name="T24" fmla="*/ 10 w 12"/>
              <a:gd name="T25" fmla="*/ 43 h 56"/>
              <a:gd name="T26" fmla="*/ 9 w 12"/>
              <a:gd name="T27" fmla="*/ 35 h 56"/>
              <a:gd name="T28" fmla="*/ 7 w 12"/>
              <a:gd name="T29" fmla="*/ 26 h 56"/>
              <a:gd name="T30" fmla="*/ 9 w 12"/>
              <a:gd name="T31" fmla="*/ 17 h 56"/>
              <a:gd name="T32" fmla="*/ 10 w 12"/>
              <a:gd name="T33" fmla="*/ 7 h 56"/>
              <a:gd name="T34" fmla="*/ 12 w 12"/>
              <a:gd name="T35" fmla="*/ 0 h 56"/>
              <a:gd name="T36" fmla="*/ 12 w 12"/>
              <a:gd name="T37" fmla="*/ 0 h 56"/>
              <a:gd name="T38" fmla="*/ 12 w 12"/>
              <a:gd name="T39" fmla="*/ 0 h 56"/>
              <a:gd name="T40" fmla="*/ 12 w 12"/>
              <a:gd name="T41" fmla="*/ 0 h 56"/>
              <a:gd name="T42" fmla="*/ 11 w 12"/>
              <a:gd name="T43" fmla="*/ 0 h 56"/>
              <a:gd name="T44" fmla="*/ 10 w 12"/>
              <a:gd name="T45" fmla="*/ 0 h 56"/>
              <a:gd name="T46" fmla="*/ 9 w 12"/>
              <a:gd name="T47" fmla="*/ 0 h 56"/>
              <a:gd name="T48" fmla="*/ 6 w 12"/>
              <a:gd name="T49" fmla="*/ 0 h 56"/>
              <a:gd name="T50" fmla="*/ 4 w 12"/>
              <a:gd name="T51" fmla="*/ 1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" h="56">
                <a:moveTo>
                  <a:pt x="4" y="1"/>
                </a:moveTo>
                <a:lnTo>
                  <a:pt x="3" y="1"/>
                </a:lnTo>
                <a:lnTo>
                  <a:pt x="3" y="5"/>
                </a:lnTo>
                <a:lnTo>
                  <a:pt x="2" y="11"/>
                </a:lnTo>
                <a:lnTo>
                  <a:pt x="0" y="17"/>
                </a:lnTo>
                <a:lnTo>
                  <a:pt x="0" y="25"/>
                </a:lnTo>
                <a:lnTo>
                  <a:pt x="0" y="35"/>
                </a:lnTo>
                <a:lnTo>
                  <a:pt x="2" y="46"/>
                </a:lnTo>
                <a:lnTo>
                  <a:pt x="3" y="56"/>
                </a:lnTo>
                <a:lnTo>
                  <a:pt x="11" y="56"/>
                </a:lnTo>
                <a:lnTo>
                  <a:pt x="11" y="55"/>
                </a:lnTo>
                <a:lnTo>
                  <a:pt x="10" y="50"/>
                </a:lnTo>
                <a:lnTo>
                  <a:pt x="10" y="43"/>
                </a:lnTo>
                <a:lnTo>
                  <a:pt x="9" y="35"/>
                </a:lnTo>
                <a:lnTo>
                  <a:pt x="7" y="26"/>
                </a:lnTo>
                <a:lnTo>
                  <a:pt x="9" y="17"/>
                </a:lnTo>
                <a:lnTo>
                  <a:pt x="10" y="7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1" y="0"/>
                </a:lnTo>
                <a:lnTo>
                  <a:pt x="10" y="0"/>
                </a:lnTo>
                <a:lnTo>
                  <a:pt x="9" y="0"/>
                </a:lnTo>
                <a:lnTo>
                  <a:pt x="6" y="0"/>
                </a:lnTo>
                <a:lnTo>
                  <a:pt x="4" y="1"/>
                </a:lnTo>
                <a:close/>
              </a:path>
            </a:pathLst>
          </a:custGeom>
          <a:solidFill>
            <a:srgbClr val="8CD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" name="Freeform 103"/>
          <p:cNvSpPr>
            <a:spLocks/>
          </p:cNvSpPr>
          <p:nvPr/>
        </p:nvSpPr>
        <p:spPr bwMode="auto">
          <a:xfrm>
            <a:off x="2882900" y="3344863"/>
            <a:ext cx="15875" cy="71437"/>
          </a:xfrm>
          <a:custGeom>
            <a:avLst/>
            <a:gdLst>
              <a:gd name="T0" fmla="*/ 4 w 10"/>
              <a:gd name="T1" fmla="*/ 1 h 45"/>
              <a:gd name="T2" fmla="*/ 3 w 10"/>
              <a:gd name="T3" fmla="*/ 2 h 45"/>
              <a:gd name="T4" fmla="*/ 3 w 10"/>
              <a:gd name="T5" fmla="*/ 5 h 45"/>
              <a:gd name="T6" fmla="*/ 2 w 10"/>
              <a:gd name="T7" fmla="*/ 8 h 45"/>
              <a:gd name="T8" fmla="*/ 2 w 10"/>
              <a:gd name="T9" fmla="*/ 14 h 45"/>
              <a:gd name="T10" fmla="*/ 0 w 10"/>
              <a:gd name="T11" fmla="*/ 21 h 45"/>
              <a:gd name="T12" fmla="*/ 0 w 10"/>
              <a:gd name="T13" fmla="*/ 28 h 45"/>
              <a:gd name="T14" fmla="*/ 2 w 10"/>
              <a:gd name="T15" fmla="*/ 36 h 45"/>
              <a:gd name="T16" fmla="*/ 3 w 10"/>
              <a:gd name="T17" fmla="*/ 45 h 45"/>
              <a:gd name="T18" fmla="*/ 10 w 10"/>
              <a:gd name="T19" fmla="*/ 45 h 45"/>
              <a:gd name="T20" fmla="*/ 10 w 10"/>
              <a:gd name="T21" fmla="*/ 43 h 45"/>
              <a:gd name="T22" fmla="*/ 9 w 10"/>
              <a:gd name="T23" fmla="*/ 40 h 45"/>
              <a:gd name="T24" fmla="*/ 7 w 10"/>
              <a:gd name="T25" fmla="*/ 35 h 45"/>
              <a:gd name="T26" fmla="*/ 7 w 10"/>
              <a:gd name="T27" fmla="*/ 28 h 45"/>
              <a:gd name="T28" fmla="*/ 6 w 10"/>
              <a:gd name="T29" fmla="*/ 21 h 45"/>
              <a:gd name="T30" fmla="*/ 7 w 10"/>
              <a:gd name="T31" fmla="*/ 14 h 45"/>
              <a:gd name="T32" fmla="*/ 7 w 10"/>
              <a:gd name="T33" fmla="*/ 7 h 45"/>
              <a:gd name="T34" fmla="*/ 10 w 10"/>
              <a:gd name="T35" fmla="*/ 1 h 45"/>
              <a:gd name="T36" fmla="*/ 10 w 10"/>
              <a:gd name="T37" fmla="*/ 1 h 45"/>
              <a:gd name="T38" fmla="*/ 10 w 10"/>
              <a:gd name="T39" fmla="*/ 1 h 45"/>
              <a:gd name="T40" fmla="*/ 10 w 10"/>
              <a:gd name="T41" fmla="*/ 0 h 45"/>
              <a:gd name="T42" fmla="*/ 10 w 10"/>
              <a:gd name="T43" fmla="*/ 0 h 45"/>
              <a:gd name="T44" fmla="*/ 9 w 10"/>
              <a:gd name="T45" fmla="*/ 0 h 45"/>
              <a:gd name="T46" fmla="*/ 7 w 10"/>
              <a:gd name="T47" fmla="*/ 0 h 45"/>
              <a:gd name="T48" fmla="*/ 6 w 10"/>
              <a:gd name="T49" fmla="*/ 1 h 45"/>
              <a:gd name="T50" fmla="*/ 4 w 10"/>
              <a:gd name="T51" fmla="*/ 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0" h="45">
                <a:moveTo>
                  <a:pt x="4" y="1"/>
                </a:moveTo>
                <a:lnTo>
                  <a:pt x="3" y="2"/>
                </a:lnTo>
                <a:lnTo>
                  <a:pt x="3" y="5"/>
                </a:lnTo>
                <a:lnTo>
                  <a:pt x="2" y="8"/>
                </a:lnTo>
                <a:lnTo>
                  <a:pt x="2" y="14"/>
                </a:lnTo>
                <a:lnTo>
                  <a:pt x="0" y="21"/>
                </a:lnTo>
                <a:lnTo>
                  <a:pt x="0" y="28"/>
                </a:lnTo>
                <a:lnTo>
                  <a:pt x="2" y="36"/>
                </a:lnTo>
                <a:lnTo>
                  <a:pt x="3" y="45"/>
                </a:lnTo>
                <a:lnTo>
                  <a:pt x="10" y="45"/>
                </a:lnTo>
                <a:lnTo>
                  <a:pt x="10" y="43"/>
                </a:lnTo>
                <a:lnTo>
                  <a:pt x="9" y="40"/>
                </a:lnTo>
                <a:lnTo>
                  <a:pt x="7" y="35"/>
                </a:lnTo>
                <a:lnTo>
                  <a:pt x="7" y="28"/>
                </a:lnTo>
                <a:lnTo>
                  <a:pt x="6" y="21"/>
                </a:lnTo>
                <a:lnTo>
                  <a:pt x="7" y="14"/>
                </a:lnTo>
                <a:lnTo>
                  <a:pt x="7" y="7"/>
                </a:lnTo>
                <a:lnTo>
                  <a:pt x="10" y="1"/>
                </a:lnTo>
                <a:lnTo>
                  <a:pt x="10" y="1"/>
                </a:lnTo>
                <a:lnTo>
                  <a:pt x="10" y="1"/>
                </a:lnTo>
                <a:lnTo>
                  <a:pt x="10" y="0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6" y="1"/>
                </a:lnTo>
                <a:lnTo>
                  <a:pt x="4" y="1"/>
                </a:lnTo>
                <a:close/>
              </a:path>
            </a:pathLst>
          </a:custGeom>
          <a:solidFill>
            <a:srgbClr val="A5E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" name="Freeform 104"/>
          <p:cNvSpPr>
            <a:spLocks/>
          </p:cNvSpPr>
          <p:nvPr/>
        </p:nvSpPr>
        <p:spPr bwMode="auto">
          <a:xfrm>
            <a:off x="2886075" y="3354388"/>
            <a:ext cx="11112" cy="50800"/>
          </a:xfrm>
          <a:custGeom>
            <a:avLst/>
            <a:gdLst>
              <a:gd name="T0" fmla="*/ 2 w 7"/>
              <a:gd name="T1" fmla="*/ 1 h 32"/>
              <a:gd name="T2" fmla="*/ 1 w 7"/>
              <a:gd name="T3" fmla="*/ 1 h 32"/>
              <a:gd name="T4" fmla="*/ 1 w 7"/>
              <a:gd name="T5" fmla="*/ 3 h 32"/>
              <a:gd name="T6" fmla="*/ 0 w 7"/>
              <a:gd name="T7" fmla="*/ 6 h 32"/>
              <a:gd name="T8" fmla="*/ 0 w 7"/>
              <a:gd name="T9" fmla="*/ 10 h 32"/>
              <a:gd name="T10" fmla="*/ 0 w 7"/>
              <a:gd name="T11" fmla="*/ 15 h 32"/>
              <a:gd name="T12" fmla="*/ 0 w 7"/>
              <a:gd name="T13" fmla="*/ 20 h 32"/>
              <a:gd name="T14" fmla="*/ 0 w 7"/>
              <a:gd name="T15" fmla="*/ 27 h 32"/>
              <a:gd name="T16" fmla="*/ 1 w 7"/>
              <a:gd name="T17" fmla="*/ 32 h 32"/>
              <a:gd name="T18" fmla="*/ 5 w 7"/>
              <a:gd name="T19" fmla="*/ 32 h 32"/>
              <a:gd name="T20" fmla="*/ 5 w 7"/>
              <a:gd name="T21" fmla="*/ 31 h 32"/>
              <a:gd name="T22" fmla="*/ 5 w 7"/>
              <a:gd name="T23" fmla="*/ 29 h 32"/>
              <a:gd name="T24" fmla="*/ 4 w 7"/>
              <a:gd name="T25" fmla="*/ 25 h 32"/>
              <a:gd name="T26" fmla="*/ 4 w 7"/>
              <a:gd name="T27" fmla="*/ 20 h 32"/>
              <a:gd name="T28" fmla="*/ 4 w 7"/>
              <a:gd name="T29" fmla="*/ 15 h 32"/>
              <a:gd name="T30" fmla="*/ 4 w 7"/>
              <a:gd name="T31" fmla="*/ 9 h 32"/>
              <a:gd name="T32" fmla="*/ 4 w 7"/>
              <a:gd name="T33" fmla="*/ 4 h 32"/>
              <a:gd name="T34" fmla="*/ 7 w 7"/>
              <a:gd name="T35" fmla="*/ 0 h 32"/>
              <a:gd name="T36" fmla="*/ 7 w 7"/>
              <a:gd name="T37" fmla="*/ 0 h 32"/>
              <a:gd name="T38" fmla="*/ 7 w 7"/>
              <a:gd name="T39" fmla="*/ 0 h 32"/>
              <a:gd name="T40" fmla="*/ 5 w 7"/>
              <a:gd name="T41" fmla="*/ 0 h 32"/>
              <a:gd name="T42" fmla="*/ 5 w 7"/>
              <a:gd name="T43" fmla="*/ 0 h 32"/>
              <a:gd name="T44" fmla="*/ 5 w 7"/>
              <a:gd name="T45" fmla="*/ 0 h 32"/>
              <a:gd name="T46" fmla="*/ 4 w 7"/>
              <a:gd name="T47" fmla="*/ 0 h 32"/>
              <a:gd name="T48" fmla="*/ 3 w 7"/>
              <a:gd name="T49" fmla="*/ 0 h 32"/>
              <a:gd name="T50" fmla="*/ 2 w 7"/>
              <a:gd name="T51" fmla="*/ 1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" h="32">
                <a:moveTo>
                  <a:pt x="2" y="1"/>
                </a:moveTo>
                <a:lnTo>
                  <a:pt x="1" y="1"/>
                </a:lnTo>
                <a:lnTo>
                  <a:pt x="1" y="3"/>
                </a:lnTo>
                <a:lnTo>
                  <a:pt x="0" y="6"/>
                </a:lnTo>
                <a:lnTo>
                  <a:pt x="0" y="10"/>
                </a:lnTo>
                <a:lnTo>
                  <a:pt x="0" y="15"/>
                </a:lnTo>
                <a:lnTo>
                  <a:pt x="0" y="20"/>
                </a:lnTo>
                <a:lnTo>
                  <a:pt x="0" y="27"/>
                </a:lnTo>
                <a:lnTo>
                  <a:pt x="1" y="32"/>
                </a:lnTo>
                <a:lnTo>
                  <a:pt x="5" y="32"/>
                </a:lnTo>
                <a:lnTo>
                  <a:pt x="5" y="31"/>
                </a:lnTo>
                <a:lnTo>
                  <a:pt x="5" y="29"/>
                </a:lnTo>
                <a:lnTo>
                  <a:pt x="4" y="25"/>
                </a:lnTo>
                <a:lnTo>
                  <a:pt x="4" y="20"/>
                </a:lnTo>
                <a:lnTo>
                  <a:pt x="4" y="15"/>
                </a:lnTo>
                <a:lnTo>
                  <a:pt x="4" y="9"/>
                </a:lnTo>
                <a:lnTo>
                  <a:pt x="4" y="4"/>
                </a:lnTo>
                <a:lnTo>
                  <a:pt x="7" y="0"/>
                </a:lnTo>
                <a:lnTo>
                  <a:pt x="7" y="0"/>
                </a:lnTo>
                <a:lnTo>
                  <a:pt x="7" y="0"/>
                </a:lnTo>
                <a:lnTo>
                  <a:pt x="5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close/>
              </a:path>
            </a:pathLst>
          </a:custGeom>
          <a:solidFill>
            <a:srgbClr val="B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Freeform 105"/>
          <p:cNvSpPr>
            <a:spLocks/>
          </p:cNvSpPr>
          <p:nvPr/>
        </p:nvSpPr>
        <p:spPr bwMode="auto">
          <a:xfrm>
            <a:off x="3036887" y="3302000"/>
            <a:ext cx="38100" cy="142875"/>
          </a:xfrm>
          <a:custGeom>
            <a:avLst/>
            <a:gdLst>
              <a:gd name="T0" fmla="*/ 24 w 24"/>
              <a:gd name="T1" fmla="*/ 1 h 90"/>
              <a:gd name="T2" fmla="*/ 22 w 24"/>
              <a:gd name="T3" fmla="*/ 1 h 90"/>
              <a:gd name="T4" fmla="*/ 21 w 24"/>
              <a:gd name="T5" fmla="*/ 3 h 90"/>
              <a:gd name="T6" fmla="*/ 19 w 24"/>
              <a:gd name="T7" fmla="*/ 8 h 90"/>
              <a:gd name="T8" fmla="*/ 17 w 24"/>
              <a:gd name="T9" fmla="*/ 16 h 90"/>
              <a:gd name="T10" fmla="*/ 15 w 24"/>
              <a:gd name="T11" fmla="*/ 28 h 90"/>
              <a:gd name="T12" fmla="*/ 14 w 24"/>
              <a:gd name="T13" fmla="*/ 43 h 90"/>
              <a:gd name="T14" fmla="*/ 15 w 24"/>
              <a:gd name="T15" fmla="*/ 64 h 90"/>
              <a:gd name="T16" fmla="*/ 18 w 24"/>
              <a:gd name="T17" fmla="*/ 90 h 90"/>
              <a:gd name="T18" fmla="*/ 5 w 24"/>
              <a:gd name="T19" fmla="*/ 90 h 90"/>
              <a:gd name="T20" fmla="*/ 4 w 24"/>
              <a:gd name="T21" fmla="*/ 88 h 90"/>
              <a:gd name="T22" fmla="*/ 3 w 24"/>
              <a:gd name="T23" fmla="*/ 81 h 90"/>
              <a:gd name="T24" fmla="*/ 1 w 24"/>
              <a:gd name="T25" fmla="*/ 69 h 90"/>
              <a:gd name="T26" fmla="*/ 0 w 24"/>
              <a:gd name="T27" fmla="*/ 56 h 90"/>
              <a:gd name="T28" fmla="*/ 0 w 24"/>
              <a:gd name="T29" fmla="*/ 41 h 90"/>
              <a:gd name="T30" fmla="*/ 1 w 24"/>
              <a:gd name="T31" fmla="*/ 27 h 90"/>
              <a:gd name="T32" fmla="*/ 4 w 24"/>
              <a:gd name="T33" fmla="*/ 13 h 90"/>
              <a:gd name="T34" fmla="*/ 7 w 24"/>
              <a:gd name="T35" fmla="*/ 0 h 90"/>
              <a:gd name="T36" fmla="*/ 24 w 24"/>
              <a:gd name="T37" fmla="*/ 1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4" h="90">
                <a:moveTo>
                  <a:pt x="24" y="1"/>
                </a:moveTo>
                <a:lnTo>
                  <a:pt x="22" y="1"/>
                </a:lnTo>
                <a:lnTo>
                  <a:pt x="21" y="3"/>
                </a:lnTo>
                <a:lnTo>
                  <a:pt x="19" y="8"/>
                </a:lnTo>
                <a:lnTo>
                  <a:pt x="17" y="16"/>
                </a:lnTo>
                <a:lnTo>
                  <a:pt x="15" y="28"/>
                </a:lnTo>
                <a:lnTo>
                  <a:pt x="14" y="43"/>
                </a:lnTo>
                <a:lnTo>
                  <a:pt x="15" y="64"/>
                </a:lnTo>
                <a:lnTo>
                  <a:pt x="18" y="90"/>
                </a:lnTo>
                <a:lnTo>
                  <a:pt x="5" y="90"/>
                </a:lnTo>
                <a:lnTo>
                  <a:pt x="4" y="88"/>
                </a:lnTo>
                <a:lnTo>
                  <a:pt x="3" y="81"/>
                </a:lnTo>
                <a:lnTo>
                  <a:pt x="1" y="69"/>
                </a:lnTo>
                <a:lnTo>
                  <a:pt x="0" y="56"/>
                </a:lnTo>
                <a:lnTo>
                  <a:pt x="0" y="41"/>
                </a:lnTo>
                <a:lnTo>
                  <a:pt x="1" y="27"/>
                </a:lnTo>
                <a:lnTo>
                  <a:pt x="4" y="13"/>
                </a:lnTo>
                <a:lnTo>
                  <a:pt x="7" y="0"/>
                </a:lnTo>
                <a:lnTo>
                  <a:pt x="24" y="1"/>
                </a:lnTo>
                <a:close/>
              </a:path>
            </a:pathLst>
          </a:custGeom>
          <a:solidFill>
            <a:srgbClr val="59B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106"/>
          <p:cNvSpPr>
            <a:spLocks/>
          </p:cNvSpPr>
          <p:nvPr/>
        </p:nvSpPr>
        <p:spPr bwMode="auto">
          <a:xfrm>
            <a:off x="3038475" y="3313113"/>
            <a:ext cx="30162" cy="120650"/>
          </a:xfrm>
          <a:custGeom>
            <a:avLst/>
            <a:gdLst>
              <a:gd name="T0" fmla="*/ 19 w 19"/>
              <a:gd name="T1" fmla="*/ 0 h 76"/>
              <a:gd name="T2" fmla="*/ 19 w 19"/>
              <a:gd name="T3" fmla="*/ 0 h 76"/>
              <a:gd name="T4" fmla="*/ 18 w 19"/>
              <a:gd name="T5" fmla="*/ 2 h 76"/>
              <a:gd name="T6" fmla="*/ 17 w 19"/>
              <a:gd name="T7" fmla="*/ 7 h 76"/>
              <a:gd name="T8" fmla="*/ 14 w 19"/>
              <a:gd name="T9" fmla="*/ 13 h 76"/>
              <a:gd name="T10" fmla="*/ 13 w 19"/>
              <a:gd name="T11" fmla="*/ 22 h 76"/>
              <a:gd name="T12" fmla="*/ 12 w 19"/>
              <a:gd name="T13" fmla="*/ 36 h 76"/>
              <a:gd name="T14" fmla="*/ 13 w 19"/>
              <a:gd name="T15" fmla="*/ 54 h 76"/>
              <a:gd name="T16" fmla="*/ 14 w 19"/>
              <a:gd name="T17" fmla="*/ 76 h 76"/>
              <a:gd name="T18" fmla="*/ 4 w 19"/>
              <a:gd name="T19" fmla="*/ 76 h 76"/>
              <a:gd name="T20" fmla="*/ 4 w 19"/>
              <a:gd name="T21" fmla="*/ 74 h 76"/>
              <a:gd name="T22" fmla="*/ 3 w 19"/>
              <a:gd name="T23" fmla="*/ 68 h 76"/>
              <a:gd name="T24" fmla="*/ 2 w 19"/>
              <a:gd name="T25" fmla="*/ 58 h 76"/>
              <a:gd name="T26" fmla="*/ 0 w 19"/>
              <a:gd name="T27" fmla="*/ 47 h 76"/>
              <a:gd name="T28" fmla="*/ 0 w 19"/>
              <a:gd name="T29" fmla="*/ 35 h 76"/>
              <a:gd name="T30" fmla="*/ 0 w 19"/>
              <a:gd name="T31" fmla="*/ 22 h 76"/>
              <a:gd name="T32" fmla="*/ 3 w 19"/>
              <a:gd name="T33" fmla="*/ 9 h 76"/>
              <a:gd name="T34" fmla="*/ 6 w 19"/>
              <a:gd name="T35" fmla="*/ 0 h 76"/>
              <a:gd name="T36" fmla="*/ 19 w 19"/>
              <a:gd name="T37" fmla="*/ 0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9" h="76">
                <a:moveTo>
                  <a:pt x="19" y="0"/>
                </a:moveTo>
                <a:lnTo>
                  <a:pt x="19" y="0"/>
                </a:lnTo>
                <a:lnTo>
                  <a:pt x="18" y="2"/>
                </a:lnTo>
                <a:lnTo>
                  <a:pt x="17" y="7"/>
                </a:lnTo>
                <a:lnTo>
                  <a:pt x="14" y="13"/>
                </a:lnTo>
                <a:lnTo>
                  <a:pt x="13" y="22"/>
                </a:lnTo>
                <a:lnTo>
                  <a:pt x="12" y="36"/>
                </a:lnTo>
                <a:lnTo>
                  <a:pt x="13" y="54"/>
                </a:lnTo>
                <a:lnTo>
                  <a:pt x="14" y="76"/>
                </a:lnTo>
                <a:lnTo>
                  <a:pt x="4" y="76"/>
                </a:lnTo>
                <a:lnTo>
                  <a:pt x="4" y="74"/>
                </a:lnTo>
                <a:lnTo>
                  <a:pt x="3" y="68"/>
                </a:lnTo>
                <a:lnTo>
                  <a:pt x="2" y="58"/>
                </a:lnTo>
                <a:lnTo>
                  <a:pt x="0" y="47"/>
                </a:lnTo>
                <a:lnTo>
                  <a:pt x="0" y="35"/>
                </a:lnTo>
                <a:lnTo>
                  <a:pt x="0" y="22"/>
                </a:lnTo>
                <a:lnTo>
                  <a:pt x="3" y="9"/>
                </a:lnTo>
                <a:lnTo>
                  <a:pt x="6" y="0"/>
                </a:lnTo>
                <a:lnTo>
                  <a:pt x="19" y="0"/>
                </a:lnTo>
                <a:close/>
              </a:path>
            </a:pathLst>
          </a:custGeom>
          <a:solidFill>
            <a:srgbClr val="72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Freeform 107"/>
          <p:cNvSpPr>
            <a:spLocks/>
          </p:cNvSpPr>
          <p:nvPr/>
        </p:nvSpPr>
        <p:spPr bwMode="auto">
          <a:xfrm>
            <a:off x="3041650" y="3322638"/>
            <a:ext cx="23812" cy="100012"/>
          </a:xfrm>
          <a:custGeom>
            <a:avLst/>
            <a:gdLst>
              <a:gd name="T0" fmla="*/ 15 w 15"/>
              <a:gd name="T1" fmla="*/ 0 h 63"/>
              <a:gd name="T2" fmla="*/ 15 w 15"/>
              <a:gd name="T3" fmla="*/ 1 h 63"/>
              <a:gd name="T4" fmla="*/ 14 w 15"/>
              <a:gd name="T5" fmla="*/ 2 h 63"/>
              <a:gd name="T6" fmla="*/ 12 w 15"/>
              <a:gd name="T7" fmla="*/ 6 h 63"/>
              <a:gd name="T8" fmla="*/ 11 w 15"/>
              <a:gd name="T9" fmla="*/ 12 h 63"/>
              <a:gd name="T10" fmla="*/ 10 w 15"/>
              <a:gd name="T11" fmla="*/ 19 h 63"/>
              <a:gd name="T12" fmla="*/ 9 w 15"/>
              <a:gd name="T13" fmla="*/ 30 h 63"/>
              <a:gd name="T14" fmla="*/ 10 w 15"/>
              <a:gd name="T15" fmla="*/ 44 h 63"/>
              <a:gd name="T16" fmla="*/ 11 w 15"/>
              <a:gd name="T17" fmla="*/ 63 h 63"/>
              <a:gd name="T18" fmla="*/ 2 w 15"/>
              <a:gd name="T19" fmla="*/ 63 h 63"/>
              <a:gd name="T20" fmla="*/ 2 w 15"/>
              <a:gd name="T21" fmla="*/ 62 h 63"/>
              <a:gd name="T22" fmla="*/ 1 w 15"/>
              <a:gd name="T23" fmla="*/ 56 h 63"/>
              <a:gd name="T24" fmla="*/ 0 w 15"/>
              <a:gd name="T25" fmla="*/ 49 h 63"/>
              <a:gd name="T26" fmla="*/ 0 w 15"/>
              <a:gd name="T27" fmla="*/ 40 h 63"/>
              <a:gd name="T28" fmla="*/ 0 w 15"/>
              <a:gd name="T29" fmla="*/ 29 h 63"/>
              <a:gd name="T30" fmla="*/ 0 w 15"/>
              <a:gd name="T31" fmla="*/ 19 h 63"/>
              <a:gd name="T32" fmla="*/ 1 w 15"/>
              <a:gd name="T33" fmla="*/ 8 h 63"/>
              <a:gd name="T34" fmla="*/ 4 w 15"/>
              <a:gd name="T35" fmla="*/ 0 h 63"/>
              <a:gd name="T36" fmla="*/ 15 w 15"/>
              <a:gd name="T37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5" h="63">
                <a:moveTo>
                  <a:pt x="15" y="0"/>
                </a:moveTo>
                <a:lnTo>
                  <a:pt x="15" y="1"/>
                </a:lnTo>
                <a:lnTo>
                  <a:pt x="14" y="2"/>
                </a:lnTo>
                <a:lnTo>
                  <a:pt x="12" y="6"/>
                </a:lnTo>
                <a:lnTo>
                  <a:pt x="11" y="12"/>
                </a:lnTo>
                <a:lnTo>
                  <a:pt x="10" y="19"/>
                </a:lnTo>
                <a:lnTo>
                  <a:pt x="9" y="30"/>
                </a:lnTo>
                <a:lnTo>
                  <a:pt x="10" y="44"/>
                </a:lnTo>
                <a:lnTo>
                  <a:pt x="11" y="63"/>
                </a:lnTo>
                <a:lnTo>
                  <a:pt x="2" y="63"/>
                </a:lnTo>
                <a:lnTo>
                  <a:pt x="2" y="62"/>
                </a:lnTo>
                <a:lnTo>
                  <a:pt x="1" y="56"/>
                </a:lnTo>
                <a:lnTo>
                  <a:pt x="0" y="49"/>
                </a:lnTo>
                <a:lnTo>
                  <a:pt x="0" y="40"/>
                </a:lnTo>
                <a:lnTo>
                  <a:pt x="0" y="29"/>
                </a:lnTo>
                <a:lnTo>
                  <a:pt x="0" y="19"/>
                </a:lnTo>
                <a:lnTo>
                  <a:pt x="1" y="8"/>
                </a:lnTo>
                <a:lnTo>
                  <a:pt x="4" y="0"/>
                </a:lnTo>
                <a:lnTo>
                  <a:pt x="15" y="0"/>
                </a:lnTo>
                <a:close/>
              </a:path>
            </a:pathLst>
          </a:custGeom>
          <a:solidFill>
            <a:srgbClr val="8CD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Freeform 108"/>
          <p:cNvSpPr>
            <a:spLocks/>
          </p:cNvSpPr>
          <p:nvPr/>
        </p:nvSpPr>
        <p:spPr bwMode="auto">
          <a:xfrm>
            <a:off x="3041650" y="3332163"/>
            <a:ext cx="19050" cy="79375"/>
          </a:xfrm>
          <a:custGeom>
            <a:avLst/>
            <a:gdLst>
              <a:gd name="T0" fmla="*/ 12 w 12"/>
              <a:gd name="T1" fmla="*/ 1 h 50"/>
              <a:gd name="T2" fmla="*/ 12 w 12"/>
              <a:gd name="T3" fmla="*/ 1 h 50"/>
              <a:gd name="T4" fmla="*/ 11 w 12"/>
              <a:gd name="T5" fmla="*/ 2 h 50"/>
              <a:gd name="T6" fmla="*/ 10 w 12"/>
              <a:gd name="T7" fmla="*/ 4 h 50"/>
              <a:gd name="T8" fmla="*/ 9 w 12"/>
              <a:gd name="T9" fmla="*/ 9 h 50"/>
              <a:gd name="T10" fmla="*/ 9 w 12"/>
              <a:gd name="T11" fmla="*/ 15 h 50"/>
              <a:gd name="T12" fmla="*/ 8 w 12"/>
              <a:gd name="T13" fmla="*/ 24 h 50"/>
              <a:gd name="T14" fmla="*/ 8 w 12"/>
              <a:gd name="T15" fmla="*/ 36 h 50"/>
              <a:gd name="T16" fmla="*/ 9 w 12"/>
              <a:gd name="T17" fmla="*/ 50 h 50"/>
              <a:gd name="T18" fmla="*/ 2 w 12"/>
              <a:gd name="T19" fmla="*/ 50 h 50"/>
              <a:gd name="T20" fmla="*/ 2 w 12"/>
              <a:gd name="T21" fmla="*/ 49 h 50"/>
              <a:gd name="T22" fmla="*/ 2 w 12"/>
              <a:gd name="T23" fmla="*/ 45 h 50"/>
              <a:gd name="T24" fmla="*/ 1 w 12"/>
              <a:gd name="T25" fmla="*/ 38 h 50"/>
              <a:gd name="T26" fmla="*/ 1 w 12"/>
              <a:gd name="T27" fmla="*/ 31 h 50"/>
              <a:gd name="T28" fmla="*/ 0 w 12"/>
              <a:gd name="T29" fmla="*/ 23 h 50"/>
              <a:gd name="T30" fmla="*/ 1 w 12"/>
              <a:gd name="T31" fmla="*/ 15 h 50"/>
              <a:gd name="T32" fmla="*/ 2 w 12"/>
              <a:gd name="T33" fmla="*/ 7 h 50"/>
              <a:gd name="T34" fmla="*/ 4 w 12"/>
              <a:gd name="T35" fmla="*/ 0 h 50"/>
              <a:gd name="T36" fmla="*/ 12 w 12"/>
              <a:gd name="T37" fmla="*/ 1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" h="50">
                <a:moveTo>
                  <a:pt x="12" y="1"/>
                </a:moveTo>
                <a:lnTo>
                  <a:pt x="12" y="1"/>
                </a:lnTo>
                <a:lnTo>
                  <a:pt x="11" y="2"/>
                </a:lnTo>
                <a:lnTo>
                  <a:pt x="10" y="4"/>
                </a:lnTo>
                <a:lnTo>
                  <a:pt x="9" y="9"/>
                </a:lnTo>
                <a:lnTo>
                  <a:pt x="9" y="15"/>
                </a:lnTo>
                <a:lnTo>
                  <a:pt x="8" y="24"/>
                </a:lnTo>
                <a:lnTo>
                  <a:pt x="8" y="36"/>
                </a:lnTo>
                <a:lnTo>
                  <a:pt x="9" y="50"/>
                </a:lnTo>
                <a:lnTo>
                  <a:pt x="2" y="50"/>
                </a:lnTo>
                <a:lnTo>
                  <a:pt x="2" y="49"/>
                </a:lnTo>
                <a:lnTo>
                  <a:pt x="2" y="45"/>
                </a:lnTo>
                <a:lnTo>
                  <a:pt x="1" y="38"/>
                </a:lnTo>
                <a:lnTo>
                  <a:pt x="1" y="31"/>
                </a:lnTo>
                <a:lnTo>
                  <a:pt x="0" y="23"/>
                </a:lnTo>
                <a:lnTo>
                  <a:pt x="1" y="15"/>
                </a:lnTo>
                <a:lnTo>
                  <a:pt x="2" y="7"/>
                </a:lnTo>
                <a:lnTo>
                  <a:pt x="4" y="0"/>
                </a:lnTo>
                <a:lnTo>
                  <a:pt x="12" y="1"/>
                </a:lnTo>
                <a:close/>
              </a:path>
            </a:pathLst>
          </a:custGeom>
          <a:solidFill>
            <a:srgbClr val="A5E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Freeform 109"/>
          <p:cNvSpPr>
            <a:spLocks/>
          </p:cNvSpPr>
          <p:nvPr/>
        </p:nvSpPr>
        <p:spPr bwMode="auto">
          <a:xfrm>
            <a:off x="3043237" y="3343275"/>
            <a:ext cx="14288" cy="57150"/>
          </a:xfrm>
          <a:custGeom>
            <a:avLst/>
            <a:gdLst>
              <a:gd name="T0" fmla="*/ 9 w 9"/>
              <a:gd name="T1" fmla="*/ 0 h 36"/>
              <a:gd name="T2" fmla="*/ 9 w 9"/>
              <a:gd name="T3" fmla="*/ 0 h 36"/>
              <a:gd name="T4" fmla="*/ 8 w 9"/>
              <a:gd name="T5" fmla="*/ 1 h 36"/>
              <a:gd name="T6" fmla="*/ 8 w 9"/>
              <a:gd name="T7" fmla="*/ 3 h 36"/>
              <a:gd name="T8" fmla="*/ 7 w 9"/>
              <a:gd name="T9" fmla="*/ 6 h 36"/>
              <a:gd name="T10" fmla="*/ 6 w 9"/>
              <a:gd name="T11" fmla="*/ 10 h 36"/>
              <a:gd name="T12" fmla="*/ 6 w 9"/>
              <a:gd name="T13" fmla="*/ 17 h 36"/>
              <a:gd name="T14" fmla="*/ 6 w 9"/>
              <a:gd name="T15" fmla="*/ 25 h 36"/>
              <a:gd name="T16" fmla="*/ 7 w 9"/>
              <a:gd name="T17" fmla="*/ 36 h 36"/>
              <a:gd name="T18" fmla="*/ 2 w 9"/>
              <a:gd name="T19" fmla="*/ 36 h 36"/>
              <a:gd name="T20" fmla="*/ 1 w 9"/>
              <a:gd name="T21" fmla="*/ 36 h 36"/>
              <a:gd name="T22" fmla="*/ 1 w 9"/>
              <a:gd name="T23" fmla="*/ 32 h 36"/>
              <a:gd name="T24" fmla="*/ 1 w 9"/>
              <a:gd name="T25" fmla="*/ 28 h 36"/>
              <a:gd name="T26" fmla="*/ 0 w 9"/>
              <a:gd name="T27" fmla="*/ 22 h 36"/>
              <a:gd name="T28" fmla="*/ 0 w 9"/>
              <a:gd name="T29" fmla="*/ 16 h 36"/>
              <a:gd name="T30" fmla="*/ 0 w 9"/>
              <a:gd name="T31" fmla="*/ 10 h 36"/>
              <a:gd name="T32" fmla="*/ 1 w 9"/>
              <a:gd name="T33" fmla="*/ 4 h 36"/>
              <a:gd name="T34" fmla="*/ 3 w 9"/>
              <a:gd name="T35" fmla="*/ 0 h 36"/>
              <a:gd name="T36" fmla="*/ 9 w 9"/>
              <a:gd name="T37" fmla="*/ 0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" h="36">
                <a:moveTo>
                  <a:pt x="9" y="0"/>
                </a:moveTo>
                <a:lnTo>
                  <a:pt x="9" y="0"/>
                </a:lnTo>
                <a:lnTo>
                  <a:pt x="8" y="1"/>
                </a:lnTo>
                <a:lnTo>
                  <a:pt x="8" y="3"/>
                </a:lnTo>
                <a:lnTo>
                  <a:pt x="7" y="6"/>
                </a:lnTo>
                <a:lnTo>
                  <a:pt x="6" y="10"/>
                </a:lnTo>
                <a:lnTo>
                  <a:pt x="6" y="17"/>
                </a:lnTo>
                <a:lnTo>
                  <a:pt x="6" y="25"/>
                </a:lnTo>
                <a:lnTo>
                  <a:pt x="7" y="36"/>
                </a:lnTo>
                <a:lnTo>
                  <a:pt x="2" y="36"/>
                </a:lnTo>
                <a:lnTo>
                  <a:pt x="1" y="36"/>
                </a:lnTo>
                <a:lnTo>
                  <a:pt x="1" y="32"/>
                </a:lnTo>
                <a:lnTo>
                  <a:pt x="1" y="28"/>
                </a:lnTo>
                <a:lnTo>
                  <a:pt x="0" y="22"/>
                </a:lnTo>
                <a:lnTo>
                  <a:pt x="0" y="16"/>
                </a:lnTo>
                <a:lnTo>
                  <a:pt x="0" y="10"/>
                </a:lnTo>
                <a:lnTo>
                  <a:pt x="1" y="4"/>
                </a:lnTo>
                <a:lnTo>
                  <a:pt x="3" y="0"/>
                </a:lnTo>
                <a:lnTo>
                  <a:pt x="9" y="0"/>
                </a:lnTo>
                <a:close/>
              </a:path>
            </a:pathLst>
          </a:custGeom>
          <a:solidFill>
            <a:srgbClr val="B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Rectangle 110"/>
          <p:cNvSpPr>
            <a:spLocks noChangeArrowheads="1"/>
          </p:cNvSpPr>
          <p:nvPr/>
        </p:nvSpPr>
        <p:spPr bwMode="auto">
          <a:xfrm>
            <a:off x="2847975" y="3327400"/>
            <a:ext cx="6350" cy="1873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" name="Freeform 111"/>
          <p:cNvSpPr>
            <a:spLocks/>
          </p:cNvSpPr>
          <p:nvPr/>
        </p:nvSpPr>
        <p:spPr bwMode="auto">
          <a:xfrm>
            <a:off x="2914650" y="3324225"/>
            <a:ext cx="73025" cy="87313"/>
          </a:xfrm>
          <a:custGeom>
            <a:avLst/>
            <a:gdLst>
              <a:gd name="T0" fmla="*/ 4 w 46"/>
              <a:gd name="T1" fmla="*/ 6 h 55"/>
              <a:gd name="T2" fmla="*/ 4 w 46"/>
              <a:gd name="T3" fmla="*/ 7 h 55"/>
              <a:gd name="T4" fmla="*/ 3 w 46"/>
              <a:gd name="T5" fmla="*/ 9 h 55"/>
              <a:gd name="T6" fmla="*/ 1 w 46"/>
              <a:gd name="T7" fmla="*/ 14 h 55"/>
              <a:gd name="T8" fmla="*/ 0 w 46"/>
              <a:gd name="T9" fmla="*/ 20 h 55"/>
              <a:gd name="T10" fmla="*/ 0 w 46"/>
              <a:gd name="T11" fmla="*/ 28 h 55"/>
              <a:gd name="T12" fmla="*/ 0 w 46"/>
              <a:gd name="T13" fmla="*/ 36 h 55"/>
              <a:gd name="T14" fmla="*/ 0 w 46"/>
              <a:gd name="T15" fmla="*/ 46 h 55"/>
              <a:gd name="T16" fmla="*/ 3 w 46"/>
              <a:gd name="T17" fmla="*/ 55 h 55"/>
              <a:gd name="T18" fmla="*/ 3 w 46"/>
              <a:gd name="T19" fmla="*/ 54 h 55"/>
              <a:gd name="T20" fmla="*/ 3 w 46"/>
              <a:gd name="T21" fmla="*/ 53 h 55"/>
              <a:gd name="T22" fmla="*/ 3 w 46"/>
              <a:gd name="T23" fmla="*/ 51 h 55"/>
              <a:gd name="T24" fmla="*/ 3 w 46"/>
              <a:gd name="T25" fmla="*/ 49 h 55"/>
              <a:gd name="T26" fmla="*/ 3 w 46"/>
              <a:gd name="T27" fmla="*/ 46 h 55"/>
              <a:gd name="T28" fmla="*/ 4 w 46"/>
              <a:gd name="T29" fmla="*/ 42 h 55"/>
              <a:gd name="T30" fmla="*/ 4 w 46"/>
              <a:gd name="T31" fmla="*/ 39 h 55"/>
              <a:gd name="T32" fmla="*/ 5 w 46"/>
              <a:gd name="T33" fmla="*/ 35 h 55"/>
              <a:gd name="T34" fmla="*/ 6 w 46"/>
              <a:gd name="T35" fmla="*/ 32 h 55"/>
              <a:gd name="T36" fmla="*/ 7 w 46"/>
              <a:gd name="T37" fmla="*/ 28 h 55"/>
              <a:gd name="T38" fmla="*/ 8 w 46"/>
              <a:gd name="T39" fmla="*/ 25 h 55"/>
              <a:gd name="T40" fmla="*/ 11 w 46"/>
              <a:gd name="T41" fmla="*/ 21 h 55"/>
              <a:gd name="T42" fmla="*/ 14 w 46"/>
              <a:gd name="T43" fmla="*/ 19 h 55"/>
              <a:gd name="T44" fmla="*/ 17 w 46"/>
              <a:gd name="T45" fmla="*/ 16 h 55"/>
              <a:gd name="T46" fmla="*/ 21 w 46"/>
              <a:gd name="T47" fmla="*/ 14 h 55"/>
              <a:gd name="T48" fmla="*/ 26 w 46"/>
              <a:gd name="T49" fmla="*/ 14 h 55"/>
              <a:gd name="T50" fmla="*/ 26 w 46"/>
              <a:gd name="T51" fmla="*/ 13 h 55"/>
              <a:gd name="T52" fmla="*/ 26 w 46"/>
              <a:gd name="T53" fmla="*/ 13 h 55"/>
              <a:gd name="T54" fmla="*/ 28 w 46"/>
              <a:gd name="T55" fmla="*/ 12 h 55"/>
              <a:gd name="T56" fmla="*/ 29 w 46"/>
              <a:gd name="T57" fmla="*/ 11 h 55"/>
              <a:gd name="T58" fmla="*/ 33 w 46"/>
              <a:gd name="T59" fmla="*/ 9 h 55"/>
              <a:gd name="T60" fmla="*/ 36 w 46"/>
              <a:gd name="T61" fmla="*/ 7 h 55"/>
              <a:gd name="T62" fmla="*/ 41 w 46"/>
              <a:gd name="T63" fmla="*/ 5 h 55"/>
              <a:gd name="T64" fmla="*/ 46 w 46"/>
              <a:gd name="T65" fmla="*/ 2 h 55"/>
              <a:gd name="T66" fmla="*/ 46 w 46"/>
              <a:gd name="T67" fmla="*/ 2 h 55"/>
              <a:gd name="T68" fmla="*/ 45 w 46"/>
              <a:gd name="T69" fmla="*/ 2 h 55"/>
              <a:gd name="T70" fmla="*/ 43 w 46"/>
              <a:gd name="T71" fmla="*/ 2 h 55"/>
              <a:gd name="T72" fmla="*/ 42 w 46"/>
              <a:gd name="T73" fmla="*/ 1 h 55"/>
              <a:gd name="T74" fmla="*/ 40 w 46"/>
              <a:gd name="T75" fmla="*/ 1 h 55"/>
              <a:gd name="T76" fmla="*/ 38 w 46"/>
              <a:gd name="T77" fmla="*/ 1 h 55"/>
              <a:gd name="T78" fmla="*/ 35 w 46"/>
              <a:gd name="T79" fmla="*/ 1 h 55"/>
              <a:gd name="T80" fmla="*/ 32 w 46"/>
              <a:gd name="T81" fmla="*/ 0 h 55"/>
              <a:gd name="T82" fmla="*/ 28 w 46"/>
              <a:gd name="T83" fmla="*/ 0 h 55"/>
              <a:gd name="T84" fmla="*/ 26 w 46"/>
              <a:gd name="T85" fmla="*/ 0 h 55"/>
              <a:gd name="T86" fmla="*/ 22 w 46"/>
              <a:gd name="T87" fmla="*/ 1 h 55"/>
              <a:gd name="T88" fmla="*/ 19 w 46"/>
              <a:gd name="T89" fmla="*/ 1 h 55"/>
              <a:gd name="T90" fmla="*/ 14 w 46"/>
              <a:gd name="T91" fmla="*/ 1 h 55"/>
              <a:gd name="T92" fmla="*/ 11 w 46"/>
              <a:gd name="T93" fmla="*/ 2 h 55"/>
              <a:gd name="T94" fmla="*/ 7 w 46"/>
              <a:gd name="T95" fmla="*/ 4 h 55"/>
              <a:gd name="T96" fmla="*/ 4 w 46"/>
              <a:gd name="T97" fmla="*/ 6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46" h="55">
                <a:moveTo>
                  <a:pt x="4" y="6"/>
                </a:moveTo>
                <a:lnTo>
                  <a:pt x="4" y="7"/>
                </a:lnTo>
                <a:lnTo>
                  <a:pt x="3" y="9"/>
                </a:lnTo>
                <a:lnTo>
                  <a:pt x="1" y="14"/>
                </a:lnTo>
                <a:lnTo>
                  <a:pt x="0" y="20"/>
                </a:lnTo>
                <a:lnTo>
                  <a:pt x="0" y="28"/>
                </a:lnTo>
                <a:lnTo>
                  <a:pt x="0" y="36"/>
                </a:lnTo>
                <a:lnTo>
                  <a:pt x="0" y="46"/>
                </a:lnTo>
                <a:lnTo>
                  <a:pt x="3" y="55"/>
                </a:lnTo>
                <a:lnTo>
                  <a:pt x="3" y="54"/>
                </a:lnTo>
                <a:lnTo>
                  <a:pt x="3" y="53"/>
                </a:lnTo>
                <a:lnTo>
                  <a:pt x="3" y="51"/>
                </a:lnTo>
                <a:lnTo>
                  <a:pt x="3" y="49"/>
                </a:lnTo>
                <a:lnTo>
                  <a:pt x="3" y="46"/>
                </a:lnTo>
                <a:lnTo>
                  <a:pt x="4" y="42"/>
                </a:lnTo>
                <a:lnTo>
                  <a:pt x="4" y="39"/>
                </a:lnTo>
                <a:lnTo>
                  <a:pt x="5" y="35"/>
                </a:lnTo>
                <a:lnTo>
                  <a:pt x="6" y="32"/>
                </a:lnTo>
                <a:lnTo>
                  <a:pt x="7" y="28"/>
                </a:lnTo>
                <a:lnTo>
                  <a:pt x="8" y="25"/>
                </a:lnTo>
                <a:lnTo>
                  <a:pt x="11" y="21"/>
                </a:lnTo>
                <a:lnTo>
                  <a:pt x="14" y="19"/>
                </a:lnTo>
                <a:lnTo>
                  <a:pt x="17" y="16"/>
                </a:lnTo>
                <a:lnTo>
                  <a:pt x="21" y="14"/>
                </a:lnTo>
                <a:lnTo>
                  <a:pt x="26" y="14"/>
                </a:lnTo>
                <a:lnTo>
                  <a:pt x="26" y="13"/>
                </a:lnTo>
                <a:lnTo>
                  <a:pt x="26" y="13"/>
                </a:lnTo>
                <a:lnTo>
                  <a:pt x="28" y="12"/>
                </a:lnTo>
                <a:lnTo>
                  <a:pt x="29" y="11"/>
                </a:lnTo>
                <a:lnTo>
                  <a:pt x="33" y="9"/>
                </a:lnTo>
                <a:lnTo>
                  <a:pt x="36" y="7"/>
                </a:lnTo>
                <a:lnTo>
                  <a:pt x="41" y="5"/>
                </a:lnTo>
                <a:lnTo>
                  <a:pt x="46" y="2"/>
                </a:lnTo>
                <a:lnTo>
                  <a:pt x="46" y="2"/>
                </a:lnTo>
                <a:lnTo>
                  <a:pt x="45" y="2"/>
                </a:lnTo>
                <a:lnTo>
                  <a:pt x="43" y="2"/>
                </a:lnTo>
                <a:lnTo>
                  <a:pt x="42" y="1"/>
                </a:lnTo>
                <a:lnTo>
                  <a:pt x="40" y="1"/>
                </a:lnTo>
                <a:lnTo>
                  <a:pt x="38" y="1"/>
                </a:lnTo>
                <a:lnTo>
                  <a:pt x="35" y="1"/>
                </a:lnTo>
                <a:lnTo>
                  <a:pt x="32" y="0"/>
                </a:lnTo>
                <a:lnTo>
                  <a:pt x="28" y="0"/>
                </a:lnTo>
                <a:lnTo>
                  <a:pt x="26" y="0"/>
                </a:lnTo>
                <a:lnTo>
                  <a:pt x="22" y="1"/>
                </a:lnTo>
                <a:lnTo>
                  <a:pt x="19" y="1"/>
                </a:lnTo>
                <a:lnTo>
                  <a:pt x="14" y="1"/>
                </a:lnTo>
                <a:lnTo>
                  <a:pt x="11" y="2"/>
                </a:lnTo>
                <a:lnTo>
                  <a:pt x="7" y="4"/>
                </a:lnTo>
                <a:lnTo>
                  <a:pt x="4" y="6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Freeform 112"/>
          <p:cNvSpPr>
            <a:spLocks/>
          </p:cNvSpPr>
          <p:nvPr/>
        </p:nvSpPr>
        <p:spPr bwMode="auto">
          <a:xfrm>
            <a:off x="2813050" y="3389313"/>
            <a:ext cx="58737" cy="14287"/>
          </a:xfrm>
          <a:custGeom>
            <a:avLst/>
            <a:gdLst>
              <a:gd name="T0" fmla="*/ 0 w 37"/>
              <a:gd name="T1" fmla="*/ 6 h 9"/>
              <a:gd name="T2" fmla="*/ 0 w 37"/>
              <a:gd name="T3" fmla="*/ 6 h 9"/>
              <a:gd name="T4" fmla="*/ 0 w 37"/>
              <a:gd name="T5" fmla="*/ 6 h 9"/>
              <a:gd name="T6" fmla="*/ 1 w 37"/>
              <a:gd name="T7" fmla="*/ 5 h 9"/>
              <a:gd name="T8" fmla="*/ 1 w 37"/>
              <a:gd name="T9" fmla="*/ 5 h 9"/>
              <a:gd name="T10" fmla="*/ 2 w 37"/>
              <a:gd name="T11" fmla="*/ 3 h 9"/>
              <a:gd name="T12" fmla="*/ 4 w 37"/>
              <a:gd name="T13" fmla="*/ 2 h 9"/>
              <a:gd name="T14" fmla="*/ 5 w 37"/>
              <a:gd name="T15" fmla="*/ 2 h 9"/>
              <a:gd name="T16" fmla="*/ 7 w 37"/>
              <a:gd name="T17" fmla="*/ 1 h 9"/>
              <a:gd name="T18" fmla="*/ 9 w 37"/>
              <a:gd name="T19" fmla="*/ 0 h 9"/>
              <a:gd name="T20" fmla="*/ 12 w 37"/>
              <a:gd name="T21" fmla="*/ 0 h 9"/>
              <a:gd name="T22" fmla="*/ 15 w 37"/>
              <a:gd name="T23" fmla="*/ 0 h 9"/>
              <a:gd name="T24" fmla="*/ 19 w 37"/>
              <a:gd name="T25" fmla="*/ 0 h 9"/>
              <a:gd name="T26" fmla="*/ 22 w 37"/>
              <a:gd name="T27" fmla="*/ 0 h 9"/>
              <a:gd name="T28" fmla="*/ 27 w 37"/>
              <a:gd name="T29" fmla="*/ 1 h 9"/>
              <a:gd name="T30" fmla="*/ 32 w 37"/>
              <a:gd name="T31" fmla="*/ 1 h 9"/>
              <a:gd name="T32" fmla="*/ 37 w 37"/>
              <a:gd name="T33" fmla="*/ 3 h 9"/>
              <a:gd name="T34" fmla="*/ 37 w 37"/>
              <a:gd name="T35" fmla="*/ 6 h 9"/>
              <a:gd name="T36" fmla="*/ 36 w 37"/>
              <a:gd name="T37" fmla="*/ 6 h 9"/>
              <a:gd name="T38" fmla="*/ 36 w 37"/>
              <a:gd name="T39" fmla="*/ 5 h 9"/>
              <a:gd name="T40" fmla="*/ 34 w 37"/>
              <a:gd name="T41" fmla="*/ 5 h 9"/>
              <a:gd name="T42" fmla="*/ 33 w 37"/>
              <a:gd name="T43" fmla="*/ 5 h 9"/>
              <a:gd name="T44" fmla="*/ 30 w 37"/>
              <a:gd name="T45" fmla="*/ 3 h 9"/>
              <a:gd name="T46" fmla="*/ 28 w 37"/>
              <a:gd name="T47" fmla="*/ 3 h 9"/>
              <a:gd name="T48" fmla="*/ 25 w 37"/>
              <a:gd name="T49" fmla="*/ 2 h 9"/>
              <a:gd name="T50" fmla="*/ 22 w 37"/>
              <a:gd name="T51" fmla="*/ 2 h 9"/>
              <a:gd name="T52" fmla="*/ 19 w 37"/>
              <a:gd name="T53" fmla="*/ 2 h 9"/>
              <a:gd name="T54" fmla="*/ 15 w 37"/>
              <a:gd name="T55" fmla="*/ 2 h 9"/>
              <a:gd name="T56" fmla="*/ 13 w 37"/>
              <a:gd name="T57" fmla="*/ 2 h 9"/>
              <a:gd name="T58" fmla="*/ 9 w 37"/>
              <a:gd name="T59" fmla="*/ 3 h 9"/>
              <a:gd name="T60" fmla="*/ 7 w 37"/>
              <a:gd name="T61" fmla="*/ 5 h 9"/>
              <a:gd name="T62" fmla="*/ 5 w 37"/>
              <a:gd name="T63" fmla="*/ 6 h 9"/>
              <a:gd name="T64" fmla="*/ 2 w 37"/>
              <a:gd name="T65" fmla="*/ 7 h 9"/>
              <a:gd name="T66" fmla="*/ 0 w 37"/>
              <a:gd name="T67" fmla="*/ 9 h 9"/>
              <a:gd name="T68" fmla="*/ 0 w 37"/>
              <a:gd name="T69" fmla="*/ 6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7" h="9">
                <a:moveTo>
                  <a:pt x="0" y="6"/>
                </a:moveTo>
                <a:lnTo>
                  <a:pt x="0" y="6"/>
                </a:lnTo>
                <a:lnTo>
                  <a:pt x="0" y="6"/>
                </a:lnTo>
                <a:lnTo>
                  <a:pt x="1" y="5"/>
                </a:lnTo>
                <a:lnTo>
                  <a:pt x="1" y="5"/>
                </a:lnTo>
                <a:lnTo>
                  <a:pt x="2" y="3"/>
                </a:lnTo>
                <a:lnTo>
                  <a:pt x="4" y="2"/>
                </a:lnTo>
                <a:lnTo>
                  <a:pt x="5" y="2"/>
                </a:lnTo>
                <a:lnTo>
                  <a:pt x="7" y="1"/>
                </a:lnTo>
                <a:lnTo>
                  <a:pt x="9" y="0"/>
                </a:lnTo>
                <a:lnTo>
                  <a:pt x="12" y="0"/>
                </a:lnTo>
                <a:lnTo>
                  <a:pt x="15" y="0"/>
                </a:lnTo>
                <a:lnTo>
                  <a:pt x="19" y="0"/>
                </a:lnTo>
                <a:lnTo>
                  <a:pt x="22" y="0"/>
                </a:lnTo>
                <a:lnTo>
                  <a:pt x="27" y="1"/>
                </a:lnTo>
                <a:lnTo>
                  <a:pt x="32" y="1"/>
                </a:lnTo>
                <a:lnTo>
                  <a:pt x="37" y="3"/>
                </a:lnTo>
                <a:lnTo>
                  <a:pt x="37" y="6"/>
                </a:lnTo>
                <a:lnTo>
                  <a:pt x="36" y="6"/>
                </a:lnTo>
                <a:lnTo>
                  <a:pt x="36" y="5"/>
                </a:lnTo>
                <a:lnTo>
                  <a:pt x="34" y="5"/>
                </a:lnTo>
                <a:lnTo>
                  <a:pt x="33" y="5"/>
                </a:lnTo>
                <a:lnTo>
                  <a:pt x="30" y="3"/>
                </a:lnTo>
                <a:lnTo>
                  <a:pt x="28" y="3"/>
                </a:lnTo>
                <a:lnTo>
                  <a:pt x="25" y="2"/>
                </a:lnTo>
                <a:lnTo>
                  <a:pt x="22" y="2"/>
                </a:lnTo>
                <a:lnTo>
                  <a:pt x="19" y="2"/>
                </a:lnTo>
                <a:lnTo>
                  <a:pt x="15" y="2"/>
                </a:lnTo>
                <a:lnTo>
                  <a:pt x="13" y="2"/>
                </a:lnTo>
                <a:lnTo>
                  <a:pt x="9" y="3"/>
                </a:lnTo>
                <a:lnTo>
                  <a:pt x="7" y="5"/>
                </a:lnTo>
                <a:lnTo>
                  <a:pt x="5" y="6"/>
                </a:lnTo>
                <a:lnTo>
                  <a:pt x="2" y="7"/>
                </a:lnTo>
                <a:lnTo>
                  <a:pt x="0" y="9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Freeform 113"/>
          <p:cNvSpPr>
            <a:spLocks/>
          </p:cNvSpPr>
          <p:nvPr/>
        </p:nvSpPr>
        <p:spPr bwMode="auto">
          <a:xfrm>
            <a:off x="2813050" y="3349625"/>
            <a:ext cx="58737" cy="17463"/>
          </a:xfrm>
          <a:custGeom>
            <a:avLst/>
            <a:gdLst>
              <a:gd name="T0" fmla="*/ 0 w 37"/>
              <a:gd name="T1" fmla="*/ 6 h 11"/>
              <a:gd name="T2" fmla="*/ 0 w 37"/>
              <a:gd name="T3" fmla="*/ 6 h 11"/>
              <a:gd name="T4" fmla="*/ 0 w 37"/>
              <a:gd name="T5" fmla="*/ 6 h 11"/>
              <a:gd name="T6" fmla="*/ 1 w 37"/>
              <a:gd name="T7" fmla="*/ 6 h 11"/>
              <a:gd name="T8" fmla="*/ 1 w 37"/>
              <a:gd name="T9" fmla="*/ 5 h 11"/>
              <a:gd name="T10" fmla="*/ 2 w 37"/>
              <a:gd name="T11" fmla="*/ 4 h 11"/>
              <a:gd name="T12" fmla="*/ 4 w 37"/>
              <a:gd name="T13" fmla="*/ 4 h 11"/>
              <a:gd name="T14" fmla="*/ 5 w 37"/>
              <a:gd name="T15" fmla="*/ 3 h 11"/>
              <a:gd name="T16" fmla="*/ 7 w 37"/>
              <a:gd name="T17" fmla="*/ 2 h 11"/>
              <a:gd name="T18" fmla="*/ 9 w 37"/>
              <a:gd name="T19" fmla="*/ 2 h 11"/>
              <a:gd name="T20" fmla="*/ 12 w 37"/>
              <a:gd name="T21" fmla="*/ 0 h 11"/>
              <a:gd name="T22" fmla="*/ 15 w 37"/>
              <a:gd name="T23" fmla="*/ 0 h 11"/>
              <a:gd name="T24" fmla="*/ 19 w 37"/>
              <a:gd name="T25" fmla="*/ 0 h 11"/>
              <a:gd name="T26" fmla="*/ 22 w 37"/>
              <a:gd name="T27" fmla="*/ 0 h 11"/>
              <a:gd name="T28" fmla="*/ 27 w 37"/>
              <a:gd name="T29" fmla="*/ 2 h 11"/>
              <a:gd name="T30" fmla="*/ 32 w 37"/>
              <a:gd name="T31" fmla="*/ 3 h 11"/>
              <a:gd name="T32" fmla="*/ 37 w 37"/>
              <a:gd name="T33" fmla="*/ 4 h 11"/>
              <a:gd name="T34" fmla="*/ 37 w 37"/>
              <a:gd name="T35" fmla="*/ 6 h 11"/>
              <a:gd name="T36" fmla="*/ 36 w 37"/>
              <a:gd name="T37" fmla="*/ 6 h 11"/>
              <a:gd name="T38" fmla="*/ 36 w 37"/>
              <a:gd name="T39" fmla="*/ 5 h 11"/>
              <a:gd name="T40" fmla="*/ 34 w 37"/>
              <a:gd name="T41" fmla="*/ 5 h 11"/>
              <a:gd name="T42" fmla="*/ 33 w 37"/>
              <a:gd name="T43" fmla="*/ 5 h 11"/>
              <a:gd name="T44" fmla="*/ 30 w 37"/>
              <a:gd name="T45" fmla="*/ 4 h 11"/>
              <a:gd name="T46" fmla="*/ 28 w 37"/>
              <a:gd name="T47" fmla="*/ 4 h 11"/>
              <a:gd name="T48" fmla="*/ 25 w 37"/>
              <a:gd name="T49" fmla="*/ 4 h 11"/>
              <a:gd name="T50" fmla="*/ 22 w 37"/>
              <a:gd name="T51" fmla="*/ 3 h 11"/>
              <a:gd name="T52" fmla="*/ 19 w 37"/>
              <a:gd name="T53" fmla="*/ 3 h 11"/>
              <a:gd name="T54" fmla="*/ 15 w 37"/>
              <a:gd name="T55" fmla="*/ 3 h 11"/>
              <a:gd name="T56" fmla="*/ 13 w 37"/>
              <a:gd name="T57" fmla="*/ 3 h 11"/>
              <a:gd name="T58" fmla="*/ 9 w 37"/>
              <a:gd name="T59" fmla="*/ 4 h 11"/>
              <a:gd name="T60" fmla="*/ 7 w 37"/>
              <a:gd name="T61" fmla="*/ 5 h 11"/>
              <a:gd name="T62" fmla="*/ 5 w 37"/>
              <a:gd name="T63" fmla="*/ 6 h 11"/>
              <a:gd name="T64" fmla="*/ 2 w 37"/>
              <a:gd name="T65" fmla="*/ 9 h 11"/>
              <a:gd name="T66" fmla="*/ 0 w 37"/>
              <a:gd name="T67" fmla="*/ 11 h 11"/>
              <a:gd name="T68" fmla="*/ 0 w 37"/>
              <a:gd name="T69" fmla="*/ 6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7" h="11">
                <a:moveTo>
                  <a:pt x="0" y="6"/>
                </a:moveTo>
                <a:lnTo>
                  <a:pt x="0" y="6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2" y="4"/>
                </a:lnTo>
                <a:lnTo>
                  <a:pt x="4" y="4"/>
                </a:lnTo>
                <a:lnTo>
                  <a:pt x="5" y="3"/>
                </a:lnTo>
                <a:lnTo>
                  <a:pt x="7" y="2"/>
                </a:lnTo>
                <a:lnTo>
                  <a:pt x="9" y="2"/>
                </a:lnTo>
                <a:lnTo>
                  <a:pt x="12" y="0"/>
                </a:lnTo>
                <a:lnTo>
                  <a:pt x="15" y="0"/>
                </a:lnTo>
                <a:lnTo>
                  <a:pt x="19" y="0"/>
                </a:lnTo>
                <a:lnTo>
                  <a:pt x="22" y="0"/>
                </a:lnTo>
                <a:lnTo>
                  <a:pt x="27" y="2"/>
                </a:lnTo>
                <a:lnTo>
                  <a:pt x="32" y="3"/>
                </a:lnTo>
                <a:lnTo>
                  <a:pt x="37" y="4"/>
                </a:lnTo>
                <a:lnTo>
                  <a:pt x="37" y="6"/>
                </a:lnTo>
                <a:lnTo>
                  <a:pt x="36" y="6"/>
                </a:lnTo>
                <a:lnTo>
                  <a:pt x="36" y="5"/>
                </a:lnTo>
                <a:lnTo>
                  <a:pt x="34" y="5"/>
                </a:lnTo>
                <a:lnTo>
                  <a:pt x="33" y="5"/>
                </a:lnTo>
                <a:lnTo>
                  <a:pt x="30" y="4"/>
                </a:lnTo>
                <a:lnTo>
                  <a:pt x="28" y="4"/>
                </a:lnTo>
                <a:lnTo>
                  <a:pt x="25" y="4"/>
                </a:lnTo>
                <a:lnTo>
                  <a:pt x="22" y="3"/>
                </a:lnTo>
                <a:lnTo>
                  <a:pt x="19" y="3"/>
                </a:lnTo>
                <a:lnTo>
                  <a:pt x="15" y="3"/>
                </a:lnTo>
                <a:lnTo>
                  <a:pt x="13" y="3"/>
                </a:lnTo>
                <a:lnTo>
                  <a:pt x="9" y="4"/>
                </a:lnTo>
                <a:lnTo>
                  <a:pt x="7" y="5"/>
                </a:lnTo>
                <a:lnTo>
                  <a:pt x="5" y="6"/>
                </a:lnTo>
                <a:lnTo>
                  <a:pt x="2" y="9"/>
                </a:lnTo>
                <a:lnTo>
                  <a:pt x="0" y="11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Freeform 114"/>
          <p:cNvSpPr>
            <a:spLocks/>
          </p:cNvSpPr>
          <p:nvPr/>
        </p:nvSpPr>
        <p:spPr bwMode="auto">
          <a:xfrm>
            <a:off x="2868612" y="3332163"/>
            <a:ext cx="96838" cy="177800"/>
          </a:xfrm>
          <a:custGeom>
            <a:avLst/>
            <a:gdLst>
              <a:gd name="T0" fmla="*/ 0 w 61"/>
              <a:gd name="T1" fmla="*/ 0 h 112"/>
              <a:gd name="T2" fmla="*/ 0 w 61"/>
              <a:gd name="T3" fmla="*/ 108 h 112"/>
              <a:gd name="T4" fmla="*/ 19 w 61"/>
              <a:gd name="T5" fmla="*/ 112 h 112"/>
              <a:gd name="T6" fmla="*/ 18 w 61"/>
              <a:gd name="T7" fmla="*/ 98 h 112"/>
              <a:gd name="T8" fmla="*/ 61 w 61"/>
              <a:gd name="T9" fmla="*/ 104 h 112"/>
              <a:gd name="T10" fmla="*/ 61 w 61"/>
              <a:gd name="T11" fmla="*/ 98 h 112"/>
              <a:gd name="T12" fmla="*/ 30 w 61"/>
              <a:gd name="T13" fmla="*/ 94 h 112"/>
              <a:gd name="T14" fmla="*/ 29 w 61"/>
              <a:gd name="T15" fmla="*/ 81 h 112"/>
              <a:gd name="T16" fmla="*/ 9 w 61"/>
              <a:gd name="T17" fmla="*/ 81 h 112"/>
              <a:gd name="T18" fmla="*/ 8 w 61"/>
              <a:gd name="T19" fmla="*/ 80 h 112"/>
              <a:gd name="T20" fmla="*/ 7 w 61"/>
              <a:gd name="T21" fmla="*/ 76 h 112"/>
              <a:gd name="T22" fmla="*/ 6 w 61"/>
              <a:gd name="T23" fmla="*/ 69 h 112"/>
              <a:gd name="T24" fmla="*/ 4 w 61"/>
              <a:gd name="T25" fmla="*/ 58 h 112"/>
              <a:gd name="T26" fmla="*/ 2 w 61"/>
              <a:gd name="T27" fmla="*/ 46 h 112"/>
              <a:gd name="T28" fmla="*/ 1 w 61"/>
              <a:gd name="T29" fmla="*/ 34 h 112"/>
              <a:gd name="T30" fmla="*/ 2 w 61"/>
              <a:gd name="T31" fmla="*/ 18 h 112"/>
              <a:gd name="T32" fmla="*/ 6 w 61"/>
              <a:gd name="T33" fmla="*/ 3 h 112"/>
              <a:gd name="T34" fmla="*/ 0 w 61"/>
              <a:gd name="T35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1" h="112">
                <a:moveTo>
                  <a:pt x="0" y="0"/>
                </a:moveTo>
                <a:lnTo>
                  <a:pt x="0" y="108"/>
                </a:lnTo>
                <a:lnTo>
                  <a:pt x="19" y="112"/>
                </a:lnTo>
                <a:lnTo>
                  <a:pt x="18" y="98"/>
                </a:lnTo>
                <a:lnTo>
                  <a:pt x="61" y="104"/>
                </a:lnTo>
                <a:lnTo>
                  <a:pt x="61" y="98"/>
                </a:lnTo>
                <a:lnTo>
                  <a:pt x="30" y="94"/>
                </a:lnTo>
                <a:lnTo>
                  <a:pt x="29" y="81"/>
                </a:lnTo>
                <a:lnTo>
                  <a:pt x="9" y="81"/>
                </a:lnTo>
                <a:lnTo>
                  <a:pt x="8" y="80"/>
                </a:lnTo>
                <a:lnTo>
                  <a:pt x="7" y="76"/>
                </a:lnTo>
                <a:lnTo>
                  <a:pt x="6" y="69"/>
                </a:lnTo>
                <a:lnTo>
                  <a:pt x="4" y="58"/>
                </a:lnTo>
                <a:lnTo>
                  <a:pt x="2" y="46"/>
                </a:lnTo>
                <a:lnTo>
                  <a:pt x="1" y="34"/>
                </a:lnTo>
                <a:lnTo>
                  <a:pt x="2" y="18"/>
                </a:lnTo>
                <a:lnTo>
                  <a:pt x="6" y="3"/>
                </a:lnTo>
                <a:lnTo>
                  <a:pt x="0" y="0"/>
                </a:lnTo>
                <a:close/>
              </a:path>
            </a:pathLst>
          </a:custGeom>
          <a:solidFill>
            <a:srgbClr val="001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" name="Freeform 115"/>
          <p:cNvSpPr>
            <a:spLocks/>
          </p:cNvSpPr>
          <p:nvPr/>
        </p:nvSpPr>
        <p:spPr bwMode="auto">
          <a:xfrm>
            <a:off x="2916237" y="3290888"/>
            <a:ext cx="125413" cy="23812"/>
          </a:xfrm>
          <a:custGeom>
            <a:avLst/>
            <a:gdLst>
              <a:gd name="T0" fmla="*/ 0 w 79"/>
              <a:gd name="T1" fmla="*/ 15 h 15"/>
              <a:gd name="T2" fmla="*/ 0 w 79"/>
              <a:gd name="T3" fmla="*/ 15 h 15"/>
              <a:gd name="T4" fmla="*/ 3 w 79"/>
              <a:gd name="T5" fmla="*/ 14 h 15"/>
              <a:gd name="T6" fmla="*/ 4 w 79"/>
              <a:gd name="T7" fmla="*/ 14 h 15"/>
              <a:gd name="T8" fmla="*/ 7 w 79"/>
              <a:gd name="T9" fmla="*/ 13 h 15"/>
              <a:gd name="T10" fmla="*/ 11 w 79"/>
              <a:gd name="T11" fmla="*/ 12 h 15"/>
              <a:gd name="T12" fmla="*/ 14 w 79"/>
              <a:gd name="T13" fmla="*/ 10 h 15"/>
              <a:gd name="T14" fmla="*/ 19 w 79"/>
              <a:gd name="T15" fmla="*/ 9 h 15"/>
              <a:gd name="T16" fmla="*/ 24 w 79"/>
              <a:gd name="T17" fmla="*/ 8 h 15"/>
              <a:gd name="T18" fmla="*/ 30 w 79"/>
              <a:gd name="T19" fmla="*/ 8 h 15"/>
              <a:gd name="T20" fmla="*/ 35 w 79"/>
              <a:gd name="T21" fmla="*/ 7 h 15"/>
              <a:gd name="T22" fmla="*/ 42 w 79"/>
              <a:gd name="T23" fmla="*/ 7 h 15"/>
              <a:gd name="T24" fmla="*/ 48 w 79"/>
              <a:gd name="T25" fmla="*/ 6 h 15"/>
              <a:gd name="T26" fmla="*/ 55 w 79"/>
              <a:gd name="T27" fmla="*/ 7 h 15"/>
              <a:gd name="T28" fmla="*/ 62 w 79"/>
              <a:gd name="T29" fmla="*/ 7 h 15"/>
              <a:gd name="T30" fmla="*/ 69 w 79"/>
              <a:gd name="T31" fmla="*/ 8 h 15"/>
              <a:gd name="T32" fmla="*/ 76 w 79"/>
              <a:gd name="T33" fmla="*/ 9 h 15"/>
              <a:gd name="T34" fmla="*/ 79 w 79"/>
              <a:gd name="T35" fmla="*/ 0 h 15"/>
              <a:gd name="T36" fmla="*/ 79 w 79"/>
              <a:gd name="T37" fmla="*/ 0 h 15"/>
              <a:gd name="T38" fmla="*/ 76 w 79"/>
              <a:gd name="T39" fmla="*/ 0 h 15"/>
              <a:gd name="T40" fmla="*/ 74 w 79"/>
              <a:gd name="T41" fmla="*/ 0 h 15"/>
              <a:gd name="T42" fmla="*/ 70 w 79"/>
              <a:gd name="T43" fmla="*/ 0 h 15"/>
              <a:gd name="T44" fmla="*/ 66 w 79"/>
              <a:gd name="T45" fmla="*/ 0 h 15"/>
              <a:gd name="T46" fmla="*/ 61 w 79"/>
              <a:gd name="T47" fmla="*/ 0 h 15"/>
              <a:gd name="T48" fmla="*/ 56 w 79"/>
              <a:gd name="T49" fmla="*/ 0 h 15"/>
              <a:gd name="T50" fmla="*/ 51 w 79"/>
              <a:gd name="T51" fmla="*/ 1 h 15"/>
              <a:gd name="T52" fmla="*/ 44 w 79"/>
              <a:gd name="T53" fmla="*/ 1 h 15"/>
              <a:gd name="T54" fmla="*/ 38 w 79"/>
              <a:gd name="T55" fmla="*/ 1 h 15"/>
              <a:gd name="T56" fmla="*/ 31 w 79"/>
              <a:gd name="T57" fmla="*/ 2 h 15"/>
              <a:gd name="T58" fmla="*/ 25 w 79"/>
              <a:gd name="T59" fmla="*/ 3 h 15"/>
              <a:gd name="T60" fmla="*/ 18 w 79"/>
              <a:gd name="T61" fmla="*/ 5 h 15"/>
              <a:gd name="T62" fmla="*/ 12 w 79"/>
              <a:gd name="T63" fmla="*/ 6 h 15"/>
              <a:gd name="T64" fmla="*/ 6 w 79"/>
              <a:gd name="T65" fmla="*/ 7 h 15"/>
              <a:gd name="T66" fmla="*/ 0 w 79"/>
              <a:gd name="T67" fmla="*/ 8 h 15"/>
              <a:gd name="T68" fmla="*/ 0 w 79"/>
              <a:gd name="T69" fmla="*/ 15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9" h="15">
                <a:moveTo>
                  <a:pt x="0" y="15"/>
                </a:moveTo>
                <a:lnTo>
                  <a:pt x="0" y="15"/>
                </a:lnTo>
                <a:lnTo>
                  <a:pt x="3" y="14"/>
                </a:lnTo>
                <a:lnTo>
                  <a:pt x="4" y="14"/>
                </a:lnTo>
                <a:lnTo>
                  <a:pt x="7" y="13"/>
                </a:lnTo>
                <a:lnTo>
                  <a:pt x="11" y="12"/>
                </a:lnTo>
                <a:lnTo>
                  <a:pt x="14" y="10"/>
                </a:lnTo>
                <a:lnTo>
                  <a:pt x="19" y="9"/>
                </a:lnTo>
                <a:lnTo>
                  <a:pt x="24" y="8"/>
                </a:lnTo>
                <a:lnTo>
                  <a:pt x="30" y="8"/>
                </a:lnTo>
                <a:lnTo>
                  <a:pt x="35" y="7"/>
                </a:lnTo>
                <a:lnTo>
                  <a:pt x="42" y="7"/>
                </a:lnTo>
                <a:lnTo>
                  <a:pt x="48" y="6"/>
                </a:lnTo>
                <a:lnTo>
                  <a:pt x="55" y="7"/>
                </a:lnTo>
                <a:lnTo>
                  <a:pt x="62" y="7"/>
                </a:lnTo>
                <a:lnTo>
                  <a:pt x="69" y="8"/>
                </a:lnTo>
                <a:lnTo>
                  <a:pt x="76" y="9"/>
                </a:lnTo>
                <a:lnTo>
                  <a:pt x="79" y="0"/>
                </a:lnTo>
                <a:lnTo>
                  <a:pt x="79" y="0"/>
                </a:lnTo>
                <a:lnTo>
                  <a:pt x="76" y="0"/>
                </a:lnTo>
                <a:lnTo>
                  <a:pt x="74" y="0"/>
                </a:lnTo>
                <a:lnTo>
                  <a:pt x="70" y="0"/>
                </a:lnTo>
                <a:lnTo>
                  <a:pt x="66" y="0"/>
                </a:lnTo>
                <a:lnTo>
                  <a:pt x="61" y="0"/>
                </a:lnTo>
                <a:lnTo>
                  <a:pt x="56" y="0"/>
                </a:lnTo>
                <a:lnTo>
                  <a:pt x="51" y="1"/>
                </a:lnTo>
                <a:lnTo>
                  <a:pt x="44" y="1"/>
                </a:lnTo>
                <a:lnTo>
                  <a:pt x="38" y="1"/>
                </a:lnTo>
                <a:lnTo>
                  <a:pt x="31" y="2"/>
                </a:lnTo>
                <a:lnTo>
                  <a:pt x="25" y="3"/>
                </a:lnTo>
                <a:lnTo>
                  <a:pt x="18" y="5"/>
                </a:lnTo>
                <a:lnTo>
                  <a:pt x="12" y="6"/>
                </a:lnTo>
                <a:lnTo>
                  <a:pt x="6" y="7"/>
                </a:lnTo>
                <a:lnTo>
                  <a:pt x="0" y="8"/>
                </a:lnTo>
                <a:lnTo>
                  <a:pt x="0" y="15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" name="Freeform 116"/>
          <p:cNvSpPr>
            <a:spLocks/>
          </p:cNvSpPr>
          <p:nvPr/>
        </p:nvSpPr>
        <p:spPr bwMode="auto">
          <a:xfrm>
            <a:off x="2844800" y="3513138"/>
            <a:ext cx="209550" cy="71437"/>
          </a:xfrm>
          <a:custGeom>
            <a:avLst/>
            <a:gdLst>
              <a:gd name="T0" fmla="*/ 55 w 132"/>
              <a:gd name="T1" fmla="*/ 43 h 45"/>
              <a:gd name="T2" fmla="*/ 56 w 132"/>
              <a:gd name="T3" fmla="*/ 43 h 45"/>
              <a:gd name="T4" fmla="*/ 56 w 132"/>
              <a:gd name="T5" fmla="*/ 42 h 45"/>
              <a:gd name="T6" fmla="*/ 57 w 132"/>
              <a:gd name="T7" fmla="*/ 42 h 45"/>
              <a:gd name="T8" fmla="*/ 59 w 132"/>
              <a:gd name="T9" fmla="*/ 41 h 45"/>
              <a:gd name="T10" fmla="*/ 61 w 132"/>
              <a:gd name="T11" fmla="*/ 41 h 45"/>
              <a:gd name="T12" fmla="*/ 63 w 132"/>
              <a:gd name="T13" fmla="*/ 40 h 45"/>
              <a:gd name="T14" fmla="*/ 65 w 132"/>
              <a:gd name="T15" fmla="*/ 39 h 45"/>
              <a:gd name="T16" fmla="*/ 68 w 132"/>
              <a:gd name="T17" fmla="*/ 38 h 45"/>
              <a:gd name="T18" fmla="*/ 71 w 132"/>
              <a:gd name="T19" fmla="*/ 36 h 45"/>
              <a:gd name="T20" fmla="*/ 73 w 132"/>
              <a:gd name="T21" fmla="*/ 34 h 45"/>
              <a:gd name="T22" fmla="*/ 76 w 132"/>
              <a:gd name="T23" fmla="*/ 33 h 45"/>
              <a:gd name="T24" fmla="*/ 78 w 132"/>
              <a:gd name="T25" fmla="*/ 32 h 45"/>
              <a:gd name="T26" fmla="*/ 80 w 132"/>
              <a:gd name="T27" fmla="*/ 29 h 45"/>
              <a:gd name="T28" fmla="*/ 82 w 132"/>
              <a:gd name="T29" fmla="*/ 28 h 45"/>
              <a:gd name="T30" fmla="*/ 84 w 132"/>
              <a:gd name="T31" fmla="*/ 26 h 45"/>
              <a:gd name="T32" fmla="*/ 85 w 132"/>
              <a:gd name="T33" fmla="*/ 24 h 45"/>
              <a:gd name="T34" fmla="*/ 0 w 132"/>
              <a:gd name="T35" fmla="*/ 3 h 45"/>
              <a:gd name="T36" fmla="*/ 6 w 132"/>
              <a:gd name="T37" fmla="*/ 0 h 45"/>
              <a:gd name="T38" fmla="*/ 132 w 132"/>
              <a:gd name="T39" fmla="*/ 32 h 45"/>
              <a:gd name="T40" fmla="*/ 126 w 132"/>
              <a:gd name="T41" fmla="*/ 34 h 45"/>
              <a:gd name="T42" fmla="*/ 90 w 132"/>
              <a:gd name="T43" fmla="*/ 25 h 45"/>
              <a:gd name="T44" fmla="*/ 90 w 132"/>
              <a:gd name="T45" fmla="*/ 25 h 45"/>
              <a:gd name="T46" fmla="*/ 90 w 132"/>
              <a:gd name="T47" fmla="*/ 26 h 45"/>
              <a:gd name="T48" fmla="*/ 89 w 132"/>
              <a:gd name="T49" fmla="*/ 26 h 45"/>
              <a:gd name="T50" fmla="*/ 89 w 132"/>
              <a:gd name="T51" fmla="*/ 27 h 45"/>
              <a:gd name="T52" fmla="*/ 87 w 132"/>
              <a:gd name="T53" fmla="*/ 28 h 45"/>
              <a:gd name="T54" fmla="*/ 86 w 132"/>
              <a:gd name="T55" fmla="*/ 29 h 45"/>
              <a:gd name="T56" fmla="*/ 85 w 132"/>
              <a:gd name="T57" fmla="*/ 31 h 45"/>
              <a:gd name="T58" fmla="*/ 83 w 132"/>
              <a:gd name="T59" fmla="*/ 32 h 45"/>
              <a:gd name="T60" fmla="*/ 80 w 132"/>
              <a:gd name="T61" fmla="*/ 33 h 45"/>
              <a:gd name="T62" fmla="*/ 78 w 132"/>
              <a:gd name="T63" fmla="*/ 35 h 45"/>
              <a:gd name="T64" fmla="*/ 76 w 132"/>
              <a:gd name="T65" fmla="*/ 36 h 45"/>
              <a:gd name="T66" fmla="*/ 72 w 132"/>
              <a:gd name="T67" fmla="*/ 38 h 45"/>
              <a:gd name="T68" fmla="*/ 70 w 132"/>
              <a:gd name="T69" fmla="*/ 40 h 45"/>
              <a:gd name="T70" fmla="*/ 65 w 132"/>
              <a:gd name="T71" fmla="*/ 41 h 45"/>
              <a:gd name="T72" fmla="*/ 62 w 132"/>
              <a:gd name="T73" fmla="*/ 43 h 45"/>
              <a:gd name="T74" fmla="*/ 57 w 132"/>
              <a:gd name="T75" fmla="*/ 45 h 45"/>
              <a:gd name="T76" fmla="*/ 55 w 132"/>
              <a:gd name="T77" fmla="*/ 43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32" h="45">
                <a:moveTo>
                  <a:pt x="55" y="43"/>
                </a:moveTo>
                <a:lnTo>
                  <a:pt x="56" y="43"/>
                </a:lnTo>
                <a:lnTo>
                  <a:pt x="56" y="42"/>
                </a:lnTo>
                <a:lnTo>
                  <a:pt x="57" y="42"/>
                </a:lnTo>
                <a:lnTo>
                  <a:pt x="59" y="41"/>
                </a:lnTo>
                <a:lnTo>
                  <a:pt x="61" y="41"/>
                </a:lnTo>
                <a:lnTo>
                  <a:pt x="63" y="40"/>
                </a:lnTo>
                <a:lnTo>
                  <a:pt x="65" y="39"/>
                </a:lnTo>
                <a:lnTo>
                  <a:pt x="68" y="38"/>
                </a:lnTo>
                <a:lnTo>
                  <a:pt x="71" y="36"/>
                </a:lnTo>
                <a:lnTo>
                  <a:pt x="73" y="34"/>
                </a:lnTo>
                <a:lnTo>
                  <a:pt x="76" y="33"/>
                </a:lnTo>
                <a:lnTo>
                  <a:pt x="78" y="32"/>
                </a:lnTo>
                <a:lnTo>
                  <a:pt x="80" y="29"/>
                </a:lnTo>
                <a:lnTo>
                  <a:pt x="82" y="28"/>
                </a:lnTo>
                <a:lnTo>
                  <a:pt x="84" y="26"/>
                </a:lnTo>
                <a:lnTo>
                  <a:pt x="85" y="24"/>
                </a:lnTo>
                <a:lnTo>
                  <a:pt x="0" y="3"/>
                </a:lnTo>
                <a:lnTo>
                  <a:pt x="6" y="0"/>
                </a:lnTo>
                <a:lnTo>
                  <a:pt x="132" y="32"/>
                </a:lnTo>
                <a:lnTo>
                  <a:pt x="126" y="34"/>
                </a:lnTo>
                <a:lnTo>
                  <a:pt x="90" y="25"/>
                </a:lnTo>
                <a:lnTo>
                  <a:pt x="90" y="25"/>
                </a:lnTo>
                <a:lnTo>
                  <a:pt x="90" y="26"/>
                </a:lnTo>
                <a:lnTo>
                  <a:pt x="89" y="26"/>
                </a:lnTo>
                <a:lnTo>
                  <a:pt x="89" y="27"/>
                </a:lnTo>
                <a:lnTo>
                  <a:pt x="87" y="28"/>
                </a:lnTo>
                <a:lnTo>
                  <a:pt x="86" y="29"/>
                </a:lnTo>
                <a:lnTo>
                  <a:pt x="85" y="31"/>
                </a:lnTo>
                <a:lnTo>
                  <a:pt x="83" y="32"/>
                </a:lnTo>
                <a:lnTo>
                  <a:pt x="80" y="33"/>
                </a:lnTo>
                <a:lnTo>
                  <a:pt x="78" y="35"/>
                </a:lnTo>
                <a:lnTo>
                  <a:pt x="76" y="36"/>
                </a:lnTo>
                <a:lnTo>
                  <a:pt x="72" y="38"/>
                </a:lnTo>
                <a:lnTo>
                  <a:pt x="70" y="40"/>
                </a:lnTo>
                <a:lnTo>
                  <a:pt x="65" y="41"/>
                </a:lnTo>
                <a:lnTo>
                  <a:pt x="62" y="43"/>
                </a:lnTo>
                <a:lnTo>
                  <a:pt x="57" y="45"/>
                </a:lnTo>
                <a:lnTo>
                  <a:pt x="55" y="4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" name="Freeform 117"/>
          <p:cNvSpPr>
            <a:spLocks/>
          </p:cNvSpPr>
          <p:nvPr/>
        </p:nvSpPr>
        <p:spPr bwMode="auto">
          <a:xfrm>
            <a:off x="2800350" y="3532188"/>
            <a:ext cx="214312" cy="63500"/>
          </a:xfrm>
          <a:custGeom>
            <a:avLst/>
            <a:gdLst>
              <a:gd name="T0" fmla="*/ 0 w 135"/>
              <a:gd name="T1" fmla="*/ 0 h 40"/>
              <a:gd name="T2" fmla="*/ 132 w 135"/>
              <a:gd name="T3" fmla="*/ 40 h 40"/>
              <a:gd name="T4" fmla="*/ 135 w 135"/>
              <a:gd name="T5" fmla="*/ 40 h 40"/>
              <a:gd name="T6" fmla="*/ 5 w 135"/>
              <a:gd name="T7" fmla="*/ 0 h 40"/>
              <a:gd name="T8" fmla="*/ 0 w 135"/>
              <a:gd name="T9" fmla="*/ 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5" h="40">
                <a:moveTo>
                  <a:pt x="0" y="0"/>
                </a:moveTo>
                <a:lnTo>
                  <a:pt x="132" y="40"/>
                </a:lnTo>
                <a:lnTo>
                  <a:pt x="135" y="40"/>
                </a:ln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" name="Freeform 118"/>
          <p:cNvSpPr>
            <a:spLocks/>
          </p:cNvSpPr>
          <p:nvPr/>
        </p:nvSpPr>
        <p:spPr bwMode="auto">
          <a:xfrm>
            <a:off x="2836862" y="3524250"/>
            <a:ext cx="209550" cy="55563"/>
          </a:xfrm>
          <a:custGeom>
            <a:avLst/>
            <a:gdLst>
              <a:gd name="T0" fmla="*/ 0 w 132"/>
              <a:gd name="T1" fmla="*/ 0 h 35"/>
              <a:gd name="T2" fmla="*/ 130 w 132"/>
              <a:gd name="T3" fmla="*/ 35 h 35"/>
              <a:gd name="T4" fmla="*/ 132 w 132"/>
              <a:gd name="T5" fmla="*/ 35 h 35"/>
              <a:gd name="T6" fmla="*/ 4 w 132"/>
              <a:gd name="T7" fmla="*/ 0 h 35"/>
              <a:gd name="T8" fmla="*/ 0 w 132"/>
              <a:gd name="T9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2" h="35">
                <a:moveTo>
                  <a:pt x="0" y="0"/>
                </a:moveTo>
                <a:lnTo>
                  <a:pt x="130" y="35"/>
                </a:lnTo>
                <a:lnTo>
                  <a:pt x="132" y="35"/>
                </a:ln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Freeform 119"/>
          <p:cNvSpPr>
            <a:spLocks/>
          </p:cNvSpPr>
          <p:nvPr/>
        </p:nvSpPr>
        <p:spPr bwMode="auto">
          <a:xfrm>
            <a:off x="2820987" y="3525838"/>
            <a:ext cx="211138" cy="61912"/>
          </a:xfrm>
          <a:custGeom>
            <a:avLst/>
            <a:gdLst>
              <a:gd name="T0" fmla="*/ 0 w 133"/>
              <a:gd name="T1" fmla="*/ 0 h 39"/>
              <a:gd name="T2" fmla="*/ 130 w 133"/>
              <a:gd name="T3" fmla="*/ 39 h 39"/>
              <a:gd name="T4" fmla="*/ 133 w 133"/>
              <a:gd name="T5" fmla="*/ 39 h 39"/>
              <a:gd name="T6" fmla="*/ 3 w 133"/>
              <a:gd name="T7" fmla="*/ 0 h 39"/>
              <a:gd name="T8" fmla="*/ 0 w 133"/>
              <a:gd name="T9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3" h="39">
                <a:moveTo>
                  <a:pt x="0" y="0"/>
                </a:moveTo>
                <a:lnTo>
                  <a:pt x="130" y="39"/>
                </a:lnTo>
                <a:lnTo>
                  <a:pt x="133" y="39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" name="Freeform 120"/>
          <p:cNvSpPr>
            <a:spLocks/>
          </p:cNvSpPr>
          <p:nvPr/>
        </p:nvSpPr>
        <p:spPr bwMode="auto">
          <a:xfrm>
            <a:off x="2771775" y="2792413"/>
            <a:ext cx="395287" cy="331787"/>
          </a:xfrm>
          <a:custGeom>
            <a:avLst/>
            <a:gdLst>
              <a:gd name="T0" fmla="*/ 70 w 249"/>
              <a:gd name="T1" fmla="*/ 14 h 209"/>
              <a:gd name="T2" fmla="*/ 70 w 249"/>
              <a:gd name="T3" fmla="*/ 14 h 209"/>
              <a:gd name="T4" fmla="*/ 73 w 249"/>
              <a:gd name="T5" fmla="*/ 14 h 209"/>
              <a:gd name="T6" fmla="*/ 75 w 249"/>
              <a:gd name="T7" fmla="*/ 13 h 209"/>
              <a:gd name="T8" fmla="*/ 79 w 249"/>
              <a:gd name="T9" fmla="*/ 11 h 209"/>
              <a:gd name="T10" fmla="*/ 83 w 249"/>
              <a:gd name="T11" fmla="*/ 10 h 209"/>
              <a:gd name="T12" fmla="*/ 88 w 249"/>
              <a:gd name="T13" fmla="*/ 9 h 209"/>
              <a:gd name="T14" fmla="*/ 95 w 249"/>
              <a:gd name="T15" fmla="*/ 8 h 209"/>
              <a:gd name="T16" fmla="*/ 103 w 249"/>
              <a:gd name="T17" fmla="*/ 6 h 209"/>
              <a:gd name="T18" fmla="*/ 111 w 249"/>
              <a:gd name="T19" fmla="*/ 4 h 209"/>
              <a:gd name="T20" fmla="*/ 121 w 249"/>
              <a:gd name="T21" fmla="*/ 3 h 209"/>
              <a:gd name="T22" fmla="*/ 132 w 249"/>
              <a:gd name="T23" fmla="*/ 2 h 209"/>
              <a:gd name="T24" fmla="*/ 144 w 249"/>
              <a:gd name="T25" fmla="*/ 1 h 209"/>
              <a:gd name="T26" fmla="*/ 157 w 249"/>
              <a:gd name="T27" fmla="*/ 0 h 209"/>
              <a:gd name="T28" fmla="*/ 170 w 249"/>
              <a:gd name="T29" fmla="*/ 0 h 209"/>
              <a:gd name="T30" fmla="*/ 185 w 249"/>
              <a:gd name="T31" fmla="*/ 0 h 209"/>
              <a:gd name="T32" fmla="*/ 201 w 249"/>
              <a:gd name="T33" fmla="*/ 0 h 209"/>
              <a:gd name="T34" fmla="*/ 208 w 249"/>
              <a:gd name="T35" fmla="*/ 28 h 209"/>
              <a:gd name="T36" fmla="*/ 210 w 249"/>
              <a:gd name="T37" fmla="*/ 29 h 209"/>
              <a:gd name="T38" fmla="*/ 216 w 249"/>
              <a:gd name="T39" fmla="*/ 34 h 209"/>
              <a:gd name="T40" fmla="*/ 222 w 249"/>
              <a:gd name="T41" fmla="*/ 39 h 209"/>
              <a:gd name="T42" fmla="*/ 226 w 249"/>
              <a:gd name="T43" fmla="*/ 50 h 209"/>
              <a:gd name="T44" fmla="*/ 240 w 249"/>
              <a:gd name="T45" fmla="*/ 117 h 209"/>
              <a:gd name="T46" fmla="*/ 247 w 249"/>
              <a:gd name="T47" fmla="*/ 145 h 209"/>
              <a:gd name="T48" fmla="*/ 247 w 249"/>
              <a:gd name="T49" fmla="*/ 146 h 209"/>
              <a:gd name="T50" fmla="*/ 248 w 249"/>
              <a:gd name="T51" fmla="*/ 152 h 209"/>
              <a:gd name="T52" fmla="*/ 248 w 249"/>
              <a:gd name="T53" fmla="*/ 160 h 209"/>
              <a:gd name="T54" fmla="*/ 244 w 249"/>
              <a:gd name="T55" fmla="*/ 170 h 209"/>
              <a:gd name="T56" fmla="*/ 0 w 249"/>
              <a:gd name="T57" fmla="*/ 163 h 209"/>
              <a:gd name="T58" fmla="*/ 25 w 249"/>
              <a:gd name="T59" fmla="*/ 150 h 209"/>
              <a:gd name="T60" fmla="*/ 25 w 249"/>
              <a:gd name="T61" fmla="*/ 28 h 209"/>
              <a:gd name="T62" fmla="*/ 26 w 249"/>
              <a:gd name="T63" fmla="*/ 27 h 209"/>
              <a:gd name="T64" fmla="*/ 28 w 249"/>
              <a:gd name="T65" fmla="*/ 25 h 209"/>
              <a:gd name="T66" fmla="*/ 32 w 249"/>
              <a:gd name="T67" fmla="*/ 24 h 209"/>
              <a:gd name="T68" fmla="*/ 37 w 249"/>
              <a:gd name="T69" fmla="*/ 23 h 209"/>
              <a:gd name="T70" fmla="*/ 42 w 249"/>
              <a:gd name="T71" fmla="*/ 22 h 209"/>
              <a:gd name="T72" fmla="*/ 49 w 249"/>
              <a:gd name="T73" fmla="*/ 22 h 209"/>
              <a:gd name="T74" fmla="*/ 58 w 249"/>
              <a:gd name="T75" fmla="*/ 23 h 209"/>
              <a:gd name="T76" fmla="*/ 68 w 249"/>
              <a:gd name="T77" fmla="*/ 27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49" h="209">
                <a:moveTo>
                  <a:pt x="68" y="27"/>
                </a:moveTo>
                <a:lnTo>
                  <a:pt x="70" y="14"/>
                </a:lnTo>
                <a:lnTo>
                  <a:pt x="70" y="14"/>
                </a:lnTo>
                <a:lnTo>
                  <a:pt x="70" y="14"/>
                </a:lnTo>
                <a:lnTo>
                  <a:pt x="72" y="14"/>
                </a:lnTo>
                <a:lnTo>
                  <a:pt x="73" y="14"/>
                </a:lnTo>
                <a:lnTo>
                  <a:pt x="74" y="13"/>
                </a:lnTo>
                <a:lnTo>
                  <a:pt x="75" y="13"/>
                </a:lnTo>
                <a:lnTo>
                  <a:pt x="76" y="13"/>
                </a:lnTo>
                <a:lnTo>
                  <a:pt x="79" y="11"/>
                </a:lnTo>
                <a:lnTo>
                  <a:pt x="81" y="11"/>
                </a:lnTo>
                <a:lnTo>
                  <a:pt x="83" y="10"/>
                </a:lnTo>
                <a:lnTo>
                  <a:pt x="86" y="10"/>
                </a:lnTo>
                <a:lnTo>
                  <a:pt x="88" y="9"/>
                </a:lnTo>
                <a:lnTo>
                  <a:pt x="91" y="8"/>
                </a:lnTo>
                <a:lnTo>
                  <a:pt x="95" y="8"/>
                </a:lnTo>
                <a:lnTo>
                  <a:pt x="98" y="7"/>
                </a:lnTo>
                <a:lnTo>
                  <a:pt x="103" y="6"/>
                </a:lnTo>
                <a:lnTo>
                  <a:pt x="107" y="6"/>
                </a:lnTo>
                <a:lnTo>
                  <a:pt x="111" y="4"/>
                </a:lnTo>
                <a:lnTo>
                  <a:pt x="116" y="4"/>
                </a:lnTo>
                <a:lnTo>
                  <a:pt x="121" y="3"/>
                </a:lnTo>
                <a:lnTo>
                  <a:pt x="126" y="2"/>
                </a:lnTo>
                <a:lnTo>
                  <a:pt x="132" y="2"/>
                </a:lnTo>
                <a:lnTo>
                  <a:pt x="137" y="1"/>
                </a:lnTo>
                <a:lnTo>
                  <a:pt x="144" y="1"/>
                </a:lnTo>
                <a:lnTo>
                  <a:pt x="150" y="1"/>
                </a:lnTo>
                <a:lnTo>
                  <a:pt x="157" y="0"/>
                </a:lnTo>
                <a:lnTo>
                  <a:pt x="163" y="0"/>
                </a:lnTo>
                <a:lnTo>
                  <a:pt x="170" y="0"/>
                </a:lnTo>
                <a:lnTo>
                  <a:pt x="178" y="0"/>
                </a:lnTo>
                <a:lnTo>
                  <a:pt x="185" y="0"/>
                </a:lnTo>
                <a:lnTo>
                  <a:pt x="193" y="0"/>
                </a:lnTo>
                <a:lnTo>
                  <a:pt x="201" y="0"/>
                </a:lnTo>
                <a:lnTo>
                  <a:pt x="210" y="4"/>
                </a:lnTo>
                <a:lnTo>
                  <a:pt x="208" y="28"/>
                </a:lnTo>
                <a:lnTo>
                  <a:pt x="208" y="29"/>
                </a:lnTo>
                <a:lnTo>
                  <a:pt x="210" y="29"/>
                </a:lnTo>
                <a:lnTo>
                  <a:pt x="213" y="31"/>
                </a:lnTo>
                <a:lnTo>
                  <a:pt x="216" y="34"/>
                </a:lnTo>
                <a:lnTo>
                  <a:pt x="220" y="36"/>
                </a:lnTo>
                <a:lnTo>
                  <a:pt x="222" y="39"/>
                </a:lnTo>
                <a:lnTo>
                  <a:pt x="224" y="44"/>
                </a:lnTo>
                <a:lnTo>
                  <a:pt x="226" y="50"/>
                </a:lnTo>
                <a:lnTo>
                  <a:pt x="245" y="69"/>
                </a:lnTo>
                <a:lnTo>
                  <a:pt x="240" y="117"/>
                </a:lnTo>
                <a:lnTo>
                  <a:pt x="208" y="133"/>
                </a:lnTo>
                <a:lnTo>
                  <a:pt x="247" y="145"/>
                </a:lnTo>
                <a:lnTo>
                  <a:pt x="247" y="145"/>
                </a:lnTo>
                <a:lnTo>
                  <a:pt x="247" y="146"/>
                </a:lnTo>
                <a:lnTo>
                  <a:pt x="248" y="148"/>
                </a:lnTo>
                <a:lnTo>
                  <a:pt x="248" y="152"/>
                </a:lnTo>
                <a:lnTo>
                  <a:pt x="249" y="155"/>
                </a:lnTo>
                <a:lnTo>
                  <a:pt x="248" y="160"/>
                </a:lnTo>
                <a:lnTo>
                  <a:pt x="247" y="164"/>
                </a:lnTo>
                <a:lnTo>
                  <a:pt x="244" y="170"/>
                </a:lnTo>
                <a:lnTo>
                  <a:pt x="144" y="209"/>
                </a:lnTo>
                <a:lnTo>
                  <a:pt x="0" y="163"/>
                </a:lnTo>
                <a:lnTo>
                  <a:pt x="3" y="159"/>
                </a:lnTo>
                <a:lnTo>
                  <a:pt x="25" y="150"/>
                </a:lnTo>
                <a:lnTo>
                  <a:pt x="25" y="28"/>
                </a:lnTo>
                <a:lnTo>
                  <a:pt x="25" y="28"/>
                </a:lnTo>
                <a:lnTo>
                  <a:pt x="25" y="28"/>
                </a:lnTo>
                <a:lnTo>
                  <a:pt x="26" y="27"/>
                </a:lnTo>
                <a:lnTo>
                  <a:pt x="27" y="27"/>
                </a:lnTo>
                <a:lnTo>
                  <a:pt x="28" y="25"/>
                </a:lnTo>
                <a:lnTo>
                  <a:pt x="31" y="25"/>
                </a:lnTo>
                <a:lnTo>
                  <a:pt x="32" y="24"/>
                </a:lnTo>
                <a:lnTo>
                  <a:pt x="34" y="23"/>
                </a:lnTo>
                <a:lnTo>
                  <a:pt x="37" y="23"/>
                </a:lnTo>
                <a:lnTo>
                  <a:pt x="40" y="22"/>
                </a:lnTo>
                <a:lnTo>
                  <a:pt x="42" y="22"/>
                </a:lnTo>
                <a:lnTo>
                  <a:pt x="46" y="22"/>
                </a:lnTo>
                <a:lnTo>
                  <a:pt x="49" y="22"/>
                </a:lnTo>
                <a:lnTo>
                  <a:pt x="53" y="22"/>
                </a:lnTo>
                <a:lnTo>
                  <a:pt x="58" y="23"/>
                </a:lnTo>
                <a:lnTo>
                  <a:pt x="61" y="24"/>
                </a:lnTo>
                <a:lnTo>
                  <a:pt x="68" y="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" name="Freeform 121"/>
          <p:cNvSpPr>
            <a:spLocks/>
          </p:cNvSpPr>
          <p:nvPr/>
        </p:nvSpPr>
        <p:spPr bwMode="auto">
          <a:xfrm>
            <a:off x="2909887" y="2816225"/>
            <a:ext cx="125413" cy="144463"/>
          </a:xfrm>
          <a:custGeom>
            <a:avLst/>
            <a:gdLst>
              <a:gd name="T0" fmla="*/ 78 w 79"/>
              <a:gd name="T1" fmla="*/ 3 h 91"/>
              <a:gd name="T2" fmla="*/ 78 w 79"/>
              <a:gd name="T3" fmla="*/ 3 h 91"/>
              <a:gd name="T4" fmla="*/ 77 w 79"/>
              <a:gd name="T5" fmla="*/ 3 h 91"/>
              <a:gd name="T6" fmla="*/ 74 w 79"/>
              <a:gd name="T7" fmla="*/ 2 h 91"/>
              <a:gd name="T8" fmla="*/ 72 w 79"/>
              <a:gd name="T9" fmla="*/ 2 h 91"/>
              <a:gd name="T10" fmla="*/ 69 w 79"/>
              <a:gd name="T11" fmla="*/ 1 h 91"/>
              <a:gd name="T12" fmla="*/ 65 w 79"/>
              <a:gd name="T13" fmla="*/ 1 h 91"/>
              <a:gd name="T14" fmla="*/ 60 w 79"/>
              <a:gd name="T15" fmla="*/ 1 h 91"/>
              <a:gd name="T16" fmla="*/ 56 w 79"/>
              <a:gd name="T17" fmla="*/ 0 h 91"/>
              <a:gd name="T18" fmla="*/ 50 w 79"/>
              <a:gd name="T19" fmla="*/ 0 h 91"/>
              <a:gd name="T20" fmla="*/ 44 w 79"/>
              <a:gd name="T21" fmla="*/ 1 h 91"/>
              <a:gd name="T22" fmla="*/ 38 w 79"/>
              <a:gd name="T23" fmla="*/ 1 h 91"/>
              <a:gd name="T24" fmla="*/ 31 w 79"/>
              <a:gd name="T25" fmla="*/ 2 h 91"/>
              <a:gd name="T26" fmla="*/ 25 w 79"/>
              <a:gd name="T27" fmla="*/ 3 h 91"/>
              <a:gd name="T28" fmla="*/ 18 w 79"/>
              <a:gd name="T29" fmla="*/ 6 h 91"/>
              <a:gd name="T30" fmla="*/ 11 w 79"/>
              <a:gd name="T31" fmla="*/ 8 h 91"/>
              <a:gd name="T32" fmla="*/ 4 w 79"/>
              <a:gd name="T33" fmla="*/ 12 h 91"/>
              <a:gd name="T34" fmla="*/ 4 w 79"/>
              <a:gd name="T35" fmla="*/ 13 h 91"/>
              <a:gd name="T36" fmla="*/ 3 w 79"/>
              <a:gd name="T37" fmla="*/ 17 h 91"/>
              <a:gd name="T38" fmla="*/ 1 w 79"/>
              <a:gd name="T39" fmla="*/ 26 h 91"/>
              <a:gd name="T40" fmla="*/ 0 w 79"/>
              <a:gd name="T41" fmla="*/ 35 h 91"/>
              <a:gd name="T42" fmla="*/ 0 w 79"/>
              <a:gd name="T43" fmla="*/ 47 h 91"/>
              <a:gd name="T44" fmla="*/ 0 w 79"/>
              <a:gd name="T45" fmla="*/ 61 h 91"/>
              <a:gd name="T46" fmla="*/ 2 w 79"/>
              <a:gd name="T47" fmla="*/ 75 h 91"/>
              <a:gd name="T48" fmla="*/ 6 w 79"/>
              <a:gd name="T49" fmla="*/ 89 h 91"/>
              <a:gd name="T50" fmla="*/ 7 w 79"/>
              <a:gd name="T51" fmla="*/ 89 h 91"/>
              <a:gd name="T52" fmla="*/ 8 w 79"/>
              <a:gd name="T53" fmla="*/ 89 h 91"/>
              <a:gd name="T54" fmla="*/ 9 w 79"/>
              <a:gd name="T55" fmla="*/ 89 h 91"/>
              <a:gd name="T56" fmla="*/ 11 w 79"/>
              <a:gd name="T57" fmla="*/ 89 h 91"/>
              <a:gd name="T58" fmla="*/ 15 w 79"/>
              <a:gd name="T59" fmla="*/ 88 h 91"/>
              <a:gd name="T60" fmla="*/ 18 w 79"/>
              <a:gd name="T61" fmla="*/ 88 h 91"/>
              <a:gd name="T62" fmla="*/ 22 w 79"/>
              <a:gd name="T63" fmla="*/ 88 h 91"/>
              <a:gd name="T64" fmla="*/ 27 w 79"/>
              <a:gd name="T65" fmla="*/ 88 h 91"/>
              <a:gd name="T66" fmla="*/ 32 w 79"/>
              <a:gd name="T67" fmla="*/ 88 h 91"/>
              <a:gd name="T68" fmla="*/ 38 w 79"/>
              <a:gd name="T69" fmla="*/ 88 h 91"/>
              <a:gd name="T70" fmla="*/ 44 w 79"/>
              <a:gd name="T71" fmla="*/ 88 h 91"/>
              <a:gd name="T72" fmla="*/ 50 w 79"/>
              <a:gd name="T73" fmla="*/ 88 h 91"/>
              <a:gd name="T74" fmla="*/ 57 w 79"/>
              <a:gd name="T75" fmla="*/ 89 h 91"/>
              <a:gd name="T76" fmla="*/ 64 w 79"/>
              <a:gd name="T77" fmla="*/ 89 h 91"/>
              <a:gd name="T78" fmla="*/ 71 w 79"/>
              <a:gd name="T79" fmla="*/ 90 h 91"/>
              <a:gd name="T80" fmla="*/ 79 w 79"/>
              <a:gd name="T81" fmla="*/ 91 h 91"/>
              <a:gd name="T82" fmla="*/ 79 w 79"/>
              <a:gd name="T83" fmla="*/ 89 h 91"/>
              <a:gd name="T84" fmla="*/ 78 w 79"/>
              <a:gd name="T85" fmla="*/ 82 h 91"/>
              <a:gd name="T86" fmla="*/ 77 w 79"/>
              <a:gd name="T87" fmla="*/ 70 h 91"/>
              <a:gd name="T88" fmla="*/ 76 w 79"/>
              <a:gd name="T89" fmla="*/ 57 h 91"/>
              <a:gd name="T90" fmla="*/ 76 w 79"/>
              <a:gd name="T91" fmla="*/ 43 h 91"/>
              <a:gd name="T92" fmla="*/ 76 w 79"/>
              <a:gd name="T93" fmla="*/ 29 h 91"/>
              <a:gd name="T94" fmla="*/ 77 w 79"/>
              <a:gd name="T95" fmla="*/ 15 h 91"/>
              <a:gd name="T96" fmla="*/ 78 w 79"/>
              <a:gd name="T97" fmla="*/ 3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91">
                <a:moveTo>
                  <a:pt x="78" y="3"/>
                </a:moveTo>
                <a:lnTo>
                  <a:pt x="78" y="3"/>
                </a:lnTo>
                <a:lnTo>
                  <a:pt x="77" y="3"/>
                </a:lnTo>
                <a:lnTo>
                  <a:pt x="74" y="2"/>
                </a:lnTo>
                <a:lnTo>
                  <a:pt x="72" y="2"/>
                </a:lnTo>
                <a:lnTo>
                  <a:pt x="69" y="1"/>
                </a:lnTo>
                <a:lnTo>
                  <a:pt x="65" y="1"/>
                </a:lnTo>
                <a:lnTo>
                  <a:pt x="60" y="1"/>
                </a:lnTo>
                <a:lnTo>
                  <a:pt x="56" y="0"/>
                </a:lnTo>
                <a:lnTo>
                  <a:pt x="50" y="0"/>
                </a:lnTo>
                <a:lnTo>
                  <a:pt x="44" y="1"/>
                </a:lnTo>
                <a:lnTo>
                  <a:pt x="38" y="1"/>
                </a:lnTo>
                <a:lnTo>
                  <a:pt x="31" y="2"/>
                </a:lnTo>
                <a:lnTo>
                  <a:pt x="25" y="3"/>
                </a:lnTo>
                <a:lnTo>
                  <a:pt x="18" y="6"/>
                </a:lnTo>
                <a:lnTo>
                  <a:pt x="11" y="8"/>
                </a:lnTo>
                <a:lnTo>
                  <a:pt x="4" y="12"/>
                </a:lnTo>
                <a:lnTo>
                  <a:pt x="4" y="13"/>
                </a:lnTo>
                <a:lnTo>
                  <a:pt x="3" y="17"/>
                </a:lnTo>
                <a:lnTo>
                  <a:pt x="1" y="26"/>
                </a:lnTo>
                <a:lnTo>
                  <a:pt x="0" y="35"/>
                </a:lnTo>
                <a:lnTo>
                  <a:pt x="0" y="47"/>
                </a:lnTo>
                <a:lnTo>
                  <a:pt x="0" y="61"/>
                </a:lnTo>
                <a:lnTo>
                  <a:pt x="2" y="75"/>
                </a:lnTo>
                <a:lnTo>
                  <a:pt x="6" y="89"/>
                </a:lnTo>
                <a:lnTo>
                  <a:pt x="7" y="89"/>
                </a:lnTo>
                <a:lnTo>
                  <a:pt x="8" y="89"/>
                </a:lnTo>
                <a:lnTo>
                  <a:pt x="9" y="89"/>
                </a:lnTo>
                <a:lnTo>
                  <a:pt x="11" y="89"/>
                </a:lnTo>
                <a:lnTo>
                  <a:pt x="15" y="88"/>
                </a:lnTo>
                <a:lnTo>
                  <a:pt x="18" y="88"/>
                </a:lnTo>
                <a:lnTo>
                  <a:pt x="22" y="88"/>
                </a:lnTo>
                <a:lnTo>
                  <a:pt x="27" y="88"/>
                </a:lnTo>
                <a:lnTo>
                  <a:pt x="32" y="88"/>
                </a:lnTo>
                <a:lnTo>
                  <a:pt x="38" y="88"/>
                </a:lnTo>
                <a:lnTo>
                  <a:pt x="44" y="88"/>
                </a:lnTo>
                <a:lnTo>
                  <a:pt x="50" y="88"/>
                </a:lnTo>
                <a:lnTo>
                  <a:pt x="57" y="89"/>
                </a:lnTo>
                <a:lnTo>
                  <a:pt x="64" y="89"/>
                </a:lnTo>
                <a:lnTo>
                  <a:pt x="71" y="90"/>
                </a:lnTo>
                <a:lnTo>
                  <a:pt x="79" y="91"/>
                </a:lnTo>
                <a:lnTo>
                  <a:pt x="79" y="89"/>
                </a:lnTo>
                <a:lnTo>
                  <a:pt x="78" y="82"/>
                </a:lnTo>
                <a:lnTo>
                  <a:pt x="77" y="70"/>
                </a:lnTo>
                <a:lnTo>
                  <a:pt x="76" y="57"/>
                </a:lnTo>
                <a:lnTo>
                  <a:pt x="76" y="43"/>
                </a:lnTo>
                <a:lnTo>
                  <a:pt x="76" y="29"/>
                </a:lnTo>
                <a:lnTo>
                  <a:pt x="77" y="15"/>
                </a:lnTo>
                <a:lnTo>
                  <a:pt x="78" y="3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" name="Freeform 122"/>
          <p:cNvSpPr>
            <a:spLocks/>
          </p:cNvSpPr>
          <p:nvPr/>
        </p:nvSpPr>
        <p:spPr bwMode="auto">
          <a:xfrm>
            <a:off x="2922587" y="2857500"/>
            <a:ext cx="209550" cy="142875"/>
          </a:xfrm>
          <a:custGeom>
            <a:avLst/>
            <a:gdLst>
              <a:gd name="T0" fmla="*/ 1 w 132"/>
              <a:gd name="T1" fmla="*/ 67 h 90"/>
              <a:gd name="T2" fmla="*/ 0 w 132"/>
              <a:gd name="T3" fmla="*/ 78 h 90"/>
              <a:gd name="T4" fmla="*/ 86 w 132"/>
              <a:gd name="T5" fmla="*/ 90 h 90"/>
              <a:gd name="T6" fmla="*/ 86 w 132"/>
              <a:gd name="T7" fmla="*/ 90 h 90"/>
              <a:gd name="T8" fmla="*/ 89 w 132"/>
              <a:gd name="T9" fmla="*/ 88 h 90"/>
              <a:gd name="T10" fmla="*/ 91 w 132"/>
              <a:gd name="T11" fmla="*/ 87 h 90"/>
              <a:gd name="T12" fmla="*/ 94 w 132"/>
              <a:gd name="T13" fmla="*/ 85 h 90"/>
              <a:gd name="T14" fmla="*/ 98 w 132"/>
              <a:gd name="T15" fmla="*/ 83 h 90"/>
              <a:gd name="T16" fmla="*/ 103 w 132"/>
              <a:gd name="T17" fmla="*/ 79 h 90"/>
              <a:gd name="T18" fmla="*/ 107 w 132"/>
              <a:gd name="T19" fmla="*/ 74 h 90"/>
              <a:gd name="T20" fmla="*/ 112 w 132"/>
              <a:gd name="T21" fmla="*/ 71 h 90"/>
              <a:gd name="T22" fmla="*/ 117 w 132"/>
              <a:gd name="T23" fmla="*/ 65 h 90"/>
              <a:gd name="T24" fmla="*/ 121 w 132"/>
              <a:gd name="T25" fmla="*/ 59 h 90"/>
              <a:gd name="T26" fmla="*/ 125 w 132"/>
              <a:gd name="T27" fmla="*/ 53 h 90"/>
              <a:gd name="T28" fmla="*/ 128 w 132"/>
              <a:gd name="T29" fmla="*/ 46 h 90"/>
              <a:gd name="T30" fmla="*/ 131 w 132"/>
              <a:gd name="T31" fmla="*/ 39 h 90"/>
              <a:gd name="T32" fmla="*/ 132 w 132"/>
              <a:gd name="T33" fmla="*/ 31 h 90"/>
              <a:gd name="T34" fmla="*/ 132 w 132"/>
              <a:gd name="T35" fmla="*/ 22 h 90"/>
              <a:gd name="T36" fmla="*/ 129 w 132"/>
              <a:gd name="T37" fmla="*/ 12 h 90"/>
              <a:gd name="T38" fmla="*/ 129 w 132"/>
              <a:gd name="T39" fmla="*/ 12 h 90"/>
              <a:gd name="T40" fmla="*/ 128 w 132"/>
              <a:gd name="T41" fmla="*/ 10 h 90"/>
              <a:gd name="T42" fmla="*/ 127 w 132"/>
              <a:gd name="T43" fmla="*/ 9 h 90"/>
              <a:gd name="T44" fmla="*/ 126 w 132"/>
              <a:gd name="T45" fmla="*/ 7 h 90"/>
              <a:gd name="T46" fmla="*/ 124 w 132"/>
              <a:gd name="T47" fmla="*/ 3 h 90"/>
              <a:gd name="T48" fmla="*/ 120 w 132"/>
              <a:gd name="T49" fmla="*/ 2 h 90"/>
              <a:gd name="T50" fmla="*/ 117 w 132"/>
              <a:gd name="T51" fmla="*/ 0 h 90"/>
              <a:gd name="T52" fmla="*/ 113 w 132"/>
              <a:gd name="T53" fmla="*/ 0 h 90"/>
              <a:gd name="T54" fmla="*/ 113 w 132"/>
              <a:gd name="T55" fmla="*/ 1 h 90"/>
              <a:gd name="T56" fmla="*/ 114 w 132"/>
              <a:gd name="T57" fmla="*/ 4 h 90"/>
              <a:gd name="T58" fmla="*/ 117 w 132"/>
              <a:gd name="T59" fmla="*/ 11 h 90"/>
              <a:gd name="T60" fmla="*/ 118 w 132"/>
              <a:gd name="T61" fmla="*/ 18 h 90"/>
              <a:gd name="T62" fmla="*/ 118 w 132"/>
              <a:gd name="T63" fmla="*/ 29 h 90"/>
              <a:gd name="T64" fmla="*/ 117 w 132"/>
              <a:gd name="T65" fmla="*/ 39 h 90"/>
              <a:gd name="T66" fmla="*/ 114 w 132"/>
              <a:gd name="T67" fmla="*/ 51 h 90"/>
              <a:gd name="T68" fmla="*/ 108 w 132"/>
              <a:gd name="T69" fmla="*/ 63 h 90"/>
              <a:gd name="T70" fmla="*/ 108 w 132"/>
              <a:gd name="T71" fmla="*/ 63 h 90"/>
              <a:gd name="T72" fmla="*/ 108 w 132"/>
              <a:gd name="T73" fmla="*/ 64 h 90"/>
              <a:gd name="T74" fmla="*/ 107 w 132"/>
              <a:gd name="T75" fmla="*/ 64 h 90"/>
              <a:gd name="T76" fmla="*/ 106 w 132"/>
              <a:gd name="T77" fmla="*/ 65 h 90"/>
              <a:gd name="T78" fmla="*/ 105 w 132"/>
              <a:gd name="T79" fmla="*/ 66 h 90"/>
              <a:gd name="T80" fmla="*/ 103 w 132"/>
              <a:gd name="T81" fmla="*/ 67 h 90"/>
              <a:gd name="T82" fmla="*/ 100 w 132"/>
              <a:gd name="T83" fmla="*/ 69 h 90"/>
              <a:gd name="T84" fmla="*/ 98 w 132"/>
              <a:gd name="T85" fmla="*/ 70 h 90"/>
              <a:gd name="T86" fmla="*/ 96 w 132"/>
              <a:gd name="T87" fmla="*/ 70 h 90"/>
              <a:gd name="T88" fmla="*/ 92 w 132"/>
              <a:gd name="T89" fmla="*/ 71 h 90"/>
              <a:gd name="T90" fmla="*/ 90 w 132"/>
              <a:gd name="T91" fmla="*/ 72 h 90"/>
              <a:gd name="T92" fmla="*/ 85 w 132"/>
              <a:gd name="T93" fmla="*/ 72 h 90"/>
              <a:gd name="T94" fmla="*/ 82 w 132"/>
              <a:gd name="T95" fmla="*/ 72 h 90"/>
              <a:gd name="T96" fmla="*/ 78 w 132"/>
              <a:gd name="T97" fmla="*/ 72 h 90"/>
              <a:gd name="T98" fmla="*/ 73 w 132"/>
              <a:gd name="T99" fmla="*/ 72 h 90"/>
              <a:gd name="T100" fmla="*/ 69 w 132"/>
              <a:gd name="T101" fmla="*/ 71 h 90"/>
              <a:gd name="T102" fmla="*/ 69 w 132"/>
              <a:gd name="T103" fmla="*/ 83 h 90"/>
              <a:gd name="T104" fmla="*/ 3 w 132"/>
              <a:gd name="T105" fmla="*/ 76 h 90"/>
              <a:gd name="T106" fmla="*/ 1 w 132"/>
              <a:gd name="T107" fmla="*/ 67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32" h="90">
                <a:moveTo>
                  <a:pt x="1" y="67"/>
                </a:moveTo>
                <a:lnTo>
                  <a:pt x="0" y="78"/>
                </a:lnTo>
                <a:lnTo>
                  <a:pt x="86" y="90"/>
                </a:lnTo>
                <a:lnTo>
                  <a:pt x="86" y="90"/>
                </a:lnTo>
                <a:lnTo>
                  <a:pt x="89" y="88"/>
                </a:lnTo>
                <a:lnTo>
                  <a:pt x="91" y="87"/>
                </a:lnTo>
                <a:lnTo>
                  <a:pt x="94" y="85"/>
                </a:lnTo>
                <a:lnTo>
                  <a:pt x="98" y="83"/>
                </a:lnTo>
                <a:lnTo>
                  <a:pt x="103" y="79"/>
                </a:lnTo>
                <a:lnTo>
                  <a:pt x="107" y="74"/>
                </a:lnTo>
                <a:lnTo>
                  <a:pt x="112" y="71"/>
                </a:lnTo>
                <a:lnTo>
                  <a:pt x="117" y="65"/>
                </a:lnTo>
                <a:lnTo>
                  <a:pt x="121" y="59"/>
                </a:lnTo>
                <a:lnTo>
                  <a:pt x="125" y="53"/>
                </a:lnTo>
                <a:lnTo>
                  <a:pt x="128" y="46"/>
                </a:lnTo>
                <a:lnTo>
                  <a:pt x="131" y="39"/>
                </a:lnTo>
                <a:lnTo>
                  <a:pt x="132" y="31"/>
                </a:lnTo>
                <a:lnTo>
                  <a:pt x="132" y="22"/>
                </a:lnTo>
                <a:lnTo>
                  <a:pt x="129" y="12"/>
                </a:lnTo>
                <a:lnTo>
                  <a:pt x="129" y="12"/>
                </a:lnTo>
                <a:lnTo>
                  <a:pt x="128" y="10"/>
                </a:lnTo>
                <a:lnTo>
                  <a:pt x="127" y="9"/>
                </a:lnTo>
                <a:lnTo>
                  <a:pt x="126" y="7"/>
                </a:lnTo>
                <a:lnTo>
                  <a:pt x="124" y="3"/>
                </a:lnTo>
                <a:lnTo>
                  <a:pt x="120" y="2"/>
                </a:lnTo>
                <a:lnTo>
                  <a:pt x="117" y="0"/>
                </a:lnTo>
                <a:lnTo>
                  <a:pt x="113" y="0"/>
                </a:lnTo>
                <a:lnTo>
                  <a:pt x="113" y="1"/>
                </a:lnTo>
                <a:lnTo>
                  <a:pt x="114" y="4"/>
                </a:lnTo>
                <a:lnTo>
                  <a:pt x="117" y="11"/>
                </a:lnTo>
                <a:lnTo>
                  <a:pt x="118" y="18"/>
                </a:lnTo>
                <a:lnTo>
                  <a:pt x="118" y="29"/>
                </a:lnTo>
                <a:lnTo>
                  <a:pt x="117" y="39"/>
                </a:lnTo>
                <a:lnTo>
                  <a:pt x="114" y="51"/>
                </a:lnTo>
                <a:lnTo>
                  <a:pt x="108" y="63"/>
                </a:lnTo>
                <a:lnTo>
                  <a:pt x="108" y="63"/>
                </a:lnTo>
                <a:lnTo>
                  <a:pt x="108" y="64"/>
                </a:lnTo>
                <a:lnTo>
                  <a:pt x="107" y="64"/>
                </a:lnTo>
                <a:lnTo>
                  <a:pt x="106" y="65"/>
                </a:lnTo>
                <a:lnTo>
                  <a:pt x="105" y="66"/>
                </a:lnTo>
                <a:lnTo>
                  <a:pt x="103" y="67"/>
                </a:lnTo>
                <a:lnTo>
                  <a:pt x="100" y="69"/>
                </a:lnTo>
                <a:lnTo>
                  <a:pt x="98" y="70"/>
                </a:lnTo>
                <a:lnTo>
                  <a:pt x="96" y="70"/>
                </a:lnTo>
                <a:lnTo>
                  <a:pt x="92" y="71"/>
                </a:lnTo>
                <a:lnTo>
                  <a:pt x="90" y="72"/>
                </a:lnTo>
                <a:lnTo>
                  <a:pt x="85" y="72"/>
                </a:lnTo>
                <a:lnTo>
                  <a:pt x="82" y="72"/>
                </a:lnTo>
                <a:lnTo>
                  <a:pt x="78" y="72"/>
                </a:lnTo>
                <a:lnTo>
                  <a:pt x="73" y="72"/>
                </a:lnTo>
                <a:lnTo>
                  <a:pt x="69" y="71"/>
                </a:lnTo>
                <a:lnTo>
                  <a:pt x="69" y="83"/>
                </a:lnTo>
                <a:lnTo>
                  <a:pt x="3" y="76"/>
                </a:lnTo>
                <a:lnTo>
                  <a:pt x="1" y="67"/>
                </a:lnTo>
                <a:close/>
              </a:path>
            </a:pathLst>
          </a:custGeom>
          <a:solidFill>
            <a:srgbClr val="99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" name="Freeform 123"/>
          <p:cNvSpPr>
            <a:spLocks/>
          </p:cNvSpPr>
          <p:nvPr/>
        </p:nvSpPr>
        <p:spPr bwMode="auto">
          <a:xfrm>
            <a:off x="2897187" y="2997200"/>
            <a:ext cx="152400" cy="49213"/>
          </a:xfrm>
          <a:custGeom>
            <a:avLst/>
            <a:gdLst>
              <a:gd name="T0" fmla="*/ 96 w 96"/>
              <a:gd name="T1" fmla="*/ 11 h 31"/>
              <a:gd name="T2" fmla="*/ 1 w 96"/>
              <a:gd name="T3" fmla="*/ 0 h 31"/>
              <a:gd name="T4" fmla="*/ 0 w 96"/>
              <a:gd name="T5" fmla="*/ 11 h 31"/>
              <a:gd name="T6" fmla="*/ 93 w 96"/>
              <a:gd name="T7" fmla="*/ 31 h 31"/>
              <a:gd name="T8" fmla="*/ 96 w 96"/>
              <a:gd name="T9" fmla="*/ 11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31">
                <a:moveTo>
                  <a:pt x="96" y="11"/>
                </a:moveTo>
                <a:lnTo>
                  <a:pt x="1" y="0"/>
                </a:lnTo>
                <a:lnTo>
                  <a:pt x="0" y="11"/>
                </a:lnTo>
                <a:lnTo>
                  <a:pt x="93" y="31"/>
                </a:lnTo>
                <a:lnTo>
                  <a:pt x="96" y="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7" name="Freeform 124"/>
          <p:cNvSpPr>
            <a:spLocks/>
          </p:cNvSpPr>
          <p:nvPr/>
        </p:nvSpPr>
        <p:spPr bwMode="auto">
          <a:xfrm>
            <a:off x="2971800" y="3013075"/>
            <a:ext cx="66675" cy="22225"/>
          </a:xfrm>
          <a:custGeom>
            <a:avLst/>
            <a:gdLst>
              <a:gd name="T0" fmla="*/ 42 w 42"/>
              <a:gd name="T1" fmla="*/ 6 h 14"/>
              <a:gd name="T2" fmla="*/ 2 w 42"/>
              <a:gd name="T3" fmla="*/ 0 h 14"/>
              <a:gd name="T4" fmla="*/ 0 w 42"/>
              <a:gd name="T5" fmla="*/ 6 h 14"/>
              <a:gd name="T6" fmla="*/ 40 w 42"/>
              <a:gd name="T7" fmla="*/ 14 h 14"/>
              <a:gd name="T8" fmla="*/ 42 w 42"/>
              <a:gd name="T9" fmla="*/ 6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" h="14">
                <a:moveTo>
                  <a:pt x="42" y="6"/>
                </a:moveTo>
                <a:lnTo>
                  <a:pt x="2" y="0"/>
                </a:lnTo>
                <a:lnTo>
                  <a:pt x="0" y="6"/>
                </a:lnTo>
                <a:lnTo>
                  <a:pt x="40" y="14"/>
                </a:lnTo>
                <a:lnTo>
                  <a:pt x="42" y="6"/>
                </a:lnTo>
                <a:close/>
              </a:path>
            </a:pathLst>
          </a:custGeom>
          <a:solidFill>
            <a:srgbClr val="99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" name="Freeform 125"/>
          <p:cNvSpPr>
            <a:spLocks/>
          </p:cNvSpPr>
          <p:nvPr/>
        </p:nvSpPr>
        <p:spPr bwMode="auto">
          <a:xfrm>
            <a:off x="2905125" y="3001963"/>
            <a:ext cx="44450" cy="15875"/>
          </a:xfrm>
          <a:custGeom>
            <a:avLst/>
            <a:gdLst>
              <a:gd name="T0" fmla="*/ 28 w 28"/>
              <a:gd name="T1" fmla="*/ 4 h 10"/>
              <a:gd name="T2" fmla="*/ 0 w 28"/>
              <a:gd name="T3" fmla="*/ 0 h 10"/>
              <a:gd name="T4" fmla="*/ 0 w 28"/>
              <a:gd name="T5" fmla="*/ 6 h 10"/>
              <a:gd name="T6" fmla="*/ 27 w 28"/>
              <a:gd name="T7" fmla="*/ 10 h 10"/>
              <a:gd name="T8" fmla="*/ 28 w 28"/>
              <a:gd name="T9" fmla="*/ 4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" h="10">
                <a:moveTo>
                  <a:pt x="28" y="4"/>
                </a:moveTo>
                <a:lnTo>
                  <a:pt x="0" y="0"/>
                </a:lnTo>
                <a:lnTo>
                  <a:pt x="0" y="6"/>
                </a:lnTo>
                <a:lnTo>
                  <a:pt x="27" y="10"/>
                </a:lnTo>
                <a:lnTo>
                  <a:pt x="28" y="4"/>
                </a:lnTo>
                <a:close/>
              </a:path>
            </a:pathLst>
          </a:custGeom>
          <a:solidFill>
            <a:srgbClr val="99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Freeform 126"/>
          <p:cNvSpPr>
            <a:spLocks/>
          </p:cNvSpPr>
          <p:nvPr/>
        </p:nvSpPr>
        <p:spPr bwMode="auto">
          <a:xfrm>
            <a:off x="2797175" y="3017838"/>
            <a:ext cx="257175" cy="85725"/>
          </a:xfrm>
          <a:custGeom>
            <a:avLst/>
            <a:gdLst>
              <a:gd name="T0" fmla="*/ 0 w 162"/>
              <a:gd name="T1" fmla="*/ 17 h 54"/>
              <a:gd name="T2" fmla="*/ 0 w 162"/>
              <a:gd name="T3" fmla="*/ 17 h 54"/>
              <a:gd name="T4" fmla="*/ 1 w 162"/>
              <a:gd name="T5" fmla="*/ 17 h 54"/>
              <a:gd name="T6" fmla="*/ 2 w 162"/>
              <a:gd name="T7" fmla="*/ 17 h 54"/>
              <a:gd name="T8" fmla="*/ 4 w 162"/>
              <a:gd name="T9" fmla="*/ 15 h 54"/>
              <a:gd name="T10" fmla="*/ 7 w 162"/>
              <a:gd name="T11" fmla="*/ 15 h 54"/>
              <a:gd name="T12" fmla="*/ 10 w 162"/>
              <a:gd name="T13" fmla="*/ 14 h 54"/>
              <a:gd name="T14" fmla="*/ 14 w 162"/>
              <a:gd name="T15" fmla="*/ 14 h 54"/>
              <a:gd name="T16" fmla="*/ 17 w 162"/>
              <a:gd name="T17" fmla="*/ 13 h 54"/>
              <a:gd name="T18" fmla="*/ 21 w 162"/>
              <a:gd name="T19" fmla="*/ 12 h 54"/>
              <a:gd name="T20" fmla="*/ 24 w 162"/>
              <a:gd name="T21" fmla="*/ 11 h 54"/>
              <a:gd name="T22" fmla="*/ 28 w 162"/>
              <a:gd name="T23" fmla="*/ 10 h 54"/>
              <a:gd name="T24" fmla="*/ 31 w 162"/>
              <a:gd name="T25" fmla="*/ 8 h 54"/>
              <a:gd name="T26" fmla="*/ 35 w 162"/>
              <a:gd name="T27" fmla="*/ 6 h 54"/>
              <a:gd name="T28" fmla="*/ 37 w 162"/>
              <a:gd name="T29" fmla="*/ 5 h 54"/>
              <a:gd name="T30" fmla="*/ 40 w 162"/>
              <a:gd name="T31" fmla="*/ 3 h 54"/>
              <a:gd name="T32" fmla="*/ 43 w 162"/>
              <a:gd name="T33" fmla="*/ 0 h 54"/>
              <a:gd name="T34" fmla="*/ 162 w 162"/>
              <a:gd name="T35" fmla="*/ 28 h 54"/>
              <a:gd name="T36" fmla="*/ 162 w 162"/>
              <a:gd name="T37" fmla="*/ 28 h 54"/>
              <a:gd name="T38" fmla="*/ 161 w 162"/>
              <a:gd name="T39" fmla="*/ 28 h 54"/>
              <a:gd name="T40" fmla="*/ 159 w 162"/>
              <a:gd name="T41" fmla="*/ 29 h 54"/>
              <a:gd name="T42" fmla="*/ 158 w 162"/>
              <a:gd name="T43" fmla="*/ 31 h 54"/>
              <a:gd name="T44" fmla="*/ 157 w 162"/>
              <a:gd name="T45" fmla="*/ 33 h 54"/>
              <a:gd name="T46" fmla="*/ 155 w 162"/>
              <a:gd name="T47" fmla="*/ 34 h 54"/>
              <a:gd name="T48" fmla="*/ 152 w 162"/>
              <a:gd name="T49" fmla="*/ 36 h 54"/>
              <a:gd name="T50" fmla="*/ 150 w 162"/>
              <a:gd name="T51" fmla="*/ 39 h 54"/>
              <a:gd name="T52" fmla="*/ 147 w 162"/>
              <a:gd name="T53" fmla="*/ 41 h 54"/>
              <a:gd name="T54" fmla="*/ 144 w 162"/>
              <a:gd name="T55" fmla="*/ 43 h 54"/>
              <a:gd name="T56" fmla="*/ 141 w 162"/>
              <a:gd name="T57" fmla="*/ 46 h 54"/>
              <a:gd name="T58" fmla="*/ 137 w 162"/>
              <a:gd name="T59" fmla="*/ 48 h 54"/>
              <a:gd name="T60" fmla="*/ 135 w 162"/>
              <a:gd name="T61" fmla="*/ 49 h 54"/>
              <a:gd name="T62" fmla="*/ 131 w 162"/>
              <a:gd name="T63" fmla="*/ 52 h 54"/>
              <a:gd name="T64" fmla="*/ 128 w 162"/>
              <a:gd name="T65" fmla="*/ 53 h 54"/>
              <a:gd name="T66" fmla="*/ 126 w 162"/>
              <a:gd name="T67" fmla="*/ 54 h 54"/>
              <a:gd name="T68" fmla="*/ 0 w 162"/>
              <a:gd name="T69" fmla="*/ 17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62" h="54">
                <a:moveTo>
                  <a:pt x="0" y="17"/>
                </a:moveTo>
                <a:lnTo>
                  <a:pt x="0" y="17"/>
                </a:lnTo>
                <a:lnTo>
                  <a:pt x="1" y="17"/>
                </a:lnTo>
                <a:lnTo>
                  <a:pt x="2" y="17"/>
                </a:lnTo>
                <a:lnTo>
                  <a:pt x="4" y="15"/>
                </a:lnTo>
                <a:lnTo>
                  <a:pt x="7" y="15"/>
                </a:lnTo>
                <a:lnTo>
                  <a:pt x="10" y="14"/>
                </a:lnTo>
                <a:lnTo>
                  <a:pt x="14" y="14"/>
                </a:lnTo>
                <a:lnTo>
                  <a:pt x="17" y="13"/>
                </a:lnTo>
                <a:lnTo>
                  <a:pt x="21" y="12"/>
                </a:lnTo>
                <a:lnTo>
                  <a:pt x="24" y="11"/>
                </a:lnTo>
                <a:lnTo>
                  <a:pt x="28" y="10"/>
                </a:lnTo>
                <a:lnTo>
                  <a:pt x="31" y="8"/>
                </a:lnTo>
                <a:lnTo>
                  <a:pt x="35" y="6"/>
                </a:lnTo>
                <a:lnTo>
                  <a:pt x="37" y="5"/>
                </a:lnTo>
                <a:lnTo>
                  <a:pt x="40" y="3"/>
                </a:lnTo>
                <a:lnTo>
                  <a:pt x="43" y="0"/>
                </a:lnTo>
                <a:lnTo>
                  <a:pt x="162" y="28"/>
                </a:lnTo>
                <a:lnTo>
                  <a:pt x="162" y="28"/>
                </a:lnTo>
                <a:lnTo>
                  <a:pt x="161" y="28"/>
                </a:lnTo>
                <a:lnTo>
                  <a:pt x="159" y="29"/>
                </a:lnTo>
                <a:lnTo>
                  <a:pt x="158" y="31"/>
                </a:lnTo>
                <a:lnTo>
                  <a:pt x="157" y="33"/>
                </a:lnTo>
                <a:lnTo>
                  <a:pt x="155" y="34"/>
                </a:lnTo>
                <a:lnTo>
                  <a:pt x="152" y="36"/>
                </a:lnTo>
                <a:lnTo>
                  <a:pt x="150" y="39"/>
                </a:lnTo>
                <a:lnTo>
                  <a:pt x="147" y="41"/>
                </a:lnTo>
                <a:lnTo>
                  <a:pt x="144" y="43"/>
                </a:lnTo>
                <a:lnTo>
                  <a:pt x="141" y="46"/>
                </a:lnTo>
                <a:lnTo>
                  <a:pt x="137" y="48"/>
                </a:lnTo>
                <a:lnTo>
                  <a:pt x="135" y="49"/>
                </a:lnTo>
                <a:lnTo>
                  <a:pt x="131" y="52"/>
                </a:lnTo>
                <a:lnTo>
                  <a:pt x="128" y="53"/>
                </a:lnTo>
                <a:lnTo>
                  <a:pt x="126" y="54"/>
                </a:lnTo>
                <a:lnTo>
                  <a:pt x="0" y="17"/>
                </a:lnTo>
                <a:close/>
              </a:path>
            </a:pathLst>
          </a:custGeom>
          <a:solidFill>
            <a:srgbClr val="99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Freeform 127"/>
          <p:cNvSpPr>
            <a:spLocks/>
          </p:cNvSpPr>
          <p:nvPr/>
        </p:nvSpPr>
        <p:spPr bwMode="auto">
          <a:xfrm>
            <a:off x="3054350" y="3008313"/>
            <a:ext cx="90487" cy="41275"/>
          </a:xfrm>
          <a:custGeom>
            <a:avLst/>
            <a:gdLst>
              <a:gd name="T0" fmla="*/ 6 w 57"/>
              <a:gd name="T1" fmla="*/ 26 h 26"/>
              <a:gd name="T2" fmla="*/ 57 w 57"/>
              <a:gd name="T3" fmla="*/ 11 h 26"/>
              <a:gd name="T4" fmla="*/ 25 w 57"/>
              <a:gd name="T5" fmla="*/ 0 h 26"/>
              <a:gd name="T6" fmla="*/ 0 w 57"/>
              <a:gd name="T7" fmla="*/ 4 h 26"/>
              <a:gd name="T8" fmla="*/ 0 w 57"/>
              <a:gd name="T9" fmla="*/ 25 h 26"/>
              <a:gd name="T10" fmla="*/ 6 w 57"/>
              <a:gd name="T11" fmla="*/ 26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" h="26">
                <a:moveTo>
                  <a:pt x="6" y="26"/>
                </a:moveTo>
                <a:lnTo>
                  <a:pt x="57" y="11"/>
                </a:lnTo>
                <a:lnTo>
                  <a:pt x="25" y="0"/>
                </a:lnTo>
                <a:lnTo>
                  <a:pt x="0" y="4"/>
                </a:lnTo>
                <a:lnTo>
                  <a:pt x="0" y="25"/>
                </a:lnTo>
                <a:lnTo>
                  <a:pt x="6" y="26"/>
                </a:lnTo>
                <a:close/>
              </a:path>
            </a:pathLst>
          </a:custGeom>
          <a:solidFill>
            <a:srgbClr val="001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Freeform 128"/>
          <p:cNvSpPr>
            <a:spLocks/>
          </p:cNvSpPr>
          <p:nvPr/>
        </p:nvSpPr>
        <p:spPr bwMode="auto">
          <a:xfrm>
            <a:off x="2814637" y="2832100"/>
            <a:ext cx="50800" cy="196850"/>
          </a:xfrm>
          <a:custGeom>
            <a:avLst/>
            <a:gdLst>
              <a:gd name="T0" fmla="*/ 32 w 32"/>
              <a:gd name="T1" fmla="*/ 4 h 124"/>
              <a:gd name="T2" fmla="*/ 32 w 32"/>
              <a:gd name="T3" fmla="*/ 3 h 124"/>
              <a:gd name="T4" fmla="*/ 31 w 32"/>
              <a:gd name="T5" fmla="*/ 3 h 124"/>
              <a:gd name="T6" fmla="*/ 31 w 32"/>
              <a:gd name="T7" fmla="*/ 3 h 124"/>
              <a:gd name="T8" fmla="*/ 29 w 32"/>
              <a:gd name="T9" fmla="*/ 3 h 124"/>
              <a:gd name="T10" fmla="*/ 27 w 32"/>
              <a:gd name="T11" fmla="*/ 2 h 124"/>
              <a:gd name="T12" fmla="*/ 26 w 32"/>
              <a:gd name="T13" fmla="*/ 2 h 124"/>
              <a:gd name="T14" fmla="*/ 24 w 32"/>
              <a:gd name="T15" fmla="*/ 0 h 124"/>
              <a:gd name="T16" fmla="*/ 22 w 32"/>
              <a:gd name="T17" fmla="*/ 0 h 124"/>
              <a:gd name="T18" fmla="*/ 20 w 32"/>
              <a:gd name="T19" fmla="*/ 0 h 124"/>
              <a:gd name="T20" fmla="*/ 18 w 32"/>
              <a:gd name="T21" fmla="*/ 0 h 124"/>
              <a:gd name="T22" fmla="*/ 14 w 32"/>
              <a:gd name="T23" fmla="*/ 0 h 124"/>
              <a:gd name="T24" fmla="*/ 12 w 32"/>
              <a:gd name="T25" fmla="*/ 2 h 124"/>
              <a:gd name="T26" fmla="*/ 10 w 32"/>
              <a:gd name="T27" fmla="*/ 2 h 124"/>
              <a:gd name="T28" fmla="*/ 6 w 32"/>
              <a:gd name="T29" fmla="*/ 3 h 124"/>
              <a:gd name="T30" fmla="*/ 4 w 32"/>
              <a:gd name="T31" fmla="*/ 4 h 124"/>
              <a:gd name="T32" fmla="*/ 0 w 32"/>
              <a:gd name="T33" fmla="*/ 6 h 124"/>
              <a:gd name="T34" fmla="*/ 0 w 32"/>
              <a:gd name="T35" fmla="*/ 124 h 124"/>
              <a:gd name="T36" fmla="*/ 1 w 32"/>
              <a:gd name="T37" fmla="*/ 124 h 124"/>
              <a:gd name="T38" fmla="*/ 1 w 32"/>
              <a:gd name="T39" fmla="*/ 124 h 124"/>
              <a:gd name="T40" fmla="*/ 3 w 32"/>
              <a:gd name="T41" fmla="*/ 124 h 124"/>
              <a:gd name="T42" fmla="*/ 4 w 32"/>
              <a:gd name="T43" fmla="*/ 124 h 124"/>
              <a:gd name="T44" fmla="*/ 5 w 32"/>
              <a:gd name="T45" fmla="*/ 123 h 124"/>
              <a:gd name="T46" fmla="*/ 7 w 32"/>
              <a:gd name="T47" fmla="*/ 123 h 124"/>
              <a:gd name="T48" fmla="*/ 8 w 32"/>
              <a:gd name="T49" fmla="*/ 123 h 124"/>
              <a:gd name="T50" fmla="*/ 11 w 32"/>
              <a:gd name="T51" fmla="*/ 122 h 124"/>
              <a:gd name="T52" fmla="*/ 13 w 32"/>
              <a:gd name="T53" fmla="*/ 122 h 124"/>
              <a:gd name="T54" fmla="*/ 15 w 32"/>
              <a:gd name="T55" fmla="*/ 121 h 124"/>
              <a:gd name="T56" fmla="*/ 18 w 32"/>
              <a:gd name="T57" fmla="*/ 120 h 124"/>
              <a:gd name="T58" fmla="*/ 21 w 32"/>
              <a:gd name="T59" fmla="*/ 118 h 124"/>
              <a:gd name="T60" fmla="*/ 24 w 32"/>
              <a:gd name="T61" fmla="*/ 117 h 124"/>
              <a:gd name="T62" fmla="*/ 26 w 32"/>
              <a:gd name="T63" fmla="*/ 116 h 124"/>
              <a:gd name="T64" fmla="*/ 29 w 32"/>
              <a:gd name="T65" fmla="*/ 114 h 124"/>
              <a:gd name="T66" fmla="*/ 32 w 32"/>
              <a:gd name="T67" fmla="*/ 113 h 124"/>
              <a:gd name="T68" fmla="*/ 32 w 32"/>
              <a:gd name="T69" fmla="*/ 4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2" h="124">
                <a:moveTo>
                  <a:pt x="32" y="4"/>
                </a:moveTo>
                <a:lnTo>
                  <a:pt x="32" y="3"/>
                </a:lnTo>
                <a:lnTo>
                  <a:pt x="31" y="3"/>
                </a:lnTo>
                <a:lnTo>
                  <a:pt x="31" y="3"/>
                </a:lnTo>
                <a:lnTo>
                  <a:pt x="29" y="3"/>
                </a:lnTo>
                <a:lnTo>
                  <a:pt x="27" y="2"/>
                </a:lnTo>
                <a:lnTo>
                  <a:pt x="26" y="2"/>
                </a:lnTo>
                <a:lnTo>
                  <a:pt x="24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4" y="0"/>
                </a:lnTo>
                <a:lnTo>
                  <a:pt x="12" y="2"/>
                </a:lnTo>
                <a:lnTo>
                  <a:pt x="10" y="2"/>
                </a:lnTo>
                <a:lnTo>
                  <a:pt x="6" y="3"/>
                </a:lnTo>
                <a:lnTo>
                  <a:pt x="4" y="4"/>
                </a:lnTo>
                <a:lnTo>
                  <a:pt x="0" y="6"/>
                </a:lnTo>
                <a:lnTo>
                  <a:pt x="0" y="124"/>
                </a:lnTo>
                <a:lnTo>
                  <a:pt x="1" y="124"/>
                </a:lnTo>
                <a:lnTo>
                  <a:pt x="1" y="124"/>
                </a:lnTo>
                <a:lnTo>
                  <a:pt x="3" y="124"/>
                </a:lnTo>
                <a:lnTo>
                  <a:pt x="4" y="124"/>
                </a:lnTo>
                <a:lnTo>
                  <a:pt x="5" y="123"/>
                </a:lnTo>
                <a:lnTo>
                  <a:pt x="7" y="123"/>
                </a:lnTo>
                <a:lnTo>
                  <a:pt x="8" y="123"/>
                </a:lnTo>
                <a:lnTo>
                  <a:pt x="11" y="122"/>
                </a:lnTo>
                <a:lnTo>
                  <a:pt x="13" y="122"/>
                </a:lnTo>
                <a:lnTo>
                  <a:pt x="15" y="121"/>
                </a:lnTo>
                <a:lnTo>
                  <a:pt x="18" y="120"/>
                </a:lnTo>
                <a:lnTo>
                  <a:pt x="21" y="118"/>
                </a:lnTo>
                <a:lnTo>
                  <a:pt x="24" y="117"/>
                </a:lnTo>
                <a:lnTo>
                  <a:pt x="26" y="116"/>
                </a:lnTo>
                <a:lnTo>
                  <a:pt x="29" y="114"/>
                </a:lnTo>
                <a:lnTo>
                  <a:pt x="32" y="113"/>
                </a:lnTo>
                <a:lnTo>
                  <a:pt x="32" y="4"/>
                </a:lnTo>
                <a:close/>
              </a:path>
            </a:pathLst>
          </a:custGeom>
          <a:solidFill>
            <a:srgbClr val="7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Freeform 129"/>
          <p:cNvSpPr>
            <a:spLocks/>
          </p:cNvSpPr>
          <p:nvPr/>
        </p:nvSpPr>
        <p:spPr bwMode="auto">
          <a:xfrm>
            <a:off x="2816225" y="2835275"/>
            <a:ext cx="42862" cy="165100"/>
          </a:xfrm>
          <a:custGeom>
            <a:avLst/>
            <a:gdLst>
              <a:gd name="T0" fmla="*/ 27 w 27"/>
              <a:gd name="T1" fmla="*/ 2 h 104"/>
              <a:gd name="T2" fmla="*/ 27 w 27"/>
              <a:gd name="T3" fmla="*/ 2 h 104"/>
              <a:gd name="T4" fmla="*/ 26 w 27"/>
              <a:gd name="T5" fmla="*/ 2 h 104"/>
              <a:gd name="T6" fmla="*/ 26 w 27"/>
              <a:gd name="T7" fmla="*/ 2 h 104"/>
              <a:gd name="T8" fmla="*/ 25 w 27"/>
              <a:gd name="T9" fmla="*/ 1 h 104"/>
              <a:gd name="T10" fmla="*/ 24 w 27"/>
              <a:gd name="T11" fmla="*/ 1 h 104"/>
              <a:gd name="T12" fmla="*/ 23 w 27"/>
              <a:gd name="T13" fmla="*/ 0 h 104"/>
              <a:gd name="T14" fmla="*/ 20 w 27"/>
              <a:gd name="T15" fmla="*/ 0 h 104"/>
              <a:gd name="T16" fmla="*/ 19 w 27"/>
              <a:gd name="T17" fmla="*/ 0 h 104"/>
              <a:gd name="T18" fmla="*/ 17 w 27"/>
              <a:gd name="T19" fmla="*/ 0 h 104"/>
              <a:gd name="T20" fmla="*/ 14 w 27"/>
              <a:gd name="T21" fmla="*/ 0 h 104"/>
              <a:gd name="T22" fmla="*/ 12 w 27"/>
              <a:gd name="T23" fmla="*/ 0 h 104"/>
              <a:gd name="T24" fmla="*/ 10 w 27"/>
              <a:gd name="T25" fmla="*/ 0 h 104"/>
              <a:gd name="T26" fmla="*/ 9 w 27"/>
              <a:gd name="T27" fmla="*/ 1 h 104"/>
              <a:gd name="T28" fmla="*/ 5 w 27"/>
              <a:gd name="T29" fmla="*/ 2 h 104"/>
              <a:gd name="T30" fmla="*/ 3 w 27"/>
              <a:gd name="T31" fmla="*/ 3 h 104"/>
              <a:gd name="T32" fmla="*/ 0 w 27"/>
              <a:gd name="T33" fmla="*/ 4 h 104"/>
              <a:gd name="T34" fmla="*/ 0 w 27"/>
              <a:gd name="T35" fmla="*/ 104 h 104"/>
              <a:gd name="T36" fmla="*/ 0 w 27"/>
              <a:gd name="T37" fmla="*/ 104 h 104"/>
              <a:gd name="T38" fmla="*/ 2 w 27"/>
              <a:gd name="T39" fmla="*/ 104 h 104"/>
              <a:gd name="T40" fmla="*/ 2 w 27"/>
              <a:gd name="T41" fmla="*/ 104 h 104"/>
              <a:gd name="T42" fmla="*/ 3 w 27"/>
              <a:gd name="T43" fmla="*/ 104 h 104"/>
              <a:gd name="T44" fmla="*/ 4 w 27"/>
              <a:gd name="T45" fmla="*/ 104 h 104"/>
              <a:gd name="T46" fmla="*/ 6 w 27"/>
              <a:gd name="T47" fmla="*/ 104 h 104"/>
              <a:gd name="T48" fmla="*/ 7 w 27"/>
              <a:gd name="T49" fmla="*/ 102 h 104"/>
              <a:gd name="T50" fmla="*/ 10 w 27"/>
              <a:gd name="T51" fmla="*/ 102 h 104"/>
              <a:gd name="T52" fmla="*/ 11 w 27"/>
              <a:gd name="T53" fmla="*/ 101 h 104"/>
              <a:gd name="T54" fmla="*/ 13 w 27"/>
              <a:gd name="T55" fmla="*/ 101 h 104"/>
              <a:gd name="T56" fmla="*/ 16 w 27"/>
              <a:gd name="T57" fmla="*/ 100 h 104"/>
              <a:gd name="T58" fmla="*/ 18 w 27"/>
              <a:gd name="T59" fmla="*/ 99 h 104"/>
              <a:gd name="T60" fmla="*/ 20 w 27"/>
              <a:gd name="T61" fmla="*/ 98 h 104"/>
              <a:gd name="T62" fmla="*/ 23 w 27"/>
              <a:gd name="T63" fmla="*/ 97 h 104"/>
              <a:gd name="T64" fmla="*/ 25 w 27"/>
              <a:gd name="T65" fmla="*/ 95 h 104"/>
              <a:gd name="T66" fmla="*/ 27 w 27"/>
              <a:gd name="T67" fmla="*/ 93 h 104"/>
              <a:gd name="T68" fmla="*/ 27 w 27"/>
              <a:gd name="T69" fmla="*/ 2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" h="104">
                <a:moveTo>
                  <a:pt x="27" y="2"/>
                </a:moveTo>
                <a:lnTo>
                  <a:pt x="27" y="2"/>
                </a:lnTo>
                <a:lnTo>
                  <a:pt x="26" y="2"/>
                </a:lnTo>
                <a:lnTo>
                  <a:pt x="26" y="2"/>
                </a:lnTo>
                <a:lnTo>
                  <a:pt x="25" y="1"/>
                </a:lnTo>
                <a:lnTo>
                  <a:pt x="24" y="1"/>
                </a:lnTo>
                <a:lnTo>
                  <a:pt x="23" y="0"/>
                </a:lnTo>
                <a:lnTo>
                  <a:pt x="20" y="0"/>
                </a:lnTo>
                <a:lnTo>
                  <a:pt x="19" y="0"/>
                </a:lnTo>
                <a:lnTo>
                  <a:pt x="17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9" y="1"/>
                </a:lnTo>
                <a:lnTo>
                  <a:pt x="5" y="2"/>
                </a:lnTo>
                <a:lnTo>
                  <a:pt x="3" y="3"/>
                </a:lnTo>
                <a:lnTo>
                  <a:pt x="0" y="4"/>
                </a:lnTo>
                <a:lnTo>
                  <a:pt x="0" y="104"/>
                </a:lnTo>
                <a:lnTo>
                  <a:pt x="0" y="104"/>
                </a:lnTo>
                <a:lnTo>
                  <a:pt x="2" y="104"/>
                </a:lnTo>
                <a:lnTo>
                  <a:pt x="2" y="104"/>
                </a:lnTo>
                <a:lnTo>
                  <a:pt x="3" y="104"/>
                </a:lnTo>
                <a:lnTo>
                  <a:pt x="4" y="104"/>
                </a:lnTo>
                <a:lnTo>
                  <a:pt x="6" y="104"/>
                </a:lnTo>
                <a:lnTo>
                  <a:pt x="7" y="102"/>
                </a:lnTo>
                <a:lnTo>
                  <a:pt x="10" y="102"/>
                </a:lnTo>
                <a:lnTo>
                  <a:pt x="11" y="101"/>
                </a:lnTo>
                <a:lnTo>
                  <a:pt x="13" y="101"/>
                </a:lnTo>
                <a:lnTo>
                  <a:pt x="16" y="100"/>
                </a:lnTo>
                <a:lnTo>
                  <a:pt x="18" y="99"/>
                </a:lnTo>
                <a:lnTo>
                  <a:pt x="20" y="98"/>
                </a:lnTo>
                <a:lnTo>
                  <a:pt x="23" y="97"/>
                </a:lnTo>
                <a:lnTo>
                  <a:pt x="25" y="95"/>
                </a:lnTo>
                <a:lnTo>
                  <a:pt x="27" y="93"/>
                </a:lnTo>
                <a:lnTo>
                  <a:pt x="27" y="2"/>
                </a:lnTo>
                <a:close/>
              </a:path>
            </a:pathLst>
          </a:custGeom>
          <a:solidFill>
            <a:srgbClr val="9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" name="Freeform 130"/>
          <p:cNvSpPr>
            <a:spLocks/>
          </p:cNvSpPr>
          <p:nvPr/>
        </p:nvSpPr>
        <p:spPr bwMode="auto">
          <a:xfrm>
            <a:off x="2819400" y="2836863"/>
            <a:ext cx="34925" cy="133350"/>
          </a:xfrm>
          <a:custGeom>
            <a:avLst/>
            <a:gdLst>
              <a:gd name="T0" fmla="*/ 22 w 22"/>
              <a:gd name="T1" fmla="*/ 2 h 84"/>
              <a:gd name="T2" fmla="*/ 22 w 22"/>
              <a:gd name="T3" fmla="*/ 2 h 84"/>
              <a:gd name="T4" fmla="*/ 21 w 22"/>
              <a:gd name="T5" fmla="*/ 1 h 84"/>
              <a:gd name="T6" fmla="*/ 21 w 22"/>
              <a:gd name="T7" fmla="*/ 1 h 84"/>
              <a:gd name="T8" fmla="*/ 19 w 22"/>
              <a:gd name="T9" fmla="*/ 1 h 84"/>
              <a:gd name="T10" fmla="*/ 18 w 22"/>
              <a:gd name="T11" fmla="*/ 1 h 84"/>
              <a:gd name="T12" fmla="*/ 17 w 22"/>
              <a:gd name="T13" fmla="*/ 0 h 84"/>
              <a:gd name="T14" fmla="*/ 16 w 22"/>
              <a:gd name="T15" fmla="*/ 0 h 84"/>
              <a:gd name="T16" fmla="*/ 15 w 22"/>
              <a:gd name="T17" fmla="*/ 0 h 84"/>
              <a:gd name="T18" fmla="*/ 14 w 22"/>
              <a:gd name="T19" fmla="*/ 0 h 84"/>
              <a:gd name="T20" fmla="*/ 11 w 22"/>
              <a:gd name="T21" fmla="*/ 0 h 84"/>
              <a:gd name="T22" fmla="*/ 9 w 22"/>
              <a:gd name="T23" fmla="*/ 0 h 84"/>
              <a:gd name="T24" fmla="*/ 8 w 22"/>
              <a:gd name="T25" fmla="*/ 0 h 84"/>
              <a:gd name="T26" fmla="*/ 5 w 22"/>
              <a:gd name="T27" fmla="*/ 1 h 84"/>
              <a:gd name="T28" fmla="*/ 3 w 22"/>
              <a:gd name="T29" fmla="*/ 1 h 84"/>
              <a:gd name="T30" fmla="*/ 2 w 22"/>
              <a:gd name="T31" fmla="*/ 2 h 84"/>
              <a:gd name="T32" fmla="*/ 0 w 22"/>
              <a:gd name="T33" fmla="*/ 3 h 84"/>
              <a:gd name="T34" fmla="*/ 0 w 22"/>
              <a:gd name="T35" fmla="*/ 84 h 84"/>
              <a:gd name="T36" fmla="*/ 0 w 22"/>
              <a:gd name="T37" fmla="*/ 84 h 84"/>
              <a:gd name="T38" fmla="*/ 0 w 22"/>
              <a:gd name="T39" fmla="*/ 84 h 84"/>
              <a:gd name="T40" fmla="*/ 1 w 22"/>
              <a:gd name="T41" fmla="*/ 84 h 84"/>
              <a:gd name="T42" fmla="*/ 2 w 22"/>
              <a:gd name="T43" fmla="*/ 84 h 84"/>
              <a:gd name="T44" fmla="*/ 3 w 22"/>
              <a:gd name="T45" fmla="*/ 84 h 84"/>
              <a:gd name="T46" fmla="*/ 4 w 22"/>
              <a:gd name="T47" fmla="*/ 84 h 84"/>
              <a:gd name="T48" fmla="*/ 5 w 22"/>
              <a:gd name="T49" fmla="*/ 84 h 84"/>
              <a:gd name="T50" fmla="*/ 7 w 22"/>
              <a:gd name="T51" fmla="*/ 83 h 84"/>
              <a:gd name="T52" fmla="*/ 9 w 22"/>
              <a:gd name="T53" fmla="*/ 83 h 84"/>
              <a:gd name="T54" fmla="*/ 10 w 22"/>
              <a:gd name="T55" fmla="*/ 82 h 84"/>
              <a:gd name="T56" fmla="*/ 12 w 22"/>
              <a:gd name="T57" fmla="*/ 82 h 84"/>
              <a:gd name="T58" fmla="*/ 14 w 22"/>
              <a:gd name="T59" fmla="*/ 80 h 84"/>
              <a:gd name="T60" fmla="*/ 16 w 22"/>
              <a:gd name="T61" fmla="*/ 79 h 84"/>
              <a:gd name="T62" fmla="*/ 18 w 22"/>
              <a:gd name="T63" fmla="*/ 78 h 84"/>
              <a:gd name="T64" fmla="*/ 19 w 22"/>
              <a:gd name="T65" fmla="*/ 77 h 84"/>
              <a:gd name="T66" fmla="*/ 22 w 22"/>
              <a:gd name="T67" fmla="*/ 76 h 84"/>
              <a:gd name="T68" fmla="*/ 22 w 22"/>
              <a:gd name="T69" fmla="*/ 2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2" h="84">
                <a:moveTo>
                  <a:pt x="22" y="2"/>
                </a:moveTo>
                <a:lnTo>
                  <a:pt x="22" y="2"/>
                </a:lnTo>
                <a:lnTo>
                  <a:pt x="21" y="1"/>
                </a:lnTo>
                <a:lnTo>
                  <a:pt x="21" y="1"/>
                </a:lnTo>
                <a:lnTo>
                  <a:pt x="19" y="1"/>
                </a:lnTo>
                <a:lnTo>
                  <a:pt x="18" y="1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lnTo>
                  <a:pt x="14" y="0"/>
                </a:lnTo>
                <a:lnTo>
                  <a:pt x="11" y="0"/>
                </a:lnTo>
                <a:lnTo>
                  <a:pt x="9" y="0"/>
                </a:lnTo>
                <a:lnTo>
                  <a:pt x="8" y="0"/>
                </a:lnTo>
                <a:lnTo>
                  <a:pt x="5" y="1"/>
                </a:lnTo>
                <a:lnTo>
                  <a:pt x="3" y="1"/>
                </a:lnTo>
                <a:lnTo>
                  <a:pt x="2" y="2"/>
                </a:lnTo>
                <a:lnTo>
                  <a:pt x="0" y="3"/>
                </a:lnTo>
                <a:lnTo>
                  <a:pt x="0" y="84"/>
                </a:lnTo>
                <a:lnTo>
                  <a:pt x="0" y="84"/>
                </a:lnTo>
                <a:lnTo>
                  <a:pt x="0" y="84"/>
                </a:lnTo>
                <a:lnTo>
                  <a:pt x="1" y="84"/>
                </a:lnTo>
                <a:lnTo>
                  <a:pt x="2" y="84"/>
                </a:lnTo>
                <a:lnTo>
                  <a:pt x="3" y="84"/>
                </a:lnTo>
                <a:lnTo>
                  <a:pt x="4" y="84"/>
                </a:lnTo>
                <a:lnTo>
                  <a:pt x="5" y="84"/>
                </a:lnTo>
                <a:lnTo>
                  <a:pt x="7" y="83"/>
                </a:lnTo>
                <a:lnTo>
                  <a:pt x="9" y="83"/>
                </a:lnTo>
                <a:lnTo>
                  <a:pt x="10" y="82"/>
                </a:lnTo>
                <a:lnTo>
                  <a:pt x="12" y="82"/>
                </a:lnTo>
                <a:lnTo>
                  <a:pt x="14" y="80"/>
                </a:lnTo>
                <a:lnTo>
                  <a:pt x="16" y="79"/>
                </a:lnTo>
                <a:lnTo>
                  <a:pt x="18" y="78"/>
                </a:lnTo>
                <a:lnTo>
                  <a:pt x="19" y="77"/>
                </a:lnTo>
                <a:lnTo>
                  <a:pt x="22" y="76"/>
                </a:lnTo>
                <a:lnTo>
                  <a:pt x="22" y="2"/>
                </a:lnTo>
                <a:close/>
              </a:path>
            </a:pathLst>
          </a:custGeom>
          <a:solidFill>
            <a:srgbClr val="A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Freeform 131"/>
          <p:cNvSpPr>
            <a:spLocks/>
          </p:cNvSpPr>
          <p:nvPr/>
        </p:nvSpPr>
        <p:spPr bwMode="auto">
          <a:xfrm>
            <a:off x="2820987" y="2838450"/>
            <a:ext cx="26988" cy="103188"/>
          </a:xfrm>
          <a:custGeom>
            <a:avLst/>
            <a:gdLst>
              <a:gd name="T0" fmla="*/ 17 w 17"/>
              <a:gd name="T1" fmla="*/ 1 h 65"/>
              <a:gd name="T2" fmla="*/ 17 w 17"/>
              <a:gd name="T3" fmla="*/ 1 h 65"/>
              <a:gd name="T4" fmla="*/ 16 w 17"/>
              <a:gd name="T5" fmla="*/ 1 h 65"/>
              <a:gd name="T6" fmla="*/ 14 w 17"/>
              <a:gd name="T7" fmla="*/ 0 h 65"/>
              <a:gd name="T8" fmla="*/ 11 w 17"/>
              <a:gd name="T9" fmla="*/ 0 h 65"/>
              <a:gd name="T10" fmla="*/ 9 w 17"/>
              <a:gd name="T11" fmla="*/ 0 h 65"/>
              <a:gd name="T12" fmla="*/ 6 w 17"/>
              <a:gd name="T13" fmla="*/ 0 h 65"/>
              <a:gd name="T14" fmla="*/ 2 w 17"/>
              <a:gd name="T15" fmla="*/ 1 h 65"/>
              <a:gd name="T16" fmla="*/ 0 w 17"/>
              <a:gd name="T17" fmla="*/ 2 h 65"/>
              <a:gd name="T18" fmla="*/ 0 w 17"/>
              <a:gd name="T19" fmla="*/ 65 h 65"/>
              <a:gd name="T20" fmla="*/ 0 w 17"/>
              <a:gd name="T21" fmla="*/ 65 h 65"/>
              <a:gd name="T22" fmla="*/ 1 w 17"/>
              <a:gd name="T23" fmla="*/ 65 h 65"/>
              <a:gd name="T24" fmla="*/ 3 w 17"/>
              <a:gd name="T25" fmla="*/ 64 h 65"/>
              <a:gd name="T26" fmla="*/ 6 w 17"/>
              <a:gd name="T27" fmla="*/ 64 h 65"/>
              <a:gd name="T28" fmla="*/ 8 w 17"/>
              <a:gd name="T29" fmla="*/ 63 h 65"/>
              <a:gd name="T30" fmla="*/ 11 w 17"/>
              <a:gd name="T31" fmla="*/ 62 h 65"/>
              <a:gd name="T32" fmla="*/ 14 w 17"/>
              <a:gd name="T33" fmla="*/ 61 h 65"/>
              <a:gd name="T34" fmla="*/ 17 w 17"/>
              <a:gd name="T35" fmla="*/ 58 h 65"/>
              <a:gd name="T36" fmla="*/ 17 w 17"/>
              <a:gd name="T37" fmla="*/ 1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7" h="65">
                <a:moveTo>
                  <a:pt x="17" y="1"/>
                </a:moveTo>
                <a:lnTo>
                  <a:pt x="17" y="1"/>
                </a:lnTo>
                <a:lnTo>
                  <a:pt x="16" y="1"/>
                </a:lnTo>
                <a:lnTo>
                  <a:pt x="14" y="0"/>
                </a:lnTo>
                <a:lnTo>
                  <a:pt x="11" y="0"/>
                </a:lnTo>
                <a:lnTo>
                  <a:pt x="9" y="0"/>
                </a:lnTo>
                <a:lnTo>
                  <a:pt x="6" y="0"/>
                </a:lnTo>
                <a:lnTo>
                  <a:pt x="2" y="1"/>
                </a:lnTo>
                <a:lnTo>
                  <a:pt x="0" y="2"/>
                </a:lnTo>
                <a:lnTo>
                  <a:pt x="0" y="65"/>
                </a:lnTo>
                <a:lnTo>
                  <a:pt x="0" y="65"/>
                </a:lnTo>
                <a:lnTo>
                  <a:pt x="1" y="65"/>
                </a:lnTo>
                <a:lnTo>
                  <a:pt x="3" y="64"/>
                </a:lnTo>
                <a:lnTo>
                  <a:pt x="6" y="64"/>
                </a:lnTo>
                <a:lnTo>
                  <a:pt x="8" y="63"/>
                </a:lnTo>
                <a:lnTo>
                  <a:pt x="11" y="62"/>
                </a:lnTo>
                <a:lnTo>
                  <a:pt x="14" y="61"/>
                </a:lnTo>
                <a:lnTo>
                  <a:pt x="17" y="58"/>
                </a:lnTo>
                <a:lnTo>
                  <a:pt x="17" y="1"/>
                </a:lnTo>
                <a:close/>
              </a:path>
            </a:pathLst>
          </a:custGeom>
          <a:solidFill>
            <a:srgbClr val="BC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Freeform 132"/>
          <p:cNvSpPr>
            <a:spLocks/>
          </p:cNvSpPr>
          <p:nvPr/>
        </p:nvSpPr>
        <p:spPr bwMode="auto">
          <a:xfrm>
            <a:off x="2820987" y="2840038"/>
            <a:ext cx="22225" cy="73025"/>
          </a:xfrm>
          <a:custGeom>
            <a:avLst/>
            <a:gdLst>
              <a:gd name="T0" fmla="*/ 14 w 14"/>
              <a:gd name="T1" fmla="*/ 1 h 46"/>
              <a:gd name="T2" fmla="*/ 14 w 14"/>
              <a:gd name="T3" fmla="*/ 0 h 46"/>
              <a:gd name="T4" fmla="*/ 13 w 14"/>
              <a:gd name="T5" fmla="*/ 0 h 46"/>
              <a:gd name="T6" fmla="*/ 11 w 14"/>
              <a:gd name="T7" fmla="*/ 0 h 46"/>
              <a:gd name="T8" fmla="*/ 9 w 14"/>
              <a:gd name="T9" fmla="*/ 0 h 46"/>
              <a:gd name="T10" fmla="*/ 8 w 14"/>
              <a:gd name="T11" fmla="*/ 0 h 46"/>
              <a:gd name="T12" fmla="*/ 6 w 14"/>
              <a:gd name="T13" fmla="*/ 0 h 46"/>
              <a:gd name="T14" fmla="*/ 2 w 14"/>
              <a:gd name="T15" fmla="*/ 0 h 46"/>
              <a:gd name="T16" fmla="*/ 0 w 14"/>
              <a:gd name="T17" fmla="*/ 2 h 46"/>
              <a:gd name="T18" fmla="*/ 0 w 14"/>
              <a:gd name="T19" fmla="*/ 46 h 46"/>
              <a:gd name="T20" fmla="*/ 1 w 14"/>
              <a:gd name="T21" fmla="*/ 46 h 46"/>
              <a:gd name="T22" fmla="*/ 1 w 14"/>
              <a:gd name="T23" fmla="*/ 46 h 46"/>
              <a:gd name="T24" fmla="*/ 3 w 14"/>
              <a:gd name="T25" fmla="*/ 46 h 46"/>
              <a:gd name="T26" fmla="*/ 4 w 14"/>
              <a:gd name="T27" fmla="*/ 44 h 46"/>
              <a:gd name="T28" fmla="*/ 7 w 14"/>
              <a:gd name="T29" fmla="*/ 44 h 46"/>
              <a:gd name="T30" fmla="*/ 9 w 14"/>
              <a:gd name="T31" fmla="*/ 43 h 46"/>
              <a:gd name="T32" fmla="*/ 11 w 14"/>
              <a:gd name="T33" fmla="*/ 42 h 46"/>
              <a:gd name="T34" fmla="*/ 14 w 14"/>
              <a:gd name="T35" fmla="*/ 41 h 46"/>
              <a:gd name="T36" fmla="*/ 14 w 14"/>
              <a:gd name="T37" fmla="*/ 1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" h="46">
                <a:moveTo>
                  <a:pt x="14" y="1"/>
                </a:moveTo>
                <a:lnTo>
                  <a:pt x="14" y="0"/>
                </a:lnTo>
                <a:lnTo>
                  <a:pt x="13" y="0"/>
                </a:lnTo>
                <a:lnTo>
                  <a:pt x="11" y="0"/>
                </a:lnTo>
                <a:lnTo>
                  <a:pt x="9" y="0"/>
                </a:lnTo>
                <a:lnTo>
                  <a:pt x="8" y="0"/>
                </a:lnTo>
                <a:lnTo>
                  <a:pt x="6" y="0"/>
                </a:lnTo>
                <a:lnTo>
                  <a:pt x="2" y="0"/>
                </a:lnTo>
                <a:lnTo>
                  <a:pt x="0" y="2"/>
                </a:lnTo>
                <a:lnTo>
                  <a:pt x="0" y="46"/>
                </a:lnTo>
                <a:lnTo>
                  <a:pt x="1" y="46"/>
                </a:lnTo>
                <a:lnTo>
                  <a:pt x="1" y="46"/>
                </a:lnTo>
                <a:lnTo>
                  <a:pt x="3" y="46"/>
                </a:lnTo>
                <a:lnTo>
                  <a:pt x="4" y="44"/>
                </a:lnTo>
                <a:lnTo>
                  <a:pt x="7" y="44"/>
                </a:lnTo>
                <a:lnTo>
                  <a:pt x="9" y="43"/>
                </a:lnTo>
                <a:lnTo>
                  <a:pt x="11" y="42"/>
                </a:lnTo>
                <a:lnTo>
                  <a:pt x="14" y="41"/>
                </a:lnTo>
                <a:lnTo>
                  <a:pt x="14" y="1"/>
                </a:lnTo>
                <a:close/>
              </a:path>
            </a:pathLst>
          </a:custGeom>
          <a:solidFill>
            <a:srgbClr val="D1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Freeform 133"/>
          <p:cNvSpPr>
            <a:spLocks/>
          </p:cNvSpPr>
          <p:nvPr/>
        </p:nvSpPr>
        <p:spPr bwMode="auto">
          <a:xfrm>
            <a:off x="2822575" y="2840038"/>
            <a:ext cx="14287" cy="42862"/>
          </a:xfrm>
          <a:custGeom>
            <a:avLst/>
            <a:gdLst>
              <a:gd name="T0" fmla="*/ 9 w 9"/>
              <a:gd name="T1" fmla="*/ 1 h 27"/>
              <a:gd name="T2" fmla="*/ 9 w 9"/>
              <a:gd name="T3" fmla="*/ 1 h 27"/>
              <a:gd name="T4" fmla="*/ 8 w 9"/>
              <a:gd name="T5" fmla="*/ 1 h 27"/>
              <a:gd name="T6" fmla="*/ 7 w 9"/>
              <a:gd name="T7" fmla="*/ 1 h 27"/>
              <a:gd name="T8" fmla="*/ 6 w 9"/>
              <a:gd name="T9" fmla="*/ 0 h 27"/>
              <a:gd name="T10" fmla="*/ 5 w 9"/>
              <a:gd name="T11" fmla="*/ 0 h 27"/>
              <a:gd name="T12" fmla="*/ 3 w 9"/>
              <a:gd name="T13" fmla="*/ 1 h 27"/>
              <a:gd name="T14" fmla="*/ 1 w 9"/>
              <a:gd name="T15" fmla="*/ 1 h 27"/>
              <a:gd name="T16" fmla="*/ 0 w 9"/>
              <a:gd name="T17" fmla="*/ 2 h 27"/>
              <a:gd name="T18" fmla="*/ 0 w 9"/>
              <a:gd name="T19" fmla="*/ 27 h 27"/>
              <a:gd name="T20" fmla="*/ 0 w 9"/>
              <a:gd name="T21" fmla="*/ 27 h 27"/>
              <a:gd name="T22" fmla="*/ 1 w 9"/>
              <a:gd name="T23" fmla="*/ 27 h 27"/>
              <a:gd name="T24" fmla="*/ 2 w 9"/>
              <a:gd name="T25" fmla="*/ 27 h 27"/>
              <a:gd name="T26" fmla="*/ 3 w 9"/>
              <a:gd name="T27" fmla="*/ 27 h 27"/>
              <a:gd name="T28" fmla="*/ 5 w 9"/>
              <a:gd name="T29" fmla="*/ 27 h 27"/>
              <a:gd name="T30" fmla="*/ 6 w 9"/>
              <a:gd name="T31" fmla="*/ 26 h 27"/>
              <a:gd name="T32" fmla="*/ 8 w 9"/>
              <a:gd name="T33" fmla="*/ 25 h 27"/>
              <a:gd name="T34" fmla="*/ 9 w 9"/>
              <a:gd name="T35" fmla="*/ 23 h 27"/>
              <a:gd name="T36" fmla="*/ 9 w 9"/>
              <a:gd name="T37" fmla="*/ 1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" h="27">
                <a:moveTo>
                  <a:pt x="9" y="1"/>
                </a:moveTo>
                <a:lnTo>
                  <a:pt x="9" y="1"/>
                </a:lnTo>
                <a:lnTo>
                  <a:pt x="8" y="1"/>
                </a:lnTo>
                <a:lnTo>
                  <a:pt x="7" y="1"/>
                </a:lnTo>
                <a:lnTo>
                  <a:pt x="6" y="0"/>
                </a:lnTo>
                <a:lnTo>
                  <a:pt x="5" y="0"/>
                </a:lnTo>
                <a:lnTo>
                  <a:pt x="3" y="1"/>
                </a:lnTo>
                <a:lnTo>
                  <a:pt x="1" y="1"/>
                </a:lnTo>
                <a:lnTo>
                  <a:pt x="0" y="2"/>
                </a:lnTo>
                <a:lnTo>
                  <a:pt x="0" y="27"/>
                </a:lnTo>
                <a:lnTo>
                  <a:pt x="0" y="27"/>
                </a:lnTo>
                <a:lnTo>
                  <a:pt x="1" y="27"/>
                </a:lnTo>
                <a:lnTo>
                  <a:pt x="2" y="27"/>
                </a:lnTo>
                <a:lnTo>
                  <a:pt x="3" y="27"/>
                </a:lnTo>
                <a:lnTo>
                  <a:pt x="5" y="27"/>
                </a:lnTo>
                <a:lnTo>
                  <a:pt x="6" y="26"/>
                </a:lnTo>
                <a:lnTo>
                  <a:pt x="8" y="25"/>
                </a:lnTo>
                <a:lnTo>
                  <a:pt x="9" y="23"/>
                </a:lnTo>
                <a:lnTo>
                  <a:pt x="9" y="1"/>
                </a:lnTo>
                <a:close/>
              </a:path>
            </a:pathLst>
          </a:custGeom>
          <a:solidFill>
            <a:srgbClr val="E5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Freeform 134"/>
          <p:cNvSpPr>
            <a:spLocks/>
          </p:cNvSpPr>
          <p:nvPr/>
        </p:nvSpPr>
        <p:spPr bwMode="auto">
          <a:xfrm>
            <a:off x="2998787" y="2962275"/>
            <a:ext cx="22225" cy="22225"/>
          </a:xfrm>
          <a:custGeom>
            <a:avLst/>
            <a:gdLst>
              <a:gd name="T0" fmla="*/ 7 w 14"/>
              <a:gd name="T1" fmla="*/ 14 h 14"/>
              <a:gd name="T2" fmla="*/ 8 w 14"/>
              <a:gd name="T3" fmla="*/ 14 h 14"/>
              <a:gd name="T4" fmla="*/ 9 w 14"/>
              <a:gd name="T5" fmla="*/ 13 h 14"/>
              <a:gd name="T6" fmla="*/ 10 w 14"/>
              <a:gd name="T7" fmla="*/ 13 h 14"/>
              <a:gd name="T8" fmla="*/ 11 w 14"/>
              <a:gd name="T9" fmla="*/ 12 h 14"/>
              <a:gd name="T10" fmla="*/ 13 w 14"/>
              <a:gd name="T11" fmla="*/ 11 h 14"/>
              <a:gd name="T12" fmla="*/ 13 w 14"/>
              <a:gd name="T13" fmla="*/ 10 h 14"/>
              <a:gd name="T14" fmla="*/ 14 w 14"/>
              <a:gd name="T15" fmla="*/ 8 h 14"/>
              <a:gd name="T16" fmla="*/ 14 w 14"/>
              <a:gd name="T17" fmla="*/ 7 h 14"/>
              <a:gd name="T18" fmla="*/ 14 w 14"/>
              <a:gd name="T19" fmla="*/ 6 h 14"/>
              <a:gd name="T20" fmla="*/ 13 w 14"/>
              <a:gd name="T21" fmla="*/ 5 h 14"/>
              <a:gd name="T22" fmla="*/ 13 w 14"/>
              <a:gd name="T23" fmla="*/ 4 h 14"/>
              <a:gd name="T24" fmla="*/ 11 w 14"/>
              <a:gd name="T25" fmla="*/ 3 h 14"/>
              <a:gd name="T26" fmla="*/ 10 w 14"/>
              <a:gd name="T27" fmla="*/ 1 h 14"/>
              <a:gd name="T28" fmla="*/ 9 w 14"/>
              <a:gd name="T29" fmla="*/ 0 h 14"/>
              <a:gd name="T30" fmla="*/ 8 w 14"/>
              <a:gd name="T31" fmla="*/ 0 h 14"/>
              <a:gd name="T32" fmla="*/ 7 w 14"/>
              <a:gd name="T33" fmla="*/ 0 h 14"/>
              <a:gd name="T34" fmla="*/ 6 w 14"/>
              <a:gd name="T35" fmla="*/ 0 h 14"/>
              <a:gd name="T36" fmla="*/ 4 w 14"/>
              <a:gd name="T37" fmla="*/ 0 h 14"/>
              <a:gd name="T38" fmla="*/ 3 w 14"/>
              <a:gd name="T39" fmla="*/ 1 h 14"/>
              <a:gd name="T40" fmla="*/ 2 w 14"/>
              <a:gd name="T41" fmla="*/ 3 h 14"/>
              <a:gd name="T42" fmla="*/ 1 w 14"/>
              <a:gd name="T43" fmla="*/ 4 h 14"/>
              <a:gd name="T44" fmla="*/ 1 w 14"/>
              <a:gd name="T45" fmla="*/ 5 h 14"/>
              <a:gd name="T46" fmla="*/ 0 w 14"/>
              <a:gd name="T47" fmla="*/ 6 h 14"/>
              <a:gd name="T48" fmla="*/ 0 w 14"/>
              <a:gd name="T49" fmla="*/ 7 h 14"/>
              <a:gd name="T50" fmla="*/ 0 w 14"/>
              <a:gd name="T51" fmla="*/ 8 h 14"/>
              <a:gd name="T52" fmla="*/ 1 w 14"/>
              <a:gd name="T53" fmla="*/ 10 h 14"/>
              <a:gd name="T54" fmla="*/ 1 w 14"/>
              <a:gd name="T55" fmla="*/ 11 h 14"/>
              <a:gd name="T56" fmla="*/ 2 w 14"/>
              <a:gd name="T57" fmla="*/ 12 h 14"/>
              <a:gd name="T58" fmla="*/ 3 w 14"/>
              <a:gd name="T59" fmla="*/ 13 h 14"/>
              <a:gd name="T60" fmla="*/ 4 w 14"/>
              <a:gd name="T61" fmla="*/ 13 h 14"/>
              <a:gd name="T62" fmla="*/ 6 w 14"/>
              <a:gd name="T63" fmla="*/ 14 h 14"/>
              <a:gd name="T64" fmla="*/ 7 w 14"/>
              <a:gd name="T65" fmla="*/ 1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4" h="14">
                <a:moveTo>
                  <a:pt x="7" y="14"/>
                </a:moveTo>
                <a:lnTo>
                  <a:pt x="8" y="14"/>
                </a:lnTo>
                <a:lnTo>
                  <a:pt x="9" y="13"/>
                </a:lnTo>
                <a:lnTo>
                  <a:pt x="10" y="13"/>
                </a:lnTo>
                <a:lnTo>
                  <a:pt x="11" y="12"/>
                </a:lnTo>
                <a:lnTo>
                  <a:pt x="13" y="11"/>
                </a:lnTo>
                <a:lnTo>
                  <a:pt x="13" y="10"/>
                </a:lnTo>
                <a:lnTo>
                  <a:pt x="14" y="8"/>
                </a:lnTo>
                <a:lnTo>
                  <a:pt x="14" y="7"/>
                </a:lnTo>
                <a:lnTo>
                  <a:pt x="14" y="6"/>
                </a:lnTo>
                <a:lnTo>
                  <a:pt x="13" y="5"/>
                </a:lnTo>
                <a:lnTo>
                  <a:pt x="13" y="4"/>
                </a:lnTo>
                <a:lnTo>
                  <a:pt x="11" y="3"/>
                </a:lnTo>
                <a:lnTo>
                  <a:pt x="10" y="1"/>
                </a:lnTo>
                <a:lnTo>
                  <a:pt x="9" y="0"/>
                </a:lnTo>
                <a:lnTo>
                  <a:pt x="8" y="0"/>
                </a:lnTo>
                <a:lnTo>
                  <a:pt x="7" y="0"/>
                </a:lnTo>
                <a:lnTo>
                  <a:pt x="6" y="0"/>
                </a:lnTo>
                <a:lnTo>
                  <a:pt x="4" y="0"/>
                </a:lnTo>
                <a:lnTo>
                  <a:pt x="3" y="1"/>
                </a:lnTo>
                <a:lnTo>
                  <a:pt x="2" y="3"/>
                </a:lnTo>
                <a:lnTo>
                  <a:pt x="1" y="4"/>
                </a:lnTo>
                <a:lnTo>
                  <a:pt x="1" y="5"/>
                </a:lnTo>
                <a:lnTo>
                  <a:pt x="0" y="6"/>
                </a:lnTo>
                <a:lnTo>
                  <a:pt x="0" y="7"/>
                </a:lnTo>
                <a:lnTo>
                  <a:pt x="0" y="8"/>
                </a:lnTo>
                <a:lnTo>
                  <a:pt x="1" y="10"/>
                </a:lnTo>
                <a:lnTo>
                  <a:pt x="1" y="11"/>
                </a:lnTo>
                <a:lnTo>
                  <a:pt x="2" y="12"/>
                </a:lnTo>
                <a:lnTo>
                  <a:pt x="3" y="13"/>
                </a:lnTo>
                <a:lnTo>
                  <a:pt x="4" y="13"/>
                </a:lnTo>
                <a:lnTo>
                  <a:pt x="6" y="14"/>
                </a:lnTo>
                <a:lnTo>
                  <a:pt x="7" y="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Freeform 135"/>
          <p:cNvSpPr>
            <a:spLocks/>
          </p:cNvSpPr>
          <p:nvPr/>
        </p:nvSpPr>
        <p:spPr bwMode="auto">
          <a:xfrm>
            <a:off x="2933700" y="2962275"/>
            <a:ext cx="11112" cy="11113"/>
          </a:xfrm>
          <a:custGeom>
            <a:avLst/>
            <a:gdLst>
              <a:gd name="T0" fmla="*/ 3 w 7"/>
              <a:gd name="T1" fmla="*/ 7 h 7"/>
              <a:gd name="T2" fmla="*/ 5 w 7"/>
              <a:gd name="T3" fmla="*/ 7 h 7"/>
              <a:gd name="T4" fmla="*/ 6 w 7"/>
              <a:gd name="T5" fmla="*/ 6 h 7"/>
              <a:gd name="T6" fmla="*/ 6 w 7"/>
              <a:gd name="T7" fmla="*/ 5 h 7"/>
              <a:gd name="T8" fmla="*/ 7 w 7"/>
              <a:gd name="T9" fmla="*/ 4 h 7"/>
              <a:gd name="T10" fmla="*/ 6 w 7"/>
              <a:gd name="T11" fmla="*/ 3 h 7"/>
              <a:gd name="T12" fmla="*/ 6 w 7"/>
              <a:gd name="T13" fmla="*/ 1 h 7"/>
              <a:gd name="T14" fmla="*/ 5 w 7"/>
              <a:gd name="T15" fmla="*/ 0 h 7"/>
              <a:gd name="T16" fmla="*/ 3 w 7"/>
              <a:gd name="T17" fmla="*/ 0 h 7"/>
              <a:gd name="T18" fmla="*/ 2 w 7"/>
              <a:gd name="T19" fmla="*/ 0 h 7"/>
              <a:gd name="T20" fmla="*/ 1 w 7"/>
              <a:gd name="T21" fmla="*/ 1 h 7"/>
              <a:gd name="T22" fmla="*/ 0 w 7"/>
              <a:gd name="T23" fmla="*/ 3 h 7"/>
              <a:gd name="T24" fmla="*/ 0 w 7"/>
              <a:gd name="T25" fmla="*/ 4 h 7"/>
              <a:gd name="T26" fmla="*/ 0 w 7"/>
              <a:gd name="T27" fmla="*/ 5 h 7"/>
              <a:gd name="T28" fmla="*/ 1 w 7"/>
              <a:gd name="T29" fmla="*/ 6 h 7"/>
              <a:gd name="T30" fmla="*/ 2 w 7"/>
              <a:gd name="T31" fmla="*/ 7 h 7"/>
              <a:gd name="T32" fmla="*/ 3 w 7"/>
              <a:gd name="T33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7" h="7">
                <a:moveTo>
                  <a:pt x="3" y="7"/>
                </a:moveTo>
                <a:lnTo>
                  <a:pt x="5" y="7"/>
                </a:lnTo>
                <a:lnTo>
                  <a:pt x="6" y="6"/>
                </a:lnTo>
                <a:lnTo>
                  <a:pt x="6" y="5"/>
                </a:lnTo>
                <a:lnTo>
                  <a:pt x="7" y="4"/>
                </a:lnTo>
                <a:lnTo>
                  <a:pt x="6" y="3"/>
                </a:lnTo>
                <a:lnTo>
                  <a:pt x="6" y="1"/>
                </a:lnTo>
                <a:lnTo>
                  <a:pt x="5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6"/>
                </a:lnTo>
                <a:lnTo>
                  <a:pt x="2" y="7"/>
                </a:lnTo>
                <a:lnTo>
                  <a:pt x="3" y="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Freeform 136"/>
          <p:cNvSpPr>
            <a:spLocks/>
          </p:cNvSpPr>
          <p:nvPr/>
        </p:nvSpPr>
        <p:spPr bwMode="auto">
          <a:xfrm>
            <a:off x="2952750" y="2962275"/>
            <a:ext cx="7937" cy="11113"/>
          </a:xfrm>
          <a:custGeom>
            <a:avLst/>
            <a:gdLst>
              <a:gd name="T0" fmla="*/ 3 w 5"/>
              <a:gd name="T1" fmla="*/ 7 h 7"/>
              <a:gd name="T2" fmla="*/ 4 w 5"/>
              <a:gd name="T3" fmla="*/ 7 h 7"/>
              <a:gd name="T4" fmla="*/ 5 w 5"/>
              <a:gd name="T5" fmla="*/ 7 h 7"/>
              <a:gd name="T6" fmla="*/ 5 w 5"/>
              <a:gd name="T7" fmla="*/ 6 h 7"/>
              <a:gd name="T8" fmla="*/ 5 w 5"/>
              <a:gd name="T9" fmla="*/ 4 h 7"/>
              <a:gd name="T10" fmla="*/ 5 w 5"/>
              <a:gd name="T11" fmla="*/ 3 h 7"/>
              <a:gd name="T12" fmla="*/ 5 w 5"/>
              <a:gd name="T13" fmla="*/ 1 h 7"/>
              <a:gd name="T14" fmla="*/ 4 w 5"/>
              <a:gd name="T15" fmla="*/ 1 h 7"/>
              <a:gd name="T16" fmla="*/ 3 w 5"/>
              <a:gd name="T17" fmla="*/ 0 h 7"/>
              <a:gd name="T18" fmla="*/ 2 w 5"/>
              <a:gd name="T19" fmla="*/ 1 h 7"/>
              <a:gd name="T20" fmla="*/ 1 w 5"/>
              <a:gd name="T21" fmla="*/ 1 h 7"/>
              <a:gd name="T22" fmla="*/ 0 w 5"/>
              <a:gd name="T23" fmla="*/ 3 h 7"/>
              <a:gd name="T24" fmla="*/ 0 w 5"/>
              <a:gd name="T25" fmla="*/ 4 h 7"/>
              <a:gd name="T26" fmla="*/ 0 w 5"/>
              <a:gd name="T27" fmla="*/ 6 h 7"/>
              <a:gd name="T28" fmla="*/ 1 w 5"/>
              <a:gd name="T29" fmla="*/ 7 h 7"/>
              <a:gd name="T30" fmla="*/ 2 w 5"/>
              <a:gd name="T31" fmla="*/ 7 h 7"/>
              <a:gd name="T32" fmla="*/ 3 w 5"/>
              <a:gd name="T33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" h="7">
                <a:moveTo>
                  <a:pt x="3" y="7"/>
                </a:moveTo>
                <a:lnTo>
                  <a:pt x="4" y="7"/>
                </a:lnTo>
                <a:lnTo>
                  <a:pt x="5" y="7"/>
                </a:lnTo>
                <a:lnTo>
                  <a:pt x="5" y="6"/>
                </a:lnTo>
                <a:lnTo>
                  <a:pt x="5" y="4"/>
                </a:lnTo>
                <a:lnTo>
                  <a:pt x="5" y="3"/>
                </a:lnTo>
                <a:lnTo>
                  <a:pt x="5" y="1"/>
                </a:lnTo>
                <a:lnTo>
                  <a:pt x="4" y="1"/>
                </a:ln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0" y="3"/>
                </a:lnTo>
                <a:lnTo>
                  <a:pt x="0" y="4"/>
                </a:lnTo>
                <a:lnTo>
                  <a:pt x="0" y="6"/>
                </a:lnTo>
                <a:lnTo>
                  <a:pt x="1" y="7"/>
                </a:lnTo>
                <a:lnTo>
                  <a:pt x="2" y="7"/>
                </a:lnTo>
                <a:lnTo>
                  <a:pt x="3" y="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Freeform 137"/>
          <p:cNvSpPr>
            <a:spLocks/>
          </p:cNvSpPr>
          <p:nvPr/>
        </p:nvSpPr>
        <p:spPr bwMode="auto">
          <a:xfrm>
            <a:off x="2879725" y="2816225"/>
            <a:ext cx="30162" cy="146050"/>
          </a:xfrm>
          <a:custGeom>
            <a:avLst/>
            <a:gdLst>
              <a:gd name="T0" fmla="*/ 6 w 19"/>
              <a:gd name="T1" fmla="*/ 1 h 92"/>
              <a:gd name="T2" fmla="*/ 6 w 19"/>
              <a:gd name="T3" fmla="*/ 3 h 92"/>
              <a:gd name="T4" fmla="*/ 4 w 19"/>
              <a:gd name="T5" fmla="*/ 8 h 92"/>
              <a:gd name="T6" fmla="*/ 2 w 19"/>
              <a:gd name="T7" fmla="*/ 16 h 92"/>
              <a:gd name="T8" fmla="*/ 1 w 19"/>
              <a:gd name="T9" fmla="*/ 28 h 92"/>
              <a:gd name="T10" fmla="*/ 0 w 19"/>
              <a:gd name="T11" fmla="*/ 41 h 92"/>
              <a:gd name="T12" fmla="*/ 0 w 19"/>
              <a:gd name="T13" fmla="*/ 57 h 92"/>
              <a:gd name="T14" fmla="*/ 1 w 19"/>
              <a:gd name="T15" fmla="*/ 73 h 92"/>
              <a:gd name="T16" fmla="*/ 5 w 19"/>
              <a:gd name="T17" fmla="*/ 92 h 92"/>
              <a:gd name="T18" fmla="*/ 19 w 19"/>
              <a:gd name="T19" fmla="*/ 92 h 92"/>
              <a:gd name="T20" fmla="*/ 18 w 19"/>
              <a:gd name="T21" fmla="*/ 89 h 92"/>
              <a:gd name="T22" fmla="*/ 16 w 19"/>
              <a:gd name="T23" fmla="*/ 82 h 92"/>
              <a:gd name="T24" fmla="*/ 15 w 19"/>
              <a:gd name="T25" fmla="*/ 70 h 92"/>
              <a:gd name="T26" fmla="*/ 14 w 19"/>
              <a:gd name="T27" fmla="*/ 57 h 92"/>
              <a:gd name="T28" fmla="*/ 13 w 19"/>
              <a:gd name="T29" fmla="*/ 42 h 92"/>
              <a:gd name="T30" fmla="*/ 13 w 19"/>
              <a:gd name="T31" fmla="*/ 27 h 92"/>
              <a:gd name="T32" fmla="*/ 15 w 19"/>
              <a:gd name="T33" fmla="*/ 13 h 92"/>
              <a:gd name="T34" fmla="*/ 19 w 19"/>
              <a:gd name="T35" fmla="*/ 1 h 92"/>
              <a:gd name="T36" fmla="*/ 19 w 19"/>
              <a:gd name="T37" fmla="*/ 1 h 92"/>
              <a:gd name="T38" fmla="*/ 19 w 19"/>
              <a:gd name="T39" fmla="*/ 0 h 92"/>
              <a:gd name="T40" fmla="*/ 19 w 19"/>
              <a:gd name="T41" fmla="*/ 0 h 92"/>
              <a:gd name="T42" fmla="*/ 18 w 19"/>
              <a:gd name="T43" fmla="*/ 0 h 92"/>
              <a:gd name="T44" fmla="*/ 16 w 19"/>
              <a:gd name="T45" fmla="*/ 0 h 92"/>
              <a:gd name="T46" fmla="*/ 14 w 19"/>
              <a:gd name="T47" fmla="*/ 0 h 92"/>
              <a:gd name="T48" fmla="*/ 11 w 19"/>
              <a:gd name="T49" fmla="*/ 0 h 92"/>
              <a:gd name="T50" fmla="*/ 6 w 19"/>
              <a:gd name="T51" fmla="*/ 1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9" h="92">
                <a:moveTo>
                  <a:pt x="6" y="1"/>
                </a:moveTo>
                <a:lnTo>
                  <a:pt x="6" y="3"/>
                </a:lnTo>
                <a:lnTo>
                  <a:pt x="4" y="8"/>
                </a:lnTo>
                <a:lnTo>
                  <a:pt x="2" y="16"/>
                </a:lnTo>
                <a:lnTo>
                  <a:pt x="1" y="28"/>
                </a:lnTo>
                <a:lnTo>
                  <a:pt x="0" y="41"/>
                </a:lnTo>
                <a:lnTo>
                  <a:pt x="0" y="57"/>
                </a:lnTo>
                <a:lnTo>
                  <a:pt x="1" y="73"/>
                </a:lnTo>
                <a:lnTo>
                  <a:pt x="5" y="92"/>
                </a:lnTo>
                <a:lnTo>
                  <a:pt x="19" y="92"/>
                </a:lnTo>
                <a:lnTo>
                  <a:pt x="18" y="89"/>
                </a:lnTo>
                <a:lnTo>
                  <a:pt x="16" y="82"/>
                </a:lnTo>
                <a:lnTo>
                  <a:pt x="15" y="70"/>
                </a:lnTo>
                <a:lnTo>
                  <a:pt x="14" y="57"/>
                </a:lnTo>
                <a:lnTo>
                  <a:pt x="13" y="42"/>
                </a:lnTo>
                <a:lnTo>
                  <a:pt x="13" y="27"/>
                </a:lnTo>
                <a:lnTo>
                  <a:pt x="15" y="13"/>
                </a:lnTo>
                <a:lnTo>
                  <a:pt x="19" y="1"/>
                </a:lnTo>
                <a:lnTo>
                  <a:pt x="19" y="1"/>
                </a:lnTo>
                <a:lnTo>
                  <a:pt x="19" y="0"/>
                </a:lnTo>
                <a:lnTo>
                  <a:pt x="19" y="0"/>
                </a:lnTo>
                <a:lnTo>
                  <a:pt x="18" y="0"/>
                </a:lnTo>
                <a:lnTo>
                  <a:pt x="16" y="0"/>
                </a:lnTo>
                <a:lnTo>
                  <a:pt x="14" y="0"/>
                </a:lnTo>
                <a:lnTo>
                  <a:pt x="11" y="0"/>
                </a:lnTo>
                <a:lnTo>
                  <a:pt x="6" y="1"/>
                </a:lnTo>
                <a:close/>
              </a:path>
            </a:pathLst>
          </a:custGeom>
          <a:solidFill>
            <a:srgbClr val="3F9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" name="Freeform 138"/>
          <p:cNvSpPr>
            <a:spLocks/>
          </p:cNvSpPr>
          <p:nvPr/>
        </p:nvSpPr>
        <p:spPr bwMode="auto">
          <a:xfrm>
            <a:off x="3035300" y="2797175"/>
            <a:ext cx="42862" cy="165100"/>
          </a:xfrm>
          <a:custGeom>
            <a:avLst/>
            <a:gdLst>
              <a:gd name="T0" fmla="*/ 27 w 27"/>
              <a:gd name="T1" fmla="*/ 0 h 104"/>
              <a:gd name="T2" fmla="*/ 26 w 27"/>
              <a:gd name="T3" fmla="*/ 1 h 104"/>
              <a:gd name="T4" fmla="*/ 25 w 27"/>
              <a:gd name="T5" fmla="*/ 4 h 104"/>
              <a:gd name="T6" fmla="*/ 22 w 27"/>
              <a:gd name="T7" fmla="*/ 10 h 104"/>
              <a:gd name="T8" fmla="*/ 20 w 27"/>
              <a:gd name="T9" fmla="*/ 19 h 104"/>
              <a:gd name="T10" fmla="*/ 18 w 27"/>
              <a:gd name="T11" fmla="*/ 32 h 104"/>
              <a:gd name="T12" fmla="*/ 16 w 27"/>
              <a:gd name="T13" fmla="*/ 49 h 104"/>
              <a:gd name="T14" fmla="*/ 18 w 27"/>
              <a:gd name="T15" fmla="*/ 74 h 104"/>
              <a:gd name="T16" fmla="*/ 20 w 27"/>
              <a:gd name="T17" fmla="*/ 104 h 104"/>
              <a:gd name="T18" fmla="*/ 5 w 27"/>
              <a:gd name="T19" fmla="*/ 104 h 104"/>
              <a:gd name="T20" fmla="*/ 5 w 27"/>
              <a:gd name="T21" fmla="*/ 101 h 104"/>
              <a:gd name="T22" fmla="*/ 4 w 27"/>
              <a:gd name="T23" fmla="*/ 92 h 104"/>
              <a:gd name="T24" fmla="*/ 2 w 27"/>
              <a:gd name="T25" fmla="*/ 80 h 104"/>
              <a:gd name="T26" fmla="*/ 1 w 27"/>
              <a:gd name="T27" fmla="*/ 64 h 104"/>
              <a:gd name="T28" fmla="*/ 0 w 27"/>
              <a:gd name="T29" fmla="*/ 47 h 104"/>
              <a:gd name="T30" fmla="*/ 1 w 27"/>
              <a:gd name="T31" fmla="*/ 31 h 104"/>
              <a:gd name="T32" fmla="*/ 4 w 27"/>
              <a:gd name="T33" fmla="*/ 14 h 104"/>
              <a:gd name="T34" fmla="*/ 9 w 27"/>
              <a:gd name="T35" fmla="*/ 0 h 104"/>
              <a:gd name="T36" fmla="*/ 27 w 27"/>
              <a:gd name="T37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" h="104">
                <a:moveTo>
                  <a:pt x="27" y="0"/>
                </a:moveTo>
                <a:lnTo>
                  <a:pt x="26" y="1"/>
                </a:lnTo>
                <a:lnTo>
                  <a:pt x="25" y="4"/>
                </a:lnTo>
                <a:lnTo>
                  <a:pt x="22" y="10"/>
                </a:lnTo>
                <a:lnTo>
                  <a:pt x="20" y="19"/>
                </a:lnTo>
                <a:lnTo>
                  <a:pt x="18" y="32"/>
                </a:lnTo>
                <a:lnTo>
                  <a:pt x="16" y="49"/>
                </a:lnTo>
                <a:lnTo>
                  <a:pt x="18" y="74"/>
                </a:lnTo>
                <a:lnTo>
                  <a:pt x="20" y="104"/>
                </a:lnTo>
                <a:lnTo>
                  <a:pt x="5" y="104"/>
                </a:lnTo>
                <a:lnTo>
                  <a:pt x="5" y="101"/>
                </a:lnTo>
                <a:lnTo>
                  <a:pt x="4" y="92"/>
                </a:lnTo>
                <a:lnTo>
                  <a:pt x="2" y="80"/>
                </a:lnTo>
                <a:lnTo>
                  <a:pt x="1" y="64"/>
                </a:lnTo>
                <a:lnTo>
                  <a:pt x="0" y="47"/>
                </a:lnTo>
                <a:lnTo>
                  <a:pt x="1" y="31"/>
                </a:lnTo>
                <a:lnTo>
                  <a:pt x="4" y="14"/>
                </a:lnTo>
                <a:lnTo>
                  <a:pt x="9" y="0"/>
                </a:lnTo>
                <a:lnTo>
                  <a:pt x="27" y="0"/>
                </a:lnTo>
                <a:close/>
              </a:path>
            </a:pathLst>
          </a:custGeom>
          <a:solidFill>
            <a:srgbClr val="3F9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" name="Freeform 139"/>
          <p:cNvSpPr>
            <a:spLocks/>
          </p:cNvSpPr>
          <p:nvPr/>
        </p:nvSpPr>
        <p:spPr bwMode="auto">
          <a:xfrm>
            <a:off x="2879725" y="2824163"/>
            <a:ext cx="28575" cy="128587"/>
          </a:xfrm>
          <a:custGeom>
            <a:avLst/>
            <a:gdLst>
              <a:gd name="T0" fmla="*/ 6 w 18"/>
              <a:gd name="T1" fmla="*/ 2 h 81"/>
              <a:gd name="T2" fmla="*/ 6 w 18"/>
              <a:gd name="T3" fmla="*/ 3 h 81"/>
              <a:gd name="T4" fmla="*/ 5 w 18"/>
              <a:gd name="T5" fmla="*/ 8 h 81"/>
              <a:gd name="T6" fmla="*/ 2 w 18"/>
              <a:gd name="T7" fmla="*/ 15 h 81"/>
              <a:gd name="T8" fmla="*/ 1 w 18"/>
              <a:gd name="T9" fmla="*/ 25 h 81"/>
              <a:gd name="T10" fmla="*/ 0 w 18"/>
              <a:gd name="T11" fmla="*/ 37 h 81"/>
              <a:gd name="T12" fmla="*/ 1 w 18"/>
              <a:gd name="T13" fmla="*/ 50 h 81"/>
              <a:gd name="T14" fmla="*/ 2 w 18"/>
              <a:gd name="T15" fmla="*/ 65 h 81"/>
              <a:gd name="T16" fmla="*/ 5 w 18"/>
              <a:gd name="T17" fmla="*/ 81 h 81"/>
              <a:gd name="T18" fmla="*/ 16 w 18"/>
              <a:gd name="T19" fmla="*/ 80 h 81"/>
              <a:gd name="T20" fmla="*/ 16 w 18"/>
              <a:gd name="T21" fmla="*/ 78 h 81"/>
              <a:gd name="T22" fmla="*/ 15 w 18"/>
              <a:gd name="T23" fmla="*/ 72 h 81"/>
              <a:gd name="T24" fmla="*/ 14 w 18"/>
              <a:gd name="T25" fmla="*/ 61 h 81"/>
              <a:gd name="T26" fmla="*/ 13 w 18"/>
              <a:gd name="T27" fmla="*/ 50 h 81"/>
              <a:gd name="T28" fmla="*/ 12 w 18"/>
              <a:gd name="T29" fmla="*/ 37 h 81"/>
              <a:gd name="T30" fmla="*/ 12 w 18"/>
              <a:gd name="T31" fmla="*/ 24 h 81"/>
              <a:gd name="T32" fmla="*/ 14 w 18"/>
              <a:gd name="T33" fmla="*/ 11 h 81"/>
              <a:gd name="T34" fmla="*/ 18 w 18"/>
              <a:gd name="T35" fmla="*/ 1 h 81"/>
              <a:gd name="T36" fmla="*/ 18 w 18"/>
              <a:gd name="T37" fmla="*/ 1 h 81"/>
              <a:gd name="T38" fmla="*/ 18 w 18"/>
              <a:gd name="T39" fmla="*/ 1 h 81"/>
              <a:gd name="T40" fmla="*/ 18 w 18"/>
              <a:gd name="T41" fmla="*/ 1 h 81"/>
              <a:gd name="T42" fmla="*/ 16 w 18"/>
              <a:gd name="T43" fmla="*/ 0 h 81"/>
              <a:gd name="T44" fmla="*/ 15 w 18"/>
              <a:gd name="T45" fmla="*/ 0 h 81"/>
              <a:gd name="T46" fmla="*/ 13 w 18"/>
              <a:gd name="T47" fmla="*/ 1 h 81"/>
              <a:gd name="T48" fmla="*/ 9 w 18"/>
              <a:gd name="T49" fmla="*/ 1 h 81"/>
              <a:gd name="T50" fmla="*/ 6 w 18"/>
              <a:gd name="T51" fmla="*/ 2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8" h="81">
                <a:moveTo>
                  <a:pt x="6" y="2"/>
                </a:moveTo>
                <a:lnTo>
                  <a:pt x="6" y="3"/>
                </a:lnTo>
                <a:lnTo>
                  <a:pt x="5" y="8"/>
                </a:lnTo>
                <a:lnTo>
                  <a:pt x="2" y="15"/>
                </a:lnTo>
                <a:lnTo>
                  <a:pt x="1" y="25"/>
                </a:lnTo>
                <a:lnTo>
                  <a:pt x="0" y="37"/>
                </a:lnTo>
                <a:lnTo>
                  <a:pt x="1" y="50"/>
                </a:lnTo>
                <a:lnTo>
                  <a:pt x="2" y="65"/>
                </a:lnTo>
                <a:lnTo>
                  <a:pt x="5" y="81"/>
                </a:lnTo>
                <a:lnTo>
                  <a:pt x="16" y="80"/>
                </a:lnTo>
                <a:lnTo>
                  <a:pt x="16" y="78"/>
                </a:lnTo>
                <a:lnTo>
                  <a:pt x="15" y="72"/>
                </a:lnTo>
                <a:lnTo>
                  <a:pt x="14" y="61"/>
                </a:lnTo>
                <a:lnTo>
                  <a:pt x="13" y="50"/>
                </a:lnTo>
                <a:lnTo>
                  <a:pt x="12" y="37"/>
                </a:lnTo>
                <a:lnTo>
                  <a:pt x="12" y="24"/>
                </a:lnTo>
                <a:lnTo>
                  <a:pt x="14" y="11"/>
                </a:lnTo>
                <a:lnTo>
                  <a:pt x="18" y="1"/>
                </a:lnTo>
                <a:lnTo>
                  <a:pt x="18" y="1"/>
                </a:lnTo>
                <a:lnTo>
                  <a:pt x="18" y="1"/>
                </a:lnTo>
                <a:lnTo>
                  <a:pt x="18" y="1"/>
                </a:lnTo>
                <a:lnTo>
                  <a:pt x="16" y="0"/>
                </a:lnTo>
                <a:lnTo>
                  <a:pt x="15" y="0"/>
                </a:lnTo>
                <a:lnTo>
                  <a:pt x="13" y="1"/>
                </a:lnTo>
                <a:lnTo>
                  <a:pt x="9" y="1"/>
                </a:lnTo>
                <a:lnTo>
                  <a:pt x="6" y="2"/>
                </a:lnTo>
                <a:close/>
              </a:path>
            </a:pathLst>
          </a:custGeom>
          <a:solidFill>
            <a:srgbClr val="59B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" name="Freeform 140"/>
          <p:cNvSpPr>
            <a:spLocks/>
          </p:cNvSpPr>
          <p:nvPr/>
        </p:nvSpPr>
        <p:spPr bwMode="auto">
          <a:xfrm>
            <a:off x="2881312" y="2832100"/>
            <a:ext cx="22225" cy="109538"/>
          </a:xfrm>
          <a:custGeom>
            <a:avLst/>
            <a:gdLst>
              <a:gd name="T0" fmla="*/ 5 w 14"/>
              <a:gd name="T1" fmla="*/ 2 h 69"/>
              <a:gd name="T2" fmla="*/ 5 w 14"/>
              <a:gd name="T3" fmla="*/ 3 h 69"/>
              <a:gd name="T4" fmla="*/ 4 w 14"/>
              <a:gd name="T5" fmla="*/ 7 h 69"/>
              <a:gd name="T6" fmla="*/ 3 w 14"/>
              <a:gd name="T7" fmla="*/ 13 h 69"/>
              <a:gd name="T8" fmla="*/ 1 w 14"/>
              <a:gd name="T9" fmla="*/ 21 h 69"/>
              <a:gd name="T10" fmla="*/ 0 w 14"/>
              <a:gd name="T11" fmla="*/ 32 h 69"/>
              <a:gd name="T12" fmla="*/ 0 w 14"/>
              <a:gd name="T13" fmla="*/ 44 h 69"/>
              <a:gd name="T14" fmla="*/ 1 w 14"/>
              <a:gd name="T15" fmla="*/ 56 h 69"/>
              <a:gd name="T16" fmla="*/ 4 w 14"/>
              <a:gd name="T17" fmla="*/ 69 h 69"/>
              <a:gd name="T18" fmla="*/ 14 w 14"/>
              <a:gd name="T19" fmla="*/ 69 h 69"/>
              <a:gd name="T20" fmla="*/ 13 w 14"/>
              <a:gd name="T21" fmla="*/ 67 h 69"/>
              <a:gd name="T22" fmla="*/ 13 w 14"/>
              <a:gd name="T23" fmla="*/ 61 h 69"/>
              <a:gd name="T24" fmla="*/ 12 w 14"/>
              <a:gd name="T25" fmla="*/ 53 h 69"/>
              <a:gd name="T26" fmla="*/ 11 w 14"/>
              <a:gd name="T27" fmla="*/ 44 h 69"/>
              <a:gd name="T28" fmla="*/ 10 w 14"/>
              <a:gd name="T29" fmla="*/ 32 h 69"/>
              <a:gd name="T30" fmla="*/ 10 w 14"/>
              <a:gd name="T31" fmla="*/ 20 h 69"/>
              <a:gd name="T32" fmla="*/ 12 w 14"/>
              <a:gd name="T33" fmla="*/ 10 h 69"/>
              <a:gd name="T34" fmla="*/ 14 w 14"/>
              <a:gd name="T35" fmla="*/ 2 h 69"/>
              <a:gd name="T36" fmla="*/ 14 w 14"/>
              <a:gd name="T37" fmla="*/ 2 h 69"/>
              <a:gd name="T38" fmla="*/ 14 w 14"/>
              <a:gd name="T39" fmla="*/ 2 h 69"/>
              <a:gd name="T40" fmla="*/ 14 w 14"/>
              <a:gd name="T41" fmla="*/ 0 h 69"/>
              <a:gd name="T42" fmla="*/ 14 w 14"/>
              <a:gd name="T43" fmla="*/ 0 h 69"/>
              <a:gd name="T44" fmla="*/ 13 w 14"/>
              <a:gd name="T45" fmla="*/ 0 h 69"/>
              <a:gd name="T46" fmla="*/ 11 w 14"/>
              <a:gd name="T47" fmla="*/ 0 h 69"/>
              <a:gd name="T48" fmla="*/ 8 w 14"/>
              <a:gd name="T49" fmla="*/ 2 h 69"/>
              <a:gd name="T50" fmla="*/ 5 w 14"/>
              <a:gd name="T51" fmla="*/ 2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" h="69">
                <a:moveTo>
                  <a:pt x="5" y="2"/>
                </a:moveTo>
                <a:lnTo>
                  <a:pt x="5" y="3"/>
                </a:lnTo>
                <a:lnTo>
                  <a:pt x="4" y="7"/>
                </a:lnTo>
                <a:lnTo>
                  <a:pt x="3" y="13"/>
                </a:lnTo>
                <a:lnTo>
                  <a:pt x="1" y="21"/>
                </a:lnTo>
                <a:lnTo>
                  <a:pt x="0" y="32"/>
                </a:lnTo>
                <a:lnTo>
                  <a:pt x="0" y="44"/>
                </a:lnTo>
                <a:lnTo>
                  <a:pt x="1" y="56"/>
                </a:lnTo>
                <a:lnTo>
                  <a:pt x="4" y="69"/>
                </a:lnTo>
                <a:lnTo>
                  <a:pt x="14" y="69"/>
                </a:lnTo>
                <a:lnTo>
                  <a:pt x="13" y="67"/>
                </a:lnTo>
                <a:lnTo>
                  <a:pt x="13" y="61"/>
                </a:lnTo>
                <a:lnTo>
                  <a:pt x="12" y="53"/>
                </a:lnTo>
                <a:lnTo>
                  <a:pt x="11" y="44"/>
                </a:lnTo>
                <a:lnTo>
                  <a:pt x="10" y="32"/>
                </a:lnTo>
                <a:lnTo>
                  <a:pt x="10" y="20"/>
                </a:lnTo>
                <a:lnTo>
                  <a:pt x="12" y="10"/>
                </a:lnTo>
                <a:lnTo>
                  <a:pt x="14" y="2"/>
                </a:lnTo>
                <a:lnTo>
                  <a:pt x="14" y="2"/>
                </a:lnTo>
                <a:lnTo>
                  <a:pt x="14" y="2"/>
                </a:lnTo>
                <a:lnTo>
                  <a:pt x="14" y="0"/>
                </a:lnTo>
                <a:lnTo>
                  <a:pt x="14" y="0"/>
                </a:lnTo>
                <a:lnTo>
                  <a:pt x="13" y="0"/>
                </a:lnTo>
                <a:lnTo>
                  <a:pt x="11" y="0"/>
                </a:lnTo>
                <a:lnTo>
                  <a:pt x="8" y="2"/>
                </a:lnTo>
                <a:lnTo>
                  <a:pt x="5" y="2"/>
                </a:lnTo>
                <a:close/>
              </a:path>
            </a:pathLst>
          </a:custGeom>
          <a:solidFill>
            <a:srgbClr val="72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Freeform 141"/>
          <p:cNvSpPr>
            <a:spLocks/>
          </p:cNvSpPr>
          <p:nvPr/>
        </p:nvSpPr>
        <p:spPr bwMode="auto">
          <a:xfrm>
            <a:off x="2882900" y="2841625"/>
            <a:ext cx="19050" cy="90488"/>
          </a:xfrm>
          <a:custGeom>
            <a:avLst/>
            <a:gdLst>
              <a:gd name="T0" fmla="*/ 4 w 12"/>
              <a:gd name="T1" fmla="*/ 1 h 57"/>
              <a:gd name="T2" fmla="*/ 3 w 12"/>
              <a:gd name="T3" fmla="*/ 3 h 57"/>
              <a:gd name="T4" fmla="*/ 3 w 12"/>
              <a:gd name="T5" fmla="*/ 5 h 57"/>
              <a:gd name="T6" fmla="*/ 2 w 12"/>
              <a:gd name="T7" fmla="*/ 11 h 57"/>
              <a:gd name="T8" fmla="*/ 0 w 12"/>
              <a:gd name="T9" fmla="*/ 18 h 57"/>
              <a:gd name="T10" fmla="*/ 0 w 12"/>
              <a:gd name="T11" fmla="*/ 26 h 57"/>
              <a:gd name="T12" fmla="*/ 0 w 12"/>
              <a:gd name="T13" fmla="*/ 35 h 57"/>
              <a:gd name="T14" fmla="*/ 2 w 12"/>
              <a:gd name="T15" fmla="*/ 46 h 57"/>
              <a:gd name="T16" fmla="*/ 3 w 12"/>
              <a:gd name="T17" fmla="*/ 57 h 57"/>
              <a:gd name="T18" fmla="*/ 11 w 12"/>
              <a:gd name="T19" fmla="*/ 56 h 57"/>
              <a:gd name="T20" fmla="*/ 11 w 12"/>
              <a:gd name="T21" fmla="*/ 55 h 57"/>
              <a:gd name="T22" fmla="*/ 10 w 12"/>
              <a:gd name="T23" fmla="*/ 50 h 57"/>
              <a:gd name="T24" fmla="*/ 10 w 12"/>
              <a:gd name="T25" fmla="*/ 43 h 57"/>
              <a:gd name="T26" fmla="*/ 9 w 12"/>
              <a:gd name="T27" fmla="*/ 35 h 57"/>
              <a:gd name="T28" fmla="*/ 7 w 12"/>
              <a:gd name="T29" fmla="*/ 26 h 57"/>
              <a:gd name="T30" fmla="*/ 9 w 12"/>
              <a:gd name="T31" fmla="*/ 17 h 57"/>
              <a:gd name="T32" fmla="*/ 10 w 12"/>
              <a:gd name="T33" fmla="*/ 8 h 57"/>
              <a:gd name="T34" fmla="*/ 12 w 12"/>
              <a:gd name="T35" fmla="*/ 0 h 57"/>
              <a:gd name="T36" fmla="*/ 12 w 12"/>
              <a:gd name="T37" fmla="*/ 0 h 57"/>
              <a:gd name="T38" fmla="*/ 12 w 12"/>
              <a:gd name="T39" fmla="*/ 0 h 57"/>
              <a:gd name="T40" fmla="*/ 12 w 12"/>
              <a:gd name="T41" fmla="*/ 0 h 57"/>
              <a:gd name="T42" fmla="*/ 11 w 12"/>
              <a:gd name="T43" fmla="*/ 0 h 57"/>
              <a:gd name="T44" fmla="*/ 10 w 12"/>
              <a:gd name="T45" fmla="*/ 0 h 57"/>
              <a:gd name="T46" fmla="*/ 9 w 12"/>
              <a:gd name="T47" fmla="*/ 0 h 57"/>
              <a:gd name="T48" fmla="*/ 6 w 12"/>
              <a:gd name="T49" fmla="*/ 0 h 57"/>
              <a:gd name="T50" fmla="*/ 4 w 12"/>
              <a:gd name="T51" fmla="*/ 1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" h="57">
                <a:moveTo>
                  <a:pt x="4" y="1"/>
                </a:moveTo>
                <a:lnTo>
                  <a:pt x="3" y="3"/>
                </a:lnTo>
                <a:lnTo>
                  <a:pt x="3" y="5"/>
                </a:lnTo>
                <a:lnTo>
                  <a:pt x="2" y="11"/>
                </a:lnTo>
                <a:lnTo>
                  <a:pt x="0" y="18"/>
                </a:lnTo>
                <a:lnTo>
                  <a:pt x="0" y="26"/>
                </a:lnTo>
                <a:lnTo>
                  <a:pt x="0" y="35"/>
                </a:lnTo>
                <a:lnTo>
                  <a:pt x="2" y="46"/>
                </a:lnTo>
                <a:lnTo>
                  <a:pt x="3" y="57"/>
                </a:lnTo>
                <a:lnTo>
                  <a:pt x="11" y="56"/>
                </a:lnTo>
                <a:lnTo>
                  <a:pt x="11" y="55"/>
                </a:lnTo>
                <a:lnTo>
                  <a:pt x="10" y="50"/>
                </a:lnTo>
                <a:lnTo>
                  <a:pt x="10" y="43"/>
                </a:lnTo>
                <a:lnTo>
                  <a:pt x="9" y="35"/>
                </a:lnTo>
                <a:lnTo>
                  <a:pt x="7" y="26"/>
                </a:lnTo>
                <a:lnTo>
                  <a:pt x="9" y="17"/>
                </a:lnTo>
                <a:lnTo>
                  <a:pt x="10" y="8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1" y="0"/>
                </a:lnTo>
                <a:lnTo>
                  <a:pt x="10" y="0"/>
                </a:lnTo>
                <a:lnTo>
                  <a:pt x="9" y="0"/>
                </a:lnTo>
                <a:lnTo>
                  <a:pt x="6" y="0"/>
                </a:lnTo>
                <a:lnTo>
                  <a:pt x="4" y="1"/>
                </a:lnTo>
                <a:close/>
              </a:path>
            </a:pathLst>
          </a:custGeom>
          <a:solidFill>
            <a:srgbClr val="8CD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Freeform 142"/>
          <p:cNvSpPr>
            <a:spLocks/>
          </p:cNvSpPr>
          <p:nvPr/>
        </p:nvSpPr>
        <p:spPr bwMode="auto">
          <a:xfrm>
            <a:off x="2882900" y="2849563"/>
            <a:ext cx="15875" cy="71437"/>
          </a:xfrm>
          <a:custGeom>
            <a:avLst/>
            <a:gdLst>
              <a:gd name="T0" fmla="*/ 4 w 10"/>
              <a:gd name="T1" fmla="*/ 1 h 45"/>
              <a:gd name="T2" fmla="*/ 3 w 10"/>
              <a:gd name="T3" fmla="*/ 2 h 45"/>
              <a:gd name="T4" fmla="*/ 3 w 10"/>
              <a:gd name="T5" fmla="*/ 5 h 45"/>
              <a:gd name="T6" fmla="*/ 2 w 10"/>
              <a:gd name="T7" fmla="*/ 9 h 45"/>
              <a:gd name="T8" fmla="*/ 2 w 10"/>
              <a:gd name="T9" fmla="*/ 14 h 45"/>
              <a:gd name="T10" fmla="*/ 0 w 10"/>
              <a:gd name="T11" fmla="*/ 21 h 45"/>
              <a:gd name="T12" fmla="*/ 0 w 10"/>
              <a:gd name="T13" fmla="*/ 28 h 45"/>
              <a:gd name="T14" fmla="*/ 2 w 10"/>
              <a:gd name="T15" fmla="*/ 37 h 45"/>
              <a:gd name="T16" fmla="*/ 3 w 10"/>
              <a:gd name="T17" fmla="*/ 45 h 45"/>
              <a:gd name="T18" fmla="*/ 10 w 10"/>
              <a:gd name="T19" fmla="*/ 45 h 45"/>
              <a:gd name="T20" fmla="*/ 10 w 10"/>
              <a:gd name="T21" fmla="*/ 44 h 45"/>
              <a:gd name="T22" fmla="*/ 9 w 10"/>
              <a:gd name="T23" fmla="*/ 41 h 45"/>
              <a:gd name="T24" fmla="*/ 7 w 10"/>
              <a:gd name="T25" fmla="*/ 35 h 45"/>
              <a:gd name="T26" fmla="*/ 7 w 10"/>
              <a:gd name="T27" fmla="*/ 28 h 45"/>
              <a:gd name="T28" fmla="*/ 6 w 10"/>
              <a:gd name="T29" fmla="*/ 21 h 45"/>
              <a:gd name="T30" fmla="*/ 7 w 10"/>
              <a:gd name="T31" fmla="*/ 14 h 45"/>
              <a:gd name="T32" fmla="*/ 7 w 10"/>
              <a:gd name="T33" fmla="*/ 7 h 45"/>
              <a:gd name="T34" fmla="*/ 10 w 10"/>
              <a:gd name="T35" fmla="*/ 1 h 45"/>
              <a:gd name="T36" fmla="*/ 10 w 10"/>
              <a:gd name="T37" fmla="*/ 1 h 45"/>
              <a:gd name="T38" fmla="*/ 10 w 10"/>
              <a:gd name="T39" fmla="*/ 1 h 45"/>
              <a:gd name="T40" fmla="*/ 10 w 10"/>
              <a:gd name="T41" fmla="*/ 1 h 45"/>
              <a:gd name="T42" fmla="*/ 10 w 10"/>
              <a:gd name="T43" fmla="*/ 0 h 45"/>
              <a:gd name="T44" fmla="*/ 9 w 10"/>
              <a:gd name="T45" fmla="*/ 0 h 45"/>
              <a:gd name="T46" fmla="*/ 7 w 10"/>
              <a:gd name="T47" fmla="*/ 1 h 45"/>
              <a:gd name="T48" fmla="*/ 6 w 10"/>
              <a:gd name="T49" fmla="*/ 1 h 45"/>
              <a:gd name="T50" fmla="*/ 4 w 10"/>
              <a:gd name="T51" fmla="*/ 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0" h="45">
                <a:moveTo>
                  <a:pt x="4" y="1"/>
                </a:moveTo>
                <a:lnTo>
                  <a:pt x="3" y="2"/>
                </a:lnTo>
                <a:lnTo>
                  <a:pt x="3" y="5"/>
                </a:lnTo>
                <a:lnTo>
                  <a:pt x="2" y="9"/>
                </a:lnTo>
                <a:lnTo>
                  <a:pt x="2" y="14"/>
                </a:lnTo>
                <a:lnTo>
                  <a:pt x="0" y="21"/>
                </a:lnTo>
                <a:lnTo>
                  <a:pt x="0" y="28"/>
                </a:lnTo>
                <a:lnTo>
                  <a:pt x="2" y="37"/>
                </a:lnTo>
                <a:lnTo>
                  <a:pt x="3" y="45"/>
                </a:lnTo>
                <a:lnTo>
                  <a:pt x="10" y="45"/>
                </a:lnTo>
                <a:lnTo>
                  <a:pt x="10" y="44"/>
                </a:lnTo>
                <a:lnTo>
                  <a:pt x="9" y="41"/>
                </a:lnTo>
                <a:lnTo>
                  <a:pt x="7" y="35"/>
                </a:lnTo>
                <a:lnTo>
                  <a:pt x="7" y="28"/>
                </a:lnTo>
                <a:lnTo>
                  <a:pt x="6" y="21"/>
                </a:lnTo>
                <a:lnTo>
                  <a:pt x="7" y="14"/>
                </a:lnTo>
                <a:lnTo>
                  <a:pt x="7" y="7"/>
                </a:lnTo>
                <a:lnTo>
                  <a:pt x="10" y="1"/>
                </a:lnTo>
                <a:lnTo>
                  <a:pt x="10" y="1"/>
                </a:lnTo>
                <a:lnTo>
                  <a:pt x="10" y="1"/>
                </a:lnTo>
                <a:lnTo>
                  <a:pt x="10" y="1"/>
                </a:lnTo>
                <a:lnTo>
                  <a:pt x="10" y="0"/>
                </a:lnTo>
                <a:lnTo>
                  <a:pt x="9" y="0"/>
                </a:lnTo>
                <a:lnTo>
                  <a:pt x="7" y="1"/>
                </a:lnTo>
                <a:lnTo>
                  <a:pt x="6" y="1"/>
                </a:lnTo>
                <a:lnTo>
                  <a:pt x="4" y="1"/>
                </a:lnTo>
                <a:close/>
              </a:path>
            </a:pathLst>
          </a:custGeom>
          <a:solidFill>
            <a:srgbClr val="A5E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Freeform 143"/>
          <p:cNvSpPr>
            <a:spLocks/>
          </p:cNvSpPr>
          <p:nvPr/>
        </p:nvSpPr>
        <p:spPr bwMode="auto">
          <a:xfrm>
            <a:off x="2886075" y="2859088"/>
            <a:ext cx="11112" cy="53975"/>
          </a:xfrm>
          <a:custGeom>
            <a:avLst/>
            <a:gdLst>
              <a:gd name="T0" fmla="*/ 2 w 7"/>
              <a:gd name="T1" fmla="*/ 1 h 34"/>
              <a:gd name="T2" fmla="*/ 1 w 7"/>
              <a:gd name="T3" fmla="*/ 1 h 34"/>
              <a:gd name="T4" fmla="*/ 1 w 7"/>
              <a:gd name="T5" fmla="*/ 3 h 34"/>
              <a:gd name="T6" fmla="*/ 0 w 7"/>
              <a:gd name="T7" fmla="*/ 6 h 34"/>
              <a:gd name="T8" fmla="*/ 0 w 7"/>
              <a:gd name="T9" fmla="*/ 10 h 34"/>
              <a:gd name="T10" fmla="*/ 0 w 7"/>
              <a:gd name="T11" fmla="*/ 15 h 34"/>
              <a:gd name="T12" fmla="*/ 0 w 7"/>
              <a:gd name="T13" fmla="*/ 21 h 34"/>
              <a:gd name="T14" fmla="*/ 0 w 7"/>
              <a:gd name="T15" fmla="*/ 27 h 34"/>
              <a:gd name="T16" fmla="*/ 1 w 7"/>
              <a:gd name="T17" fmla="*/ 34 h 34"/>
              <a:gd name="T18" fmla="*/ 5 w 7"/>
              <a:gd name="T19" fmla="*/ 34 h 34"/>
              <a:gd name="T20" fmla="*/ 5 w 7"/>
              <a:gd name="T21" fmla="*/ 32 h 34"/>
              <a:gd name="T22" fmla="*/ 5 w 7"/>
              <a:gd name="T23" fmla="*/ 29 h 34"/>
              <a:gd name="T24" fmla="*/ 4 w 7"/>
              <a:gd name="T25" fmla="*/ 25 h 34"/>
              <a:gd name="T26" fmla="*/ 4 w 7"/>
              <a:gd name="T27" fmla="*/ 21 h 34"/>
              <a:gd name="T28" fmla="*/ 4 w 7"/>
              <a:gd name="T29" fmla="*/ 15 h 34"/>
              <a:gd name="T30" fmla="*/ 4 w 7"/>
              <a:gd name="T31" fmla="*/ 10 h 34"/>
              <a:gd name="T32" fmla="*/ 4 w 7"/>
              <a:gd name="T33" fmla="*/ 4 h 34"/>
              <a:gd name="T34" fmla="*/ 7 w 7"/>
              <a:gd name="T35" fmla="*/ 1 h 34"/>
              <a:gd name="T36" fmla="*/ 7 w 7"/>
              <a:gd name="T37" fmla="*/ 1 h 34"/>
              <a:gd name="T38" fmla="*/ 7 w 7"/>
              <a:gd name="T39" fmla="*/ 0 h 34"/>
              <a:gd name="T40" fmla="*/ 5 w 7"/>
              <a:gd name="T41" fmla="*/ 0 h 34"/>
              <a:gd name="T42" fmla="*/ 5 w 7"/>
              <a:gd name="T43" fmla="*/ 0 h 34"/>
              <a:gd name="T44" fmla="*/ 5 w 7"/>
              <a:gd name="T45" fmla="*/ 0 h 34"/>
              <a:gd name="T46" fmla="*/ 4 w 7"/>
              <a:gd name="T47" fmla="*/ 0 h 34"/>
              <a:gd name="T48" fmla="*/ 3 w 7"/>
              <a:gd name="T49" fmla="*/ 0 h 34"/>
              <a:gd name="T50" fmla="*/ 2 w 7"/>
              <a:gd name="T51" fmla="*/ 1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" h="34">
                <a:moveTo>
                  <a:pt x="2" y="1"/>
                </a:moveTo>
                <a:lnTo>
                  <a:pt x="1" y="1"/>
                </a:lnTo>
                <a:lnTo>
                  <a:pt x="1" y="3"/>
                </a:lnTo>
                <a:lnTo>
                  <a:pt x="0" y="6"/>
                </a:lnTo>
                <a:lnTo>
                  <a:pt x="0" y="10"/>
                </a:lnTo>
                <a:lnTo>
                  <a:pt x="0" y="15"/>
                </a:lnTo>
                <a:lnTo>
                  <a:pt x="0" y="21"/>
                </a:lnTo>
                <a:lnTo>
                  <a:pt x="0" y="27"/>
                </a:lnTo>
                <a:lnTo>
                  <a:pt x="1" y="34"/>
                </a:lnTo>
                <a:lnTo>
                  <a:pt x="5" y="34"/>
                </a:lnTo>
                <a:lnTo>
                  <a:pt x="5" y="32"/>
                </a:lnTo>
                <a:lnTo>
                  <a:pt x="5" y="29"/>
                </a:lnTo>
                <a:lnTo>
                  <a:pt x="4" y="25"/>
                </a:lnTo>
                <a:lnTo>
                  <a:pt x="4" y="21"/>
                </a:lnTo>
                <a:lnTo>
                  <a:pt x="4" y="15"/>
                </a:lnTo>
                <a:lnTo>
                  <a:pt x="4" y="10"/>
                </a:lnTo>
                <a:lnTo>
                  <a:pt x="4" y="4"/>
                </a:lnTo>
                <a:lnTo>
                  <a:pt x="7" y="1"/>
                </a:lnTo>
                <a:lnTo>
                  <a:pt x="7" y="1"/>
                </a:lnTo>
                <a:lnTo>
                  <a:pt x="7" y="0"/>
                </a:lnTo>
                <a:lnTo>
                  <a:pt x="5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close/>
              </a:path>
            </a:pathLst>
          </a:custGeom>
          <a:solidFill>
            <a:srgbClr val="B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" name="Freeform 144"/>
          <p:cNvSpPr>
            <a:spLocks/>
          </p:cNvSpPr>
          <p:nvPr/>
        </p:nvSpPr>
        <p:spPr bwMode="auto">
          <a:xfrm>
            <a:off x="3036887" y="2806700"/>
            <a:ext cx="38100" cy="144463"/>
          </a:xfrm>
          <a:custGeom>
            <a:avLst/>
            <a:gdLst>
              <a:gd name="T0" fmla="*/ 24 w 24"/>
              <a:gd name="T1" fmla="*/ 1 h 91"/>
              <a:gd name="T2" fmla="*/ 22 w 24"/>
              <a:gd name="T3" fmla="*/ 1 h 91"/>
              <a:gd name="T4" fmla="*/ 21 w 24"/>
              <a:gd name="T5" fmla="*/ 4 h 91"/>
              <a:gd name="T6" fmla="*/ 19 w 24"/>
              <a:gd name="T7" fmla="*/ 8 h 91"/>
              <a:gd name="T8" fmla="*/ 17 w 24"/>
              <a:gd name="T9" fmla="*/ 16 h 91"/>
              <a:gd name="T10" fmla="*/ 15 w 24"/>
              <a:gd name="T11" fmla="*/ 28 h 91"/>
              <a:gd name="T12" fmla="*/ 14 w 24"/>
              <a:gd name="T13" fmla="*/ 43 h 91"/>
              <a:gd name="T14" fmla="*/ 15 w 24"/>
              <a:gd name="T15" fmla="*/ 64 h 91"/>
              <a:gd name="T16" fmla="*/ 18 w 24"/>
              <a:gd name="T17" fmla="*/ 91 h 91"/>
              <a:gd name="T18" fmla="*/ 5 w 24"/>
              <a:gd name="T19" fmla="*/ 91 h 91"/>
              <a:gd name="T20" fmla="*/ 4 w 24"/>
              <a:gd name="T21" fmla="*/ 88 h 91"/>
              <a:gd name="T22" fmla="*/ 3 w 24"/>
              <a:gd name="T23" fmla="*/ 81 h 91"/>
              <a:gd name="T24" fmla="*/ 1 w 24"/>
              <a:gd name="T25" fmla="*/ 70 h 91"/>
              <a:gd name="T26" fmla="*/ 0 w 24"/>
              <a:gd name="T27" fmla="*/ 56 h 91"/>
              <a:gd name="T28" fmla="*/ 0 w 24"/>
              <a:gd name="T29" fmla="*/ 42 h 91"/>
              <a:gd name="T30" fmla="*/ 1 w 24"/>
              <a:gd name="T31" fmla="*/ 27 h 91"/>
              <a:gd name="T32" fmla="*/ 4 w 24"/>
              <a:gd name="T33" fmla="*/ 13 h 91"/>
              <a:gd name="T34" fmla="*/ 7 w 24"/>
              <a:gd name="T35" fmla="*/ 0 h 91"/>
              <a:gd name="T36" fmla="*/ 24 w 24"/>
              <a:gd name="T37" fmla="*/ 1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4" h="91">
                <a:moveTo>
                  <a:pt x="24" y="1"/>
                </a:moveTo>
                <a:lnTo>
                  <a:pt x="22" y="1"/>
                </a:lnTo>
                <a:lnTo>
                  <a:pt x="21" y="4"/>
                </a:lnTo>
                <a:lnTo>
                  <a:pt x="19" y="8"/>
                </a:lnTo>
                <a:lnTo>
                  <a:pt x="17" y="16"/>
                </a:lnTo>
                <a:lnTo>
                  <a:pt x="15" y="28"/>
                </a:lnTo>
                <a:lnTo>
                  <a:pt x="14" y="43"/>
                </a:lnTo>
                <a:lnTo>
                  <a:pt x="15" y="64"/>
                </a:lnTo>
                <a:lnTo>
                  <a:pt x="18" y="91"/>
                </a:lnTo>
                <a:lnTo>
                  <a:pt x="5" y="91"/>
                </a:lnTo>
                <a:lnTo>
                  <a:pt x="4" y="88"/>
                </a:lnTo>
                <a:lnTo>
                  <a:pt x="3" y="81"/>
                </a:lnTo>
                <a:lnTo>
                  <a:pt x="1" y="70"/>
                </a:lnTo>
                <a:lnTo>
                  <a:pt x="0" y="56"/>
                </a:lnTo>
                <a:lnTo>
                  <a:pt x="0" y="42"/>
                </a:lnTo>
                <a:lnTo>
                  <a:pt x="1" y="27"/>
                </a:lnTo>
                <a:lnTo>
                  <a:pt x="4" y="13"/>
                </a:lnTo>
                <a:lnTo>
                  <a:pt x="7" y="0"/>
                </a:lnTo>
                <a:lnTo>
                  <a:pt x="24" y="1"/>
                </a:lnTo>
                <a:close/>
              </a:path>
            </a:pathLst>
          </a:custGeom>
          <a:solidFill>
            <a:srgbClr val="59B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Freeform 145"/>
          <p:cNvSpPr>
            <a:spLocks/>
          </p:cNvSpPr>
          <p:nvPr/>
        </p:nvSpPr>
        <p:spPr bwMode="auto">
          <a:xfrm>
            <a:off x="3038475" y="2817813"/>
            <a:ext cx="30162" cy="122237"/>
          </a:xfrm>
          <a:custGeom>
            <a:avLst/>
            <a:gdLst>
              <a:gd name="T0" fmla="*/ 19 w 19"/>
              <a:gd name="T1" fmla="*/ 0 h 77"/>
              <a:gd name="T2" fmla="*/ 19 w 19"/>
              <a:gd name="T3" fmla="*/ 1 h 77"/>
              <a:gd name="T4" fmla="*/ 18 w 19"/>
              <a:gd name="T5" fmla="*/ 2 h 77"/>
              <a:gd name="T6" fmla="*/ 17 w 19"/>
              <a:gd name="T7" fmla="*/ 7 h 77"/>
              <a:gd name="T8" fmla="*/ 14 w 19"/>
              <a:gd name="T9" fmla="*/ 13 h 77"/>
              <a:gd name="T10" fmla="*/ 13 w 19"/>
              <a:gd name="T11" fmla="*/ 23 h 77"/>
              <a:gd name="T12" fmla="*/ 12 w 19"/>
              <a:gd name="T13" fmla="*/ 36 h 77"/>
              <a:gd name="T14" fmla="*/ 13 w 19"/>
              <a:gd name="T15" fmla="*/ 54 h 77"/>
              <a:gd name="T16" fmla="*/ 14 w 19"/>
              <a:gd name="T17" fmla="*/ 77 h 77"/>
              <a:gd name="T18" fmla="*/ 4 w 19"/>
              <a:gd name="T19" fmla="*/ 77 h 77"/>
              <a:gd name="T20" fmla="*/ 4 w 19"/>
              <a:gd name="T21" fmla="*/ 75 h 77"/>
              <a:gd name="T22" fmla="*/ 3 w 19"/>
              <a:gd name="T23" fmla="*/ 69 h 77"/>
              <a:gd name="T24" fmla="*/ 2 w 19"/>
              <a:gd name="T25" fmla="*/ 60 h 77"/>
              <a:gd name="T26" fmla="*/ 0 w 19"/>
              <a:gd name="T27" fmla="*/ 48 h 77"/>
              <a:gd name="T28" fmla="*/ 0 w 19"/>
              <a:gd name="T29" fmla="*/ 35 h 77"/>
              <a:gd name="T30" fmla="*/ 0 w 19"/>
              <a:gd name="T31" fmla="*/ 22 h 77"/>
              <a:gd name="T32" fmla="*/ 3 w 19"/>
              <a:gd name="T33" fmla="*/ 11 h 77"/>
              <a:gd name="T34" fmla="*/ 6 w 19"/>
              <a:gd name="T35" fmla="*/ 0 h 77"/>
              <a:gd name="T36" fmla="*/ 19 w 19"/>
              <a:gd name="T37" fmla="*/ 0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9" h="77">
                <a:moveTo>
                  <a:pt x="19" y="0"/>
                </a:moveTo>
                <a:lnTo>
                  <a:pt x="19" y="1"/>
                </a:lnTo>
                <a:lnTo>
                  <a:pt x="18" y="2"/>
                </a:lnTo>
                <a:lnTo>
                  <a:pt x="17" y="7"/>
                </a:lnTo>
                <a:lnTo>
                  <a:pt x="14" y="13"/>
                </a:lnTo>
                <a:lnTo>
                  <a:pt x="13" y="23"/>
                </a:lnTo>
                <a:lnTo>
                  <a:pt x="12" y="36"/>
                </a:lnTo>
                <a:lnTo>
                  <a:pt x="13" y="54"/>
                </a:lnTo>
                <a:lnTo>
                  <a:pt x="14" y="77"/>
                </a:lnTo>
                <a:lnTo>
                  <a:pt x="4" y="77"/>
                </a:lnTo>
                <a:lnTo>
                  <a:pt x="4" y="75"/>
                </a:lnTo>
                <a:lnTo>
                  <a:pt x="3" y="69"/>
                </a:lnTo>
                <a:lnTo>
                  <a:pt x="2" y="60"/>
                </a:lnTo>
                <a:lnTo>
                  <a:pt x="0" y="48"/>
                </a:lnTo>
                <a:lnTo>
                  <a:pt x="0" y="35"/>
                </a:lnTo>
                <a:lnTo>
                  <a:pt x="0" y="22"/>
                </a:lnTo>
                <a:lnTo>
                  <a:pt x="3" y="11"/>
                </a:lnTo>
                <a:lnTo>
                  <a:pt x="6" y="0"/>
                </a:lnTo>
                <a:lnTo>
                  <a:pt x="19" y="0"/>
                </a:lnTo>
                <a:close/>
              </a:path>
            </a:pathLst>
          </a:custGeom>
          <a:solidFill>
            <a:srgbClr val="72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" name="Freeform 146"/>
          <p:cNvSpPr>
            <a:spLocks/>
          </p:cNvSpPr>
          <p:nvPr/>
        </p:nvSpPr>
        <p:spPr bwMode="auto">
          <a:xfrm>
            <a:off x="3041650" y="2827338"/>
            <a:ext cx="23812" cy="101600"/>
          </a:xfrm>
          <a:custGeom>
            <a:avLst/>
            <a:gdLst>
              <a:gd name="T0" fmla="*/ 15 w 15"/>
              <a:gd name="T1" fmla="*/ 0 h 64"/>
              <a:gd name="T2" fmla="*/ 15 w 15"/>
              <a:gd name="T3" fmla="*/ 1 h 64"/>
              <a:gd name="T4" fmla="*/ 14 w 15"/>
              <a:gd name="T5" fmla="*/ 2 h 64"/>
              <a:gd name="T6" fmla="*/ 12 w 15"/>
              <a:gd name="T7" fmla="*/ 6 h 64"/>
              <a:gd name="T8" fmla="*/ 11 w 15"/>
              <a:gd name="T9" fmla="*/ 12 h 64"/>
              <a:gd name="T10" fmla="*/ 10 w 15"/>
              <a:gd name="T11" fmla="*/ 20 h 64"/>
              <a:gd name="T12" fmla="*/ 9 w 15"/>
              <a:gd name="T13" fmla="*/ 30 h 64"/>
              <a:gd name="T14" fmla="*/ 10 w 15"/>
              <a:gd name="T15" fmla="*/ 45 h 64"/>
              <a:gd name="T16" fmla="*/ 11 w 15"/>
              <a:gd name="T17" fmla="*/ 64 h 64"/>
              <a:gd name="T18" fmla="*/ 2 w 15"/>
              <a:gd name="T19" fmla="*/ 64 h 64"/>
              <a:gd name="T20" fmla="*/ 2 w 15"/>
              <a:gd name="T21" fmla="*/ 62 h 64"/>
              <a:gd name="T22" fmla="*/ 1 w 15"/>
              <a:gd name="T23" fmla="*/ 57 h 64"/>
              <a:gd name="T24" fmla="*/ 0 w 15"/>
              <a:gd name="T25" fmla="*/ 49 h 64"/>
              <a:gd name="T26" fmla="*/ 0 w 15"/>
              <a:gd name="T27" fmla="*/ 40 h 64"/>
              <a:gd name="T28" fmla="*/ 0 w 15"/>
              <a:gd name="T29" fmla="*/ 29 h 64"/>
              <a:gd name="T30" fmla="*/ 0 w 15"/>
              <a:gd name="T31" fmla="*/ 19 h 64"/>
              <a:gd name="T32" fmla="*/ 1 w 15"/>
              <a:gd name="T33" fmla="*/ 8 h 64"/>
              <a:gd name="T34" fmla="*/ 4 w 15"/>
              <a:gd name="T35" fmla="*/ 0 h 64"/>
              <a:gd name="T36" fmla="*/ 15 w 15"/>
              <a:gd name="T37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5" h="64">
                <a:moveTo>
                  <a:pt x="15" y="0"/>
                </a:moveTo>
                <a:lnTo>
                  <a:pt x="15" y="1"/>
                </a:lnTo>
                <a:lnTo>
                  <a:pt x="14" y="2"/>
                </a:lnTo>
                <a:lnTo>
                  <a:pt x="12" y="6"/>
                </a:lnTo>
                <a:lnTo>
                  <a:pt x="11" y="12"/>
                </a:lnTo>
                <a:lnTo>
                  <a:pt x="10" y="20"/>
                </a:lnTo>
                <a:lnTo>
                  <a:pt x="9" y="30"/>
                </a:lnTo>
                <a:lnTo>
                  <a:pt x="10" y="45"/>
                </a:lnTo>
                <a:lnTo>
                  <a:pt x="11" y="64"/>
                </a:lnTo>
                <a:lnTo>
                  <a:pt x="2" y="64"/>
                </a:lnTo>
                <a:lnTo>
                  <a:pt x="2" y="62"/>
                </a:lnTo>
                <a:lnTo>
                  <a:pt x="1" y="57"/>
                </a:lnTo>
                <a:lnTo>
                  <a:pt x="0" y="49"/>
                </a:lnTo>
                <a:lnTo>
                  <a:pt x="0" y="40"/>
                </a:lnTo>
                <a:lnTo>
                  <a:pt x="0" y="29"/>
                </a:lnTo>
                <a:lnTo>
                  <a:pt x="0" y="19"/>
                </a:lnTo>
                <a:lnTo>
                  <a:pt x="1" y="8"/>
                </a:lnTo>
                <a:lnTo>
                  <a:pt x="4" y="0"/>
                </a:lnTo>
                <a:lnTo>
                  <a:pt x="15" y="0"/>
                </a:lnTo>
                <a:close/>
              </a:path>
            </a:pathLst>
          </a:custGeom>
          <a:solidFill>
            <a:srgbClr val="8CD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" name="Freeform 147"/>
          <p:cNvSpPr>
            <a:spLocks/>
          </p:cNvSpPr>
          <p:nvPr/>
        </p:nvSpPr>
        <p:spPr bwMode="auto">
          <a:xfrm>
            <a:off x="3041650" y="2836863"/>
            <a:ext cx="19050" cy="80962"/>
          </a:xfrm>
          <a:custGeom>
            <a:avLst/>
            <a:gdLst>
              <a:gd name="T0" fmla="*/ 12 w 12"/>
              <a:gd name="T1" fmla="*/ 1 h 51"/>
              <a:gd name="T2" fmla="*/ 12 w 12"/>
              <a:gd name="T3" fmla="*/ 1 h 51"/>
              <a:gd name="T4" fmla="*/ 11 w 12"/>
              <a:gd name="T5" fmla="*/ 2 h 51"/>
              <a:gd name="T6" fmla="*/ 10 w 12"/>
              <a:gd name="T7" fmla="*/ 4 h 51"/>
              <a:gd name="T8" fmla="*/ 9 w 12"/>
              <a:gd name="T9" fmla="*/ 9 h 51"/>
              <a:gd name="T10" fmla="*/ 9 w 12"/>
              <a:gd name="T11" fmla="*/ 16 h 51"/>
              <a:gd name="T12" fmla="*/ 8 w 12"/>
              <a:gd name="T13" fmla="*/ 24 h 51"/>
              <a:gd name="T14" fmla="*/ 8 w 12"/>
              <a:gd name="T15" fmla="*/ 36 h 51"/>
              <a:gd name="T16" fmla="*/ 9 w 12"/>
              <a:gd name="T17" fmla="*/ 51 h 51"/>
              <a:gd name="T18" fmla="*/ 2 w 12"/>
              <a:gd name="T19" fmla="*/ 51 h 51"/>
              <a:gd name="T20" fmla="*/ 2 w 12"/>
              <a:gd name="T21" fmla="*/ 50 h 51"/>
              <a:gd name="T22" fmla="*/ 2 w 12"/>
              <a:gd name="T23" fmla="*/ 45 h 51"/>
              <a:gd name="T24" fmla="*/ 1 w 12"/>
              <a:gd name="T25" fmla="*/ 39 h 51"/>
              <a:gd name="T26" fmla="*/ 1 w 12"/>
              <a:gd name="T27" fmla="*/ 31 h 51"/>
              <a:gd name="T28" fmla="*/ 0 w 12"/>
              <a:gd name="T29" fmla="*/ 23 h 51"/>
              <a:gd name="T30" fmla="*/ 1 w 12"/>
              <a:gd name="T31" fmla="*/ 15 h 51"/>
              <a:gd name="T32" fmla="*/ 2 w 12"/>
              <a:gd name="T33" fmla="*/ 7 h 51"/>
              <a:gd name="T34" fmla="*/ 4 w 12"/>
              <a:gd name="T35" fmla="*/ 0 h 51"/>
              <a:gd name="T36" fmla="*/ 12 w 12"/>
              <a:gd name="T37" fmla="*/ 1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" h="51">
                <a:moveTo>
                  <a:pt x="12" y="1"/>
                </a:moveTo>
                <a:lnTo>
                  <a:pt x="12" y="1"/>
                </a:lnTo>
                <a:lnTo>
                  <a:pt x="11" y="2"/>
                </a:lnTo>
                <a:lnTo>
                  <a:pt x="10" y="4"/>
                </a:lnTo>
                <a:lnTo>
                  <a:pt x="9" y="9"/>
                </a:lnTo>
                <a:lnTo>
                  <a:pt x="9" y="16"/>
                </a:lnTo>
                <a:lnTo>
                  <a:pt x="8" y="24"/>
                </a:lnTo>
                <a:lnTo>
                  <a:pt x="8" y="36"/>
                </a:lnTo>
                <a:lnTo>
                  <a:pt x="9" y="51"/>
                </a:lnTo>
                <a:lnTo>
                  <a:pt x="2" y="51"/>
                </a:lnTo>
                <a:lnTo>
                  <a:pt x="2" y="50"/>
                </a:lnTo>
                <a:lnTo>
                  <a:pt x="2" y="45"/>
                </a:lnTo>
                <a:lnTo>
                  <a:pt x="1" y="39"/>
                </a:lnTo>
                <a:lnTo>
                  <a:pt x="1" y="31"/>
                </a:lnTo>
                <a:lnTo>
                  <a:pt x="0" y="23"/>
                </a:lnTo>
                <a:lnTo>
                  <a:pt x="1" y="15"/>
                </a:lnTo>
                <a:lnTo>
                  <a:pt x="2" y="7"/>
                </a:lnTo>
                <a:lnTo>
                  <a:pt x="4" y="0"/>
                </a:lnTo>
                <a:lnTo>
                  <a:pt x="12" y="1"/>
                </a:lnTo>
                <a:close/>
              </a:path>
            </a:pathLst>
          </a:custGeom>
          <a:solidFill>
            <a:srgbClr val="A5E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Freeform 148"/>
          <p:cNvSpPr>
            <a:spLocks/>
          </p:cNvSpPr>
          <p:nvPr/>
        </p:nvSpPr>
        <p:spPr bwMode="auto">
          <a:xfrm>
            <a:off x="3043237" y="2847975"/>
            <a:ext cx="14288" cy="58738"/>
          </a:xfrm>
          <a:custGeom>
            <a:avLst/>
            <a:gdLst>
              <a:gd name="T0" fmla="*/ 9 w 9"/>
              <a:gd name="T1" fmla="*/ 0 h 37"/>
              <a:gd name="T2" fmla="*/ 9 w 9"/>
              <a:gd name="T3" fmla="*/ 0 h 37"/>
              <a:gd name="T4" fmla="*/ 8 w 9"/>
              <a:gd name="T5" fmla="*/ 1 h 37"/>
              <a:gd name="T6" fmla="*/ 8 w 9"/>
              <a:gd name="T7" fmla="*/ 3 h 37"/>
              <a:gd name="T8" fmla="*/ 7 w 9"/>
              <a:gd name="T9" fmla="*/ 6 h 37"/>
              <a:gd name="T10" fmla="*/ 6 w 9"/>
              <a:gd name="T11" fmla="*/ 10 h 37"/>
              <a:gd name="T12" fmla="*/ 6 w 9"/>
              <a:gd name="T13" fmla="*/ 17 h 37"/>
              <a:gd name="T14" fmla="*/ 6 w 9"/>
              <a:gd name="T15" fmla="*/ 25 h 37"/>
              <a:gd name="T16" fmla="*/ 7 w 9"/>
              <a:gd name="T17" fmla="*/ 37 h 37"/>
              <a:gd name="T18" fmla="*/ 2 w 9"/>
              <a:gd name="T19" fmla="*/ 37 h 37"/>
              <a:gd name="T20" fmla="*/ 1 w 9"/>
              <a:gd name="T21" fmla="*/ 36 h 37"/>
              <a:gd name="T22" fmla="*/ 1 w 9"/>
              <a:gd name="T23" fmla="*/ 32 h 37"/>
              <a:gd name="T24" fmla="*/ 1 w 9"/>
              <a:gd name="T25" fmla="*/ 28 h 37"/>
              <a:gd name="T26" fmla="*/ 0 w 9"/>
              <a:gd name="T27" fmla="*/ 23 h 37"/>
              <a:gd name="T28" fmla="*/ 0 w 9"/>
              <a:gd name="T29" fmla="*/ 16 h 37"/>
              <a:gd name="T30" fmla="*/ 0 w 9"/>
              <a:gd name="T31" fmla="*/ 10 h 37"/>
              <a:gd name="T32" fmla="*/ 1 w 9"/>
              <a:gd name="T33" fmla="*/ 4 h 37"/>
              <a:gd name="T34" fmla="*/ 3 w 9"/>
              <a:gd name="T35" fmla="*/ 0 h 37"/>
              <a:gd name="T36" fmla="*/ 9 w 9"/>
              <a:gd name="T37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" h="37">
                <a:moveTo>
                  <a:pt x="9" y="0"/>
                </a:moveTo>
                <a:lnTo>
                  <a:pt x="9" y="0"/>
                </a:lnTo>
                <a:lnTo>
                  <a:pt x="8" y="1"/>
                </a:lnTo>
                <a:lnTo>
                  <a:pt x="8" y="3"/>
                </a:lnTo>
                <a:lnTo>
                  <a:pt x="7" y="6"/>
                </a:lnTo>
                <a:lnTo>
                  <a:pt x="6" y="10"/>
                </a:lnTo>
                <a:lnTo>
                  <a:pt x="6" y="17"/>
                </a:lnTo>
                <a:lnTo>
                  <a:pt x="6" y="25"/>
                </a:lnTo>
                <a:lnTo>
                  <a:pt x="7" y="37"/>
                </a:lnTo>
                <a:lnTo>
                  <a:pt x="2" y="37"/>
                </a:lnTo>
                <a:lnTo>
                  <a:pt x="1" y="36"/>
                </a:lnTo>
                <a:lnTo>
                  <a:pt x="1" y="32"/>
                </a:lnTo>
                <a:lnTo>
                  <a:pt x="1" y="28"/>
                </a:lnTo>
                <a:lnTo>
                  <a:pt x="0" y="23"/>
                </a:lnTo>
                <a:lnTo>
                  <a:pt x="0" y="16"/>
                </a:lnTo>
                <a:lnTo>
                  <a:pt x="0" y="10"/>
                </a:lnTo>
                <a:lnTo>
                  <a:pt x="1" y="4"/>
                </a:lnTo>
                <a:lnTo>
                  <a:pt x="3" y="0"/>
                </a:lnTo>
                <a:lnTo>
                  <a:pt x="9" y="0"/>
                </a:lnTo>
                <a:close/>
              </a:path>
            </a:pathLst>
          </a:custGeom>
          <a:solidFill>
            <a:srgbClr val="B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2" name="Rectangle 149"/>
          <p:cNvSpPr>
            <a:spLocks noChangeArrowheads="1"/>
          </p:cNvSpPr>
          <p:nvPr/>
        </p:nvSpPr>
        <p:spPr bwMode="auto">
          <a:xfrm>
            <a:off x="2847975" y="2832100"/>
            <a:ext cx="6350" cy="1873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Freeform 150"/>
          <p:cNvSpPr>
            <a:spLocks/>
          </p:cNvSpPr>
          <p:nvPr/>
        </p:nvSpPr>
        <p:spPr bwMode="auto">
          <a:xfrm>
            <a:off x="2914650" y="2828925"/>
            <a:ext cx="73025" cy="87313"/>
          </a:xfrm>
          <a:custGeom>
            <a:avLst/>
            <a:gdLst>
              <a:gd name="T0" fmla="*/ 4 w 46"/>
              <a:gd name="T1" fmla="*/ 6 h 55"/>
              <a:gd name="T2" fmla="*/ 4 w 46"/>
              <a:gd name="T3" fmla="*/ 7 h 55"/>
              <a:gd name="T4" fmla="*/ 3 w 46"/>
              <a:gd name="T5" fmla="*/ 9 h 55"/>
              <a:gd name="T6" fmla="*/ 1 w 46"/>
              <a:gd name="T7" fmla="*/ 14 h 55"/>
              <a:gd name="T8" fmla="*/ 0 w 46"/>
              <a:gd name="T9" fmla="*/ 21 h 55"/>
              <a:gd name="T10" fmla="*/ 0 w 46"/>
              <a:gd name="T11" fmla="*/ 28 h 55"/>
              <a:gd name="T12" fmla="*/ 0 w 46"/>
              <a:gd name="T13" fmla="*/ 36 h 55"/>
              <a:gd name="T14" fmla="*/ 0 w 46"/>
              <a:gd name="T15" fmla="*/ 46 h 55"/>
              <a:gd name="T16" fmla="*/ 3 w 46"/>
              <a:gd name="T17" fmla="*/ 55 h 55"/>
              <a:gd name="T18" fmla="*/ 3 w 46"/>
              <a:gd name="T19" fmla="*/ 55 h 55"/>
              <a:gd name="T20" fmla="*/ 3 w 46"/>
              <a:gd name="T21" fmla="*/ 54 h 55"/>
              <a:gd name="T22" fmla="*/ 3 w 46"/>
              <a:gd name="T23" fmla="*/ 51 h 55"/>
              <a:gd name="T24" fmla="*/ 3 w 46"/>
              <a:gd name="T25" fmla="*/ 49 h 55"/>
              <a:gd name="T26" fmla="*/ 3 w 46"/>
              <a:gd name="T27" fmla="*/ 46 h 55"/>
              <a:gd name="T28" fmla="*/ 4 w 46"/>
              <a:gd name="T29" fmla="*/ 43 h 55"/>
              <a:gd name="T30" fmla="*/ 4 w 46"/>
              <a:gd name="T31" fmla="*/ 39 h 55"/>
              <a:gd name="T32" fmla="*/ 5 w 46"/>
              <a:gd name="T33" fmla="*/ 35 h 55"/>
              <a:gd name="T34" fmla="*/ 6 w 46"/>
              <a:gd name="T35" fmla="*/ 32 h 55"/>
              <a:gd name="T36" fmla="*/ 7 w 46"/>
              <a:gd name="T37" fmla="*/ 28 h 55"/>
              <a:gd name="T38" fmla="*/ 8 w 46"/>
              <a:gd name="T39" fmla="*/ 25 h 55"/>
              <a:gd name="T40" fmla="*/ 11 w 46"/>
              <a:gd name="T41" fmla="*/ 21 h 55"/>
              <a:gd name="T42" fmla="*/ 14 w 46"/>
              <a:gd name="T43" fmla="*/ 19 h 55"/>
              <a:gd name="T44" fmla="*/ 17 w 46"/>
              <a:gd name="T45" fmla="*/ 16 h 55"/>
              <a:gd name="T46" fmla="*/ 21 w 46"/>
              <a:gd name="T47" fmla="*/ 15 h 55"/>
              <a:gd name="T48" fmla="*/ 26 w 46"/>
              <a:gd name="T49" fmla="*/ 14 h 55"/>
              <a:gd name="T50" fmla="*/ 26 w 46"/>
              <a:gd name="T51" fmla="*/ 13 h 55"/>
              <a:gd name="T52" fmla="*/ 26 w 46"/>
              <a:gd name="T53" fmla="*/ 13 h 55"/>
              <a:gd name="T54" fmla="*/ 28 w 46"/>
              <a:gd name="T55" fmla="*/ 12 h 55"/>
              <a:gd name="T56" fmla="*/ 29 w 46"/>
              <a:gd name="T57" fmla="*/ 11 h 55"/>
              <a:gd name="T58" fmla="*/ 33 w 46"/>
              <a:gd name="T59" fmla="*/ 9 h 55"/>
              <a:gd name="T60" fmla="*/ 36 w 46"/>
              <a:gd name="T61" fmla="*/ 7 h 55"/>
              <a:gd name="T62" fmla="*/ 41 w 46"/>
              <a:gd name="T63" fmla="*/ 5 h 55"/>
              <a:gd name="T64" fmla="*/ 46 w 46"/>
              <a:gd name="T65" fmla="*/ 2 h 55"/>
              <a:gd name="T66" fmla="*/ 46 w 46"/>
              <a:gd name="T67" fmla="*/ 2 h 55"/>
              <a:gd name="T68" fmla="*/ 45 w 46"/>
              <a:gd name="T69" fmla="*/ 2 h 55"/>
              <a:gd name="T70" fmla="*/ 43 w 46"/>
              <a:gd name="T71" fmla="*/ 2 h 55"/>
              <a:gd name="T72" fmla="*/ 42 w 46"/>
              <a:gd name="T73" fmla="*/ 2 h 55"/>
              <a:gd name="T74" fmla="*/ 40 w 46"/>
              <a:gd name="T75" fmla="*/ 1 h 55"/>
              <a:gd name="T76" fmla="*/ 38 w 46"/>
              <a:gd name="T77" fmla="*/ 1 h 55"/>
              <a:gd name="T78" fmla="*/ 35 w 46"/>
              <a:gd name="T79" fmla="*/ 1 h 55"/>
              <a:gd name="T80" fmla="*/ 32 w 46"/>
              <a:gd name="T81" fmla="*/ 1 h 55"/>
              <a:gd name="T82" fmla="*/ 28 w 46"/>
              <a:gd name="T83" fmla="*/ 0 h 55"/>
              <a:gd name="T84" fmla="*/ 26 w 46"/>
              <a:gd name="T85" fmla="*/ 1 h 55"/>
              <a:gd name="T86" fmla="*/ 22 w 46"/>
              <a:gd name="T87" fmla="*/ 1 h 55"/>
              <a:gd name="T88" fmla="*/ 19 w 46"/>
              <a:gd name="T89" fmla="*/ 1 h 55"/>
              <a:gd name="T90" fmla="*/ 14 w 46"/>
              <a:gd name="T91" fmla="*/ 2 h 55"/>
              <a:gd name="T92" fmla="*/ 11 w 46"/>
              <a:gd name="T93" fmla="*/ 2 h 55"/>
              <a:gd name="T94" fmla="*/ 7 w 46"/>
              <a:gd name="T95" fmla="*/ 4 h 55"/>
              <a:gd name="T96" fmla="*/ 4 w 46"/>
              <a:gd name="T97" fmla="*/ 6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46" h="55">
                <a:moveTo>
                  <a:pt x="4" y="6"/>
                </a:moveTo>
                <a:lnTo>
                  <a:pt x="4" y="7"/>
                </a:lnTo>
                <a:lnTo>
                  <a:pt x="3" y="9"/>
                </a:lnTo>
                <a:lnTo>
                  <a:pt x="1" y="14"/>
                </a:lnTo>
                <a:lnTo>
                  <a:pt x="0" y="21"/>
                </a:lnTo>
                <a:lnTo>
                  <a:pt x="0" y="28"/>
                </a:lnTo>
                <a:lnTo>
                  <a:pt x="0" y="36"/>
                </a:lnTo>
                <a:lnTo>
                  <a:pt x="0" y="46"/>
                </a:lnTo>
                <a:lnTo>
                  <a:pt x="3" y="55"/>
                </a:lnTo>
                <a:lnTo>
                  <a:pt x="3" y="55"/>
                </a:lnTo>
                <a:lnTo>
                  <a:pt x="3" y="54"/>
                </a:lnTo>
                <a:lnTo>
                  <a:pt x="3" y="51"/>
                </a:lnTo>
                <a:lnTo>
                  <a:pt x="3" y="49"/>
                </a:lnTo>
                <a:lnTo>
                  <a:pt x="3" y="46"/>
                </a:lnTo>
                <a:lnTo>
                  <a:pt x="4" y="43"/>
                </a:lnTo>
                <a:lnTo>
                  <a:pt x="4" y="39"/>
                </a:lnTo>
                <a:lnTo>
                  <a:pt x="5" y="35"/>
                </a:lnTo>
                <a:lnTo>
                  <a:pt x="6" y="32"/>
                </a:lnTo>
                <a:lnTo>
                  <a:pt x="7" y="28"/>
                </a:lnTo>
                <a:lnTo>
                  <a:pt x="8" y="25"/>
                </a:lnTo>
                <a:lnTo>
                  <a:pt x="11" y="21"/>
                </a:lnTo>
                <a:lnTo>
                  <a:pt x="14" y="19"/>
                </a:lnTo>
                <a:lnTo>
                  <a:pt x="17" y="16"/>
                </a:lnTo>
                <a:lnTo>
                  <a:pt x="21" y="15"/>
                </a:lnTo>
                <a:lnTo>
                  <a:pt x="26" y="14"/>
                </a:lnTo>
                <a:lnTo>
                  <a:pt x="26" y="13"/>
                </a:lnTo>
                <a:lnTo>
                  <a:pt x="26" y="13"/>
                </a:lnTo>
                <a:lnTo>
                  <a:pt x="28" y="12"/>
                </a:lnTo>
                <a:lnTo>
                  <a:pt x="29" y="11"/>
                </a:lnTo>
                <a:lnTo>
                  <a:pt x="33" y="9"/>
                </a:lnTo>
                <a:lnTo>
                  <a:pt x="36" y="7"/>
                </a:lnTo>
                <a:lnTo>
                  <a:pt x="41" y="5"/>
                </a:lnTo>
                <a:lnTo>
                  <a:pt x="46" y="2"/>
                </a:lnTo>
                <a:lnTo>
                  <a:pt x="46" y="2"/>
                </a:lnTo>
                <a:lnTo>
                  <a:pt x="45" y="2"/>
                </a:lnTo>
                <a:lnTo>
                  <a:pt x="43" y="2"/>
                </a:lnTo>
                <a:lnTo>
                  <a:pt x="42" y="2"/>
                </a:lnTo>
                <a:lnTo>
                  <a:pt x="40" y="1"/>
                </a:lnTo>
                <a:lnTo>
                  <a:pt x="38" y="1"/>
                </a:lnTo>
                <a:lnTo>
                  <a:pt x="35" y="1"/>
                </a:lnTo>
                <a:lnTo>
                  <a:pt x="32" y="1"/>
                </a:lnTo>
                <a:lnTo>
                  <a:pt x="28" y="0"/>
                </a:lnTo>
                <a:lnTo>
                  <a:pt x="26" y="1"/>
                </a:lnTo>
                <a:lnTo>
                  <a:pt x="22" y="1"/>
                </a:lnTo>
                <a:lnTo>
                  <a:pt x="19" y="1"/>
                </a:lnTo>
                <a:lnTo>
                  <a:pt x="14" y="2"/>
                </a:lnTo>
                <a:lnTo>
                  <a:pt x="11" y="2"/>
                </a:lnTo>
                <a:lnTo>
                  <a:pt x="7" y="4"/>
                </a:lnTo>
                <a:lnTo>
                  <a:pt x="4" y="6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" name="Freeform 151"/>
          <p:cNvSpPr>
            <a:spLocks/>
          </p:cNvSpPr>
          <p:nvPr/>
        </p:nvSpPr>
        <p:spPr bwMode="auto">
          <a:xfrm>
            <a:off x="2813050" y="2894013"/>
            <a:ext cx="58737" cy="15875"/>
          </a:xfrm>
          <a:custGeom>
            <a:avLst/>
            <a:gdLst>
              <a:gd name="T0" fmla="*/ 0 w 37"/>
              <a:gd name="T1" fmla="*/ 7 h 10"/>
              <a:gd name="T2" fmla="*/ 0 w 37"/>
              <a:gd name="T3" fmla="*/ 7 h 10"/>
              <a:gd name="T4" fmla="*/ 0 w 37"/>
              <a:gd name="T5" fmla="*/ 6 h 10"/>
              <a:gd name="T6" fmla="*/ 1 w 37"/>
              <a:gd name="T7" fmla="*/ 6 h 10"/>
              <a:gd name="T8" fmla="*/ 1 w 37"/>
              <a:gd name="T9" fmla="*/ 5 h 10"/>
              <a:gd name="T10" fmla="*/ 2 w 37"/>
              <a:gd name="T11" fmla="*/ 3 h 10"/>
              <a:gd name="T12" fmla="*/ 4 w 37"/>
              <a:gd name="T13" fmla="*/ 3 h 10"/>
              <a:gd name="T14" fmla="*/ 5 w 37"/>
              <a:gd name="T15" fmla="*/ 2 h 10"/>
              <a:gd name="T16" fmla="*/ 7 w 37"/>
              <a:gd name="T17" fmla="*/ 1 h 10"/>
              <a:gd name="T18" fmla="*/ 9 w 37"/>
              <a:gd name="T19" fmla="*/ 1 h 10"/>
              <a:gd name="T20" fmla="*/ 12 w 37"/>
              <a:gd name="T21" fmla="*/ 0 h 10"/>
              <a:gd name="T22" fmla="*/ 15 w 37"/>
              <a:gd name="T23" fmla="*/ 0 h 10"/>
              <a:gd name="T24" fmla="*/ 19 w 37"/>
              <a:gd name="T25" fmla="*/ 0 h 10"/>
              <a:gd name="T26" fmla="*/ 22 w 37"/>
              <a:gd name="T27" fmla="*/ 0 h 10"/>
              <a:gd name="T28" fmla="*/ 27 w 37"/>
              <a:gd name="T29" fmla="*/ 1 h 10"/>
              <a:gd name="T30" fmla="*/ 32 w 37"/>
              <a:gd name="T31" fmla="*/ 2 h 10"/>
              <a:gd name="T32" fmla="*/ 37 w 37"/>
              <a:gd name="T33" fmla="*/ 3 h 10"/>
              <a:gd name="T34" fmla="*/ 37 w 37"/>
              <a:gd name="T35" fmla="*/ 6 h 10"/>
              <a:gd name="T36" fmla="*/ 36 w 37"/>
              <a:gd name="T37" fmla="*/ 6 h 10"/>
              <a:gd name="T38" fmla="*/ 36 w 37"/>
              <a:gd name="T39" fmla="*/ 6 h 10"/>
              <a:gd name="T40" fmla="*/ 34 w 37"/>
              <a:gd name="T41" fmla="*/ 5 h 10"/>
              <a:gd name="T42" fmla="*/ 33 w 37"/>
              <a:gd name="T43" fmla="*/ 5 h 10"/>
              <a:gd name="T44" fmla="*/ 30 w 37"/>
              <a:gd name="T45" fmla="*/ 3 h 10"/>
              <a:gd name="T46" fmla="*/ 28 w 37"/>
              <a:gd name="T47" fmla="*/ 3 h 10"/>
              <a:gd name="T48" fmla="*/ 25 w 37"/>
              <a:gd name="T49" fmla="*/ 3 h 10"/>
              <a:gd name="T50" fmla="*/ 22 w 37"/>
              <a:gd name="T51" fmla="*/ 2 h 10"/>
              <a:gd name="T52" fmla="*/ 19 w 37"/>
              <a:gd name="T53" fmla="*/ 2 h 10"/>
              <a:gd name="T54" fmla="*/ 15 w 37"/>
              <a:gd name="T55" fmla="*/ 2 h 10"/>
              <a:gd name="T56" fmla="*/ 13 w 37"/>
              <a:gd name="T57" fmla="*/ 3 h 10"/>
              <a:gd name="T58" fmla="*/ 9 w 37"/>
              <a:gd name="T59" fmla="*/ 3 h 10"/>
              <a:gd name="T60" fmla="*/ 7 w 37"/>
              <a:gd name="T61" fmla="*/ 5 h 10"/>
              <a:gd name="T62" fmla="*/ 5 w 37"/>
              <a:gd name="T63" fmla="*/ 6 h 10"/>
              <a:gd name="T64" fmla="*/ 2 w 37"/>
              <a:gd name="T65" fmla="*/ 8 h 10"/>
              <a:gd name="T66" fmla="*/ 0 w 37"/>
              <a:gd name="T67" fmla="*/ 10 h 10"/>
              <a:gd name="T68" fmla="*/ 0 w 37"/>
              <a:gd name="T69" fmla="*/ 7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7" h="10">
                <a:moveTo>
                  <a:pt x="0" y="7"/>
                </a:move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2" y="3"/>
                </a:lnTo>
                <a:lnTo>
                  <a:pt x="4" y="3"/>
                </a:lnTo>
                <a:lnTo>
                  <a:pt x="5" y="2"/>
                </a:lnTo>
                <a:lnTo>
                  <a:pt x="7" y="1"/>
                </a:lnTo>
                <a:lnTo>
                  <a:pt x="9" y="1"/>
                </a:lnTo>
                <a:lnTo>
                  <a:pt x="12" y="0"/>
                </a:lnTo>
                <a:lnTo>
                  <a:pt x="15" y="0"/>
                </a:lnTo>
                <a:lnTo>
                  <a:pt x="19" y="0"/>
                </a:lnTo>
                <a:lnTo>
                  <a:pt x="22" y="0"/>
                </a:lnTo>
                <a:lnTo>
                  <a:pt x="27" y="1"/>
                </a:lnTo>
                <a:lnTo>
                  <a:pt x="32" y="2"/>
                </a:lnTo>
                <a:lnTo>
                  <a:pt x="37" y="3"/>
                </a:lnTo>
                <a:lnTo>
                  <a:pt x="37" y="6"/>
                </a:lnTo>
                <a:lnTo>
                  <a:pt x="36" y="6"/>
                </a:lnTo>
                <a:lnTo>
                  <a:pt x="36" y="6"/>
                </a:lnTo>
                <a:lnTo>
                  <a:pt x="34" y="5"/>
                </a:lnTo>
                <a:lnTo>
                  <a:pt x="33" y="5"/>
                </a:lnTo>
                <a:lnTo>
                  <a:pt x="30" y="3"/>
                </a:lnTo>
                <a:lnTo>
                  <a:pt x="28" y="3"/>
                </a:lnTo>
                <a:lnTo>
                  <a:pt x="25" y="3"/>
                </a:lnTo>
                <a:lnTo>
                  <a:pt x="22" y="2"/>
                </a:lnTo>
                <a:lnTo>
                  <a:pt x="19" y="2"/>
                </a:lnTo>
                <a:lnTo>
                  <a:pt x="15" y="2"/>
                </a:lnTo>
                <a:lnTo>
                  <a:pt x="13" y="3"/>
                </a:lnTo>
                <a:lnTo>
                  <a:pt x="9" y="3"/>
                </a:lnTo>
                <a:lnTo>
                  <a:pt x="7" y="5"/>
                </a:lnTo>
                <a:lnTo>
                  <a:pt x="5" y="6"/>
                </a:lnTo>
                <a:lnTo>
                  <a:pt x="2" y="8"/>
                </a:lnTo>
                <a:lnTo>
                  <a:pt x="0" y="10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" name="Freeform 152"/>
          <p:cNvSpPr>
            <a:spLocks/>
          </p:cNvSpPr>
          <p:nvPr/>
        </p:nvSpPr>
        <p:spPr bwMode="auto">
          <a:xfrm>
            <a:off x="2813050" y="2854325"/>
            <a:ext cx="58737" cy="17463"/>
          </a:xfrm>
          <a:custGeom>
            <a:avLst/>
            <a:gdLst>
              <a:gd name="T0" fmla="*/ 0 w 37"/>
              <a:gd name="T1" fmla="*/ 7 h 11"/>
              <a:gd name="T2" fmla="*/ 0 w 37"/>
              <a:gd name="T3" fmla="*/ 7 h 11"/>
              <a:gd name="T4" fmla="*/ 0 w 37"/>
              <a:gd name="T5" fmla="*/ 6 h 11"/>
              <a:gd name="T6" fmla="*/ 1 w 37"/>
              <a:gd name="T7" fmla="*/ 6 h 11"/>
              <a:gd name="T8" fmla="*/ 1 w 37"/>
              <a:gd name="T9" fmla="*/ 5 h 11"/>
              <a:gd name="T10" fmla="*/ 2 w 37"/>
              <a:gd name="T11" fmla="*/ 4 h 11"/>
              <a:gd name="T12" fmla="*/ 4 w 37"/>
              <a:gd name="T13" fmla="*/ 4 h 11"/>
              <a:gd name="T14" fmla="*/ 5 w 37"/>
              <a:gd name="T15" fmla="*/ 3 h 11"/>
              <a:gd name="T16" fmla="*/ 7 w 37"/>
              <a:gd name="T17" fmla="*/ 2 h 11"/>
              <a:gd name="T18" fmla="*/ 9 w 37"/>
              <a:gd name="T19" fmla="*/ 2 h 11"/>
              <a:gd name="T20" fmla="*/ 12 w 37"/>
              <a:gd name="T21" fmla="*/ 0 h 11"/>
              <a:gd name="T22" fmla="*/ 15 w 37"/>
              <a:gd name="T23" fmla="*/ 0 h 11"/>
              <a:gd name="T24" fmla="*/ 19 w 37"/>
              <a:gd name="T25" fmla="*/ 0 h 11"/>
              <a:gd name="T26" fmla="*/ 22 w 37"/>
              <a:gd name="T27" fmla="*/ 0 h 11"/>
              <a:gd name="T28" fmla="*/ 27 w 37"/>
              <a:gd name="T29" fmla="*/ 2 h 11"/>
              <a:gd name="T30" fmla="*/ 32 w 37"/>
              <a:gd name="T31" fmla="*/ 3 h 11"/>
              <a:gd name="T32" fmla="*/ 37 w 37"/>
              <a:gd name="T33" fmla="*/ 4 h 11"/>
              <a:gd name="T34" fmla="*/ 37 w 37"/>
              <a:gd name="T35" fmla="*/ 6 h 11"/>
              <a:gd name="T36" fmla="*/ 36 w 37"/>
              <a:gd name="T37" fmla="*/ 6 h 11"/>
              <a:gd name="T38" fmla="*/ 36 w 37"/>
              <a:gd name="T39" fmla="*/ 6 h 11"/>
              <a:gd name="T40" fmla="*/ 34 w 37"/>
              <a:gd name="T41" fmla="*/ 5 h 11"/>
              <a:gd name="T42" fmla="*/ 33 w 37"/>
              <a:gd name="T43" fmla="*/ 5 h 11"/>
              <a:gd name="T44" fmla="*/ 30 w 37"/>
              <a:gd name="T45" fmla="*/ 5 h 11"/>
              <a:gd name="T46" fmla="*/ 28 w 37"/>
              <a:gd name="T47" fmla="*/ 4 h 11"/>
              <a:gd name="T48" fmla="*/ 25 w 37"/>
              <a:gd name="T49" fmla="*/ 4 h 11"/>
              <a:gd name="T50" fmla="*/ 22 w 37"/>
              <a:gd name="T51" fmla="*/ 3 h 11"/>
              <a:gd name="T52" fmla="*/ 19 w 37"/>
              <a:gd name="T53" fmla="*/ 3 h 11"/>
              <a:gd name="T54" fmla="*/ 15 w 37"/>
              <a:gd name="T55" fmla="*/ 3 h 11"/>
              <a:gd name="T56" fmla="*/ 13 w 37"/>
              <a:gd name="T57" fmla="*/ 4 h 11"/>
              <a:gd name="T58" fmla="*/ 9 w 37"/>
              <a:gd name="T59" fmla="*/ 4 h 11"/>
              <a:gd name="T60" fmla="*/ 7 w 37"/>
              <a:gd name="T61" fmla="*/ 5 h 11"/>
              <a:gd name="T62" fmla="*/ 5 w 37"/>
              <a:gd name="T63" fmla="*/ 6 h 11"/>
              <a:gd name="T64" fmla="*/ 2 w 37"/>
              <a:gd name="T65" fmla="*/ 9 h 11"/>
              <a:gd name="T66" fmla="*/ 0 w 37"/>
              <a:gd name="T67" fmla="*/ 11 h 11"/>
              <a:gd name="T68" fmla="*/ 0 w 37"/>
              <a:gd name="T69" fmla="*/ 7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7" h="11">
                <a:moveTo>
                  <a:pt x="0" y="7"/>
                </a:move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2" y="4"/>
                </a:lnTo>
                <a:lnTo>
                  <a:pt x="4" y="4"/>
                </a:lnTo>
                <a:lnTo>
                  <a:pt x="5" y="3"/>
                </a:lnTo>
                <a:lnTo>
                  <a:pt x="7" y="2"/>
                </a:lnTo>
                <a:lnTo>
                  <a:pt x="9" y="2"/>
                </a:lnTo>
                <a:lnTo>
                  <a:pt x="12" y="0"/>
                </a:lnTo>
                <a:lnTo>
                  <a:pt x="15" y="0"/>
                </a:lnTo>
                <a:lnTo>
                  <a:pt x="19" y="0"/>
                </a:lnTo>
                <a:lnTo>
                  <a:pt x="22" y="0"/>
                </a:lnTo>
                <a:lnTo>
                  <a:pt x="27" y="2"/>
                </a:lnTo>
                <a:lnTo>
                  <a:pt x="32" y="3"/>
                </a:lnTo>
                <a:lnTo>
                  <a:pt x="37" y="4"/>
                </a:lnTo>
                <a:lnTo>
                  <a:pt x="37" y="6"/>
                </a:lnTo>
                <a:lnTo>
                  <a:pt x="36" y="6"/>
                </a:lnTo>
                <a:lnTo>
                  <a:pt x="36" y="6"/>
                </a:lnTo>
                <a:lnTo>
                  <a:pt x="34" y="5"/>
                </a:lnTo>
                <a:lnTo>
                  <a:pt x="33" y="5"/>
                </a:lnTo>
                <a:lnTo>
                  <a:pt x="30" y="5"/>
                </a:lnTo>
                <a:lnTo>
                  <a:pt x="28" y="4"/>
                </a:lnTo>
                <a:lnTo>
                  <a:pt x="25" y="4"/>
                </a:lnTo>
                <a:lnTo>
                  <a:pt x="22" y="3"/>
                </a:lnTo>
                <a:lnTo>
                  <a:pt x="19" y="3"/>
                </a:lnTo>
                <a:lnTo>
                  <a:pt x="15" y="3"/>
                </a:lnTo>
                <a:lnTo>
                  <a:pt x="13" y="4"/>
                </a:lnTo>
                <a:lnTo>
                  <a:pt x="9" y="4"/>
                </a:lnTo>
                <a:lnTo>
                  <a:pt x="7" y="5"/>
                </a:lnTo>
                <a:lnTo>
                  <a:pt x="5" y="6"/>
                </a:lnTo>
                <a:lnTo>
                  <a:pt x="2" y="9"/>
                </a:lnTo>
                <a:lnTo>
                  <a:pt x="0" y="11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" name="Freeform 153"/>
          <p:cNvSpPr>
            <a:spLocks/>
          </p:cNvSpPr>
          <p:nvPr/>
        </p:nvSpPr>
        <p:spPr bwMode="auto">
          <a:xfrm>
            <a:off x="2868612" y="2836863"/>
            <a:ext cx="96838" cy="179387"/>
          </a:xfrm>
          <a:custGeom>
            <a:avLst/>
            <a:gdLst>
              <a:gd name="T0" fmla="*/ 0 w 61"/>
              <a:gd name="T1" fmla="*/ 0 h 113"/>
              <a:gd name="T2" fmla="*/ 0 w 61"/>
              <a:gd name="T3" fmla="*/ 110 h 113"/>
              <a:gd name="T4" fmla="*/ 19 w 61"/>
              <a:gd name="T5" fmla="*/ 113 h 113"/>
              <a:gd name="T6" fmla="*/ 18 w 61"/>
              <a:gd name="T7" fmla="*/ 98 h 113"/>
              <a:gd name="T8" fmla="*/ 61 w 61"/>
              <a:gd name="T9" fmla="*/ 105 h 113"/>
              <a:gd name="T10" fmla="*/ 61 w 61"/>
              <a:gd name="T11" fmla="*/ 99 h 113"/>
              <a:gd name="T12" fmla="*/ 30 w 61"/>
              <a:gd name="T13" fmla="*/ 96 h 113"/>
              <a:gd name="T14" fmla="*/ 29 w 61"/>
              <a:gd name="T15" fmla="*/ 83 h 113"/>
              <a:gd name="T16" fmla="*/ 9 w 61"/>
              <a:gd name="T17" fmla="*/ 83 h 113"/>
              <a:gd name="T18" fmla="*/ 8 w 61"/>
              <a:gd name="T19" fmla="*/ 80 h 113"/>
              <a:gd name="T20" fmla="*/ 7 w 61"/>
              <a:gd name="T21" fmla="*/ 76 h 113"/>
              <a:gd name="T22" fmla="*/ 6 w 61"/>
              <a:gd name="T23" fmla="*/ 69 h 113"/>
              <a:gd name="T24" fmla="*/ 4 w 61"/>
              <a:gd name="T25" fmla="*/ 59 h 113"/>
              <a:gd name="T26" fmla="*/ 2 w 61"/>
              <a:gd name="T27" fmla="*/ 48 h 113"/>
              <a:gd name="T28" fmla="*/ 1 w 61"/>
              <a:gd name="T29" fmla="*/ 34 h 113"/>
              <a:gd name="T30" fmla="*/ 2 w 61"/>
              <a:gd name="T31" fmla="*/ 20 h 113"/>
              <a:gd name="T32" fmla="*/ 6 w 61"/>
              <a:gd name="T33" fmla="*/ 3 h 113"/>
              <a:gd name="T34" fmla="*/ 0 w 61"/>
              <a:gd name="T35" fmla="*/ 0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1" h="113">
                <a:moveTo>
                  <a:pt x="0" y="0"/>
                </a:moveTo>
                <a:lnTo>
                  <a:pt x="0" y="110"/>
                </a:lnTo>
                <a:lnTo>
                  <a:pt x="19" y="113"/>
                </a:lnTo>
                <a:lnTo>
                  <a:pt x="18" y="98"/>
                </a:lnTo>
                <a:lnTo>
                  <a:pt x="61" y="105"/>
                </a:lnTo>
                <a:lnTo>
                  <a:pt x="61" y="99"/>
                </a:lnTo>
                <a:lnTo>
                  <a:pt x="30" y="96"/>
                </a:lnTo>
                <a:lnTo>
                  <a:pt x="29" y="83"/>
                </a:lnTo>
                <a:lnTo>
                  <a:pt x="9" y="83"/>
                </a:lnTo>
                <a:lnTo>
                  <a:pt x="8" y="80"/>
                </a:lnTo>
                <a:lnTo>
                  <a:pt x="7" y="76"/>
                </a:lnTo>
                <a:lnTo>
                  <a:pt x="6" y="69"/>
                </a:lnTo>
                <a:lnTo>
                  <a:pt x="4" y="59"/>
                </a:lnTo>
                <a:lnTo>
                  <a:pt x="2" y="48"/>
                </a:lnTo>
                <a:lnTo>
                  <a:pt x="1" y="34"/>
                </a:lnTo>
                <a:lnTo>
                  <a:pt x="2" y="20"/>
                </a:lnTo>
                <a:lnTo>
                  <a:pt x="6" y="3"/>
                </a:lnTo>
                <a:lnTo>
                  <a:pt x="0" y="0"/>
                </a:lnTo>
                <a:close/>
              </a:path>
            </a:pathLst>
          </a:custGeom>
          <a:solidFill>
            <a:srgbClr val="001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7" name="Freeform 154"/>
          <p:cNvSpPr>
            <a:spLocks/>
          </p:cNvSpPr>
          <p:nvPr/>
        </p:nvSpPr>
        <p:spPr bwMode="auto">
          <a:xfrm>
            <a:off x="2916237" y="2795588"/>
            <a:ext cx="125413" cy="23812"/>
          </a:xfrm>
          <a:custGeom>
            <a:avLst/>
            <a:gdLst>
              <a:gd name="T0" fmla="*/ 0 w 79"/>
              <a:gd name="T1" fmla="*/ 15 h 15"/>
              <a:gd name="T2" fmla="*/ 0 w 79"/>
              <a:gd name="T3" fmla="*/ 15 h 15"/>
              <a:gd name="T4" fmla="*/ 3 w 79"/>
              <a:gd name="T5" fmla="*/ 14 h 15"/>
              <a:gd name="T6" fmla="*/ 4 w 79"/>
              <a:gd name="T7" fmla="*/ 14 h 15"/>
              <a:gd name="T8" fmla="*/ 7 w 79"/>
              <a:gd name="T9" fmla="*/ 13 h 15"/>
              <a:gd name="T10" fmla="*/ 11 w 79"/>
              <a:gd name="T11" fmla="*/ 12 h 15"/>
              <a:gd name="T12" fmla="*/ 14 w 79"/>
              <a:gd name="T13" fmla="*/ 11 h 15"/>
              <a:gd name="T14" fmla="*/ 19 w 79"/>
              <a:gd name="T15" fmla="*/ 9 h 15"/>
              <a:gd name="T16" fmla="*/ 24 w 79"/>
              <a:gd name="T17" fmla="*/ 8 h 15"/>
              <a:gd name="T18" fmla="*/ 30 w 79"/>
              <a:gd name="T19" fmla="*/ 8 h 15"/>
              <a:gd name="T20" fmla="*/ 35 w 79"/>
              <a:gd name="T21" fmla="*/ 7 h 15"/>
              <a:gd name="T22" fmla="*/ 42 w 79"/>
              <a:gd name="T23" fmla="*/ 7 h 15"/>
              <a:gd name="T24" fmla="*/ 48 w 79"/>
              <a:gd name="T25" fmla="*/ 6 h 15"/>
              <a:gd name="T26" fmla="*/ 55 w 79"/>
              <a:gd name="T27" fmla="*/ 7 h 15"/>
              <a:gd name="T28" fmla="*/ 62 w 79"/>
              <a:gd name="T29" fmla="*/ 7 h 15"/>
              <a:gd name="T30" fmla="*/ 69 w 79"/>
              <a:gd name="T31" fmla="*/ 8 h 15"/>
              <a:gd name="T32" fmla="*/ 76 w 79"/>
              <a:gd name="T33" fmla="*/ 9 h 15"/>
              <a:gd name="T34" fmla="*/ 79 w 79"/>
              <a:gd name="T35" fmla="*/ 0 h 15"/>
              <a:gd name="T36" fmla="*/ 79 w 79"/>
              <a:gd name="T37" fmla="*/ 0 h 15"/>
              <a:gd name="T38" fmla="*/ 76 w 79"/>
              <a:gd name="T39" fmla="*/ 0 h 15"/>
              <a:gd name="T40" fmla="*/ 74 w 79"/>
              <a:gd name="T41" fmla="*/ 0 h 15"/>
              <a:gd name="T42" fmla="*/ 70 w 79"/>
              <a:gd name="T43" fmla="*/ 0 h 15"/>
              <a:gd name="T44" fmla="*/ 66 w 79"/>
              <a:gd name="T45" fmla="*/ 0 h 15"/>
              <a:gd name="T46" fmla="*/ 61 w 79"/>
              <a:gd name="T47" fmla="*/ 0 h 15"/>
              <a:gd name="T48" fmla="*/ 56 w 79"/>
              <a:gd name="T49" fmla="*/ 0 h 15"/>
              <a:gd name="T50" fmla="*/ 51 w 79"/>
              <a:gd name="T51" fmla="*/ 1 h 15"/>
              <a:gd name="T52" fmla="*/ 44 w 79"/>
              <a:gd name="T53" fmla="*/ 1 h 15"/>
              <a:gd name="T54" fmla="*/ 38 w 79"/>
              <a:gd name="T55" fmla="*/ 1 h 15"/>
              <a:gd name="T56" fmla="*/ 31 w 79"/>
              <a:gd name="T57" fmla="*/ 2 h 15"/>
              <a:gd name="T58" fmla="*/ 25 w 79"/>
              <a:gd name="T59" fmla="*/ 4 h 15"/>
              <a:gd name="T60" fmla="*/ 18 w 79"/>
              <a:gd name="T61" fmla="*/ 5 h 15"/>
              <a:gd name="T62" fmla="*/ 12 w 79"/>
              <a:gd name="T63" fmla="*/ 6 h 15"/>
              <a:gd name="T64" fmla="*/ 6 w 79"/>
              <a:gd name="T65" fmla="*/ 7 h 15"/>
              <a:gd name="T66" fmla="*/ 0 w 79"/>
              <a:gd name="T67" fmla="*/ 8 h 15"/>
              <a:gd name="T68" fmla="*/ 0 w 79"/>
              <a:gd name="T69" fmla="*/ 15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9" h="15">
                <a:moveTo>
                  <a:pt x="0" y="15"/>
                </a:moveTo>
                <a:lnTo>
                  <a:pt x="0" y="15"/>
                </a:lnTo>
                <a:lnTo>
                  <a:pt x="3" y="14"/>
                </a:lnTo>
                <a:lnTo>
                  <a:pt x="4" y="14"/>
                </a:lnTo>
                <a:lnTo>
                  <a:pt x="7" y="13"/>
                </a:lnTo>
                <a:lnTo>
                  <a:pt x="11" y="12"/>
                </a:lnTo>
                <a:lnTo>
                  <a:pt x="14" y="11"/>
                </a:lnTo>
                <a:lnTo>
                  <a:pt x="19" y="9"/>
                </a:lnTo>
                <a:lnTo>
                  <a:pt x="24" y="8"/>
                </a:lnTo>
                <a:lnTo>
                  <a:pt x="30" y="8"/>
                </a:lnTo>
                <a:lnTo>
                  <a:pt x="35" y="7"/>
                </a:lnTo>
                <a:lnTo>
                  <a:pt x="42" y="7"/>
                </a:lnTo>
                <a:lnTo>
                  <a:pt x="48" y="6"/>
                </a:lnTo>
                <a:lnTo>
                  <a:pt x="55" y="7"/>
                </a:lnTo>
                <a:lnTo>
                  <a:pt x="62" y="7"/>
                </a:lnTo>
                <a:lnTo>
                  <a:pt x="69" y="8"/>
                </a:lnTo>
                <a:lnTo>
                  <a:pt x="76" y="9"/>
                </a:lnTo>
                <a:lnTo>
                  <a:pt x="79" y="0"/>
                </a:lnTo>
                <a:lnTo>
                  <a:pt x="79" y="0"/>
                </a:lnTo>
                <a:lnTo>
                  <a:pt x="76" y="0"/>
                </a:lnTo>
                <a:lnTo>
                  <a:pt x="74" y="0"/>
                </a:lnTo>
                <a:lnTo>
                  <a:pt x="70" y="0"/>
                </a:lnTo>
                <a:lnTo>
                  <a:pt x="66" y="0"/>
                </a:lnTo>
                <a:lnTo>
                  <a:pt x="61" y="0"/>
                </a:lnTo>
                <a:lnTo>
                  <a:pt x="56" y="0"/>
                </a:lnTo>
                <a:lnTo>
                  <a:pt x="51" y="1"/>
                </a:lnTo>
                <a:lnTo>
                  <a:pt x="44" y="1"/>
                </a:lnTo>
                <a:lnTo>
                  <a:pt x="38" y="1"/>
                </a:lnTo>
                <a:lnTo>
                  <a:pt x="31" y="2"/>
                </a:lnTo>
                <a:lnTo>
                  <a:pt x="25" y="4"/>
                </a:lnTo>
                <a:lnTo>
                  <a:pt x="18" y="5"/>
                </a:lnTo>
                <a:lnTo>
                  <a:pt x="12" y="6"/>
                </a:lnTo>
                <a:lnTo>
                  <a:pt x="6" y="7"/>
                </a:lnTo>
                <a:lnTo>
                  <a:pt x="0" y="8"/>
                </a:lnTo>
                <a:lnTo>
                  <a:pt x="0" y="15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" name="Freeform 155"/>
          <p:cNvSpPr>
            <a:spLocks/>
          </p:cNvSpPr>
          <p:nvPr/>
        </p:nvSpPr>
        <p:spPr bwMode="auto">
          <a:xfrm>
            <a:off x="2844800" y="3019425"/>
            <a:ext cx="209550" cy="71438"/>
          </a:xfrm>
          <a:custGeom>
            <a:avLst/>
            <a:gdLst>
              <a:gd name="T0" fmla="*/ 55 w 132"/>
              <a:gd name="T1" fmla="*/ 44 h 45"/>
              <a:gd name="T2" fmla="*/ 56 w 132"/>
              <a:gd name="T3" fmla="*/ 42 h 45"/>
              <a:gd name="T4" fmla="*/ 56 w 132"/>
              <a:gd name="T5" fmla="*/ 42 h 45"/>
              <a:gd name="T6" fmla="*/ 57 w 132"/>
              <a:gd name="T7" fmla="*/ 42 h 45"/>
              <a:gd name="T8" fmla="*/ 59 w 132"/>
              <a:gd name="T9" fmla="*/ 41 h 45"/>
              <a:gd name="T10" fmla="*/ 61 w 132"/>
              <a:gd name="T11" fmla="*/ 41 h 45"/>
              <a:gd name="T12" fmla="*/ 63 w 132"/>
              <a:gd name="T13" fmla="*/ 40 h 45"/>
              <a:gd name="T14" fmla="*/ 65 w 132"/>
              <a:gd name="T15" fmla="*/ 39 h 45"/>
              <a:gd name="T16" fmla="*/ 68 w 132"/>
              <a:gd name="T17" fmla="*/ 38 h 45"/>
              <a:gd name="T18" fmla="*/ 71 w 132"/>
              <a:gd name="T19" fmla="*/ 37 h 45"/>
              <a:gd name="T20" fmla="*/ 73 w 132"/>
              <a:gd name="T21" fmla="*/ 34 h 45"/>
              <a:gd name="T22" fmla="*/ 76 w 132"/>
              <a:gd name="T23" fmla="*/ 33 h 45"/>
              <a:gd name="T24" fmla="*/ 78 w 132"/>
              <a:gd name="T25" fmla="*/ 31 h 45"/>
              <a:gd name="T26" fmla="*/ 80 w 132"/>
              <a:gd name="T27" fmla="*/ 30 h 45"/>
              <a:gd name="T28" fmla="*/ 82 w 132"/>
              <a:gd name="T29" fmla="*/ 27 h 45"/>
              <a:gd name="T30" fmla="*/ 84 w 132"/>
              <a:gd name="T31" fmla="*/ 26 h 45"/>
              <a:gd name="T32" fmla="*/ 85 w 132"/>
              <a:gd name="T33" fmla="*/ 24 h 45"/>
              <a:gd name="T34" fmla="*/ 0 w 132"/>
              <a:gd name="T35" fmla="*/ 3 h 45"/>
              <a:gd name="T36" fmla="*/ 6 w 132"/>
              <a:gd name="T37" fmla="*/ 0 h 45"/>
              <a:gd name="T38" fmla="*/ 132 w 132"/>
              <a:gd name="T39" fmla="*/ 32 h 45"/>
              <a:gd name="T40" fmla="*/ 126 w 132"/>
              <a:gd name="T41" fmla="*/ 34 h 45"/>
              <a:gd name="T42" fmla="*/ 90 w 132"/>
              <a:gd name="T43" fmla="*/ 25 h 45"/>
              <a:gd name="T44" fmla="*/ 90 w 132"/>
              <a:gd name="T45" fmla="*/ 25 h 45"/>
              <a:gd name="T46" fmla="*/ 90 w 132"/>
              <a:gd name="T47" fmla="*/ 26 h 45"/>
              <a:gd name="T48" fmla="*/ 89 w 132"/>
              <a:gd name="T49" fmla="*/ 26 h 45"/>
              <a:gd name="T50" fmla="*/ 89 w 132"/>
              <a:gd name="T51" fmla="*/ 27 h 45"/>
              <a:gd name="T52" fmla="*/ 87 w 132"/>
              <a:gd name="T53" fmla="*/ 28 h 45"/>
              <a:gd name="T54" fmla="*/ 86 w 132"/>
              <a:gd name="T55" fmla="*/ 30 h 45"/>
              <a:gd name="T56" fmla="*/ 85 w 132"/>
              <a:gd name="T57" fmla="*/ 31 h 45"/>
              <a:gd name="T58" fmla="*/ 83 w 132"/>
              <a:gd name="T59" fmla="*/ 32 h 45"/>
              <a:gd name="T60" fmla="*/ 80 w 132"/>
              <a:gd name="T61" fmla="*/ 33 h 45"/>
              <a:gd name="T62" fmla="*/ 78 w 132"/>
              <a:gd name="T63" fmla="*/ 34 h 45"/>
              <a:gd name="T64" fmla="*/ 76 w 132"/>
              <a:gd name="T65" fmla="*/ 37 h 45"/>
              <a:gd name="T66" fmla="*/ 72 w 132"/>
              <a:gd name="T67" fmla="*/ 38 h 45"/>
              <a:gd name="T68" fmla="*/ 70 w 132"/>
              <a:gd name="T69" fmla="*/ 40 h 45"/>
              <a:gd name="T70" fmla="*/ 65 w 132"/>
              <a:gd name="T71" fmla="*/ 41 h 45"/>
              <a:gd name="T72" fmla="*/ 62 w 132"/>
              <a:gd name="T73" fmla="*/ 42 h 45"/>
              <a:gd name="T74" fmla="*/ 57 w 132"/>
              <a:gd name="T75" fmla="*/ 45 h 45"/>
              <a:gd name="T76" fmla="*/ 55 w 132"/>
              <a:gd name="T77" fmla="*/ 44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32" h="45">
                <a:moveTo>
                  <a:pt x="55" y="44"/>
                </a:moveTo>
                <a:lnTo>
                  <a:pt x="56" y="42"/>
                </a:lnTo>
                <a:lnTo>
                  <a:pt x="56" y="42"/>
                </a:lnTo>
                <a:lnTo>
                  <a:pt x="57" y="42"/>
                </a:lnTo>
                <a:lnTo>
                  <a:pt x="59" y="41"/>
                </a:lnTo>
                <a:lnTo>
                  <a:pt x="61" y="41"/>
                </a:lnTo>
                <a:lnTo>
                  <a:pt x="63" y="40"/>
                </a:lnTo>
                <a:lnTo>
                  <a:pt x="65" y="39"/>
                </a:lnTo>
                <a:lnTo>
                  <a:pt x="68" y="38"/>
                </a:lnTo>
                <a:lnTo>
                  <a:pt x="71" y="37"/>
                </a:lnTo>
                <a:lnTo>
                  <a:pt x="73" y="34"/>
                </a:lnTo>
                <a:lnTo>
                  <a:pt x="76" y="33"/>
                </a:lnTo>
                <a:lnTo>
                  <a:pt x="78" y="31"/>
                </a:lnTo>
                <a:lnTo>
                  <a:pt x="80" y="30"/>
                </a:lnTo>
                <a:lnTo>
                  <a:pt x="82" y="27"/>
                </a:lnTo>
                <a:lnTo>
                  <a:pt x="84" y="26"/>
                </a:lnTo>
                <a:lnTo>
                  <a:pt x="85" y="24"/>
                </a:lnTo>
                <a:lnTo>
                  <a:pt x="0" y="3"/>
                </a:lnTo>
                <a:lnTo>
                  <a:pt x="6" y="0"/>
                </a:lnTo>
                <a:lnTo>
                  <a:pt x="132" y="32"/>
                </a:lnTo>
                <a:lnTo>
                  <a:pt x="126" y="34"/>
                </a:lnTo>
                <a:lnTo>
                  <a:pt x="90" y="25"/>
                </a:lnTo>
                <a:lnTo>
                  <a:pt x="90" y="25"/>
                </a:lnTo>
                <a:lnTo>
                  <a:pt x="90" y="26"/>
                </a:lnTo>
                <a:lnTo>
                  <a:pt x="89" y="26"/>
                </a:lnTo>
                <a:lnTo>
                  <a:pt x="89" y="27"/>
                </a:lnTo>
                <a:lnTo>
                  <a:pt x="87" y="28"/>
                </a:lnTo>
                <a:lnTo>
                  <a:pt x="86" y="30"/>
                </a:lnTo>
                <a:lnTo>
                  <a:pt x="85" y="31"/>
                </a:lnTo>
                <a:lnTo>
                  <a:pt x="83" y="32"/>
                </a:lnTo>
                <a:lnTo>
                  <a:pt x="80" y="33"/>
                </a:lnTo>
                <a:lnTo>
                  <a:pt x="78" y="34"/>
                </a:lnTo>
                <a:lnTo>
                  <a:pt x="76" y="37"/>
                </a:lnTo>
                <a:lnTo>
                  <a:pt x="72" y="38"/>
                </a:lnTo>
                <a:lnTo>
                  <a:pt x="70" y="40"/>
                </a:lnTo>
                <a:lnTo>
                  <a:pt x="65" y="41"/>
                </a:lnTo>
                <a:lnTo>
                  <a:pt x="62" y="42"/>
                </a:lnTo>
                <a:lnTo>
                  <a:pt x="57" y="45"/>
                </a:lnTo>
                <a:lnTo>
                  <a:pt x="55" y="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" name="Freeform 156"/>
          <p:cNvSpPr>
            <a:spLocks/>
          </p:cNvSpPr>
          <p:nvPr/>
        </p:nvSpPr>
        <p:spPr bwMode="auto">
          <a:xfrm>
            <a:off x="2800350" y="3038475"/>
            <a:ext cx="214312" cy="63500"/>
          </a:xfrm>
          <a:custGeom>
            <a:avLst/>
            <a:gdLst>
              <a:gd name="T0" fmla="*/ 0 w 135"/>
              <a:gd name="T1" fmla="*/ 0 h 40"/>
              <a:gd name="T2" fmla="*/ 132 w 135"/>
              <a:gd name="T3" fmla="*/ 40 h 40"/>
              <a:gd name="T4" fmla="*/ 135 w 135"/>
              <a:gd name="T5" fmla="*/ 40 h 40"/>
              <a:gd name="T6" fmla="*/ 5 w 135"/>
              <a:gd name="T7" fmla="*/ 0 h 40"/>
              <a:gd name="T8" fmla="*/ 0 w 135"/>
              <a:gd name="T9" fmla="*/ 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5" h="40">
                <a:moveTo>
                  <a:pt x="0" y="0"/>
                </a:moveTo>
                <a:lnTo>
                  <a:pt x="132" y="40"/>
                </a:lnTo>
                <a:lnTo>
                  <a:pt x="135" y="40"/>
                </a:ln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Freeform 157"/>
          <p:cNvSpPr>
            <a:spLocks/>
          </p:cNvSpPr>
          <p:nvPr/>
        </p:nvSpPr>
        <p:spPr bwMode="auto">
          <a:xfrm>
            <a:off x="2836862" y="3028950"/>
            <a:ext cx="209550" cy="57150"/>
          </a:xfrm>
          <a:custGeom>
            <a:avLst/>
            <a:gdLst>
              <a:gd name="T0" fmla="*/ 0 w 132"/>
              <a:gd name="T1" fmla="*/ 0 h 36"/>
              <a:gd name="T2" fmla="*/ 130 w 132"/>
              <a:gd name="T3" fmla="*/ 36 h 36"/>
              <a:gd name="T4" fmla="*/ 132 w 132"/>
              <a:gd name="T5" fmla="*/ 35 h 36"/>
              <a:gd name="T6" fmla="*/ 4 w 132"/>
              <a:gd name="T7" fmla="*/ 0 h 36"/>
              <a:gd name="T8" fmla="*/ 0 w 132"/>
              <a:gd name="T9" fmla="*/ 0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2" h="36">
                <a:moveTo>
                  <a:pt x="0" y="0"/>
                </a:moveTo>
                <a:lnTo>
                  <a:pt x="130" y="36"/>
                </a:lnTo>
                <a:lnTo>
                  <a:pt x="132" y="35"/>
                </a:ln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" name="Freeform 158"/>
          <p:cNvSpPr>
            <a:spLocks/>
          </p:cNvSpPr>
          <p:nvPr/>
        </p:nvSpPr>
        <p:spPr bwMode="auto">
          <a:xfrm>
            <a:off x="2820987" y="3033713"/>
            <a:ext cx="211138" cy="60325"/>
          </a:xfrm>
          <a:custGeom>
            <a:avLst/>
            <a:gdLst>
              <a:gd name="T0" fmla="*/ 0 w 133"/>
              <a:gd name="T1" fmla="*/ 0 h 38"/>
              <a:gd name="T2" fmla="*/ 130 w 133"/>
              <a:gd name="T3" fmla="*/ 38 h 38"/>
              <a:gd name="T4" fmla="*/ 133 w 133"/>
              <a:gd name="T5" fmla="*/ 38 h 38"/>
              <a:gd name="T6" fmla="*/ 3 w 133"/>
              <a:gd name="T7" fmla="*/ 0 h 38"/>
              <a:gd name="T8" fmla="*/ 0 w 133"/>
              <a:gd name="T9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3" h="38">
                <a:moveTo>
                  <a:pt x="0" y="0"/>
                </a:moveTo>
                <a:lnTo>
                  <a:pt x="130" y="38"/>
                </a:lnTo>
                <a:lnTo>
                  <a:pt x="133" y="38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159"/>
          <p:cNvSpPr>
            <a:spLocks/>
          </p:cNvSpPr>
          <p:nvPr/>
        </p:nvSpPr>
        <p:spPr bwMode="auto">
          <a:xfrm>
            <a:off x="3711575" y="2897188"/>
            <a:ext cx="395287" cy="331787"/>
          </a:xfrm>
          <a:custGeom>
            <a:avLst/>
            <a:gdLst>
              <a:gd name="T0" fmla="*/ 70 w 249"/>
              <a:gd name="T1" fmla="*/ 14 h 209"/>
              <a:gd name="T2" fmla="*/ 70 w 249"/>
              <a:gd name="T3" fmla="*/ 14 h 209"/>
              <a:gd name="T4" fmla="*/ 72 w 249"/>
              <a:gd name="T5" fmla="*/ 14 h 209"/>
              <a:gd name="T6" fmla="*/ 75 w 249"/>
              <a:gd name="T7" fmla="*/ 13 h 209"/>
              <a:gd name="T8" fmla="*/ 78 w 249"/>
              <a:gd name="T9" fmla="*/ 12 h 209"/>
              <a:gd name="T10" fmla="*/ 83 w 249"/>
              <a:gd name="T11" fmla="*/ 11 h 209"/>
              <a:gd name="T12" fmla="*/ 88 w 249"/>
              <a:gd name="T13" fmla="*/ 10 h 209"/>
              <a:gd name="T14" fmla="*/ 95 w 249"/>
              <a:gd name="T15" fmla="*/ 8 h 209"/>
              <a:gd name="T16" fmla="*/ 103 w 249"/>
              <a:gd name="T17" fmla="*/ 6 h 209"/>
              <a:gd name="T18" fmla="*/ 111 w 249"/>
              <a:gd name="T19" fmla="*/ 5 h 209"/>
              <a:gd name="T20" fmla="*/ 120 w 249"/>
              <a:gd name="T21" fmla="*/ 4 h 209"/>
              <a:gd name="T22" fmla="*/ 132 w 249"/>
              <a:gd name="T23" fmla="*/ 3 h 209"/>
              <a:gd name="T24" fmla="*/ 144 w 249"/>
              <a:gd name="T25" fmla="*/ 1 h 209"/>
              <a:gd name="T26" fmla="*/ 156 w 249"/>
              <a:gd name="T27" fmla="*/ 0 h 209"/>
              <a:gd name="T28" fmla="*/ 169 w 249"/>
              <a:gd name="T29" fmla="*/ 0 h 209"/>
              <a:gd name="T30" fmla="*/ 184 w 249"/>
              <a:gd name="T31" fmla="*/ 0 h 209"/>
              <a:gd name="T32" fmla="*/ 201 w 249"/>
              <a:gd name="T33" fmla="*/ 0 h 209"/>
              <a:gd name="T34" fmla="*/ 208 w 249"/>
              <a:gd name="T35" fmla="*/ 28 h 209"/>
              <a:gd name="T36" fmla="*/ 210 w 249"/>
              <a:gd name="T37" fmla="*/ 29 h 209"/>
              <a:gd name="T38" fmla="*/ 216 w 249"/>
              <a:gd name="T39" fmla="*/ 34 h 209"/>
              <a:gd name="T40" fmla="*/ 222 w 249"/>
              <a:gd name="T41" fmla="*/ 40 h 209"/>
              <a:gd name="T42" fmla="*/ 225 w 249"/>
              <a:gd name="T43" fmla="*/ 51 h 209"/>
              <a:gd name="T44" fmla="*/ 239 w 249"/>
              <a:gd name="T45" fmla="*/ 117 h 209"/>
              <a:gd name="T46" fmla="*/ 246 w 249"/>
              <a:gd name="T47" fmla="*/ 145 h 209"/>
              <a:gd name="T48" fmla="*/ 246 w 249"/>
              <a:gd name="T49" fmla="*/ 146 h 209"/>
              <a:gd name="T50" fmla="*/ 248 w 249"/>
              <a:gd name="T51" fmla="*/ 152 h 209"/>
              <a:gd name="T52" fmla="*/ 248 w 249"/>
              <a:gd name="T53" fmla="*/ 160 h 209"/>
              <a:gd name="T54" fmla="*/ 244 w 249"/>
              <a:gd name="T55" fmla="*/ 171 h 209"/>
              <a:gd name="T56" fmla="*/ 0 w 249"/>
              <a:gd name="T57" fmla="*/ 164 h 209"/>
              <a:gd name="T58" fmla="*/ 25 w 249"/>
              <a:gd name="T59" fmla="*/ 151 h 209"/>
              <a:gd name="T60" fmla="*/ 25 w 249"/>
              <a:gd name="T61" fmla="*/ 28 h 209"/>
              <a:gd name="T62" fmla="*/ 26 w 249"/>
              <a:gd name="T63" fmla="*/ 27 h 209"/>
              <a:gd name="T64" fmla="*/ 28 w 249"/>
              <a:gd name="T65" fmla="*/ 26 h 209"/>
              <a:gd name="T66" fmla="*/ 32 w 249"/>
              <a:gd name="T67" fmla="*/ 25 h 209"/>
              <a:gd name="T68" fmla="*/ 36 w 249"/>
              <a:gd name="T69" fmla="*/ 24 h 209"/>
              <a:gd name="T70" fmla="*/ 42 w 249"/>
              <a:gd name="T71" fmla="*/ 22 h 209"/>
              <a:gd name="T72" fmla="*/ 49 w 249"/>
              <a:gd name="T73" fmla="*/ 22 h 209"/>
              <a:gd name="T74" fmla="*/ 57 w 249"/>
              <a:gd name="T75" fmla="*/ 24 h 209"/>
              <a:gd name="T76" fmla="*/ 68 w 249"/>
              <a:gd name="T77" fmla="*/ 27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49" h="209">
                <a:moveTo>
                  <a:pt x="68" y="27"/>
                </a:moveTo>
                <a:lnTo>
                  <a:pt x="70" y="14"/>
                </a:lnTo>
                <a:lnTo>
                  <a:pt x="70" y="14"/>
                </a:lnTo>
                <a:lnTo>
                  <a:pt x="70" y="14"/>
                </a:lnTo>
                <a:lnTo>
                  <a:pt x="71" y="14"/>
                </a:lnTo>
                <a:lnTo>
                  <a:pt x="72" y="14"/>
                </a:lnTo>
                <a:lnTo>
                  <a:pt x="74" y="13"/>
                </a:lnTo>
                <a:lnTo>
                  <a:pt x="75" y="13"/>
                </a:lnTo>
                <a:lnTo>
                  <a:pt x="76" y="13"/>
                </a:lnTo>
                <a:lnTo>
                  <a:pt x="78" y="12"/>
                </a:lnTo>
                <a:lnTo>
                  <a:pt x="81" y="12"/>
                </a:lnTo>
                <a:lnTo>
                  <a:pt x="83" y="11"/>
                </a:lnTo>
                <a:lnTo>
                  <a:pt x="85" y="11"/>
                </a:lnTo>
                <a:lnTo>
                  <a:pt x="88" y="10"/>
                </a:lnTo>
                <a:lnTo>
                  <a:pt x="91" y="8"/>
                </a:lnTo>
                <a:lnTo>
                  <a:pt x="95" y="8"/>
                </a:lnTo>
                <a:lnTo>
                  <a:pt x="98" y="7"/>
                </a:lnTo>
                <a:lnTo>
                  <a:pt x="103" y="6"/>
                </a:lnTo>
                <a:lnTo>
                  <a:pt x="106" y="6"/>
                </a:lnTo>
                <a:lnTo>
                  <a:pt x="111" y="5"/>
                </a:lnTo>
                <a:lnTo>
                  <a:pt x="116" y="5"/>
                </a:lnTo>
                <a:lnTo>
                  <a:pt x="120" y="4"/>
                </a:lnTo>
                <a:lnTo>
                  <a:pt x="126" y="3"/>
                </a:lnTo>
                <a:lnTo>
                  <a:pt x="132" y="3"/>
                </a:lnTo>
                <a:lnTo>
                  <a:pt x="137" y="1"/>
                </a:lnTo>
                <a:lnTo>
                  <a:pt x="144" y="1"/>
                </a:lnTo>
                <a:lnTo>
                  <a:pt x="149" y="1"/>
                </a:lnTo>
                <a:lnTo>
                  <a:pt x="156" y="0"/>
                </a:lnTo>
                <a:lnTo>
                  <a:pt x="162" y="0"/>
                </a:lnTo>
                <a:lnTo>
                  <a:pt x="169" y="0"/>
                </a:lnTo>
                <a:lnTo>
                  <a:pt x="177" y="0"/>
                </a:lnTo>
                <a:lnTo>
                  <a:pt x="184" y="0"/>
                </a:lnTo>
                <a:lnTo>
                  <a:pt x="193" y="0"/>
                </a:lnTo>
                <a:lnTo>
                  <a:pt x="201" y="0"/>
                </a:lnTo>
                <a:lnTo>
                  <a:pt x="210" y="5"/>
                </a:lnTo>
                <a:lnTo>
                  <a:pt x="208" y="28"/>
                </a:lnTo>
                <a:lnTo>
                  <a:pt x="208" y="29"/>
                </a:lnTo>
                <a:lnTo>
                  <a:pt x="210" y="29"/>
                </a:lnTo>
                <a:lnTo>
                  <a:pt x="212" y="32"/>
                </a:lnTo>
                <a:lnTo>
                  <a:pt x="216" y="34"/>
                </a:lnTo>
                <a:lnTo>
                  <a:pt x="219" y="37"/>
                </a:lnTo>
                <a:lnTo>
                  <a:pt x="222" y="40"/>
                </a:lnTo>
                <a:lnTo>
                  <a:pt x="224" y="45"/>
                </a:lnTo>
                <a:lnTo>
                  <a:pt x="225" y="51"/>
                </a:lnTo>
                <a:lnTo>
                  <a:pt x="245" y="69"/>
                </a:lnTo>
                <a:lnTo>
                  <a:pt x="239" y="117"/>
                </a:lnTo>
                <a:lnTo>
                  <a:pt x="208" y="133"/>
                </a:lnTo>
                <a:lnTo>
                  <a:pt x="246" y="145"/>
                </a:lnTo>
                <a:lnTo>
                  <a:pt x="246" y="145"/>
                </a:lnTo>
                <a:lnTo>
                  <a:pt x="246" y="146"/>
                </a:lnTo>
                <a:lnTo>
                  <a:pt x="248" y="149"/>
                </a:lnTo>
                <a:lnTo>
                  <a:pt x="248" y="152"/>
                </a:lnTo>
                <a:lnTo>
                  <a:pt x="249" y="156"/>
                </a:lnTo>
                <a:lnTo>
                  <a:pt x="248" y="160"/>
                </a:lnTo>
                <a:lnTo>
                  <a:pt x="246" y="165"/>
                </a:lnTo>
                <a:lnTo>
                  <a:pt x="244" y="171"/>
                </a:lnTo>
                <a:lnTo>
                  <a:pt x="144" y="209"/>
                </a:lnTo>
                <a:lnTo>
                  <a:pt x="0" y="164"/>
                </a:lnTo>
                <a:lnTo>
                  <a:pt x="2" y="159"/>
                </a:lnTo>
                <a:lnTo>
                  <a:pt x="25" y="151"/>
                </a:lnTo>
                <a:lnTo>
                  <a:pt x="25" y="28"/>
                </a:lnTo>
                <a:lnTo>
                  <a:pt x="25" y="28"/>
                </a:lnTo>
                <a:lnTo>
                  <a:pt x="25" y="28"/>
                </a:lnTo>
                <a:lnTo>
                  <a:pt x="26" y="27"/>
                </a:lnTo>
                <a:lnTo>
                  <a:pt x="27" y="27"/>
                </a:lnTo>
                <a:lnTo>
                  <a:pt x="28" y="26"/>
                </a:lnTo>
                <a:lnTo>
                  <a:pt x="30" y="26"/>
                </a:lnTo>
                <a:lnTo>
                  <a:pt x="32" y="25"/>
                </a:lnTo>
                <a:lnTo>
                  <a:pt x="34" y="24"/>
                </a:lnTo>
                <a:lnTo>
                  <a:pt x="36" y="24"/>
                </a:lnTo>
                <a:lnTo>
                  <a:pt x="40" y="22"/>
                </a:lnTo>
                <a:lnTo>
                  <a:pt x="42" y="22"/>
                </a:lnTo>
                <a:lnTo>
                  <a:pt x="46" y="22"/>
                </a:lnTo>
                <a:lnTo>
                  <a:pt x="49" y="22"/>
                </a:lnTo>
                <a:lnTo>
                  <a:pt x="53" y="22"/>
                </a:lnTo>
                <a:lnTo>
                  <a:pt x="57" y="24"/>
                </a:lnTo>
                <a:lnTo>
                  <a:pt x="61" y="25"/>
                </a:lnTo>
                <a:lnTo>
                  <a:pt x="68" y="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Freeform 160"/>
          <p:cNvSpPr>
            <a:spLocks/>
          </p:cNvSpPr>
          <p:nvPr/>
        </p:nvSpPr>
        <p:spPr bwMode="auto">
          <a:xfrm>
            <a:off x="3848100" y="2921000"/>
            <a:ext cx="127000" cy="146050"/>
          </a:xfrm>
          <a:custGeom>
            <a:avLst/>
            <a:gdLst>
              <a:gd name="T0" fmla="*/ 79 w 80"/>
              <a:gd name="T1" fmla="*/ 4 h 92"/>
              <a:gd name="T2" fmla="*/ 79 w 80"/>
              <a:gd name="T3" fmla="*/ 4 h 92"/>
              <a:gd name="T4" fmla="*/ 77 w 80"/>
              <a:gd name="T5" fmla="*/ 4 h 92"/>
              <a:gd name="T6" fmla="*/ 75 w 80"/>
              <a:gd name="T7" fmla="*/ 3 h 92"/>
              <a:gd name="T8" fmla="*/ 73 w 80"/>
              <a:gd name="T9" fmla="*/ 3 h 92"/>
              <a:gd name="T10" fmla="*/ 69 w 80"/>
              <a:gd name="T11" fmla="*/ 2 h 92"/>
              <a:gd name="T12" fmla="*/ 66 w 80"/>
              <a:gd name="T13" fmla="*/ 2 h 92"/>
              <a:gd name="T14" fmla="*/ 61 w 80"/>
              <a:gd name="T15" fmla="*/ 2 h 92"/>
              <a:gd name="T16" fmla="*/ 56 w 80"/>
              <a:gd name="T17" fmla="*/ 0 h 92"/>
              <a:gd name="T18" fmla="*/ 51 w 80"/>
              <a:gd name="T19" fmla="*/ 0 h 92"/>
              <a:gd name="T20" fmla="*/ 45 w 80"/>
              <a:gd name="T21" fmla="*/ 2 h 92"/>
              <a:gd name="T22" fmla="*/ 39 w 80"/>
              <a:gd name="T23" fmla="*/ 2 h 92"/>
              <a:gd name="T24" fmla="*/ 32 w 80"/>
              <a:gd name="T25" fmla="*/ 3 h 92"/>
              <a:gd name="T26" fmla="*/ 26 w 80"/>
              <a:gd name="T27" fmla="*/ 4 h 92"/>
              <a:gd name="T28" fmla="*/ 19 w 80"/>
              <a:gd name="T29" fmla="*/ 6 h 92"/>
              <a:gd name="T30" fmla="*/ 12 w 80"/>
              <a:gd name="T31" fmla="*/ 9 h 92"/>
              <a:gd name="T32" fmla="*/ 5 w 80"/>
              <a:gd name="T33" fmla="*/ 12 h 92"/>
              <a:gd name="T34" fmla="*/ 5 w 80"/>
              <a:gd name="T35" fmla="*/ 13 h 92"/>
              <a:gd name="T36" fmla="*/ 4 w 80"/>
              <a:gd name="T37" fmla="*/ 18 h 92"/>
              <a:gd name="T38" fmla="*/ 2 w 80"/>
              <a:gd name="T39" fmla="*/ 26 h 92"/>
              <a:gd name="T40" fmla="*/ 0 w 80"/>
              <a:gd name="T41" fmla="*/ 36 h 92"/>
              <a:gd name="T42" fmla="*/ 0 w 80"/>
              <a:gd name="T43" fmla="*/ 47 h 92"/>
              <a:gd name="T44" fmla="*/ 0 w 80"/>
              <a:gd name="T45" fmla="*/ 61 h 92"/>
              <a:gd name="T46" fmla="*/ 3 w 80"/>
              <a:gd name="T47" fmla="*/ 75 h 92"/>
              <a:gd name="T48" fmla="*/ 6 w 80"/>
              <a:gd name="T49" fmla="*/ 89 h 92"/>
              <a:gd name="T50" fmla="*/ 7 w 80"/>
              <a:gd name="T51" fmla="*/ 89 h 92"/>
              <a:gd name="T52" fmla="*/ 9 w 80"/>
              <a:gd name="T53" fmla="*/ 89 h 92"/>
              <a:gd name="T54" fmla="*/ 10 w 80"/>
              <a:gd name="T55" fmla="*/ 89 h 92"/>
              <a:gd name="T56" fmla="*/ 12 w 80"/>
              <a:gd name="T57" fmla="*/ 89 h 92"/>
              <a:gd name="T58" fmla="*/ 16 w 80"/>
              <a:gd name="T59" fmla="*/ 88 h 92"/>
              <a:gd name="T60" fmla="*/ 19 w 80"/>
              <a:gd name="T61" fmla="*/ 88 h 92"/>
              <a:gd name="T62" fmla="*/ 23 w 80"/>
              <a:gd name="T63" fmla="*/ 88 h 92"/>
              <a:gd name="T64" fmla="*/ 27 w 80"/>
              <a:gd name="T65" fmla="*/ 88 h 92"/>
              <a:gd name="T66" fmla="*/ 33 w 80"/>
              <a:gd name="T67" fmla="*/ 88 h 92"/>
              <a:gd name="T68" fmla="*/ 39 w 80"/>
              <a:gd name="T69" fmla="*/ 88 h 92"/>
              <a:gd name="T70" fmla="*/ 45 w 80"/>
              <a:gd name="T71" fmla="*/ 88 h 92"/>
              <a:gd name="T72" fmla="*/ 51 w 80"/>
              <a:gd name="T73" fmla="*/ 88 h 92"/>
              <a:gd name="T74" fmla="*/ 58 w 80"/>
              <a:gd name="T75" fmla="*/ 89 h 92"/>
              <a:gd name="T76" fmla="*/ 65 w 80"/>
              <a:gd name="T77" fmla="*/ 89 h 92"/>
              <a:gd name="T78" fmla="*/ 72 w 80"/>
              <a:gd name="T79" fmla="*/ 90 h 92"/>
              <a:gd name="T80" fmla="*/ 80 w 80"/>
              <a:gd name="T81" fmla="*/ 92 h 92"/>
              <a:gd name="T82" fmla="*/ 80 w 80"/>
              <a:gd name="T83" fmla="*/ 89 h 92"/>
              <a:gd name="T84" fmla="*/ 79 w 80"/>
              <a:gd name="T85" fmla="*/ 82 h 92"/>
              <a:gd name="T86" fmla="*/ 77 w 80"/>
              <a:gd name="T87" fmla="*/ 71 h 92"/>
              <a:gd name="T88" fmla="*/ 76 w 80"/>
              <a:gd name="T89" fmla="*/ 58 h 92"/>
              <a:gd name="T90" fmla="*/ 76 w 80"/>
              <a:gd name="T91" fmla="*/ 44 h 92"/>
              <a:gd name="T92" fmla="*/ 76 w 80"/>
              <a:gd name="T93" fmla="*/ 30 h 92"/>
              <a:gd name="T94" fmla="*/ 77 w 80"/>
              <a:gd name="T95" fmla="*/ 16 h 92"/>
              <a:gd name="T96" fmla="*/ 79 w 80"/>
              <a:gd name="T97" fmla="*/ 4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80" h="92">
                <a:moveTo>
                  <a:pt x="79" y="4"/>
                </a:moveTo>
                <a:lnTo>
                  <a:pt x="79" y="4"/>
                </a:lnTo>
                <a:lnTo>
                  <a:pt x="77" y="4"/>
                </a:lnTo>
                <a:lnTo>
                  <a:pt x="75" y="3"/>
                </a:lnTo>
                <a:lnTo>
                  <a:pt x="73" y="3"/>
                </a:lnTo>
                <a:lnTo>
                  <a:pt x="69" y="2"/>
                </a:lnTo>
                <a:lnTo>
                  <a:pt x="66" y="2"/>
                </a:lnTo>
                <a:lnTo>
                  <a:pt x="61" y="2"/>
                </a:lnTo>
                <a:lnTo>
                  <a:pt x="56" y="0"/>
                </a:lnTo>
                <a:lnTo>
                  <a:pt x="51" y="0"/>
                </a:lnTo>
                <a:lnTo>
                  <a:pt x="45" y="2"/>
                </a:lnTo>
                <a:lnTo>
                  <a:pt x="39" y="2"/>
                </a:lnTo>
                <a:lnTo>
                  <a:pt x="32" y="3"/>
                </a:lnTo>
                <a:lnTo>
                  <a:pt x="26" y="4"/>
                </a:lnTo>
                <a:lnTo>
                  <a:pt x="19" y="6"/>
                </a:lnTo>
                <a:lnTo>
                  <a:pt x="12" y="9"/>
                </a:lnTo>
                <a:lnTo>
                  <a:pt x="5" y="12"/>
                </a:lnTo>
                <a:lnTo>
                  <a:pt x="5" y="13"/>
                </a:lnTo>
                <a:lnTo>
                  <a:pt x="4" y="18"/>
                </a:lnTo>
                <a:lnTo>
                  <a:pt x="2" y="26"/>
                </a:lnTo>
                <a:lnTo>
                  <a:pt x="0" y="36"/>
                </a:lnTo>
                <a:lnTo>
                  <a:pt x="0" y="47"/>
                </a:lnTo>
                <a:lnTo>
                  <a:pt x="0" y="61"/>
                </a:lnTo>
                <a:lnTo>
                  <a:pt x="3" y="75"/>
                </a:lnTo>
                <a:lnTo>
                  <a:pt x="6" y="89"/>
                </a:lnTo>
                <a:lnTo>
                  <a:pt x="7" y="89"/>
                </a:lnTo>
                <a:lnTo>
                  <a:pt x="9" y="89"/>
                </a:lnTo>
                <a:lnTo>
                  <a:pt x="10" y="89"/>
                </a:lnTo>
                <a:lnTo>
                  <a:pt x="12" y="89"/>
                </a:lnTo>
                <a:lnTo>
                  <a:pt x="16" y="88"/>
                </a:lnTo>
                <a:lnTo>
                  <a:pt x="19" y="88"/>
                </a:lnTo>
                <a:lnTo>
                  <a:pt x="23" y="88"/>
                </a:lnTo>
                <a:lnTo>
                  <a:pt x="27" y="88"/>
                </a:lnTo>
                <a:lnTo>
                  <a:pt x="33" y="88"/>
                </a:lnTo>
                <a:lnTo>
                  <a:pt x="39" y="88"/>
                </a:lnTo>
                <a:lnTo>
                  <a:pt x="45" y="88"/>
                </a:lnTo>
                <a:lnTo>
                  <a:pt x="51" y="88"/>
                </a:lnTo>
                <a:lnTo>
                  <a:pt x="58" y="89"/>
                </a:lnTo>
                <a:lnTo>
                  <a:pt x="65" y="89"/>
                </a:lnTo>
                <a:lnTo>
                  <a:pt x="72" y="90"/>
                </a:lnTo>
                <a:lnTo>
                  <a:pt x="80" y="92"/>
                </a:lnTo>
                <a:lnTo>
                  <a:pt x="80" y="89"/>
                </a:lnTo>
                <a:lnTo>
                  <a:pt x="79" y="82"/>
                </a:lnTo>
                <a:lnTo>
                  <a:pt x="77" y="71"/>
                </a:lnTo>
                <a:lnTo>
                  <a:pt x="76" y="58"/>
                </a:lnTo>
                <a:lnTo>
                  <a:pt x="76" y="44"/>
                </a:lnTo>
                <a:lnTo>
                  <a:pt x="76" y="30"/>
                </a:lnTo>
                <a:lnTo>
                  <a:pt x="77" y="16"/>
                </a:lnTo>
                <a:lnTo>
                  <a:pt x="79" y="4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Freeform 161"/>
          <p:cNvSpPr>
            <a:spLocks/>
          </p:cNvSpPr>
          <p:nvPr/>
        </p:nvSpPr>
        <p:spPr bwMode="auto">
          <a:xfrm>
            <a:off x="3862387" y="2962275"/>
            <a:ext cx="207963" cy="142875"/>
          </a:xfrm>
          <a:custGeom>
            <a:avLst/>
            <a:gdLst>
              <a:gd name="T0" fmla="*/ 1 w 131"/>
              <a:gd name="T1" fmla="*/ 68 h 90"/>
              <a:gd name="T2" fmla="*/ 0 w 131"/>
              <a:gd name="T3" fmla="*/ 78 h 90"/>
              <a:gd name="T4" fmla="*/ 86 w 131"/>
              <a:gd name="T5" fmla="*/ 90 h 90"/>
              <a:gd name="T6" fmla="*/ 86 w 131"/>
              <a:gd name="T7" fmla="*/ 90 h 90"/>
              <a:gd name="T8" fmla="*/ 88 w 131"/>
              <a:gd name="T9" fmla="*/ 89 h 90"/>
              <a:gd name="T10" fmla="*/ 91 w 131"/>
              <a:gd name="T11" fmla="*/ 88 h 90"/>
              <a:gd name="T12" fmla="*/ 94 w 131"/>
              <a:gd name="T13" fmla="*/ 85 h 90"/>
              <a:gd name="T14" fmla="*/ 98 w 131"/>
              <a:gd name="T15" fmla="*/ 83 h 90"/>
              <a:gd name="T16" fmla="*/ 102 w 131"/>
              <a:gd name="T17" fmla="*/ 80 h 90"/>
              <a:gd name="T18" fmla="*/ 107 w 131"/>
              <a:gd name="T19" fmla="*/ 75 h 90"/>
              <a:gd name="T20" fmla="*/ 112 w 131"/>
              <a:gd name="T21" fmla="*/ 71 h 90"/>
              <a:gd name="T22" fmla="*/ 116 w 131"/>
              <a:gd name="T23" fmla="*/ 66 h 90"/>
              <a:gd name="T24" fmla="*/ 121 w 131"/>
              <a:gd name="T25" fmla="*/ 60 h 90"/>
              <a:gd name="T26" fmla="*/ 124 w 131"/>
              <a:gd name="T27" fmla="*/ 54 h 90"/>
              <a:gd name="T28" fmla="*/ 128 w 131"/>
              <a:gd name="T29" fmla="*/ 47 h 90"/>
              <a:gd name="T30" fmla="*/ 130 w 131"/>
              <a:gd name="T31" fmla="*/ 40 h 90"/>
              <a:gd name="T32" fmla="*/ 131 w 131"/>
              <a:gd name="T33" fmla="*/ 32 h 90"/>
              <a:gd name="T34" fmla="*/ 131 w 131"/>
              <a:gd name="T35" fmla="*/ 22 h 90"/>
              <a:gd name="T36" fmla="*/ 129 w 131"/>
              <a:gd name="T37" fmla="*/ 13 h 90"/>
              <a:gd name="T38" fmla="*/ 129 w 131"/>
              <a:gd name="T39" fmla="*/ 13 h 90"/>
              <a:gd name="T40" fmla="*/ 128 w 131"/>
              <a:gd name="T41" fmla="*/ 11 h 90"/>
              <a:gd name="T42" fmla="*/ 127 w 131"/>
              <a:gd name="T43" fmla="*/ 10 h 90"/>
              <a:gd name="T44" fmla="*/ 126 w 131"/>
              <a:gd name="T45" fmla="*/ 7 h 90"/>
              <a:gd name="T46" fmla="*/ 123 w 131"/>
              <a:gd name="T47" fmla="*/ 4 h 90"/>
              <a:gd name="T48" fmla="*/ 120 w 131"/>
              <a:gd name="T49" fmla="*/ 3 h 90"/>
              <a:gd name="T50" fmla="*/ 116 w 131"/>
              <a:gd name="T51" fmla="*/ 0 h 90"/>
              <a:gd name="T52" fmla="*/ 113 w 131"/>
              <a:gd name="T53" fmla="*/ 0 h 90"/>
              <a:gd name="T54" fmla="*/ 113 w 131"/>
              <a:gd name="T55" fmla="*/ 1 h 90"/>
              <a:gd name="T56" fmla="*/ 114 w 131"/>
              <a:gd name="T57" fmla="*/ 5 h 90"/>
              <a:gd name="T58" fmla="*/ 116 w 131"/>
              <a:gd name="T59" fmla="*/ 12 h 90"/>
              <a:gd name="T60" fmla="*/ 117 w 131"/>
              <a:gd name="T61" fmla="*/ 19 h 90"/>
              <a:gd name="T62" fmla="*/ 117 w 131"/>
              <a:gd name="T63" fmla="*/ 29 h 90"/>
              <a:gd name="T64" fmla="*/ 116 w 131"/>
              <a:gd name="T65" fmla="*/ 40 h 90"/>
              <a:gd name="T66" fmla="*/ 114 w 131"/>
              <a:gd name="T67" fmla="*/ 52 h 90"/>
              <a:gd name="T68" fmla="*/ 108 w 131"/>
              <a:gd name="T69" fmla="*/ 63 h 90"/>
              <a:gd name="T70" fmla="*/ 108 w 131"/>
              <a:gd name="T71" fmla="*/ 63 h 90"/>
              <a:gd name="T72" fmla="*/ 108 w 131"/>
              <a:gd name="T73" fmla="*/ 64 h 90"/>
              <a:gd name="T74" fmla="*/ 107 w 131"/>
              <a:gd name="T75" fmla="*/ 64 h 90"/>
              <a:gd name="T76" fmla="*/ 106 w 131"/>
              <a:gd name="T77" fmla="*/ 66 h 90"/>
              <a:gd name="T78" fmla="*/ 105 w 131"/>
              <a:gd name="T79" fmla="*/ 67 h 90"/>
              <a:gd name="T80" fmla="*/ 102 w 131"/>
              <a:gd name="T81" fmla="*/ 68 h 90"/>
              <a:gd name="T82" fmla="*/ 100 w 131"/>
              <a:gd name="T83" fmla="*/ 69 h 90"/>
              <a:gd name="T84" fmla="*/ 98 w 131"/>
              <a:gd name="T85" fmla="*/ 70 h 90"/>
              <a:gd name="T86" fmla="*/ 95 w 131"/>
              <a:gd name="T87" fmla="*/ 70 h 90"/>
              <a:gd name="T88" fmla="*/ 92 w 131"/>
              <a:gd name="T89" fmla="*/ 71 h 90"/>
              <a:gd name="T90" fmla="*/ 89 w 131"/>
              <a:gd name="T91" fmla="*/ 73 h 90"/>
              <a:gd name="T92" fmla="*/ 85 w 131"/>
              <a:gd name="T93" fmla="*/ 73 h 90"/>
              <a:gd name="T94" fmla="*/ 81 w 131"/>
              <a:gd name="T95" fmla="*/ 73 h 90"/>
              <a:gd name="T96" fmla="*/ 78 w 131"/>
              <a:gd name="T97" fmla="*/ 73 h 90"/>
              <a:gd name="T98" fmla="*/ 73 w 131"/>
              <a:gd name="T99" fmla="*/ 73 h 90"/>
              <a:gd name="T100" fmla="*/ 68 w 131"/>
              <a:gd name="T101" fmla="*/ 71 h 90"/>
              <a:gd name="T102" fmla="*/ 68 w 131"/>
              <a:gd name="T103" fmla="*/ 83 h 90"/>
              <a:gd name="T104" fmla="*/ 3 w 131"/>
              <a:gd name="T105" fmla="*/ 76 h 90"/>
              <a:gd name="T106" fmla="*/ 1 w 131"/>
              <a:gd name="T107" fmla="*/ 68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31" h="90">
                <a:moveTo>
                  <a:pt x="1" y="68"/>
                </a:moveTo>
                <a:lnTo>
                  <a:pt x="0" y="78"/>
                </a:lnTo>
                <a:lnTo>
                  <a:pt x="86" y="90"/>
                </a:lnTo>
                <a:lnTo>
                  <a:pt x="86" y="90"/>
                </a:lnTo>
                <a:lnTo>
                  <a:pt x="88" y="89"/>
                </a:lnTo>
                <a:lnTo>
                  <a:pt x="91" y="88"/>
                </a:lnTo>
                <a:lnTo>
                  <a:pt x="94" y="85"/>
                </a:lnTo>
                <a:lnTo>
                  <a:pt x="98" y="83"/>
                </a:lnTo>
                <a:lnTo>
                  <a:pt x="102" y="80"/>
                </a:lnTo>
                <a:lnTo>
                  <a:pt x="107" y="75"/>
                </a:lnTo>
                <a:lnTo>
                  <a:pt x="112" y="71"/>
                </a:lnTo>
                <a:lnTo>
                  <a:pt x="116" y="66"/>
                </a:lnTo>
                <a:lnTo>
                  <a:pt x="121" y="60"/>
                </a:lnTo>
                <a:lnTo>
                  <a:pt x="124" y="54"/>
                </a:lnTo>
                <a:lnTo>
                  <a:pt x="128" y="47"/>
                </a:lnTo>
                <a:lnTo>
                  <a:pt x="130" y="40"/>
                </a:lnTo>
                <a:lnTo>
                  <a:pt x="131" y="32"/>
                </a:lnTo>
                <a:lnTo>
                  <a:pt x="131" y="22"/>
                </a:lnTo>
                <a:lnTo>
                  <a:pt x="129" y="13"/>
                </a:lnTo>
                <a:lnTo>
                  <a:pt x="129" y="13"/>
                </a:lnTo>
                <a:lnTo>
                  <a:pt x="128" y="11"/>
                </a:lnTo>
                <a:lnTo>
                  <a:pt x="127" y="10"/>
                </a:lnTo>
                <a:lnTo>
                  <a:pt x="126" y="7"/>
                </a:lnTo>
                <a:lnTo>
                  <a:pt x="123" y="4"/>
                </a:lnTo>
                <a:lnTo>
                  <a:pt x="120" y="3"/>
                </a:lnTo>
                <a:lnTo>
                  <a:pt x="116" y="0"/>
                </a:lnTo>
                <a:lnTo>
                  <a:pt x="113" y="0"/>
                </a:lnTo>
                <a:lnTo>
                  <a:pt x="113" y="1"/>
                </a:lnTo>
                <a:lnTo>
                  <a:pt x="114" y="5"/>
                </a:lnTo>
                <a:lnTo>
                  <a:pt x="116" y="12"/>
                </a:lnTo>
                <a:lnTo>
                  <a:pt x="117" y="19"/>
                </a:lnTo>
                <a:lnTo>
                  <a:pt x="117" y="29"/>
                </a:lnTo>
                <a:lnTo>
                  <a:pt x="116" y="40"/>
                </a:lnTo>
                <a:lnTo>
                  <a:pt x="114" y="52"/>
                </a:lnTo>
                <a:lnTo>
                  <a:pt x="108" y="63"/>
                </a:lnTo>
                <a:lnTo>
                  <a:pt x="108" y="63"/>
                </a:lnTo>
                <a:lnTo>
                  <a:pt x="108" y="64"/>
                </a:lnTo>
                <a:lnTo>
                  <a:pt x="107" y="64"/>
                </a:lnTo>
                <a:lnTo>
                  <a:pt x="106" y="66"/>
                </a:lnTo>
                <a:lnTo>
                  <a:pt x="105" y="67"/>
                </a:lnTo>
                <a:lnTo>
                  <a:pt x="102" y="68"/>
                </a:lnTo>
                <a:lnTo>
                  <a:pt x="100" y="69"/>
                </a:lnTo>
                <a:lnTo>
                  <a:pt x="98" y="70"/>
                </a:lnTo>
                <a:lnTo>
                  <a:pt x="95" y="70"/>
                </a:lnTo>
                <a:lnTo>
                  <a:pt x="92" y="71"/>
                </a:lnTo>
                <a:lnTo>
                  <a:pt x="89" y="73"/>
                </a:lnTo>
                <a:lnTo>
                  <a:pt x="85" y="73"/>
                </a:lnTo>
                <a:lnTo>
                  <a:pt x="81" y="73"/>
                </a:lnTo>
                <a:lnTo>
                  <a:pt x="78" y="73"/>
                </a:lnTo>
                <a:lnTo>
                  <a:pt x="73" y="73"/>
                </a:lnTo>
                <a:lnTo>
                  <a:pt x="68" y="71"/>
                </a:lnTo>
                <a:lnTo>
                  <a:pt x="68" y="83"/>
                </a:lnTo>
                <a:lnTo>
                  <a:pt x="3" y="76"/>
                </a:lnTo>
                <a:lnTo>
                  <a:pt x="1" y="68"/>
                </a:lnTo>
                <a:close/>
              </a:path>
            </a:pathLst>
          </a:custGeom>
          <a:solidFill>
            <a:srgbClr val="99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" name="Freeform 162"/>
          <p:cNvSpPr>
            <a:spLocks/>
          </p:cNvSpPr>
          <p:nvPr/>
        </p:nvSpPr>
        <p:spPr bwMode="auto">
          <a:xfrm>
            <a:off x="3835400" y="3103563"/>
            <a:ext cx="153987" cy="47625"/>
          </a:xfrm>
          <a:custGeom>
            <a:avLst/>
            <a:gdLst>
              <a:gd name="T0" fmla="*/ 97 w 97"/>
              <a:gd name="T1" fmla="*/ 10 h 30"/>
              <a:gd name="T2" fmla="*/ 1 w 97"/>
              <a:gd name="T3" fmla="*/ 0 h 30"/>
              <a:gd name="T4" fmla="*/ 0 w 97"/>
              <a:gd name="T5" fmla="*/ 10 h 30"/>
              <a:gd name="T6" fmla="*/ 94 w 97"/>
              <a:gd name="T7" fmla="*/ 30 h 30"/>
              <a:gd name="T8" fmla="*/ 97 w 97"/>
              <a:gd name="T9" fmla="*/ 1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7" h="30">
                <a:moveTo>
                  <a:pt x="97" y="10"/>
                </a:moveTo>
                <a:lnTo>
                  <a:pt x="1" y="0"/>
                </a:lnTo>
                <a:lnTo>
                  <a:pt x="0" y="10"/>
                </a:lnTo>
                <a:lnTo>
                  <a:pt x="94" y="30"/>
                </a:lnTo>
                <a:lnTo>
                  <a:pt x="97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Freeform 163"/>
          <p:cNvSpPr>
            <a:spLocks/>
          </p:cNvSpPr>
          <p:nvPr/>
        </p:nvSpPr>
        <p:spPr bwMode="auto">
          <a:xfrm>
            <a:off x="3911600" y="3117850"/>
            <a:ext cx="66675" cy="22225"/>
          </a:xfrm>
          <a:custGeom>
            <a:avLst/>
            <a:gdLst>
              <a:gd name="T0" fmla="*/ 42 w 42"/>
              <a:gd name="T1" fmla="*/ 6 h 14"/>
              <a:gd name="T2" fmla="*/ 1 w 42"/>
              <a:gd name="T3" fmla="*/ 0 h 14"/>
              <a:gd name="T4" fmla="*/ 0 w 42"/>
              <a:gd name="T5" fmla="*/ 6 h 14"/>
              <a:gd name="T6" fmla="*/ 40 w 42"/>
              <a:gd name="T7" fmla="*/ 14 h 14"/>
              <a:gd name="T8" fmla="*/ 42 w 42"/>
              <a:gd name="T9" fmla="*/ 6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" h="14">
                <a:moveTo>
                  <a:pt x="42" y="6"/>
                </a:moveTo>
                <a:lnTo>
                  <a:pt x="1" y="0"/>
                </a:lnTo>
                <a:lnTo>
                  <a:pt x="0" y="6"/>
                </a:lnTo>
                <a:lnTo>
                  <a:pt x="40" y="14"/>
                </a:lnTo>
                <a:lnTo>
                  <a:pt x="42" y="6"/>
                </a:lnTo>
                <a:close/>
              </a:path>
            </a:pathLst>
          </a:custGeom>
          <a:solidFill>
            <a:srgbClr val="99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Freeform 164"/>
          <p:cNvSpPr>
            <a:spLocks/>
          </p:cNvSpPr>
          <p:nvPr/>
        </p:nvSpPr>
        <p:spPr bwMode="auto">
          <a:xfrm>
            <a:off x="3844925" y="3106738"/>
            <a:ext cx="44450" cy="17462"/>
          </a:xfrm>
          <a:custGeom>
            <a:avLst/>
            <a:gdLst>
              <a:gd name="T0" fmla="*/ 28 w 28"/>
              <a:gd name="T1" fmla="*/ 5 h 11"/>
              <a:gd name="T2" fmla="*/ 0 w 28"/>
              <a:gd name="T3" fmla="*/ 0 h 11"/>
              <a:gd name="T4" fmla="*/ 0 w 28"/>
              <a:gd name="T5" fmla="*/ 6 h 11"/>
              <a:gd name="T6" fmla="*/ 27 w 28"/>
              <a:gd name="T7" fmla="*/ 11 h 11"/>
              <a:gd name="T8" fmla="*/ 28 w 28"/>
              <a:gd name="T9" fmla="*/ 5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" h="11">
                <a:moveTo>
                  <a:pt x="28" y="5"/>
                </a:moveTo>
                <a:lnTo>
                  <a:pt x="0" y="0"/>
                </a:lnTo>
                <a:lnTo>
                  <a:pt x="0" y="6"/>
                </a:lnTo>
                <a:lnTo>
                  <a:pt x="27" y="11"/>
                </a:lnTo>
                <a:lnTo>
                  <a:pt x="28" y="5"/>
                </a:lnTo>
                <a:close/>
              </a:path>
            </a:pathLst>
          </a:custGeom>
          <a:solidFill>
            <a:srgbClr val="99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" name="Freeform 165"/>
          <p:cNvSpPr>
            <a:spLocks/>
          </p:cNvSpPr>
          <p:nvPr/>
        </p:nvSpPr>
        <p:spPr bwMode="auto">
          <a:xfrm>
            <a:off x="3735387" y="3124200"/>
            <a:ext cx="257175" cy="85725"/>
          </a:xfrm>
          <a:custGeom>
            <a:avLst/>
            <a:gdLst>
              <a:gd name="T0" fmla="*/ 0 w 162"/>
              <a:gd name="T1" fmla="*/ 16 h 54"/>
              <a:gd name="T2" fmla="*/ 0 w 162"/>
              <a:gd name="T3" fmla="*/ 16 h 54"/>
              <a:gd name="T4" fmla="*/ 1 w 162"/>
              <a:gd name="T5" fmla="*/ 16 h 54"/>
              <a:gd name="T6" fmla="*/ 3 w 162"/>
              <a:gd name="T7" fmla="*/ 16 h 54"/>
              <a:gd name="T8" fmla="*/ 5 w 162"/>
              <a:gd name="T9" fmla="*/ 15 h 54"/>
              <a:gd name="T10" fmla="*/ 7 w 162"/>
              <a:gd name="T11" fmla="*/ 15 h 54"/>
              <a:gd name="T12" fmla="*/ 11 w 162"/>
              <a:gd name="T13" fmla="*/ 14 h 54"/>
              <a:gd name="T14" fmla="*/ 14 w 162"/>
              <a:gd name="T15" fmla="*/ 14 h 54"/>
              <a:gd name="T16" fmla="*/ 18 w 162"/>
              <a:gd name="T17" fmla="*/ 13 h 54"/>
              <a:gd name="T18" fmla="*/ 21 w 162"/>
              <a:gd name="T19" fmla="*/ 12 h 54"/>
              <a:gd name="T20" fmla="*/ 25 w 162"/>
              <a:gd name="T21" fmla="*/ 10 h 54"/>
              <a:gd name="T22" fmla="*/ 28 w 162"/>
              <a:gd name="T23" fmla="*/ 9 h 54"/>
              <a:gd name="T24" fmla="*/ 32 w 162"/>
              <a:gd name="T25" fmla="*/ 8 h 54"/>
              <a:gd name="T26" fmla="*/ 35 w 162"/>
              <a:gd name="T27" fmla="*/ 6 h 54"/>
              <a:gd name="T28" fmla="*/ 38 w 162"/>
              <a:gd name="T29" fmla="*/ 4 h 54"/>
              <a:gd name="T30" fmla="*/ 41 w 162"/>
              <a:gd name="T31" fmla="*/ 2 h 54"/>
              <a:gd name="T32" fmla="*/ 43 w 162"/>
              <a:gd name="T33" fmla="*/ 0 h 54"/>
              <a:gd name="T34" fmla="*/ 162 w 162"/>
              <a:gd name="T35" fmla="*/ 28 h 54"/>
              <a:gd name="T36" fmla="*/ 162 w 162"/>
              <a:gd name="T37" fmla="*/ 28 h 54"/>
              <a:gd name="T38" fmla="*/ 161 w 162"/>
              <a:gd name="T39" fmla="*/ 28 h 54"/>
              <a:gd name="T40" fmla="*/ 160 w 162"/>
              <a:gd name="T41" fmla="*/ 29 h 54"/>
              <a:gd name="T42" fmla="*/ 159 w 162"/>
              <a:gd name="T43" fmla="*/ 30 h 54"/>
              <a:gd name="T44" fmla="*/ 158 w 162"/>
              <a:gd name="T45" fmla="*/ 33 h 54"/>
              <a:gd name="T46" fmla="*/ 155 w 162"/>
              <a:gd name="T47" fmla="*/ 34 h 54"/>
              <a:gd name="T48" fmla="*/ 153 w 162"/>
              <a:gd name="T49" fmla="*/ 36 h 54"/>
              <a:gd name="T50" fmla="*/ 151 w 162"/>
              <a:gd name="T51" fmla="*/ 38 h 54"/>
              <a:gd name="T52" fmla="*/ 147 w 162"/>
              <a:gd name="T53" fmla="*/ 41 h 54"/>
              <a:gd name="T54" fmla="*/ 145 w 162"/>
              <a:gd name="T55" fmla="*/ 43 h 54"/>
              <a:gd name="T56" fmla="*/ 141 w 162"/>
              <a:gd name="T57" fmla="*/ 45 h 54"/>
              <a:gd name="T58" fmla="*/ 138 w 162"/>
              <a:gd name="T59" fmla="*/ 48 h 54"/>
              <a:gd name="T60" fmla="*/ 136 w 162"/>
              <a:gd name="T61" fmla="*/ 49 h 54"/>
              <a:gd name="T62" fmla="*/ 132 w 162"/>
              <a:gd name="T63" fmla="*/ 51 h 54"/>
              <a:gd name="T64" fmla="*/ 129 w 162"/>
              <a:gd name="T65" fmla="*/ 52 h 54"/>
              <a:gd name="T66" fmla="*/ 126 w 162"/>
              <a:gd name="T67" fmla="*/ 54 h 54"/>
              <a:gd name="T68" fmla="*/ 0 w 162"/>
              <a:gd name="T69" fmla="*/ 16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62" h="54">
                <a:moveTo>
                  <a:pt x="0" y="16"/>
                </a:moveTo>
                <a:lnTo>
                  <a:pt x="0" y="16"/>
                </a:lnTo>
                <a:lnTo>
                  <a:pt x="1" y="16"/>
                </a:lnTo>
                <a:lnTo>
                  <a:pt x="3" y="16"/>
                </a:lnTo>
                <a:lnTo>
                  <a:pt x="5" y="15"/>
                </a:lnTo>
                <a:lnTo>
                  <a:pt x="7" y="15"/>
                </a:lnTo>
                <a:lnTo>
                  <a:pt x="11" y="14"/>
                </a:lnTo>
                <a:lnTo>
                  <a:pt x="14" y="14"/>
                </a:lnTo>
                <a:lnTo>
                  <a:pt x="18" y="13"/>
                </a:lnTo>
                <a:lnTo>
                  <a:pt x="21" y="12"/>
                </a:lnTo>
                <a:lnTo>
                  <a:pt x="25" y="10"/>
                </a:lnTo>
                <a:lnTo>
                  <a:pt x="28" y="9"/>
                </a:lnTo>
                <a:lnTo>
                  <a:pt x="32" y="8"/>
                </a:lnTo>
                <a:lnTo>
                  <a:pt x="35" y="6"/>
                </a:lnTo>
                <a:lnTo>
                  <a:pt x="38" y="4"/>
                </a:lnTo>
                <a:lnTo>
                  <a:pt x="41" y="2"/>
                </a:lnTo>
                <a:lnTo>
                  <a:pt x="43" y="0"/>
                </a:lnTo>
                <a:lnTo>
                  <a:pt x="162" y="28"/>
                </a:lnTo>
                <a:lnTo>
                  <a:pt x="162" y="28"/>
                </a:lnTo>
                <a:lnTo>
                  <a:pt x="161" y="28"/>
                </a:lnTo>
                <a:lnTo>
                  <a:pt x="160" y="29"/>
                </a:lnTo>
                <a:lnTo>
                  <a:pt x="159" y="30"/>
                </a:lnTo>
                <a:lnTo>
                  <a:pt x="158" y="33"/>
                </a:lnTo>
                <a:lnTo>
                  <a:pt x="155" y="34"/>
                </a:lnTo>
                <a:lnTo>
                  <a:pt x="153" y="36"/>
                </a:lnTo>
                <a:lnTo>
                  <a:pt x="151" y="38"/>
                </a:lnTo>
                <a:lnTo>
                  <a:pt x="147" y="41"/>
                </a:lnTo>
                <a:lnTo>
                  <a:pt x="145" y="43"/>
                </a:lnTo>
                <a:lnTo>
                  <a:pt x="141" y="45"/>
                </a:lnTo>
                <a:lnTo>
                  <a:pt x="138" y="48"/>
                </a:lnTo>
                <a:lnTo>
                  <a:pt x="136" y="49"/>
                </a:lnTo>
                <a:lnTo>
                  <a:pt x="132" y="51"/>
                </a:lnTo>
                <a:lnTo>
                  <a:pt x="129" y="52"/>
                </a:lnTo>
                <a:lnTo>
                  <a:pt x="126" y="54"/>
                </a:lnTo>
                <a:lnTo>
                  <a:pt x="0" y="16"/>
                </a:lnTo>
                <a:close/>
              </a:path>
            </a:pathLst>
          </a:custGeom>
          <a:solidFill>
            <a:srgbClr val="99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Freeform 166"/>
          <p:cNvSpPr>
            <a:spLocks/>
          </p:cNvSpPr>
          <p:nvPr/>
        </p:nvSpPr>
        <p:spPr bwMode="auto">
          <a:xfrm>
            <a:off x="3992562" y="3114675"/>
            <a:ext cx="92075" cy="41275"/>
          </a:xfrm>
          <a:custGeom>
            <a:avLst/>
            <a:gdLst>
              <a:gd name="T0" fmla="*/ 6 w 58"/>
              <a:gd name="T1" fmla="*/ 26 h 26"/>
              <a:gd name="T2" fmla="*/ 58 w 58"/>
              <a:gd name="T3" fmla="*/ 10 h 26"/>
              <a:gd name="T4" fmla="*/ 26 w 58"/>
              <a:gd name="T5" fmla="*/ 0 h 26"/>
              <a:gd name="T6" fmla="*/ 0 w 58"/>
              <a:gd name="T7" fmla="*/ 3 h 26"/>
              <a:gd name="T8" fmla="*/ 0 w 58"/>
              <a:gd name="T9" fmla="*/ 25 h 26"/>
              <a:gd name="T10" fmla="*/ 6 w 58"/>
              <a:gd name="T11" fmla="*/ 26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" h="26">
                <a:moveTo>
                  <a:pt x="6" y="26"/>
                </a:moveTo>
                <a:lnTo>
                  <a:pt x="58" y="10"/>
                </a:lnTo>
                <a:lnTo>
                  <a:pt x="26" y="0"/>
                </a:lnTo>
                <a:lnTo>
                  <a:pt x="0" y="3"/>
                </a:lnTo>
                <a:lnTo>
                  <a:pt x="0" y="25"/>
                </a:lnTo>
                <a:lnTo>
                  <a:pt x="6" y="26"/>
                </a:lnTo>
                <a:close/>
              </a:path>
            </a:pathLst>
          </a:custGeom>
          <a:solidFill>
            <a:srgbClr val="001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Freeform 167"/>
          <p:cNvSpPr>
            <a:spLocks/>
          </p:cNvSpPr>
          <p:nvPr/>
        </p:nvSpPr>
        <p:spPr bwMode="auto">
          <a:xfrm>
            <a:off x="3754437" y="2938463"/>
            <a:ext cx="49213" cy="196850"/>
          </a:xfrm>
          <a:custGeom>
            <a:avLst/>
            <a:gdLst>
              <a:gd name="T0" fmla="*/ 31 w 31"/>
              <a:gd name="T1" fmla="*/ 3 h 124"/>
              <a:gd name="T2" fmla="*/ 31 w 31"/>
              <a:gd name="T3" fmla="*/ 2 h 124"/>
              <a:gd name="T4" fmla="*/ 30 w 31"/>
              <a:gd name="T5" fmla="*/ 2 h 124"/>
              <a:gd name="T6" fmla="*/ 30 w 31"/>
              <a:gd name="T7" fmla="*/ 2 h 124"/>
              <a:gd name="T8" fmla="*/ 29 w 31"/>
              <a:gd name="T9" fmla="*/ 2 h 124"/>
              <a:gd name="T10" fmla="*/ 27 w 31"/>
              <a:gd name="T11" fmla="*/ 1 h 124"/>
              <a:gd name="T12" fmla="*/ 26 w 31"/>
              <a:gd name="T13" fmla="*/ 1 h 124"/>
              <a:gd name="T14" fmla="*/ 23 w 31"/>
              <a:gd name="T15" fmla="*/ 0 h 124"/>
              <a:gd name="T16" fmla="*/ 22 w 31"/>
              <a:gd name="T17" fmla="*/ 0 h 124"/>
              <a:gd name="T18" fmla="*/ 20 w 31"/>
              <a:gd name="T19" fmla="*/ 0 h 124"/>
              <a:gd name="T20" fmla="*/ 17 w 31"/>
              <a:gd name="T21" fmla="*/ 0 h 124"/>
              <a:gd name="T22" fmla="*/ 14 w 31"/>
              <a:gd name="T23" fmla="*/ 0 h 124"/>
              <a:gd name="T24" fmla="*/ 12 w 31"/>
              <a:gd name="T25" fmla="*/ 1 h 124"/>
              <a:gd name="T26" fmla="*/ 9 w 31"/>
              <a:gd name="T27" fmla="*/ 1 h 124"/>
              <a:gd name="T28" fmla="*/ 6 w 31"/>
              <a:gd name="T29" fmla="*/ 2 h 124"/>
              <a:gd name="T30" fmla="*/ 3 w 31"/>
              <a:gd name="T31" fmla="*/ 3 h 124"/>
              <a:gd name="T32" fmla="*/ 0 w 31"/>
              <a:gd name="T33" fmla="*/ 6 h 124"/>
              <a:gd name="T34" fmla="*/ 0 w 31"/>
              <a:gd name="T35" fmla="*/ 124 h 124"/>
              <a:gd name="T36" fmla="*/ 1 w 31"/>
              <a:gd name="T37" fmla="*/ 124 h 124"/>
              <a:gd name="T38" fmla="*/ 1 w 31"/>
              <a:gd name="T39" fmla="*/ 124 h 124"/>
              <a:gd name="T40" fmla="*/ 2 w 31"/>
              <a:gd name="T41" fmla="*/ 124 h 124"/>
              <a:gd name="T42" fmla="*/ 3 w 31"/>
              <a:gd name="T43" fmla="*/ 124 h 124"/>
              <a:gd name="T44" fmla="*/ 5 w 31"/>
              <a:gd name="T45" fmla="*/ 123 h 124"/>
              <a:gd name="T46" fmla="*/ 7 w 31"/>
              <a:gd name="T47" fmla="*/ 123 h 124"/>
              <a:gd name="T48" fmla="*/ 8 w 31"/>
              <a:gd name="T49" fmla="*/ 123 h 124"/>
              <a:gd name="T50" fmla="*/ 10 w 31"/>
              <a:gd name="T51" fmla="*/ 121 h 124"/>
              <a:gd name="T52" fmla="*/ 13 w 31"/>
              <a:gd name="T53" fmla="*/ 121 h 124"/>
              <a:gd name="T54" fmla="*/ 15 w 31"/>
              <a:gd name="T55" fmla="*/ 120 h 124"/>
              <a:gd name="T56" fmla="*/ 17 w 31"/>
              <a:gd name="T57" fmla="*/ 119 h 124"/>
              <a:gd name="T58" fmla="*/ 21 w 31"/>
              <a:gd name="T59" fmla="*/ 118 h 124"/>
              <a:gd name="T60" fmla="*/ 23 w 31"/>
              <a:gd name="T61" fmla="*/ 117 h 124"/>
              <a:gd name="T62" fmla="*/ 26 w 31"/>
              <a:gd name="T63" fmla="*/ 116 h 124"/>
              <a:gd name="T64" fmla="*/ 29 w 31"/>
              <a:gd name="T65" fmla="*/ 113 h 124"/>
              <a:gd name="T66" fmla="*/ 31 w 31"/>
              <a:gd name="T67" fmla="*/ 112 h 124"/>
              <a:gd name="T68" fmla="*/ 31 w 31"/>
              <a:gd name="T69" fmla="*/ 3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1" h="124">
                <a:moveTo>
                  <a:pt x="31" y="3"/>
                </a:moveTo>
                <a:lnTo>
                  <a:pt x="31" y="2"/>
                </a:lnTo>
                <a:lnTo>
                  <a:pt x="30" y="2"/>
                </a:lnTo>
                <a:lnTo>
                  <a:pt x="30" y="2"/>
                </a:lnTo>
                <a:lnTo>
                  <a:pt x="29" y="2"/>
                </a:lnTo>
                <a:lnTo>
                  <a:pt x="27" y="1"/>
                </a:lnTo>
                <a:lnTo>
                  <a:pt x="26" y="1"/>
                </a:lnTo>
                <a:lnTo>
                  <a:pt x="23" y="0"/>
                </a:lnTo>
                <a:lnTo>
                  <a:pt x="22" y="0"/>
                </a:lnTo>
                <a:lnTo>
                  <a:pt x="20" y="0"/>
                </a:lnTo>
                <a:lnTo>
                  <a:pt x="17" y="0"/>
                </a:lnTo>
                <a:lnTo>
                  <a:pt x="14" y="0"/>
                </a:lnTo>
                <a:lnTo>
                  <a:pt x="12" y="1"/>
                </a:lnTo>
                <a:lnTo>
                  <a:pt x="9" y="1"/>
                </a:lnTo>
                <a:lnTo>
                  <a:pt x="6" y="2"/>
                </a:lnTo>
                <a:lnTo>
                  <a:pt x="3" y="3"/>
                </a:lnTo>
                <a:lnTo>
                  <a:pt x="0" y="6"/>
                </a:lnTo>
                <a:lnTo>
                  <a:pt x="0" y="124"/>
                </a:lnTo>
                <a:lnTo>
                  <a:pt x="1" y="124"/>
                </a:lnTo>
                <a:lnTo>
                  <a:pt x="1" y="124"/>
                </a:lnTo>
                <a:lnTo>
                  <a:pt x="2" y="124"/>
                </a:lnTo>
                <a:lnTo>
                  <a:pt x="3" y="124"/>
                </a:lnTo>
                <a:lnTo>
                  <a:pt x="5" y="123"/>
                </a:lnTo>
                <a:lnTo>
                  <a:pt x="7" y="123"/>
                </a:lnTo>
                <a:lnTo>
                  <a:pt x="8" y="123"/>
                </a:lnTo>
                <a:lnTo>
                  <a:pt x="10" y="121"/>
                </a:lnTo>
                <a:lnTo>
                  <a:pt x="13" y="121"/>
                </a:lnTo>
                <a:lnTo>
                  <a:pt x="15" y="120"/>
                </a:lnTo>
                <a:lnTo>
                  <a:pt x="17" y="119"/>
                </a:lnTo>
                <a:lnTo>
                  <a:pt x="21" y="118"/>
                </a:lnTo>
                <a:lnTo>
                  <a:pt x="23" y="117"/>
                </a:lnTo>
                <a:lnTo>
                  <a:pt x="26" y="116"/>
                </a:lnTo>
                <a:lnTo>
                  <a:pt x="29" y="113"/>
                </a:lnTo>
                <a:lnTo>
                  <a:pt x="31" y="112"/>
                </a:lnTo>
                <a:lnTo>
                  <a:pt x="31" y="3"/>
                </a:lnTo>
                <a:close/>
              </a:path>
            </a:pathLst>
          </a:custGeom>
          <a:solidFill>
            <a:srgbClr val="7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" name="Freeform 168"/>
          <p:cNvSpPr>
            <a:spLocks/>
          </p:cNvSpPr>
          <p:nvPr/>
        </p:nvSpPr>
        <p:spPr bwMode="auto">
          <a:xfrm>
            <a:off x="3756025" y="2940050"/>
            <a:ext cx="42862" cy="165100"/>
          </a:xfrm>
          <a:custGeom>
            <a:avLst/>
            <a:gdLst>
              <a:gd name="T0" fmla="*/ 27 w 27"/>
              <a:gd name="T1" fmla="*/ 2 h 104"/>
              <a:gd name="T2" fmla="*/ 27 w 27"/>
              <a:gd name="T3" fmla="*/ 2 h 104"/>
              <a:gd name="T4" fmla="*/ 26 w 27"/>
              <a:gd name="T5" fmla="*/ 2 h 104"/>
              <a:gd name="T6" fmla="*/ 26 w 27"/>
              <a:gd name="T7" fmla="*/ 2 h 104"/>
              <a:gd name="T8" fmla="*/ 25 w 27"/>
              <a:gd name="T9" fmla="*/ 1 h 104"/>
              <a:gd name="T10" fmla="*/ 23 w 27"/>
              <a:gd name="T11" fmla="*/ 1 h 104"/>
              <a:gd name="T12" fmla="*/ 22 w 27"/>
              <a:gd name="T13" fmla="*/ 0 h 104"/>
              <a:gd name="T14" fmla="*/ 20 w 27"/>
              <a:gd name="T15" fmla="*/ 0 h 104"/>
              <a:gd name="T16" fmla="*/ 19 w 27"/>
              <a:gd name="T17" fmla="*/ 0 h 104"/>
              <a:gd name="T18" fmla="*/ 16 w 27"/>
              <a:gd name="T19" fmla="*/ 0 h 104"/>
              <a:gd name="T20" fmla="*/ 14 w 27"/>
              <a:gd name="T21" fmla="*/ 0 h 104"/>
              <a:gd name="T22" fmla="*/ 12 w 27"/>
              <a:gd name="T23" fmla="*/ 0 h 104"/>
              <a:gd name="T24" fmla="*/ 9 w 27"/>
              <a:gd name="T25" fmla="*/ 0 h 104"/>
              <a:gd name="T26" fmla="*/ 8 w 27"/>
              <a:gd name="T27" fmla="*/ 1 h 104"/>
              <a:gd name="T28" fmla="*/ 5 w 27"/>
              <a:gd name="T29" fmla="*/ 2 h 104"/>
              <a:gd name="T30" fmla="*/ 2 w 27"/>
              <a:gd name="T31" fmla="*/ 4 h 104"/>
              <a:gd name="T32" fmla="*/ 0 w 27"/>
              <a:gd name="T33" fmla="*/ 5 h 104"/>
              <a:gd name="T34" fmla="*/ 0 w 27"/>
              <a:gd name="T35" fmla="*/ 104 h 104"/>
              <a:gd name="T36" fmla="*/ 0 w 27"/>
              <a:gd name="T37" fmla="*/ 104 h 104"/>
              <a:gd name="T38" fmla="*/ 1 w 27"/>
              <a:gd name="T39" fmla="*/ 104 h 104"/>
              <a:gd name="T40" fmla="*/ 1 w 27"/>
              <a:gd name="T41" fmla="*/ 104 h 104"/>
              <a:gd name="T42" fmla="*/ 2 w 27"/>
              <a:gd name="T43" fmla="*/ 104 h 104"/>
              <a:gd name="T44" fmla="*/ 4 w 27"/>
              <a:gd name="T45" fmla="*/ 104 h 104"/>
              <a:gd name="T46" fmla="*/ 6 w 27"/>
              <a:gd name="T47" fmla="*/ 104 h 104"/>
              <a:gd name="T48" fmla="*/ 7 w 27"/>
              <a:gd name="T49" fmla="*/ 103 h 104"/>
              <a:gd name="T50" fmla="*/ 9 w 27"/>
              <a:gd name="T51" fmla="*/ 103 h 104"/>
              <a:gd name="T52" fmla="*/ 11 w 27"/>
              <a:gd name="T53" fmla="*/ 102 h 104"/>
              <a:gd name="T54" fmla="*/ 13 w 27"/>
              <a:gd name="T55" fmla="*/ 102 h 104"/>
              <a:gd name="T56" fmla="*/ 15 w 27"/>
              <a:gd name="T57" fmla="*/ 101 h 104"/>
              <a:gd name="T58" fmla="*/ 18 w 27"/>
              <a:gd name="T59" fmla="*/ 99 h 104"/>
              <a:gd name="T60" fmla="*/ 20 w 27"/>
              <a:gd name="T61" fmla="*/ 98 h 104"/>
              <a:gd name="T62" fmla="*/ 22 w 27"/>
              <a:gd name="T63" fmla="*/ 97 h 104"/>
              <a:gd name="T64" fmla="*/ 25 w 27"/>
              <a:gd name="T65" fmla="*/ 96 h 104"/>
              <a:gd name="T66" fmla="*/ 27 w 27"/>
              <a:gd name="T67" fmla="*/ 94 h 104"/>
              <a:gd name="T68" fmla="*/ 27 w 27"/>
              <a:gd name="T69" fmla="*/ 2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" h="104">
                <a:moveTo>
                  <a:pt x="27" y="2"/>
                </a:moveTo>
                <a:lnTo>
                  <a:pt x="27" y="2"/>
                </a:lnTo>
                <a:lnTo>
                  <a:pt x="26" y="2"/>
                </a:lnTo>
                <a:lnTo>
                  <a:pt x="26" y="2"/>
                </a:lnTo>
                <a:lnTo>
                  <a:pt x="25" y="1"/>
                </a:lnTo>
                <a:lnTo>
                  <a:pt x="23" y="1"/>
                </a:lnTo>
                <a:lnTo>
                  <a:pt x="22" y="0"/>
                </a:lnTo>
                <a:lnTo>
                  <a:pt x="20" y="0"/>
                </a:lnTo>
                <a:lnTo>
                  <a:pt x="19" y="0"/>
                </a:lnTo>
                <a:lnTo>
                  <a:pt x="16" y="0"/>
                </a:lnTo>
                <a:lnTo>
                  <a:pt x="14" y="0"/>
                </a:lnTo>
                <a:lnTo>
                  <a:pt x="12" y="0"/>
                </a:lnTo>
                <a:lnTo>
                  <a:pt x="9" y="0"/>
                </a:lnTo>
                <a:lnTo>
                  <a:pt x="8" y="1"/>
                </a:lnTo>
                <a:lnTo>
                  <a:pt x="5" y="2"/>
                </a:lnTo>
                <a:lnTo>
                  <a:pt x="2" y="4"/>
                </a:lnTo>
                <a:lnTo>
                  <a:pt x="0" y="5"/>
                </a:lnTo>
                <a:lnTo>
                  <a:pt x="0" y="104"/>
                </a:lnTo>
                <a:lnTo>
                  <a:pt x="0" y="104"/>
                </a:lnTo>
                <a:lnTo>
                  <a:pt x="1" y="104"/>
                </a:lnTo>
                <a:lnTo>
                  <a:pt x="1" y="104"/>
                </a:lnTo>
                <a:lnTo>
                  <a:pt x="2" y="104"/>
                </a:lnTo>
                <a:lnTo>
                  <a:pt x="4" y="104"/>
                </a:lnTo>
                <a:lnTo>
                  <a:pt x="6" y="104"/>
                </a:lnTo>
                <a:lnTo>
                  <a:pt x="7" y="103"/>
                </a:lnTo>
                <a:lnTo>
                  <a:pt x="9" y="103"/>
                </a:lnTo>
                <a:lnTo>
                  <a:pt x="11" y="102"/>
                </a:lnTo>
                <a:lnTo>
                  <a:pt x="13" y="102"/>
                </a:lnTo>
                <a:lnTo>
                  <a:pt x="15" y="101"/>
                </a:lnTo>
                <a:lnTo>
                  <a:pt x="18" y="99"/>
                </a:lnTo>
                <a:lnTo>
                  <a:pt x="20" y="98"/>
                </a:lnTo>
                <a:lnTo>
                  <a:pt x="22" y="97"/>
                </a:lnTo>
                <a:lnTo>
                  <a:pt x="25" y="96"/>
                </a:lnTo>
                <a:lnTo>
                  <a:pt x="27" y="94"/>
                </a:lnTo>
                <a:lnTo>
                  <a:pt x="27" y="2"/>
                </a:lnTo>
                <a:close/>
              </a:path>
            </a:pathLst>
          </a:custGeom>
          <a:solidFill>
            <a:srgbClr val="9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" name="Freeform 169"/>
          <p:cNvSpPr>
            <a:spLocks/>
          </p:cNvSpPr>
          <p:nvPr/>
        </p:nvSpPr>
        <p:spPr bwMode="auto">
          <a:xfrm>
            <a:off x="3757612" y="2941638"/>
            <a:ext cx="34925" cy="133350"/>
          </a:xfrm>
          <a:custGeom>
            <a:avLst/>
            <a:gdLst>
              <a:gd name="T0" fmla="*/ 22 w 22"/>
              <a:gd name="T1" fmla="*/ 3 h 84"/>
              <a:gd name="T2" fmla="*/ 22 w 22"/>
              <a:gd name="T3" fmla="*/ 3 h 84"/>
              <a:gd name="T4" fmla="*/ 21 w 22"/>
              <a:gd name="T5" fmla="*/ 1 h 84"/>
              <a:gd name="T6" fmla="*/ 21 w 22"/>
              <a:gd name="T7" fmla="*/ 1 h 84"/>
              <a:gd name="T8" fmla="*/ 20 w 22"/>
              <a:gd name="T9" fmla="*/ 1 h 84"/>
              <a:gd name="T10" fmla="*/ 19 w 22"/>
              <a:gd name="T11" fmla="*/ 1 h 84"/>
              <a:gd name="T12" fmla="*/ 18 w 22"/>
              <a:gd name="T13" fmla="*/ 0 h 84"/>
              <a:gd name="T14" fmla="*/ 17 w 22"/>
              <a:gd name="T15" fmla="*/ 0 h 84"/>
              <a:gd name="T16" fmla="*/ 15 w 22"/>
              <a:gd name="T17" fmla="*/ 0 h 84"/>
              <a:gd name="T18" fmla="*/ 14 w 22"/>
              <a:gd name="T19" fmla="*/ 0 h 84"/>
              <a:gd name="T20" fmla="*/ 12 w 22"/>
              <a:gd name="T21" fmla="*/ 0 h 84"/>
              <a:gd name="T22" fmla="*/ 10 w 22"/>
              <a:gd name="T23" fmla="*/ 0 h 84"/>
              <a:gd name="T24" fmla="*/ 8 w 22"/>
              <a:gd name="T25" fmla="*/ 0 h 84"/>
              <a:gd name="T26" fmla="*/ 6 w 22"/>
              <a:gd name="T27" fmla="*/ 1 h 84"/>
              <a:gd name="T28" fmla="*/ 4 w 22"/>
              <a:gd name="T29" fmla="*/ 1 h 84"/>
              <a:gd name="T30" fmla="*/ 3 w 22"/>
              <a:gd name="T31" fmla="*/ 3 h 84"/>
              <a:gd name="T32" fmla="*/ 0 w 22"/>
              <a:gd name="T33" fmla="*/ 4 h 84"/>
              <a:gd name="T34" fmla="*/ 0 w 22"/>
              <a:gd name="T35" fmla="*/ 84 h 84"/>
              <a:gd name="T36" fmla="*/ 0 w 22"/>
              <a:gd name="T37" fmla="*/ 84 h 84"/>
              <a:gd name="T38" fmla="*/ 0 w 22"/>
              <a:gd name="T39" fmla="*/ 84 h 84"/>
              <a:gd name="T40" fmla="*/ 1 w 22"/>
              <a:gd name="T41" fmla="*/ 84 h 84"/>
              <a:gd name="T42" fmla="*/ 3 w 22"/>
              <a:gd name="T43" fmla="*/ 84 h 84"/>
              <a:gd name="T44" fmla="*/ 4 w 22"/>
              <a:gd name="T45" fmla="*/ 84 h 84"/>
              <a:gd name="T46" fmla="*/ 5 w 22"/>
              <a:gd name="T47" fmla="*/ 84 h 84"/>
              <a:gd name="T48" fmla="*/ 6 w 22"/>
              <a:gd name="T49" fmla="*/ 84 h 84"/>
              <a:gd name="T50" fmla="*/ 7 w 22"/>
              <a:gd name="T51" fmla="*/ 83 h 84"/>
              <a:gd name="T52" fmla="*/ 10 w 22"/>
              <a:gd name="T53" fmla="*/ 83 h 84"/>
              <a:gd name="T54" fmla="*/ 11 w 22"/>
              <a:gd name="T55" fmla="*/ 82 h 84"/>
              <a:gd name="T56" fmla="*/ 13 w 22"/>
              <a:gd name="T57" fmla="*/ 82 h 84"/>
              <a:gd name="T58" fmla="*/ 14 w 22"/>
              <a:gd name="T59" fmla="*/ 81 h 84"/>
              <a:gd name="T60" fmla="*/ 17 w 22"/>
              <a:gd name="T61" fmla="*/ 80 h 84"/>
              <a:gd name="T62" fmla="*/ 19 w 22"/>
              <a:gd name="T63" fmla="*/ 79 h 84"/>
              <a:gd name="T64" fmla="*/ 20 w 22"/>
              <a:gd name="T65" fmla="*/ 77 h 84"/>
              <a:gd name="T66" fmla="*/ 22 w 22"/>
              <a:gd name="T67" fmla="*/ 76 h 84"/>
              <a:gd name="T68" fmla="*/ 22 w 22"/>
              <a:gd name="T69" fmla="*/ 3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2" h="84">
                <a:moveTo>
                  <a:pt x="22" y="3"/>
                </a:moveTo>
                <a:lnTo>
                  <a:pt x="22" y="3"/>
                </a:lnTo>
                <a:lnTo>
                  <a:pt x="21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8" y="0"/>
                </a:lnTo>
                <a:lnTo>
                  <a:pt x="17" y="0"/>
                </a:lnTo>
                <a:lnTo>
                  <a:pt x="15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6" y="1"/>
                </a:lnTo>
                <a:lnTo>
                  <a:pt x="4" y="1"/>
                </a:lnTo>
                <a:lnTo>
                  <a:pt x="3" y="3"/>
                </a:lnTo>
                <a:lnTo>
                  <a:pt x="0" y="4"/>
                </a:lnTo>
                <a:lnTo>
                  <a:pt x="0" y="84"/>
                </a:lnTo>
                <a:lnTo>
                  <a:pt x="0" y="84"/>
                </a:lnTo>
                <a:lnTo>
                  <a:pt x="0" y="84"/>
                </a:lnTo>
                <a:lnTo>
                  <a:pt x="1" y="84"/>
                </a:lnTo>
                <a:lnTo>
                  <a:pt x="3" y="84"/>
                </a:lnTo>
                <a:lnTo>
                  <a:pt x="4" y="84"/>
                </a:lnTo>
                <a:lnTo>
                  <a:pt x="5" y="84"/>
                </a:lnTo>
                <a:lnTo>
                  <a:pt x="6" y="84"/>
                </a:lnTo>
                <a:lnTo>
                  <a:pt x="7" y="83"/>
                </a:lnTo>
                <a:lnTo>
                  <a:pt x="10" y="83"/>
                </a:lnTo>
                <a:lnTo>
                  <a:pt x="11" y="82"/>
                </a:lnTo>
                <a:lnTo>
                  <a:pt x="13" y="82"/>
                </a:lnTo>
                <a:lnTo>
                  <a:pt x="14" y="81"/>
                </a:lnTo>
                <a:lnTo>
                  <a:pt x="17" y="80"/>
                </a:lnTo>
                <a:lnTo>
                  <a:pt x="19" y="79"/>
                </a:lnTo>
                <a:lnTo>
                  <a:pt x="20" y="77"/>
                </a:lnTo>
                <a:lnTo>
                  <a:pt x="22" y="76"/>
                </a:lnTo>
                <a:lnTo>
                  <a:pt x="22" y="3"/>
                </a:lnTo>
                <a:close/>
              </a:path>
            </a:pathLst>
          </a:custGeom>
          <a:solidFill>
            <a:srgbClr val="A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" name="Freeform 170"/>
          <p:cNvSpPr>
            <a:spLocks/>
          </p:cNvSpPr>
          <p:nvPr/>
        </p:nvSpPr>
        <p:spPr bwMode="auto">
          <a:xfrm>
            <a:off x="3759200" y="2943225"/>
            <a:ext cx="28575" cy="104775"/>
          </a:xfrm>
          <a:custGeom>
            <a:avLst/>
            <a:gdLst>
              <a:gd name="T0" fmla="*/ 18 w 18"/>
              <a:gd name="T1" fmla="*/ 2 h 66"/>
              <a:gd name="T2" fmla="*/ 18 w 18"/>
              <a:gd name="T3" fmla="*/ 2 h 66"/>
              <a:gd name="T4" fmla="*/ 17 w 18"/>
              <a:gd name="T5" fmla="*/ 2 h 66"/>
              <a:gd name="T6" fmla="*/ 14 w 18"/>
              <a:gd name="T7" fmla="*/ 0 h 66"/>
              <a:gd name="T8" fmla="*/ 12 w 18"/>
              <a:gd name="T9" fmla="*/ 0 h 66"/>
              <a:gd name="T10" fmla="*/ 10 w 18"/>
              <a:gd name="T11" fmla="*/ 0 h 66"/>
              <a:gd name="T12" fmla="*/ 6 w 18"/>
              <a:gd name="T13" fmla="*/ 0 h 66"/>
              <a:gd name="T14" fmla="*/ 3 w 18"/>
              <a:gd name="T15" fmla="*/ 2 h 66"/>
              <a:gd name="T16" fmla="*/ 0 w 18"/>
              <a:gd name="T17" fmla="*/ 3 h 66"/>
              <a:gd name="T18" fmla="*/ 0 w 18"/>
              <a:gd name="T19" fmla="*/ 66 h 66"/>
              <a:gd name="T20" fmla="*/ 0 w 18"/>
              <a:gd name="T21" fmla="*/ 66 h 66"/>
              <a:gd name="T22" fmla="*/ 2 w 18"/>
              <a:gd name="T23" fmla="*/ 66 h 66"/>
              <a:gd name="T24" fmla="*/ 4 w 18"/>
              <a:gd name="T25" fmla="*/ 65 h 66"/>
              <a:gd name="T26" fmla="*/ 6 w 18"/>
              <a:gd name="T27" fmla="*/ 65 h 66"/>
              <a:gd name="T28" fmla="*/ 9 w 18"/>
              <a:gd name="T29" fmla="*/ 64 h 66"/>
              <a:gd name="T30" fmla="*/ 12 w 18"/>
              <a:gd name="T31" fmla="*/ 62 h 66"/>
              <a:gd name="T32" fmla="*/ 14 w 18"/>
              <a:gd name="T33" fmla="*/ 61 h 66"/>
              <a:gd name="T34" fmla="*/ 18 w 18"/>
              <a:gd name="T35" fmla="*/ 59 h 66"/>
              <a:gd name="T36" fmla="*/ 18 w 18"/>
              <a:gd name="T37" fmla="*/ 2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8" h="66">
                <a:moveTo>
                  <a:pt x="18" y="2"/>
                </a:moveTo>
                <a:lnTo>
                  <a:pt x="18" y="2"/>
                </a:lnTo>
                <a:lnTo>
                  <a:pt x="17" y="2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6" y="0"/>
                </a:lnTo>
                <a:lnTo>
                  <a:pt x="3" y="2"/>
                </a:lnTo>
                <a:lnTo>
                  <a:pt x="0" y="3"/>
                </a:lnTo>
                <a:lnTo>
                  <a:pt x="0" y="66"/>
                </a:lnTo>
                <a:lnTo>
                  <a:pt x="0" y="66"/>
                </a:lnTo>
                <a:lnTo>
                  <a:pt x="2" y="66"/>
                </a:lnTo>
                <a:lnTo>
                  <a:pt x="4" y="65"/>
                </a:lnTo>
                <a:lnTo>
                  <a:pt x="6" y="65"/>
                </a:lnTo>
                <a:lnTo>
                  <a:pt x="9" y="64"/>
                </a:lnTo>
                <a:lnTo>
                  <a:pt x="12" y="62"/>
                </a:lnTo>
                <a:lnTo>
                  <a:pt x="14" y="61"/>
                </a:lnTo>
                <a:lnTo>
                  <a:pt x="18" y="59"/>
                </a:lnTo>
                <a:lnTo>
                  <a:pt x="18" y="2"/>
                </a:lnTo>
                <a:close/>
              </a:path>
            </a:pathLst>
          </a:custGeom>
          <a:solidFill>
            <a:srgbClr val="BC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" name="Freeform 171"/>
          <p:cNvSpPr>
            <a:spLocks/>
          </p:cNvSpPr>
          <p:nvPr/>
        </p:nvSpPr>
        <p:spPr bwMode="auto">
          <a:xfrm>
            <a:off x="3759200" y="2946400"/>
            <a:ext cx="22225" cy="71438"/>
          </a:xfrm>
          <a:custGeom>
            <a:avLst/>
            <a:gdLst>
              <a:gd name="T0" fmla="*/ 14 w 14"/>
              <a:gd name="T1" fmla="*/ 1 h 45"/>
              <a:gd name="T2" fmla="*/ 14 w 14"/>
              <a:gd name="T3" fmla="*/ 0 h 45"/>
              <a:gd name="T4" fmla="*/ 13 w 14"/>
              <a:gd name="T5" fmla="*/ 0 h 45"/>
              <a:gd name="T6" fmla="*/ 12 w 14"/>
              <a:gd name="T7" fmla="*/ 0 h 45"/>
              <a:gd name="T8" fmla="*/ 10 w 14"/>
              <a:gd name="T9" fmla="*/ 0 h 45"/>
              <a:gd name="T10" fmla="*/ 9 w 14"/>
              <a:gd name="T11" fmla="*/ 0 h 45"/>
              <a:gd name="T12" fmla="*/ 6 w 14"/>
              <a:gd name="T13" fmla="*/ 0 h 45"/>
              <a:gd name="T14" fmla="*/ 3 w 14"/>
              <a:gd name="T15" fmla="*/ 0 h 45"/>
              <a:gd name="T16" fmla="*/ 0 w 14"/>
              <a:gd name="T17" fmla="*/ 2 h 45"/>
              <a:gd name="T18" fmla="*/ 0 w 14"/>
              <a:gd name="T19" fmla="*/ 45 h 45"/>
              <a:gd name="T20" fmla="*/ 2 w 14"/>
              <a:gd name="T21" fmla="*/ 45 h 45"/>
              <a:gd name="T22" fmla="*/ 2 w 14"/>
              <a:gd name="T23" fmla="*/ 45 h 45"/>
              <a:gd name="T24" fmla="*/ 4 w 14"/>
              <a:gd name="T25" fmla="*/ 45 h 45"/>
              <a:gd name="T26" fmla="*/ 5 w 14"/>
              <a:gd name="T27" fmla="*/ 44 h 45"/>
              <a:gd name="T28" fmla="*/ 7 w 14"/>
              <a:gd name="T29" fmla="*/ 44 h 45"/>
              <a:gd name="T30" fmla="*/ 10 w 14"/>
              <a:gd name="T31" fmla="*/ 43 h 45"/>
              <a:gd name="T32" fmla="*/ 12 w 14"/>
              <a:gd name="T33" fmla="*/ 42 h 45"/>
              <a:gd name="T34" fmla="*/ 14 w 14"/>
              <a:gd name="T35" fmla="*/ 41 h 45"/>
              <a:gd name="T36" fmla="*/ 14 w 14"/>
              <a:gd name="T37" fmla="*/ 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" h="45">
                <a:moveTo>
                  <a:pt x="14" y="1"/>
                </a:moveTo>
                <a:lnTo>
                  <a:pt x="14" y="0"/>
                </a:lnTo>
                <a:lnTo>
                  <a:pt x="13" y="0"/>
                </a:lnTo>
                <a:lnTo>
                  <a:pt x="12" y="0"/>
                </a:lnTo>
                <a:lnTo>
                  <a:pt x="10" y="0"/>
                </a:lnTo>
                <a:lnTo>
                  <a:pt x="9" y="0"/>
                </a:lnTo>
                <a:lnTo>
                  <a:pt x="6" y="0"/>
                </a:lnTo>
                <a:lnTo>
                  <a:pt x="3" y="0"/>
                </a:lnTo>
                <a:lnTo>
                  <a:pt x="0" y="2"/>
                </a:lnTo>
                <a:lnTo>
                  <a:pt x="0" y="45"/>
                </a:lnTo>
                <a:lnTo>
                  <a:pt x="2" y="45"/>
                </a:lnTo>
                <a:lnTo>
                  <a:pt x="2" y="45"/>
                </a:lnTo>
                <a:lnTo>
                  <a:pt x="4" y="45"/>
                </a:lnTo>
                <a:lnTo>
                  <a:pt x="5" y="44"/>
                </a:lnTo>
                <a:lnTo>
                  <a:pt x="7" y="44"/>
                </a:lnTo>
                <a:lnTo>
                  <a:pt x="10" y="43"/>
                </a:lnTo>
                <a:lnTo>
                  <a:pt x="12" y="42"/>
                </a:lnTo>
                <a:lnTo>
                  <a:pt x="14" y="41"/>
                </a:lnTo>
                <a:lnTo>
                  <a:pt x="14" y="1"/>
                </a:lnTo>
                <a:close/>
              </a:path>
            </a:pathLst>
          </a:custGeom>
          <a:solidFill>
            <a:srgbClr val="D1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" name="Freeform 172"/>
          <p:cNvSpPr>
            <a:spLocks/>
          </p:cNvSpPr>
          <p:nvPr/>
        </p:nvSpPr>
        <p:spPr bwMode="auto">
          <a:xfrm>
            <a:off x="3762375" y="2946400"/>
            <a:ext cx="14287" cy="42863"/>
          </a:xfrm>
          <a:custGeom>
            <a:avLst/>
            <a:gdLst>
              <a:gd name="T0" fmla="*/ 9 w 9"/>
              <a:gd name="T1" fmla="*/ 1 h 27"/>
              <a:gd name="T2" fmla="*/ 9 w 9"/>
              <a:gd name="T3" fmla="*/ 1 h 27"/>
              <a:gd name="T4" fmla="*/ 8 w 9"/>
              <a:gd name="T5" fmla="*/ 1 h 27"/>
              <a:gd name="T6" fmla="*/ 7 w 9"/>
              <a:gd name="T7" fmla="*/ 1 h 27"/>
              <a:gd name="T8" fmla="*/ 5 w 9"/>
              <a:gd name="T9" fmla="*/ 0 h 27"/>
              <a:gd name="T10" fmla="*/ 4 w 9"/>
              <a:gd name="T11" fmla="*/ 0 h 27"/>
              <a:gd name="T12" fmla="*/ 3 w 9"/>
              <a:gd name="T13" fmla="*/ 1 h 27"/>
              <a:gd name="T14" fmla="*/ 1 w 9"/>
              <a:gd name="T15" fmla="*/ 1 h 27"/>
              <a:gd name="T16" fmla="*/ 0 w 9"/>
              <a:gd name="T17" fmla="*/ 2 h 27"/>
              <a:gd name="T18" fmla="*/ 0 w 9"/>
              <a:gd name="T19" fmla="*/ 27 h 27"/>
              <a:gd name="T20" fmla="*/ 0 w 9"/>
              <a:gd name="T21" fmla="*/ 27 h 27"/>
              <a:gd name="T22" fmla="*/ 1 w 9"/>
              <a:gd name="T23" fmla="*/ 27 h 27"/>
              <a:gd name="T24" fmla="*/ 2 w 9"/>
              <a:gd name="T25" fmla="*/ 27 h 27"/>
              <a:gd name="T26" fmla="*/ 3 w 9"/>
              <a:gd name="T27" fmla="*/ 27 h 27"/>
              <a:gd name="T28" fmla="*/ 4 w 9"/>
              <a:gd name="T29" fmla="*/ 27 h 27"/>
              <a:gd name="T30" fmla="*/ 5 w 9"/>
              <a:gd name="T31" fmla="*/ 25 h 27"/>
              <a:gd name="T32" fmla="*/ 8 w 9"/>
              <a:gd name="T33" fmla="*/ 24 h 27"/>
              <a:gd name="T34" fmla="*/ 9 w 9"/>
              <a:gd name="T35" fmla="*/ 23 h 27"/>
              <a:gd name="T36" fmla="*/ 9 w 9"/>
              <a:gd name="T37" fmla="*/ 1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" h="27">
                <a:moveTo>
                  <a:pt x="9" y="1"/>
                </a:moveTo>
                <a:lnTo>
                  <a:pt x="9" y="1"/>
                </a:lnTo>
                <a:lnTo>
                  <a:pt x="8" y="1"/>
                </a:lnTo>
                <a:lnTo>
                  <a:pt x="7" y="1"/>
                </a:lnTo>
                <a:lnTo>
                  <a:pt x="5" y="0"/>
                </a:lnTo>
                <a:lnTo>
                  <a:pt x="4" y="0"/>
                </a:lnTo>
                <a:lnTo>
                  <a:pt x="3" y="1"/>
                </a:lnTo>
                <a:lnTo>
                  <a:pt x="1" y="1"/>
                </a:lnTo>
                <a:lnTo>
                  <a:pt x="0" y="2"/>
                </a:lnTo>
                <a:lnTo>
                  <a:pt x="0" y="27"/>
                </a:lnTo>
                <a:lnTo>
                  <a:pt x="0" y="27"/>
                </a:lnTo>
                <a:lnTo>
                  <a:pt x="1" y="27"/>
                </a:lnTo>
                <a:lnTo>
                  <a:pt x="2" y="27"/>
                </a:lnTo>
                <a:lnTo>
                  <a:pt x="3" y="27"/>
                </a:lnTo>
                <a:lnTo>
                  <a:pt x="4" y="27"/>
                </a:lnTo>
                <a:lnTo>
                  <a:pt x="5" y="25"/>
                </a:lnTo>
                <a:lnTo>
                  <a:pt x="8" y="24"/>
                </a:lnTo>
                <a:lnTo>
                  <a:pt x="9" y="23"/>
                </a:lnTo>
                <a:lnTo>
                  <a:pt x="9" y="1"/>
                </a:lnTo>
                <a:close/>
              </a:path>
            </a:pathLst>
          </a:custGeom>
          <a:solidFill>
            <a:srgbClr val="E5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" name="Freeform 173"/>
          <p:cNvSpPr>
            <a:spLocks/>
          </p:cNvSpPr>
          <p:nvPr/>
        </p:nvSpPr>
        <p:spPr bwMode="auto">
          <a:xfrm>
            <a:off x="3937000" y="3068638"/>
            <a:ext cx="22225" cy="22225"/>
          </a:xfrm>
          <a:custGeom>
            <a:avLst/>
            <a:gdLst>
              <a:gd name="T0" fmla="*/ 7 w 14"/>
              <a:gd name="T1" fmla="*/ 14 h 14"/>
              <a:gd name="T2" fmla="*/ 9 w 14"/>
              <a:gd name="T3" fmla="*/ 14 h 14"/>
              <a:gd name="T4" fmla="*/ 10 w 14"/>
              <a:gd name="T5" fmla="*/ 13 h 14"/>
              <a:gd name="T6" fmla="*/ 11 w 14"/>
              <a:gd name="T7" fmla="*/ 13 h 14"/>
              <a:gd name="T8" fmla="*/ 12 w 14"/>
              <a:gd name="T9" fmla="*/ 11 h 14"/>
              <a:gd name="T10" fmla="*/ 13 w 14"/>
              <a:gd name="T11" fmla="*/ 10 h 14"/>
              <a:gd name="T12" fmla="*/ 13 w 14"/>
              <a:gd name="T13" fmla="*/ 9 h 14"/>
              <a:gd name="T14" fmla="*/ 14 w 14"/>
              <a:gd name="T15" fmla="*/ 8 h 14"/>
              <a:gd name="T16" fmla="*/ 14 w 14"/>
              <a:gd name="T17" fmla="*/ 7 h 14"/>
              <a:gd name="T18" fmla="*/ 14 w 14"/>
              <a:gd name="T19" fmla="*/ 6 h 14"/>
              <a:gd name="T20" fmla="*/ 13 w 14"/>
              <a:gd name="T21" fmla="*/ 4 h 14"/>
              <a:gd name="T22" fmla="*/ 13 w 14"/>
              <a:gd name="T23" fmla="*/ 3 h 14"/>
              <a:gd name="T24" fmla="*/ 12 w 14"/>
              <a:gd name="T25" fmla="*/ 2 h 14"/>
              <a:gd name="T26" fmla="*/ 11 w 14"/>
              <a:gd name="T27" fmla="*/ 1 h 14"/>
              <a:gd name="T28" fmla="*/ 10 w 14"/>
              <a:gd name="T29" fmla="*/ 0 h 14"/>
              <a:gd name="T30" fmla="*/ 9 w 14"/>
              <a:gd name="T31" fmla="*/ 0 h 14"/>
              <a:gd name="T32" fmla="*/ 7 w 14"/>
              <a:gd name="T33" fmla="*/ 0 h 14"/>
              <a:gd name="T34" fmla="*/ 6 w 14"/>
              <a:gd name="T35" fmla="*/ 0 h 14"/>
              <a:gd name="T36" fmla="*/ 5 w 14"/>
              <a:gd name="T37" fmla="*/ 0 h 14"/>
              <a:gd name="T38" fmla="*/ 4 w 14"/>
              <a:gd name="T39" fmla="*/ 1 h 14"/>
              <a:gd name="T40" fmla="*/ 3 w 14"/>
              <a:gd name="T41" fmla="*/ 2 h 14"/>
              <a:gd name="T42" fmla="*/ 2 w 14"/>
              <a:gd name="T43" fmla="*/ 3 h 14"/>
              <a:gd name="T44" fmla="*/ 2 w 14"/>
              <a:gd name="T45" fmla="*/ 4 h 14"/>
              <a:gd name="T46" fmla="*/ 0 w 14"/>
              <a:gd name="T47" fmla="*/ 6 h 14"/>
              <a:gd name="T48" fmla="*/ 0 w 14"/>
              <a:gd name="T49" fmla="*/ 7 h 14"/>
              <a:gd name="T50" fmla="*/ 0 w 14"/>
              <a:gd name="T51" fmla="*/ 8 h 14"/>
              <a:gd name="T52" fmla="*/ 2 w 14"/>
              <a:gd name="T53" fmla="*/ 9 h 14"/>
              <a:gd name="T54" fmla="*/ 2 w 14"/>
              <a:gd name="T55" fmla="*/ 10 h 14"/>
              <a:gd name="T56" fmla="*/ 3 w 14"/>
              <a:gd name="T57" fmla="*/ 11 h 14"/>
              <a:gd name="T58" fmla="*/ 4 w 14"/>
              <a:gd name="T59" fmla="*/ 13 h 14"/>
              <a:gd name="T60" fmla="*/ 5 w 14"/>
              <a:gd name="T61" fmla="*/ 13 h 14"/>
              <a:gd name="T62" fmla="*/ 6 w 14"/>
              <a:gd name="T63" fmla="*/ 14 h 14"/>
              <a:gd name="T64" fmla="*/ 7 w 14"/>
              <a:gd name="T65" fmla="*/ 1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4" h="14">
                <a:moveTo>
                  <a:pt x="7" y="14"/>
                </a:moveTo>
                <a:lnTo>
                  <a:pt x="9" y="14"/>
                </a:lnTo>
                <a:lnTo>
                  <a:pt x="10" y="13"/>
                </a:lnTo>
                <a:lnTo>
                  <a:pt x="11" y="13"/>
                </a:lnTo>
                <a:lnTo>
                  <a:pt x="12" y="11"/>
                </a:lnTo>
                <a:lnTo>
                  <a:pt x="13" y="10"/>
                </a:lnTo>
                <a:lnTo>
                  <a:pt x="13" y="9"/>
                </a:lnTo>
                <a:lnTo>
                  <a:pt x="14" y="8"/>
                </a:lnTo>
                <a:lnTo>
                  <a:pt x="14" y="7"/>
                </a:lnTo>
                <a:lnTo>
                  <a:pt x="14" y="6"/>
                </a:lnTo>
                <a:lnTo>
                  <a:pt x="13" y="4"/>
                </a:lnTo>
                <a:lnTo>
                  <a:pt x="13" y="3"/>
                </a:lnTo>
                <a:lnTo>
                  <a:pt x="12" y="2"/>
                </a:lnTo>
                <a:lnTo>
                  <a:pt x="11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4" y="1"/>
                </a:lnTo>
                <a:lnTo>
                  <a:pt x="3" y="2"/>
                </a:lnTo>
                <a:lnTo>
                  <a:pt x="2" y="3"/>
                </a:lnTo>
                <a:lnTo>
                  <a:pt x="2" y="4"/>
                </a:lnTo>
                <a:lnTo>
                  <a:pt x="0" y="6"/>
                </a:lnTo>
                <a:lnTo>
                  <a:pt x="0" y="7"/>
                </a:lnTo>
                <a:lnTo>
                  <a:pt x="0" y="8"/>
                </a:lnTo>
                <a:lnTo>
                  <a:pt x="2" y="9"/>
                </a:lnTo>
                <a:lnTo>
                  <a:pt x="2" y="10"/>
                </a:lnTo>
                <a:lnTo>
                  <a:pt x="3" y="11"/>
                </a:lnTo>
                <a:lnTo>
                  <a:pt x="4" y="13"/>
                </a:lnTo>
                <a:lnTo>
                  <a:pt x="5" y="13"/>
                </a:lnTo>
                <a:lnTo>
                  <a:pt x="6" y="14"/>
                </a:lnTo>
                <a:lnTo>
                  <a:pt x="7" y="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" name="Freeform 174"/>
          <p:cNvSpPr>
            <a:spLocks/>
          </p:cNvSpPr>
          <p:nvPr/>
        </p:nvSpPr>
        <p:spPr bwMode="auto">
          <a:xfrm>
            <a:off x="3873500" y="3068638"/>
            <a:ext cx="11112" cy="11112"/>
          </a:xfrm>
          <a:custGeom>
            <a:avLst/>
            <a:gdLst>
              <a:gd name="T0" fmla="*/ 3 w 7"/>
              <a:gd name="T1" fmla="*/ 7 h 7"/>
              <a:gd name="T2" fmla="*/ 4 w 7"/>
              <a:gd name="T3" fmla="*/ 7 h 7"/>
              <a:gd name="T4" fmla="*/ 5 w 7"/>
              <a:gd name="T5" fmla="*/ 6 h 7"/>
              <a:gd name="T6" fmla="*/ 5 w 7"/>
              <a:gd name="T7" fmla="*/ 4 h 7"/>
              <a:gd name="T8" fmla="*/ 7 w 7"/>
              <a:gd name="T9" fmla="*/ 3 h 7"/>
              <a:gd name="T10" fmla="*/ 5 w 7"/>
              <a:gd name="T11" fmla="*/ 2 h 7"/>
              <a:gd name="T12" fmla="*/ 5 w 7"/>
              <a:gd name="T13" fmla="*/ 1 h 7"/>
              <a:gd name="T14" fmla="*/ 4 w 7"/>
              <a:gd name="T15" fmla="*/ 0 h 7"/>
              <a:gd name="T16" fmla="*/ 3 w 7"/>
              <a:gd name="T17" fmla="*/ 0 h 7"/>
              <a:gd name="T18" fmla="*/ 2 w 7"/>
              <a:gd name="T19" fmla="*/ 0 h 7"/>
              <a:gd name="T20" fmla="*/ 1 w 7"/>
              <a:gd name="T21" fmla="*/ 1 h 7"/>
              <a:gd name="T22" fmla="*/ 0 w 7"/>
              <a:gd name="T23" fmla="*/ 2 h 7"/>
              <a:gd name="T24" fmla="*/ 0 w 7"/>
              <a:gd name="T25" fmla="*/ 3 h 7"/>
              <a:gd name="T26" fmla="*/ 0 w 7"/>
              <a:gd name="T27" fmla="*/ 4 h 7"/>
              <a:gd name="T28" fmla="*/ 1 w 7"/>
              <a:gd name="T29" fmla="*/ 6 h 7"/>
              <a:gd name="T30" fmla="*/ 2 w 7"/>
              <a:gd name="T31" fmla="*/ 7 h 7"/>
              <a:gd name="T32" fmla="*/ 3 w 7"/>
              <a:gd name="T33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7" h="7">
                <a:moveTo>
                  <a:pt x="3" y="7"/>
                </a:moveTo>
                <a:lnTo>
                  <a:pt x="4" y="7"/>
                </a:lnTo>
                <a:lnTo>
                  <a:pt x="5" y="6"/>
                </a:lnTo>
                <a:lnTo>
                  <a:pt x="5" y="4"/>
                </a:lnTo>
                <a:lnTo>
                  <a:pt x="7" y="3"/>
                </a:lnTo>
                <a:lnTo>
                  <a:pt x="5" y="2"/>
                </a:lnTo>
                <a:lnTo>
                  <a:pt x="5" y="1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1" y="6"/>
                </a:lnTo>
                <a:lnTo>
                  <a:pt x="2" y="7"/>
                </a:lnTo>
                <a:lnTo>
                  <a:pt x="3" y="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" name="Freeform 175"/>
          <p:cNvSpPr>
            <a:spLocks/>
          </p:cNvSpPr>
          <p:nvPr/>
        </p:nvSpPr>
        <p:spPr bwMode="auto">
          <a:xfrm>
            <a:off x="3890962" y="3068638"/>
            <a:ext cx="9525" cy="11112"/>
          </a:xfrm>
          <a:custGeom>
            <a:avLst/>
            <a:gdLst>
              <a:gd name="T0" fmla="*/ 4 w 6"/>
              <a:gd name="T1" fmla="*/ 7 h 7"/>
              <a:gd name="T2" fmla="*/ 5 w 6"/>
              <a:gd name="T3" fmla="*/ 7 h 7"/>
              <a:gd name="T4" fmla="*/ 6 w 6"/>
              <a:gd name="T5" fmla="*/ 7 h 7"/>
              <a:gd name="T6" fmla="*/ 6 w 6"/>
              <a:gd name="T7" fmla="*/ 6 h 7"/>
              <a:gd name="T8" fmla="*/ 6 w 6"/>
              <a:gd name="T9" fmla="*/ 3 h 7"/>
              <a:gd name="T10" fmla="*/ 6 w 6"/>
              <a:gd name="T11" fmla="*/ 2 h 7"/>
              <a:gd name="T12" fmla="*/ 6 w 6"/>
              <a:gd name="T13" fmla="*/ 1 h 7"/>
              <a:gd name="T14" fmla="*/ 5 w 6"/>
              <a:gd name="T15" fmla="*/ 1 h 7"/>
              <a:gd name="T16" fmla="*/ 4 w 6"/>
              <a:gd name="T17" fmla="*/ 0 h 7"/>
              <a:gd name="T18" fmla="*/ 3 w 6"/>
              <a:gd name="T19" fmla="*/ 1 h 7"/>
              <a:gd name="T20" fmla="*/ 1 w 6"/>
              <a:gd name="T21" fmla="*/ 1 h 7"/>
              <a:gd name="T22" fmla="*/ 0 w 6"/>
              <a:gd name="T23" fmla="*/ 2 h 7"/>
              <a:gd name="T24" fmla="*/ 0 w 6"/>
              <a:gd name="T25" fmla="*/ 3 h 7"/>
              <a:gd name="T26" fmla="*/ 0 w 6"/>
              <a:gd name="T27" fmla="*/ 6 h 7"/>
              <a:gd name="T28" fmla="*/ 1 w 6"/>
              <a:gd name="T29" fmla="*/ 7 h 7"/>
              <a:gd name="T30" fmla="*/ 3 w 6"/>
              <a:gd name="T31" fmla="*/ 7 h 7"/>
              <a:gd name="T32" fmla="*/ 4 w 6"/>
              <a:gd name="T33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" h="7">
                <a:moveTo>
                  <a:pt x="4" y="7"/>
                </a:moveTo>
                <a:lnTo>
                  <a:pt x="5" y="7"/>
                </a:lnTo>
                <a:lnTo>
                  <a:pt x="6" y="7"/>
                </a:lnTo>
                <a:lnTo>
                  <a:pt x="6" y="6"/>
                </a:lnTo>
                <a:lnTo>
                  <a:pt x="6" y="3"/>
                </a:lnTo>
                <a:lnTo>
                  <a:pt x="6" y="2"/>
                </a:lnTo>
                <a:lnTo>
                  <a:pt x="6" y="1"/>
                </a:lnTo>
                <a:lnTo>
                  <a:pt x="5" y="1"/>
                </a:lnTo>
                <a:lnTo>
                  <a:pt x="4" y="0"/>
                </a:lnTo>
                <a:lnTo>
                  <a:pt x="3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6"/>
                </a:lnTo>
                <a:lnTo>
                  <a:pt x="1" y="7"/>
                </a:lnTo>
                <a:lnTo>
                  <a:pt x="3" y="7"/>
                </a:lnTo>
                <a:lnTo>
                  <a:pt x="4" y="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9" name="Freeform 176"/>
          <p:cNvSpPr>
            <a:spLocks/>
          </p:cNvSpPr>
          <p:nvPr/>
        </p:nvSpPr>
        <p:spPr bwMode="auto">
          <a:xfrm>
            <a:off x="3819525" y="2921000"/>
            <a:ext cx="28575" cy="147638"/>
          </a:xfrm>
          <a:custGeom>
            <a:avLst/>
            <a:gdLst>
              <a:gd name="T0" fmla="*/ 6 w 18"/>
              <a:gd name="T1" fmla="*/ 2 h 93"/>
              <a:gd name="T2" fmla="*/ 6 w 18"/>
              <a:gd name="T3" fmla="*/ 4 h 93"/>
              <a:gd name="T4" fmla="*/ 3 w 18"/>
              <a:gd name="T5" fmla="*/ 9 h 93"/>
              <a:gd name="T6" fmla="*/ 2 w 18"/>
              <a:gd name="T7" fmla="*/ 17 h 93"/>
              <a:gd name="T8" fmla="*/ 1 w 18"/>
              <a:gd name="T9" fmla="*/ 29 h 93"/>
              <a:gd name="T10" fmla="*/ 0 w 18"/>
              <a:gd name="T11" fmla="*/ 41 h 93"/>
              <a:gd name="T12" fmla="*/ 0 w 18"/>
              <a:gd name="T13" fmla="*/ 58 h 93"/>
              <a:gd name="T14" fmla="*/ 1 w 18"/>
              <a:gd name="T15" fmla="*/ 74 h 93"/>
              <a:gd name="T16" fmla="*/ 4 w 18"/>
              <a:gd name="T17" fmla="*/ 93 h 93"/>
              <a:gd name="T18" fmla="*/ 18 w 18"/>
              <a:gd name="T19" fmla="*/ 93 h 93"/>
              <a:gd name="T20" fmla="*/ 17 w 18"/>
              <a:gd name="T21" fmla="*/ 89 h 93"/>
              <a:gd name="T22" fmla="*/ 16 w 18"/>
              <a:gd name="T23" fmla="*/ 82 h 93"/>
              <a:gd name="T24" fmla="*/ 15 w 18"/>
              <a:gd name="T25" fmla="*/ 71 h 93"/>
              <a:gd name="T26" fmla="*/ 14 w 18"/>
              <a:gd name="T27" fmla="*/ 58 h 93"/>
              <a:gd name="T28" fmla="*/ 13 w 18"/>
              <a:gd name="T29" fmla="*/ 43 h 93"/>
              <a:gd name="T30" fmla="*/ 13 w 18"/>
              <a:gd name="T31" fmla="*/ 27 h 93"/>
              <a:gd name="T32" fmla="*/ 15 w 18"/>
              <a:gd name="T33" fmla="*/ 13 h 93"/>
              <a:gd name="T34" fmla="*/ 18 w 18"/>
              <a:gd name="T35" fmla="*/ 2 h 93"/>
              <a:gd name="T36" fmla="*/ 18 w 18"/>
              <a:gd name="T37" fmla="*/ 2 h 93"/>
              <a:gd name="T38" fmla="*/ 18 w 18"/>
              <a:gd name="T39" fmla="*/ 0 h 93"/>
              <a:gd name="T40" fmla="*/ 18 w 18"/>
              <a:gd name="T41" fmla="*/ 0 h 93"/>
              <a:gd name="T42" fmla="*/ 17 w 18"/>
              <a:gd name="T43" fmla="*/ 0 h 93"/>
              <a:gd name="T44" fmla="*/ 16 w 18"/>
              <a:gd name="T45" fmla="*/ 0 h 93"/>
              <a:gd name="T46" fmla="*/ 14 w 18"/>
              <a:gd name="T47" fmla="*/ 0 h 93"/>
              <a:gd name="T48" fmla="*/ 10 w 18"/>
              <a:gd name="T49" fmla="*/ 0 h 93"/>
              <a:gd name="T50" fmla="*/ 6 w 18"/>
              <a:gd name="T51" fmla="*/ 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8" h="93">
                <a:moveTo>
                  <a:pt x="6" y="2"/>
                </a:moveTo>
                <a:lnTo>
                  <a:pt x="6" y="4"/>
                </a:lnTo>
                <a:lnTo>
                  <a:pt x="3" y="9"/>
                </a:lnTo>
                <a:lnTo>
                  <a:pt x="2" y="17"/>
                </a:lnTo>
                <a:lnTo>
                  <a:pt x="1" y="29"/>
                </a:lnTo>
                <a:lnTo>
                  <a:pt x="0" y="41"/>
                </a:lnTo>
                <a:lnTo>
                  <a:pt x="0" y="58"/>
                </a:lnTo>
                <a:lnTo>
                  <a:pt x="1" y="74"/>
                </a:lnTo>
                <a:lnTo>
                  <a:pt x="4" y="93"/>
                </a:lnTo>
                <a:lnTo>
                  <a:pt x="18" y="93"/>
                </a:lnTo>
                <a:lnTo>
                  <a:pt x="17" y="89"/>
                </a:lnTo>
                <a:lnTo>
                  <a:pt x="16" y="82"/>
                </a:lnTo>
                <a:lnTo>
                  <a:pt x="15" y="71"/>
                </a:lnTo>
                <a:lnTo>
                  <a:pt x="14" y="58"/>
                </a:lnTo>
                <a:lnTo>
                  <a:pt x="13" y="43"/>
                </a:lnTo>
                <a:lnTo>
                  <a:pt x="13" y="27"/>
                </a:lnTo>
                <a:lnTo>
                  <a:pt x="15" y="13"/>
                </a:lnTo>
                <a:lnTo>
                  <a:pt x="18" y="2"/>
                </a:lnTo>
                <a:lnTo>
                  <a:pt x="18" y="2"/>
                </a:lnTo>
                <a:lnTo>
                  <a:pt x="18" y="0"/>
                </a:lnTo>
                <a:lnTo>
                  <a:pt x="18" y="0"/>
                </a:lnTo>
                <a:lnTo>
                  <a:pt x="17" y="0"/>
                </a:lnTo>
                <a:lnTo>
                  <a:pt x="16" y="0"/>
                </a:lnTo>
                <a:lnTo>
                  <a:pt x="14" y="0"/>
                </a:lnTo>
                <a:lnTo>
                  <a:pt x="10" y="0"/>
                </a:lnTo>
                <a:lnTo>
                  <a:pt x="6" y="2"/>
                </a:lnTo>
                <a:close/>
              </a:path>
            </a:pathLst>
          </a:custGeom>
          <a:solidFill>
            <a:srgbClr val="3F9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0" name="Freeform 177"/>
          <p:cNvSpPr>
            <a:spLocks/>
          </p:cNvSpPr>
          <p:nvPr/>
        </p:nvSpPr>
        <p:spPr bwMode="auto">
          <a:xfrm>
            <a:off x="3975100" y="2903538"/>
            <a:ext cx="42862" cy="165100"/>
          </a:xfrm>
          <a:custGeom>
            <a:avLst/>
            <a:gdLst>
              <a:gd name="T0" fmla="*/ 27 w 27"/>
              <a:gd name="T1" fmla="*/ 0 h 104"/>
              <a:gd name="T2" fmla="*/ 25 w 27"/>
              <a:gd name="T3" fmla="*/ 1 h 104"/>
              <a:gd name="T4" fmla="*/ 24 w 27"/>
              <a:gd name="T5" fmla="*/ 3 h 104"/>
              <a:gd name="T6" fmla="*/ 22 w 27"/>
              <a:gd name="T7" fmla="*/ 9 h 104"/>
              <a:gd name="T8" fmla="*/ 20 w 27"/>
              <a:gd name="T9" fmla="*/ 18 h 104"/>
              <a:gd name="T10" fmla="*/ 17 w 27"/>
              <a:gd name="T11" fmla="*/ 31 h 104"/>
              <a:gd name="T12" fmla="*/ 16 w 27"/>
              <a:gd name="T13" fmla="*/ 49 h 104"/>
              <a:gd name="T14" fmla="*/ 17 w 27"/>
              <a:gd name="T15" fmla="*/ 73 h 104"/>
              <a:gd name="T16" fmla="*/ 20 w 27"/>
              <a:gd name="T17" fmla="*/ 104 h 104"/>
              <a:gd name="T18" fmla="*/ 4 w 27"/>
              <a:gd name="T19" fmla="*/ 104 h 104"/>
              <a:gd name="T20" fmla="*/ 4 w 27"/>
              <a:gd name="T21" fmla="*/ 100 h 104"/>
              <a:gd name="T22" fmla="*/ 3 w 27"/>
              <a:gd name="T23" fmla="*/ 92 h 104"/>
              <a:gd name="T24" fmla="*/ 2 w 27"/>
              <a:gd name="T25" fmla="*/ 79 h 104"/>
              <a:gd name="T26" fmla="*/ 1 w 27"/>
              <a:gd name="T27" fmla="*/ 64 h 104"/>
              <a:gd name="T28" fmla="*/ 0 w 27"/>
              <a:gd name="T29" fmla="*/ 47 h 104"/>
              <a:gd name="T30" fmla="*/ 1 w 27"/>
              <a:gd name="T31" fmla="*/ 30 h 104"/>
              <a:gd name="T32" fmla="*/ 3 w 27"/>
              <a:gd name="T33" fmla="*/ 14 h 104"/>
              <a:gd name="T34" fmla="*/ 9 w 27"/>
              <a:gd name="T35" fmla="*/ 0 h 104"/>
              <a:gd name="T36" fmla="*/ 27 w 27"/>
              <a:gd name="T37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" h="104">
                <a:moveTo>
                  <a:pt x="27" y="0"/>
                </a:moveTo>
                <a:lnTo>
                  <a:pt x="25" y="1"/>
                </a:lnTo>
                <a:lnTo>
                  <a:pt x="24" y="3"/>
                </a:lnTo>
                <a:lnTo>
                  <a:pt x="22" y="9"/>
                </a:lnTo>
                <a:lnTo>
                  <a:pt x="20" y="18"/>
                </a:lnTo>
                <a:lnTo>
                  <a:pt x="17" y="31"/>
                </a:lnTo>
                <a:lnTo>
                  <a:pt x="16" y="49"/>
                </a:lnTo>
                <a:lnTo>
                  <a:pt x="17" y="73"/>
                </a:lnTo>
                <a:lnTo>
                  <a:pt x="20" y="104"/>
                </a:lnTo>
                <a:lnTo>
                  <a:pt x="4" y="104"/>
                </a:lnTo>
                <a:lnTo>
                  <a:pt x="4" y="100"/>
                </a:lnTo>
                <a:lnTo>
                  <a:pt x="3" y="92"/>
                </a:lnTo>
                <a:lnTo>
                  <a:pt x="2" y="79"/>
                </a:lnTo>
                <a:lnTo>
                  <a:pt x="1" y="64"/>
                </a:lnTo>
                <a:lnTo>
                  <a:pt x="0" y="47"/>
                </a:lnTo>
                <a:lnTo>
                  <a:pt x="1" y="30"/>
                </a:lnTo>
                <a:lnTo>
                  <a:pt x="3" y="14"/>
                </a:lnTo>
                <a:lnTo>
                  <a:pt x="9" y="0"/>
                </a:lnTo>
                <a:lnTo>
                  <a:pt x="27" y="0"/>
                </a:lnTo>
                <a:close/>
              </a:path>
            </a:pathLst>
          </a:custGeom>
          <a:solidFill>
            <a:srgbClr val="3F9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1" name="Freeform 178"/>
          <p:cNvSpPr>
            <a:spLocks/>
          </p:cNvSpPr>
          <p:nvPr/>
        </p:nvSpPr>
        <p:spPr bwMode="auto">
          <a:xfrm>
            <a:off x="3819525" y="2928938"/>
            <a:ext cx="26987" cy="130175"/>
          </a:xfrm>
          <a:custGeom>
            <a:avLst/>
            <a:gdLst>
              <a:gd name="T0" fmla="*/ 6 w 17"/>
              <a:gd name="T1" fmla="*/ 2 h 82"/>
              <a:gd name="T2" fmla="*/ 6 w 17"/>
              <a:gd name="T3" fmla="*/ 4 h 82"/>
              <a:gd name="T4" fmla="*/ 4 w 17"/>
              <a:gd name="T5" fmla="*/ 8 h 82"/>
              <a:gd name="T6" fmla="*/ 2 w 17"/>
              <a:gd name="T7" fmla="*/ 15 h 82"/>
              <a:gd name="T8" fmla="*/ 1 w 17"/>
              <a:gd name="T9" fmla="*/ 26 h 82"/>
              <a:gd name="T10" fmla="*/ 0 w 17"/>
              <a:gd name="T11" fmla="*/ 38 h 82"/>
              <a:gd name="T12" fmla="*/ 1 w 17"/>
              <a:gd name="T13" fmla="*/ 50 h 82"/>
              <a:gd name="T14" fmla="*/ 2 w 17"/>
              <a:gd name="T15" fmla="*/ 66 h 82"/>
              <a:gd name="T16" fmla="*/ 4 w 17"/>
              <a:gd name="T17" fmla="*/ 82 h 82"/>
              <a:gd name="T18" fmla="*/ 16 w 17"/>
              <a:gd name="T19" fmla="*/ 81 h 82"/>
              <a:gd name="T20" fmla="*/ 16 w 17"/>
              <a:gd name="T21" fmla="*/ 78 h 82"/>
              <a:gd name="T22" fmla="*/ 15 w 17"/>
              <a:gd name="T23" fmla="*/ 73 h 82"/>
              <a:gd name="T24" fmla="*/ 14 w 17"/>
              <a:gd name="T25" fmla="*/ 62 h 82"/>
              <a:gd name="T26" fmla="*/ 13 w 17"/>
              <a:gd name="T27" fmla="*/ 50 h 82"/>
              <a:gd name="T28" fmla="*/ 11 w 17"/>
              <a:gd name="T29" fmla="*/ 38 h 82"/>
              <a:gd name="T30" fmla="*/ 11 w 17"/>
              <a:gd name="T31" fmla="*/ 25 h 82"/>
              <a:gd name="T32" fmla="*/ 14 w 17"/>
              <a:gd name="T33" fmla="*/ 12 h 82"/>
              <a:gd name="T34" fmla="*/ 17 w 17"/>
              <a:gd name="T35" fmla="*/ 1 h 82"/>
              <a:gd name="T36" fmla="*/ 17 w 17"/>
              <a:gd name="T37" fmla="*/ 1 h 82"/>
              <a:gd name="T38" fmla="*/ 17 w 17"/>
              <a:gd name="T39" fmla="*/ 1 h 82"/>
              <a:gd name="T40" fmla="*/ 17 w 17"/>
              <a:gd name="T41" fmla="*/ 1 h 82"/>
              <a:gd name="T42" fmla="*/ 16 w 17"/>
              <a:gd name="T43" fmla="*/ 0 h 82"/>
              <a:gd name="T44" fmla="*/ 15 w 17"/>
              <a:gd name="T45" fmla="*/ 0 h 82"/>
              <a:gd name="T46" fmla="*/ 13 w 17"/>
              <a:gd name="T47" fmla="*/ 1 h 82"/>
              <a:gd name="T48" fmla="*/ 9 w 17"/>
              <a:gd name="T49" fmla="*/ 1 h 82"/>
              <a:gd name="T50" fmla="*/ 6 w 17"/>
              <a:gd name="T51" fmla="*/ 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7" h="82">
                <a:moveTo>
                  <a:pt x="6" y="2"/>
                </a:moveTo>
                <a:lnTo>
                  <a:pt x="6" y="4"/>
                </a:lnTo>
                <a:lnTo>
                  <a:pt x="4" y="8"/>
                </a:lnTo>
                <a:lnTo>
                  <a:pt x="2" y="15"/>
                </a:lnTo>
                <a:lnTo>
                  <a:pt x="1" y="26"/>
                </a:lnTo>
                <a:lnTo>
                  <a:pt x="0" y="38"/>
                </a:lnTo>
                <a:lnTo>
                  <a:pt x="1" y="50"/>
                </a:lnTo>
                <a:lnTo>
                  <a:pt x="2" y="66"/>
                </a:lnTo>
                <a:lnTo>
                  <a:pt x="4" y="82"/>
                </a:lnTo>
                <a:lnTo>
                  <a:pt x="16" y="81"/>
                </a:lnTo>
                <a:lnTo>
                  <a:pt x="16" y="78"/>
                </a:lnTo>
                <a:lnTo>
                  <a:pt x="15" y="73"/>
                </a:lnTo>
                <a:lnTo>
                  <a:pt x="14" y="62"/>
                </a:lnTo>
                <a:lnTo>
                  <a:pt x="13" y="50"/>
                </a:lnTo>
                <a:lnTo>
                  <a:pt x="11" y="38"/>
                </a:lnTo>
                <a:lnTo>
                  <a:pt x="11" y="25"/>
                </a:lnTo>
                <a:lnTo>
                  <a:pt x="14" y="12"/>
                </a:lnTo>
                <a:lnTo>
                  <a:pt x="17" y="1"/>
                </a:lnTo>
                <a:lnTo>
                  <a:pt x="17" y="1"/>
                </a:lnTo>
                <a:lnTo>
                  <a:pt x="17" y="1"/>
                </a:lnTo>
                <a:lnTo>
                  <a:pt x="17" y="1"/>
                </a:lnTo>
                <a:lnTo>
                  <a:pt x="16" y="0"/>
                </a:lnTo>
                <a:lnTo>
                  <a:pt x="15" y="0"/>
                </a:lnTo>
                <a:lnTo>
                  <a:pt x="13" y="1"/>
                </a:lnTo>
                <a:lnTo>
                  <a:pt x="9" y="1"/>
                </a:lnTo>
                <a:lnTo>
                  <a:pt x="6" y="2"/>
                </a:lnTo>
                <a:close/>
              </a:path>
            </a:pathLst>
          </a:custGeom>
          <a:solidFill>
            <a:srgbClr val="59B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" name="Freeform 179"/>
          <p:cNvSpPr>
            <a:spLocks/>
          </p:cNvSpPr>
          <p:nvPr/>
        </p:nvSpPr>
        <p:spPr bwMode="auto">
          <a:xfrm>
            <a:off x="3821112" y="2938463"/>
            <a:ext cx="22225" cy="109537"/>
          </a:xfrm>
          <a:custGeom>
            <a:avLst/>
            <a:gdLst>
              <a:gd name="T0" fmla="*/ 5 w 14"/>
              <a:gd name="T1" fmla="*/ 1 h 69"/>
              <a:gd name="T2" fmla="*/ 5 w 14"/>
              <a:gd name="T3" fmla="*/ 2 h 69"/>
              <a:gd name="T4" fmla="*/ 3 w 14"/>
              <a:gd name="T5" fmla="*/ 7 h 69"/>
              <a:gd name="T6" fmla="*/ 2 w 14"/>
              <a:gd name="T7" fmla="*/ 13 h 69"/>
              <a:gd name="T8" fmla="*/ 1 w 14"/>
              <a:gd name="T9" fmla="*/ 21 h 69"/>
              <a:gd name="T10" fmla="*/ 0 w 14"/>
              <a:gd name="T11" fmla="*/ 32 h 69"/>
              <a:gd name="T12" fmla="*/ 0 w 14"/>
              <a:gd name="T13" fmla="*/ 43 h 69"/>
              <a:gd name="T14" fmla="*/ 1 w 14"/>
              <a:gd name="T15" fmla="*/ 56 h 69"/>
              <a:gd name="T16" fmla="*/ 3 w 14"/>
              <a:gd name="T17" fmla="*/ 69 h 69"/>
              <a:gd name="T18" fmla="*/ 14 w 14"/>
              <a:gd name="T19" fmla="*/ 69 h 69"/>
              <a:gd name="T20" fmla="*/ 13 w 14"/>
              <a:gd name="T21" fmla="*/ 67 h 69"/>
              <a:gd name="T22" fmla="*/ 13 w 14"/>
              <a:gd name="T23" fmla="*/ 61 h 69"/>
              <a:gd name="T24" fmla="*/ 12 w 14"/>
              <a:gd name="T25" fmla="*/ 53 h 69"/>
              <a:gd name="T26" fmla="*/ 10 w 14"/>
              <a:gd name="T27" fmla="*/ 43 h 69"/>
              <a:gd name="T28" fmla="*/ 9 w 14"/>
              <a:gd name="T29" fmla="*/ 32 h 69"/>
              <a:gd name="T30" fmla="*/ 9 w 14"/>
              <a:gd name="T31" fmla="*/ 20 h 69"/>
              <a:gd name="T32" fmla="*/ 12 w 14"/>
              <a:gd name="T33" fmla="*/ 9 h 69"/>
              <a:gd name="T34" fmla="*/ 14 w 14"/>
              <a:gd name="T35" fmla="*/ 1 h 69"/>
              <a:gd name="T36" fmla="*/ 14 w 14"/>
              <a:gd name="T37" fmla="*/ 1 h 69"/>
              <a:gd name="T38" fmla="*/ 14 w 14"/>
              <a:gd name="T39" fmla="*/ 1 h 69"/>
              <a:gd name="T40" fmla="*/ 14 w 14"/>
              <a:gd name="T41" fmla="*/ 0 h 69"/>
              <a:gd name="T42" fmla="*/ 14 w 14"/>
              <a:gd name="T43" fmla="*/ 0 h 69"/>
              <a:gd name="T44" fmla="*/ 13 w 14"/>
              <a:gd name="T45" fmla="*/ 0 h 69"/>
              <a:gd name="T46" fmla="*/ 10 w 14"/>
              <a:gd name="T47" fmla="*/ 0 h 69"/>
              <a:gd name="T48" fmla="*/ 8 w 14"/>
              <a:gd name="T49" fmla="*/ 1 h 69"/>
              <a:gd name="T50" fmla="*/ 5 w 14"/>
              <a:gd name="T51" fmla="*/ 1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" h="69">
                <a:moveTo>
                  <a:pt x="5" y="1"/>
                </a:moveTo>
                <a:lnTo>
                  <a:pt x="5" y="2"/>
                </a:lnTo>
                <a:lnTo>
                  <a:pt x="3" y="7"/>
                </a:lnTo>
                <a:lnTo>
                  <a:pt x="2" y="13"/>
                </a:lnTo>
                <a:lnTo>
                  <a:pt x="1" y="21"/>
                </a:lnTo>
                <a:lnTo>
                  <a:pt x="0" y="32"/>
                </a:lnTo>
                <a:lnTo>
                  <a:pt x="0" y="43"/>
                </a:lnTo>
                <a:lnTo>
                  <a:pt x="1" y="56"/>
                </a:lnTo>
                <a:lnTo>
                  <a:pt x="3" y="69"/>
                </a:lnTo>
                <a:lnTo>
                  <a:pt x="14" y="69"/>
                </a:lnTo>
                <a:lnTo>
                  <a:pt x="13" y="67"/>
                </a:lnTo>
                <a:lnTo>
                  <a:pt x="13" y="61"/>
                </a:lnTo>
                <a:lnTo>
                  <a:pt x="12" y="53"/>
                </a:lnTo>
                <a:lnTo>
                  <a:pt x="10" y="43"/>
                </a:lnTo>
                <a:lnTo>
                  <a:pt x="9" y="32"/>
                </a:lnTo>
                <a:lnTo>
                  <a:pt x="9" y="20"/>
                </a:lnTo>
                <a:lnTo>
                  <a:pt x="12" y="9"/>
                </a:lnTo>
                <a:lnTo>
                  <a:pt x="14" y="1"/>
                </a:lnTo>
                <a:lnTo>
                  <a:pt x="14" y="1"/>
                </a:lnTo>
                <a:lnTo>
                  <a:pt x="14" y="1"/>
                </a:lnTo>
                <a:lnTo>
                  <a:pt x="14" y="0"/>
                </a:lnTo>
                <a:lnTo>
                  <a:pt x="14" y="0"/>
                </a:lnTo>
                <a:lnTo>
                  <a:pt x="13" y="0"/>
                </a:lnTo>
                <a:lnTo>
                  <a:pt x="10" y="0"/>
                </a:lnTo>
                <a:lnTo>
                  <a:pt x="8" y="1"/>
                </a:lnTo>
                <a:lnTo>
                  <a:pt x="5" y="1"/>
                </a:lnTo>
                <a:close/>
              </a:path>
            </a:pathLst>
          </a:custGeom>
          <a:solidFill>
            <a:srgbClr val="72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" name="Freeform 180"/>
          <p:cNvSpPr>
            <a:spLocks/>
          </p:cNvSpPr>
          <p:nvPr/>
        </p:nvSpPr>
        <p:spPr bwMode="auto">
          <a:xfrm>
            <a:off x="3822700" y="2947988"/>
            <a:ext cx="19050" cy="90487"/>
          </a:xfrm>
          <a:custGeom>
            <a:avLst/>
            <a:gdLst>
              <a:gd name="T0" fmla="*/ 4 w 12"/>
              <a:gd name="T1" fmla="*/ 1 h 57"/>
              <a:gd name="T2" fmla="*/ 2 w 12"/>
              <a:gd name="T3" fmla="*/ 2 h 57"/>
              <a:gd name="T4" fmla="*/ 2 w 12"/>
              <a:gd name="T5" fmla="*/ 5 h 57"/>
              <a:gd name="T6" fmla="*/ 1 w 12"/>
              <a:gd name="T7" fmla="*/ 10 h 57"/>
              <a:gd name="T8" fmla="*/ 0 w 12"/>
              <a:gd name="T9" fmla="*/ 17 h 57"/>
              <a:gd name="T10" fmla="*/ 0 w 12"/>
              <a:gd name="T11" fmla="*/ 26 h 57"/>
              <a:gd name="T12" fmla="*/ 0 w 12"/>
              <a:gd name="T13" fmla="*/ 35 h 57"/>
              <a:gd name="T14" fmla="*/ 1 w 12"/>
              <a:gd name="T15" fmla="*/ 45 h 57"/>
              <a:gd name="T16" fmla="*/ 2 w 12"/>
              <a:gd name="T17" fmla="*/ 57 h 57"/>
              <a:gd name="T18" fmla="*/ 11 w 12"/>
              <a:gd name="T19" fmla="*/ 56 h 57"/>
              <a:gd name="T20" fmla="*/ 11 w 12"/>
              <a:gd name="T21" fmla="*/ 55 h 57"/>
              <a:gd name="T22" fmla="*/ 9 w 12"/>
              <a:gd name="T23" fmla="*/ 50 h 57"/>
              <a:gd name="T24" fmla="*/ 9 w 12"/>
              <a:gd name="T25" fmla="*/ 43 h 57"/>
              <a:gd name="T26" fmla="*/ 8 w 12"/>
              <a:gd name="T27" fmla="*/ 35 h 57"/>
              <a:gd name="T28" fmla="*/ 7 w 12"/>
              <a:gd name="T29" fmla="*/ 26 h 57"/>
              <a:gd name="T30" fmla="*/ 8 w 12"/>
              <a:gd name="T31" fmla="*/ 16 h 57"/>
              <a:gd name="T32" fmla="*/ 9 w 12"/>
              <a:gd name="T33" fmla="*/ 8 h 57"/>
              <a:gd name="T34" fmla="*/ 12 w 12"/>
              <a:gd name="T35" fmla="*/ 0 h 57"/>
              <a:gd name="T36" fmla="*/ 12 w 12"/>
              <a:gd name="T37" fmla="*/ 0 h 57"/>
              <a:gd name="T38" fmla="*/ 12 w 12"/>
              <a:gd name="T39" fmla="*/ 0 h 57"/>
              <a:gd name="T40" fmla="*/ 12 w 12"/>
              <a:gd name="T41" fmla="*/ 0 h 57"/>
              <a:gd name="T42" fmla="*/ 11 w 12"/>
              <a:gd name="T43" fmla="*/ 0 h 57"/>
              <a:gd name="T44" fmla="*/ 9 w 12"/>
              <a:gd name="T45" fmla="*/ 0 h 57"/>
              <a:gd name="T46" fmla="*/ 8 w 12"/>
              <a:gd name="T47" fmla="*/ 0 h 57"/>
              <a:gd name="T48" fmla="*/ 6 w 12"/>
              <a:gd name="T49" fmla="*/ 0 h 57"/>
              <a:gd name="T50" fmla="*/ 4 w 12"/>
              <a:gd name="T51" fmla="*/ 1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" h="57">
                <a:moveTo>
                  <a:pt x="4" y="1"/>
                </a:moveTo>
                <a:lnTo>
                  <a:pt x="2" y="2"/>
                </a:lnTo>
                <a:lnTo>
                  <a:pt x="2" y="5"/>
                </a:lnTo>
                <a:lnTo>
                  <a:pt x="1" y="10"/>
                </a:lnTo>
                <a:lnTo>
                  <a:pt x="0" y="17"/>
                </a:lnTo>
                <a:lnTo>
                  <a:pt x="0" y="26"/>
                </a:lnTo>
                <a:lnTo>
                  <a:pt x="0" y="35"/>
                </a:lnTo>
                <a:lnTo>
                  <a:pt x="1" y="45"/>
                </a:lnTo>
                <a:lnTo>
                  <a:pt x="2" y="57"/>
                </a:lnTo>
                <a:lnTo>
                  <a:pt x="11" y="56"/>
                </a:lnTo>
                <a:lnTo>
                  <a:pt x="11" y="55"/>
                </a:lnTo>
                <a:lnTo>
                  <a:pt x="9" y="50"/>
                </a:lnTo>
                <a:lnTo>
                  <a:pt x="9" y="43"/>
                </a:lnTo>
                <a:lnTo>
                  <a:pt x="8" y="35"/>
                </a:lnTo>
                <a:lnTo>
                  <a:pt x="7" y="26"/>
                </a:lnTo>
                <a:lnTo>
                  <a:pt x="8" y="16"/>
                </a:lnTo>
                <a:lnTo>
                  <a:pt x="9" y="8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11" y="0"/>
                </a:lnTo>
                <a:lnTo>
                  <a:pt x="9" y="0"/>
                </a:lnTo>
                <a:lnTo>
                  <a:pt x="8" y="0"/>
                </a:lnTo>
                <a:lnTo>
                  <a:pt x="6" y="0"/>
                </a:lnTo>
                <a:lnTo>
                  <a:pt x="4" y="1"/>
                </a:lnTo>
                <a:close/>
              </a:path>
            </a:pathLst>
          </a:custGeom>
          <a:solidFill>
            <a:srgbClr val="8CD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" name="Freeform 181"/>
          <p:cNvSpPr>
            <a:spLocks/>
          </p:cNvSpPr>
          <p:nvPr/>
        </p:nvSpPr>
        <p:spPr bwMode="auto">
          <a:xfrm>
            <a:off x="3822700" y="2955925"/>
            <a:ext cx="14287" cy="71438"/>
          </a:xfrm>
          <a:custGeom>
            <a:avLst/>
            <a:gdLst>
              <a:gd name="T0" fmla="*/ 4 w 9"/>
              <a:gd name="T1" fmla="*/ 1 h 45"/>
              <a:gd name="T2" fmla="*/ 2 w 9"/>
              <a:gd name="T3" fmla="*/ 2 h 45"/>
              <a:gd name="T4" fmla="*/ 2 w 9"/>
              <a:gd name="T5" fmla="*/ 4 h 45"/>
              <a:gd name="T6" fmla="*/ 1 w 9"/>
              <a:gd name="T7" fmla="*/ 9 h 45"/>
              <a:gd name="T8" fmla="*/ 1 w 9"/>
              <a:gd name="T9" fmla="*/ 14 h 45"/>
              <a:gd name="T10" fmla="*/ 0 w 9"/>
              <a:gd name="T11" fmla="*/ 21 h 45"/>
              <a:gd name="T12" fmla="*/ 0 w 9"/>
              <a:gd name="T13" fmla="*/ 28 h 45"/>
              <a:gd name="T14" fmla="*/ 1 w 9"/>
              <a:gd name="T15" fmla="*/ 37 h 45"/>
              <a:gd name="T16" fmla="*/ 2 w 9"/>
              <a:gd name="T17" fmla="*/ 45 h 45"/>
              <a:gd name="T18" fmla="*/ 9 w 9"/>
              <a:gd name="T19" fmla="*/ 45 h 45"/>
              <a:gd name="T20" fmla="*/ 9 w 9"/>
              <a:gd name="T21" fmla="*/ 44 h 45"/>
              <a:gd name="T22" fmla="*/ 8 w 9"/>
              <a:gd name="T23" fmla="*/ 40 h 45"/>
              <a:gd name="T24" fmla="*/ 7 w 9"/>
              <a:gd name="T25" fmla="*/ 35 h 45"/>
              <a:gd name="T26" fmla="*/ 7 w 9"/>
              <a:gd name="T27" fmla="*/ 28 h 45"/>
              <a:gd name="T28" fmla="*/ 6 w 9"/>
              <a:gd name="T29" fmla="*/ 21 h 45"/>
              <a:gd name="T30" fmla="*/ 7 w 9"/>
              <a:gd name="T31" fmla="*/ 14 h 45"/>
              <a:gd name="T32" fmla="*/ 7 w 9"/>
              <a:gd name="T33" fmla="*/ 7 h 45"/>
              <a:gd name="T34" fmla="*/ 9 w 9"/>
              <a:gd name="T35" fmla="*/ 1 h 45"/>
              <a:gd name="T36" fmla="*/ 9 w 9"/>
              <a:gd name="T37" fmla="*/ 1 h 45"/>
              <a:gd name="T38" fmla="*/ 9 w 9"/>
              <a:gd name="T39" fmla="*/ 1 h 45"/>
              <a:gd name="T40" fmla="*/ 9 w 9"/>
              <a:gd name="T41" fmla="*/ 1 h 45"/>
              <a:gd name="T42" fmla="*/ 9 w 9"/>
              <a:gd name="T43" fmla="*/ 0 h 45"/>
              <a:gd name="T44" fmla="*/ 8 w 9"/>
              <a:gd name="T45" fmla="*/ 0 h 45"/>
              <a:gd name="T46" fmla="*/ 7 w 9"/>
              <a:gd name="T47" fmla="*/ 1 h 45"/>
              <a:gd name="T48" fmla="*/ 6 w 9"/>
              <a:gd name="T49" fmla="*/ 1 h 45"/>
              <a:gd name="T50" fmla="*/ 4 w 9"/>
              <a:gd name="T51" fmla="*/ 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9" h="45">
                <a:moveTo>
                  <a:pt x="4" y="1"/>
                </a:moveTo>
                <a:lnTo>
                  <a:pt x="2" y="2"/>
                </a:lnTo>
                <a:lnTo>
                  <a:pt x="2" y="4"/>
                </a:lnTo>
                <a:lnTo>
                  <a:pt x="1" y="9"/>
                </a:lnTo>
                <a:lnTo>
                  <a:pt x="1" y="14"/>
                </a:lnTo>
                <a:lnTo>
                  <a:pt x="0" y="21"/>
                </a:lnTo>
                <a:lnTo>
                  <a:pt x="0" y="28"/>
                </a:lnTo>
                <a:lnTo>
                  <a:pt x="1" y="37"/>
                </a:lnTo>
                <a:lnTo>
                  <a:pt x="2" y="45"/>
                </a:lnTo>
                <a:lnTo>
                  <a:pt x="9" y="45"/>
                </a:lnTo>
                <a:lnTo>
                  <a:pt x="9" y="44"/>
                </a:lnTo>
                <a:lnTo>
                  <a:pt x="8" y="40"/>
                </a:lnTo>
                <a:lnTo>
                  <a:pt x="7" y="35"/>
                </a:lnTo>
                <a:lnTo>
                  <a:pt x="7" y="28"/>
                </a:lnTo>
                <a:lnTo>
                  <a:pt x="6" y="21"/>
                </a:lnTo>
                <a:lnTo>
                  <a:pt x="7" y="14"/>
                </a:lnTo>
                <a:lnTo>
                  <a:pt x="7" y="7"/>
                </a:lnTo>
                <a:lnTo>
                  <a:pt x="9" y="1"/>
                </a:lnTo>
                <a:lnTo>
                  <a:pt x="9" y="1"/>
                </a:lnTo>
                <a:lnTo>
                  <a:pt x="9" y="1"/>
                </a:lnTo>
                <a:lnTo>
                  <a:pt x="9" y="1"/>
                </a:lnTo>
                <a:lnTo>
                  <a:pt x="9" y="0"/>
                </a:lnTo>
                <a:lnTo>
                  <a:pt x="8" y="0"/>
                </a:lnTo>
                <a:lnTo>
                  <a:pt x="7" y="1"/>
                </a:lnTo>
                <a:lnTo>
                  <a:pt x="6" y="1"/>
                </a:lnTo>
                <a:lnTo>
                  <a:pt x="4" y="1"/>
                </a:lnTo>
                <a:close/>
              </a:path>
            </a:pathLst>
          </a:custGeom>
          <a:solidFill>
            <a:srgbClr val="A5E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" name="Freeform 182"/>
          <p:cNvSpPr>
            <a:spLocks/>
          </p:cNvSpPr>
          <p:nvPr/>
        </p:nvSpPr>
        <p:spPr bwMode="auto">
          <a:xfrm>
            <a:off x="3824287" y="2963863"/>
            <a:ext cx="11113" cy="53975"/>
          </a:xfrm>
          <a:custGeom>
            <a:avLst/>
            <a:gdLst>
              <a:gd name="T0" fmla="*/ 3 w 7"/>
              <a:gd name="T1" fmla="*/ 2 h 34"/>
              <a:gd name="T2" fmla="*/ 1 w 7"/>
              <a:gd name="T3" fmla="*/ 2 h 34"/>
              <a:gd name="T4" fmla="*/ 1 w 7"/>
              <a:gd name="T5" fmla="*/ 4 h 34"/>
              <a:gd name="T6" fmla="*/ 0 w 7"/>
              <a:gd name="T7" fmla="*/ 6 h 34"/>
              <a:gd name="T8" fmla="*/ 0 w 7"/>
              <a:gd name="T9" fmla="*/ 11 h 34"/>
              <a:gd name="T10" fmla="*/ 0 w 7"/>
              <a:gd name="T11" fmla="*/ 16 h 34"/>
              <a:gd name="T12" fmla="*/ 0 w 7"/>
              <a:gd name="T13" fmla="*/ 21 h 34"/>
              <a:gd name="T14" fmla="*/ 0 w 7"/>
              <a:gd name="T15" fmla="*/ 27 h 34"/>
              <a:gd name="T16" fmla="*/ 1 w 7"/>
              <a:gd name="T17" fmla="*/ 34 h 34"/>
              <a:gd name="T18" fmla="*/ 6 w 7"/>
              <a:gd name="T19" fmla="*/ 34 h 34"/>
              <a:gd name="T20" fmla="*/ 6 w 7"/>
              <a:gd name="T21" fmla="*/ 33 h 34"/>
              <a:gd name="T22" fmla="*/ 6 w 7"/>
              <a:gd name="T23" fmla="*/ 30 h 34"/>
              <a:gd name="T24" fmla="*/ 5 w 7"/>
              <a:gd name="T25" fmla="*/ 26 h 34"/>
              <a:gd name="T26" fmla="*/ 5 w 7"/>
              <a:gd name="T27" fmla="*/ 21 h 34"/>
              <a:gd name="T28" fmla="*/ 5 w 7"/>
              <a:gd name="T29" fmla="*/ 16 h 34"/>
              <a:gd name="T30" fmla="*/ 5 w 7"/>
              <a:gd name="T31" fmla="*/ 11 h 34"/>
              <a:gd name="T32" fmla="*/ 5 w 7"/>
              <a:gd name="T33" fmla="*/ 5 h 34"/>
              <a:gd name="T34" fmla="*/ 7 w 7"/>
              <a:gd name="T35" fmla="*/ 2 h 34"/>
              <a:gd name="T36" fmla="*/ 7 w 7"/>
              <a:gd name="T37" fmla="*/ 2 h 34"/>
              <a:gd name="T38" fmla="*/ 7 w 7"/>
              <a:gd name="T39" fmla="*/ 0 h 34"/>
              <a:gd name="T40" fmla="*/ 6 w 7"/>
              <a:gd name="T41" fmla="*/ 0 h 34"/>
              <a:gd name="T42" fmla="*/ 6 w 7"/>
              <a:gd name="T43" fmla="*/ 0 h 34"/>
              <a:gd name="T44" fmla="*/ 6 w 7"/>
              <a:gd name="T45" fmla="*/ 0 h 34"/>
              <a:gd name="T46" fmla="*/ 5 w 7"/>
              <a:gd name="T47" fmla="*/ 0 h 34"/>
              <a:gd name="T48" fmla="*/ 4 w 7"/>
              <a:gd name="T49" fmla="*/ 0 h 34"/>
              <a:gd name="T50" fmla="*/ 3 w 7"/>
              <a:gd name="T51" fmla="*/ 2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" h="34">
                <a:moveTo>
                  <a:pt x="3" y="2"/>
                </a:moveTo>
                <a:lnTo>
                  <a:pt x="1" y="2"/>
                </a:lnTo>
                <a:lnTo>
                  <a:pt x="1" y="4"/>
                </a:lnTo>
                <a:lnTo>
                  <a:pt x="0" y="6"/>
                </a:lnTo>
                <a:lnTo>
                  <a:pt x="0" y="11"/>
                </a:lnTo>
                <a:lnTo>
                  <a:pt x="0" y="16"/>
                </a:lnTo>
                <a:lnTo>
                  <a:pt x="0" y="21"/>
                </a:lnTo>
                <a:lnTo>
                  <a:pt x="0" y="27"/>
                </a:lnTo>
                <a:lnTo>
                  <a:pt x="1" y="34"/>
                </a:lnTo>
                <a:lnTo>
                  <a:pt x="6" y="34"/>
                </a:lnTo>
                <a:lnTo>
                  <a:pt x="6" y="33"/>
                </a:lnTo>
                <a:lnTo>
                  <a:pt x="6" y="30"/>
                </a:lnTo>
                <a:lnTo>
                  <a:pt x="5" y="26"/>
                </a:lnTo>
                <a:lnTo>
                  <a:pt x="5" y="21"/>
                </a:lnTo>
                <a:lnTo>
                  <a:pt x="5" y="16"/>
                </a:lnTo>
                <a:lnTo>
                  <a:pt x="5" y="11"/>
                </a:lnTo>
                <a:lnTo>
                  <a:pt x="5" y="5"/>
                </a:lnTo>
                <a:lnTo>
                  <a:pt x="7" y="2"/>
                </a:lnTo>
                <a:lnTo>
                  <a:pt x="7" y="2"/>
                </a:lnTo>
                <a:lnTo>
                  <a:pt x="7" y="0"/>
                </a:lnTo>
                <a:lnTo>
                  <a:pt x="6" y="0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4" y="0"/>
                </a:lnTo>
                <a:lnTo>
                  <a:pt x="3" y="2"/>
                </a:lnTo>
                <a:close/>
              </a:path>
            </a:pathLst>
          </a:custGeom>
          <a:solidFill>
            <a:srgbClr val="B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6" name="Freeform 183"/>
          <p:cNvSpPr>
            <a:spLocks/>
          </p:cNvSpPr>
          <p:nvPr/>
        </p:nvSpPr>
        <p:spPr bwMode="auto">
          <a:xfrm>
            <a:off x="3976687" y="2913063"/>
            <a:ext cx="36513" cy="144462"/>
          </a:xfrm>
          <a:custGeom>
            <a:avLst/>
            <a:gdLst>
              <a:gd name="T0" fmla="*/ 23 w 23"/>
              <a:gd name="T1" fmla="*/ 1 h 91"/>
              <a:gd name="T2" fmla="*/ 22 w 23"/>
              <a:gd name="T3" fmla="*/ 1 h 91"/>
              <a:gd name="T4" fmla="*/ 21 w 23"/>
              <a:gd name="T5" fmla="*/ 3 h 91"/>
              <a:gd name="T6" fmla="*/ 19 w 23"/>
              <a:gd name="T7" fmla="*/ 8 h 91"/>
              <a:gd name="T8" fmla="*/ 16 w 23"/>
              <a:gd name="T9" fmla="*/ 16 h 91"/>
              <a:gd name="T10" fmla="*/ 15 w 23"/>
              <a:gd name="T11" fmla="*/ 28 h 91"/>
              <a:gd name="T12" fmla="*/ 14 w 23"/>
              <a:gd name="T13" fmla="*/ 43 h 91"/>
              <a:gd name="T14" fmla="*/ 15 w 23"/>
              <a:gd name="T15" fmla="*/ 64 h 91"/>
              <a:gd name="T16" fmla="*/ 17 w 23"/>
              <a:gd name="T17" fmla="*/ 91 h 91"/>
              <a:gd name="T18" fmla="*/ 5 w 23"/>
              <a:gd name="T19" fmla="*/ 91 h 91"/>
              <a:gd name="T20" fmla="*/ 3 w 23"/>
              <a:gd name="T21" fmla="*/ 87 h 91"/>
              <a:gd name="T22" fmla="*/ 2 w 23"/>
              <a:gd name="T23" fmla="*/ 80 h 91"/>
              <a:gd name="T24" fmla="*/ 1 w 23"/>
              <a:gd name="T25" fmla="*/ 70 h 91"/>
              <a:gd name="T26" fmla="*/ 0 w 23"/>
              <a:gd name="T27" fmla="*/ 56 h 91"/>
              <a:gd name="T28" fmla="*/ 0 w 23"/>
              <a:gd name="T29" fmla="*/ 42 h 91"/>
              <a:gd name="T30" fmla="*/ 1 w 23"/>
              <a:gd name="T31" fmla="*/ 27 h 91"/>
              <a:gd name="T32" fmla="*/ 3 w 23"/>
              <a:gd name="T33" fmla="*/ 12 h 91"/>
              <a:gd name="T34" fmla="*/ 7 w 23"/>
              <a:gd name="T35" fmla="*/ 0 h 91"/>
              <a:gd name="T36" fmla="*/ 23 w 23"/>
              <a:gd name="T37" fmla="*/ 1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3" h="91">
                <a:moveTo>
                  <a:pt x="23" y="1"/>
                </a:moveTo>
                <a:lnTo>
                  <a:pt x="22" y="1"/>
                </a:lnTo>
                <a:lnTo>
                  <a:pt x="21" y="3"/>
                </a:lnTo>
                <a:lnTo>
                  <a:pt x="19" y="8"/>
                </a:lnTo>
                <a:lnTo>
                  <a:pt x="16" y="16"/>
                </a:lnTo>
                <a:lnTo>
                  <a:pt x="15" y="28"/>
                </a:lnTo>
                <a:lnTo>
                  <a:pt x="14" y="43"/>
                </a:lnTo>
                <a:lnTo>
                  <a:pt x="15" y="64"/>
                </a:lnTo>
                <a:lnTo>
                  <a:pt x="17" y="91"/>
                </a:lnTo>
                <a:lnTo>
                  <a:pt x="5" y="91"/>
                </a:lnTo>
                <a:lnTo>
                  <a:pt x="3" y="87"/>
                </a:lnTo>
                <a:lnTo>
                  <a:pt x="2" y="80"/>
                </a:lnTo>
                <a:lnTo>
                  <a:pt x="1" y="70"/>
                </a:lnTo>
                <a:lnTo>
                  <a:pt x="0" y="56"/>
                </a:lnTo>
                <a:lnTo>
                  <a:pt x="0" y="42"/>
                </a:lnTo>
                <a:lnTo>
                  <a:pt x="1" y="27"/>
                </a:lnTo>
                <a:lnTo>
                  <a:pt x="3" y="12"/>
                </a:lnTo>
                <a:lnTo>
                  <a:pt x="7" y="0"/>
                </a:lnTo>
                <a:lnTo>
                  <a:pt x="23" y="1"/>
                </a:lnTo>
                <a:close/>
              </a:path>
            </a:pathLst>
          </a:custGeom>
          <a:solidFill>
            <a:srgbClr val="59B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7" name="Freeform 184"/>
          <p:cNvSpPr>
            <a:spLocks/>
          </p:cNvSpPr>
          <p:nvPr/>
        </p:nvSpPr>
        <p:spPr bwMode="auto">
          <a:xfrm>
            <a:off x="3978275" y="2924175"/>
            <a:ext cx="30162" cy="122238"/>
          </a:xfrm>
          <a:custGeom>
            <a:avLst/>
            <a:gdLst>
              <a:gd name="T0" fmla="*/ 19 w 19"/>
              <a:gd name="T1" fmla="*/ 0 h 77"/>
              <a:gd name="T2" fmla="*/ 19 w 19"/>
              <a:gd name="T3" fmla="*/ 1 h 77"/>
              <a:gd name="T4" fmla="*/ 18 w 19"/>
              <a:gd name="T5" fmla="*/ 2 h 77"/>
              <a:gd name="T6" fmla="*/ 16 w 19"/>
              <a:gd name="T7" fmla="*/ 7 h 77"/>
              <a:gd name="T8" fmla="*/ 14 w 19"/>
              <a:gd name="T9" fmla="*/ 12 h 77"/>
              <a:gd name="T10" fmla="*/ 13 w 19"/>
              <a:gd name="T11" fmla="*/ 23 h 77"/>
              <a:gd name="T12" fmla="*/ 12 w 19"/>
              <a:gd name="T13" fmla="*/ 36 h 77"/>
              <a:gd name="T14" fmla="*/ 13 w 19"/>
              <a:gd name="T15" fmla="*/ 53 h 77"/>
              <a:gd name="T16" fmla="*/ 14 w 19"/>
              <a:gd name="T17" fmla="*/ 77 h 77"/>
              <a:gd name="T18" fmla="*/ 4 w 19"/>
              <a:gd name="T19" fmla="*/ 77 h 77"/>
              <a:gd name="T20" fmla="*/ 4 w 19"/>
              <a:gd name="T21" fmla="*/ 74 h 77"/>
              <a:gd name="T22" fmla="*/ 2 w 19"/>
              <a:gd name="T23" fmla="*/ 69 h 77"/>
              <a:gd name="T24" fmla="*/ 1 w 19"/>
              <a:gd name="T25" fmla="*/ 59 h 77"/>
              <a:gd name="T26" fmla="*/ 0 w 19"/>
              <a:gd name="T27" fmla="*/ 48 h 77"/>
              <a:gd name="T28" fmla="*/ 0 w 19"/>
              <a:gd name="T29" fmla="*/ 35 h 77"/>
              <a:gd name="T30" fmla="*/ 0 w 19"/>
              <a:gd name="T31" fmla="*/ 22 h 77"/>
              <a:gd name="T32" fmla="*/ 2 w 19"/>
              <a:gd name="T33" fmla="*/ 10 h 77"/>
              <a:gd name="T34" fmla="*/ 6 w 19"/>
              <a:gd name="T35" fmla="*/ 0 h 77"/>
              <a:gd name="T36" fmla="*/ 19 w 19"/>
              <a:gd name="T37" fmla="*/ 0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9" h="77">
                <a:moveTo>
                  <a:pt x="19" y="0"/>
                </a:moveTo>
                <a:lnTo>
                  <a:pt x="19" y="1"/>
                </a:lnTo>
                <a:lnTo>
                  <a:pt x="18" y="2"/>
                </a:lnTo>
                <a:lnTo>
                  <a:pt x="16" y="7"/>
                </a:lnTo>
                <a:lnTo>
                  <a:pt x="14" y="12"/>
                </a:lnTo>
                <a:lnTo>
                  <a:pt x="13" y="23"/>
                </a:lnTo>
                <a:lnTo>
                  <a:pt x="12" y="36"/>
                </a:lnTo>
                <a:lnTo>
                  <a:pt x="13" y="53"/>
                </a:lnTo>
                <a:lnTo>
                  <a:pt x="14" y="77"/>
                </a:lnTo>
                <a:lnTo>
                  <a:pt x="4" y="77"/>
                </a:lnTo>
                <a:lnTo>
                  <a:pt x="4" y="74"/>
                </a:lnTo>
                <a:lnTo>
                  <a:pt x="2" y="69"/>
                </a:lnTo>
                <a:lnTo>
                  <a:pt x="1" y="59"/>
                </a:lnTo>
                <a:lnTo>
                  <a:pt x="0" y="48"/>
                </a:lnTo>
                <a:lnTo>
                  <a:pt x="0" y="35"/>
                </a:lnTo>
                <a:lnTo>
                  <a:pt x="0" y="22"/>
                </a:lnTo>
                <a:lnTo>
                  <a:pt x="2" y="10"/>
                </a:lnTo>
                <a:lnTo>
                  <a:pt x="6" y="0"/>
                </a:lnTo>
                <a:lnTo>
                  <a:pt x="19" y="0"/>
                </a:lnTo>
                <a:close/>
              </a:path>
            </a:pathLst>
          </a:custGeom>
          <a:solidFill>
            <a:srgbClr val="72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8" name="Freeform 185"/>
          <p:cNvSpPr>
            <a:spLocks/>
          </p:cNvSpPr>
          <p:nvPr/>
        </p:nvSpPr>
        <p:spPr bwMode="auto">
          <a:xfrm>
            <a:off x="3979862" y="2932113"/>
            <a:ext cx="23813" cy="103187"/>
          </a:xfrm>
          <a:custGeom>
            <a:avLst/>
            <a:gdLst>
              <a:gd name="T0" fmla="*/ 15 w 15"/>
              <a:gd name="T1" fmla="*/ 0 h 65"/>
              <a:gd name="T2" fmla="*/ 15 w 15"/>
              <a:gd name="T3" fmla="*/ 2 h 65"/>
              <a:gd name="T4" fmla="*/ 14 w 15"/>
              <a:gd name="T5" fmla="*/ 3 h 65"/>
              <a:gd name="T6" fmla="*/ 13 w 15"/>
              <a:gd name="T7" fmla="*/ 6 h 65"/>
              <a:gd name="T8" fmla="*/ 12 w 15"/>
              <a:gd name="T9" fmla="*/ 12 h 65"/>
              <a:gd name="T10" fmla="*/ 11 w 15"/>
              <a:gd name="T11" fmla="*/ 20 h 65"/>
              <a:gd name="T12" fmla="*/ 10 w 15"/>
              <a:gd name="T13" fmla="*/ 31 h 65"/>
              <a:gd name="T14" fmla="*/ 11 w 15"/>
              <a:gd name="T15" fmla="*/ 46 h 65"/>
              <a:gd name="T16" fmla="*/ 12 w 15"/>
              <a:gd name="T17" fmla="*/ 65 h 65"/>
              <a:gd name="T18" fmla="*/ 3 w 15"/>
              <a:gd name="T19" fmla="*/ 65 h 65"/>
              <a:gd name="T20" fmla="*/ 3 w 15"/>
              <a:gd name="T21" fmla="*/ 62 h 65"/>
              <a:gd name="T22" fmla="*/ 1 w 15"/>
              <a:gd name="T23" fmla="*/ 58 h 65"/>
              <a:gd name="T24" fmla="*/ 0 w 15"/>
              <a:gd name="T25" fmla="*/ 50 h 65"/>
              <a:gd name="T26" fmla="*/ 0 w 15"/>
              <a:gd name="T27" fmla="*/ 40 h 65"/>
              <a:gd name="T28" fmla="*/ 0 w 15"/>
              <a:gd name="T29" fmla="*/ 30 h 65"/>
              <a:gd name="T30" fmla="*/ 0 w 15"/>
              <a:gd name="T31" fmla="*/ 19 h 65"/>
              <a:gd name="T32" fmla="*/ 1 w 15"/>
              <a:gd name="T33" fmla="*/ 9 h 65"/>
              <a:gd name="T34" fmla="*/ 5 w 15"/>
              <a:gd name="T35" fmla="*/ 0 h 65"/>
              <a:gd name="T36" fmla="*/ 15 w 15"/>
              <a:gd name="T37" fmla="*/ 0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5" h="65">
                <a:moveTo>
                  <a:pt x="15" y="0"/>
                </a:moveTo>
                <a:lnTo>
                  <a:pt x="15" y="2"/>
                </a:lnTo>
                <a:lnTo>
                  <a:pt x="14" y="3"/>
                </a:lnTo>
                <a:lnTo>
                  <a:pt x="13" y="6"/>
                </a:lnTo>
                <a:lnTo>
                  <a:pt x="12" y="12"/>
                </a:lnTo>
                <a:lnTo>
                  <a:pt x="11" y="20"/>
                </a:lnTo>
                <a:lnTo>
                  <a:pt x="10" y="31"/>
                </a:lnTo>
                <a:lnTo>
                  <a:pt x="11" y="46"/>
                </a:lnTo>
                <a:lnTo>
                  <a:pt x="12" y="65"/>
                </a:lnTo>
                <a:lnTo>
                  <a:pt x="3" y="65"/>
                </a:lnTo>
                <a:lnTo>
                  <a:pt x="3" y="62"/>
                </a:lnTo>
                <a:lnTo>
                  <a:pt x="1" y="58"/>
                </a:lnTo>
                <a:lnTo>
                  <a:pt x="0" y="50"/>
                </a:lnTo>
                <a:lnTo>
                  <a:pt x="0" y="40"/>
                </a:lnTo>
                <a:lnTo>
                  <a:pt x="0" y="30"/>
                </a:lnTo>
                <a:lnTo>
                  <a:pt x="0" y="19"/>
                </a:lnTo>
                <a:lnTo>
                  <a:pt x="1" y="9"/>
                </a:lnTo>
                <a:lnTo>
                  <a:pt x="5" y="0"/>
                </a:lnTo>
                <a:lnTo>
                  <a:pt x="15" y="0"/>
                </a:lnTo>
                <a:close/>
              </a:path>
            </a:pathLst>
          </a:custGeom>
          <a:solidFill>
            <a:srgbClr val="8CD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9" name="Freeform 186"/>
          <p:cNvSpPr>
            <a:spLocks/>
          </p:cNvSpPr>
          <p:nvPr/>
        </p:nvSpPr>
        <p:spPr bwMode="auto">
          <a:xfrm>
            <a:off x="3979862" y="2941638"/>
            <a:ext cx="20638" cy="82550"/>
          </a:xfrm>
          <a:custGeom>
            <a:avLst/>
            <a:gdLst>
              <a:gd name="T0" fmla="*/ 13 w 13"/>
              <a:gd name="T1" fmla="*/ 1 h 52"/>
              <a:gd name="T2" fmla="*/ 13 w 13"/>
              <a:gd name="T3" fmla="*/ 1 h 52"/>
              <a:gd name="T4" fmla="*/ 12 w 13"/>
              <a:gd name="T5" fmla="*/ 3 h 52"/>
              <a:gd name="T6" fmla="*/ 11 w 13"/>
              <a:gd name="T7" fmla="*/ 5 h 52"/>
              <a:gd name="T8" fmla="*/ 10 w 13"/>
              <a:gd name="T9" fmla="*/ 10 h 52"/>
              <a:gd name="T10" fmla="*/ 10 w 13"/>
              <a:gd name="T11" fmla="*/ 17 h 52"/>
              <a:gd name="T12" fmla="*/ 8 w 13"/>
              <a:gd name="T13" fmla="*/ 25 h 52"/>
              <a:gd name="T14" fmla="*/ 8 w 13"/>
              <a:gd name="T15" fmla="*/ 37 h 52"/>
              <a:gd name="T16" fmla="*/ 10 w 13"/>
              <a:gd name="T17" fmla="*/ 52 h 52"/>
              <a:gd name="T18" fmla="*/ 3 w 13"/>
              <a:gd name="T19" fmla="*/ 52 h 52"/>
              <a:gd name="T20" fmla="*/ 3 w 13"/>
              <a:gd name="T21" fmla="*/ 51 h 52"/>
              <a:gd name="T22" fmla="*/ 3 w 13"/>
              <a:gd name="T23" fmla="*/ 46 h 52"/>
              <a:gd name="T24" fmla="*/ 1 w 13"/>
              <a:gd name="T25" fmla="*/ 40 h 52"/>
              <a:gd name="T26" fmla="*/ 1 w 13"/>
              <a:gd name="T27" fmla="*/ 32 h 52"/>
              <a:gd name="T28" fmla="*/ 0 w 13"/>
              <a:gd name="T29" fmla="*/ 24 h 52"/>
              <a:gd name="T30" fmla="*/ 1 w 13"/>
              <a:gd name="T31" fmla="*/ 16 h 52"/>
              <a:gd name="T32" fmla="*/ 3 w 13"/>
              <a:gd name="T33" fmla="*/ 7 h 52"/>
              <a:gd name="T34" fmla="*/ 5 w 13"/>
              <a:gd name="T35" fmla="*/ 0 h 52"/>
              <a:gd name="T36" fmla="*/ 13 w 13"/>
              <a:gd name="T37" fmla="*/ 1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" h="52">
                <a:moveTo>
                  <a:pt x="13" y="1"/>
                </a:moveTo>
                <a:lnTo>
                  <a:pt x="13" y="1"/>
                </a:lnTo>
                <a:lnTo>
                  <a:pt x="12" y="3"/>
                </a:lnTo>
                <a:lnTo>
                  <a:pt x="11" y="5"/>
                </a:lnTo>
                <a:lnTo>
                  <a:pt x="10" y="10"/>
                </a:lnTo>
                <a:lnTo>
                  <a:pt x="10" y="17"/>
                </a:lnTo>
                <a:lnTo>
                  <a:pt x="8" y="25"/>
                </a:lnTo>
                <a:lnTo>
                  <a:pt x="8" y="37"/>
                </a:lnTo>
                <a:lnTo>
                  <a:pt x="10" y="52"/>
                </a:lnTo>
                <a:lnTo>
                  <a:pt x="3" y="52"/>
                </a:lnTo>
                <a:lnTo>
                  <a:pt x="3" y="51"/>
                </a:lnTo>
                <a:lnTo>
                  <a:pt x="3" y="46"/>
                </a:lnTo>
                <a:lnTo>
                  <a:pt x="1" y="40"/>
                </a:lnTo>
                <a:lnTo>
                  <a:pt x="1" y="32"/>
                </a:lnTo>
                <a:lnTo>
                  <a:pt x="0" y="24"/>
                </a:lnTo>
                <a:lnTo>
                  <a:pt x="1" y="16"/>
                </a:lnTo>
                <a:lnTo>
                  <a:pt x="3" y="7"/>
                </a:lnTo>
                <a:lnTo>
                  <a:pt x="5" y="0"/>
                </a:lnTo>
                <a:lnTo>
                  <a:pt x="13" y="1"/>
                </a:lnTo>
                <a:close/>
              </a:path>
            </a:pathLst>
          </a:custGeom>
          <a:solidFill>
            <a:srgbClr val="A5E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" name="Freeform 187"/>
          <p:cNvSpPr>
            <a:spLocks/>
          </p:cNvSpPr>
          <p:nvPr/>
        </p:nvSpPr>
        <p:spPr bwMode="auto">
          <a:xfrm>
            <a:off x="3981450" y="2952750"/>
            <a:ext cx="15875" cy="60325"/>
          </a:xfrm>
          <a:custGeom>
            <a:avLst/>
            <a:gdLst>
              <a:gd name="T0" fmla="*/ 10 w 10"/>
              <a:gd name="T1" fmla="*/ 0 h 38"/>
              <a:gd name="T2" fmla="*/ 10 w 10"/>
              <a:gd name="T3" fmla="*/ 0 h 38"/>
              <a:gd name="T4" fmla="*/ 9 w 10"/>
              <a:gd name="T5" fmla="*/ 2 h 38"/>
              <a:gd name="T6" fmla="*/ 9 w 10"/>
              <a:gd name="T7" fmla="*/ 4 h 38"/>
              <a:gd name="T8" fmla="*/ 7 w 10"/>
              <a:gd name="T9" fmla="*/ 6 h 38"/>
              <a:gd name="T10" fmla="*/ 6 w 10"/>
              <a:gd name="T11" fmla="*/ 11 h 38"/>
              <a:gd name="T12" fmla="*/ 6 w 10"/>
              <a:gd name="T13" fmla="*/ 18 h 38"/>
              <a:gd name="T14" fmla="*/ 6 w 10"/>
              <a:gd name="T15" fmla="*/ 26 h 38"/>
              <a:gd name="T16" fmla="*/ 7 w 10"/>
              <a:gd name="T17" fmla="*/ 38 h 38"/>
              <a:gd name="T18" fmla="*/ 3 w 10"/>
              <a:gd name="T19" fmla="*/ 38 h 38"/>
              <a:gd name="T20" fmla="*/ 2 w 10"/>
              <a:gd name="T21" fmla="*/ 37 h 38"/>
              <a:gd name="T22" fmla="*/ 2 w 10"/>
              <a:gd name="T23" fmla="*/ 33 h 38"/>
              <a:gd name="T24" fmla="*/ 2 w 10"/>
              <a:gd name="T25" fmla="*/ 28 h 38"/>
              <a:gd name="T26" fmla="*/ 0 w 10"/>
              <a:gd name="T27" fmla="*/ 24 h 38"/>
              <a:gd name="T28" fmla="*/ 0 w 10"/>
              <a:gd name="T29" fmla="*/ 17 h 38"/>
              <a:gd name="T30" fmla="*/ 0 w 10"/>
              <a:gd name="T31" fmla="*/ 11 h 38"/>
              <a:gd name="T32" fmla="*/ 2 w 10"/>
              <a:gd name="T33" fmla="*/ 5 h 38"/>
              <a:gd name="T34" fmla="*/ 4 w 10"/>
              <a:gd name="T35" fmla="*/ 0 h 38"/>
              <a:gd name="T36" fmla="*/ 10 w 10"/>
              <a:gd name="T37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0" h="38">
                <a:moveTo>
                  <a:pt x="10" y="0"/>
                </a:moveTo>
                <a:lnTo>
                  <a:pt x="10" y="0"/>
                </a:lnTo>
                <a:lnTo>
                  <a:pt x="9" y="2"/>
                </a:lnTo>
                <a:lnTo>
                  <a:pt x="9" y="4"/>
                </a:lnTo>
                <a:lnTo>
                  <a:pt x="7" y="6"/>
                </a:lnTo>
                <a:lnTo>
                  <a:pt x="6" y="11"/>
                </a:lnTo>
                <a:lnTo>
                  <a:pt x="6" y="18"/>
                </a:lnTo>
                <a:lnTo>
                  <a:pt x="6" y="26"/>
                </a:lnTo>
                <a:lnTo>
                  <a:pt x="7" y="38"/>
                </a:lnTo>
                <a:lnTo>
                  <a:pt x="3" y="38"/>
                </a:lnTo>
                <a:lnTo>
                  <a:pt x="2" y="37"/>
                </a:lnTo>
                <a:lnTo>
                  <a:pt x="2" y="33"/>
                </a:lnTo>
                <a:lnTo>
                  <a:pt x="2" y="28"/>
                </a:lnTo>
                <a:lnTo>
                  <a:pt x="0" y="24"/>
                </a:lnTo>
                <a:lnTo>
                  <a:pt x="0" y="17"/>
                </a:lnTo>
                <a:lnTo>
                  <a:pt x="0" y="11"/>
                </a:lnTo>
                <a:lnTo>
                  <a:pt x="2" y="5"/>
                </a:lnTo>
                <a:lnTo>
                  <a:pt x="4" y="0"/>
                </a:lnTo>
                <a:lnTo>
                  <a:pt x="10" y="0"/>
                </a:lnTo>
                <a:close/>
              </a:path>
            </a:pathLst>
          </a:custGeom>
          <a:solidFill>
            <a:srgbClr val="B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1" name="Freeform 188"/>
          <p:cNvSpPr>
            <a:spLocks/>
          </p:cNvSpPr>
          <p:nvPr/>
        </p:nvSpPr>
        <p:spPr bwMode="auto">
          <a:xfrm>
            <a:off x="3854450" y="2935288"/>
            <a:ext cx="71437" cy="87312"/>
          </a:xfrm>
          <a:custGeom>
            <a:avLst/>
            <a:gdLst>
              <a:gd name="T0" fmla="*/ 3 w 45"/>
              <a:gd name="T1" fmla="*/ 5 h 55"/>
              <a:gd name="T2" fmla="*/ 3 w 45"/>
              <a:gd name="T3" fmla="*/ 7 h 55"/>
              <a:gd name="T4" fmla="*/ 2 w 45"/>
              <a:gd name="T5" fmla="*/ 9 h 55"/>
              <a:gd name="T6" fmla="*/ 1 w 45"/>
              <a:gd name="T7" fmla="*/ 14 h 55"/>
              <a:gd name="T8" fmla="*/ 0 w 45"/>
              <a:gd name="T9" fmla="*/ 21 h 55"/>
              <a:gd name="T10" fmla="*/ 0 w 45"/>
              <a:gd name="T11" fmla="*/ 28 h 55"/>
              <a:gd name="T12" fmla="*/ 0 w 45"/>
              <a:gd name="T13" fmla="*/ 36 h 55"/>
              <a:gd name="T14" fmla="*/ 0 w 45"/>
              <a:gd name="T15" fmla="*/ 45 h 55"/>
              <a:gd name="T16" fmla="*/ 2 w 45"/>
              <a:gd name="T17" fmla="*/ 55 h 55"/>
              <a:gd name="T18" fmla="*/ 2 w 45"/>
              <a:gd name="T19" fmla="*/ 55 h 55"/>
              <a:gd name="T20" fmla="*/ 2 w 45"/>
              <a:gd name="T21" fmla="*/ 53 h 55"/>
              <a:gd name="T22" fmla="*/ 2 w 45"/>
              <a:gd name="T23" fmla="*/ 51 h 55"/>
              <a:gd name="T24" fmla="*/ 2 w 45"/>
              <a:gd name="T25" fmla="*/ 49 h 55"/>
              <a:gd name="T26" fmla="*/ 2 w 45"/>
              <a:gd name="T27" fmla="*/ 45 h 55"/>
              <a:gd name="T28" fmla="*/ 3 w 45"/>
              <a:gd name="T29" fmla="*/ 43 h 55"/>
              <a:gd name="T30" fmla="*/ 3 w 45"/>
              <a:gd name="T31" fmla="*/ 38 h 55"/>
              <a:gd name="T32" fmla="*/ 5 w 45"/>
              <a:gd name="T33" fmla="*/ 35 h 55"/>
              <a:gd name="T34" fmla="*/ 6 w 45"/>
              <a:gd name="T35" fmla="*/ 31 h 55"/>
              <a:gd name="T36" fmla="*/ 7 w 45"/>
              <a:gd name="T37" fmla="*/ 28 h 55"/>
              <a:gd name="T38" fmla="*/ 8 w 45"/>
              <a:gd name="T39" fmla="*/ 24 h 55"/>
              <a:gd name="T40" fmla="*/ 10 w 45"/>
              <a:gd name="T41" fmla="*/ 21 h 55"/>
              <a:gd name="T42" fmla="*/ 14 w 45"/>
              <a:gd name="T43" fmla="*/ 18 h 55"/>
              <a:gd name="T44" fmla="*/ 16 w 45"/>
              <a:gd name="T45" fmla="*/ 16 h 55"/>
              <a:gd name="T46" fmla="*/ 21 w 45"/>
              <a:gd name="T47" fmla="*/ 15 h 55"/>
              <a:gd name="T48" fmla="*/ 26 w 45"/>
              <a:gd name="T49" fmla="*/ 14 h 55"/>
              <a:gd name="T50" fmla="*/ 26 w 45"/>
              <a:gd name="T51" fmla="*/ 13 h 55"/>
              <a:gd name="T52" fmla="*/ 26 w 45"/>
              <a:gd name="T53" fmla="*/ 13 h 55"/>
              <a:gd name="T54" fmla="*/ 28 w 45"/>
              <a:gd name="T55" fmla="*/ 11 h 55"/>
              <a:gd name="T56" fmla="*/ 29 w 45"/>
              <a:gd name="T57" fmla="*/ 10 h 55"/>
              <a:gd name="T58" fmla="*/ 33 w 45"/>
              <a:gd name="T59" fmla="*/ 9 h 55"/>
              <a:gd name="T60" fmla="*/ 36 w 45"/>
              <a:gd name="T61" fmla="*/ 7 h 55"/>
              <a:gd name="T62" fmla="*/ 41 w 45"/>
              <a:gd name="T63" fmla="*/ 4 h 55"/>
              <a:gd name="T64" fmla="*/ 45 w 45"/>
              <a:gd name="T65" fmla="*/ 2 h 55"/>
              <a:gd name="T66" fmla="*/ 45 w 45"/>
              <a:gd name="T67" fmla="*/ 2 h 55"/>
              <a:gd name="T68" fmla="*/ 44 w 45"/>
              <a:gd name="T69" fmla="*/ 2 h 55"/>
              <a:gd name="T70" fmla="*/ 43 w 45"/>
              <a:gd name="T71" fmla="*/ 2 h 55"/>
              <a:gd name="T72" fmla="*/ 42 w 45"/>
              <a:gd name="T73" fmla="*/ 2 h 55"/>
              <a:gd name="T74" fmla="*/ 40 w 45"/>
              <a:gd name="T75" fmla="*/ 1 h 55"/>
              <a:gd name="T76" fmla="*/ 37 w 45"/>
              <a:gd name="T77" fmla="*/ 1 h 55"/>
              <a:gd name="T78" fmla="*/ 35 w 45"/>
              <a:gd name="T79" fmla="*/ 1 h 55"/>
              <a:gd name="T80" fmla="*/ 31 w 45"/>
              <a:gd name="T81" fmla="*/ 1 h 55"/>
              <a:gd name="T82" fmla="*/ 28 w 45"/>
              <a:gd name="T83" fmla="*/ 0 h 55"/>
              <a:gd name="T84" fmla="*/ 26 w 45"/>
              <a:gd name="T85" fmla="*/ 1 h 55"/>
              <a:gd name="T86" fmla="*/ 22 w 45"/>
              <a:gd name="T87" fmla="*/ 1 h 55"/>
              <a:gd name="T88" fmla="*/ 19 w 45"/>
              <a:gd name="T89" fmla="*/ 1 h 55"/>
              <a:gd name="T90" fmla="*/ 14 w 45"/>
              <a:gd name="T91" fmla="*/ 2 h 55"/>
              <a:gd name="T92" fmla="*/ 10 w 45"/>
              <a:gd name="T93" fmla="*/ 2 h 55"/>
              <a:gd name="T94" fmla="*/ 7 w 45"/>
              <a:gd name="T95" fmla="*/ 3 h 55"/>
              <a:gd name="T96" fmla="*/ 3 w 45"/>
              <a:gd name="T97" fmla="*/ 5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45" h="55">
                <a:moveTo>
                  <a:pt x="3" y="5"/>
                </a:moveTo>
                <a:lnTo>
                  <a:pt x="3" y="7"/>
                </a:lnTo>
                <a:lnTo>
                  <a:pt x="2" y="9"/>
                </a:lnTo>
                <a:lnTo>
                  <a:pt x="1" y="14"/>
                </a:lnTo>
                <a:lnTo>
                  <a:pt x="0" y="21"/>
                </a:lnTo>
                <a:lnTo>
                  <a:pt x="0" y="28"/>
                </a:lnTo>
                <a:lnTo>
                  <a:pt x="0" y="36"/>
                </a:lnTo>
                <a:lnTo>
                  <a:pt x="0" y="45"/>
                </a:lnTo>
                <a:lnTo>
                  <a:pt x="2" y="55"/>
                </a:lnTo>
                <a:lnTo>
                  <a:pt x="2" y="55"/>
                </a:lnTo>
                <a:lnTo>
                  <a:pt x="2" y="53"/>
                </a:lnTo>
                <a:lnTo>
                  <a:pt x="2" y="51"/>
                </a:lnTo>
                <a:lnTo>
                  <a:pt x="2" y="49"/>
                </a:lnTo>
                <a:lnTo>
                  <a:pt x="2" y="45"/>
                </a:lnTo>
                <a:lnTo>
                  <a:pt x="3" y="43"/>
                </a:lnTo>
                <a:lnTo>
                  <a:pt x="3" y="38"/>
                </a:lnTo>
                <a:lnTo>
                  <a:pt x="5" y="35"/>
                </a:lnTo>
                <a:lnTo>
                  <a:pt x="6" y="31"/>
                </a:lnTo>
                <a:lnTo>
                  <a:pt x="7" y="28"/>
                </a:lnTo>
                <a:lnTo>
                  <a:pt x="8" y="24"/>
                </a:lnTo>
                <a:lnTo>
                  <a:pt x="10" y="21"/>
                </a:lnTo>
                <a:lnTo>
                  <a:pt x="14" y="18"/>
                </a:lnTo>
                <a:lnTo>
                  <a:pt x="16" y="16"/>
                </a:lnTo>
                <a:lnTo>
                  <a:pt x="21" y="15"/>
                </a:lnTo>
                <a:lnTo>
                  <a:pt x="26" y="14"/>
                </a:lnTo>
                <a:lnTo>
                  <a:pt x="26" y="13"/>
                </a:lnTo>
                <a:lnTo>
                  <a:pt x="26" y="13"/>
                </a:lnTo>
                <a:lnTo>
                  <a:pt x="28" y="11"/>
                </a:lnTo>
                <a:lnTo>
                  <a:pt x="29" y="10"/>
                </a:lnTo>
                <a:lnTo>
                  <a:pt x="33" y="9"/>
                </a:lnTo>
                <a:lnTo>
                  <a:pt x="36" y="7"/>
                </a:lnTo>
                <a:lnTo>
                  <a:pt x="41" y="4"/>
                </a:lnTo>
                <a:lnTo>
                  <a:pt x="45" y="2"/>
                </a:lnTo>
                <a:lnTo>
                  <a:pt x="45" y="2"/>
                </a:lnTo>
                <a:lnTo>
                  <a:pt x="44" y="2"/>
                </a:lnTo>
                <a:lnTo>
                  <a:pt x="43" y="2"/>
                </a:lnTo>
                <a:lnTo>
                  <a:pt x="42" y="2"/>
                </a:lnTo>
                <a:lnTo>
                  <a:pt x="40" y="1"/>
                </a:lnTo>
                <a:lnTo>
                  <a:pt x="37" y="1"/>
                </a:lnTo>
                <a:lnTo>
                  <a:pt x="35" y="1"/>
                </a:lnTo>
                <a:lnTo>
                  <a:pt x="31" y="1"/>
                </a:lnTo>
                <a:lnTo>
                  <a:pt x="28" y="0"/>
                </a:lnTo>
                <a:lnTo>
                  <a:pt x="26" y="1"/>
                </a:lnTo>
                <a:lnTo>
                  <a:pt x="22" y="1"/>
                </a:lnTo>
                <a:lnTo>
                  <a:pt x="19" y="1"/>
                </a:lnTo>
                <a:lnTo>
                  <a:pt x="14" y="2"/>
                </a:lnTo>
                <a:lnTo>
                  <a:pt x="10" y="2"/>
                </a:lnTo>
                <a:lnTo>
                  <a:pt x="7" y="3"/>
                </a:lnTo>
                <a:lnTo>
                  <a:pt x="3" y="5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2" name="Freeform 189"/>
          <p:cNvSpPr>
            <a:spLocks/>
          </p:cNvSpPr>
          <p:nvPr/>
        </p:nvSpPr>
        <p:spPr bwMode="auto">
          <a:xfrm>
            <a:off x="3752850" y="3000375"/>
            <a:ext cx="58737" cy="15875"/>
          </a:xfrm>
          <a:custGeom>
            <a:avLst/>
            <a:gdLst>
              <a:gd name="T0" fmla="*/ 0 w 37"/>
              <a:gd name="T1" fmla="*/ 7 h 10"/>
              <a:gd name="T2" fmla="*/ 0 w 37"/>
              <a:gd name="T3" fmla="*/ 7 h 10"/>
              <a:gd name="T4" fmla="*/ 0 w 37"/>
              <a:gd name="T5" fmla="*/ 5 h 10"/>
              <a:gd name="T6" fmla="*/ 1 w 37"/>
              <a:gd name="T7" fmla="*/ 5 h 10"/>
              <a:gd name="T8" fmla="*/ 1 w 37"/>
              <a:gd name="T9" fmla="*/ 4 h 10"/>
              <a:gd name="T10" fmla="*/ 2 w 37"/>
              <a:gd name="T11" fmla="*/ 3 h 10"/>
              <a:gd name="T12" fmla="*/ 3 w 37"/>
              <a:gd name="T13" fmla="*/ 3 h 10"/>
              <a:gd name="T14" fmla="*/ 4 w 37"/>
              <a:gd name="T15" fmla="*/ 2 h 10"/>
              <a:gd name="T16" fmla="*/ 7 w 37"/>
              <a:gd name="T17" fmla="*/ 1 h 10"/>
              <a:gd name="T18" fmla="*/ 9 w 37"/>
              <a:gd name="T19" fmla="*/ 1 h 10"/>
              <a:gd name="T20" fmla="*/ 11 w 37"/>
              <a:gd name="T21" fmla="*/ 0 h 10"/>
              <a:gd name="T22" fmla="*/ 15 w 37"/>
              <a:gd name="T23" fmla="*/ 0 h 10"/>
              <a:gd name="T24" fmla="*/ 18 w 37"/>
              <a:gd name="T25" fmla="*/ 0 h 10"/>
              <a:gd name="T26" fmla="*/ 22 w 37"/>
              <a:gd name="T27" fmla="*/ 0 h 10"/>
              <a:gd name="T28" fmla="*/ 27 w 37"/>
              <a:gd name="T29" fmla="*/ 1 h 10"/>
              <a:gd name="T30" fmla="*/ 31 w 37"/>
              <a:gd name="T31" fmla="*/ 2 h 10"/>
              <a:gd name="T32" fmla="*/ 37 w 37"/>
              <a:gd name="T33" fmla="*/ 3 h 10"/>
              <a:gd name="T34" fmla="*/ 37 w 37"/>
              <a:gd name="T35" fmla="*/ 5 h 10"/>
              <a:gd name="T36" fmla="*/ 36 w 37"/>
              <a:gd name="T37" fmla="*/ 5 h 10"/>
              <a:gd name="T38" fmla="*/ 36 w 37"/>
              <a:gd name="T39" fmla="*/ 5 h 10"/>
              <a:gd name="T40" fmla="*/ 34 w 37"/>
              <a:gd name="T41" fmla="*/ 4 h 10"/>
              <a:gd name="T42" fmla="*/ 32 w 37"/>
              <a:gd name="T43" fmla="*/ 4 h 10"/>
              <a:gd name="T44" fmla="*/ 30 w 37"/>
              <a:gd name="T45" fmla="*/ 3 h 10"/>
              <a:gd name="T46" fmla="*/ 28 w 37"/>
              <a:gd name="T47" fmla="*/ 3 h 10"/>
              <a:gd name="T48" fmla="*/ 24 w 37"/>
              <a:gd name="T49" fmla="*/ 3 h 10"/>
              <a:gd name="T50" fmla="*/ 22 w 37"/>
              <a:gd name="T51" fmla="*/ 2 h 10"/>
              <a:gd name="T52" fmla="*/ 18 w 37"/>
              <a:gd name="T53" fmla="*/ 2 h 10"/>
              <a:gd name="T54" fmla="*/ 15 w 37"/>
              <a:gd name="T55" fmla="*/ 2 h 10"/>
              <a:gd name="T56" fmla="*/ 13 w 37"/>
              <a:gd name="T57" fmla="*/ 3 h 10"/>
              <a:gd name="T58" fmla="*/ 9 w 37"/>
              <a:gd name="T59" fmla="*/ 3 h 10"/>
              <a:gd name="T60" fmla="*/ 7 w 37"/>
              <a:gd name="T61" fmla="*/ 4 h 10"/>
              <a:gd name="T62" fmla="*/ 4 w 37"/>
              <a:gd name="T63" fmla="*/ 5 h 10"/>
              <a:gd name="T64" fmla="*/ 2 w 37"/>
              <a:gd name="T65" fmla="*/ 8 h 10"/>
              <a:gd name="T66" fmla="*/ 0 w 37"/>
              <a:gd name="T67" fmla="*/ 10 h 10"/>
              <a:gd name="T68" fmla="*/ 0 w 37"/>
              <a:gd name="T69" fmla="*/ 7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7" h="10">
                <a:moveTo>
                  <a:pt x="0" y="7"/>
                </a:moveTo>
                <a:lnTo>
                  <a:pt x="0" y="7"/>
                </a:lnTo>
                <a:lnTo>
                  <a:pt x="0" y="5"/>
                </a:lnTo>
                <a:lnTo>
                  <a:pt x="1" y="5"/>
                </a:lnTo>
                <a:lnTo>
                  <a:pt x="1" y="4"/>
                </a:lnTo>
                <a:lnTo>
                  <a:pt x="2" y="3"/>
                </a:lnTo>
                <a:lnTo>
                  <a:pt x="3" y="3"/>
                </a:lnTo>
                <a:lnTo>
                  <a:pt x="4" y="2"/>
                </a:lnTo>
                <a:lnTo>
                  <a:pt x="7" y="1"/>
                </a:lnTo>
                <a:lnTo>
                  <a:pt x="9" y="1"/>
                </a:lnTo>
                <a:lnTo>
                  <a:pt x="11" y="0"/>
                </a:lnTo>
                <a:lnTo>
                  <a:pt x="15" y="0"/>
                </a:lnTo>
                <a:lnTo>
                  <a:pt x="18" y="0"/>
                </a:lnTo>
                <a:lnTo>
                  <a:pt x="22" y="0"/>
                </a:lnTo>
                <a:lnTo>
                  <a:pt x="27" y="1"/>
                </a:lnTo>
                <a:lnTo>
                  <a:pt x="31" y="2"/>
                </a:lnTo>
                <a:lnTo>
                  <a:pt x="37" y="3"/>
                </a:lnTo>
                <a:lnTo>
                  <a:pt x="37" y="5"/>
                </a:lnTo>
                <a:lnTo>
                  <a:pt x="36" y="5"/>
                </a:lnTo>
                <a:lnTo>
                  <a:pt x="36" y="5"/>
                </a:lnTo>
                <a:lnTo>
                  <a:pt x="34" y="4"/>
                </a:lnTo>
                <a:lnTo>
                  <a:pt x="32" y="4"/>
                </a:lnTo>
                <a:lnTo>
                  <a:pt x="30" y="3"/>
                </a:lnTo>
                <a:lnTo>
                  <a:pt x="28" y="3"/>
                </a:lnTo>
                <a:lnTo>
                  <a:pt x="24" y="3"/>
                </a:lnTo>
                <a:lnTo>
                  <a:pt x="22" y="2"/>
                </a:lnTo>
                <a:lnTo>
                  <a:pt x="18" y="2"/>
                </a:lnTo>
                <a:lnTo>
                  <a:pt x="15" y="2"/>
                </a:lnTo>
                <a:lnTo>
                  <a:pt x="13" y="3"/>
                </a:lnTo>
                <a:lnTo>
                  <a:pt x="9" y="3"/>
                </a:lnTo>
                <a:lnTo>
                  <a:pt x="7" y="4"/>
                </a:lnTo>
                <a:lnTo>
                  <a:pt x="4" y="5"/>
                </a:lnTo>
                <a:lnTo>
                  <a:pt x="2" y="8"/>
                </a:lnTo>
                <a:lnTo>
                  <a:pt x="0" y="10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" name="Freeform 190"/>
          <p:cNvSpPr>
            <a:spLocks/>
          </p:cNvSpPr>
          <p:nvPr/>
        </p:nvSpPr>
        <p:spPr bwMode="auto">
          <a:xfrm>
            <a:off x="3752850" y="2960688"/>
            <a:ext cx="58737" cy="17462"/>
          </a:xfrm>
          <a:custGeom>
            <a:avLst/>
            <a:gdLst>
              <a:gd name="T0" fmla="*/ 0 w 37"/>
              <a:gd name="T1" fmla="*/ 7 h 11"/>
              <a:gd name="T2" fmla="*/ 0 w 37"/>
              <a:gd name="T3" fmla="*/ 7 h 11"/>
              <a:gd name="T4" fmla="*/ 0 w 37"/>
              <a:gd name="T5" fmla="*/ 6 h 11"/>
              <a:gd name="T6" fmla="*/ 1 w 37"/>
              <a:gd name="T7" fmla="*/ 6 h 11"/>
              <a:gd name="T8" fmla="*/ 1 w 37"/>
              <a:gd name="T9" fmla="*/ 5 h 11"/>
              <a:gd name="T10" fmla="*/ 2 w 37"/>
              <a:gd name="T11" fmla="*/ 4 h 11"/>
              <a:gd name="T12" fmla="*/ 3 w 37"/>
              <a:gd name="T13" fmla="*/ 4 h 11"/>
              <a:gd name="T14" fmla="*/ 4 w 37"/>
              <a:gd name="T15" fmla="*/ 2 h 11"/>
              <a:gd name="T16" fmla="*/ 7 w 37"/>
              <a:gd name="T17" fmla="*/ 1 h 11"/>
              <a:gd name="T18" fmla="*/ 9 w 37"/>
              <a:gd name="T19" fmla="*/ 1 h 11"/>
              <a:gd name="T20" fmla="*/ 11 w 37"/>
              <a:gd name="T21" fmla="*/ 0 h 11"/>
              <a:gd name="T22" fmla="*/ 15 w 37"/>
              <a:gd name="T23" fmla="*/ 0 h 11"/>
              <a:gd name="T24" fmla="*/ 18 w 37"/>
              <a:gd name="T25" fmla="*/ 0 h 11"/>
              <a:gd name="T26" fmla="*/ 22 w 37"/>
              <a:gd name="T27" fmla="*/ 0 h 11"/>
              <a:gd name="T28" fmla="*/ 27 w 37"/>
              <a:gd name="T29" fmla="*/ 1 h 11"/>
              <a:gd name="T30" fmla="*/ 31 w 37"/>
              <a:gd name="T31" fmla="*/ 2 h 11"/>
              <a:gd name="T32" fmla="*/ 37 w 37"/>
              <a:gd name="T33" fmla="*/ 4 h 11"/>
              <a:gd name="T34" fmla="*/ 37 w 37"/>
              <a:gd name="T35" fmla="*/ 6 h 11"/>
              <a:gd name="T36" fmla="*/ 36 w 37"/>
              <a:gd name="T37" fmla="*/ 6 h 11"/>
              <a:gd name="T38" fmla="*/ 36 w 37"/>
              <a:gd name="T39" fmla="*/ 6 h 11"/>
              <a:gd name="T40" fmla="*/ 34 w 37"/>
              <a:gd name="T41" fmla="*/ 5 h 11"/>
              <a:gd name="T42" fmla="*/ 32 w 37"/>
              <a:gd name="T43" fmla="*/ 5 h 11"/>
              <a:gd name="T44" fmla="*/ 30 w 37"/>
              <a:gd name="T45" fmla="*/ 5 h 11"/>
              <a:gd name="T46" fmla="*/ 28 w 37"/>
              <a:gd name="T47" fmla="*/ 4 h 11"/>
              <a:gd name="T48" fmla="*/ 24 w 37"/>
              <a:gd name="T49" fmla="*/ 4 h 11"/>
              <a:gd name="T50" fmla="*/ 22 w 37"/>
              <a:gd name="T51" fmla="*/ 2 h 11"/>
              <a:gd name="T52" fmla="*/ 18 w 37"/>
              <a:gd name="T53" fmla="*/ 2 h 11"/>
              <a:gd name="T54" fmla="*/ 15 w 37"/>
              <a:gd name="T55" fmla="*/ 2 h 11"/>
              <a:gd name="T56" fmla="*/ 13 w 37"/>
              <a:gd name="T57" fmla="*/ 4 h 11"/>
              <a:gd name="T58" fmla="*/ 9 w 37"/>
              <a:gd name="T59" fmla="*/ 4 h 11"/>
              <a:gd name="T60" fmla="*/ 7 w 37"/>
              <a:gd name="T61" fmla="*/ 5 h 11"/>
              <a:gd name="T62" fmla="*/ 4 w 37"/>
              <a:gd name="T63" fmla="*/ 6 h 11"/>
              <a:gd name="T64" fmla="*/ 2 w 37"/>
              <a:gd name="T65" fmla="*/ 8 h 11"/>
              <a:gd name="T66" fmla="*/ 0 w 37"/>
              <a:gd name="T67" fmla="*/ 11 h 11"/>
              <a:gd name="T68" fmla="*/ 0 w 37"/>
              <a:gd name="T69" fmla="*/ 7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7" h="11">
                <a:moveTo>
                  <a:pt x="0" y="7"/>
                </a:move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2" y="4"/>
                </a:lnTo>
                <a:lnTo>
                  <a:pt x="3" y="4"/>
                </a:lnTo>
                <a:lnTo>
                  <a:pt x="4" y="2"/>
                </a:lnTo>
                <a:lnTo>
                  <a:pt x="7" y="1"/>
                </a:lnTo>
                <a:lnTo>
                  <a:pt x="9" y="1"/>
                </a:lnTo>
                <a:lnTo>
                  <a:pt x="11" y="0"/>
                </a:lnTo>
                <a:lnTo>
                  <a:pt x="15" y="0"/>
                </a:lnTo>
                <a:lnTo>
                  <a:pt x="18" y="0"/>
                </a:lnTo>
                <a:lnTo>
                  <a:pt x="22" y="0"/>
                </a:lnTo>
                <a:lnTo>
                  <a:pt x="27" y="1"/>
                </a:lnTo>
                <a:lnTo>
                  <a:pt x="31" y="2"/>
                </a:lnTo>
                <a:lnTo>
                  <a:pt x="37" y="4"/>
                </a:lnTo>
                <a:lnTo>
                  <a:pt x="37" y="6"/>
                </a:lnTo>
                <a:lnTo>
                  <a:pt x="36" y="6"/>
                </a:lnTo>
                <a:lnTo>
                  <a:pt x="36" y="6"/>
                </a:lnTo>
                <a:lnTo>
                  <a:pt x="34" y="5"/>
                </a:lnTo>
                <a:lnTo>
                  <a:pt x="32" y="5"/>
                </a:lnTo>
                <a:lnTo>
                  <a:pt x="30" y="5"/>
                </a:lnTo>
                <a:lnTo>
                  <a:pt x="28" y="4"/>
                </a:lnTo>
                <a:lnTo>
                  <a:pt x="24" y="4"/>
                </a:lnTo>
                <a:lnTo>
                  <a:pt x="22" y="2"/>
                </a:lnTo>
                <a:lnTo>
                  <a:pt x="18" y="2"/>
                </a:lnTo>
                <a:lnTo>
                  <a:pt x="15" y="2"/>
                </a:lnTo>
                <a:lnTo>
                  <a:pt x="13" y="4"/>
                </a:lnTo>
                <a:lnTo>
                  <a:pt x="9" y="4"/>
                </a:lnTo>
                <a:lnTo>
                  <a:pt x="7" y="5"/>
                </a:lnTo>
                <a:lnTo>
                  <a:pt x="4" y="6"/>
                </a:lnTo>
                <a:lnTo>
                  <a:pt x="2" y="8"/>
                </a:lnTo>
                <a:lnTo>
                  <a:pt x="0" y="11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" name="Freeform 191"/>
          <p:cNvSpPr>
            <a:spLocks/>
          </p:cNvSpPr>
          <p:nvPr/>
        </p:nvSpPr>
        <p:spPr bwMode="auto">
          <a:xfrm>
            <a:off x="3808412" y="2941638"/>
            <a:ext cx="95250" cy="180975"/>
          </a:xfrm>
          <a:custGeom>
            <a:avLst/>
            <a:gdLst>
              <a:gd name="T0" fmla="*/ 0 w 60"/>
              <a:gd name="T1" fmla="*/ 0 h 114"/>
              <a:gd name="T2" fmla="*/ 0 w 60"/>
              <a:gd name="T3" fmla="*/ 110 h 114"/>
              <a:gd name="T4" fmla="*/ 18 w 60"/>
              <a:gd name="T5" fmla="*/ 114 h 114"/>
              <a:gd name="T6" fmla="*/ 17 w 60"/>
              <a:gd name="T7" fmla="*/ 98 h 114"/>
              <a:gd name="T8" fmla="*/ 60 w 60"/>
              <a:gd name="T9" fmla="*/ 105 h 114"/>
              <a:gd name="T10" fmla="*/ 60 w 60"/>
              <a:gd name="T11" fmla="*/ 100 h 114"/>
              <a:gd name="T12" fmla="*/ 30 w 60"/>
              <a:gd name="T13" fmla="*/ 96 h 114"/>
              <a:gd name="T14" fmla="*/ 29 w 60"/>
              <a:gd name="T15" fmla="*/ 83 h 114"/>
              <a:gd name="T16" fmla="*/ 9 w 60"/>
              <a:gd name="T17" fmla="*/ 83 h 114"/>
              <a:gd name="T18" fmla="*/ 8 w 60"/>
              <a:gd name="T19" fmla="*/ 81 h 114"/>
              <a:gd name="T20" fmla="*/ 7 w 60"/>
              <a:gd name="T21" fmla="*/ 76 h 114"/>
              <a:gd name="T22" fmla="*/ 6 w 60"/>
              <a:gd name="T23" fmla="*/ 69 h 114"/>
              <a:gd name="T24" fmla="*/ 3 w 60"/>
              <a:gd name="T25" fmla="*/ 60 h 114"/>
              <a:gd name="T26" fmla="*/ 2 w 60"/>
              <a:gd name="T27" fmla="*/ 48 h 114"/>
              <a:gd name="T28" fmla="*/ 1 w 60"/>
              <a:gd name="T29" fmla="*/ 34 h 114"/>
              <a:gd name="T30" fmla="*/ 2 w 60"/>
              <a:gd name="T31" fmla="*/ 20 h 114"/>
              <a:gd name="T32" fmla="*/ 6 w 60"/>
              <a:gd name="T33" fmla="*/ 4 h 114"/>
              <a:gd name="T34" fmla="*/ 0 w 60"/>
              <a:gd name="T35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0" h="114">
                <a:moveTo>
                  <a:pt x="0" y="0"/>
                </a:moveTo>
                <a:lnTo>
                  <a:pt x="0" y="110"/>
                </a:lnTo>
                <a:lnTo>
                  <a:pt x="18" y="114"/>
                </a:lnTo>
                <a:lnTo>
                  <a:pt x="17" y="98"/>
                </a:lnTo>
                <a:lnTo>
                  <a:pt x="60" y="105"/>
                </a:lnTo>
                <a:lnTo>
                  <a:pt x="60" y="100"/>
                </a:lnTo>
                <a:lnTo>
                  <a:pt x="30" y="96"/>
                </a:lnTo>
                <a:lnTo>
                  <a:pt x="29" y="83"/>
                </a:lnTo>
                <a:lnTo>
                  <a:pt x="9" y="83"/>
                </a:lnTo>
                <a:lnTo>
                  <a:pt x="8" y="81"/>
                </a:lnTo>
                <a:lnTo>
                  <a:pt x="7" y="76"/>
                </a:lnTo>
                <a:lnTo>
                  <a:pt x="6" y="69"/>
                </a:lnTo>
                <a:lnTo>
                  <a:pt x="3" y="60"/>
                </a:lnTo>
                <a:lnTo>
                  <a:pt x="2" y="48"/>
                </a:lnTo>
                <a:lnTo>
                  <a:pt x="1" y="34"/>
                </a:lnTo>
                <a:lnTo>
                  <a:pt x="2" y="20"/>
                </a:lnTo>
                <a:lnTo>
                  <a:pt x="6" y="4"/>
                </a:lnTo>
                <a:lnTo>
                  <a:pt x="0" y="0"/>
                </a:lnTo>
                <a:close/>
              </a:path>
            </a:pathLst>
          </a:custGeom>
          <a:solidFill>
            <a:srgbClr val="001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" name="Freeform 192"/>
          <p:cNvSpPr>
            <a:spLocks/>
          </p:cNvSpPr>
          <p:nvPr/>
        </p:nvSpPr>
        <p:spPr bwMode="auto">
          <a:xfrm>
            <a:off x="3856037" y="2901950"/>
            <a:ext cx="123825" cy="23813"/>
          </a:xfrm>
          <a:custGeom>
            <a:avLst/>
            <a:gdLst>
              <a:gd name="T0" fmla="*/ 0 w 78"/>
              <a:gd name="T1" fmla="*/ 15 h 15"/>
              <a:gd name="T2" fmla="*/ 0 w 78"/>
              <a:gd name="T3" fmla="*/ 15 h 15"/>
              <a:gd name="T4" fmla="*/ 2 w 78"/>
              <a:gd name="T5" fmla="*/ 14 h 15"/>
              <a:gd name="T6" fmla="*/ 4 w 78"/>
              <a:gd name="T7" fmla="*/ 14 h 15"/>
              <a:gd name="T8" fmla="*/ 7 w 78"/>
              <a:gd name="T9" fmla="*/ 12 h 15"/>
              <a:gd name="T10" fmla="*/ 11 w 78"/>
              <a:gd name="T11" fmla="*/ 11 h 15"/>
              <a:gd name="T12" fmla="*/ 14 w 78"/>
              <a:gd name="T13" fmla="*/ 10 h 15"/>
              <a:gd name="T14" fmla="*/ 19 w 78"/>
              <a:gd name="T15" fmla="*/ 9 h 15"/>
              <a:gd name="T16" fmla="*/ 23 w 78"/>
              <a:gd name="T17" fmla="*/ 8 h 15"/>
              <a:gd name="T18" fmla="*/ 29 w 78"/>
              <a:gd name="T19" fmla="*/ 8 h 15"/>
              <a:gd name="T20" fmla="*/ 35 w 78"/>
              <a:gd name="T21" fmla="*/ 7 h 15"/>
              <a:gd name="T22" fmla="*/ 42 w 78"/>
              <a:gd name="T23" fmla="*/ 7 h 15"/>
              <a:gd name="T24" fmla="*/ 48 w 78"/>
              <a:gd name="T25" fmla="*/ 5 h 15"/>
              <a:gd name="T26" fmla="*/ 55 w 78"/>
              <a:gd name="T27" fmla="*/ 7 h 15"/>
              <a:gd name="T28" fmla="*/ 62 w 78"/>
              <a:gd name="T29" fmla="*/ 7 h 15"/>
              <a:gd name="T30" fmla="*/ 69 w 78"/>
              <a:gd name="T31" fmla="*/ 8 h 15"/>
              <a:gd name="T32" fmla="*/ 76 w 78"/>
              <a:gd name="T33" fmla="*/ 9 h 15"/>
              <a:gd name="T34" fmla="*/ 78 w 78"/>
              <a:gd name="T35" fmla="*/ 0 h 15"/>
              <a:gd name="T36" fmla="*/ 78 w 78"/>
              <a:gd name="T37" fmla="*/ 0 h 15"/>
              <a:gd name="T38" fmla="*/ 76 w 78"/>
              <a:gd name="T39" fmla="*/ 0 h 15"/>
              <a:gd name="T40" fmla="*/ 74 w 78"/>
              <a:gd name="T41" fmla="*/ 0 h 15"/>
              <a:gd name="T42" fmla="*/ 70 w 78"/>
              <a:gd name="T43" fmla="*/ 0 h 15"/>
              <a:gd name="T44" fmla="*/ 65 w 78"/>
              <a:gd name="T45" fmla="*/ 0 h 15"/>
              <a:gd name="T46" fmla="*/ 61 w 78"/>
              <a:gd name="T47" fmla="*/ 0 h 15"/>
              <a:gd name="T48" fmla="*/ 56 w 78"/>
              <a:gd name="T49" fmla="*/ 0 h 15"/>
              <a:gd name="T50" fmla="*/ 50 w 78"/>
              <a:gd name="T51" fmla="*/ 1 h 15"/>
              <a:gd name="T52" fmla="*/ 43 w 78"/>
              <a:gd name="T53" fmla="*/ 1 h 15"/>
              <a:gd name="T54" fmla="*/ 37 w 78"/>
              <a:gd name="T55" fmla="*/ 1 h 15"/>
              <a:gd name="T56" fmla="*/ 30 w 78"/>
              <a:gd name="T57" fmla="*/ 2 h 15"/>
              <a:gd name="T58" fmla="*/ 25 w 78"/>
              <a:gd name="T59" fmla="*/ 3 h 15"/>
              <a:gd name="T60" fmla="*/ 18 w 78"/>
              <a:gd name="T61" fmla="*/ 4 h 15"/>
              <a:gd name="T62" fmla="*/ 12 w 78"/>
              <a:gd name="T63" fmla="*/ 5 h 15"/>
              <a:gd name="T64" fmla="*/ 6 w 78"/>
              <a:gd name="T65" fmla="*/ 7 h 15"/>
              <a:gd name="T66" fmla="*/ 0 w 78"/>
              <a:gd name="T67" fmla="*/ 8 h 15"/>
              <a:gd name="T68" fmla="*/ 0 w 78"/>
              <a:gd name="T69" fmla="*/ 15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8" h="15">
                <a:moveTo>
                  <a:pt x="0" y="15"/>
                </a:moveTo>
                <a:lnTo>
                  <a:pt x="0" y="15"/>
                </a:lnTo>
                <a:lnTo>
                  <a:pt x="2" y="14"/>
                </a:lnTo>
                <a:lnTo>
                  <a:pt x="4" y="14"/>
                </a:lnTo>
                <a:lnTo>
                  <a:pt x="7" y="12"/>
                </a:lnTo>
                <a:lnTo>
                  <a:pt x="11" y="11"/>
                </a:lnTo>
                <a:lnTo>
                  <a:pt x="14" y="10"/>
                </a:lnTo>
                <a:lnTo>
                  <a:pt x="19" y="9"/>
                </a:lnTo>
                <a:lnTo>
                  <a:pt x="23" y="8"/>
                </a:lnTo>
                <a:lnTo>
                  <a:pt x="29" y="8"/>
                </a:lnTo>
                <a:lnTo>
                  <a:pt x="35" y="7"/>
                </a:lnTo>
                <a:lnTo>
                  <a:pt x="42" y="7"/>
                </a:lnTo>
                <a:lnTo>
                  <a:pt x="48" y="5"/>
                </a:lnTo>
                <a:lnTo>
                  <a:pt x="55" y="7"/>
                </a:lnTo>
                <a:lnTo>
                  <a:pt x="62" y="7"/>
                </a:lnTo>
                <a:lnTo>
                  <a:pt x="69" y="8"/>
                </a:lnTo>
                <a:lnTo>
                  <a:pt x="76" y="9"/>
                </a:lnTo>
                <a:lnTo>
                  <a:pt x="78" y="0"/>
                </a:lnTo>
                <a:lnTo>
                  <a:pt x="78" y="0"/>
                </a:lnTo>
                <a:lnTo>
                  <a:pt x="76" y="0"/>
                </a:lnTo>
                <a:lnTo>
                  <a:pt x="74" y="0"/>
                </a:lnTo>
                <a:lnTo>
                  <a:pt x="70" y="0"/>
                </a:lnTo>
                <a:lnTo>
                  <a:pt x="65" y="0"/>
                </a:lnTo>
                <a:lnTo>
                  <a:pt x="61" y="0"/>
                </a:lnTo>
                <a:lnTo>
                  <a:pt x="56" y="0"/>
                </a:lnTo>
                <a:lnTo>
                  <a:pt x="50" y="1"/>
                </a:lnTo>
                <a:lnTo>
                  <a:pt x="43" y="1"/>
                </a:lnTo>
                <a:lnTo>
                  <a:pt x="37" y="1"/>
                </a:lnTo>
                <a:lnTo>
                  <a:pt x="30" y="2"/>
                </a:lnTo>
                <a:lnTo>
                  <a:pt x="25" y="3"/>
                </a:lnTo>
                <a:lnTo>
                  <a:pt x="18" y="4"/>
                </a:lnTo>
                <a:lnTo>
                  <a:pt x="12" y="5"/>
                </a:lnTo>
                <a:lnTo>
                  <a:pt x="6" y="7"/>
                </a:lnTo>
                <a:lnTo>
                  <a:pt x="0" y="8"/>
                </a:lnTo>
                <a:lnTo>
                  <a:pt x="0" y="15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6" name="Freeform 193"/>
          <p:cNvSpPr>
            <a:spLocks/>
          </p:cNvSpPr>
          <p:nvPr/>
        </p:nvSpPr>
        <p:spPr bwMode="auto">
          <a:xfrm>
            <a:off x="3784600" y="3125788"/>
            <a:ext cx="207962" cy="69850"/>
          </a:xfrm>
          <a:custGeom>
            <a:avLst/>
            <a:gdLst>
              <a:gd name="T0" fmla="*/ 54 w 131"/>
              <a:gd name="T1" fmla="*/ 43 h 44"/>
              <a:gd name="T2" fmla="*/ 56 w 131"/>
              <a:gd name="T3" fmla="*/ 42 h 44"/>
              <a:gd name="T4" fmla="*/ 56 w 131"/>
              <a:gd name="T5" fmla="*/ 42 h 44"/>
              <a:gd name="T6" fmla="*/ 57 w 131"/>
              <a:gd name="T7" fmla="*/ 42 h 44"/>
              <a:gd name="T8" fmla="*/ 59 w 131"/>
              <a:gd name="T9" fmla="*/ 41 h 44"/>
              <a:gd name="T10" fmla="*/ 60 w 131"/>
              <a:gd name="T11" fmla="*/ 41 h 44"/>
              <a:gd name="T12" fmla="*/ 63 w 131"/>
              <a:gd name="T13" fmla="*/ 40 h 44"/>
              <a:gd name="T14" fmla="*/ 65 w 131"/>
              <a:gd name="T15" fmla="*/ 39 h 44"/>
              <a:gd name="T16" fmla="*/ 67 w 131"/>
              <a:gd name="T17" fmla="*/ 37 h 44"/>
              <a:gd name="T18" fmla="*/ 71 w 131"/>
              <a:gd name="T19" fmla="*/ 36 h 44"/>
              <a:gd name="T20" fmla="*/ 73 w 131"/>
              <a:gd name="T21" fmla="*/ 34 h 44"/>
              <a:gd name="T22" fmla="*/ 75 w 131"/>
              <a:gd name="T23" fmla="*/ 33 h 44"/>
              <a:gd name="T24" fmla="*/ 78 w 131"/>
              <a:gd name="T25" fmla="*/ 30 h 44"/>
              <a:gd name="T26" fmla="*/ 80 w 131"/>
              <a:gd name="T27" fmla="*/ 29 h 44"/>
              <a:gd name="T28" fmla="*/ 81 w 131"/>
              <a:gd name="T29" fmla="*/ 27 h 44"/>
              <a:gd name="T30" fmla="*/ 84 w 131"/>
              <a:gd name="T31" fmla="*/ 26 h 44"/>
              <a:gd name="T32" fmla="*/ 85 w 131"/>
              <a:gd name="T33" fmla="*/ 23 h 44"/>
              <a:gd name="T34" fmla="*/ 0 w 131"/>
              <a:gd name="T35" fmla="*/ 2 h 44"/>
              <a:gd name="T36" fmla="*/ 5 w 131"/>
              <a:gd name="T37" fmla="*/ 0 h 44"/>
              <a:gd name="T38" fmla="*/ 131 w 131"/>
              <a:gd name="T39" fmla="*/ 32 h 44"/>
              <a:gd name="T40" fmla="*/ 126 w 131"/>
              <a:gd name="T41" fmla="*/ 34 h 44"/>
              <a:gd name="T42" fmla="*/ 89 w 131"/>
              <a:gd name="T43" fmla="*/ 25 h 44"/>
              <a:gd name="T44" fmla="*/ 89 w 131"/>
              <a:gd name="T45" fmla="*/ 25 h 44"/>
              <a:gd name="T46" fmla="*/ 89 w 131"/>
              <a:gd name="T47" fmla="*/ 26 h 44"/>
              <a:gd name="T48" fmla="*/ 88 w 131"/>
              <a:gd name="T49" fmla="*/ 26 h 44"/>
              <a:gd name="T50" fmla="*/ 88 w 131"/>
              <a:gd name="T51" fmla="*/ 27 h 44"/>
              <a:gd name="T52" fmla="*/ 87 w 131"/>
              <a:gd name="T53" fmla="*/ 28 h 44"/>
              <a:gd name="T54" fmla="*/ 86 w 131"/>
              <a:gd name="T55" fmla="*/ 29 h 44"/>
              <a:gd name="T56" fmla="*/ 85 w 131"/>
              <a:gd name="T57" fmla="*/ 30 h 44"/>
              <a:gd name="T58" fmla="*/ 82 w 131"/>
              <a:gd name="T59" fmla="*/ 32 h 44"/>
              <a:gd name="T60" fmla="*/ 80 w 131"/>
              <a:gd name="T61" fmla="*/ 33 h 44"/>
              <a:gd name="T62" fmla="*/ 78 w 131"/>
              <a:gd name="T63" fmla="*/ 34 h 44"/>
              <a:gd name="T64" fmla="*/ 75 w 131"/>
              <a:gd name="T65" fmla="*/ 36 h 44"/>
              <a:gd name="T66" fmla="*/ 72 w 131"/>
              <a:gd name="T67" fmla="*/ 37 h 44"/>
              <a:gd name="T68" fmla="*/ 70 w 131"/>
              <a:gd name="T69" fmla="*/ 40 h 44"/>
              <a:gd name="T70" fmla="*/ 65 w 131"/>
              <a:gd name="T71" fmla="*/ 41 h 44"/>
              <a:gd name="T72" fmla="*/ 61 w 131"/>
              <a:gd name="T73" fmla="*/ 42 h 44"/>
              <a:gd name="T74" fmla="*/ 57 w 131"/>
              <a:gd name="T75" fmla="*/ 44 h 44"/>
              <a:gd name="T76" fmla="*/ 54 w 131"/>
              <a:gd name="T77" fmla="*/ 43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31" h="44">
                <a:moveTo>
                  <a:pt x="54" y="43"/>
                </a:moveTo>
                <a:lnTo>
                  <a:pt x="56" y="42"/>
                </a:lnTo>
                <a:lnTo>
                  <a:pt x="56" y="42"/>
                </a:lnTo>
                <a:lnTo>
                  <a:pt x="57" y="42"/>
                </a:lnTo>
                <a:lnTo>
                  <a:pt x="59" y="41"/>
                </a:lnTo>
                <a:lnTo>
                  <a:pt x="60" y="41"/>
                </a:lnTo>
                <a:lnTo>
                  <a:pt x="63" y="40"/>
                </a:lnTo>
                <a:lnTo>
                  <a:pt x="65" y="39"/>
                </a:lnTo>
                <a:lnTo>
                  <a:pt x="67" y="37"/>
                </a:lnTo>
                <a:lnTo>
                  <a:pt x="71" y="36"/>
                </a:lnTo>
                <a:lnTo>
                  <a:pt x="73" y="34"/>
                </a:lnTo>
                <a:lnTo>
                  <a:pt x="75" y="33"/>
                </a:lnTo>
                <a:lnTo>
                  <a:pt x="78" y="30"/>
                </a:lnTo>
                <a:lnTo>
                  <a:pt x="80" y="29"/>
                </a:lnTo>
                <a:lnTo>
                  <a:pt x="81" y="27"/>
                </a:lnTo>
                <a:lnTo>
                  <a:pt x="84" y="26"/>
                </a:lnTo>
                <a:lnTo>
                  <a:pt x="85" y="23"/>
                </a:lnTo>
                <a:lnTo>
                  <a:pt x="0" y="2"/>
                </a:lnTo>
                <a:lnTo>
                  <a:pt x="5" y="0"/>
                </a:lnTo>
                <a:lnTo>
                  <a:pt x="131" y="32"/>
                </a:lnTo>
                <a:lnTo>
                  <a:pt x="126" y="34"/>
                </a:lnTo>
                <a:lnTo>
                  <a:pt x="89" y="25"/>
                </a:lnTo>
                <a:lnTo>
                  <a:pt x="89" y="25"/>
                </a:lnTo>
                <a:lnTo>
                  <a:pt x="89" y="26"/>
                </a:lnTo>
                <a:lnTo>
                  <a:pt x="88" y="26"/>
                </a:lnTo>
                <a:lnTo>
                  <a:pt x="88" y="27"/>
                </a:lnTo>
                <a:lnTo>
                  <a:pt x="87" y="28"/>
                </a:lnTo>
                <a:lnTo>
                  <a:pt x="86" y="29"/>
                </a:lnTo>
                <a:lnTo>
                  <a:pt x="85" y="30"/>
                </a:lnTo>
                <a:lnTo>
                  <a:pt x="82" y="32"/>
                </a:lnTo>
                <a:lnTo>
                  <a:pt x="80" y="33"/>
                </a:lnTo>
                <a:lnTo>
                  <a:pt x="78" y="34"/>
                </a:lnTo>
                <a:lnTo>
                  <a:pt x="75" y="36"/>
                </a:lnTo>
                <a:lnTo>
                  <a:pt x="72" y="37"/>
                </a:lnTo>
                <a:lnTo>
                  <a:pt x="70" y="40"/>
                </a:lnTo>
                <a:lnTo>
                  <a:pt x="65" y="41"/>
                </a:lnTo>
                <a:lnTo>
                  <a:pt x="61" y="42"/>
                </a:lnTo>
                <a:lnTo>
                  <a:pt x="57" y="44"/>
                </a:lnTo>
                <a:lnTo>
                  <a:pt x="54" y="4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" name="Freeform 194"/>
          <p:cNvSpPr>
            <a:spLocks/>
          </p:cNvSpPr>
          <p:nvPr/>
        </p:nvSpPr>
        <p:spPr bwMode="auto">
          <a:xfrm>
            <a:off x="3740150" y="3144838"/>
            <a:ext cx="214312" cy="61912"/>
          </a:xfrm>
          <a:custGeom>
            <a:avLst/>
            <a:gdLst>
              <a:gd name="T0" fmla="*/ 0 w 135"/>
              <a:gd name="T1" fmla="*/ 0 h 39"/>
              <a:gd name="T2" fmla="*/ 131 w 135"/>
              <a:gd name="T3" fmla="*/ 39 h 39"/>
              <a:gd name="T4" fmla="*/ 135 w 135"/>
              <a:gd name="T5" fmla="*/ 39 h 39"/>
              <a:gd name="T6" fmla="*/ 4 w 135"/>
              <a:gd name="T7" fmla="*/ 0 h 39"/>
              <a:gd name="T8" fmla="*/ 0 w 135"/>
              <a:gd name="T9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5" h="39">
                <a:moveTo>
                  <a:pt x="0" y="0"/>
                </a:moveTo>
                <a:lnTo>
                  <a:pt x="131" y="39"/>
                </a:lnTo>
                <a:lnTo>
                  <a:pt x="135" y="39"/>
                </a:ln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" name="Freeform 195"/>
          <p:cNvSpPr>
            <a:spLocks/>
          </p:cNvSpPr>
          <p:nvPr/>
        </p:nvSpPr>
        <p:spPr bwMode="auto">
          <a:xfrm>
            <a:off x="3776662" y="3135313"/>
            <a:ext cx="209550" cy="57150"/>
          </a:xfrm>
          <a:custGeom>
            <a:avLst/>
            <a:gdLst>
              <a:gd name="T0" fmla="*/ 0 w 132"/>
              <a:gd name="T1" fmla="*/ 0 h 36"/>
              <a:gd name="T2" fmla="*/ 129 w 132"/>
              <a:gd name="T3" fmla="*/ 36 h 36"/>
              <a:gd name="T4" fmla="*/ 132 w 132"/>
              <a:gd name="T5" fmla="*/ 35 h 36"/>
              <a:gd name="T6" fmla="*/ 3 w 132"/>
              <a:gd name="T7" fmla="*/ 0 h 36"/>
              <a:gd name="T8" fmla="*/ 0 w 132"/>
              <a:gd name="T9" fmla="*/ 0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2" h="36">
                <a:moveTo>
                  <a:pt x="0" y="0"/>
                </a:moveTo>
                <a:lnTo>
                  <a:pt x="129" y="36"/>
                </a:lnTo>
                <a:lnTo>
                  <a:pt x="132" y="35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9" name="Freeform 196"/>
          <p:cNvSpPr>
            <a:spLocks/>
          </p:cNvSpPr>
          <p:nvPr/>
        </p:nvSpPr>
        <p:spPr bwMode="auto">
          <a:xfrm>
            <a:off x="3759200" y="3138488"/>
            <a:ext cx="211137" cy="61912"/>
          </a:xfrm>
          <a:custGeom>
            <a:avLst/>
            <a:gdLst>
              <a:gd name="T0" fmla="*/ 0 w 133"/>
              <a:gd name="T1" fmla="*/ 0 h 39"/>
              <a:gd name="T2" fmla="*/ 131 w 133"/>
              <a:gd name="T3" fmla="*/ 39 h 39"/>
              <a:gd name="T4" fmla="*/ 133 w 133"/>
              <a:gd name="T5" fmla="*/ 39 h 39"/>
              <a:gd name="T6" fmla="*/ 4 w 133"/>
              <a:gd name="T7" fmla="*/ 0 h 39"/>
              <a:gd name="T8" fmla="*/ 0 w 133"/>
              <a:gd name="T9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3" h="39">
                <a:moveTo>
                  <a:pt x="0" y="0"/>
                </a:moveTo>
                <a:lnTo>
                  <a:pt x="131" y="39"/>
                </a:lnTo>
                <a:lnTo>
                  <a:pt x="133" y="39"/>
                </a:ln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0" name="Line 197"/>
          <p:cNvSpPr>
            <a:spLocks noChangeShapeType="1"/>
          </p:cNvSpPr>
          <p:nvPr/>
        </p:nvSpPr>
        <p:spPr bwMode="auto">
          <a:xfrm>
            <a:off x="4294187" y="3632200"/>
            <a:ext cx="434975" cy="1588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" name="Line 198"/>
          <p:cNvSpPr>
            <a:spLocks noChangeShapeType="1"/>
          </p:cNvSpPr>
          <p:nvPr/>
        </p:nvSpPr>
        <p:spPr bwMode="auto">
          <a:xfrm flipV="1">
            <a:off x="5033962" y="3614738"/>
            <a:ext cx="955675" cy="3175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02" name="Group 199"/>
          <p:cNvGrpSpPr>
            <a:grpSpLocks/>
          </p:cNvGrpSpPr>
          <p:nvPr/>
        </p:nvGrpSpPr>
        <p:grpSpPr bwMode="auto">
          <a:xfrm>
            <a:off x="6216650" y="3178175"/>
            <a:ext cx="441325" cy="1095375"/>
            <a:chOff x="2550" y="2912"/>
            <a:chExt cx="278" cy="690"/>
          </a:xfrm>
        </p:grpSpPr>
        <p:sp>
          <p:nvSpPr>
            <p:cNvPr id="203" name="Freeform 200"/>
            <p:cNvSpPr>
              <a:spLocks/>
            </p:cNvSpPr>
            <p:nvPr/>
          </p:nvSpPr>
          <p:spPr bwMode="auto">
            <a:xfrm>
              <a:off x="2578" y="2963"/>
              <a:ext cx="138" cy="638"/>
            </a:xfrm>
            <a:custGeom>
              <a:avLst/>
              <a:gdLst>
                <a:gd name="T0" fmla="*/ 0 w 138"/>
                <a:gd name="T1" fmla="*/ 485 h 638"/>
                <a:gd name="T2" fmla="*/ 138 w 138"/>
                <a:gd name="T3" fmla="*/ 638 h 638"/>
                <a:gd name="T4" fmla="*/ 138 w 138"/>
                <a:gd name="T5" fmla="*/ 77 h 638"/>
                <a:gd name="T6" fmla="*/ 116 w 138"/>
                <a:gd name="T7" fmla="*/ 49 h 638"/>
                <a:gd name="T8" fmla="*/ 0 w 138"/>
                <a:gd name="T9" fmla="*/ 0 h 638"/>
                <a:gd name="T10" fmla="*/ 0 w 138"/>
                <a:gd name="T11" fmla="*/ 485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8" h="638">
                  <a:moveTo>
                    <a:pt x="0" y="485"/>
                  </a:moveTo>
                  <a:lnTo>
                    <a:pt x="138" y="638"/>
                  </a:lnTo>
                  <a:lnTo>
                    <a:pt x="138" y="77"/>
                  </a:lnTo>
                  <a:lnTo>
                    <a:pt x="116" y="49"/>
                  </a:lnTo>
                  <a:lnTo>
                    <a:pt x="0" y="0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Rectangle 201"/>
            <p:cNvSpPr>
              <a:spLocks noChangeArrowheads="1"/>
            </p:cNvSpPr>
            <p:nvPr/>
          </p:nvSpPr>
          <p:spPr bwMode="auto">
            <a:xfrm>
              <a:off x="2716" y="3035"/>
              <a:ext cx="84" cy="567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Freeform 202"/>
            <p:cNvSpPr>
              <a:spLocks/>
            </p:cNvSpPr>
            <p:nvPr/>
          </p:nvSpPr>
          <p:spPr bwMode="auto">
            <a:xfrm>
              <a:off x="2713" y="3035"/>
              <a:ext cx="86" cy="64"/>
            </a:xfrm>
            <a:custGeom>
              <a:avLst/>
              <a:gdLst>
                <a:gd name="T0" fmla="*/ 0 w 86"/>
                <a:gd name="T1" fmla="*/ 0 h 64"/>
                <a:gd name="T2" fmla="*/ 86 w 86"/>
                <a:gd name="T3" fmla="*/ 0 h 64"/>
                <a:gd name="T4" fmla="*/ 86 w 86"/>
                <a:gd name="T5" fmla="*/ 64 h 64"/>
                <a:gd name="T6" fmla="*/ 0 w 86"/>
                <a:gd name="T7" fmla="*/ 30 h 64"/>
                <a:gd name="T8" fmla="*/ 0 w 86"/>
                <a:gd name="T9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64">
                  <a:moveTo>
                    <a:pt x="0" y="0"/>
                  </a:moveTo>
                  <a:lnTo>
                    <a:pt x="86" y="0"/>
                  </a:lnTo>
                  <a:lnTo>
                    <a:pt x="86" y="64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Rectangle 203"/>
            <p:cNvSpPr>
              <a:spLocks noChangeArrowheads="1"/>
            </p:cNvSpPr>
            <p:nvPr/>
          </p:nvSpPr>
          <p:spPr bwMode="auto">
            <a:xfrm>
              <a:off x="2716" y="3118"/>
              <a:ext cx="41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Rectangle 204"/>
            <p:cNvSpPr>
              <a:spLocks noChangeArrowheads="1"/>
            </p:cNvSpPr>
            <p:nvPr/>
          </p:nvSpPr>
          <p:spPr bwMode="auto">
            <a:xfrm>
              <a:off x="2759" y="3117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Rectangle 205"/>
            <p:cNvSpPr>
              <a:spLocks noChangeArrowheads="1"/>
            </p:cNvSpPr>
            <p:nvPr/>
          </p:nvSpPr>
          <p:spPr bwMode="auto">
            <a:xfrm>
              <a:off x="2737" y="3080"/>
              <a:ext cx="43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Rectangle 206"/>
            <p:cNvSpPr>
              <a:spLocks noChangeArrowheads="1"/>
            </p:cNvSpPr>
            <p:nvPr/>
          </p:nvSpPr>
          <p:spPr bwMode="auto">
            <a:xfrm>
              <a:off x="2781" y="3080"/>
              <a:ext cx="21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Rectangle 207"/>
            <p:cNvSpPr>
              <a:spLocks noChangeArrowheads="1"/>
            </p:cNvSpPr>
            <p:nvPr/>
          </p:nvSpPr>
          <p:spPr bwMode="auto">
            <a:xfrm>
              <a:off x="2712" y="3080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Rectangle 208"/>
            <p:cNvSpPr>
              <a:spLocks noChangeArrowheads="1"/>
            </p:cNvSpPr>
            <p:nvPr/>
          </p:nvSpPr>
          <p:spPr bwMode="auto">
            <a:xfrm>
              <a:off x="2715" y="3041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Rectangle 209"/>
            <p:cNvSpPr>
              <a:spLocks noChangeArrowheads="1"/>
            </p:cNvSpPr>
            <p:nvPr/>
          </p:nvSpPr>
          <p:spPr bwMode="auto">
            <a:xfrm>
              <a:off x="2760" y="3042"/>
              <a:ext cx="43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Rectangle 210"/>
            <p:cNvSpPr>
              <a:spLocks noChangeArrowheads="1"/>
            </p:cNvSpPr>
            <p:nvPr/>
          </p:nvSpPr>
          <p:spPr bwMode="auto">
            <a:xfrm>
              <a:off x="2715" y="3193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Rectangle 211"/>
            <p:cNvSpPr>
              <a:spLocks noChangeArrowheads="1"/>
            </p:cNvSpPr>
            <p:nvPr/>
          </p:nvSpPr>
          <p:spPr bwMode="auto">
            <a:xfrm>
              <a:off x="2759" y="3193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Rectangle 212"/>
            <p:cNvSpPr>
              <a:spLocks noChangeArrowheads="1"/>
            </p:cNvSpPr>
            <p:nvPr/>
          </p:nvSpPr>
          <p:spPr bwMode="auto">
            <a:xfrm>
              <a:off x="2780" y="3155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Rectangle 213"/>
            <p:cNvSpPr>
              <a:spLocks noChangeArrowheads="1"/>
            </p:cNvSpPr>
            <p:nvPr/>
          </p:nvSpPr>
          <p:spPr bwMode="auto">
            <a:xfrm>
              <a:off x="2716" y="3155"/>
              <a:ext cx="17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Rectangle 214"/>
            <p:cNvSpPr>
              <a:spLocks noChangeArrowheads="1"/>
            </p:cNvSpPr>
            <p:nvPr/>
          </p:nvSpPr>
          <p:spPr bwMode="auto">
            <a:xfrm>
              <a:off x="2715" y="3266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Rectangle 215"/>
            <p:cNvSpPr>
              <a:spLocks noChangeArrowheads="1"/>
            </p:cNvSpPr>
            <p:nvPr/>
          </p:nvSpPr>
          <p:spPr bwMode="auto">
            <a:xfrm>
              <a:off x="2759" y="3266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" name="Rectangle 216"/>
            <p:cNvSpPr>
              <a:spLocks noChangeArrowheads="1"/>
            </p:cNvSpPr>
            <p:nvPr/>
          </p:nvSpPr>
          <p:spPr bwMode="auto">
            <a:xfrm>
              <a:off x="2737" y="3229"/>
              <a:ext cx="4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Rectangle 217"/>
            <p:cNvSpPr>
              <a:spLocks noChangeArrowheads="1"/>
            </p:cNvSpPr>
            <p:nvPr/>
          </p:nvSpPr>
          <p:spPr bwMode="auto">
            <a:xfrm>
              <a:off x="2780" y="3229"/>
              <a:ext cx="22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Rectangle 218"/>
            <p:cNvSpPr>
              <a:spLocks noChangeArrowheads="1"/>
            </p:cNvSpPr>
            <p:nvPr/>
          </p:nvSpPr>
          <p:spPr bwMode="auto">
            <a:xfrm>
              <a:off x="2715" y="3229"/>
              <a:ext cx="18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Rectangle 219"/>
            <p:cNvSpPr>
              <a:spLocks noChangeArrowheads="1"/>
            </p:cNvSpPr>
            <p:nvPr/>
          </p:nvSpPr>
          <p:spPr bwMode="auto">
            <a:xfrm>
              <a:off x="2715" y="3342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Rectangle 220"/>
            <p:cNvSpPr>
              <a:spLocks noChangeArrowheads="1"/>
            </p:cNvSpPr>
            <p:nvPr/>
          </p:nvSpPr>
          <p:spPr bwMode="auto">
            <a:xfrm>
              <a:off x="2759" y="3342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Rectangle 221"/>
            <p:cNvSpPr>
              <a:spLocks noChangeArrowheads="1"/>
            </p:cNvSpPr>
            <p:nvPr/>
          </p:nvSpPr>
          <p:spPr bwMode="auto">
            <a:xfrm>
              <a:off x="2736" y="3304"/>
              <a:ext cx="43" cy="33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Rectangle 222"/>
            <p:cNvSpPr>
              <a:spLocks noChangeArrowheads="1"/>
            </p:cNvSpPr>
            <p:nvPr/>
          </p:nvSpPr>
          <p:spPr bwMode="auto">
            <a:xfrm>
              <a:off x="2780" y="3304"/>
              <a:ext cx="21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Rectangle 223"/>
            <p:cNvSpPr>
              <a:spLocks noChangeArrowheads="1"/>
            </p:cNvSpPr>
            <p:nvPr/>
          </p:nvSpPr>
          <p:spPr bwMode="auto">
            <a:xfrm>
              <a:off x="2716" y="3304"/>
              <a:ext cx="17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Rectangle 224"/>
            <p:cNvSpPr>
              <a:spLocks noChangeArrowheads="1"/>
            </p:cNvSpPr>
            <p:nvPr/>
          </p:nvSpPr>
          <p:spPr bwMode="auto">
            <a:xfrm>
              <a:off x="2715" y="3417"/>
              <a:ext cx="4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Rectangle 225"/>
            <p:cNvSpPr>
              <a:spLocks noChangeArrowheads="1"/>
            </p:cNvSpPr>
            <p:nvPr/>
          </p:nvSpPr>
          <p:spPr bwMode="auto">
            <a:xfrm>
              <a:off x="2759" y="3416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Rectangle 226"/>
            <p:cNvSpPr>
              <a:spLocks noChangeArrowheads="1"/>
            </p:cNvSpPr>
            <p:nvPr/>
          </p:nvSpPr>
          <p:spPr bwMode="auto">
            <a:xfrm>
              <a:off x="2737" y="3379"/>
              <a:ext cx="43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Rectangle 227"/>
            <p:cNvSpPr>
              <a:spLocks noChangeArrowheads="1"/>
            </p:cNvSpPr>
            <p:nvPr/>
          </p:nvSpPr>
          <p:spPr bwMode="auto">
            <a:xfrm>
              <a:off x="2781" y="3379"/>
              <a:ext cx="21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Rectangle 228"/>
            <p:cNvSpPr>
              <a:spLocks noChangeArrowheads="1"/>
            </p:cNvSpPr>
            <p:nvPr/>
          </p:nvSpPr>
          <p:spPr bwMode="auto">
            <a:xfrm>
              <a:off x="2715" y="3492"/>
              <a:ext cx="40" cy="33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Rectangle 229"/>
            <p:cNvSpPr>
              <a:spLocks noChangeArrowheads="1"/>
            </p:cNvSpPr>
            <p:nvPr/>
          </p:nvSpPr>
          <p:spPr bwMode="auto">
            <a:xfrm>
              <a:off x="2759" y="3492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Rectangle 230"/>
            <p:cNvSpPr>
              <a:spLocks noChangeArrowheads="1"/>
            </p:cNvSpPr>
            <p:nvPr/>
          </p:nvSpPr>
          <p:spPr bwMode="auto">
            <a:xfrm>
              <a:off x="2737" y="3455"/>
              <a:ext cx="42" cy="31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Rectangle 231"/>
            <p:cNvSpPr>
              <a:spLocks noChangeArrowheads="1"/>
            </p:cNvSpPr>
            <p:nvPr/>
          </p:nvSpPr>
          <p:spPr bwMode="auto">
            <a:xfrm>
              <a:off x="2780" y="3453"/>
              <a:ext cx="2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Rectangle 232"/>
            <p:cNvSpPr>
              <a:spLocks noChangeArrowheads="1"/>
            </p:cNvSpPr>
            <p:nvPr/>
          </p:nvSpPr>
          <p:spPr bwMode="auto">
            <a:xfrm>
              <a:off x="2716" y="3453"/>
              <a:ext cx="17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Rectangle 233"/>
            <p:cNvSpPr>
              <a:spLocks noChangeArrowheads="1"/>
            </p:cNvSpPr>
            <p:nvPr/>
          </p:nvSpPr>
          <p:spPr bwMode="auto">
            <a:xfrm>
              <a:off x="2715" y="3566"/>
              <a:ext cx="40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Rectangle 234"/>
            <p:cNvSpPr>
              <a:spLocks noChangeArrowheads="1"/>
            </p:cNvSpPr>
            <p:nvPr/>
          </p:nvSpPr>
          <p:spPr bwMode="auto">
            <a:xfrm>
              <a:off x="2759" y="3566"/>
              <a:ext cx="42" cy="32"/>
            </a:xfrm>
            <a:prstGeom prst="rect">
              <a:avLst/>
            </a:pr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Rectangle 235"/>
            <p:cNvSpPr>
              <a:spLocks noChangeArrowheads="1"/>
            </p:cNvSpPr>
            <p:nvPr/>
          </p:nvSpPr>
          <p:spPr bwMode="auto">
            <a:xfrm>
              <a:off x="2737" y="3528"/>
              <a:ext cx="42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Rectangle 236"/>
            <p:cNvSpPr>
              <a:spLocks noChangeArrowheads="1"/>
            </p:cNvSpPr>
            <p:nvPr/>
          </p:nvSpPr>
          <p:spPr bwMode="auto">
            <a:xfrm>
              <a:off x="2780" y="3528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Rectangle 237"/>
            <p:cNvSpPr>
              <a:spLocks noChangeArrowheads="1"/>
            </p:cNvSpPr>
            <p:nvPr/>
          </p:nvSpPr>
          <p:spPr bwMode="auto">
            <a:xfrm>
              <a:off x="2715" y="3528"/>
              <a:ext cx="18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Freeform 238"/>
            <p:cNvSpPr>
              <a:spLocks/>
            </p:cNvSpPr>
            <p:nvPr/>
          </p:nvSpPr>
          <p:spPr bwMode="auto">
            <a:xfrm>
              <a:off x="2704" y="3555"/>
              <a:ext cx="12" cy="41"/>
            </a:xfrm>
            <a:custGeom>
              <a:avLst/>
              <a:gdLst>
                <a:gd name="T0" fmla="*/ 12 w 12"/>
                <a:gd name="T1" fmla="*/ 11 h 41"/>
                <a:gd name="T2" fmla="*/ 12 w 12"/>
                <a:gd name="T3" fmla="*/ 41 h 41"/>
                <a:gd name="T4" fmla="*/ 0 w 12"/>
                <a:gd name="T5" fmla="*/ 29 h 41"/>
                <a:gd name="T6" fmla="*/ 0 w 12"/>
                <a:gd name="T7" fmla="*/ 0 h 41"/>
                <a:gd name="T8" fmla="*/ 12 w 12"/>
                <a:gd name="T9" fmla="*/ 1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41">
                  <a:moveTo>
                    <a:pt x="12" y="11"/>
                  </a:moveTo>
                  <a:lnTo>
                    <a:pt x="12" y="4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2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Freeform 239"/>
            <p:cNvSpPr>
              <a:spLocks/>
            </p:cNvSpPr>
            <p:nvPr/>
          </p:nvSpPr>
          <p:spPr bwMode="auto">
            <a:xfrm>
              <a:off x="2667" y="3513"/>
              <a:ext cx="35" cy="70"/>
            </a:xfrm>
            <a:custGeom>
              <a:avLst/>
              <a:gdLst>
                <a:gd name="T0" fmla="*/ 35 w 35"/>
                <a:gd name="T1" fmla="*/ 40 h 70"/>
                <a:gd name="T2" fmla="*/ 35 w 35"/>
                <a:gd name="T3" fmla="*/ 70 h 70"/>
                <a:gd name="T4" fmla="*/ 0 w 35"/>
                <a:gd name="T5" fmla="*/ 30 h 70"/>
                <a:gd name="T6" fmla="*/ 0 w 35"/>
                <a:gd name="T7" fmla="*/ 0 h 70"/>
                <a:gd name="T8" fmla="*/ 35 w 35"/>
                <a:gd name="T9" fmla="*/ 4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70">
                  <a:moveTo>
                    <a:pt x="35" y="40"/>
                  </a:moveTo>
                  <a:lnTo>
                    <a:pt x="35" y="7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4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3" name="Freeform 240"/>
            <p:cNvSpPr>
              <a:spLocks/>
            </p:cNvSpPr>
            <p:nvPr/>
          </p:nvSpPr>
          <p:spPr bwMode="auto">
            <a:xfrm>
              <a:off x="2631" y="3474"/>
              <a:ext cx="35" cy="67"/>
            </a:xfrm>
            <a:custGeom>
              <a:avLst/>
              <a:gdLst>
                <a:gd name="T0" fmla="*/ 35 w 35"/>
                <a:gd name="T1" fmla="*/ 39 h 67"/>
                <a:gd name="T2" fmla="*/ 35 w 35"/>
                <a:gd name="T3" fmla="*/ 67 h 67"/>
                <a:gd name="T4" fmla="*/ 0 w 35"/>
                <a:gd name="T5" fmla="*/ 28 h 67"/>
                <a:gd name="T6" fmla="*/ 0 w 35"/>
                <a:gd name="T7" fmla="*/ 0 h 67"/>
                <a:gd name="T8" fmla="*/ 35 w 35"/>
                <a:gd name="T9" fmla="*/ 3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67">
                  <a:moveTo>
                    <a:pt x="35" y="39"/>
                  </a:moveTo>
                  <a:lnTo>
                    <a:pt x="35" y="67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Freeform 241"/>
            <p:cNvSpPr>
              <a:spLocks/>
            </p:cNvSpPr>
            <p:nvPr/>
          </p:nvSpPr>
          <p:spPr bwMode="auto">
            <a:xfrm>
              <a:off x="2594" y="3435"/>
              <a:ext cx="34" cy="65"/>
            </a:xfrm>
            <a:custGeom>
              <a:avLst/>
              <a:gdLst>
                <a:gd name="T0" fmla="*/ 34 w 34"/>
                <a:gd name="T1" fmla="*/ 37 h 65"/>
                <a:gd name="T2" fmla="*/ 34 w 34"/>
                <a:gd name="T3" fmla="*/ 65 h 65"/>
                <a:gd name="T4" fmla="*/ 0 w 34"/>
                <a:gd name="T5" fmla="*/ 28 h 65"/>
                <a:gd name="T6" fmla="*/ 0 w 34"/>
                <a:gd name="T7" fmla="*/ 0 h 65"/>
                <a:gd name="T8" fmla="*/ 34 w 34"/>
                <a:gd name="T9" fmla="*/ 37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65">
                  <a:moveTo>
                    <a:pt x="34" y="37"/>
                  </a:moveTo>
                  <a:lnTo>
                    <a:pt x="34" y="65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7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" name="Freeform 242"/>
            <p:cNvSpPr>
              <a:spLocks/>
            </p:cNvSpPr>
            <p:nvPr/>
          </p:nvSpPr>
          <p:spPr bwMode="auto">
            <a:xfrm>
              <a:off x="2575" y="3414"/>
              <a:ext cx="17" cy="46"/>
            </a:xfrm>
            <a:custGeom>
              <a:avLst/>
              <a:gdLst>
                <a:gd name="T0" fmla="*/ 17 w 17"/>
                <a:gd name="T1" fmla="*/ 18 h 46"/>
                <a:gd name="T2" fmla="*/ 17 w 17"/>
                <a:gd name="T3" fmla="*/ 46 h 46"/>
                <a:gd name="T4" fmla="*/ 0 w 17"/>
                <a:gd name="T5" fmla="*/ 27 h 46"/>
                <a:gd name="T6" fmla="*/ 0 w 17"/>
                <a:gd name="T7" fmla="*/ 0 h 46"/>
                <a:gd name="T8" fmla="*/ 17 w 17"/>
                <a:gd name="T9" fmla="*/ 1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46">
                  <a:moveTo>
                    <a:pt x="17" y="18"/>
                  </a:moveTo>
                  <a:lnTo>
                    <a:pt x="17" y="46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" name="Freeform 243"/>
            <p:cNvSpPr>
              <a:spLocks/>
            </p:cNvSpPr>
            <p:nvPr/>
          </p:nvSpPr>
          <p:spPr bwMode="auto">
            <a:xfrm>
              <a:off x="2704" y="3036"/>
              <a:ext cx="12" cy="36"/>
            </a:xfrm>
            <a:custGeom>
              <a:avLst/>
              <a:gdLst>
                <a:gd name="T0" fmla="*/ 12 w 12"/>
                <a:gd name="T1" fmla="*/ 5 h 36"/>
                <a:gd name="T2" fmla="*/ 12 w 12"/>
                <a:gd name="T3" fmla="*/ 36 h 36"/>
                <a:gd name="T4" fmla="*/ 0 w 12"/>
                <a:gd name="T5" fmla="*/ 31 h 36"/>
                <a:gd name="T6" fmla="*/ 0 w 12"/>
                <a:gd name="T7" fmla="*/ 0 h 36"/>
                <a:gd name="T8" fmla="*/ 12 w 12"/>
                <a:gd name="T9" fmla="*/ 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36">
                  <a:moveTo>
                    <a:pt x="12" y="5"/>
                  </a:moveTo>
                  <a:lnTo>
                    <a:pt x="12" y="36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" name="Freeform 244"/>
            <p:cNvSpPr>
              <a:spLocks/>
            </p:cNvSpPr>
            <p:nvPr/>
          </p:nvSpPr>
          <p:spPr bwMode="auto">
            <a:xfrm>
              <a:off x="2667" y="3016"/>
              <a:ext cx="35" cy="49"/>
            </a:xfrm>
            <a:custGeom>
              <a:avLst/>
              <a:gdLst>
                <a:gd name="T0" fmla="*/ 35 w 35"/>
                <a:gd name="T1" fmla="*/ 19 h 49"/>
                <a:gd name="T2" fmla="*/ 35 w 35"/>
                <a:gd name="T3" fmla="*/ 49 h 49"/>
                <a:gd name="T4" fmla="*/ 0 w 35"/>
                <a:gd name="T5" fmla="*/ 30 h 49"/>
                <a:gd name="T6" fmla="*/ 0 w 35"/>
                <a:gd name="T7" fmla="*/ 0 h 49"/>
                <a:gd name="T8" fmla="*/ 35 w 35"/>
                <a:gd name="T9" fmla="*/ 1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49">
                  <a:moveTo>
                    <a:pt x="35" y="19"/>
                  </a:moveTo>
                  <a:lnTo>
                    <a:pt x="35" y="4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1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" name="Freeform 245"/>
            <p:cNvSpPr>
              <a:spLocks/>
            </p:cNvSpPr>
            <p:nvPr/>
          </p:nvSpPr>
          <p:spPr bwMode="auto">
            <a:xfrm>
              <a:off x="2631" y="2997"/>
              <a:ext cx="35" cy="46"/>
            </a:xfrm>
            <a:custGeom>
              <a:avLst/>
              <a:gdLst>
                <a:gd name="T0" fmla="*/ 35 w 35"/>
                <a:gd name="T1" fmla="*/ 18 h 46"/>
                <a:gd name="T2" fmla="*/ 35 w 35"/>
                <a:gd name="T3" fmla="*/ 46 h 46"/>
                <a:gd name="T4" fmla="*/ 0 w 35"/>
                <a:gd name="T5" fmla="*/ 28 h 46"/>
                <a:gd name="T6" fmla="*/ 0 w 35"/>
                <a:gd name="T7" fmla="*/ 0 h 46"/>
                <a:gd name="T8" fmla="*/ 35 w 35"/>
                <a:gd name="T9" fmla="*/ 1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46">
                  <a:moveTo>
                    <a:pt x="35" y="18"/>
                  </a:moveTo>
                  <a:lnTo>
                    <a:pt x="35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" name="Freeform 246"/>
            <p:cNvSpPr>
              <a:spLocks/>
            </p:cNvSpPr>
            <p:nvPr/>
          </p:nvSpPr>
          <p:spPr bwMode="auto">
            <a:xfrm>
              <a:off x="2594" y="2977"/>
              <a:ext cx="34" cy="46"/>
            </a:xfrm>
            <a:custGeom>
              <a:avLst/>
              <a:gdLst>
                <a:gd name="T0" fmla="*/ 34 w 34"/>
                <a:gd name="T1" fmla="*/ 18 h 46"/>
                <a:gd name="T2" fmla="*/ 34 w 34"/>
                <a:gd name="T3" fmla="*/ 46 h 46"/>
                <a:gd name="T4" fmla="*/ 0 w 34"/>
                <a:gd name="T5" fmla="*/ 28 h 46"/>
                <a:gd name="T6" fmla="*/ 0 w 34"/>
                <a:gd name="T7" fmla="*/ 0 h 46"/>
                <a:gd name="T8" fmla="*/ 34 w 34"/>
                <a:gd name="T9" fmla="*/ 1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6">
                  <a:moveTo>
                    <a:pt x="34" y="18"/>
                  </a:moveTo>
                  <a:lnTo>
                    <a:pt x="34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0" name="Freeform 247"/>
            <p:cNvSpPr>
              <a:spLocks/>
            </p:cNvSpPr>
            <p:nvPr/>
          </p:nvSpPr>
          <p:spPr bwMode="auto">
            <a:xfrm>
              <a:off x="2575" y="2966"/>
              <a:ext cx="17" cy="36"/>
            </a:xfrm>
            <a:custGeom>
              <a:avLst/>
              <a:gdLst>
                <a:gd name="T0" fmla="*/ 17 w 17"/>
                <a:gd name="T1" fmla="*/ 10 h 36"/>
                <a:gd name="T2" fmla="*/ 17 w 17"/>
                <a:gd name="T3" fmla="*/ 36 h 36"/>
                <a:gd name="T4" fmla="*/ 0 w 17"/>
                <a:gd name="T5" fmla="*/ 28 h 36"/>
                <a:gd name="T6" fmla="*/ 0 w 17"/>
                <a:gd name="T7" fmla="*/ 0 h 36"/>
                <a:gd name="T8" fmla="*/ 17 w 17"/>
                <a:gd name="T9" fmla="*/ 1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36">
                  <a:moveTo>
                    <a:pt x="17" y="10"/>
                  </a:moveTo>
                  <a:lnTo>
                    <a:pt x="17" y="3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1" name="Freeform 248"/>
            <p:cNvSpPr>
              <a:spLocks/>
            </p:cNvSpPr>
            <p:nvPr/>
          </p:nvSpPr>
          <p:spPr bwMode="auto">
            <a:xfrm>
              <a:off x="2667" y="3087"/>
              <a:ext cx="35" cy="52"/>
            </a:xfrm>
            <a:custGeom>
              <a:avLst/>
              <a:gdLst>
                <a:gd name="T0" fmla="*/ 35 w 35"/>
                <a:gd name="T1" fmla="*/ 22 h 52"/>
                <a:gd name="T2" fmla="*/ 35 w 35"/>
                <a:gd name="T3" fmla="*/ 52 h 52"/>
                <a:gd name="T4" fmla="*/ 0 w 35"/>
                <a:gd name="T5" fmla="*/ 29 h 52"/>
                <a:gd name="T6" fmla="*/ 0 w 35"/>
                <a:gd name="T7" fmla="*/ 0 h 52"/>
                <a:gd name="T8" fmla="*/ 35 w 35"/>
                <a:gd name="T9" fmla="*/ 2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52">
                  <a:moveTo>
                    <a:pt x="35" y="22"/>
                  </a:moveTo>
                  <a:lnTo>
                    <a:pt x="35" y="52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2" name="Freeform 249"/>
            <p:cNvSpPr>
              <a:spLocks/>
            </p:cNvSpPr>
            <p:nvPr/>
          </p:nvSpPr>
          <p:spPr bwMode="auto">
            <a:xfrm>
              <a:off x="2631" y="3064"/>
              <a:ext cx="35" cy="52"/>
            </a:xfrm>
            <a:custGeom>
              <a:avLst/>
              <a:gdLst>
                <a:gd name="T0" fmla="*/ 35 w 35"/>
                <a:gd name="T1" fmla="*/ 23 h 52"/>
                <a:gd name="T2" fmla="*/ 35 w 35"/>
                <a:gd name="T3" fmla="*/ 52 h 52"/>
                <a:gd name="T4" fmla="*/ 0 w 35"/>
                <a:gd name="T5" fmla="*/ 30 h 52"/>
                <a:gd name="T6" fmla="*/ 0 w 35"/>
                <a:gd name="T7" fmla="*/ 0 h 52"/>
                <a:gd name="T8" fmla="*/ 35 w 35"/>
                <a:gd name="T9" fmla="*/ 2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52">
                  <a:moveTo>
                    <a:pt x="35" y="23"/>
                  </a:moveTo>
                  <a:lnTo>
                    <a:pt x="35" y="5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3" name="Freeform 250"/>
            <p:cNvSpPr>
              <a:spLocks/>
            </p:cNvSpPr>
            <p:nvPr/>
          </p:nvSpPr>
          <p:spPr bwMode="auto">
            <a:xfrm>
              <a:off x="2594" y="3042"/>
              <a:ext cx="34" cy="49"/>
            </a:xfrm>
            <a:custGeom>
              <a:avLst/>
              <a:gdLst>
                <a:gd name="T0" fmla="*/ 34 w 34"/>
                <a:gd name="T1" fmla="*/ 21 h 49"/>
                <a:gd name="T2" fmla="*/ 34 w 34"/>
                <a:gd name="T3" fmla="*/ 49 h 49"/>
                <a:gd name="T4" fmla="*/ 0 w 34"/>
                <a:gd name="T5" fmla="*/ 27 h 49"/>
                <a:gd name="T6" fmla="*/ 0 w 34"/>
                <a:gd name="T7" fmla="*/ 0 h 49"/>
                <a:gd name="T8" fmla="*/ 34 w 34"/>
                <a:gd name="T9" fmla="*/ 2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9">
                  <a:moveTo>
                    <a:pt x="34" y="21"/>
                  </a:moveTo>
                  <a:lnTo>
                    <a:pt x="34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4" name="Freeform 251"/>
            <p:cNvSpPr>
              <a:spLocks/>
            </p:cNvSpPr>
            <p:nvPr/>
          </p:nvSpPr>
          <p:spPr bwMode="auto">
            <a:xfrm>
              <a:off x="2575" y="3030"/>
              <a:ext cx="17" cy="39"/>
            </a:xfrm>
            <a:custGeom>
              <a:avLst/>
              <a:gdLst>
                <a:gd name="T0" fmla="*/ 17 w 17"/>
                <a:gd name="T1" fmla="*/ 11 h 39"/>
                <a:gd name="T2" fmla="*/ 17 w 17"/>
                <a:gd name="T3" fmla="*/ 39 h 39"/>
                <a:gd name="T4" fmla="*/ 0 w 17"/>
                <a:gd name="T5" fmla="*/ 27 h 39"/>
                <a:gd name="T6" fmla="*/ 0 w 17"/>
                <a:gd name="T7" fmla="*/ 0 h 39"/>
                <a:gd name="T8" fmla="*/ 17 w 17"/>
                <a:gd name="T9" fmla="*/ 1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39">
                  <a:moveTo>
                    <a:pt x="17" y="11"/>
                  </a:moveTo>
                  <a:lnTo>
                    <a:pt x="17" y="3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5" name="Freeform 252"/>
            <p:cNvSpPr>
              <a:spLocks/>
            </p:cNvSpPr>
            <p:nvPr/>
          </p:nvSpPr>
          <p:spPr bwMode="auto">
            <a:xfrm>
              <a:off x="2704" y="3185"/>
              <a:ext cx="12" cy="38"/>
            </a:xfrm>
            <a:custGeom>
              <a:avLst/>
              <a:gdLst>
                <a:gd name="T0" fmla="*/ 12 w 12"/>
                <a:gd name="T1" fmla="*/ 8 h 38"/>
                <a:gd name="T2" fmla="*/ 12 w 12"/>
                <a:gd name="T3" fmla="*/ 38 h 38"/>
                <a:gd name="T4" fmla="*/ 0 w 12"/>
                <a:gd name="T5" fmla="*/ 30 h 38"/>
                <a:gd name="T6" fmla="*/ 0 w 12"/>
                <a:gd name="T7" fmla="*/ 0 h 38"/>
                <a:gd name="T8" fmla="*/ 12 w 12"/>
                <a:gd name="T9" fmla="*/ 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38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" name="Freeform 253"/>
            <p:cNvSpPr>
              <a:spLocks/>
            </p:cNvSpPr>
            <p:nvPr/>
          </p:nvSpPr>
          <p:spPr bwMode="auto">
            <a:xfrm>
              <a:off x="2667" y="3158"/>
              <a:ext cx="35" cy="55"/>
            </a:xfrm>
            <a:custGeom>
              <a:avLst/>
              <a:gdLst>
                <a:gd name="T0" fmla="*/ 35 w 35"/>
                <a:gd name="T1" fmla="*/ 24 h 55"/>
                <a:gd name="T2" fmla="*/ 35 w 35"/>
                <a:gd name="T3" fmla="*/ 55 h 55"/>
                <a:gd name="T4" fmla="*/ 0 w 35"/>
                <a:gd name="T5" fmla="*/ 30 h 55"/>
                <a:gd name="T6" fmla="*/ 0 w 35"/>
                <a:gd name="T7" fmla="*/ 0 h 55"/>
                <a:gd name="T8" fmla="*/ 35 w 35"/>
                <a:gd name="T9" fmla="*/ 2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55">
                  <a:moveTo>
                    <a:pt x="35" y="24"/>
                  </a:moveTo>
                  <a:lnTo>
                    <a:pt x="35" y="5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" name="Freeform 254"/>
            <p:cNvSpPr>
              <a:spLocks/>
            </p:cNvSpPr>
            <p:nvPr/>
          </p:nvSpPr>
          <p:spPr bwMode="auto">
            <a:xfrm>
              <a:off x="2631" y="3132"/>
              <a:ext cx="35" cy="54"/>
            </a:xfrm>
            <a:custGeom>
              <a:avLst/>
              <a:gdLst>
                <a:gd name="T0" fmla="*/ 35 w 35"/>
                <a:gd name="T1" fmla="*/ 26 h 54"/>
                <a:gd name="T2" fmla="*/ 35 w 35"/>
                <a:gd name="T3" fmla="*/ 54 h 54"/>
                <a:gd name="T4" fmla="*/ 0 w 35"/>
                <a:gd name="T5" fmla="*/ 28 h 54"/>
                <a:gd name="T6" fmla="*/ 0 w 35"/>
                <a:gd name="T7" fmla="*/ 0 h 54"/>
                <a:gd name="T8" fmla="*/ 35 w 35"/>
                <a:gd name="T9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54">
                  <a:moveTo>
                    <a:pt x="35" y="26"/>
                  </a:moveTo>
                  <a:lnTo>
                    <a:pt x="35" y="54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" name="Freeform 255"/>
            <p:cNvSpPr>
              <a:spLocks/>
            </p:cNvSpPr>
            <p:nvPr/>
          </p:nvSpPr>
          <p:spPr bwMode="auto">
            <a:xfrm>
              <a:off x="2594" y="3108"/>
              <a:ext cx="34" cy="52"/>
            </a:xfrm>
            <a:custGeom>
              <a:avLst/>
              <a:gdLst>
                <a:gd name="T0" fmla="*/ 34 w 34"/>
                <a:gd name="T1" fmla="*/ 24 h 52"/>
                <a:gd name="T2" fmla="*/ 34 w 34"/>
                <a:gd name="T3" fmla="*/ 52 h 52"/>
                <a:gd name="T4" fmla="*/ 0 w 34"/>
                <a:gd name="T5" fmla="*/ 28 h 52"/>
                <a:gd name="T6" fmla="*/ 0 w 34"/>
                <a:gd name="T7" fmla="*/ 0 h 52"/>
                <a:gd name="T8" fmla="*/ 34 w 34"/>
                <a:gd name="T9" fmla="*/ 2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52">
                  <a:moveTo>
                    <a:pt x="34" y="24"/>
                  </a:moveTo>
                  <a:lnTo>
                    <a:pt x="34" y="5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" name="Freeform 256"/>
            <p:cNvSpPr>
              <a:spLocks/>
            </p:cNvSpPr>
            <p:nvPr/>
          </p:nvSpPr>
          <p:spPr bwMode="auto">
            <a:xfrm>
              <a:off x="2575" y="3095"/>
              <a:ext cx="17" cy="38"/>
            </a:xfrm>
            <a:custGeom>
              <a:avLst/>
              <a:gdLst>
                <a:gd name="T0" fmla="*/ 17 w 17"/>
                <a:gd name="T1" fmla="*/ 10 h 38"/>
                <a:gd name="T2" fmla="*/ 17 w 17"/>
                <a:gd name="T3" fmla="*/ 38 h 38"/>
                <a:gd name="T4" fmla="*/ 0 w 17"/>
                <a:gd name="T5" fmla="*/ 27 h 38"/>
                <a:gd name="T6" fmla="*/ 0 w 17"/>
                <a:gd name="T7" fmla="*/ 0 h 38"/>
                <a:gd name="T8" fmla="*/ 17 w 17"/>
                <a:gd name="T9" fmla="*/ 1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38">
                  <a:moveTo>
                    <a:pt x="17" y="10"/>
                  </a:moveTo>
                  <a:lnTo>
                    <a:pt x="17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" name="Freeform 257"/>
            <p:cNvSpPr>
              <a:spLocks/>
            </p:cNvSpPr>
            <p:nvPr/>
          </p:nvSpPr>
          <p:spPr bwMode="auto">
            <a:xfrm>
              <a:off x="2704" y="3257"/>
              <a:ext cx="11" cy="40"/>
            </a:xfrm>
            <a:custGeom>
              <a:avLst/>
              <a:gdLst>
                <a:gd name="T0" fmla="*/ 11 w 11"/>
                <a:gd name="T1" fmla="*/ 9 h 40"/>
                <a:gd name="T2" fmla="*/ 11 w 11"/>
                <a:gd name="T3" fmla="*/ 40 h 40"/>
                <a:gd name="T4" fmla="*/ 0 w 11"/>
                <a:gd name="T5" fmla="*/ 32 h 40"/>
                <a:gd name="T6" fmla="*/ 0 w 11"/>
                <a:gd name="T7" fmla="*/ 0 h 40"/>
                <a:gd name="T8" fmla="*/ 11 w 11"/>
                <a:gd name="T9" fmla="*/ 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40">
                  <a:moveTo>
                    <a:pt x="11" y="9"/>
                  </a:moveTo>
                  <a:lnTo>
                    <a:pt x="11" y="40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1" name="Freeform 258"/>
            <p:cNvSpPr>
              <a:spLocks/>
            </p:cNvSpPr>
            <p:nvPr/>
          </p:nvSpPr>
          <p:spPr bwMode="auto">
            <a:xfrm>
              <a:off x="2667" y="3229"/>
              <a:ext cx="35" cy="57"/>
            </a:xfrm>
            <a:custGeom>
              <a:avLst/>
              <a:gdLst>
                <a:gd name="T0" fmla="*/ 35 w 35"/>
                <a:gd name="T1" fmla="*/ 27 h 57"/>
                <a:gd name="T2" fmla="*/ 35 w 35"/>
                <a:gd name="T3" fmla="*/ 57 h 57"/>
                <a:gd name="T4" fmla="*/ 0 w 35"/>
                <a:gd name="T5" fmla="*/ 29 h 57"/>
                <a:gd name="T6" fmla="*/ 0 w 35"/>
                <a:gd name="T7" fmla="*/ 0 h 57"/>
                <a:gd name="T8" fmla="*/ 35 w 35"/>
                <a:gd name="T9" fmla="*/ 2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57">
                  <a:moveTo>
                    <a:pt x="35" y="27"/>
                  </a:moveTo>
                  <a:lnTo>
                    <a:pt x="35" y="5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2" name="Freeform 259"/>
            <p:cNvSpPr>
              <a:spLocks/>
            </p:cNvSpPr>
            <p:nvPr/>
          </p:nvSpPr>
          <p:spPr bwMode="auto">
            <a:xfrm>
              <a:off x="2631" y="3201"/>
              <a:ext cx="35" cy="56"/>
            </a:xfrm>
            <a:custGeom>
              <a:avLst/>
              <a:gdLst>
                <a:gd name="T0" fmla="*/ 35 w 35"/>
                <a:gd name="T1" fmla="*/ 28 h 56"/>
                <a:gd name="T2" fmla="*/ 35 w 35"/>
                <a:gd name="T3" fmla="*/ 56 h 56"/>
                <a:gd name="T4" fmla="*/ 0 w 35"/>
                <a:gd name="T5" fmla="*/ 28 h 56"/>
                <a:gd name="T6" fmla="*/ 0 w 35"/>
                <a:gd name="T7" fmla="*/ 0 h 56"/>
                <a:gd name="T8" fmla="*/ 35 w 35"/>
                <a:gd name="T9" fmla="*/ 2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56">
                  <a:moveTo>
                    <a:pt x="35" y="28"/>
                  </a:moveTo>
                  <a:lnTo>
                    <a:pt x="35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Freeform 260"/>
            <p:cNvSpPr>
              <a:spLocks/>
            </p:cNvSpPr>
            <p:nvPr/>
          </p:nvSpPr>
          <p:spPr bwMode="auto">
            <a:xfrm>
              <a:off x="2594" y="3172"/>
              <a:ext cx="34" cy="56"/>
            </a:xfrm>
            <a:custGeom>
              <a:avLst/>
              <a:gdLst>
                <a:gd name="T0" fmla="*/ 34 w 34"/>
                <a:gd name="T1" fmla="*/ 28 h 56"/>
                <a:gd name="T2" fmla="*/ 34 w 34"/>
                <a:gd name="T3" fmla="*/ 56 h 56"/>
                <a:gd name="T4" fmla="*/ 0 w 34"/>
                <a:gd name="T5" fmla="*/ 28 h 56"/>
                <a:gd name="T6" fmla="*/ 0 w 34"/>
                <a:gd name="T7" fmla="*/ 0 h 56"/>
                <a:gd name="T8" fmla="*/ 34 w 34"/>
                <a:gd name="T9" fmla="*/ 2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56">
                  <a:moveTo>
                    <a:pt x="34" y="28"/>
                  </a:moveTo>
                  <a:lnTo>
                    <a:pt x="34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4" name="Freeform 261"/>
            <p:cNvSpPr>
              <a:spLocks/>
            </p:cNvSpPr>
            <p:nvPr/>
          </p:nvSpPr>
          <p:spPr bwMode="auto">
            <a:xfrm>
              <a:off x="2575" y="3158"/>
              <a:ext cx="17" cy="41"/>
            </a:xfrm>
            <a:custGeom>
              <a:avLst/>
              <a:gdLst>
                <a:gd name="T0" fmla="*/ 17 w 17"/>
                <a:gd name="T1" fmla="*/ 13 h 41"/>
                <a:gd name="T2" fmla="*/ 17 w 17"/>
                <a:gd name="T3" fmla="*/ 41 h 41"/>
                <a:gd name="T4" fmla="*/ 0 w 17"/>
                <a:gd name="T5" fmla="*/ 25 h 41"/>
                <a:gd name="T6" fmla="*/ 0 w 17"/>
                <a:gd name="T7" fmla="*/ 0 h 41"/>
                <a:gd name="T8" fmla="*/ 17 w 17"/>
                <a:gd name="T9" fmla="*/ 1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41">
                  <a:moveTo>
                    <a:pt x="17" y="13"/>
                  </a:moveTo>
                  <a:lnTo>
                    <a:pt x="17" y="4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5" name="Freeform 262"/>
            <p:cNvSpPr>
              <a:spLocks/>
            </p:cNvSpPr>
            <p:nvPr/>
          </p:nvSpPr>
          <p:spPr bwMode="auto">
            <a:xfrm>
              <a:off x="2704" y="3332"/>
              <a:ext cx="12" cy="41"/>
            </a:xfrm>
            <a:custGeom>
              <a:avLst/>
              <a:gdLst>
                <a:gd name="T0" fmla="*/ 12 w 12"/>
                <a:gd name="T1" fmla="*/ 10 h 41"/>
                <a:gd name="T2" fmla="*/ 12 w 12"/>
                <a:gd name="T3" fmla="*/ 41 h 41"/>
                <a:gd name="T4" fmla="*/ 0 w 12"/>
                <a:gd name="T5" fmla="*/ 30 h 41"/>
                <a:gd name="T6" fmla="*/ 0 w 12"/>
                <a:gd name="T7" fmla="*/ 0 h 41"/>
                <a:gd name="T8" fmla="*/ 12 w 12"/>
                <a:gd name="T9" fmla="*/ 1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41">
                  <a:moveTo>
                    <a:pt x="12" y="10"/>
                  </a:moveTo>
                  <a:lnTo>
                    <a:pt x="12" y="4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" name="Freeform 263"/>
            <p:cNvSpPr>
              <a:spLocks/>
            </p:cNvSpPr>
            <p:nvPr/>
          </p:nvSpPr>
          <p:spPr bwMode="auto">
            <a:xfrm>
              <a:off x="2667" y="3300"/>
              <a:ext cx="35" cy="59"/>
            </a:xfrm>
            <a:custGeom>
              <a:avLst/>
              <a:gdLst>
                <a:gd name="T0" fmla="*/ 35 w 35"/>
                <a:gd name="T1" fmla="*/ 30 h 59"/>
                <a:gd name="T2" fmla="*/ 35 w 35"/>
                <a:gd name="T3" fmla="*/ 59 h 59"/>
                <a:gd name="T4" fmla="*/ 0 w 35"/>
                <a:gd name="T5" fmla="*/ 30 h 59"/>
                <a:gd name="T6" fmla="*/ 0 w 35"/>
                <a:gd name="T7" fmla="*/ 0 h 59"/>
                <a:gd name="T8" fmla="*/ 35 w 35"/>
                <a:gd name="T9" fmla="*/ 3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59">
                  <a:moveTo>
                    <a:pt x="35" y="30"/>
                  </a:moveTo>
                  <a:lnTo>
                    <a:pt x="35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" name="Freeform 264"/>
            <p:cNvSpPr>
              <a:spLocks/>
            </p:cNvSpPr>
            <p:nvPr/>
          </p:nvSpPr>
          <p:spPr bwMode="auto">
            <a:xfrm>
              <a:off x="2631" y="3269"/>
              <a:ext cx="35" cy="59"/>
            </a:xfrm>
            <a:custGeom>
              <a:avLst/>
              <a:gdLst>
                <a:gd name="T0" fmla="*/ 35 w 35"/>
                <a:gd name="T1" fmla="*/ 30 h 59"/>
                <a:gd name="T2" fmla="*/ 35 w 35"/>
                <a:gd name="T3" fmla="*/ 59 h 59"/>
                <a:gd name="T4" fmla="*/ 0 w 35"/>
                <a:gd name="T5" fmla="*/ 28 h 59"/>
                <a:gd name="T6" fmla="*/ 0 w 35"/>
                <a:gd name="T7" fmla="*/ 0 h 59"/>
                <a:gd name="T8" fmla="*/ 35 w 35"/>
                <a:gd name="T9" fmla="*/ 3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59">
                  <a:moveTo>
                    <a:pt x="35" y="30"/>
                  </a:moveTo>
                  <a:lnTo>
                    <a:pt x="35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" name="Freeform 265"/>
            <p:cNvSpPr>
              <a:spLocks/>
            </p:cNvSpPr>
            <p:nvPr/>
          </p:nvSpPr>
          <p:spPr bwMode="auto">
            <a:xfrm>
              <a:off x="2594" y="3237"/>
              <a:ext cx="34" cy="59"/>
            </a:xfrm>
            <a:custGeom>
              <a:avLst/>
              <a:gdLst>
                <a:gd name="T0" fmla="*/ 34 w 34"/>
                <a:gd name="T1" fmla="*/ 31 h 59"/>
                <a:gd name="T2" fmla="*/ 34 w 34"/>
                <a:gd name="T3" fmla="*/ 59 h 59"/>
                <a:gd name="T4" fmla="*/ 0 w 34"/>
                <a:gd name="T5" fmla="*/ 28 h 59"/>
                <a:gd name="T6" fmla="*/ 0 w 34"/>
                <a:gd name="T7" fmla="*/ 0 h 59"/>
                <a:gd name="T8" fmla="*/ 34 w 34"/>
                <a:gd name="T9" fmla="*/ 3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59">
                  <a:moveTo>
                    <a:pt x="34" y="31"/>
                  </a:moveTo>
                  <a:lnTo>
                    <a:pt x="34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" name="Freeform 266"/>
            <p:cNvSpPr>
              <a:spLocks/>
            </p:cNvSpPr>
            <p:nvPr/>
          </p:nvSpPr>
          <p:spPr bwMode="auto">
            <a:xfrm>
              <a:off x="2575" y="3222"/>
              <a:ext cx="17" cy="42"/>
            </a:xfrm>
            <a:custGeom>
              <a:avLst/>
              <a:gdLst>
                <a:gd name="T0" fmla="*/ 17 w 17"/>
                <a:gd name="T1" fmla="*/ 14 h 42"/>
                <a:gd name="T2" fmla="*/ 17 w 17"/>
                <a:gd name="T3" fmla="*/ 42 h 42"/>
                <a:gd name="T4" fmla="*/ 0 w 17"/>
                <a:gd name="T5" fmla="*/ 27 h 42"/>
                <a:gd name="T6" fmla="*/ 0 w 17"/>
                <a:gd name="T7" fmla="*/ 0 h 42"/>
                <a:gd name="T8" fmla="*/ 17 w 17"/>
                <a:gd name="T9" fmla="*/ 14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42">
                  <a:moveTo>
                    <a:pt x="17" y="14"/>
                  </a:moveTo>
                  <a:lnTo>
                    <a:pt x="17" y="42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0" name="Freeform 267"/>
            <p:cNvSpPr>
              <a:spLocks/>
            </p:cNvSpPr>
            <p:nvPr/>
          </p:nvSpPr>
          <p:spPr bwMode="auto">
            <a:xfrm>
              <a:off x="2704" y="3408"/>
              <a:ext cx="11" cy="38"/>
            </a:xfrm>
            <a:custGeom>
              <a:avLst/>
              <a:gdLst>
                <a:gd name="T0" fmla="*/ 11 w 11"/>
                <a:gd name="T1" fmla="*/ 8 h 38"/>
                <a:gd name="T2" fmla="*/ 11 w 11"/>
                <a:gd name="T3" fmla="*/ 38 h 38"/>
                <a:gd name="T4" fmla="*/ 0 w 11"/>
                <a:gd name="T5" fmla="*/ 27 h 38"/>
                <a:gd name="T6" fmla="*/ 0 w 11"/>
                <a:gd name="T7" fmla="*/ 0 h 38"/>
                <a:gd name="T8" fmla="*/ 11 w 11"/>
                <a:gd name="T9" fmla="*/ 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38">
                  <a:moveTo>
                    <a:pt x="11" y="8"/>
                  </a:moveTo>
                  <a:lnTo>
                    <a:pt x="11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1" name="Freeform 268"/>
            <p:cNvSpPr>
              <a:spLocks/>
            </p:cNvSpPr>
            <p:nvPr/>
          </p:nvSpPr>
          <p:spPr bwMode="auto">
            <a:xfrm>
              <a:off x="2667" y="3372"/>
              <a:ext cx="35" cy="63"/>
            </a:xfrm>
            <a:custGeom>
              <a:avLst/>
              <a:gdLst>
                <a:gd name="T0" fmla="*/ 35 w 35"/>
                <a:gd name="T1" fmla="*/ 32 h 63"/>
                <a:gd name="T2" fmla="*/ 35 w 35"/>
                <a:gd name="T3" fmla="*/ 63 h 63"/>
                <a:gd name="T4" fmla="*/ 0 w 35"/>
                <a:gd name="T5" fmla="*/ 29 h 63"/>
                <a:gd name="T6" fmla="*/ 0 w 35"/>
                <a:gd name="T7" fmla="*/ 0 h 63"/>
                <a:gd name="T8" fmla="*/ 35 w 35"/>
                <a:gd name="T9" fmla="*/ 3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63">
                  <a:moveTo>
                    <a:pt x="35" y="32"/>
                  </a:moveTo>
                  <a:lnTo>
                    <a:pt x="35" y="63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" name="Freeform 269"/>
            <p:cNvSpPr>
              <a:spLocks/>
            </p:cNvSpPr>
            <p:nvPr/>
          </p:nvSpPr>
          <p:spPr bwMode="auto">
            <a:xfrm>
              <a:off x="2631" y="3338"/>
              <a:ext cx="35" cy="60"/>
            </a:xfrm>
            <a:custGeom>
              <a:avLst/>
              <a:gdLst>
                <a:gd name="T0" fmla="*/ 35 w 35"/>
                <a:gd name="T1" fmla="*/ 32 h 60"/>
                <a:gd name="T2" fmla="*/ 35 w 35"/>
                <a:gd name="T3" fmla="*/ 60 h 60"/>
                <a:gd name="T4" fmla="*/ 0 w 35"/>
                <a:gd name="T5" fmla="*/ 28 h 60"/>
                <a:gd name="T6" fmla="*/ 0 w 35"/>
                <a:gd name="T7" fmla="*/ 0 h 60"/>
                <a:gd name="T8" fmla="*/ 35 w 35"/>
                <a:gd name="T9" fmla="*/ 3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60">
                  <a:moveTo>
                    <a:pt x="35" y="32"/>
                  </a:moveTo>
                  <a:lnTo>
                    <a:pt x="35" y="60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Freeform 270"/>
            <p:cNvSpPr>
              <a:spLocks/>
            </p:cNvSpPr>
            <p:nvPr/>
          </p:nvSpPr>
          <p:spPr bwMode="auto">
            <a:xfrm>
              <a:off x="2593" y="3302"/>
              <a:ext cx="35" cy="61"/>
            </a:xfrm>
            <a:custGeom>
              <a:avLst/>
              <a:gdLst>
                <a:gd name="T0" fmla="*/ 35 w 35"/>
                <a:gd name="T1" fmla="*/ 35 h 61"/>
                <a:gd name="T2" fmla="*/ 35 w 35"/>
                <a:gd name="T3" fmla="*/ 61 h 61"/>
                <a:gd name="T4" fmla="*/ 0 w 35"/>
                <a:gd name="T5" fmla="*/ 29 h 61"/>
                <a:gd name="T6" fmla="*/ 0 w 35"/>
                <a:gd name="T7" fmla="*/ 0 h 61"/>
                <a:gd name="T8" fmla="*/ 35 w 35"/>
                <a:gd name="T9" fmla="*/ 3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61">
                  <a:moveTo>
                    <a:pt x="35" y="35"/>
                  </a:moveTo>
                  <a:lnTo>
                    <a:pt x="35" y="6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4" name="Freeform 271"/>
            <p:cNvSpPr>
              <a:spLocks/>
            </p:cNvSpPr>
            <p:nvPr/>
          </p:nvSpPr>
          <p:spPr bwMode="auto">
            <a:xfrm>
              <a:off x="2575" y="3286"/>
              <a:ext cx="17" cy="42"/>
            </a:xfrm>
            <a:custGeom>
              <a:avLst/>
              <a:gdLst>
                <a:gd name="T0" fmla="*/ 17 w 17"/>
                <a:gd name="T1" fmla="*/ 14 h 42"/>
                <a:gd name="T2" fmla="*/ 17 w 17"/>
                <a:gd name="T3" fmla="*/ 42 h 42"/>
                <a:gd name="T4" fmla="*/ 0 w 17"/>
                <a:gd name="T5" fmla="*/ 26 h 42"/>
                <a:gd name="T6" fmla="*/ 0 w 17"/>
                <a:gd name="T7" fmla="*/ 0 h 42"/>
                <a:gd name="T8" fmla="*/ 17 w 17"/>
                <a:gd name="T9" fmla="*/ 14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42">
                  <a:moveTo>
                    <a:pt x="17" y="14"/>
                  </a:moveTo>
                  <a:lnTo>
                    <a:pt x="17" y="4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5" name="Freeform 272"/>
            <p:cNvSpPr>
              <a:spLocks/>
            </p:cNvSpPr>
            <p:nvPr/>
          </p:nvSpPr>
          <p:spPr bwMode="auto">
            <a:xfrm>
              <a:off x="2704" y="3479"/>
              <a:ext cx="11" cy="44"/>
            </a:xfrm>
            <a:custGeom>
              <a:avLst/>
              <a:gdLst>
                <a:gd name="T0" fmla="*/ 11 w 11"/>
                <a:gd name="T1" fmla="*/ 13 h 44"/>
                <a:gd name="T2" fmla="*/ 11 w 11"/>
                <a:gd name="T3" fmla="*/ 44 h 44"/>
                <a:gd name="T4" fmla="*/ 0 w 11"/>
                <a:gd name="T5" fmla="*/ 32 h 44"/>
                <a:gd name="T6" fmla="*/ 0 w 11"/>
                <a:gd name="T7" fmla="*/ 0 h 44"/>
                <a:gd name="T8" fmla="*/ 11 w 11"/>
                <a:gd name="T9" fmla="*/ 1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44">
                  <a:moveTo>
                    <a:pt x="11" y="13"/>
                  </a:moveTo>
                  <a:lnTo>
                    <a:pt x="11" y="44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1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" name="Freeform 273"/>
            <p:cNvSpPr>
              <a:spLocks/>
            </p:cNvSpPr>
            <p:nvPr/>
          </p:nvSpPr>
          <p:spPr bwMode="auto">
            <a:xfrm>
              <a:off x="2667" y="3443"/>
              <a:ext cx="35" cy="65"/>
            </a:xfrm>
            <a:custGeom>
              <a:avLst/>
              <a:gdLst>
                <a:gd name="T0" fmla="*/ 35 w 35"/>
                <a:gd name="T1" fmla="*/ 35 h 65"/>
                <a:gd name="T2" fmla="*/ 35 w 35"/>
                <a:gd name="T3" fmla="*/ 65 h 65"/>
                <a:gd name="T4" fmla="*/ 0 w 35"/>
                <a:gd name="T5" fmla="*/ 29 h 65"/>
                <a:gd name="T6" fmla="*/ 0 w 35"/>
                <a:gd name="T7" fmla="*/ 0 h 65"/>
                <a:gd name="T8" fmla="*/ 35 w 35"/>
                <a:gd name="T9" fmla="*/ 3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65">
                  <a:moveTo>
                    <a:pt x="35" y="35"/>
                  </a:moveTo>
                  <a:lnTo>
                    <a:pt x="35" y="65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" name="Freeform 274"/>
            <p:cNvSpPr>
              <a:spLocks/>
            </p:cNvSpPr>
            <p:nvPr/>
          </p:nvSpPr>
          <p:spPr bwMode="auto">
            <a:xfrm>
              <a:off x="2631" y="3405"/>
              <a:ext cx="35" cy="65"/>
            </a:xfrm>
            <a:custGeom>
              <a:avLst/>
              <a:gdLst>
                <a:gd name="T0" fmla="*/ 35 w 35"/>
                <a:gd name="T1" fmla="*/ 37 h 65"/>
                <a:gd name="T2" fmla="*/ 35 w 35"/>
                <a:gd name="T3" fmla="*/ 65 h 65"/>
                <a:gd name="T4" fmla="*/ 0 w 35"/>
                <a:gd name="T5" fmla="*/ 30 h 65"/>
                <a:gd name="T6" fmla="*/ 0 w 35"/>
                <a:gd name="T7" fmla="*/ 0 h 65"/>
                <a:gd name="T8" fmla="*/ 35 w 35"/>
                <a:gd name="T9" fmla="*/ 37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65">
                  <a:moveTo>
                    <a:pt x="35" y="37"/>
                  </a:moveTo>
                  <a:lnTo>
                    <a:pt x="35" y="6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" name="Freeform 275"/>
            <p:cNvSpPr>
              <a:spLocks/>
            </p:cNvSpPr>
            <p:nvPr/>
          </p:nvSpPr>
          <p:spPr bwMode="auto">
            <a:xfrm>
              <a:off x="2594" y="3369"/>
              <a:ext cx="34" cy="63"/>
            </a:xfrm>
            <a:custGeom>
              <a:avLst/>
              <a:gdLst>
                <a:gd name="T0" fmla="*/ 34 w 34"/>
                <a:gd name="T1" fmla="*/ 35 h 63"/>
                <a:gd name="T2" fmla="*/ 34 w 34"/>
                <a:gd name="T3" fmla="*/ 63 h 63"/>
                <a:gd name="T4" fmla="*/ 0 w 34"/>
                <a:gd name="T5" fmla="*/ 28 h 63"/>
                <a:gd name="T6" fmla="*/ 0 w 34"/>
                <a:gd name="T7" fmla="*/ 0 h 63"/>
                <a:gd name="T8" fmla="*/ 34 w 34"/>
                <a:gd name="T9" fmla="*/ 3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63">
                  <a:moveTo>
                    <a:pt x="34" y="35"/>
                  </a:moveTo>
                  <a:lnTo>
                    <a:pt x="34" y="6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5"/>
                  </a:lnTo>
                  <a:close/>
                </a:path>
              </a:pathLst>
            </a:custGeom>
            <a:solidFill>
              <a:srgbClr val="2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" name="Freeform 276"/>
            <p:cNvSpPr>
              <a:spLocks/>
            </p:cNvSpPr>
            <p:nvPr/>
          </p:nvSpPr>
          <p:spPr bwMode="auto">
            <a:xfrm>
              <a:off x="2575" y="3352"/>
              <a:ext cx="17" cy="44"/>
            </a:xfrm>
            <a:custGeom>
              <a:avLst/>
              <a:gdLst>
                <a:gd name="T0" fmla="*/ 17 w 17"/>
                <a:gd name="T1" fmla="*/ 16 h 44"/>
                <a:gd name="T2" fmla="*/ 17 w 17"/>
                <a:gd name="T3" fmla="*/ 44 h 44"/>
                <a:gd name="T4" fmla="*/ 0 w 17"/>
                <a:gd name="T5" fmla="*/ 24 h 44"/>
                <a:gd name="T6" fmla="*/ 0 w 17"/>
                <a:gd name="T7" fmla="*/ 0 h 44"/>
                <a:gd name="T8" fmla="*/ 17 w 17"/>
                <a:gd name="T9" fmla="*/ 1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44">
                  <a:moveTo>
                    <a:pt x="17" y="16"/>
                  </a:moveTo>
                  <a:lnTo>
                    <a:pt x="17" y="4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17" y="1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0" name="Freeform 277"/>
            <p:cNvSpPr>
              <a:spLocks/>
            </p:cNvSpPr>
            <p:nvPr/>
          </p:nvSpPr>
          <p:spPr bwMode="auto">
            <a:xfrm>
              <a:off x="2575" y="3383"/>
              <a:ext cx="29" cy="55"/>
            </a:xfrm>
            <a:custGeom>
              <a:avLst/>
              <a:gdLst>
                <a:gd name="T0" fmla="*/ 29 w 29"/>
                <a:gd name="T1" fmla="*/ 30 h 55"/>
                <a:gd name="T2" fmla="*/ 29 w 29"/>
                <a:gd name="T3" fmla="*/ 55 h 55"/>
                <a:gd name="T4" fmla="*/ 0 w 29"/>
                <a:gd name="T5" fmla="*/ 27 h 55"/>
                <a:gd name="T6" fmla="*/ 0 w 29"/>
                <a:gd name="T7" fmla="*/ 0 h 55"/>
                <a:gd name="T8" fmla="*/ 29 w 29"/>
                <a:gd name="T9" fmla="*/ 3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55">
                  <a:moveTo>
                    <a:pt x="29" y="30"/>
                  </a:moveTo>
                  <a:lnTo>
                    <a:pt x="29" y="55"/>
                  </a:lnTo>
                  <a:lnTo>
                    <a:pt x="0" y="27"/>
                  </a:lnTo>
                  <a:lnTo>
                    <a:pt x="0" y="0"/>
                  </a:lnTo>
                  <a:lnTo>
                    <a:pt x="29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1" name="Freeform 278"/>
            <p:cNvSpPr>
              <a:spLocks/>
            </p:cNvSpPr>
            <p:nvPr/>
          </p:nvSpPr>
          <p:spPr bwMode="auto">
            <a:xfrm>
              <a:off x="2676" y="3486"/>
              <a:ext cx="39" cy="71"/>
            </a:xfrm>
            <a:custGeom>
              <a:avLst/>
              <a:gdLst>
                <a:gd name="T0" fmla="*/ 39 w 39"/>
                <a:gd name="T1" fmla="*/ 43 h 71"/>
                <a:gd name="T2" fmla="*/ 39 w 39"/>
                <a:gd name="T3" fmla="*/ 71 h 71"/>
                <a:gd name="T4" fmla="*/ 0 w 39"/>
                <a:gd name="T5" fmla="*/ 30 h 71"/>
                <a:gd name="T6" fmla="*/ 0 w 39"/>
                <a:gd name="T7" fmla="*/ 0 h 71"/>
                <a:gd name="T8" fmla="*/ 39 w 39"/>
                <a:gd name="T9" fmla="*/ 4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71">
                  <a:moveTo>
                    <a:pt x="39" y="43"/>
                  </a:moveTo>
                  <a:lnTo>
                    <a:pt x="39" y="7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4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2" name="Freeform 279"/>
            <p:cNvSpPr>
              <a:spLocks/>
            </p:cNvSpPr>
            <p:nvPr/>
          </p:nvSpPr>
          <p:spPr bwMode="auto">
            <a:xfrm>
              <a:off x="2642" y="3451"/>
              <a:ext cx="32" cy="64"/>
            </a:xfrm>
            <a:custGeom>
              <a:avLst/>
              <a:gdLst>
                <a:gd name="T0" fmla="*/ 32 w 32"/>
                <a:gd name="T1" fmla="*/ 34 h 64"/>
                <a:gd name="T2" fmla="*/ 32 w 32"/>
                <a:gd name="T3" fmla="*/ 64 h 64"/>
                <a:gd name="T4" fmla="*/ 0 w 32"/>
                <a:gd name="T5" fmla="*/ 29 h 64"/>
                <a:gd name="T6" fmla="*/ 0 w 32"/>
                <a:gd name="T7" fmla="*/ 0 h 64"/>
                <a:gd name="T8" fmla="*/ 32 w 32"/>
                <a:gd name="T9" fmla="*/ 3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4">
                  <a:moveTo>
                    <a:pt x="32" y="34"/>
                  </a:moveTo>
                  <a:lnTo>
                    <a:pt x="32" y="64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3" name="Freeform 280"/>
            <p:cNvSpPr>
              <a:spLocks/>
            </p:cNvSpPr>
            <p:nvPr/>
          </p:nvSpPr>
          <p:spPr bwMode="auto">
            <a:xfrm>
              <a:off x="2606" y="3415"/>
              <a:ext cx="34" cy="62"/>
            </a:xfrm>
            <a:custGeom>
              <a:avLst/>
              <a:gdLst>
                <a:gd name="T0" fmla="*/ 34 w 34"/>
                <a:gd name="T1" fmla="*/ 34 h 62"/>
                <a:gd name="T2" fmla="*/ 34 w 34"/>
                <a:gd name="T3" fmla="*/ 62 h 62"/>
                <a:gd name="T4" fmla="*/ 0 w 34"/>
                <a:gd name="T5" fmla="*/ 26 h 62"/>
                <a:gd name="T6" fmla="*/ 0 w 34"/>
                <a:gd name="T7" fmla="*/ 0 h 62"/>
                <a:gd name="T8" fmla="*/ 34 w 34"/>
                <a:gd name="T9" fmla="*/ 3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62">
                  <a:moveTo>
                    <a:pt x="34" y="34"/>
                  </a:moveTo>
                  <a:lnTo>
                    <a:pt x="34" y="6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" name="Freeform 281"/>
            <p:cNvSpPr>
              <a:spLocks/>
            </p:cNvSpPr>
            <p:nvPr/>
          </p:nvSpPr>
          <p:spPr bwMode="auto">
            <a:xfrm>
              <a:off x="2575" y="2999"/>
              <a:ext cx="30" cy="44"/>
            </a:xfrm>
            <a:custGeom>
              <a:avLst/>
              <a:gdLst>
                <a:gd name="T0" fmla="*/ 30 w 30"/>
                <a:gd name="T1" fmla="*/ 17 h 44"/>
                <a:gd name="T2" fmla="*/ 30 w 30"/>
                <a:gd name="T3" fmla="*/ 44 h 44"/>
                <a:gd name="T4" fmla="*/ 0 w 30"/>
                <a:gd name="T5" fmla="*/ 27 h 44"/>
                <a:gd name="T6" fmla="*/ 0 w 30"/>
                <a:gd name="T7" fmla="*/ 0 h 44"/>
                <a:gd name="T8" fmla="*/ 30 w 30"/>
                <a:gd name="T9" fmla="*/ 17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44">
                  <a:moveTo>
                    <a:pt x="30" y="17"/>
                  </a:moveTo>
                  <a:lnTo>
                    <a:pt x="30" y="44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5" name="Freeform 282"/>
            <p:cNvSpPr>
              <a:spLocks/>
            </p:cNvSpPr>
            <p:nvPr/>
          </p:nvSpPr>
          <p:spPr bwMode="auto">
            <a:xfrm>
              <a:off x="2643" y="3037"/>
              <a:ext cx="33" cy="50"/>
            </a:xfrm>
            <a:custGeom>
              <a:avLst/>
              <a:gdLst>
                <a:gd name="T0" fmla="*/ 33 w 33"/>
                <a:gd name="T1" fmla="*/ 19 h 50"/>
                <a:gd name="T2" fmla="*/ 33 w 33"/>
                <a:gd name="T3" fmla="*/ 50 h 50"/>
                <a:gd name="T4" fmla="*/ 0 w 33"/>
                <a:gd name="T5" fmla="*/ 30 h 50"/>
                <a:gd name="T6" fmla="*/ 0 w 33"/>
                <a:gd name="T7" fmla="*/ 0 h 50"/>
                <a:gd name="T8" fmla="*/ 33 w 33"/>
                <a:gd name="T9" fmla="*/ 1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0">
                  <a:moveTo>
                    <a:pt x="33" y="19"/>
                  </a:moveTo>
                  <a:lnTo>
                    <a:pt x="33" y="5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" name="Freeform 283"/>
            <p:cNvSpPr>
              <a:spLocks/>
            </p:cNvSpPr>
            <p:nvPr/>
          </p:nvSpPr>
          <p:spPr bwMode="auto">
            <a:xfrm>
              <a:off x="2607" y="3016"/>
              <a:ext cx="34" cy="49"/>
            </a:xfrm>
            <a:custGeom>
              <a:avLst/>
              <a:gdLst>
                <a:gd name="T0" fmla="*/ 34 w 34"/>
                <a:gd name="T1" fmla="*/ 21 h 49"/>
                <a:gd name="T2" fmla="*/ 34 w 34"/>
                <a:gd name="T3" fmla="*/ 49 h 49"/>
                <a:gd name="T4" fmla="*/ 0 w 34"/>
                <a:gd name="T5" fmla="*/ 28 h 49"/>
                <a:gd name="T6" fmla="*/ 0 w 34"/>
                <a:gd name="T7" fmla="*/ 0 h 49"/>
                <a:gd name="T8" fmla="*/ 34 w 34"/>
                <a:gd name="T9" fmla="*/ 2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9">
                  <a:moveTo>
                    <a:pt x="34" y="21"/>
                  </a:moveTo>
                  <a:lnTo>
                    <a:pt x="34" y="4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" name="Freeform 284"/>
            <p:cNvSpPr>
              <a:spLocks/>
            </p:cNvSpPr>
            <p:nvPr/>
          </p:nvSpPr>
          <p:spPr bwMode="auto">
            <a:xfrm>
              <a:off x="2575" y="3062"/>
              <a:ext cx="30" cy="48"/>
            </a:xfrm>
            <a:custGeom>
              <a:avLst/>
              <a:gdLst>
                <a:gd name="T0" fmla="*/ 30 w 30"/>
                <a:gd name="T1" fmla="*/ 21 h 48"/>
                <a:gd name="T2" fmla="*/ 30 w 30"/>
                <a:gd name="T3" fmla="*/ 48 h 48"/>
                <a:gd name="T4" fmla="*/ 0 w 30"/>
                <a:gd name="T5" fmla="*/ 27 h 48"/>
                <a:gd name="T6" fmla="*/ 0 w 30"/>
                <a:gd name="T7" fmla="*/ 0 h 48"/>
                <a:gd name="T8" fmla="*/ 30 w 30"/>
                <a:gd name="T9" fmla="*/ 21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48">
                  <a:moveTo>
                    <a:pt x="30" y="21"/>
                  </a:moveTo>
                  <a:lnTo>
                    <a:pt x="30" y="4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" name="Freeform 285"/>
            <p:cNvSpPr>
              <a:spLocks/>
            </p:cNvSpPr>
            <p:nvPr/>
          </p:nvSpPr>
          <p:spPr bwMode="auto">
            <a:xfrm>
              <a:off x="2677" y="3130"/>
              <a:ext cx="39" cy="56"/>
            </a:xfrm>
            <a:custGeom>
              <a:avLst/>
              <a:gdLst>
                <a:gd name="T0" fmla="*/ 39 w 39"/>
                <a:gd name="T1" fmla="*/ 25 h 56"/>
                <a:gd name="T2" fmla="*/ 39 w 39"/>
                <a:gd name="T3" fmla="*/ 56 h 56"/>
                <a:gd name="T4" fmla="*/ 0 w 39"/>
                <a:gd name="T5" fmla="*/ 30 h 56"/>
                <a:gd name="T6" fmla="*/ 0 w 39"/>
                <a:gd name="T7" fmla="*/ 0 h 56"/>
                <a:gd name="T8" fmla="*/ 39 w 39"/>
                <a:gd name="T9" fmla="*/ 2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56">
                  <a:moveTo>
                    <a:pt x="39" y="25"/>
                  </a:moveTo>
                  <a:lnTo>
                    <a:pt x="39" y="56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" name="Freeform 286"/>
            <p:cNvSpPr>
              <a:spLocks/>
            </p:cNvSpPr>
            <p:nvPr/>
          </p:nvSpPr>
          <p:spPr bwMode="auto">
            <a:xfrm>
              <a:off x="2643" y="3108"/>
              <a:ext cx="33" cy="51"/>
            </a:xfrm>
            <a:custGeom>
              <a:avLst/>
              <a:gdLst>
                <a:gd name="T0" fmla="*/ 33 w 33"/>
                <a:gd name="T1" fmla="*/ 21 h 51"/>
                <a:gd name="T2" fmla="*/ 33 w 33"/>
                <a:gd name="T3" fmla="*/ 51 h 51"/>
                <a:gd name="T4" fmla="*/ 0 w 33"/>
                <a:gd name="T5" fmla="*/ 29 h 51"/>
                <a:gd name="T6" fmla="*/ 0 w 33"/>
                <a:gd name="T7" fmla="*/ 0 h 51"/>
                <a:gd name="T8" fmla="*/ 33 w 33"/>
                <a:gd name="T9" fmla="*/ 2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1">
                  <a:moveTo>
                    <a:pt x="33" y="21"/>
                  </a:moveTo>
                  <a:lnTo>
                    <a:pt x="33" y="5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3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0" name="Freeform 287"/>
            <p:cNvSpPr>
              <a:spLocks/>
            </p:cNvSpPr>
            <p:nvPr/>
          </p:nvSpPr>
          <p:spPr bwMode="auto">
            <a:xfrm>
              <a:off x="2607" y="3084"/>
              <a:ext cx="34" cy="50"/>
            </a:xfrm>
            <a:custGeom>
              <a:avLst/>
              <a:gdLst>
                <a:gd name="T0" fmla="*/ 34 w 34"/>
                <a:gd name="T1" fmla="*/ 22 h 50"/>
                <a:gd name="T2" fmla="*/ 34 w 34"/>
                <a:gd name="T3" fmla="*/ 50 h 50"/>
                <a:gd name="T4" fmla="*/ 0 w 34"/>
                <a:gd name="T5" fmla="*/ 27 h 50"/>
                <a:gd name="T6" fmla="*/ 0 w 34"/>
                <a:gd name="T7" fmla="*/ 0 h 50"/>
                <a:gd name="T8" fmla="*/ 34 w 34"/>
                <a:gd name="T9" fmla="*/ 2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50">
                  <a:moveTo>
                    <a:pt x="34" y="22"/>
                  </a:moveTo>
                  <a:lnTo>
                    <a:pt x="34" y="50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1" name="Freeform 288"/>
            <p:cNvSpPr>
              <a:spLocks/>
            </p:cNvSpPr>
            <p:nvPr/>
          </p:nvSpPr>
          <p:spPr bwMode="auto">
            <a:xfrm>
              <a:off x="2575" y="3126"/>
              <a:ext cx="30" cy="49"/>
            </a:xfrm>
            <a:custGeom>
              <a:avLst/>
              <a:gdLst>
                <a:gd name="T0" fmla="*/ 30 w 30"/>
                <a:gd name="T1" fmla="*/ 24 h 49"/>
                <a:gd name="T2" fmla="*/ 30 w 30"/>
                <a:gd name="T3" fmla="*/ 49 h 49"/>
                <a:gd name="T4" fmla="*/ 0 w 30"/>
                <a:gd name="T5" fmla="*/ 27 h 49"/>
                <a:gd name="T6" fmla="*/ 0 w 30"/>
                <a:gd name="T7" fmla="*/ 0 h 49"/>
                <a:gd name="T8" fmla="*/ 30 w 30"/>
                <a:gd name="T9" fmla="*/ 2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49">
                  <a:moveTo>
                    <a:pt x="30" y="24"/>
                  </a:moveTo>
                  <a:lnTo>
                    <a:pt x="30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2" name="Freeform 289"/>
            <p:cNvSpPr>
              <a:spLocks/>
            </p:cNvSpPr>
            <p:nvPr/>
          </p:nvSpPr>
          <p:spPr bwMode="auto">
            <a:xfrm>
              <a:off x="2643" y="3176"/>
              <a:ext cx="33" cy="54"/>
            </a:xfrm>
            <a:custGeom>
              <a:avLst/>
              <a:gdLst>
                <a:gd name="T0" fmla="*/ 33 w 33"/>
                <a:gd name="T1" fmla="*/ 24 h 54"/>
                <a:gd name="T2" fmla="*/ 33 w 33"/>
                <a:gd name="T3" fmla="*/ 54 h 54"/>
                <a:gd name="T4" fmla="*/ 0 w 33"/>
                <a:gd name="T5" fmla="*/ 30 h 54"/>
                <a:gd name="T6" fmla="*/ 0 w 33"/>
                <a:gd name="T7" fmla="*/ 0 h 54"/>
                <a:gd name="T8" fmla="*/ 33 w 33"/>
                <a:gd name="T9" fmla="*/ 2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54">
                  <a:moveTo>
                    <a:pt x="33" y="24"/>
                  </a:moveTo>
                  <a:lnTo>
                    <a:pt x="33" y="5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Freeform 290"/>
            <p:cNvSpPr>
              <a:spLocks/>
            </p:cNvSpPr>
            <p:nvPr/>
          </p:nvSpPr>
          <p:spPr bwMode="auto">
            <a:xfrm>
              <a:off x="2607" y="3150"/>
              <a:ext cx="34" cy="53"/>
            </a:xfrm>
            <a:custGeom>
              <a:avLst/>
              <a:gdLst>
                <a:gd name="T0" fmla="*/ 34 w 34"/>
                <a:gd name="T1" fmla="*/ 25 h 53"/>
                <a:gd name="T2" fmla="*/ 34 w 34"/>
                <a:gd name="T3" fmla="*/ 53 h 53"/>
                <a:gd name="T4" fmla="*/ 0 w 34"/>
                <a:gd name="T5" fmla="*/ 28 h 53"/>
                <a:gd name="T6" fmla="*/ 0 w 34"/>
                <a:gd name="T7" fmla="*/ 0 h 53"/>
                <a:gd name="T8" fmla="*/ 34 w 34"/>
                <a:gd name="T9" fmla="*/ 2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53">
                  <a:moveTo>
                    <a:pt x="34" y="25"/>
                  </a:moveTo>
                  <a:lnTo>
                    <a:pt x="34" y="5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Freeform 291"/>
            <p:cNvSpPr>
              <a:spLocks/>
            </p:cNvSpPr>
            <p:nvPr/>
          </p:nvSpPr>
          <p:spPr bwMode="auto">
            <a:xfrm>
              <a:off x="2575" y="3191"/>
              <a:ext cx="29" cy="50"/>
            </a:xfrm>
            <a:custGeom>
              <a:avLst/>
              <a:gdLst>
                <a:gd name="T0" fmla="*/ 29 w 29"/>
                <a:gd name="T1" fmla="*/ 23 h 50"/>
                <a:gd name="T2" fmla="*/ 29 w 29"/>
                <a:gd name="T3" fmla="*/ 50 h 50"/>
                <a:gd name="T4" fmla="*/ 0 w 29"/>
                <a:gd name="T5" fmla="*/ 26 h 50"/>
                <a:gd name="T6" fmla="*/ 0 w 29"/>
                <a:gd name="T7" fmla="*/ 0 h 50"/>
                <a:gd name="T8" fmla="*/ 29 w 29"/>
                <a:gd name="T9" fmla="*/ 2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50">
                  <a:moveTo>
                    <a:pt x="29" y="23"/>
                  </a:moveTo>
                  <a:lnTo>
                    <a:pt x="29" y="50"/>
                  </a:lnTo>
                  <a:lnTo>
                    <a:pt x="0" y="26"/>
                  </a:lnTo>
                  <a:lnTo>
                    <a:pt x="0" y="0"/>
                  </a:lnTo>
                  <a:lnTo>
                    <a:pt x="29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5" name="Freeform 292"/>
            <p:cNvSpPr>
              <a:spLocks/>
            </p:cNvSpPr>
            <p:nvPr/>
          </p:nvSpPr>
          <p:spPr bwMode="auto">
            <a:xfrm>
              <a:off x="2676" y="3271"/>
              <a:ext cx="40" cy="63"/>
            </a:xfrm>
            <a:custGeom>
              <a:avLst/>
              <a:gdLst>
                <a:gd name="T0" fmla="*/ 40 w 40"/>
                <a:gd name="T1" fmla="*/ 33 h 63"/>
                <a:gd name="T2" fmla="*/ 40 w 40"/>
                <a:gd name="T3" fmla="*/ 63 h 63"/>
                <a:gd name="T4" fmla="*/ 0 w 40"/>
                <a:gd name="T5" fmla="*/ 32 h 63"/>
                <a:gd name="T6" fmla="*/ 0 w 40"/>
                <a:gd name="T7" fmla="*/ 0 h 63"/>
                <a:gd name="T8" fmla="*/ 40 w 40"/>
                <a:gd name="T9" fmla="*/ 3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63">
                  <a:moveTo>
                    <a:pt x="40" y="33"/>
                  </a:moveTo>
                  <a:lnTo>
                    <a:pt x="40" y="63"/>
                  </a:lnTo>
                  <a:lnTo>
                    <a:pt x="0" y="32"/>
                  </a:lnTo>
                  <a:lnTo>
                    <a:pt x="0" y="0"/>
                  </a:lnTo>
                  <a:lnTo>
                    <a:pt x="40" y="3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6" name="Freeform 293"/>
            <p:cNvSpPr>
              <a:spLocks/>
            </p:cNvSpPr>
            <p:nvPr/>
          </p:nvSpPr>
          <p:spPr bwMode="auto">
            <a:xfrm>
              <a:off x="2642" y="3244"/>
              <a:ext cx="32" cy="58"/>
            </a:xfrm>
            <a:custGeom>
              <a:avLst/>
              <a:gdLst>
                <a:gd name="T0" fmla="*/ 32 w 32"/>
                <a:gd name="T1" fmla="*/ 26 h 58"/>
                <a:gd name="T2" fmla="*/ 32 w 32"/>
                <a:gd name="T3" fmla="*/ 58 h 58"/>
                <a:gd name="T4" fmla="*/ 0 w 32"/>
                <a:gd name="T5" fmla="*/ 29 h 58"/>
                <a:gd name="T6" fmla="*/ 0 w 32"/>
                <a:gd name="T7" fmla="*/ 0 h 58"/>
                <a:gd name="T8" fmla="*/ 32 w 32"/>
                <a:gd name="T9" fmla="*/ 2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8">
                  <a:moveTo>
                    <a:pt x="32" y="26"/>
                  </a:moveTo>
                  <a:lnTo>
                    <a:pt x="32" y="58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" name="Freeform 294"/>
            <p:cNvSpPr>
              <a:spLocks/>
            </p:cNvSpPr>
            <p:nvPr/>
          </p:nvSpPr>
          <p:spPr bwMode="auto">
            <a:xfrm>
              <a:off x="2606" y="3215"/>
              <a:ext cx="34" cy="56"/>
            </a:xfrm>
            <a:custGeom>
              <a:avLst/>
              <a:gdLst>
                <a:gd name="T0" fmla="*/ 34 w 34"/>
                <a:gd name="T1" fmla="*/ 28 h 56"/>
                <a:gd name="T2" fmla="*/ 34 w 34"/>
                <a:gd name="T3" fmla="*/ 56 h 56"/>
                <a:gd name="T4" fmla="*/ 0 w 34"/>
                <a:gd name="T5" fmla="*/ 29 h 56"/>
                <a:gd name="T6" fmla="*/ 0 w 34"/>
                <a:gd name="T7" fmla="*/ 0 h 56"/>
                <a:gd name="T8" fmla="*/ 34 w 34"/>
                <a:gd name="T9" fmla="*/ 2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56">
                  <a:moveTo>
                    <a:pt x="34" y="28"/>
                  </a:moveTo>
                  <a:lnTo>
                    <a:pt x="34" y="56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" name="Freeform 295"/>
            <p:cNvSpPr>
              <a:spLocks/>
            </p:cNvSpPr>
            <p:nvPr/>
          </p:nvSpPr>
          <p:spPr bwMode="auto">
            <a:xfrm>
              <a:off x="2575" y="3255"/>
              <a:ext cx="29" cy="51"/>
            </a:xfrm>
            <a:custGeom>
              <a:avLst/>
              <a:gdLst>
                <a:gd name="T0" fmla="*/ 29 w 29"/>
                <a:gd name="T1" fmla="*/ 24 h 51"/>
                <a:gd name="T2" fmla="*/ 29 w 29"/>
                <a:gd name="T3" fmla="*/ 51 h 51"/>
                <a:gd name="T4" fmla="*/ 0 w 29"/>
                <a:gd name="T5" fmla="*/ 25 h 51"/>
                <a:gd name="T6" fmla="*/ 0 w 29"/>
                <a:gd name="T7" fmla="*/ 0 h 51"/>
                <a:gd name="T8" fmla="*/ 29 w 29"/>
                <a:gd name="T9" fmla="*/ 2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51">
                  <a:moveTo>
                    <a:pt x="29" y="24"/>
                  </a:moveTo>
                  <a:lnTo>
                    <a:pt x="29" y="5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" name="Freeform 296"/>
            <p:cNvSpPr>
              <a:spLocks/>
            </p:cNvSpPr>
            <p:nvPr/>
          </p:nvSpPr>
          <p:spPr bwMode="auto">
            <a:xfrm>
              <a:off x="2676" y="3344"/>
              <a:ext cx="40" cy="64"/>
            </a:xfrm>
            <a:custGeom>
              <a:avLst/>
              <a:gdLst>
                <a:gd name="T0" fmla="*/ 40 w 40"/>
                <a:gd name="T1" fmla="*/ 35 h 64"/>
                <a:gd name="T2" fmla="*/ 40 w 40"/>
                <a:gd name="T3" fmla="*/ 64 h 64"/>
                <a:gd name="T4" fmla="*/ 0 w 40"/>
                <a:gd name="T5" fmla="*/ 30 h 64"/>
                <a:gd name="T6" fmla="*/ 0 w 40"/>
                <a:gd name="T7" fmla="*/ 0 h 64"/>
                <a:gd name="T8" fmla="*/ 40 w 40"/>
                <a:gd name="T9" fmla="*/ 3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64">
                  <a:moveTo>
                    <a:pt x="40" y="35"/>
                  </a:moveTo>
                  <a:lnTo>
                    <a:pt x="40" y="6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40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0" name="Freeform 297"/>
            <p:cNvSpPr>
              <a:spLocks/>
            </p:cNvSpPr>
            <p:nvPr/>
          </p:nvSpPr>
          <p:spPr bwMode="auto">
            <a:xfrm>
              <a:off x="2642" y="3313"/>
              <a:ext cx="32" cy="60"/>
            </a:xfrm>
            <a:custGeom>
              <a:avLst/>
              <a:gdLst>
                <a:gd name="T0" fmla="*/ 32 w 32"/>
                <a:gd name="T1" fmla="*/ 29 h 60"/>
                <a:gd name="T2" fmla="*/ 32 w 32"/>
                <a:gd name="T3" fmla="*/ 60 h 60"/>
                <a:gd name="T4" fmla="*/ 0 w 32"/>
                <a:gd name="T5" fmla="*/ 29 h 60"/>
                <a:gd name="T6" fmla="*/ 0 w 32"/>
                <a:gd name="T7" fmla="*/ 0 h 60"/>
                <a:gd name="T8" fmla="*/ 32 w 32"/>
                <a:gd name="T9" fmla="*/ 2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0">
                  <a:moveTo>
                    <a:pt x="32" y="29"/>
                  </a:moveTo>
                  <a:lnTo>
                    <a:pt x="32" y="60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1" name="Freeform 298"/>
            <p:cNvSpPr>
              <a:spLocks/>
            </p:cNvSpPr>
            <p:nvPr/>
          </p:nvSpPr>
          <p:spPr bwMode="auto">
            <a:xfrm>
              <a:off x="2606" y="3280"/>
              <a:ext cx="34" cy="60"/>
            </a:xfrm>
            <a:custGeom>
              <a:avLst/>
              <a:gdLst>
                <a:gd name="T0" fmla="*/ 34 w 34"/>
                <a:gd name="T1" fmla="*/ 32 h 60"/>
                <a:gd name="T2" fmla="*/ 34 w 34"/>
                <a:gd name="T3" fmla="*/ 60 h 60"/>
                <a:gd name="T4" fmla="*/ 0 w 34"/>
                <a:gd name="T5" fmla="*/ 30 h 60"/>
                <a:gd name="T6" fmla="*/ 0 w 34"/>
                <a:gd name="T7" fmla="*/ 0 h 60"/>
                <a:gd name="T8" fmla="*/ 34 w 34"/>
                <a:gd name="T9" fmla="*/ 3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60">
                  <a:moveTo>
                    <a:pt x="34" y="32"/>
                  </a:moveTo>
                  <a:lnTo>
                    <a:pt x="34" y="6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4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Freeform 299"/>
            <p:cNvSpPr>
              <a:spLocks/>
            </p:cNvSpPr>
            <p:nvPr/>
          </p:nvSpPr>
          <p:spPr bwMode="auto">
            <a:xfrm>
              <a:off x="2575" y="3318"/>
              <a:ext cx="29" cy="56"/>
            </a:xfrm>
            <a:custGeom>
              <a:avLst/>
              <a:gdLst>
                <a:gd name="T0" fmla="*/ 29 w 29"/>
                <a:gd name="T1" fmla="*/ 29 h 56"/>
                <a:gd name="T2" fmla="*/ 29 w 29"/>
                <a:gd name="T3" fmla="*/ 56 h 56"/>
                <a:gd name="T4" fmla="*/ 0 w 29"/>
                <a:gd name="T5" fmla="*/ 28 h 56"/>
                <a:gd name="T6" fmla="*/ 0 w 29"/>
                <a:gd name="T7" fmla="*/ 0 h 56"/>
                <a:gd name="T8" fmla="*/ 29 w 29"/>
                <a:gd name="T9" fmla="*/ 2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56">
                  <a:moveTo>
                    <a:pt x="29" y="29"/>
                  </a:moveTo>
                  <a:lnTo>
                    <a:pt x="29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Freeform 300"/>
            <p:cNvSpPr>
              <a:spLocks/>
            </p:cNvSpPr>
            <p:nvPr/>
          </p:nvSpPr>
          <p:spPr bwMode="auto">
            <a:xfrm>
              <a:off x="2676" y="3415"/>
              <a:ext cx="40" cy="70"/>
            </a:xfrm>
            <a:custGeom>
              <a:avLst/>
              <a:gdLst>
                <a:gd name="T0" fmla="*/ 40 w 40"/>
                <a:gd name="T1" fmla="*/ 38 h 70"/>
                <a:gd name="T2" fmla="*/ 40 w 40"/>
                <a:gd name="T3" fmla="*/ 70 h 70"/>
                <a:gd name="T4" fmla="*/ 0 w 40"/>
                <a:gd name="T5" fmla="*/ 31 h 70"/>
                <a:gd name="T6" fmla="*/ 0 w 40"/>
                <a:gd name="T7" fmla="*/ 0 h 70"/>
                <a:gd name="T8" fmla="*/ 40 w 40"/>
                <a:gd name="T9" fmla="*/ 38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0">
                  <a:moveTo>
                    <a:pt x="40" y="38"/>
                  </a:moveTo>
                  <a:lnTo>
                    <a:pt x="40" y="70"/>
                  </a:lnTo>
                  <a:lnTo>
                    <a:pt x="0" y="31"/>
                  </a:lnTo>
                  <a:lnTo>
                    <a:pt x="0" y="0"/>
                  </a:lnTo>
                  <a:lnTo>
                    <a:pt x="40" y="3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Freeform 301"/>
            <p:cNvSpPr>
              <a:spLocks/>
            </p:cNvSpPr>
            <p:nvPr/>
          </p:nvSpPr>
          <p:spPr bwMode="auto">
            <a:xfrm>
              <a:off x="2642" y="3383"/>
              <a:ext cx="32" cy="62"/>
            </a:xfrm>
            <a:custGeom>
              <a:avLst/>
              <a:gdLst>
                <a:gd name="T0" fmla="*/ 32 w 32"/>
                <a:gd name="T1" fmla="*/ 31 h 62"/>
                <a:gd name="T2" fmla="*/ 32 w 32"/>
                <a:gd name="T3" fmla="*/ 62 h 62"/>
                <a:gd name="T4" fmla="*/ 0 w 32"/>
                <a:gd name="T5" fmla="*/ 30 h 62"/>
                <a:gd name="T6" fmla="*/ 0 w 32"/>
                <a:gd name="T7" fmla="*/ 0 h 62"/>
                <a:gd name="T8" fmla="*/ 32 w 32"/>
                <a:gd name="T9" fmla="*/ 3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2">
                  <a:moveTo>
                    <a:pt x="32" y="31"/>
                  </a:moveTo>
                  <a:lnTo>
                    <a:pt x="32" y="6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2" y="31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5" name="Freeform 302"/>
            <p:cNvSpPr>
              <a:spLocks/>
            </p:cNvSpPr>
            <p:nvPr/>
          </p:nvSpPr>
          <p:spPr bwMode="auto">
            <a:xfrm>
              <a:off x="2606" y="3348"/>
              <a:ext cx="34" cy="62"/>
            </a:xfrm>
            <a:custGeom>
              <a:avLst/>
              <a:gdLst>
                <a:gd name="T0" fmla="*/ 34 w 34"/>
                <a:gd name="T1" fmla="*/ 34 h 62"/>
                <a:gd name="T2" fmla="*/ 34 w 34"/>
                <a:gd name="T3" fmla="*/ 62 h 62"/>
                <a:gd name="T4" fmla="*/ 0 w 34"/>
                <a:gd name="T5" fmla="*/ 28 h 62"/>
                <a:gd name="T6" fmla="*/ 0 w 34"/>
                <a:gd name="T7" fmla="*/ 0 h 62"/>
                <a:gd name="T8" fmla="*/ 34 w 34"/>
                <a:gd name="T9" fmla="*/ 3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62">
                  <a:moveTo>
                    <a:pt x="34" y="34"/>
                  </a:moveTo>
                  <a:lnTo>
                    <a:pt x="34" y="6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Freeform 303"/>
            <p:cNvSpPr>
              <a:spLocks/>
            </p:cNvSpPr>
            <p:nvPr/>
          </p:nvSpPr>
          <p:spPr bwMode="auto">
            <a:xfrm>
              <a:off x="2677" y="3057"/>
              <a:ext cx="38" cy="54"/>
            </a:xfrm>
            <a:custGeom>
              <a:avLst/>
              <a:gdLst>
                <a:gd name="T0" fmla="*/ 38 w 38"/>
                <a:gd name="T1" fmla="*/ 23 h 54"/>
                <a:gd name="T2" fmla="*/ 38 w 38"/>
                <a:gd name="T3" fmla="*/ 54 h 54"/>
                <a:gd name="T4" fmla="*/ 0 w 38"/>
                <a:gd name="T5" fmla="*/ 31 h 54"/>
                <a:gd name="T6" fmla="*/ 0 w 38"/>
                <a:gd name="T7" fmla="*/ 0 h 54"/>
                <a:gd name="T8" fmla="*/ 38 w 38"/>
                <a:gd name="T9" fmla="*/ 2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54">
                  <a:moveTo>
                    <a:pt x="38" y="23"/>
                  </a:moveTo>
                  <a:lnTo>
                    <a:pt x="38" y="54"/>
                  </a:lnTo>
                  <a:lnTo>
                    <a:pt x="0" y="31"/>
                  </a:lnTo>
                  <a:lnTo>
                    <a:pt x="0" y="0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" name="Freeform 304"/>
            <p:cNvSpPr>
              <a:spLocks/>
            </p:cNvSpPr>
            <p:nvPr/>
          </p:nvSpPr>
          <p:spPr bwMode="auto">
            <a:xfrm>
              <a:off x="2704" y="3110"/>
              <a:ext cx="12" cy="38"/>
            </a:xfrm>
            <a:custGeom>
              <a:avLst/>
              <a:gdLst>
                <a:gd name="T0" fmla="*/ 12 w 12"/>
                <a:gd name="T1" fmla="*/ 8 h 38"/>
                <a:gd name="T2" fmla="*/ 12 w 12"/>
                <a:gd name="T3" fmla="*/ 38 h 38"/>
                <a:gd name="T4" fmla="*/ 0 w 12"/>
                <a:gd name="T5" fmla="*/ 30 h 38"/>
                <a:gd name="T6" fmla="*/ 0 w 12"/>
                <a:gd name="T7" fmla="*/ 0 h 38"/>
                <a:gd name="T8" fmla="*/ 12 w 12"/>
                <a:gd name="T9" fmla="*/ 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38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" name="Freeform 305"/>
            <p:cNvSpPr>
              <a:spLocks/>
            </p:cNvSpPr>
            <p:nvPr/>
          </p:nvSpPr>
          <p:spPr bwMode="auto">
            <a:xfrm>
              <a:off x="2677" y="3201"/>
              <a:ext cx="38" cy="58"/>
            </a:xfrm>
            <a:custGeom>
              <a:avLst/>
              <a:gdLst>
                <a:gd name="T0" fmla="*/ 38 w 38"/>
                <a:gd name="T1" fmla="*/ 27 h 58"/>
                <a:gd name="T2" fmla="*/ 38 w 38"/>
                <a:gd name="T3" fmla="*/ 58 h 58"/>
                <a:gd name="T4" fmla="*/ 0 w 38"/>
                <a:gd name="T5" fmla="*/ 30 h 58"/>
                <a:gd name="T6" fmla="*/ 0 w 38"/>
                <a:gd name="T7" fmla="*/ 0 h 58"/>
                <a:gd name="T8" fmla="*/ 38 w 38"/>
                <a:gd name="T9" fmla="*/ 2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58">
                  <a:moveTo>
                    <a:pt x="38" y="27"/>
                  </a:moveTo>
                  <a:lnTo>
                    <a:pt x="38" y="5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8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" name="Rectangle 306"/>
            <p:cNvSpPr>
              <a:spLocks noChangeArrowheads="1"/>
            </p:cNvSpPr>
            <p:nvPr/>
          </p:nvSpPr>
          <p:spPr bwMode="auto">
            <a:xfrm>
              <a:off x="2715" y="3379"/>
              <a:ext cx="18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Freeform 307"/>
            <p:cNvSpPr>
              <a:spLocks/>
            </p:cNvSpPr>
            <p:nvPr/>
          </p:nvSpPr>
          <p:spPr bwMode="auto">
            <a:xfrm>
              <a:off x="2550" y="2912"/>
              <a:ext cx="278" cy="79"/>
            </a:xfrm>
            <a:custGeom>
              <a:avLst/>
              <a:gdLst>
                <a:gd name="T0" fmla="*/ 0 w 278"/>
                <a:gd name="T1" fmla="*/ 0 h 79"/>
                <a:gd name="T2" fmla="*/ 119 w 278"/>
                <a:gd name="T3" fmla="*/ 6 h 79"/>
                <a:gd name="T4" fmla="*/ 278 w 278"/>
                <a:gd name="T5" fmla="*/ 75 h 79"/>
                <a:gd name="T6" fmla="*/ 168 w 278"/>
                <a:gd name="T7" fmla="*/ 79 h 79"/>
                <a:gd name="T8" fmla="*/ 0 w 278"/>
                <a:gd name="T9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8" h="79">
                  <a:moveTo>
                    <a:pt x="0" y="0"/>
                  </a:moveTo>
                  <a:lnTo>
                    <a:pt x="119" y="6"/>
                  </a:lnTo>
                  <a:lnTo>
                    <a:pt x="278" y="75"/>
                  </a:lnTo>
                  <a:lnTo>
                    <a:pt x="168" y="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1" name="Freeform 308"/>
            <p:cNvSpPr>
              <a:spLocks/>
            </p:cNvSpPr>
            <p:nvPr/>
          </p:nvSpPr>
          <p:spPr bwMode="auto">
            <a:xfrm>
              <a:off x="2719" y="2985"/>
              <a:ext cx="108" cy="59"/>
            </a:xfrm>
            <a:custGeom>
              <a:avLst/>
              <a:gdLst>
                <a:gd name="T0" fmla="*/ 1 w 108"/>
                <a:gd name="T1" fmla="*/ 1 h 59"/>
                <a:gd name="T2" fmla="*/ 108 w 108"/>
                <a:gd name="T3" fmla="*/ 0 h 59"/>
                <a:gd name="T4" fmla="*/ 108 w 108"/>
                <a:gd name="T5" fmla="*/ 59 h 59"/>
                <a:gd name="T6" fmla="*/ 0 w 108"/>
                <a:gd name="T7" fmla="*/ 59 h 59"/>
                <a:gd name="T8" fmla="*/ 1 w 108"/>
                <a:gd name="T9" fmla="*/ 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59">
                  <a:moveTo>
                    <a:pt x="1" y="1"/>
                  </a:moveTo>
                  <a:lnTo>
                    <a:pt x="108" y="0"/>
                  </a:lnTo>
                  <a:lnTo>
                    <a:pt x="108" y="59"/>
                  </a:lnTo>
                  <a:lnTo>
                    <a:pt x="0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2" name="Freeform 309"/>
            <p:cNvSpPr>
              <a:spLocks/>
            </p:cNvSpPr>
            <p:nvPr/>
          </p:nvSpPr>
          <p:spPr bwMode="auto">
            <a:xfrm>
              <a:off x="2551" y="2912"/>
              <a:ext cx="172" cy="131"/>
            </a:xfrm>
            <a:custGeom>
              <a:avLst/>
              <a:gdLst>
                <a:gd name="T0" fmla="*/ 0 w 172"/>
                <a:gd name="T1" fmla="*/ 0 h 131"/>
                <a:gd name="T2" fmla="*/ 0 w 172"/>
                <a:gd name="T3" fmla="*/ 45 h 131"/>
                <a:gd name="T4" fmla="*/ 172 w 172"/>
                <a:gd name="T5" fmla="*/ 131 h 131"/>
                <a:gd name="T6" fmla="*/ 172 w 172"/>
                <a:gd name="T7" fmla="*/ 73 h 131"/>
                <a:gd name="T8" fmla="*/ 0 w 172"/>
                <a:gd name="T9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131">
                  <a:moveTo>
                    <a:pt x="0" y="0"/>
                  </a:moveTo>
                  <a:lnTo>
                    <a:pt x="0" y="45"/>
                  </a:lnTo>
                  <a:lnTo>
                    <a:pt x="172" y="131"/>
                  </a:lnTo>
                  <a:lnTo>
                    <a:pt x="172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3" name="Line 310"/>
          <p:cNvSpPr>
            <a:spLocks noChangeShapeType="1"/>
          </p:cNvSpPr>
          <p:nvPr/>
        </p:nvSpPr>
        <p:spPr bwMode="auto">
          <a:xfrm>
            <a:off x="5959475" y="360045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4" name="Group 311"/>
          <p:cNvGrpSpPr>
            <a:grpSpLocks/>
          </p:cNvGrpSpPr>
          <p:nvPr/>
        </p:nvGrpSpPr>
        <p:grpSpPr bwMode="auto">
          <a:xfrm>
            <a:off x="4718050" y="3333750"/>
            <a:ext cx="319087" cy="557213"/>
            <a:chOff x="4180" y="783"/>
            <a:chExt cx="150" cy="307"/>
          </a:xfrm>
        </p:grpSpPr>
        <p:sp>
          <p:nvSpPr>
            <p:cNvPr id="315" name="AutoShape 312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" name="Rectangle 313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" name="Rectangle 314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" name="AutoShape 315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" name="Line 316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0" name="Line 317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" name="Rectangle 318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" name="Rectangle 319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23" name="Line 320"/>
          <p:cNvSpPr>
            <a:spLocks noChangeShapeType="1"/>
          </p:cNvSpPr>
          <p:nvPr/>
        </p:nvSpPr>
        <p:spPr bwMode="auto">
          <a:xfrm>
            <a:off x="5659437" y="3622675"/>
            <a:ext cx="11113" cy="557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24" name="Group 321"/>
          <p:cNvGrpSpPr>
            <a:grpSpLocks/>
          </p:cNvGrpSpPr>
          <p:nvPr/>
        </p:nvGrpSpPr>
        <p:grpSpPr bwMode="auto">
          <a:xfrm>
            <a:off x="5448300" y="4100513"/>
            <a:ext cx="457200" cy="331787"/>
            <a:chOff x="620" y="1640"/>
            <a:chExt cx="288" cy="209"/>
          </a:xfrm>
        </p:grpSpPr>
        <p:sp>
          <p:nvSpPr>
            <p:cNvPr id="325" name="Line 322"/>
            <p:cNvSpPr>
              <a:spLocks noChangeShapeType="1"/>
            </p:cNvSpPr>
            <p:nvPr/>
          </p:nvSpPr>
          <p:spPr bwMode="auto">
            <a:xfrm>
              <a:off x="908" y="164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6" name="Rectangle 323"/>
            <p:cNvSpPr>
              <a:spLocks noChangeArrowheads="1"/>
            </p:cNvSpPr>
            <p:nvPr/>
          </p:nvSpPr>
          <p:spPr bwMode="auto">
            <a:xfrm>
              <a:off x="620" y="1784"/>
              <a:ext cx="267" cy="65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l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hlink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grpSp>
          <p:nvGrpSpPr>
            <p:cNvPr id="327" name="Group 324"/>
            <p:cNvGrpSpPr>
              <a:grpSpLocks/>
            </p:cNvGrpSpPr>
            <p:nvPr/>
          </p:nvGrpSpPr>
          <p:grpSpPr bwMode="auto">
            <a:xfrm>
              <a:off x="764" y="1688"/>
              <a:ext cx="109" cy="91"/>
              <a:chOff x="576" y="3456"/>
              <a:chExt cx="288" cy="240"/>
            </a:xfrm>
          </p:grpSpPr>
          <p:sp>
            <p:nvSpPr>
              <p:cNvPr id="328" name="Line 325"/>
              <p:cNvSpPr>
                <a:spLocks noChangeShapeType="1"/>
              </p:cNvSpPr>
              <p:nvPr/>
            </p:nvSpPr>
            <p:spPr bwMode="auto">
              <a:xfrm>
                <a:off x="624" y="3456"/>
                <a:ext cx="192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9" name="Line 326"/>
              <p:cNvSpPr>
                <a:spLocks noChangeShapeType="1"/>
              </p:cNvSpPr>
              <p:nvPr/>
            </p:nvSpPr>
            <p:spPr bwMode="auto">
              <a:xfrm flipH="1">
                <a:off x="576" y="3456"/>
                <a:ext cx="288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grpSp>
        <p:nvGrpSpPr>
          <p:cNvPr id="330" name="Group 327"/>
          <p:cNvGrpSpPr>
            <a:grpSpLocks/>
          </p:cNvGrpSpPr>
          <p:nvPr/>
        </p:nvGrpSpPr>
        <p:grpSpPr bwMode="auto">
          <a:xfrm>
            <a:off x="5006975" y="4351338"/>
            <a:ext cx="195262" cy="420687"/>
            <a:chOff x="4180" y="783"/>
            <a:chExt cx="150" cy="307"/>
          </a:xfrm>
        </p:grpSpPr>
        <p:sp>
          <p:nvSpPr>
            <p:cNvPr id="331" name="AutoShape 328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" name="Rectangle 329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3" name="Rectangle 330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4" name="AutoShape 331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5" name="Line 332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6" name="Line 333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7" name="Rectangle 334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" name="Rectangle 335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39" name="Group 336"/>
          <p:cNvGrpSpPr>
            <a:grpSpLocks/>
          </p:cNvGrpSpPr>
          <p:nvPr/>
        </p:nvGrpSpPr>
        <p:grpSpPr bwMode="auto">
          <a:xfrm>
            <a:off x="6099175" y="4403725"/>
            <a:ext cx="195262" cy="420688"/>
            <a:chOff x="4180" y="783"/>
            <a:chExt cx="150" cy="307"/>
          </a:xfrm>
        </p:grpSpPr>
        <p:sp>
          <p:nvSpPr>
            <p:cNvPr id="340" name="AutoShape 337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1" name="Rectangle 338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2" name="Rectangle 339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3" name="AutoShape 340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4" name="Line 341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5" name="Line 342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6" name="Rectangle 343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7" name="Rectangle 344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48" name="Group 345"/>
          <p:cNvGrpSpPr>
            <a:grpSpLocks/>
          </p:cNvGrpSpPr>
          <p:nvPr/>
        </p:nvGrpSpPr>
        <p:grpSpPr bwMode="auto">
          <a:xfrm>
            <a:off x="5456237" y="4875213"/>
            <a:ext cx="195263" cy="420687"/>
            <a:chOff x="4180" y="783"/>
            <a:chExt cx="150" cy="307"/>
          </a:xfrm>
        </p:grpSpPr>
        <p:sp>
          <p:nvSpPr>
            <p:cNvPr id="349" name="AutoShape 346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0" name="Rectangle 347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1" name="Rectangle 348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2" name="AutoShape 349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3" name="Line 350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4" name="Line 351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5" name="Rectangle 352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" name="Rectangle 353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7" name="Line 354"/>
          <p:cNvSpPr>
            <a:spLocks noChangeShapeType="1"/>
          </p:cNvSpPr>
          <p:nvPr/>
        </p:nvSpPr>
        <p:spPr bwMode="auto">
          <a:xfrm flipH="1">
            <a:off x="5202237" y="4425950"/>
            <a:ext cx="296863" cy="149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" name="Line 355"/>
          <p:cNvSpPr>
            <a:spLocks noChangeShapeType="1"/>
          </p:cNvSpPr>
          <p:nvPr/>
        </p:nvSpPr>
        <p:spPr bwMode="auto">
          <a:xfrm flipH="1">
            <a:off x="5586412" y="4425950"/>
            <a:ext cx="61913" cy="446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" name="Line 356"/>
          <p:cNvSpPr>
            <a:spLocks noChangeShapeType="1"/>
          </p:cNvSpPr>
          <p:nvPr/>
        </p:nvSpPr>
        <p:spPr bwMode="auto">
          <a:xfrm>
            <a:off x="5956300" y="4365625"/>
            <a:ext cx="136525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0" name="Text Box 357"/>
          <p:cNvSpPr txBox="1">
            <a:spLocks noChangeArrowheads="1"/>
          </p:cNvSpPr>
          <p:nvPr/>
        </p:nvSpPr>
        <p:spPr bwMode="auto">
          <a:xfrm>
            <a:off x="4418012" y="4495800"/>
            <a:ext cx="8001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/>
              <a:t>Web</a:t>
            </a:r>
          </a:p>
          <a:p>
            <a:pPr algn="l"/>
            <a:r>
              <a:rPr lang="en-US" sz="1600"/>
              <a:t>server</a:t>
            </a:r>
          </a:p>
        </p:txBody>
      </p:sp>
      <p:sp>
        <p:nvSpPr>
          <p:cNvPr id="361" name="Text Box 358"/>
          <p:cNvSpPr txBox="1">
            <a:spLocks noChangeArrowheads="1"/>
          </p:cNvSpPr>
          <p:nvPr/>
        </p:nvSpPr>
        <p:spPr bwMode="auto">
          <a:xfrm>
            <a:off x="4916487" y="5057775"/>
            <a:ext cx="8001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/>
              <a:t>FTP</a:t>
            </a:r>
          </a:p>
          <a:p>
            <a:pPr algn="l"/>
            <a:r>
              <a:rPr lang="en-US" sz="1600"/>
              <a:t>server</a:t>
            </a:r>
          </a:p>
        </p:txBody>
      </p:sp>
      <p:sp>
        <p:nvSpPr>
          <p:cNvPr id="362" name="Text Box 359"/>
          <p:cNvSpPr txBox="1">
            <a:spLocks noChangeArrowheads="1"/>
          </p:cNvSpPr>
          <p:nvPr/>
        </p:nvSpPr>
        <p:spPr bwMode="auto">
          <a:xfrm>
            <a:off x="5846762" y="4776788"/>
            <a:ext cx="8001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/>
              <a:t>DNS</a:t>
            </a:r>
          </a:p>
          <a:p>
            <a:pPr algn="l"/>
            <a:r>
              <a:rPr lang="en-US" sz="1600"/>
              <a:t>server</a:t>
            </a:r>
          </a:p>
        </p:txBody>
      </p:sp>
      <p:sp>
        <p:nvSpPr>
          <p:cNvPr id="363" name="Text Box 360"/>
          <p:cNvSpPr txBox="1">
            <a:spLocks noChangeArrowheads="1"/>
          </p:cNvSpPr>
          <p:nvPr/>
        </p:nvSpPr>
        <p:spPr bwMode="auto">
          <a:xfrm>
            <a:off x="4362450" y="2744788"/>
            <a:ext cx="1192212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 dirty="0"/>
              <a:t>application</a:t>
            </a:r>
          </a:p>
          <a:p>
            <a:pPr algn="l"/>
            <a:r>
              <a:rPr lang="en-US" sz="1600" dirty="0"/>
              <a:t>gateway</a:t>
            </a:r>
          </a:p>
        </p:txBody>
      </p:sp>
      <p:grpSp>
        <p:nvGrpSpPr>
          <p:cNvPr id="364" name="Group 361"/>
          <p:cNvGrpSpPr>
            <a:grpSpLocks/>
          </p:cNvGrpSpPr>
          <p:nvPr/>
        </p:nvGrpSpPr>
        <p:grpSpPr bwMode="auto">
          <a:xfrm>
            <a:off x="5357812" y="3465513"/>
            <a:ext cx="569913" cy="285750"/>
            <a:chOff x="533" y="321"/>
            <a:chExt cx="359" cy="180"/>
          </a:xfrm>
        </p:grpSpPr>
        <p:grpSp>
          <p:nvGrpSpPr>
            <p:cNvPr id="365" name="Group 362"/>
            <p:cNvGrpSpPr>
              <a:grpSpLocks/>
            </p:cNvGrpSpPr>
            <p:nvPr/>
          </p:nvGrpSpPr>
          <p:grpSpPr bwMode="auto">
            <a:xfrm>
              <a:off x="533" y="321"/>
              <a:ext cx="359" cy="180"/>
              <a:chOff x="1009" y="655"/>
              <a:chExt cx="359" cy="180"/>
            </a:xfrm>
          </p:grpSpPr>
          <p:sp>
            <p:nvSpPr>
              <p:cNvPr id="367" name="Oval 363"/>
              <p:cNvSpPr>
                <a:spLocks noChangeArrowheads="1"/>
              </p:cNvSpPr>
              <p:nvPr/>
            </p:nvSpPr>
            <p:spPr bwMode="auto">
              <a:xfrm>
                <a:off x="1012" y="735"/>
                <a:ext cx="356" cy="100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" name="Line 364"/>
              <p:cNvSpPr>
                <a:spLocks noChangeShapeType="1"/>
              </p:cNvSpPr>
              <p:nvPr/>
            </p:nvSpPr>
            <p:spPr bwMode="auto">
              <a:xfrm>
                <a:off x="1012" y="727"/>
                <a:ext cx="0" cy="6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" name="Line 365"/>
              <p:cNvSpPr>
                <a:spLocks noChangeShapeType="1"/>
              </p:cNvSpPr>
              <p:nvPr/>
            </p:nvSpPr>
            <p:spPr bwMode="auto">
              <a:xfrm>
                <a:off x="1368" y="727"/>
                <a:ext cx="0" cy="6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0" name="Rectangle 366"/>
              <p:cNvSpPr>
                <a:spLocks noChangeArrowheads="1"/>
              </p:cNvSpPr>
              <p:nvPr/>
            </p:nvSpPr>
            <p:spPr bwMode="auto">
              <a:xfrm>
                <a:off x="1012" y="727"/>
                <a:ext cx="353" cy="61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71" name="Oval 367"/>
              <p:cNvSpPr>
                <a:spLocks noChangeArrowheads="1"/>
              </p:cNvSpPr>
              <p:nvPr/>
            </p:nvSpPr>
            <p:spPr bwMode="auto">
              <a:xfrm>
                <a:off x="1009" y="655"/>
                <a:ext cx="356" cy="11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72" name="Group 368"/>
              <p:cNvGrpSpPr>
                <a:grpSpLocks/>
              </p:cNvGrpSpPr>
              <p:nvPr/>
            </p:nvGrpSpPr>
            <p:grpSpPr bwMode="auto">
              <a:xfrm>
                <a:off x="1095" y="681"/>
                <a:ext cx="176" cy="68"/>
                <a:chOff x="2848" y="848"/>
                <a:chExt cx="140" cy="98"/>
              </a:xfrm>
            </p:grpSpPr>
            <p:sp>
              <p:nvSpPr>
                <p:cNvPr id="377" name="Line 36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8" name="Line 37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9" name="Line 37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73" name="Group 372"/>
              <p:cNvGrpSpPr>
                <a:grpSpLocks/>
              </p:cNvGrpSpPr>
              <p:nvPr/>
            </p:nvGrpSpPr>
            <p:grpSpPr bwMode="auto">
              <a:xfrm flipV="1">
                <a:off x="1095" y="680"/>
                <a:ext cx="176" cy="68"/>
                <a:chOff x="2848" y="848"/>
                <a:chExt cx="140" cy="98"/>
              </a:xfrm>
            </p:grpSpPr>
            <p:sp>
              <p:nvSpPr>
                <p:cNvPr id="374" name="Line 37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5" name="Line 37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6" name="Line 37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366" name="Line 376"/>
            <p:cNvSpPr>
              <a:spLocks noChangeShapeType="1"/>
            </p:cNvSpPr>
            <p:nvPr/>
          </p:nvSpPr>
          <p:spPr bwMode="auto">
            <a:xfrm>
              <a:off x="535" y="368"/>
              <a:ext cx="0" cy="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80" name="Line 377"/>
          <p:cNvSpPr>
            <a:spLocks noChangeShapeType="1"/>
          </p:cNvSpPr>
          <p:nvPr/>
        </p:nvSpPr>
        <p:spPr bwMode="auto">
          <a:xfrm>
            <a:off x="6635750" y="3611563"/>
            <a:ext cx="24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1" name="Text Box 378"/>
          <p:cNvSpPr txBox="1">
            <a:spLocks noChangeArrowheads="1"/>
          </p:cNvSpPr>
          <p:nvPr/>
        </p:nvSpPr>
        <p:spPr bwMode="auto">
          <a:xfrm>
            <a:off x="7945437" y="3567113"/>
            <a:ext cx="1228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2000"/>
              <a:t>Internet</a:t>
            </a:r>
          </a:p>
        </p:txBody>
      </p:sp>
      <p:sp>
        <p:nvSpPr>
          <p:cNvPr id="382" name="Text Box 379"/>
          <p:cNvSpPr txBox="1">
            <a:spLocks noChangeArrowheads="1"/>
          </p:cNvSpPr>
          <p:nvPr/>
        </p:nvSpPr>
        <p:spPr bwMode="auto">
          <a:xfrm>
            <a:off x="6619875" y="4862513"/>
            <a:ext cx="182626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dirty="0"/>
              <a:t>demilitarized </a:t>
            </a:r>
          </a:p>
          <a:p>
            <a:r>
              <a:rPr lang="en-US" sz="1600" dirty="0"/>
              <a:t>zone (DMZ, aka</a:t>
            </a:r>
            <a:br>
              <a:rPr lang="en-US" sz="1600" dirty="0"/>
            </a:br>
            <a:r>
              <a:rPr lang="en-US" sz="1600" dirty="0"/>
              <a:t>perimeter network)</a:t>
            </a:r>
          </a:p>
        </p:txBody>
      </p:sp>
      <p:sp>
        <p:nvSpPr>
          <p:cNvPr id="383" name="Text Box 380"/>
          <p:cNvSpPr txBox="1">
            <a:spLocks noChangeArrowheads="1"/>
          </p:cNvSpPr>
          <p:nvPr/>
        </p:nvSpPr>
        <p:spPr bwMode="auto">
          <a:xfrm>
            <a:off x="1809750" y="4040188"/>
            <a:ext cx="88216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dirty="0"/>
              <a:t>internal</a:t>
            </a:r>
          </a:p>
          <a:p>
            <a:r>
              <a:rPr lang="en-US" sz="1600" dirty="0"/>
              <a:t>network</a:t>
            </a:r>
          </a:p>
        </p:txBody>
      </p:sp>
      <p:sp>
        <p:nvSpPr>
          <p:cNvPr id="384" name="Text Box 381"/>
          <p:cNvSpPr txBox="1">
            <a:spLocks noChangeArrowheads="1"/>
          </p:cNvSpPr>
          <p:nvPr/>
        </p:nvSpPr>
        <p:spPr bwMode="auto">
          <a:xfrm>
            <a:off x="5961062" y="2900363"/>
            <a:ext cx="9096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/>
              <a:t>firewall</a:t>
            </a:r>
          </a:p>
        </p:txBody>
      </p:sp>
      <p:sp>
        <p:nvSpPr>
          <p:cNvPr id="385" name="Oval 382"/>
          <p:cNvSpPr>
            <a:spLocks noChangeArrowheads="1"/>
          </p:cNvSpPr>
          <p:nvPr/>
        </p:nvSpPr>
        <p:spPr bwMode="auto">
          <a:xfrm>
            <a:off x="3336925" y="3325813"/>
            <a:ext cx="134937" cy="1349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6" name="Oval 383"/>
          <p:cNvSpPr>
            <a:spLocks noChangeArrowheads="1"/>
          </p:cNvSpPr>
          <p:nvPr/>
        </p:nvSpPr>
        <p:spPr bwMode="auto">
          <a:xfrm>
            <a:off x="4256087" y="3554413"/>
            <a:ext cx="134938" cy="1349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7" name="Oval 384"/>
          <p:cNvSpPr>
            <a:spLocks noChangeArrowheads="1"/>
          </p:cNvSpPr>
          <p:nvPr/>
        </p:nvSpPr>
        <p:spPr bwMode="auto">
          <a:xfrm>
            <a:off x="5592762" y="3914775"/>
            <a:ext cx="134938" cy="1349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" name="Text Box 385"/>
          <p:cNvSpPr txBox="1">
            <a:spLocks noChangeArrowheads="1"/>
          </p:cNvSpPr>
          <p:nvPr/>
        </p:nvSpPr>
        <p:spPr bwMode="auto">
          <a:xfrm>
            <a:off x="3127375" y="4638675"/>
            <a:ext cx="9921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800"/>
              <a:t>IDS </a:t>
            </a:r>
          </a:p>
          <a:p>
            <a:pPr algn="l"/>
            <a:r>
              <a:rPr lang="en-US" sz="1800"/>
              <a:t>sensors</a:t>
            </a:r>
          </a:p>
        </p:txBody>
      </p:sp>
      <p:sp>
        <p:nvSpPr>
          <p:cNvPr id="389" name="Line 386"/>
          <p:cNvSpPr>
            <a:spLocks noChangeShapeType="1"/>
          </p:cNvSpPr>
          <p:nvPr/>
        </p:nvSpPr>
        <p:spPr bwMode="auto">
          <a:xfrm flipH="1" flipV="1">
            <a:off x="3411537" y="3511550"/>
            <a:ext cx="227013" cy="1139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0" name="Line 387"/>
          <p:cNvSpPr>
            <a:spLocks noChangeShapeType="1"/>
          </p:cNvSpPr>
          <p:nvPr/>
        </p:nvSpPr>
        <p:spPr bwMode="auto">
          <a:xfrm flipV="1">
            <a:off x="3813175" y="3749675"/>
            <a:ext cx="438150" cy="915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1" name="Line 388"/>
          <p:cNvSpPr>
            <a:spLocks noChangeShapeType="1"/>
          </p:cNvSpPr>
          <p:nvPr/>
        </p:nvSpPr>
        <p:spPr bwMode="auto">
          <a:xfrm flipV="1">
            <a:off x="3875087" y="4114800"/>
            <a:ext cx="1490663" cy="612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39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Detection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IDS comprises three logical components:</a:t>
            </a:r>
          </a:p>
          <a:p>
            <a:pPr lvl="1"/>
            <a:r>
              <a:rPr lang="en-US" sz="2400" dirty="0" smtClean="0"/>
              <a:t>Sensors </a:t>
            </a:r>
            <a:r>
              <a:rPr lang="en-US" sz="2400" dirty="0"/>
              <a:t>- collect data</a:t>
            </a:r>
          </a:p>
          <a:p>
            <a:pPr lvl="1"/>
            <a:r>
              <a:rPr lang="en-US" sz="2400" dirty="0" smtClean="0"/>
              <a:t>Analyzers </a:t>
            </a:r>
            <a:r>
              <a:rPr lang="en-US" sz="2400" dirty="0"/>
              <a:t>- determine if intrusion has occurred</a:t>
            </a:r>
          </a:p>
          <a:p>
            <a:pPr lvl="1"/>
            <a:r>
              <a:rPr lang="en-US" sz="2400" dirty="0" smtClean="0"/>
              <a:t>User </a:t>
            </a:r>
            <a:r>
              <a:rPr lang="en-US" sz="2400" dirty="0"/>
              <a:t>interface - view output or control system </a:t>
            </a:r>
            <a:r>
              <a:rPr lang="en-US" sz="2400" dirty="0" smtClean="0"/>
              <a:t>behavior</a:t>
            </a:r>
          </a:p>
          <a:p>
            <a:pPr lvl="1"/>
            <a:endParaRPr lang="en-US" sz="2400" dirty="0"/>
          </a:p>
          <a:p>
            <a:r>
              <a:rPr lang="en-US" dirty="0" smtClean="0"/>
              <a:t>When </a:t>
            </a:r>
            <a:r>
              <a:rPr lang="en-US" dirty="0"/>
              <a:t>a sensor detects a potential violation it </a:t>
            </a:r>
            <a:r>
              <a:rPr lang="en-US" dirty="0" smtClean="0"/>
              <a:t>sends an </a:t>
            </a:r>
            <a:r>
              <a:rPr lang="en-US" dirty="0"/>
              <a:t>alert and logs information related to the event</a:t>
            </a:r>
          </a:p>
          <a:p>
            <a:r>
              <a:rPr lang="en-US" dirty="0" smtClean="0"/>
              <a:t>Logs are used </a:t>
            </a:r>
            <a:r>
              <a:rPr lang="en-US" dirty="0"/>
              <a:t>by analysis module to refine intrusion </a:t>
            </a:r>
            <a:r>
              <a:rPr lang="en-US" dirty="0" smtClean="0"/>
              <a:t>detection parameters </a:t>
            </a:r>
            <a:r>
              <a:rPr lang="en-US" dirty="0"/>
              <a:t>and algorithms</a:t>
            </a:r>
          </a:p>
          <a:p>
            <a:r>
              <a:rPr lang="en-US" dirty="0" smtClean="0"/>
              <a:t>Security </a:t>
            </a:r>
            <a:r>
              <a:rPr lang="en-US" dirty="0"/>
              <a:t>administration can use this information to </a:t>
            </a:r>
            <a:r>
              <a:rPr lang="en-US" dirty="0" smtClean="0"/>
              <a:t>design prevention </a:t>
            </a:r>
            <a:r>
              <a:rPr lang="en-US" dirty="0"/>
              <a:t>techniques</a:t>
            </a:r>
          </a:p>
        </p:txBody>
      </p:sp>
    </p:spTree>
    <p:extLst>
      <p:ext uri="{BB962C8B-B14F-4D97-AF65-F5344CB8AC3E}">
        <p14:creationId xmlns:p14="http://schemas.microsoft.com/office/powerpoint/2010/main" val="795001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Detection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Types Of Intrusion Detection Systems</a:t>
            </a:r>
          </a:p>
          <a:p>
            <a:endParaRPr lang="en-US" dirty="0"/>
          </a:p>
          <a:p>
            <a:r>
              <a:rPr lang="en-US" dirty="0"/>
              <a:t>There are two primary types of IDS: </a:t>
            </a:r>
          </a:p>
          <a:p>
            <a:r>
              <a:rPr lang="en-US" u="sng" dirty="0" smtClean="0"/>
              <a:t>Host-based </a:t>
            </a:r>
            <a:r>
              <a:rPr lang="en-US" u="sng" dirty="0"/>
              <a:t>(H-IDS)</a:t>
            </a:r>
            <a:r>
              <a:rPr lang="en-US" dirty="0"/>
              <a:t> and </a:t>
            </a:r>
            <a:r>
              <a:rPr lang="en-US" u="sng" dirty="0" smtClean="0"/>
              <a:t>Network-based </a:t>
            </a:r>
            <a:r>
              <a:rPr lang="en-US" u="sng" dirty="0"/>
              <a:t>(N-IDS)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H-IDS resides on a particular host and looks for indications of attacks on that host</a:t>
            </a:r>
          </a:p>
          <a:p>
            <a:r>
              <a:rPr lang="en-US" dirty="0" smtClean="0"/>
              <a:t>A </a:t>
            </a:r>
            <a:r>
              <a:rPr lang="en-US" dirty="0"/>
              <a:t>N-IDS resides on a separate system that watches network traffic, looking for indications of attacks that traverse that portion of the network</a:t>
            </a:r>
          </a:p>
        </p:txBody>
      </p:sp>
    </p:spTree>
    <p:extLst>
      <p:ext uri="{BB962C8B-B14F-4D97-AF65-F5344CB8AC3E}">
        <p14:creationId xmlns:p14="http://schemas.microsoft.com/office/powerpoint/2010/main" val="1414943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Detection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Types Of Intrusion Detection Systems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752600"/>
            <a:ext cx="5562600" cy="478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640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Detection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Advantages of </a:t>
            </a:r>
            <a:r>
              <a:rPr lang="en-US" dirty="0"/>
              <a:t>H-IDS </a:t>
            </a:r>
            <a:r>
              <a:rPr lang="en-US" dirty="0" smtClean="0"/>
              <a:t>system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H-IDS will not miss attack traffic that is directed at a system as long as the attack generates a log message (or a system call)</a:t>
            </a:r>
          </a:p>
          <a:p>
            <a:r>
              <a:rPr lang="en-US" dirty="0"/>
              <a:t>The H-IDS can determine if an attack was successful by examining log messages or other indications on the system (such as the modification of key system binaries or configuration files)</a:t>
            </a:r>
          </a:p>
          <a:p>
            <a:r>
              <a:rPr lang="en-US" dirty="0"/>
              <a:t>The H-IDS can be used to identify unauthorized access attempts by legitimate system users</a:t>
            </a:r>
          </a:p>
        </p:txBody>
      </p:sp>
    </p:spTree>
    <p:extLst>
      <p:ext uri="{BB962C8B-B14F-4D97-AF65-F5344CB8AC3E}">
        <p14:creationId xmlns:p14="http://schemas.microsoft.com/office/powerpoint/2010/main" val="729286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Detection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Disadvantages of </a:t>
            </a:r>
            <a:r>
              <a:rPr lang="en-US" dirty="0"/>
              <a:t>H-IDS </a:t>
            </a:r>
            <a:r>
              <a:rPr lang="en-US" dirty="0" smtClean="0"/>
              <a:t>system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H-IDS process may be identified and disabled by an attacker</a:t>
            </a:r>
          </a:p>
          <a:p>
            <a:r>
              <a:rPr lang="en-US" dirty="0"/>
              <a:t>The H-IDS system can only alarm if the log entries or system calls match pre-configured rules or signatures</a:t>
            </a:r>
          </a:p>
        </p:txBody>
      </p:sp>
    </p:spTree>
    <p:extLst>
      <p:ext uri="{BB962C8B-B14F-4D97-AF65-F5344CB8AC3E}">
        <p14:creationId xmlns:p14="http://schemas.microsoft.com/office/powerpoint/2010/main" val="88172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Detection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Advantages of N-IDS system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N-IDS can be completely hidden on the network so an attacker will not know that he is being monitored</a:t>
            </a:r>
          </a:p>
          <a:p>
            <a:r>
              <a:rPr lang="en-US" dirty="0"/>
              <a:t>A single N-IDS can be used to monitor traffic to a large number of potential target systems</a:t>
            </a:r>
          </a:p>
          <a:p>
            <a:r>
              <a:rPr lang="en-US" dirty="0"/>
              <a:t>The N-IDS can capture the contents of all packets traveling to a target system</a:t>
            </a:r>
          </a:p>
        </p:txBody>
      </p:sp>
    </p:spTree>
    <p:extLst>
      <p:ext uri="{BB962C8B-B14F-4D97-AF65-F5344CB8AC3E}">
        <p14:creationId xmlns:p14="http://schemas.microsoft.com/office/powerpoint/2010/main" val="1927369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Detection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Disadvantages of N-IDS system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N-IDS system can only alarm if the traffic matches pre-configured rules or signatures</a:t>
            </a:r>
          </a:p>
          <a:p>
            <a:r>
              <a:rPr lang="en-US" dirty="0"/>
              <a:t>The N-IDS can miss traffic of interest due to high bandwidth utilization or alternate routes</a:t>
            </a:r>
          </a:p>
          <a:p>
            <a:r>
              <a:rPr lang="en-US" dirty="0"/>
              <a:t>The N-IDS cannot determine if the attack was successful</a:t>
            </a:r>
          </a:p>
          <a:p>
            <a:r>
              <a:rPr lang="en-US" dirty="0"/>
              <a:t>The N-IDS cannot examine traffic that is encrypted</a:t>
            </a:r>
          </a:p>
          <a:p>
            <a:r>
              <a:rPr lang="en-US" dirty="0"/>
              <a:t>Switched networks (as opposed to shared media networks) require special configurations so that the N-IDS can see all the traffic</a:t>
            </a:r>
          </a:p>
        </p:txBody>
      </p:sp>
    </p:spTree>
    <p:extLst>
      <p:ext uri="{BB962C8B-B14F-4D97-AF65-F5344CB8AC3E}">
        <p14:creationId xmlns:p14="http://schemas.microsoft.com/office/powerpoint/2010/main" val="191307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Detection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Rule-based systems</a:t>
            </a:r>
          </a:p>
          <a:p>
            <a:endParaRPr lang="en-US" dirty="0"/>
          </a:p>
          <a:p>
            <a:r>
              <a:rPr lang="en-US" dirty="0"/>
              <a:t>Dominant technology in commercial systems</a:t>
            </a:r>
          </a:p>
          <a:p>
            <a:r>
              <a:rPr lang="en-US" dirty="0"/>
              <a:t>Rules express actions on given conditions, possibly with complex predicates, including timing, payload content </a:t>
            </a:r>
            <a:r>
              <a:rPr lang="en-US" dirty="0" smtClean="0"/>
              <a:t>etc</a:t>
            </a:r>
            <a:r>
              <a:rPr lang="en-US" dirty="0"/>
              <a:t>.</a:t>
            </a:r>
          </a:p>
          <a:p>
            <a:r>
              <a:rPr lang="en-US" dirty="0"/>
              <a:t>Simple examples from Snort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91000"/>
            <a:ext cx="10055864" cy="135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5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Detection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SNORT</a:t>
            </a:r>
            <a:r>
              <a:rPr lang="en-US" dirty="0"/>
              <a:t>: </a:t>
            </a:r>
            <a:r>
              <a:rPr lang="en-US" dirty="0" smtClean="0"/>
              <a:t>Actions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Possible actions if a rule matches include:</a:t>
            </a:r>
          </a:p>
          <a:p>
            <a:pPr lvl="1"/>
            <a:r>
              <a:rPr lang="en-US" dirty="0"/>
              <a:t>alert: Generate an alert and then log the </a:t>
            </a:r>
            <a:r>
              <a:rPr lang="en-US" dirty="0" smtClean="0"/>
              <a:t>packet</a:t>
            </a:r>
            <a:endParaRPr lang="en-US" dirty="0"/>
          </a:p>
          <a:p>
            <a:pPr lvl="1"/>
            <a:r>
              <a:rPr lang="en-US" dirty="0"/>
              <a:t>log: Log the </a:t>
            </a:r>
            <a:r>
              <a:rPr lang="en-US" dirty="0" smtClean="0"/>
              <a:t>packet</a:t>
            </a:r>
            <a:endParaRPr lang="en-US" dirty="0"/>
          </a:p>
          <a:p>
            <a:pPr lvl="1"/>
            <a:r>
              <a:rPr lang="en-US" dirty="0"/>
              <a:t>pass: Ignore the </a:t>
            </a:r>
            <a:r>
              <a:rPr lang="en-US" dirty="0" smtClean="0"/>
              <a:t>packet</a:t>
            </a:r>
            <a:endParaRPr lang="en-US" dirty="0"/>
          </a:p>
          <a:p>
            <a:pPr lvl="1"/>
            <a:r>
              <a:rPr lang="en-US" dirty="0"/>
              <a:t>activate: Alert and then use another, given dynamic </a:t>
            </a:r>
            <a:r>
              <a:rPr lang="en-US" dirty="0" smtClean="0"/>
              <a:t>rule</a:t>
            </a:r>
            <a:endParaRPr lang="en-US" dirty="0"/>
          </a:p>
          <a:p>
            <a:pPr lvl="1"/>
            <a:r>
              <a:rPr lang="en-US" dirty="0"/>
              <a:t>dynamic: Remain idle until activated, then act as log </a:t>
            </a:r>
            <a:r>
              <a:rPr lang="en-US" dirty="0" smtClean="0"/>
              <a:t>rule</a:t>
            </a:r>
            <a:endParaRPr lang="en-US" dirty="0"/>
          </a:p>
          <a:p>
            <a:pPr lvl="1"/>
            <a:r>
              <a:rPr lang="en-US" dirty="0"/>
              <a:t>drop: Make </a:t>
            </a:r>
            <a:r>
              <a:rPr lang="en-US" dirty="0" err="1"/>
              <a:t>iptables</a:t>
            </a:r>
            <a:r>
              <a:rPr lang="en-US" dirty="0"/>
              <a:t> drop packet and log </a:t>
            </a:r>
            <a:r>
              <a:rPr lang="en-US" dirty="0" smtClean="0"/>
              <a:t>it</a:t>
            </a:r>
            <a:endParaRPr lang="en-US" dirty="0"/>
          </a:p>
          <a:p>
            <a:pPr lvl="1"/>
            <a:r>
              <a:rPr lang="en-US" dirty="0"/>
              <a:t>reject: Make </a:t>
            </a:r>
            <a:r>
              <a:rPr lang="en-US" dirty="0" err="1"/>
              <a:t>iptables</a:t>
            </a:r>
            <a:r>
              <a:rPr lang="en-US" dirty="0"/>
              <a:t> drop packet, log it, and send TCP</a:t>
            </a:r>
          </a:p>
          <a:p>
            <a:pPr lvl="1"/>
            <a:r>
              <a:rPr lang="en-US" dirty="0"/>
              <a:t>reset (if TCP) or ICMP port unreachable (if UDP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 err="1"/>
              <a:t>sdrop</a:t>
            </a:r>
            <a:r>
              <a:rPr lang="en-US" dirty="0"/>
              <a:t>: Make </a:t>
            </a:r>
            <a:r>
              <a:rPr lang="en-US" dirty="0" err="1"/>
              <a:t>iptables</a:t>
            </a:r>
            <a:r>
              <a:rPr lang="en-US" dirty="0"/>
              <a:t> drop packet, but do not log </a:t>
            </a:r>
            <a:r>
              <a:rPr lang="en-US" dirty="0" smtClean="0"/>
              <a:t>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16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Detection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How </a:t>
            </a:r>
            <a:r>
              <a:rPr lang="en-US" dirty="0"/>
              <a:t>to use rule-based IDSs</a:t>
            </a:r>
          </a:p>
          <a:p>
            <a:r>
              <a:rPr lang="en-US" dirty="0"/>
              <a:t>Rule-based IDSs (Snort, Cisco IDS,. . . ) in general:</a:t>
            </a:r>
          </a:p>
          <a:p>
            <a:pPr lvl="1"/>
            <a:r>
              <a:rPr lang="en-US" dirty="0"/>
              <a:t>Perform pattern matching on various features of IP </a:t>
            </a:r>
            <a:r>
              <a:rPr lang="en-US" dirty="0" smtClean="0"/>
              <a:t>traffic</a:t>
            </a:r>
            <a:endParaRPr lang="en-US" dirty="0"/>
          </a:p>
          <a:p>
            <a:pPr lvl="1"/>
            <a:r>
              <a:rPr lang="en-US" dirty="0"/>
              <a:t>Give alarms or log entries as specified by the </a:t>
            </a:r>
            <a:r>
              <a:rPr lang="en-US" dirty="0" smtClean="0"/>
              <a:t>rules</a:t>
            </a:r>
            <a:endParaRPr lang="en-US" dirty="0"/>
          </a:p>
          <a:p>
            <a:pPr lvl="1"/>
            <a:r>
              <a:rPr lang="en-US" dirty="0" smtClean="0"/>
              <a:t>Provide thresholds </a:t>
            </a:r>
            <a:r>
              <a:rPr lang="en-US" dirty="0"/>
              <a:t>to reduce effects of ”noisy rules</a:t>
            </a:r>
            <a:r>
              <a:rPr lang="en-US" dirty="0" smtClean="0"/>
              <a:t>”</a:t>
            </a:r>
            <a:endParaRPr lang="en-US" dirty="0"/>
          </a:p>
          <a:p>
            <a:pPr lvl="1"/>
            <a:r>
              <a:rPr lang="en-US" dirty="0"/>
              <a:t>Have plug-in modules for specific purposes, such as</a:t>
            </a:r>
          </a:p>
          <a:p>
            <a:pPr lvl="2"/>
            <a:r>
              <a:rPr lang="en-US" dirty="0"/>
              <a:t>detecting </a:t>
            </a:r>
            <a:r>
              <a:rPr lang="en-US" dirty="0" smtClean="0"/>
              <a:t>port-scanning</a:t>
            </a:r>
            <a:endParaRPr lang="en-US" dirty="0"/>
          </a:p>
          <a:p>
            <a:pPr lvl="2"/>
            <a:r>
              <a:rPr lang="en-US" dirty="0"/>
              <a:t>detecting attempts to evade detection</a:t>
            </a:r>
          </a:p>
          <a:p>
            <a:r>
              <a:rPr lang="en-US" dirty="0" smtClean="0"/>
              <a:t>Almost all </a:t>
            </a:r>
            <a:r>
              <a:rPr lang="en-US" dirty="0"/>
              <a:t>IDSs offer large sets of ready-made rules </a:t>
            </a:r>
            <a:r>
              <a:rPr lang="en-US" dirty="0" smtClean="0"/>
              <a:t>for various </a:t>
            </a:r>
            <a:r>
              <a:rPr lang="en-US" dirty="0"/>
              <a:t>standard situations (FTP, WWW, </a:t>
            </a:r>
            <a:r>
              <a:rPr lang="en-US" dirty="0" smtClean="0"/>
              <a:t>IMAP . . . )</a:t>
            </a:r>
            <a:endParaRPr lang="en-US" dirty="0"/>
          </a:p>
          <a:p>
            <a:r>
              <a:rPr lang="en-US" u="sng" dirty="0"/>
              <a:t>When designing your own rules, try to match </a:t>
            </a:r>
            <a:r>
              <a:rPr lang="en-US" u="sng" dirty="0" smtClean="0"/>
              <a:t>known vulnerabilities </a:t>
            </a:r>
            <a:r>
              <a:rPr lang="en-US" u="sng" dirty="0"/>
              <a:t>rather than known exploits</a:t>
            </a:r>
            <a:r>
              <a:rPr lang="en-US" u="sng" dirty="0" smtClean="0"/>
              <a:t>!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89709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Detection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Honeypot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A </a:t>
            </a:r>
            <a:r>
              <a:rPr lang="en-US" dirty="0"/>
              <a:t>security </a:t>
            </a:r>
            <a:r>
              <a:rPr lang="en-US" dirty="0" smtClean="0"/>
              <a:t>resource </a:t>
            </a:r>
            <a:r>
              <a:rPr lang="en-US" dirty="0"/>
              <a:t>whose value lies in it being </a:t>
            </a:r>
            <a:r>
              <a:rPr lang="en-US" dirty="0" smtClean="0"/>
              <a:t>attacked, probed </a:t>
            </a:r>
            <a:r>
              <a:rPr lang="en-US" dirty="0"/>
              <a:t>or </a:t>
            </a:r>
            <a:r>
              <a:rPr lang="en-US" dirty="0" smtClean="0"/>
              <a:t>compromised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A </a:t>
            </a:r>
            <a:r>
              <a:rPr lang="en-US" dirty="0"/>
              <a:t>honeypot is (usually) a single </a:t>
            </a:r>
            <a:r>
              <a:rPr lang="en-US" dirty="0" smtClean="0"/>
              <a:t>computer whereas honey-net </a:t>
            </a:r>
            <a:r>
              <a:rPr lang="en-US" dirty="0"/>
              <a:t>is a network of computers, usually protected </a:t>
            </a:r>
            <a:r>
              <a:rPr lang="en-US" dirty="0" smtClean="0"/>
              <a:t>by a </a:t>
            </a:r>
            <a:r>
              <a:rPr lang="en-US" dirty="0"/>
              <a:t>firewall to regulate </a:t>
            </a:r>
            <a:r>
              <a:rPr lang="en-US" dirty="0" smtClean="0"/>
              <a:t>traffic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457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Intrusion Detection System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Purposes </a:t>
            </a:r>
            <a:r>
              <a:rPr lang="en-US" dirty="0"/>
              <a:t>of a H</a:t>
            </a:r>
            <a:r>
              <a:rPr lang="en-US" dirty="0" smtClean="0"/>
              <a:t>oneypot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Research honeypots: (e.g. Mantrap)</a:t>
            </a:r>
          </a:p>
          <a:p>
            <a:pPr lvl="1"/>
            <a:r>
              <a:rPr lang="en-US" dirty="0"/>
              <a:t>Typically </a:t>
            </a:r>
            <a:r>
              <a:rPr lang="en-US" dirty="0" smtClean="0"/>
              <a:t>used for </a:t>
            </a:r>
            <a:r>
              <a:rPr lang="en-US" dirty="0"/>
              <a:t>serious hacker </a:t>
            </a:r>
            <a:r>
              <a:rPr lang="en-US" dirty="0" smtClean="0"/>
              <a:t>hunters, </a:t>
            </a:r>
            <a:r>
              <a:rPr lang="en-US" dirty="0"/>
              <a:t>collect huge amounts of data</a:t>
            </a:r>
          </a:p>
          <a:p>
            <a:pPr lvl="1"/>
            <a:r>
              <a:rPr lang="en-US" dirty="0"/>
              <a:t>Used to learn what the </a:t>
            </a:r>
            <a:r>
              <a:rPr lang="en-US" dirty="0" err="1"/>
              <a:t>blackhats</a:t>
            </a:r>
            <a:r>
              <a:rPr lang="en-US" dirty="0"/>
              <a:t> are </a:t>
            </a:r>
            <a:r>
              <a:rPr lang="en-US" dirty="0" smtClean="0"/>
              <a:t>doing, capture </a:t>
            </a:r>
            <a:r>
              <a:rPr lang="en-US" dirty="0"/>
              <a:t>their keystrokes, tools, </a:t>
            </a:r>
            <a:r>
              <a:rPr lang="en-US" dirty="0" smtClean="0"/>
              <a:t>conversations</a:t>
            </a:r>
          </a:p>
          <a:p>
            <a:pPr lvl="1"/>
            <a:r>
              <a:rPr lang="en-US" dirty="0" smtClean="0"/>
              <a:t>Really </a:t>
            </a:r>
            <a:r>
              <a:rPr lang="en-US" dirty="0"/>
              <a:t>hard work – and can be dangerous!</a:t>
            </a:r>
          </a:p>
          <a:p>
            <a:r>
              <a:rPr lang="en-US" dirty="0"/>
              <a:t>Production honeypots: </a:t>
            </a:r>
            <a:r>
              <a:rPr lang="en-US" dirty="0" smtClean="0"/>
              <a:t>(</a:t>
            </a:r>
            <a:r>
              <a:rPr lang="en-US" dirty="0"/>
              <a:t>e.g. BOF, DTK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/>
              <a:t>Very similar to conventional </a:t>
            </a:r>
            <a:r>
              <a:rPr lang="en-US" dirty="0" smtClean="0"/>
              <a:t>IDSs, </a:t>
            </a:r>
            <a:r>
              <a:rPr lang="en-US" dirty="0"/>
              <a:t>only collect small amounts of data</a:t>
            </a:r>
          </a:p>
          <a:p>
            <a:pPr lvl="1"/>
            <a:r>
              <a:rPr lang="en-US" dirty="0"/>
              <a:t>Identify hostile activity, generate </a:t>
            </a:r>
            <a:r>
              <a:rPr lang="en-US" dirty="0" smtClean="0"/>
              <a:t>alerts, may </a:t>
            </a:r>
            <a:r>
              <a:rPr lang="en-US" dirty="0"/>
              <a:t>advertise themselves to frighten away </a:t>
            </a:r>
            <a:r>
              <a:rPr lang="en-US" dirty="0" smtClean="0"/>
              <a:t>hackers</a:t>
            </a:r>
            <a:endParaRPr lang="en-US" dirty="0"/>
          </a:p>
          <a:p>
            <a:pPr lvl="1"/>
            <a:r>
              <a:rPr lang="en-US" dirty="0"/>
              <a:t>Easy to </a:t>
            </a:r>
            <a:r>
              <a:rPr lang="en-US" dirty="0" smtClean="0"/>
              <a:t>organize</a:t>
            </a:r>
            <a:r>
              <a:rPr lang="en-US" dirty="0"/>
              <a:t>, not very hard </a:t>
            </a:r>
            <a:r>
              <a:rPr lang="en-US" dirty="0" smtClean="0"/>
              <a:t>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782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Intrusion Detection Systems</a:t>
            </a:r>
            <a:endParaRPr lang="en-US" sz="2000" dirty="0"/>
          </a:p>
          <a:p>
            <a:pPr marL="0" indent="0">
              <a:buNone/>
            </a:pPr>
            <a:r>
              <a:rPr lang="en-US" sz="1800" dirty="0"/>
              <a:t>http://en.wikipedia.org/wiki/Intrusion_detection_system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2000" dirty="0"/>
              <a:t>Open Source Intrusion Detection Tools: A Quick Overview</a:t>
            </a:r>
          </a:p>
          <a:p>
            <a:pPr marL="0" indent="0">
              <a:buNone/>
            </a:pPr>
            <a:r>
              <a:rPr lang="en-US" sz="1800" dirty="0"/>
              <a:t>http://www.alienvault.com/blogs/security-essentials/open-source-intrusion-detection-tools-a-quick-overview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Snort IPS/IDS</a:t>
            </a:r>
          </a:p>
          <a:p>
            <a:pPr marL="0" indent="0">
              <a:buNone/>
            </a:pPr>
            <a:r>
              <a:rPr lang="en-US" sz="1800" dirty="0" smtClean="0"/>
              <a:t>http</a:t>
            </a:r>
            <a:r>
              <a:rPr lang="en-US" sz="1800" dirty="0"/>
              <a:t>://www.snort.org</a:t>
            </a:r>
            <a:r>
              <a:rPr lang="en-US" sz="1800" dirty="0" smtClean="0"/>
              <a:t>/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sz="1800" dirty="0" smtClean="0"/>
          </a:p>
          <a:p>
            <a:r>
              <a:rPr lang="en-US" sz="2000" dirty="0"/>
              <a:t>“Network Security: A Beginner’s Guide”, by Eric </a:t>
            </a:r>
            <a:r>
              <a:rPr lang="en-US" sz="2000" dirty="0" err="1"/>
              <a:t>Maiwald</a:t>
            </a:r>
            <a:r>
              <a:rPr lang="en-US" sz="2000" dirty="0"/>
              <a:t>, CISSP (chapter 14)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047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rgbClr val="0070C0"/>
                </a:solidFill>
              </a:rPr>
              <a:t>THANKS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80431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c48BxRTjzwKhAarpC8SPOi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FUQynbDZ7CnnKAa7cx9MM"/>
</p:tagLst>
</file>

<file path=ppt/theme/theme1.xml><?xml version="1.0" encoding="utf-8"?>
<a:theme xmlns:a="http://schemas.openxmlformats.org/drawingml/2006/main" name="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3868</TotalTime>
  <Words>1626</Words>
  <Application>Microsoft Office PowerPoint</Application>
  <PresentationFormat>Custom</PresentationFormat>
  <Paragraphs>188</Paragraphs>
  <Slides>24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Training</vt:lpstr>
      <vt:lpstr>1_Training</vt:lpstr>
      <vt:lpstr>Intrusion Detection and Prevention Systems</vt:lpstr>
      <vt:lpstr>Intruders</vt:lpstr>
      <vt:lpstr>Packet Filtering Firewalls</vt:lpstr>
      <vt:lpstr>Intrusion Detection System</vt:lpstr>
      <vt:lpstr>Intrusion Prevention System</vt:lpstr>
      <vt:lpstr>Intrusion Detection System</vt:lpstr>
      <vt:lpstr>Intrusion Detection System</vt:lpstr>
      <vt:lpstr>Intrusion Detection System</vt:lpstr>
      <vt:lpstr>Intrusion Detection System</vt:lpstr>
      <vt:lpstr>Intrusion Detection System</vt:lpstr>
      <vt:lpstr>Intrusion Detection System</vt:lpstr>
      <vt:lpstr>Intrusion Detection System</vt:lpstr>
      <vt:lpstr>Intrusion Detection System</vt:lpstr>
      <vt:lpstr>Intrusion Detection System</vt:lpstr>
      <vt:lpstr>Intrusion Detection System</vt:lpstr>
      <vt:lpstr>Intrusion Detection System</vt:lpstr>
      <vt:lpstr>Intrusion Detection System</vt:lpstr>
      <vt:lpstr>Intrusion Detection System</vt:lpstr>
      <vt:lpstr>Intrusion Detection System</vt:lpstr>
      <vt:lpstr>Intrusion Detection System</vt:lpstr>
      <vt:lpstr>Intrusion Detection System</vt:lpstr>
      <vt:lpstr>Intrusion Detection System</vt:lpstr>
      <vt:lpstr>References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Computing</dc:title>
  <dc:creator>Muhammad Sharjeel</dc:creator>
  <cp:lastModifiedBy>Dr. Ahmad</cp:lastModifiedBy>
  <cp:revision>2108</cp:revision>
  <dcterms:created xsi:type="dcterms:W3CDTF">2011-02-16T18:06:57Z</dcterms:created>
  <dcterms:modified xsi:type="dcterms:W3CDTF">2016-02-09T08:46:42Z</dcterms:modified>
</cp:coreProperties>
</file>