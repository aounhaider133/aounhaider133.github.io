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7"/>
  </p:notesMasterIdLst>
  <p:sldIdLst>
    <p:sldId id="292" r:id="rId3"/>
    <p:sldId id="257" r:id="rId4"/>
    <p:sldId id="258" r:id="rId5"/>
    <p:sldId id="259" r:id="rId6"/>
    <p:sldId id="260" r:id="rId7"/>
    <p:sldId id="261" r:id="rId8"/>
    <p:sldId id="262" r:id="rId9"/>
    <p:sldId id="263" r:id="rId10"/>
    <p:sldId id="264" r:id="rId11"/>
    <p:sldId id="265" r:id="rId12"/>
    <p:sldId id="267" r:id="rId13"/>
    <p:sldId id="268" r:id="rId14"/>
    <p:sldId id="269" r:id="rId15"/>
    <p:sldId id="270" r:id="rId16"/>
    <p:sldId id="290" r:id="rId17"/>
    <p:sldId id="271" r:id="rId18"/>
    <p:sldId id="272" r:id="rId19"/>
    <p:sldId id="273" r:id="rId20"/>
    <p:sldId id="274" r:id="rId21"/>
    <p:sldId id="275" r:id="rId22"/>
    <p:sldId id="276" r:id="rId23"/>
    <p:sldId id="277" r:id="rId24"/>
    <p:sldId id="278" r:id="rId25"/>
    <p:sldId id="279" r:id="rId26"/>
    <p:sldId id="280" r:id="rId27"/>
    <p:sldId id="291" r:id="rId28"/>
    <p:sldId id="281" r:id="rId29"/>
    <p:sldId id="282" r:id="rId30"/>
    <p:sldId id="283" r:id="rId31"/>
    <p:sldId id="284" r:id="rId32"/>
    <p:sldId id="286" r:id="rId33"/>
    <p:sldId id="287" r:id="rId34"/>
    <p:sldId id="288" r:id="rId35"/>
    <p:sldId id="289"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E7B396-2EB5-41CD-A602-3575D897D62F}" type="datetimeFigureOut">
              <a:rPr lang="en-US" smtClean="0"/>
              <a:t>9/20/2022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C7A709F-3D26-4339-BDB9-DD67BEA78179}" type="slidenum">
              <a:rPr lang="en-US" smtClean="0"/>
              <a:t>‹#›</a:t>
            </a:fld>
            <a:endParaRPr lang="en-US"/>
          </a:p>
        </p:txBody>
      </p:sp>
    </p:spTree>
    <p:extLst>
      <p:ext uri="{BB962C8B-B14F-4D97-AF65-F5344CB8AC3E}">
        <p14:creationId xmlns:p14="http://schemas.microsoft.com/office/powerpoint/2010/main" val="248490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664726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3"/>
          <p:cNvSpPr>
            <a:spLocks noGrp="1" noChangeArrowheads="1"/>
          </p:cNvSpPr>
          <p:nvPr>
            <p:ph type="hdr" sz="quarter"/>
          </p:nvPr>
        </p:nvSpPr>
        <p:spPr>
          <a:noFill/>
        </p:spPr>
        <p:txBody>
          <a:bodyPr/>
          <a:lstStyle/>
          <a:p>
            <a:r>
              <a:rPr lang="en-US" dirty="0" smtClean="0">
                <a:solidFill>
                  <a:prstClr val="black"/>
                </a:solidFill>
              </a:rPr>
              <a:t>Microsoft </a:t>
            </a:r>
            <a:r>
              <a:rPr lang="en-US" b="1" dirty="0" smtClean="0">
                <a:solidFill>
                  <a:prstClr val="black"/>
                </a:solidFill>
              </a:rPr>
              <a:t>Engineering Excellence</a:t>
            </a:r>
            <a:endParaRPr lang="en-US" dirty="0" smtClean="0">
              <a:solidFill>
                <a:prstClr val="black"/>
              </a:solidFill>
            </a:endParaRPr>
          </a:p>
        </p:txBody>
      </p:sp>
      <p:sp>
        <p:nvSpPr>
          <p:cNvPr id="43011" name="Rectangle 25"/>
          <p:cNvSpPr>
            <a:spLocks noGrp="1" noChangeArrowheads="1"/>
          </p:cNvSpPr>
          <p:nvPr>
            <p:ph type="ftr" sz="quarter" idx="4"/>
          </p:nvPr>
        </p:nvSpPr>
        <p:spPr>
          <a:noFill/>
        </p:spPr>
        <p:txBody>
          <a:bodyPr/>
          <a:lstStyle/>
          <a:p>
            <a:r>
              <a:rPr lang="en-US" dirty="0" smtClean="0">
                <a:solidFill>
                  <a:prstClr val="black"/>
                </a:solidFill>
              </a:rPr>
              <a:t>Microsoft Confidential</a:t>
            </a:r>
          </a:p>
        </p:txBody>
      </p:sp>
      <p:sp>
        <p:nvSpPr>
          <p:cNvPr id="43012" name="Rectangle 26"/>
          <p:cNvSpPr>
            <a:spLocks noGrp="1" noChangeArrowheads="1"/>
          </p:cNvSpPr>
          <p:nvPr>
            <p:ph type="sldNum" sz="quarter" idx="5"/>
          </p:nvPr>
        </p:nvSpPr>
        <p:spPr>
          <a:noFill/>
        </p:spPr>
        <p:txBody>
          <a:bodyPr/>
          <a:lstStyle/>
          <a:p>
            <a:fld id="{B5FF76F4-FC11-42FE-9D94-04E3E6D16C06}" type="slidenum">
              <a:rPr lang="en-US" smtClean="0">
                <a:solidFill>
                  <a:prstClr val="black"/>
                </a:solidFill>
              </a:rPr>
              <a:pPr/>
              <a:t>34</a:t>
            </a:fld>
            <a:endParaRPr lang="en-US" dirty="0" smtClean="0">
              <a:solidFill>
                <a:prstClr val="black"/>
              </a:solidFill>
            </a:endParaRPr>
          </a:p>
        </p:txBody>
      </p:sp>
      <p:sp>
        <p:nvSpPr>
          <p:cNvPr id="43013" name="Rectangle 2"/>
          <p:cNvSpPr>
            <a:spLocks noGrp="1" noRot="1" noChangeAspect="1" noChangeArrowheads="1" noTextEdit="1"/>
          </p:cNvSpPr>
          <p:nvPr>
            <p:ph type="sldImg"/>
          </p:nvPr>
        </p:nvSpPr>
        <p:spPr>
          <a:xfrm>
            <a:off x="381000" y="450850"/>
            <a:ext cx="6096000" cy="3429000"/>
          </a:xfrm>
          <a:ln/>
        </p:spPr>
      </p:sp>
      <p:sp>
        <p:nvSpPr>
          <p:cNvPr id="43014" name="Rectangle 3"/>
          <p:cNvSpPr>
            <a:spLocks noGrp="1" noChangeArrowheads="1"/>
          </p:cNvSpPr>
          <p:nvPr>
            <p:ph type="body" idx="1"/>
          </p:nvPr>
        </p:nvSpPr>
        <p:spPr>
          <a:xfrm>
            <a:off x="307492" y="4130103"/>
            <a:ext cx="6261652" cy="4603230"/>
          </a:xfrm>
          <a:noFill/>
          <a:ln/>
        </p:spPr>
        <p:txBody>
          <a:bodyPr/>
          <a:lstStyle/>
          <a:p>
            <a:pPr>
              <a:buFontTx/>
              <a:buNone/>
            </a:pPr>
            <a:endParaRPr lang="en-US" dirty="0" smtClean="0"/>
          </a:p>
          <a:p>
            <a:endParaRPr lang="en-US" dirty="0" smtClean="0"/>
          </a:p>
          <a:p>
            <a:endParaRPr lang="en-US" dirty="0" smtClean="0"/>
          </a:p>
          <a:p>
            <a:endParaRPr lang="en-US" dirty="0" smtClean="0"/>
          </a:p>
        </p:txBody>
      </p:sp>
    </p:spTree>
    <p:extLst>
      <p:ext uri="{BB962C8B-B14F-4D97-AF65-F5344CB8AC3E}">
        <p14:creationId xmlns:p14="http://schemas.microsoft.com/office/powerpoint/2010/main" val="3761005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2" name="Title 1"/>
          <p:cNvSpPr>
            <a:spLocks noGrp="1"/>
          </p:cNvSpPr>
          <p:nvPr>
            <p:ph type="ctrTitle" hasCustomPrompt="1"/>
          </p:nvPr>
        </p:nvSpPr>
        <p:spPr>
          <a:xfrm>
            <a:off x="2590801" y="2286002"/>
            <a:ext cx="6180224" cy="1470025"/>
          </a:xfrm>
        </p:spPr>
        <p:txBody>
          <a:bodyPr anchor="t"/>
          <a:lstStyle>
            <a:lvl1pPr algn="r">
              <a:defRPr b="1" cap="small" baseline="0">
                <a:solidFill>
                  <a:srgbClr val="003300"/>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962401" y="40386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251"/>
            <a:ext cx="3721618"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a:buNone/>
              <a:defRPr sz="2000" baseline="0"/>
            </a:lvl1pPr>
          </a:lstStyle>
          <a:p>
            <a:r>
              <a:rPr lang="en-US" dirty="0" smtClean="0"/>
              <a:t>Company Logo</a:t>
            </a:r>
            <a:endParaRPr lang="en-US" dirty="0"/>
          </a:p>
        </p:txBody>
      </p:sp>
    </p:spTree>
    <p:extLst>
      <p:ext uri="{BB962C8B-B14F-4D97-AF65-F5344CB8AC3E}">
        <p14:creationId xmlns:p14="http://schemas.microsoft.com/office/powerpoint/2010/main" val="326496385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5400000">
            <a:off x="3161049" y="-3176815"/>
            <a:ext cx="2819400" cy="9173031"/>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normAutofit/>
          </a:bodyPr>
          <a:lstStyle>
            <a:lvl1pPr algn="ctr">
              <a:defRPr sz="3600" b="1" cap="small" baseline="0">
                <a:solidFill>
                  <a:srgbClr val="0AA1C5"/>
                </a:solidFill>
                <a:latin typeface="Segoe UI" panose="020B0502040204020203" pitchFamily="34" charset="0"/>
                <a:cs typeface="Segoe UI" panose="020B0502040204020203" pitchFamily="34" charset="0"/>
              </a:defRPr>
            </a:lvl1pPr>
          </a:lstStyle>
          <a:p>
            <a:r>
              <a:rPr lang="en-US" dirty="0" smtClean="0"/>
              <a:t>Click to edit master title style</a:t>
            </a:r>
            <a:endParaRPr lang="en-US" dirty="0"/>
          </a:p>
        </p:txBody>
      </p:sp>
      <p:sp>
        <p:nvSpPr>
          <p:cNvPr id="4" name="Date Placeholder 3"/>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a:buNone/>
              <a:defRPr sz="1800"/>
            </a:lvl1pPr>
          </a:lstStyle>
          <a:p>
            <a:r>
              <a:rPr lang="en-US" dirty="0" smtClean="0"/>
              <a:t>Company Logo</a:t>
            </a:r>
            <a:endParaRPr lang="en-US" dirty="0"/>
          </a:p>
        </p:txBody>
      </p:sp>
      <p:sp>
        <p:nvSpPr>
          <p:cNvPr id="3" name="TextBox 2"/>
          <p:cNvSpPr txBox="1"/>
          <p:nvPr userDrawn="1"/>
        </p:nvSpPr>
        <p:spPr>
          <a:xfrm>
            <a:off x="4800600" y="959825"/>
            <a:ext cx="3505200" cy="584775"/>
          </a:xfrm>
          <a:prstGeom prst="rect">
            <a:avLst/>
          </a:prstGeom>
          <a:noFill/>
        </p:spPr>
        <p:txBody>
          <a:bodyPr wrap="square" rtlCol="0" anchor="ctr">
            <a:spAutoFit/>
          </a:bodyPr>
          <a:lstStyle/>
          <a:p>
            <a:pPr algn="ctr"/>
            <a:r>
              <a:rPr lang="en-US" sz="3200" b="1"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Module # 8</a:t>
            </a:r>
            <a:endParaRPr lang="en-US" sz="3200" b="1" dirty="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7271205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52402"/>
            <a:ext cx="8382000" cy="864207"/>
          </a:xfrm>
          <a:noFill/>
        </p:spPr>
        <p:txBody>
          <a:bodyPr lIns="182880" anchor="ctr" anchorCtr="0">
            <a:normAutofit/>
          </a:bodyPr>
          <a:lstStyle>
            <a:lvl1pPr algn="l">
              <a:defRPr lang="en-US" sz="3600" b="1" dirty="0">
                <a:solidFill>
                  <a:srgbClr val="0AA1C5"/>
                </a:solidFill>
                <a:effectLst/>
                <a:latin typeface="Segoe UI" panose="020B0502040204020203" pitchFamily="34" charset="0"/>
                <a:cs typeface="Segoe UI" panose="020B0502040204020203"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609600" y="1169009"/>
            <a:ext cx="8382000" cy="5536592"/>
          </a:xfrm>
        </p:spPr>
        <p:txBody>
          <a:bodyPr tIns="91440" rIns="365760" bIns="91440">
            <a:normAutofit/>
          </a:bodyPr>
          <a:lstStyle>
            <a:lvl1pPr marL="457200" indent="-457200" algn="just">
              <a:buFont typeface="Wingdings" panose="05000000000000000000" pitchFamily="2" charset="2"/>
              <a:buChar char="q"/>
              <a:defRPr sz="2400">
                <a:solidFill>
                  <a:srgbClr val="0070C0"/>
                </a:solidFill>
                <a:latin typeface="Segoe UI" panose="020B0502040204020203" pitchFamily="34" charset="0"/>
                <a:cs typeface="Segoe UI" panose="020B0502040204020203" pitchFamily="34" charset="0"/>
              </a:defRPr>
            </a:lvl1pPr>
            <a:lvl2pPr marL="806450" indent="-349250" algn="just">
              <a:buFont typeface="Wingdings" panose="05000000000000000000" pitchFamily="2" charset="2"/>
              <a:buChar char="q"/>
              <a:defRPr sz="2000">
                <a:solidFill>
                  <a:srgbClr val="0070C0"/>
                </a:solidFill>
                <a:latin typeface="Segoe UI" panose="020B0502040204020203" pitchFamily="34" charset="0"/>
                <a:cs typeface="Segoe UI" panose="020B0502040204020203" pitchFamily="34" charset="0"/>
              </a:defRPr>
            </a:lvl2pPr>
            <a:lvl3pPr marL="1263650" indent="-349250" algn="just">
              <a:buFont typeface="Wingdings" panose="05000000000000000000" pitchFamily="2" charset="2"/>
              <a:buChar char="q"/>
              <a:defRPr sz="1800">
                <a:solidFill>
                  <a:srgbClr val="0070C0"/>
                </a:solidFill>
                <a:latin typeface="Segoe UI" panose="020B0502040204020203" pitchFamily="34" charset="0"/>
                <a:cs typeface="Segoe UI" panose="020B0502040204020203" pitchFamily="34" charset="0"/>
              </a:defRPr>
            </a:lvl3pPr>
            <a:lvl4pPr marL="1720850" indent="-349250" algn="just">
              <a:buFont typeface="Wingdings" panose="05000000000000000000" pitchFamily="2" charset="2"/>
              <a:buChar char="q"/>
              <a:defRPr sz="1600">
                <a:solidFill>
                  <a:srgbClr val="0070C0"/>
                </a:solidFill>
                <a:latin typeface="Segoe UI" panose="020B0502040204020203" pitchFamily="34" charset="0"/>
                <a:cs typeface="Segoe UI" panose="020B0502040204020203" pitchFamily="34" charset="0"/>
              </a:defRPr>
            </a:lvl4pPr>
            <a:lvl5pPr marL="2057400" indent="-228600" algn="just">
              <a:buFont typeface="Wingdings" panose="05000000000000000000" pitchFamily="2" charset="2"/>
              <a:buChar char="q"/>
              <a:defRPr sz="1400">
                <a:solidFill>
                  <a:srgbClr val="0070C0"/>
                </a:solidFill>
                <a:latin typeface="Segoe UI" panose="020B0502040204020203" pitchFamily="34" charset="0"/>
                <a:cs typeface="Segoe UI" panose="020B0502040204020203"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6" name="Straight Connector 5"/>
          <p:cNvCxnSpPr/>
          <p:nvPr userDrawn="1"/>
        </p:nvCxnSpPr>
        <p:spPr>
          <a:xfrm>
            <a:off x="548640" y="990600"/>
            <a:ext cx="7680960" cy="0"/>
          </a:xfrm>
          <a:prstGeom prst="line">
            <a:avLst/>
          </a:prstGeom>
          <a:ln w="69850">
            <a:solidFill>
              <a:srgbClr val="0AA1C5"/>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72401" y="0"/>
            <a:ext cx="1449845" cy="1280160"/>
          </a:xfrm>
          <a:prstGeom prst="rect">
            <a:avLst/>
          </a:prstGeom>
        </p:spPr>
      </p:pic>
    </p:spTree>
    <p:extLst>
      <p:ext uri="{BB962C8B-B14F-4D97-AF65-F5344CB8AC3E}">
        <p14:creationId xmlns:p14="http://schemas.microsoft.com/office/powerpoint/2010/main" val="36775626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768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15429680"/>
      </p:ext>
    </p:extLst>
  </p:cSld>
  <p:clrMapOvr>
    <a:masterClrMapping/>
  </p:clrMapOvr>
  <p:transition spd="slow">
    <p:wipe dir="d"/>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8736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736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62270469"/>
      </p:ext>
    </p:extLst>
  </p:cSld>
  <p:clrMapOvr>
    <a:masterClrMapping/>
  </p:clrMapOvr>
  <p:transition spd="slow">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036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58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045691289"/>
      </p:ext>
    </p:extLst>
  </p:cSld>
  <p:clrMapOvr>
    <a:masterClrMapping/>
  </p:clrMapOvr>
  <p:transition spd="slow">
    <p:wipe dir="d"/>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038032967"/>
      </p:ext>
    </p:extLst>
  </p:cSld>
  <p:clrMapOvr>
    <a:masterClrMapping/>
  </p:clrMapOvr>
  <p:transition spd="slow">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46761161"/>
      </p:ext>
    </p:extLst>
  </p:cSld>
  <p:clrMapOvr>
    <a:masterClrMapping/>
  </p:clrMapOvr>
  <p:transition spd="slow">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40"/>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274640"/>
            <a:ext cx="5867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016996190"/>
      </p:ext>
    </p:extLst>
  </p:cSld>
  <p:clrMapOvr>
    <a:masterClrMapping/>
  </p:clrMapOvr>
  <p:transition spd="slow">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077889456"/>
      </p:ext>
    </p:extLst>
  </p:cSld>
  <p:clrMapOvr>
    <a:masterClrMapping/>
  </p:clrMapOvr>
  <p:transition spd="slow">
    <p:wipe dir="d"/>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65409657"/>
      </p:ext>
    </p:extLst>
  </p:cSld>
  <p:clrMapOvr>
    <a:masterClrMapping/>
  </p:clrMapOvr>
  <p:transition spd="slow">
    <p:wipe dir="d"/>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3" name="Date Placeholder 3"/>
          <p:cNvSpPr>
            <a:spLocks noGrp="1"/>
          </p:cNvSpPr>
          <p:nvPr>
            <p:ph type="dt" sz="half" idx="10"/>
          </p:nvPr>
        </p:nvSpPr>
        <p:spPr>
          <a:xfrm>
            <a:off x="762000" y="6356352"/>
            <a:ext cx="2133600" cy="365125"/>
          </a:xfrm>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4" name="Footer Placeholder 4"/>
          <p:cNvSpPr>
            <a:spLocks noGrp="1"/>
          </p:cNvSpPr>
          <p:nvPr>
            <p:ph type="ftr" sz="quarter" idx="11"/>
          </p:nvPr>
        </p:nvSpPr>
        <p:spPr>
          <a:xfrm>
            <a:off x="3352800" y="6356352"/>
            <a:ext cx="2895600" cy="365125"/>
          </a:xfrm>
        </p:spPr>
        <p:txBody>
          <a:bodyPr/>
          <a:lstStyle/>
          <a:p>
            <a:endParaRPr lang="en-US" dirty="0">
              <a:solidFill>
                <a:prstClr val="black">
                  <a:tint val="75000"/>
                </a:prstClr>
              </a:solidFill>
            </a:endParaRPr>
          </a:p>
        </p:txBody>
      </p:sp>
      <p:sp>
        <p:nvSpPr>
          <p:cNvPr id="5" name="Slide Number Placeholder 5"/>
          <p:cNvSpPr>
            <a:spLocks noGrp="1"/>
          </p:cNvSpPr>
          <p:nvPr>
            <p:ph type="sldNum" sz="quarter" idx="12"/>
          </p:nvPr>
        </p:nvSpPr>
        <p:spPr>
          <a:xfrm>
            <a:off x="6705600" y="6356352"/>
            <a:ext cx="2133600" cy="365125"/>
          </a:xfrm>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7920608"/>
      </p:ext>
    </p:extLst>
  </p:cSld>
  <p:clrMapOvr>
    <a:masterClrMapping/>
  </p:clrMapOvr>
  <p:transition spd="slow">
    <p:wipe dir="d"/>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2" name="Title 1"/>
          <p:cNvSpPr>
            <a:spLocks noGrp="1"/>
          </p:cNvSpPr>
          <p:nvPr>
            <p:ph type="ctrTitle" hasCustomPrompt="1"/>
          </p:nvPr>
        </p:nvSpPr>
        <p:spPr>
          <a:xfrm>
            <a:off x="2532292" y="1969862"/>
            <a:ext cx="6180224" cy="1470025"/>
          </a:xfrm>
        </p:spPr>
        <p:txBody>
          <a:bodyPr anchor="t"/>
          <a:lstStyle>
            <a:lvl1pPr algn="r">
              <a:defRPr b="1" cap="small" baseline="0">
                <a:solidFill>
                  <a:srgbClr val="465F46"/>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4191000" y="57150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1251"/>
            <a:ext cx="2457450" cy="6858000"/>
          </a:xfrm>
          <a:prstGeom prst="rect">
            <a:avLst/>
          </a:prstGeom>
        </p:spPr>
      </p:pic>
    </p:spTree>
    <p:extLst>
      <p:ext uri="{BB962C8B-B14F-4D97-AF65-F5344CB8AC3E}">
        <p14:creationId xmlns:p14="http://schemas.microsoft.com/office/powerpoint/2010/main" val="53550583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1600202"/>
            <a:ext cx="80772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20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5" name="Footer Placeholder 4"/>
          <p:cNvSpPr>
            <a:spLocks noGrp="1"/>
          </p:cNvSpPr>
          <p:nvPr>
            <p:ph type="ftr" sz="quarter" idx="3"/>
          </p:nvPr>
        </p:nvSpPr>
        <p:spPr>
          <a:xfrm>
            <a:off x="33528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7056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pic>
        <p:nvPicPr>
          <p:cNvPr id="8" name="Picture 7"/>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152399" y="-109183"/>
            <a:ext cx="818707" cy="7083189"/>
          </a:xfrm>
          <a:prstGeom prst="rect">
            <a:avLst/>
          </a:prstGeom>
        </p:spPr>
      </p:pic>
    </p:spTree>
    <p:extLst>
      <p:ext uri="{BB962C8B-B14F-4D97-AF65-F5344CB8AC3E}">
        <p14:creationId xmlns:p14="http://schemas.microsoft.com/office/powerpoint/2010/main" val="25604552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slow">
    <p:wipe dir="d"/>
  </p:transition>
  <p:timing>
    <p:tnLst>
      <p:par>
        <p:cTn id="1" dur="indefinite" restart="never" nodeType="tmRoot"/>
      </p:par>
    </p:tnLst>
  </p:timing>
  <p:txStyles>
    <p:titleStyle>
      <a:lvl1pPr algn="l" defTabSz="914400" rtl="0" eaLnBrk="1" latinLnBrk="0" hangingPunct="1">
        <a:spcBef>
          <a:spcPct val="0"/>
        </a:spcBef>
        <a:buNone/>
        <a:defRPr lang="en-US" sz="4400" kern="1200" dirty="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notesSlide" Target="../notesSlides/notesSlide1.xml"/><Relationship Id="rId4"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hyperlink" Target="http://www.mathsisfun.com/prime-factorization.html" TargetMode="External"/><Relationship Id="rId2" Type="http://schemas.openxmlformats.org/officeDocument/2006/relationships/hyperlink" Target="https://en.wikipedia.org/wiki/Prime_factor" TargetMode="External"/><Relationship Id="rId1" Type="http://schemas.openxmlformats.org/officeDocument/2006/relationships/slideLayout" Target="../slideLayouts/slideLayout14.xml"/><Relationship Id="rId4" Type="http://schemas.openxmlformats.org/officeDocument/2006/relationships/hyperlink" Target="https://www.khanacademy.org/math/pre-algebra/factors-multiples/prime_factorization/v/prime-factorizatio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hyperlink" Target="https://en.wikipedia.org/wiki/RSA_numbers" TargetMode="Externa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hyperlink" Target="https://www.youtube.com/watch?v=Z8M2BTscoD4" TargetMode="Externa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4000502" y="1828800"/>
            <a:ext cx="4025601" cy="762000"/>
          </a:xfrm>
        </p:spPr>
        <p:txBody>
          <a:bodyPr>
            <a:normAutofit fontScale="90000"/>
          </a:bodyPr>
          <a:lstStyle/>
          <a:p>
            <a:r>
              <a:rPr lang="en-US" sz="4000"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CSC432 </a:t>
            </a:r>
            <a:r>
              <a:rPr lang="en-US" sz="4000" dirty="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 </a:t>
            </a:r>
            <a:r>
              <a:rPr lang="en-US" sz="4000"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information Security </a:t>
            </a:r>
            <a:endParaRPr lang="en-US" sz="4000" dirty="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3" name="Subtitle 2"/>
          <p:cNvSpPr>
            <a:spLocks noGrp="1"/>
          </p:cNvSpPr>
          <p:nvPr>
            <p:ph type="subTitle" idx="1"/>
            <p:custDataLst>
              <p:tags r:id="rId3"/>
            </p:custDataLst>
          </p:nvPr>
        </p:nvSpPr>
        <p:spPr>
          <a:xfrm>
            <a:off x="5715001" y="4419600"/>
            <a:ext cx="2836446" cy="533400"/>
          </a:xfrm>
        </p:spPr>
        <p:txBody>
          <a:bodyPr>
            <a:normAutofit/>
          </a:bodyPr>
          <a:lstStyle/>
          <a:p>
            <a:r>
              <a:rPr lang="en-US" sz="2400" b="1" dirty="0" smtClean="0">
                <a:solidFill>
                  <a:srgbClr val="0070C0"/>
                </a:solidFill>
                <a:latin typeface="+mn-lt"/>
              </a:rPr>
              <a:t>Dr. Adnan Ahmad</a:t>
            </a:r>
            <a:endParaRPr lang="en-US" sz="2400" b="1" dirty="0">
              <a:solidFill>
                <a:srgbClr val="0070C0"/>
              </a:solidFill>
              <a:latin typeface="+mn-lt"/>
            </a:endParaRPr>
          </a:p>
        </p:txBody>
      </p:sp>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07457" y="1500195"/>
            <a:ext cx="1607344" cy="1419225"/>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21957" y="304803"/>
            <a:ext cx="1607344" cy="1419225"/>
          </a:xfrm>
          <a:prstGeom prst="rect">
            <a:avLst/>
          </a:prstGeom>
        </p:spPr>
      </p:pic>
    </p:spTree>
    <p:custDataLst>
      <p:tags r:id="rId1"/>
    </p:custDataLst>
    <p:extLst>
      <p:ext uri="{BB962C8B-B14F-4D97-AF65-F5344CB8AC3E}">
        <p14:creationId xmlns:p14="http://schemas.microsoft.com/office/powerpoint/2010/main" val="418417720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
                                        <p:tgtEl>
                                          <p:spTgt spid="7"/>
                                        </p:tgtEl>
                                      </p:cBhvr>
                                    </p:animEffect>
                                  </p:childTnLst>
                                </p:cTn>
                              </p:par>
                            </p:childTnLst>
                          </p:cTn>
                        </p:par>
                        <p:par>
                          <p:cTn id="8" fill="hold">
                            <p:stCondLst>
                              <p:cond delay="600"/>
                            </p:stCondLst>
                            <p:childTnLst>
                              <p:par>
                                <p:cTn id="9" presetID="43" presetClass="path" presetSubtype="0" decel="50000" fill="hold" nodeType="afterEffect">
                                  <p:stCondLst>
                                    <p:cond delay="0"/>
                                  </p:stCondLst>
                                  <p:childTnLst>
                                    <p:animMotion origin="layout" path="M 6.25E-7 -0.00092 C 0.04036 -0.00092 0.40469 -0.00185 0.52695 -0.00254 C 0.64909 -0.00301 0.79466 0.00232 0.73294 -0.00509 C 0.67591 -0.03379 0.74687 0.03912 0.74687 -0.00023 " pathEditMode="relative" rAng="0" ptsTypes="AAAA">
                                      <p:cBhvr>
                                        <p:cTn id="10" dur="1500" fill="hold"/>
                                        <p:tgtEl>
                                          <p:spTgt spid="7"/>
                                        </p:tgtEl>
                                        <p:attrNameLst>
                                          <p:attrName>ppt_x</p:attrName>
                                          <p:attrName>ppt_y</p:attrName>
                                        </p:attrNameLst>
                                      </p:cBhvr>
                                      <p:rCtr x="37383" y="93"/>
                                    </p:animMotion>
                                  </p:childTnLst>
                                </p:cTn>
                              </p:par>
                              <p:par>
                                <p:cTn id="11" presetID="22" presetClass="entr" presetSubtype="8"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1100"/>
                                        <p:tgtEl>
                                          <p:spTgt spid="2"/>
                                        </p:tgtEl>
                                      </p:cBhvr>
                                    </p:animEffect>
                                  </p:childTnLst>
                                </p:cTn>
                              </p:par>
                              <p:par>
                                <p:cTn id="14" presetID="1" presetClass="entr" presetSubtype="0" fill="hold" nodeType="withEffect">
                                  <p:stCondLst>
                                    <p:cond delay="1000"/>
                                  </p:stCondLst>
                                  <p:childTnLst>
                                    <p:set>
                                      <p:cBhvr>
                                        <p:cTn id="15" dur="1" fill="hold">
                                          <p:stCondLst>
                                            <p:cond delay="0"/>
                                          </p:stCondLst>
                                        </p:cTn>
                                        <p:tgtEl>
                                          <p:spTgt spid="8"/>
                                        </p:tgtEl>
                                        <p:attrNameLst>
                                          <p:attrName>style.visibility</p:attrName>
                                        </p:attrNameLst>
                                      </p:cBhvr>
                                      <p:to>
                                        <p:strVal val="visible"/>
                                      </p:to>
                                    </p:set>
                                  </p:childTnLst>
                                </p:cTn>
                              </p:par>
                              <p:par>
                                <p:cTn id="16" presetID="26" presetClass="emph" presetSubtype="0" fill="hold" nodeType="withEffect">
                                  <p:stCondLst>
                                    <p:cond delay="1000"/>
                                  </p:stCondLst>
                                  <p:childTnLst>
                                    <p:animEffect transition="out" filter="fade">
                                      <p:cBhvr>
                                        <p:cTn id="17" dur="500" tmFilter="0, 0; .2, .5; .8, .5; 1, 0"/>
                                        <p:tgtEl>
                                          <p:spTgt spid="8"/>
                                        </p:tgtEl>
                                      </p:cBhvr>
                                    </p:animEffect>
                                    <p:animScale>
                                      <p:cBhvr>
                                        <p:cTn id="18" dur="250" autoRev="1" fill="hold"/>
                                        <p:tgtEl>
                                          <p:spTgt spid="8"/>
                                        </p:tgtEl>
                                      </p:cBhvr>
                                      <p:by x="105000" y="105000"/>
                                    </p:animScale>
                                  </p:childTnLst>
                                </p:cTn>
                              </p:par>
                              <p:par>
                                <p:cTn id="19" presetID="26" presetClass="emph" presetSubtype="0" fill="hold" nodeType="withEffect">
                                  <p:stCondLst>
                                    <p:cond delay="1200"/>
                                  </p:stCondLst>
                                  <p:childTnLst>
                                    <p:animEffect transition="out" filter="fade">
                                      <p:cBhvr>
                                        <p:cTn id="20" dur="500" tmFilter="0, 0; .2, .5; .8, .5; 1, 0"/>
                                        <p:tgtEl>
                                          <p:spTgt spid="8"/>
                                        </p:tgtEl>
                                      </p:cBhvr>
                                    </p:animEffect>
                                    <p:animScale>
                                      <p:cBhvr>
                                        <p:cTn id="21" dur="250" autoRev="1" fill="hold"/>
                                        <p:tgtEl>
                                          <p:spTgt spid="8"/>
                                        </p:tgtEl>
                                      </p:cBhvr>
                                      <p:by x="105000" y="105000"/>
                                    </p:animScale>
                                  </p:childTnLst>
                                </p:cTn>
                              </p:par>
                            </p:childTnLst>
                          </p:cTn>
                        </p:par>
                        <p:par>
                          <p:cTn id="22" fill="hold">
                            <p:stCondLst>
                              <p:cond delay="2300"/>
                            </p:stCondLst>
                            <p:childTnLst>
                              <p:par>
                                <p:cTn id="23" presetID="14" presetClass="entr" presetSubtype="10" fill="hold" nodeType="after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randombar(horizontal)">
                                      <p:cBhvr>
                                        <p:cTn id="2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1650" y="3048004"/>
            <a:ext cx="6057900" cy="1362075"/>
          </a:xfrm>
        </p:spPr>
        <p:txBody>
          <a:bodyPr anchor="ctr">
            <a:normAutofit/>
          </a:bodyPr>
          <a:lstStyle/>
          <a:p>
            <a:r>
              <a:rPr lang="en-US" dirty="0" smtClean="0"/>
              <a:t>Asymmetric Key Cryptography and RSA</a:t>
            </a:r>
            <a:endParaRPr lang="en-US" dirty="0"/>
          </a:p>
        </p:txBody>
      </p:sp>
    </p:spTree>
    <p:extLst>
      <p:ext uri="{BB962C8B-B14F-4D97-AF65-F5344CB8AC3E}">
        <p14:creationId xmlns:p14="http://schemas.microsoft.com/office/powerpoint/2010/main" val="68359141"/>
      </p:ext>
    </p:extLst>
  </p:cSld>
  <p:clrMapOvr>
    <a:masterClrMapping/>
  </p:clrMapOvr>
  <p:transition spd="slow">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Cryptography</a:t>
            </a:r>
            <a:endParaRPr lang="en-US" dirty="0"/>
          </a:p>
        </p:txBody>
      </p:sp>
      <p:sp>
        <p:nvSpPr>
          <p:cNvPr id="5" name="Content Placeholder 4"/>
          <p:cNvSpPr>
            <a:spLocks noGrp="1"/>
          </p:cNvSpPr>
          <p:nvPr>
            <p:ph idx="1"/>
          </p:nvPr>
        </p:nvSpPr>
        <p:spPr/>
        <p:txBody>
          <a:bodyPr>
            <a:normAutofit/>
          </a:bodyPr>
          <a:lstStyle/>
          <a:p>
            <a:pPr marL="0" indent="0">
              <a:buNone/>
            </a:pPr>
            <a:r>
              <a:rPr lang="en-US" dirty="0"/>
              <a:t>“There are two kinds of cryptography in this world: cryptography that will stop your kid sister from reading your files, and cryptography that will stop major governments from reading your files</a:t>
            </a:r>
            <a:r>
              <a:rPr lang="en-US" dirty="0" smtClean="0"/>
              <a:t>.”</a:t>
            </a:r>
          </a:p>
          <a:p>
            <a:pPr marL="0" indent="0">
              <a:buNone/>
            </a:pPr>
            <a:r>
              <a:rPr lang="en-US" sz="2000" i="1" dirty="0"/>
              <a:t>Bruce </a:t>
            </a:r>
            <a:r>
              <a:rPr lang="en-US" sz="2000" i="1" dirty="0" err="1"/>
              <a:t>Schneier</a:t>
            </a:r>
            <a:endParaRPr lang="en-US" i="1" dirty="0" smtClean="0"/>
          </a:p>
        </p:txBody>
      </p:sp>
    </p:spTree>
    <p:extLst>
      <p:ext uri="{BB962C8B-B14F-4D97-AF65-F5344CB8AC3E}">
        <p14:creationId xmlns:p14="http://schemas.microsoft.com/office/powerpoint/2010/main" val="2027160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Issues with Symmetric Key Cryptography</a:t>
            </a:r>
            <a:endParaRPr lang="en-US" dirty="0"/>
          </a:p>
        </p:txBody>
      </p:sp>
      <p:sp>
        <p:nvSpPr>
          <p:cNvPr id="5" name="Content Placeholder 4"/>
          <p:cNvSpPr>
            <a:spLocks noGrp="1"/>
          </p:cNvSpPr>
          <p:nvPr>
            <p:ph idx="1"/>
          </p:nvPr>
        </p:nvSpPr>
        <p:spPr/>
        <p:txBody>
          <a:bodyPr>
            <a:normAutofit/>
          </a:bodyPr>
          <a:lstStyle/>
          <a:p>
            <a:r>
              <a:rPr lang="en-US" dirty="0"/>
              <a:t>The problem with </a:t>
            </a:r>
            <a:r>
              <a:rPr lang="en-US" dirty="0" smtClean="0"/>
              <a:t>symmetric </a:t>
            </a:r>
            <a:r>
              <a:rPr lang="en-US" dirty="0"/>
              <a:t>cryptography was the </a:t>
            </a:r>
            <a:r>
              <a:rPr lang="en-US" dirty="0" smtClean="0"/>
              <a:t>‘key transfer’</a:t>
            </a:r>
            <a:endParaRPr lang="en-US" dirty="0"/>
          </a:p>
          <a:p>
            <a:endParaRPr lang="en-US" dirty="0"/>
          </a:p>
          <a:p>
            <a:r>
              <a:rPr lang="en-US" u="sng" dirty="0"/>
              <a:t>The dilemma</a:t>
            </a:r>
            <a:r>
              <a:rPr lang="en-US" dirty="0"/>
              <a:t>: In order to transfer a secret, a different secret (the key) had to be delivered before</a:t>
            </a:r>
          </a:p>
          <a:p>
            <a:pPr lvl="1"/>
            <a:r>
              <a:rPr lang="en-US" dirty="0" smtClean="0"/>
              <a:t>How can the key be sent from one party to another?</a:t>
            </a:r>
          </a:p>
          <a:p>
            <a:pPr lvl="1"/>
            <a:r>
              <a:rPr lang="en-US" dirty="0" smtClean="0"/>
              <a:t>If you sent it over an insecure channel (i.e. telephone, internet, etc.) what's to stop someone from intercepting and using it?</a:t>
            </a:r>
          </a:p>
          <a:p>
            <a:endParaRPr lang="en-US" dirty="0" smtClean="0"/>
          </a:p>
          <a:p>
            <a:r>
              <a:rPr lang="en-US" dirty="0" err="1" smtClean="0"/>
              <a:t>Diffie</a:t>
            </a:r>
            <a:r>
              <a:rPr lang="en-US" dirty="0" smtClean="0"/>
              <a:t>-Hellman showed a clever manner how to overcome the dilemma</a:t>
            </a:r>
            <a:endParaRPr lang="en-US" dirty="0"/>
          </a:p>
        </p:txBody>
      </p:sp>
    </p:spTree>
    <p:extLst>
      <p:ext uri="{BB962C8B-B14F-4D97-AF65-F5344CB8AC3E}">
        <p14:creationId xmlns:p14="http://schemas.microsoft.com/office/powerpoint/2010/main" val="2538075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Diffie</a:t>
            </a:r>
            <a:r>
              <a:rPr lang="en-US" dirty="0"/>
              <a:t>-Hellman Key Exchange</a:t>
            </a:r>
          </a:p>
        </p:txBody>
      </p:sp>
      <p:sp>
        <p:nvSpPr>
          <p:cNvPr id="5" name="Content Placeholder 4"/>
          <p:cNvSpPr>
            <a:spLocks noGrp="1"/>
          </p:cNvSpPr>
          <p:nvPr>
            <p:ph idx="1"/>
          </p:nvPr>
        </p:nvSpPr>
        <p:spPr/>
        <p:txBody>
          <a:bodyPr>
            <a:normAutofit/>
          </a:bodyPr>
          <a:lstStyle/>
          <a:p>
            <a:r>
              <a:rPr lang="en-US" dirty="0" smtClean="0"/>
              <a:t>Two mathematicians </a:t>
            </a:r>
            <a:r>
              <a:rPr lang="en-US" dirty="0"/>
              <a:t>Whitfield </a:t>
            </a:r>
            <a:r>
              <a:rPr lang="en-US" dirty="0" err="1"/>
              <a:t>Diffie</a:t>
            </a:r>
            <a:r>
              <a:rPr lang="en-US" dirty="0"/>
              <a:t> and Martin Hellman, in 1976, devised the notion of </a:t>
            </a:r>
            <a:r>
              <a:rPr lang="en-US" dirty="0" smtClean="0"/>
              <a:t>Public Key Cryptography </a:t>
            </a:r>
            <a:r>
              <a:rPr lang="en-US" dirty="0"/>
              <a:t>in “New Directions in Cryptography”</a:t>
            </a:r>
          </a:p>
          <a:p>
            <a:r>
              <a:rPr lang="en-US" dirty="0"/>
              <a:t>They showed how two communication partners that are at different locations can publicly create a common key without fearing that a third person would crack it</a:t>
            </a:r>
          </a:p>
          <a:p>
            <a:r>
              <a:rPr lang="en-US" dirty="0"/>
              <a:t>This was the first major step in </a:t>
            </a:r>
            <a:r>
              <a:rPr lang="en-US" u="sng" dirty="0"/>
              <a:t>Public Key Cryptography</a:t>
            </a:r>
          </a:p>
        </p:txBody>
      </p:sp>
    </p:spTree>
    <p:extLst>
      <p:ext uri="{BB962C8B-B14F-4D97-AF65-F5344CB8AC3E}">
        <p14:creationId xmlns:p14="http://schemas.microsoft.com/office/powerpoint/2010/main" val="1948719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Diffie</a:t>
            </a:r>
            <a:r>
              <a:rPr lang="en-US" dirty="0"/>
              <a:t>-Hellman Key Exchange</a:t>
            </a:r>
          </a:p>
        </p:txBody>
      </p:sp>
      <p:sp>
        <p:nvSpPr>
          <p:cNvPr id="5" name="Content Placeholder 4"/>
          <p:cNvSpPr>
            <a:spLocks noGrp="1"/>
          </p:cNvSpPr>
          <p:nvPr>
            <p:ph idx="1"/>
          </p:nvPr>
        </p:nvSpPr>
        <p:spPr/>
        <p:txBody>
          <a:bodyPr>
            <a:normAutofit/>
          </a:bodyPr>
          <a:lstStyle/>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850" y="1219200"/>
            <a:ext cx="1369012" cy="420624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2051" y="1219200"/>
            <a:ext cx="1292905" cy="420624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1587175278"/>
              </p:ext>
            </p:extLst>
          </p:nvPr>
        </p:nvGraphicFramePr>
        <p:xfrm>
          <a:off x="742950" y="2238415"/>
          <a:ext cx="8229601" cy="4619585"/>
        </p:xfrm>
        <a:graphic>
          <a:graphicData uri="http://schemas.openxmlformats.org/drawingml/2006/table">
            <a:tbl>
              <a:tblPr>
                <a:tableStyleId>{5C22544A-7EE6-4342-B048-85BDC9FD1C3A}</a:tableStyleId>
              </a:tblPr>
              <a:tblGrid>
                <a:gridCol w="4101005"/>
                <a:gridCol w="4128596"/>
              </a:tblGrid>
              <a:tr h="779105">
                <a:tc gridSpan="2">
                  <a:txBody>
                    <a:bodyPr/>
                    <a:lstStyle/>
                    <a:p>
                      <a:pPr marL="342900" marR="0" indent="-342900" algn="just">
                        <a:spcBef>
                          <a:spcPts val="0"/>
                        </a:spcBef>
                        <a:spcAft>
                          <a:spcPts val="0"/>
                        </a:spcAft>
                        <a:buFont typeface="+mj-lt"/>
                        <a:buAutoNum type="arabicPeriod"/>
                      </a:pP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228600" marR="0" indent="-228600" algn="just">
                        <a:spcBef>
                          <a:spcPts val="0"/>
                        </a:spcBef>
                        <a:spcAft>
                          <a:spcPts val="0"/>
                        </a:spcAft>
                        <a:buFont typeface="+mj-lt"/>
                        <a:buAutoNum type="arabicPeriod"/>
                      </a:pPr>
                      <a:r>
                        <a:rPr lang="en-US" sz="1800" kern="1200" dirty="0" smtClean="0">
                          <a:solidFill>
                            <a:srgbClr val="0070C0"/>
                          </a:solidFill>
                          <a:latin typeface="Segoe UI" panose="020B0502040204020203" pitchFamily="34" charset="0"/>
                          <a:ea typeface="+mn-ea"/>
                          <a:cs typeface="Segoe UI" panose="020B0502040204020203" pitchFamily="34" charset="0"/>
                        </a:rPr>
                        <a:t>Alice </a:t>
                      </a:r>
                      <a:r>
                        <a:rPr lang="en-US" sz="1800" kern="1200" dirty="0">
                          <a:solidFill>
                            <a:srgbClr val="0070C0"/>
                          </a:solidFill>
                          <a:latin typeface="Segoe UI" panose="020B0502040204020203" pitchFamily="34" charset="0"/>
                          <a:ea typeface="+mn-ea"/>
                          <a:cs typeface="Segoe UI" panose="020B0502040204020203" pitchFamily="34" charset="0"/>
                        </a:rPr>
                        <a:t>and Bob publicly pick 2 </a:t>
                      </a:r>
                      <a:r>
                        <a:rPr lang="en-US" sz="1800" kern="1200" dirty="0" smtClean="0">
                          <a:solidFill>
                            <a:srgbClr val="0070C0"/>
                          </a:solidFill>
                          <a:latin typeface="Segoe UI" panose="020B0502040204020203" pitchFamily="34" charset="0"/>
                          <a:ea typeface="+mn-ea"/>
                          <a:cs typeface="Segoe UI" panose="020B0502040204020203" pitchFamily="34" charset="0"/>
                        </a:rPr>
                        <a:t>integers: a </a:t>
                      </a:r>
                      <a:r>
                        <a:rPr lang="en-US" sz="1800" kern="1200" dirty="0">
                          <a:solidFill>
                            <a:srgbClr val="0070C0"/>
                          </a:solidFill>
                          <a:latin typeface="Segoe UI" panose="020B0502040204020203" pitchFamily="34" charset="0"/>
                          <a:ea typeface="+mn-ea"/>
                          <a:cs typeface="Segoe UI" panose="020B0502040204020203" pitchFamily="34" charset="0"/>
                        </a:rPr>
                        <a:t>prime number </a:t>
                      </a:r>
                      <a:r>
                        <a:rPr lang="en-US" sz="1800" b="1" kern="1200" dirty="0">
                          <a:solidFill>
                            <a:srgbClr val="0070C0"/>
                          </a:solidFill>
                          <a:latin typeface="Segoe UI" panose="020B0502040204020203" pitchFamily="34" charset="0"/>
                          <a:ea typeface="+mn-ea"/>
                          <a:cs typeface="Segoe UI" panose="020B0502040204020203" pitchFamily="34" charset="0"/>
                        </a:rPr>
                        <a:t>p</a:t>
                      </a:r>
                      <a:r>
                        <a:rPr lang="en-US" sz="1800" kern="1200" dirty="0">
                          <a:solidFill>
                            <a:srgbClr val="0070C0"/>
                          </a:solidFill>
                          <a:latin typeface="Segoe UI" panose="020B0502040204020203" pitchFamily="34" charset="0"/>
                          <a:ea typeface="+mn-ea"/>
                          <a:cs typeface="Segoe UI" panose="020B0502040204020203" pitchFamily="34" charset="0"/>
                        </a:rPr>
                        <a:t> </a:t>
                      </a:r>
                      <a:r>
                        <a:rPr lang="en-US" sz="1800" kern="1200" dirty="0" smtClean="0">
                          <a:solidFill>
                            <a:srgbClr val="0070C0"/>
                          </a:solidFill>
                          <a:latin typeface="Segoe UI" panose="020B0502040204020203" pitchFamily="34" charset="0"/>
                          <a:ea typeface="+mn-ea"/>
                          <a:cs typeface="Segoe UI" panose="020B0502040204020203" pitchFamily="34" charset="0"/>
                        </a:rPr>
                        <a:t>and </a:t>
                      </a:r>
                      <a:r>
                        <a:rPr lang="en-US" sz="1800" kern="1200" dirty="0">
                          <a:solidFill>
                            <a:srgbClr val="0070C0"/>
                          </a:solidFill>
                          <a:latin typeface="Segoe UI" panose="020B0502040204020203" pitchFamily="34" charset="0"/>
                          <a:ea typeface="+mn-ea"/>
                          <a:cs typeface="Segoe UI" panose="020B0502040204020203" pitchFamily="34" charset="0"/>
                        </a:rPr>
                        <a:t>an integer </a:t>
                      </a:r>
                      <a:r>
                        <a:rPr lang="en-US" sz="1800" b="1" kern="1200" dirty="0">
                          <a:solidFill>
                            <a:srgbClr val="0070C0"/>
                          </a:solidFill>
                          <a:latin typeface="Segoe UI" panose="020B0502040204020203" pitchFamily="34" charset="0"/>
                          <a:ea typeface="+mn-ea"/>
                          <a:cs typeface="Segoe UI" panose="020B0502040204020203" pitchFamily="34" charset="0"/>
                        </a:rPr>
                        <a:t>s</a:t>
                      </a:r>
                      <a:r>
                        <a:rPr lang="en-US" sz="1800" kern="1200" dirty="0">
                          <a:solidFill>
                            <a:srgbClr val="0070C0"/>
                          </a:solidFill>
                          <a:latin typeface="Segoe UI" panose="020B0502040204020203" pitchFamily="34" charset="0"/>
                          <a:ea typeface="+mn-ea"/>
                          <a:cs typeface="Segoe UI" panose="020B0502040204020203" pitchFamily="34" charset="0"/>
                        </a:rPr>
                        <a:t> between </a:t>
                      </a:r>
                      <a:r>
                        <a:rPr lang="en-US" sz="1800" u="sng" kern="1200" dirty="0">
                          <a:solidFill>
                            <a:srgbClr val="0070C0"/>
                          </a:solidFill>
                          <a:latin typeface="Segoe UI" panose="020B0502040204020203" pitchFamily="34" charset="0"/>
                          <a:ea typeface="+mn-ea"/>
                          <a:cs typeface="Segoe UI" panose="020B0502040204020203" pitchFamily="34" charset="0"/>
                        </a:rPr>
                        <a:t>1 and </a:t>
                      </a:r>
                      <a:r>
                        <a:rPr lang="en-US" sz="1800" u="sng" kern="1200" dirty="0" smtClean="0">
                          <a:solidFill>
                            <a:srgbClr val="0070C0"/>
                          </a:solidFill>
                          <a:latin typeface="Segoe UI" panose="020B0502040204020203" pitchFamily="34" charset="0"/>
                          <a:ea typeface="+mn-ea"/>
                          <a:cs typeface="Segoe UI" panose="020B0502040204020203" pitchFamily="34" charset="0"/>
                        </a:rPr>
                        <a:t>p</a:t>
                      </a:r>
                      <a:endParaRPr lang="en-US" sz="1800" u="sng" kern="1200" dirty="0">
                        <a:solidFill>
                          <a:srgbClr val="0070C0"/>
                        </a:solidFill>
                        <a:latin typeface="Segoe UI" panose="020B0502040204020203" pitchFamily="34" charset="0"/>
                        <a:ea typeface="+mn-ea"/>
                        <a:cs typeface="Segoe UI" panose="020B0502040204020203" pitchFamily="34" charset="0"/>
                      </a:endParaRPr>
                    </a:p>
                    <a:p>
                      <a:pPr marL="152400" marR="0" algn="just">
                        <a:spcBef>
                          <a:spcPts val="0"/>
                        </a:spcBef>
                        <a:spcAft>
                          <a:spcPts val="0"/>
                        </a:spcAft>
                      </a:pPr>
                      <a:r>
                        <a:rPr lang="en-US" sz="1800" kern="1200" dirty="0">
                          <a:solidFill>
                            <a:srgbClr val="0070C0"/>
                          </a:solidFill>
                          <a:latin typeface="Segoe UI" panose="020B0502040204020203" pitchFamily="34" charset="0"/>
                          <a:ea typeface="+mn-ea"/>
                          <a:cs typeface="Segoe UI" panose="020B0502040204020203" pitchFamily="34" charset="0"/>
                        </a:rPr>
                        <a:t> </a:t>
                      </a: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hMerge="1">
                  <a:txBody>
                    <a:bodyPr/>
                    <a:lstStyle/>
                    <a:p>
                      <a:endParaRPr lang="en-US"/>
                    </a:p>
                  </a:txBody>
                  <a:tcPr/>
                </a:tc>
              </a:tr>
              <a:tr h="779105">
                <a:tc>
                  <a:txBody>
                    <a:bodyPr/>
                    <a:lstStyle/>
                    <a:p>
                      <a:pPr marL="342900" marR="0" indent="-342900" algn="just">
                        <a:spcBef>
                          <a:spcPts val="0"/>
                        </a:spcBef>
                        <a:spcAft>
                          <a:spcPts val="0"/>
                        </a:spcAft>
                        <a:buFont typeface="+mj-lt"/>
                        <a:buAutoNum type="arabicPeriod" startAt="2"/>
                      </a:pP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228600" marR="0" indent="-228600" algn="just">
                        <a:spcBef>
                          <a:spcPts val="0"/>
                        </a:spcBef>
                        <a:spcAft>
                          <a:spcPts val="0"/>
                        </a:spcAft>
                        <a:buFont typeface="+mj-lt"/>
                        <a:buAutoNum type="arabicPeriod" startAt="2"/>
                      </a:pPr>
                      <a:r>
                        <a:rPr lang="en-US" sz="1800" kern="1200" dirty="0" smtClean="0">
                          <a:solidFill>
                            <a:srgbClr val="0070C0"/>
                          </a:solidFill>
                          <a:latin typeface="Segoe UI" panose="020B0502040204020203" pitchFamily="34" charset="0"/>
                          <a:ea typeface="+mn-ea"/>
                          <a:cs typeface="Segoe UI" panose="020B0502040204020203" pitchFamily="34" charset="0"/>
                        </a:rPr>
                        <a:t>Alice </a:t>
                      </a:r>
                      <a:r>
                        <a:rPr lang="en-US" sz="1800" kern="1200" dirty="0">
                          <a:solidFill>
                            <a:srgbClr val="0070C0"/>
                          </a:solidFill>
                          <a:latin typeface="Segoe UI" panose="020B0502040204020203" pitchFamily="34" charset="0"/>
                          <a:ea typeface="+mn-ea"/>
                          <a:cs typeface="Segoe UI" panose="020B0502040204020203" pitchFamily="34" charset="0"/>
                        </a:rPr>
                        <a:t>picks a random </a:t>
                      </a:r>
                      <a:r>
                        <a:rPr lang="en-US" sz="1800" kern="1200" dirty="0" smtClean="0">
                          <a:solidFill>
                            <a:srgbClr val="0070C0"/>
                          </a:solidFill>
                          <a:latin typeface="Segoe UI" panose="020B0502040204020203" pitchFamily="34" charset="0"/>
                          <a:ea typeface="+mn-ea"/>
                          <a:cs typeface="Segoe UI" panose="020B0502040204020203" pitchFamily="34" charset="0"/>
                        </a:rPr>
                        <a:t>number </a:t>
                      </a:r>
                      <a:r>
                        <a:rPr lang="en-US" sz="1800" b="1" kern="1200" dirty="0" smtClean="0">
                          <a:solidFill>
                            <a:srgbClr val="0070C0"/>
                          </a:solidFill>
                          <a:latin typeface="Segoe UI" panose="020B0502040204020203" pitchFamily="34" charset="0"/>
                          <a:ea typeface="+mn-ea"/>
                          <a:cs typeface="Segoe UI" panose="020B0502040204020203" pitchFamily="34" charset="0"/>
                        </a:rPr>
                        <a:t>a</a:t>
                      </a:r>
                      <a:r>
                        <a:rPr lang="en-US" sz="1800" kern="1200" dirty="0" smtClean="0">
                          <a:solidFill>
                            <a:srgbClr val="0070C0"/>
                          </a:solidFill>
                          <a:latin typeface="Segoe UI" panose="020B0502040204020203" pitchFamily="34" charset="0"/>
                          <a:ea typeface="+mn-ea"/>
                          <a:cs typeface="Segoe UI" panose="020B0502040204020203" pitchFamily="34" charset="0"/>
                        </a:rPr>
                        <a:t> that </a:t>
                      </a:r>
                      <a:r>
                        <a:rPr lang="en-US" sz="1800" kern="1200" dirty="0">
                          <a:solidFill>
                            <a:srgbClr val="0070C0"/>
                          </a:solidFill>
                          <a:latin typeface="Segoe UI" panose="020B0502040204020203" pitchFamily="34" charset="0"/>
                          <a:ea typeface="+mn-ea"/>
                          <a:cs typeface="Segoe UI" panose="020B0502040204020203" pitchFamily="34" charset="0"/>
                        </a:rPr>
                        <a:t>is less than </a:t>
                      </a:r>
                      <a:r>
                        <a:rPr lang="en-US" sz="1800" b="1" kern="1200" dirty="0" smtClean="0">
                          <a:solidFill>
                            <a:srgbClr val="0070C0"/>
                          </a:solidFill>
                          <a:latin typeface="Segoe UI" panose="020B0502040204020203" pitchFamily="34" charset="0"/>
                          <a:ea typeface="+mn-ea"/>
                          <a:cs typeface="Segoe UI" panose="020B0502040204020203" pitchFamily="34" charset="0"/>
                        </a:rPr>
                        <a:t>p</a:t>
                      </a:r>
                      <a:endParaRPr lang="en-US" sz="1800" b="1" kern="1200" dirty="0">
                        <a:solidFill>
                          <a:srgbClr val="0070C0"/>
                        </a:solidFill>
                        <a:latin typeface="Segoe UI" panose="020B0502040204020203" pitchFamily="34" charset="0"/>
                        <a:ea typeface="+mn-ea"/>
                        <a:cs typeface="Segoe UI" panose="020B0502040204020203" pitchFamily="34" charset="0"/>
                      </a:endParaRPr>
                    </a:p>
                    <a:p>
                      <a:pPr marL="0" marR="0" algn="just">
                        <a:spcBef>
                          <a:spcPts val="0"/>
                        </a:spcBef>
                        <a:spcAft>
                          <a:spcPts val="0"/>
                        </a:spcAft>
                      </a:pPr>
                      <a:r>
                        <a:rPr lang="en-US" sz="1800" kern="1200" dirty="0">
                          <a:solidFill>
                            <a:srgbClr val="0070C0"/>
                          </a:solidFill>
                          <a:latin typeface="Segoe UI" panose="020B0502040204020203" pitchFamily="34" charset="0"/>
                          <a:ea typeface="+mn-ea"/>
                          <a:cs typeface="Segoe UI" panose="020B0502040204020203" pitchFamily="34" charset="0"/>
                        </a:rPr>
                        <a:t> </a:t>
                      </a: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342900" marR="0" indent="-342900" algn="just">
                        <a:spcBef>
                          <a:spcPts val="0"/>
                        </a:spcBef>
                        <a:spcAft>
                          <a:spcPts val="0"/>
                        </a:spcAft>
                        <a:buFont typeface="+mj-lt"/>
                        <a:buAutoNum type="arabicPeriod" startAt="2"/>
                      </a:pP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228600" marR="0" indent="-228600" algn="just">
                        <a:spcBef>
                          <a:spcPts val="0"/>
                        </a:spcBef>
                        <a:spcAft>
                          <a:spcPts val="0"/>
                        </a:spcAft>
                        <a:buFont typeface="+mj-lt"/>
                        <a:buAutoNum type="arabicPeriod" startAt="2"/>
                      </a:pPr>
                      <a:r>
                        <a:rPr lang="en-US" sz="1800" kern="1200" dirty="0" smtClean="0">
                          <a:solidFill>
                            <a:srgbClr val="0070C0"/>
                          </a:solidFill>
                          <a:latin typeface="Segoe UI" panose="020B0502040204020203" pitchFamily="34" charset="0"/>
                          <a:ea typeface="+mn-ea"/>
                          <a:cs typeface="Segoe UI" panose="020B0502040204020203" pitchFamily="34" charset="0"/>
                        </a:rPr>
                        <a:t>Bob </a:t>
                      </a:r>
                      <a:r>
                        <a:rPr lang="en-US" sz="1800" kern="1200" dirty="0">
                          <a:solidFill>
                            <a:srgbClr val="0070C0"/>
                          </a:solidFill>
                          <a:latin typeface="Segoe UI" panose="020B0502040204020203" pitchFamily="34" charset="0"/>
                          <a:ea typeface="+mn-ea"/>
                          <a:cs typeface="Segoe UI" panose="020B0502040204020203" pitchFamily="34" charset="0"/>
                        </a:rPr>
                        <a:t>picks a random number </a:t>
                      </a:r>
                      <a:r>
                        <a:rPr lang="en-US" sz="1800" b="1" kern="1200" dirty="0" smtClean="0">
                          <a:solidFill>
                            <a:srgbClr val="0070C0"/>
                          </a:solidFill>
                          <a:latin typeface="Segoe UI" panose="020B0502040204020203" pitchFamily="34" charset="0"/>
                          <a:ea typeface="+mn-ea"/>
                          <a:cs typeface="Segoe UI" panose="020B0502040204020203" pitchFamily="34" charset="0"/>
                        </a:rPr>
                        <a:t>b</a:t>
                      </a:r>
                      <a:r>
                        <a:rPr lang="en-US" sz="1800" kern="1200" dirty="0" smtClean="0">
                          <a:solidFill>
                            <a:srgbClr val="0070C0"/>
                          </a:solidFill>
                          <a:latin typeface="Segoe UI" panose="020B0502040204020203" pitchFamily="34" charset="0"/>
                          <a:ea typeface="+mn-ea"/>
                          <a:cs typeface="Segoe UI" panose="020B0502040204020203" pitchFamily="34" charset="0"/>
                        </a:rPr>
                        <a:t> that </a:t>
                      </a:r>
                      <a:r>
                        <a:rPr lang="en-US" sz="1800" kern="1200" dirty="0">
                          <a:solidFill>
                            <a:srgbClr val="0070C0"/>
                          </a:solidFill>
                          <a:latin typeface="Segoe UI" panose="020B0502040204020203" pitchFamily="34" charset="0"/>
                          <a:ea typeface="+mn-ea"/>
                          <a:cs typeface="Segoe UI" panose="020B0502040204020203" pitchFamily="34" charset="0"/>
                        </a:rPr>
                        <a:t>is less than </a:t>
                      </a:r>
                      <a:r>
                        <a:rPr lang="en-US" sz="1800" b="1" kern="1200" dirty="0" smtClean="0">
                          <a:solidFill>
                            <a:srgbClr val="0070C0"/>
                          </a:solidFill>
                          <a:latin typeface="Segoe UI" panose="020B0502040204020203" pitchFamily="34" charset="0"/>
                          <a:ea typeface="+mn-ea"/>
                          <a:cs typeface="Segoe UI" panose="020B0502040204020203" pitchFamily="34" charset="0"/>
                        </a:rPr>
                        <a:t>p</a:t>
                      </a:r>
                      <a:endParaRPr lang="en-US" sz="1800" b="1" kern="1200" dirty="0">
                        <a:solidFill>
                          <a:srgbClr val="0070C0"/>
                        </a:solidFill>
                        <a:latin typeface="Segoe UI" panose="020B0502040204020203" pitchFamily="34" charset="0"/>
                        <a:ea typeface="+mn-ea"/>
                        <a:cs typeface="Segoe UI" panose="020B0502040204020203" pitchFamily="34" charset="0"/>
                      </a:endParaRP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779105">
                <a:tc>
                  <a:txBody>
                    <a:bodyPr/>
                    <a:lstStyle/>
                    <a:p>
                      <a:pPr marL="342900" marR="0" indent="-342900" algn="just">
                        <a:spcBef>
                          <a:spcPts val="0"/>
                        </a:spcBef>
                        <a:spcAft>
                          <a:spcPts val="0"/>
                        </a:spcAft>
                        <a:buFont typeface="+mj-lt"/>
                        <a:buAutoNum type="arabicPeriod" startAt="3"/>
                      </a:pP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228600" marR="0" indent="-228600" algn="just">
                        <a:spcBef>
                          <a:spcPts val="0"/>
                        </a:spcBef>
                        <a:spcAft>
                          <a:spcPts val="0"/>
                        </a:spcAft>
                        <a:buFont typeface="+mj-lt"/>
                        <a:buAutoNum type="arabicPeriod" startAt="3"/>
                      </a:pPr>
                      <a:r>
                        <a:rPr lang="en-US" sz="1800" kern="1200" dirty="0" smtClean="0">
                          <a:solidFill>
                            <a:srgbClr val="0070C0"/>
                          </a:solidFill>
                          <a:latin typeface="Segoe UI" panose="020B0502040204020203" pitchFamily="34" charset="0"/>
                          <a:ea typeface="+mn-ea"/>
                          <a:cs typeface="Segoe UI" panose="020B0502040204020203" pitchFamily="34" charset="0"/>
                        </a:rPr>
                        <a:t>Alice </a:t>
                      </a:r>
                      <a:r>
                        <a:rPr lang="en-US" sz="1800" kern="1200" dirty="0">
                          <a:solidFill>
                            <a:srgbClr val="0070C0"/>
                          </a:solidFill>
                          <a:latin typeface="Segoe UI" panose="020B0502040204020203" pitchFamily="34" charset="0"/>
                          <a:ea typeface="+mn-ea"/>
                          <a:cs typeface="Segoe UI" panose="020B0502040204020203" pitchFamily="34" charset="0"/>
                        </a:rPr>
                        <a:t>computes </a:t>
                      </a:r>
                    </a:p>
                    <a:p>
                      <a:pPr marL="0" marR="0" algn="just">
                        <a:spcBef>
                          <a:spcPts val="0"/>
                        </a:spcBef>
                        <a:spcAft>
                          <a:spcPts val="0"/>
                        </a:spcAft>
                      </a:pPr>
                      <a:r>
                        <a:rPr lang="en-US" sz="1800" b="1" kern="1200" dirty="0" smtClean="0">
                          <a:solidFill>
                            <a:srgbClr val="0070C0"/>
                          </a:solidFill>
                          <a:latin typeface="Segoe UI" panose="020B0502040204020203" pitchFamily="34" charset="0"/>
                          <a:ea typeface="+mn-ea"/>
                          <a:cs typeface="Segoe UI" panose="020B0502040204020203" pitchFamily="34" charset="0"/>
                        </a:rPr>
                        <a:t>            A </a:t>
                      </a:r>
                      <a:r>
                        <a:rPr lang="en-US" sz="1800" b="1" kern="1200" dirty="0">
                          <a:solidFill>
                            <a:srgbClr val="0070C0"/>
                          </a:solidFill>
                          <a:latin typeface="Segoe UI" panose="020B0502040204020203" pitchFamily="34" charset="0"/>
                          <a:ea typeface="+mn-ea"/>
                          <a:cs typeface="Segoe UI" panose="020B0502040204020203" pitchFamily="34" charset="0"/>
                        </a:rPr>
                        <a:t>= </a:t>
                      </a:r>
                      <a:r>
                        <a:rPr lang="en-US" sz="1800" b="1" kern="1200" dirty="0" err="1">
                          <a:solidFill>
                            <a:srgbClr val="0070C0"/>
                          </a:solidFill>
                          <a:latin typeface="Segoe UI" panose="020B0502040204020203" pitchFamily="34" charset="0"/>
                          <a:ea typeface="+mn-ea"/>
                          <a:cs typeface="Segoe UI" panose="020B0502040204020203" pitchFamily="34" charset="0"/>
                        </a:rPr>
                        <a:t>s</a:t>
                      </a:r>
                      <a:r>
                        <a:rPr lang="en-US" sz="1800" b="1" kern="1200" baseline="30000" dirty="0" err="1">
                          <a:solidFill>
                            <a:srgbClr val="0070C0"/>
                          </a:solidFill>
                          <a:latin typeface="Segoe UI" panose="020B0502040204020203" pitchFamily="34" charset="0"/>
                          <a:ea typeface="+mn-ea"/>
                          <a:cs typeface="Segoe UI" panose="020B0502040204020203" pitchFamily="34" charset="0"/>
                        </a:rPr>
                        <a:t>a</a:t>
                      </a:r>
                      <a:r>
                        <a:rPr lang="en-US" sz="1800" b="1" kern="1200" dirty="0">
                          <a:solidFill>
                            <a:srgbClr val="0070C0"/>
                          </a:solidFill>
                          <a:latin typeface="Segoe UI" panose="020B0502040204020203" pitchFamily="34" charset="0"/>
                          <a:ea typeface="+mn-ea"/>
                          <a:cs typeface="Segoe UI" panose="020B0502040204020203" pitchFamily="34" charset="0"/>
                        </a:rPr>
                        <a:t> MOD p</a:t>
                      </a:r>
                      <a:r>
                        <a:rPr lang="en-US" sz="1800" kern="1200" dirty="0">
                          <a:solidFill>
                            <a:srgbClr val="0070C0"/>
                          </a:solidFill>
                          <a:latin typeface="Segoe UI" panose="020B0502040204020203" pitchFamily="34" charset="0"/>
                          <a:ea typeface="+mn-ea"/>
                          <a:cs typeface="Segoe UI" panose="020B0502040204020203" pitchFamily="34" charset="0"/>
                        </a:rPr>
                        <a:t> and sends </a:t>
                      </a:r>
                      <a:r>
                        <a:rPr lang="en-US" sz="1800" u="sng" kern="1200" dirty="0">
                          <a:solidFill>
                            <a:srgbClr val="0070C0"/>
                          </a:solidFill>
                          <a:latin typeface="Segoe UI" panose="020B0502040204020203" pitchFamily="34" charset="0"/>
                          <a:ea typeface="+mn-ea"/>
                          <a:cs typeface="Segoe UI" panose="020B0502040204020203" pitchFamily="34" charset="0"/>
                        </a:rPr>
                        <a:t>A to </a:t>
                      </a:r>
                      <a:r>
                        <a:rPr lang="en-US" sz="1800" u="sng" kern="1200" dirty="0" smtClean="0">
                          <a:solidFill>
                            <a:srgbClr val="0070C0"/>
                          </a:solidFill>
                          <a:latin typeface="Segoe UI" panose="020B0502040204020203" pitchFamily="34" charset="0"/>
                          <a:ea typeface="+mn-ea"/>
                          <a:cs typeface="Segoe UI" panose="020B0502040204020203" pitchFamily="34" charset="0"/>
                        </a:rPr>
                        <a:t>Bob</a:t>
                      </a:r>
                      <a:endParaRPr lang="en-US" sz="1800" u="sng" kern="1200" dirty="0">
                        <a:solidFill>
                          <a:srgbClr val="0070C0"/>
                        </a:solidFill>
                        <a:latin typeface="Segoe UI" panose="020B0502040204020203" pitchFamily="34" charset="0"/>
                        <a:ea typeface="+mn-ea"/>
                        <a:cs typeface="Segoe UI" panose="020B0502040204020203" pitchFamily="34" charset="0"/>
                      </a:endParaRPr>
                    </a:p>
                    <a:p>
                      <a:pPr marL="0" marR="0" algn="just">
                        <a:spcBef>
                          <a:spcPts val="0"/>
                        </a:spcBef>
                        <a:spcAft>
                          <a:spcPts val="0"/>
                        </a:spcAft>
                      </a:pPr>
                      <a:r>
                        <a:rPr lang="en-US" sz="1800" kern="1200" dirty="0">
                          <a:solidFill>
                            <a:srgbClr val="0070C0"/>
                          </a:solidFill>
                          <a:latin typeface="Segoe UI" panose="020B0502040204020203" pitchFamily="34" charset="0"/>
                          <a:ea typeface="+mn-ea"/>
                          <a:cs typeface="Segoe UI" panose="020B0502040204020203" pitchFamily="34" charset="0"/>
                        </a:rPr>
                        <a:t> </a:t>
                      </a: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0" marR="0" algn="just">
                        <a:spcBef>
                          <a:spcPts val="0"/>
                        </a:spcBef>
                        <a:spcAft>
                          <a:spcPts val="0"/>
                        </a:spcAft>
                      </a:pPr>
                      <a:endParaRPr lang="en-US" sz="1800" kern="1200" dirty="0">
                        <a:solidFill>
                          <a:srgbClr val="0070C0"/>
                        </a:solidFill>
                        <a:latin typeface="Segoe UI" panose="020B0502040204020203" pitchFamily="34" charset="0"/>
                        <a:ea typeface="+mn-ea"/>
                        <a:cs typeface="Segoe UI" panose="020B0502040204020203" pitchFamily="34" charset="0"/>
                      </a:endParaRP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342900" marR="0" indent="-342900" algn="just">
                        <a:spcBef>
                          <a:spcPts val="0"/>
                        </a:spcBef>
                        <a:spcAft>
                          <a:spcPts val="0"/>
                        </a:spcAft>
                        <a:buFont typeface="+mj-lt"/>
                        <a:buAutoNum type="arabicPeriod" startAt="3"/>
                      </a:pP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228600" marR="0" indent="-228600" algn="just">
                        <a:spcBef>
                          <a:spcPts val="0"/>
                        </a:spcBef>
                        <a:spcAft>
                          <a:spcPts val="0"/>
                        </a:spcAft>
                        <a:buFont typeface="+mj-lt"/>
                        <a:buAutoNum type="arabicPeriod" startAt="3"/>
                      </a:pPr>
                      <a:r>
                        <a:rPr lang="en-US" sz="1800" kern="1200" dirty="0" smtClean="0">
                          <a:solidFill>
                            <a:srgbClr val="0070C0"/>
                          </a:solidFill>
                          <a:latin typeface="Segoe UI" panose="020B0502040204020203" pitchFamily="34" charset="0"/>
                          <a:ea typeface="+mn-ea"/>
                          <a:cs typeface="Segoe UI" panose="020B0502040204020203" pitchFamily="34" charset="0"/>
                        </a:rPr>
                        <a:t>Bob </a:t>
                      </a:r>
                      <a:r>
                        <a:rPr lang="en-US" sz="1800" kern="1200" dirty="0">
                          <a:solidFill>
                            <a:srgbClr val="0070C0"/>
                          </a:solidFill>
                          <a:latin typeface="Segoe UI" panose="020B0502040204020203" pitchFamily="34" charset="0"/>
                          <a:ea typeface="+mn-ea"/>
                          <a:cs typeface="Segoe UI" panose="020B0502040204020203" pitchFamily="34" charset="0"/>
                        </a:rPr>
                        <a:t>computes </a:t>
                      </a:r>
                    </a:p>
                    <a:p>
                      <a:pPr marL="0" marR="0" algn="just">
                        <a:spcBef>
                          <a:spcPts val="0"/>
                        </a:spcBef>
                        <a:spcAft>
                          <a:spcPts val="0"/>
                        </a:spcAft>
                      </a:pPr>
                      <a:r>
                        <a:rPr lang="en-US" sz="1800" b="1" kern="1200" dirty="0" smtClean="0">
                          <a:solidFill>
                            <a:srgbClr val="0070C0"/>
                          </a:solidFill>
                          <a:latin typeface="Segoe UI" panose="020B0502040204020203" pitchFamily="34" charset="0"/>
                          <a:ea typeface="+mn-ea"/>
                          <a:cs typeface="Segoe UI" panose="020B0502040204020203" pitchFamily="34" charset="0"/>
                        </a:rPr>
                        <a:t>                  B </a:t>
                      </a:r>
                      <a:r>
                        <a:rPr lang="en-US" sz="1800" b="1" kern="1200" dirty="0">
                          <a:solidFill>
                            <a:srgbClr val="0070C0"/>
                          </a:solidFill>
                          <a:latin typeface="Segoe UI" panose="020B0502040204020203" pitchFamily="34" charset="0"/>
                          <a:ea typeface="+mn-ea"/>
                          <a:cs typeface="Segoe UI" panose="020B0502040204020203" pitchFamily="34" charset="0"/>
                        </a:rPr>
                        <a:t>= </a:t>
                      </a:r>
                      <a:r>
                        <a:rPr lang="en-US" sz="1800" b="1" kern="1200" dirty="0" err="1">
                          <a:solidFill>
                            <a:srgbClr val="0070C0"/>
                          </a:solidFill>
                          <a:latin typeface="Segoe UI" panose="020B0502040204020203" pitchFamily="34" charset="0"/>
                          <a:ea typeface="+mn-ea"/>
                          <a:cs typeface="Segoe UI" panose="020B0502040204020203" pitchFamily="34" charset="0"/>
                        </a:rPr>
                        <a:t>s</a:t>
                      </a:r>
                      <a:r>
                        <a:rPr lang="en-US" sz="1800" b="1" kern="1200" baseline="30000" dirty="0" err="1">
                          <a:solidFill>
                            <a:srgbClr val="0070C0"/>
                          </a:solidFill>
                          <a:latin typeface="Segoe UI" panose="020B0502040204020203" pitchFamily="34" charset="0"/>
                          <a:ea typeface="+mn-ea"/>
                          <a:cs typeface="Segoe UI" panose="020B0502040204020203" pitchFamily="34" charset="0"/>
                        </a:rPr>
                        <a:t>b</a:t>
                      </a:r>
                      <a:r>
                        <a:rPr lang="en-US" sz="1800" b="1" kern="1200" dirty="0">
                          <a:solidFill>
                            <a:srgbClr val="0070C0"/>
                          </a:solidFill>
                          <a:latin typeface="Segoe UI" panose="020B0502040204020203" pitchFamily="34" charset="0"/>
                          <a:ea typeface="+mn-ea"/>
                          <a:cs typeface="Segoe UI" panose="020B0502040204020203" pitchFamily="34" charset="0"/>
                        </a:rPr>
                        <a:t> MOD p</a:t>
                      </a:r>
                      <a:r>
                        <a:rPr lang="en-US" sz="1800" kern="1200" dirty="0">
                          <a:solidFill>
                            <a:srgbClr val="0070C0"/>
                          </a:solidFill>
                          <a:latin typeface="Segoe UI" panose="020B0502040204020203" pitchFamily="34" charset="0"/>
                          <a:ea typeface="+mn-ea"/>
                          <a:cs typeface="Segoe UI" panose="020B0502040204020203" pitchFamily="34" charset="0"/>
                        </a:rPr>
                        <a:t> and sends </a:t>
                      </a:r>
                      <a:r>
                        <a:rPr lang="en-US" sz="1800" u="sng" kern="1200" dirty="0">
                          <a:solidFill>
                            <a:srgbClr val="0070C0"/>
                          </a:solidFill>
                          <a:latin typeface="Segoe UI" panose="020B0502040204020203" pitchFamily="34" charset="0"/>
                          <a:ea typeface="+mn-ea"/>
                          <a:cs typeface="Segoe UI" panose="020B0502040204020203" pitchFamily="34" charset="0"/>
                        </a:rPr>
                        <a:t>B to </a:t>
                      </a:r>
                      <a:r>
                        <a:rPr lang="en-US" sz="1800" u="sng" kern="1200" dirty="0" smtClean="0">
                          <a:solidFill>
                            <a:srgbClr val="0070C0"/>
                          </a:solidFill>
                          <a:latin typeface="Segoe UI" panose="020B0502040204020203" pitchFamily="34" charset="0"/>
                          <a:ea typeface="+mn-ea"/>
                          <a:cs typeface="Segoe UI" panose="020B0502040204020203" pitchFamily="34" charset="0"/>
                        </a:rPr>
                        <a:t>Alice</a:t>
                      </a:r>
                      <a:endParaRPr lang="en-US" sz="1800" u="sng" kern="1200" dirty="0">
                        <a:solidFill>
                          <a:srgbClr val="0070C0"/>
                        </a:solidFill>
                        <a:latin typeface="Segoe UI" panose="020B0502040204020203" pitchFamily="34" charset="0"/>
                        <a:ea typeface="+mn-ea"/>
                        <a:cs typeface="Segoe UI" panose="020B0502040204020203" pitchFamily="34" charset="0"/>
                      </a:endParaRP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779105">
                <a:tc>
                  <a:txBody>
                    <a:bodyPr/>
                    <a:lstStyle/>
                    <a:p>
                      <a:pPr marL="228600" marR="0" indent="-228600" algn="just">
                        <a:spcBef>
                          <a:spcPts val="0"/>
                        </a:spcBef>
                        <a:spcAft>
                          <a:spcPts val="0"/>
                        </a:spcAft>
                        <a:buFont typeface="+mj-lt"/>
                        <a:buAutoNum type="arabicPeriod" startAt="4"/>
                      </a:pPr>
                      <a:r>
                        <a:rPr lang="en-US" sz="1800" kern="1200" dirty="0" smtClean="0">
                          <a:solidFill>
                            <a:srgbClr val="0070C0"/>
                          </a:solidFill>
                          <a:latin typeface="Segoe UI" panose="020B0502040204020203" pitchFamily="34" charset="0"/>
                          <a:ea typeface="+mn-ea"/>
                          <a:cs typeface="Segoe UI" panose="020B0502040204020203" pitchFamily="34" charset="0"/>
                        </a:rPr>
                        <a:t>Alice </a:t>
                      </a:r>
                      <a:r>
                        <a:rPr lang="en-US" sz="1800" kern="1200" dirty="0">
                          <a:solidFill>
                            <a:srgbClr val="0070C0"/>
                          </a:solidFill>
                          <a:latin typeface="Segoe UI" panose="020B0502040204020203" pitchFamily="34" charset="0"/>
                          <a:ea typeface="+mn-ea"/>
                          <a:cs typeface="Segoe UI" panose="020B0502040204020203" pitchFamily="34" charset="0"/>
                        </a:rPr>
                        <a:t>computes the key </a:t>
                      </a:r>
                      <a:r>
                        <a:rPr lang="en-US" sz="1800" b="1" kern="1200" dirty="0">
                          <a:solidFill>
                            <a:srgbClr val="0070C0"/>
                          </a:solidFill>
                          <a:latin typeface="Segoe UI" panose="020B0502040204020203" pitchFamily="34" charset="0"/>
                          <a:ea typeface="+mn-ea"/>
                          <a:cs typeface="Segoe UI" panose="020B0502040204020203" pitchFamily="34" charset="0"/>
                        </a:rPr>
                        <a:t>K = B</a:t>
                      </a:r>
                      <a:r>
                        <a:rPr lang="en-US" sz="1800" b="1" kern="1200" baseline="30000" dirty="0">
                          <a:solidFill>
                            <a:srgbClr val="0070C0"/>
                          </a:solidFill>
                          <a:latin typeface="Segoe UI" panose="020B0502040204020203" pitchFamily="34" charset="0"/>
                          <a:ea typeface="+mn-ea"/>
                          <a:cs typeface="Segoe UI" panose="020B0502040204020203" pitchFamily="34" charset="0"/>
                        </a:rPr>
                        <a:t>a</a:t>
                      </a:r>
                      <a:r>
                        <a:rPr lang="en-US" sz="1800" b="1" kern="1200" dirty="0">
                          <a:solidFill>
                            <a:srgbClr val="0070C0"/>
                          </a:solidFill>
                          <a:latin typeface="Segoe UI" panose="020B0502040204020203" pitchFamily="34" charset="0"/>
                          <a:ea typeface="+mn-ea"/>
                          <a:cs typeface="Segoe UI" panose="020B0502040204020203" pitchFamily="34" charset="0"/>
                        </a:rPr>
                        <a:t> MOD </a:t>
                      </a:r>
                      <a:r>
                        <a:rPr lang="en-US" sz="1800" b="1" kern="1200" dirty="0" smtClean="0">
                          <a:solidFill>
                            <a:srgbClr val="0070C0"/>
                          </a:solidFill>
                          <a:latin typeface="Segoe UI" panose="020B0502040204020203" pitchFamily="34" charset="0"/>
                          <a:ea typeface="+mn-ea"/>
                          <a:cs typeface="Segoe UI" panose="020B0502040204020203" pitchFamily="34" charset="0"/>
                        </a:rPr>
                        <a:t>p</a:t>
                      </a:r>
                      <a:endParaRPr lang="en-US" sz="1800" b="1" kern="1200" dirty="0">
                        <a:solidFill>
                          <a:srgbClr val="0070C0"/>
                        </a:solidFill>
                        <a:latin typeface="Segoe UI" panose="020B0502040204020203" pitchFamily="34" charset="0"/>
                        <a:ea typeface="+mn-ea"/>
                        <a:cs typeface="Segoe UI" panose="020B0502040204020203" pitchFamily="34" charset="0"/>
                      </a:endParaRP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228600" marR="0" indent="-228600" algn="just">
                        <a:spcBef>
                          <a:spcPts val="0"/>
                        </a:spcBef>
                        <a:spcAft>
                          <a:spcPts val="0"/>
                        </a:spcAft>
                        <a:buFont typeface="+mj-lt"/>
                        <a:buAutoNum type="arabicPeriod" startAt="4"/>
                      </a:pPr>
                      <a:r>
                        <a:rPr lang="en-US" sz="1800" kern="1200" dirty="0" smtClean="0">
                          <a:solidFill>
                            <a:srgbClr val="0070C0"/>
                          </a:solidFill>
                          <a:latin typeface="Segoe UI" panose="020B0502040204020203" pitchFamily="34" charset="0"/>
                          <a:ea typeface="+mn-ea"/>
                          <a:cs typeface="Segoe UI" panose="020B0502040204020203" pitchFamily="34" charset="0"/>
                        </a:rPr>
                        <a:t>Bob </a:t>
                      </a:r>
                      <a:r>
                        <a:rPr lang="en-US" sz="1800" kern="1200" dirty="0">
                          <a:solidFill>
                            <a:srgbClr val="0070C0"/>
                          </a:solidFill>
                          <a:latin typeface="Segoe UI" panose="020B0502040204020203" pitchFamily="34" charset="0"/>
                          <a:ea typeface="+mn-ea"/>
                          <a:cs typeface="Segoe UI" panose="020B0502040204020203" pitchFamily="34" charset="0"/>
                        </a:rPr>
                        <a:t>computes the key </a:t>
                      </a:r>
                      <a:r>
                        <a:rPr lang="en-US" sz="1800" b="1" kern="1200" dirty="0">
                          <a:solidFill>
                            <a:srgbClr val="0070C0"/>
                          </a:solidFill>
                          <a:latin typeface="Segoe UI" panose="020B0502040204020203" pitchFamily="34" charset="0"/>
                          <a:ea typeface="+mn-ea"/>
                          <a:cs typeface="Segoe UI" panose="020B0502040204020203" pitchFamily="34" charset="0"/>
                        </a:rPr>
                        <a:t>K = A</a:t>
                      </a:r>
                      <a:r>
                        <a:rPr lang="en-US" sz="1800" b="1" kern="1200" baseline="30000" dirty="0">
                          <a:solidFill>
                            <a:srgbClr val="0070C0"/>
                          </a:solidFill>
                          <a:latin typeface="Segoe UI" panose="020B0502040204020203" pitchFamily="34" charset="0"/>
                          <a:ea typeface="+mn-ea"/>
                          <a:cs typeface="Segoe UI" panose="020B0502040204020203" pitchFamily="34" charset="0"/>
                        </a:rPr>
                        <a:t>b</a:t>
                      </a:r>
                      <a:r>
                        <a:rPr lang="en-US" sz="1800" b="1" kern="1200" dirty="0">
                          <a:solidFill>
                            <a:srgbClr val="0070C0"/>
                          </a:solidFill>
                          <a:latin typeface="Segoe UI" panose="020B0502040204020203" pitchFamily="34" charset="0"/>
                          <a:ea typeface="+mn-ea"/>
                          <a:cs typeface="Segoe UI" panose="020B0502040204020203" pitchFamily="34" charset="0"/>
                        </a:rPr>
                        <a:t> MOD </a:t>
                      </a:r>
                      <a:r>
                        <a:rPr lang="en-US" sz="1800" b="1" kern="1200" dirty="0" smtClean="0">
                          <a:solidFill>
                            <a:srgbClr val="0070C0"/>
                          </a:solidFill>
                          <a:latin typeface="Segoe UI" panose="020B0502040204020203" pitchFamily="34" charset="0"/>
                          <a:ea typeface="+mn-ea"/>
                          <a:cs typeface="Segoe UI" panose="020B0502040204020203" pitchFamily="34" charset="0"/>
                        </a:rPr>
                        <a:t>p</a:t>
                      </a:r>
                      <a:endParaRPr lang="en-US" sz="1800" b="1" kern="1200" dirty="0">
                        <a:solidFill>
                          <a:srgbClr val="0070C0"/>
                        </a:solidFill>
                        <a:latin typeface="Segoe UI" panose="020B0502040204020203" pitchFamily="34" charset="0"/>
                        <a:ea typeface="+mn-ea"/>
                        <a:cs typeface="Segoe UI" panose="020B0502040204020203" pitchFamily="34" charset="0"/>
                      </a:endParaRP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bl>
          </a:graphicData>
        </a:graphic>
      </p:graphicFrame>
    </p:spTree>
    <p:extLst>
      <p:ext uri="{BB962C8B-B14F-4D97-AF65-F5344CB8AC3E}">
        <p14:creationId xmlns:p14="http://schemas.microsoft.com/office/powerpoint/2010/main" val="591550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Diffie</a:t>
            </a:r>
            <a:r>
              <a:rPr lang="en-US" dirty="0"/>
              <a:t>-Hellman Key </a:t>
            </a:r>
            <a:r>
              <a:rPr lang="en-US" smtClean="0"/>
              <a:t>Exchange – Example</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850" y="1219200"/>
            <a:ext cx="1369012" cy="420624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2051" y="1219200"/>
            <a:ext cx="1292905" cy="4206240"/>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4054372404"/>
              </p:ext>
            </p:extLst>
          </p:nvPr>
        </p:nvGraphicFramePr>
        <p:xfrm>
          <a:off x="742950" y="2423163"/>
          <a:ext cx="8229600" cy="3796625"/>
        </p:xfrm>
        <a:graphic>
          <a:graphicData uri="http://schemas.openxmlformats.org/drawingml/2006/table">
            <a:tbl>
              <a:tblPr>
                <a:tableStyleId>{5C22544A-7EE6-4342-B048-85BDC9FD1C3A}</a:tableStyleId>
              </a:tblPr>
              <a:tblGrid>
                <a:gridCol w="4130564"/>
                <a:gridCol w="4099036"/>
              </a:tblGrid>
              <a:tr h="779105">
                <a:tc gridSpan="2">
                  <a:txBody>
                    <a:bodyPr/>
                    <a:lstStyle/>
                    <a:p>
                      <a:pPr marL="342900" marR="0" indent="-342900" algn="just">
                        <a:spcBef>
                          <a:spcPts val="0"/>
                        </a:spcBef>
                        <a:spcAft>
                          <a:spcPts val="0"/>
                        </a:spcAft>
                        <a:buFont typeface="+mj-lt"/>
                        <a:buAutoNum type="arabicPeriod"/>
                      </a:pP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228600" marR="0" indent="-228600" algn="just">
                        <a:spcBef>
                          <a:spcPts val="0"/>
                        </a:spcBef>
                        <a:spcAft>
                          <a:spcPts val="0"/>
                        </a:spcAft>
                        <a:buFont typeface="+mj-lt"/>
                        <a:buAutoNum type="arabicPeriod"/>
                      </a:pPr>
                      <a:r>
                        <a:rPr lang="en-US" sz="1800" kern="1200" dirty="0" smtClean="0">
                          <a:solidFill>
                            <a:srgbClr val="0070C0"/>
                          </a:solidFill>
                          <a:latin typeface="Segoe UI" panose="020B0502040204020203" pitchFamily="34" charset="0"/>
                          <a:ea typeface="+mn-ea"/>
                          <a:cs typeface="Segoe UI" panose="020B0502040204020203" pitchFamily="34" charset="0"/>
                        </a:rPr>
                        <a:t>Alice </a:t>
                      </a:r>
                      <a:r>
                        <a:rPr lang="en-US" sz="1800" kern="1200" dirty="0">
                          <a:solidFill>
                            <a:srgbClr val="0070C0"/>
                          </a:solidFill>
                          <a:latin typeface="Segoe UI" panose="020B0502040204020203" pitchFamily="34" charset="0"/>
                          <a:ea typeface="+mn-ea"/>
                          <a:cs typeface="Segoe UI" panose="020B0502040204020203" pitchFamily="34" charset="0"/>
                        </a:rPr>
                        <a:t>and Bob publicly pick 2 </a:t>
                      </a:r>
                      <a:r>
                        <a:rPr lang="en-US" sz="1800" kern="1200" dirty="0" smtClean="0">
                          <a:solidFill>
                            <a:srgbClr val="0070C0"/>
                          </a:solidFill>
                          <a:latin typeface="Segoe UI" panose="020B0502040204020203" pitchFamily="34" charset="0"/>
                          <a:ea typeface="+mn-ea"/>
                          <a:cs typeface="Segoe UI" panose="020B0502040204020203" pitchFamily="34" charset="0"/>
                        </a:rPr>
                        <a:t>integers: </a:t>
                      </a:r>
                      <a:r>
                        <a:rPr lang="en-US" sz="1800" b="1" kern="1200" dirty="0" smtClean="0">
                          <a:solidFill>
                            <a:srgbClr val="0070C0"/>
                          </a:solidFill>
                          <a:latin typeface="Segoe UI" panose="020B0502040204020203" pitchFamily="34" charset="0"/>
                          <a:ea typeface="+mn-ea"/>
                          <a:cs typeface="Segoe UI" panose="020B0502040204020203" pitchFamily="34" charset="0"/>
                        </a:rPr>
                        <a:t>p = 11 </a:t>
                      </a:r>
                      <a:r>
                        <a:rPr lang="en-US" sz="1800" b="0" kern="1200" dirty="0" smtClean="0">
                          <a:solidFill>
                            <a:srgbClr val="0070C0"/>
                          </a:solidFill>
                          <a:latin typeface="Segoe UI" panose="020B0502040204020203" pitchFamily="34" charset="0"/>
                          <a:ea typeface="+mn-ea"/>
                          <a:cs typeface="Segoe UI" panose="020B0502040204020203" pitchFamily="34" charset="0"/>
                        </a:rPr>
                        <a:t>and</a:t>
                      </a:r>
                      <a:r>
                        <a:rPr lang="en-US" sz="1800" b="1" kern="1200" dirty="0" smtClean="0">
                          <a:solidFill>
                            <a:srgbClr val="0070C0"/>
                          </a:solidFill>
                          <a:latin typeface="Segoe UI" panose="020B0502040204020203" pitchFamily="34" charset="0"/>
                          <a:ea typeface="+mn-ea"/>
                          <a:cs typeface="Segoe UI" panose="020B0502040204020203" pitchFamily="34" charset="0"/>
                        </a:rPr>
                        <a:t> s = 3</a:t>
                      </a:r>
                      <a:endParaRPr lang="en-US" sz="1800" b="1" u="sng" kern="1200" dirty="0">
                        <a:solidFill>
                          <a:srgbClr val="0070C0"/>
                        </a:solidFill>
                        <a:latin typeface="Segoe UI" panose="020B0502040204020203" pitchFamily="34" charset="0"/>
                        <a:ea typeface="+mn-ea"/>
                        <a:cs typeface="Segoe UI" panose="020B0502040204020203" pitchFamily="34" charset="0"/>
                      </a:endParaRPr>
                    </a:p>
                    <a:p>
                      <a:pPr marL="152400" marR="0" algn="just">
                        <a:spcBef>
                          <a:spcPts val="0"/>
                        </a:spcBef>
                        <a:spcAft>
                          <a:spcPts val="0"/>
                        </a:spcAft>
                      </a:pPr>
                      <a:r>
                        <a:rPr lang="en-US" sz="1800" kern="1200" dirty="0">
                          <a:solidFill>
                            <a:srgbClr val="0070C0"/>
                          </a:solidFill>
                          <a:latin typeface="Segoe UI" panose="020B0502040204020203" pitchFamily="34" charset="0"/>
                          <a:ea typeface="+mn-ea"/>
                          <a:cs typeface="Segoe UI" panose="020B0502040204020203" pitchFamily="34" charset="0"/>
                        </a:rPr>
                        <a:t> </a:t>
                      </a: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hMerge="1">
                  <a:txBody>
                    <a:bodyPr/>
                    <a:lstStyle/>
                    <a:p>
                      <a:endParaRPr lang="en-US"/>
                    </a:p>
                  </a:txBody>
                  <a:tcPr/>
                </a:tc>
              </a:tr>
              <a:tr h="779105">
                <a:tc>
                  <a:txBody>
                    <a:bodyPr/>
                    <a:lstStyle/>
                    <a:p>
                      <a:pPr marL="342900" marR="0" indent="-342900" algn="just">
                        <a:spcBef>
                          <a:spcPts val="0"/>
                        </a:spcBef>
                        <a:spcAft>
                          <a:spcPts val="0"/>
                        </a:spcAft>
                        <a:buFont typeface="+mj-lt"/>
                        <a:buAutoNum type="arabicPeriod" startAt="2"/>
                      </a:pP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228600" marR="0" indent="-228600" algn="just">
                        <a:spcBef>
                          <a:spcPts val="0"/>
                        </a:spcBef>
                        <a:spcAft>
                          <a:spcPts val="0"/>
                        </a:spcAft>
                        <a:buFont typeface="+mj-lt"/>
                        <a:buAutoNum type="arabicPeriod" startAt="2"/>
                      </a:pPr>
                      <a:r>
                        <a:rPr lang="en-US" sz="1800" kern="1200" dirty="0" smtClean="0">
                          <a:solidFill>
                            <a:srgbClr val="0070C0"/>
                          </a:solidFill>
                          <a:latin typeface="Segoe UI" panose="020B0502040204020203" pitchFamily="34" charset="0"/>
                          <a:ea typeface="+mn-ea"/>
                          <a:cs typeface="Segoe UI" panose="020B0502040204020203" pitchFamily="34" charset="0"/>
                        </a:rPr>
                        <a:t>Alice picks </a:t>
                      </a:r>
                      <a:r>
                        <a:rPr lang="en-US" sz="1800" b="1" kern="1200" dirty="0" smtClean="0">
                          <a:solidFill>
                            <a:srgbClr val="0070C0"/>
                          </a:solidFill>
                          <a:latin typeface="Segoe UI" panose="020B0502040204020203" pitchFamily="34" charset="0"/>
                          <a:ea typeface="+mn-ea"/>
                          <a:cs typeface="Segoe UI" panose="020B0502040204020203" pitchFamily="34" charset="0"/>
                        </a:rPr>
                        <a:t>a = 2</a:t>
                      </a:r>
                      <a:endParaRPr lang="en-US" sz="1800" b="1" kern="1200" dirty="0">
                        <a:solidFill>
                          <a:srgbClr val="0070C0"/>
                        </a:solidFill>
                        <a:latin typeface="Segoe UI" panose="020B0502040204020203" pitchFamily="34" charset="0"/>
                        <a:ea typeface="+mn-ea"/>
                        <a:cs typeface="Segoe UI" panose="020B0502040204020203" pitchFamily="34" charset="0"/>
                      </a:endParaRPr>
                    </a:p>
                    <a:p>
                      <a:pPr marL="0" marR="0" algn="just">
                        <a:spcBef>
                          <a:spcPts val="0"/>
                        </a:spcBef>
                        <a:spcAft>
                          <a:spcPts val="0"/>
                        </a:spcAft>
                      </a:pPr>
                      <a:r>
                        <a:rPr lang="en-US" sz="1800" kern="1200" dirty="0">
                          <a:solidFill>
                            <a:srgbClr val="0070C0"/>
                          </a:solidFill>
                          <a:latin typeface="Segoe UI" panose="020B0502040204020203" pitchFamily="34" charset="0"/>
                          <a:ea typeface="+mn-ea"/>
                          <a:cs typeface="Segoe UI" panose="020B0502040204020203" pitchFamily="34" charset="0"/>
                        </a:rPr>
                        <a:t> </a:t>
                      </a: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342900" marR="0" indent="-342900" algn="just">
                        <a:spcBef>
                          <a:spcPts val="0"/>
                        </a:spcBef>
                        <a:spcAft>
                          <a:spcPts val="0"/>
                        </a:spcAft>
                        <a:buFont typeface="+mj-lt"/>
                        <a:buAutoNum type="arabicPeriod" startAt="2"/>
                      </a:pP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228600" marR="0" indent="-228600" algn="just">
                        <a:spcBef>
                          <a:spcPts val="0"/>
                        </a:spcBef>
                        <a:spcAft>
                          <a:spcPts val="0"/>
                        </a:spcAft>
                        <a:buFont typeface="+mj-lt"/>
                        <a:buAutoNum type="arabicPeriod" startAt="2"/>
                      </a:pPr>
                      <a:r>
                        <a:rPr lang="en-US" sz="1800" kern="1200" dirty="0" smtClean="0">
                          <a:solidFill>
                            <a:srgbClr val="0070C0"/>
                          </a:solidFill>
                          <a:latin typeface="Segoe UI" panose="020B0502040204020203" pitchFamily="34" charset="0"/>
                          <a:ea typeface="+mn-ea"/>
                          <a:cs typeface="Segoe UI" panose="020B0502040204020203" pitchFamily="34" charset="0"/>
                        </a:rPr>
                        <a:t>Bob picks </a:t>
                      </a:r>
                      <a:r>
                        <a:rPr lang="en-US" sz="1800" b="1" kern="1200" dirty="0" smtClean="0">
                          <a:solidFill>
                            <a:srgbClr val="0070C0"/>
                          </a:solidFill>
                          <a:latin typeface="Segoe UI" panose="020B0502040204020203" pitchFamily="34" charset="0"/>
                          <a:ea typeface="+mn-ea"/>
                          <a:cs typeface="Segoe UI" panose="020B0502040204020203" pitchFamily="34" charset="0"/>
                        </a:rPr>
                        <a:t>b = 4</a:t>
                      </a:r>
                      <a:endParaRPr lang="en-US" sz="1800" b="1" kern="1200" dirty="0">
                        <a:solidFill>
                          <a:srgbClr val="0070C0"/>
                        </a:solidFill>
                        <a:latin typeface="Segoe UI" panose="020B0502040204020203" pitchFamily="34" charset="0"/>
                        <a:ea typeface="+mn-ea"/>
                        <a:cs typeface="Segoe UI" panose="020B0502040204020203" pitchFamily="34" charset="0"/>
                      </a:endParaRP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779105">
                <a:tc>
                  <a:txBody>
                    <a:bodyPr/>
                    <a:lstStyle/>
                    <a:p>
                      <a:pPr marL="342900" marR="0" indent="-342900" algn="just">
                        <a:spcBef>
                          <a:spcPts val="0"/>
                        </a:spcBef>
                        <a:spcAft>
                          <a:spcPts val="0"/>
                        </a:spcAft>
                        <a:buFont typeface="+mj-lt"/>
                        <a:buAutoNum type="arabicPeriod" startAt="3"/>
                      </a:pP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228600" marR="0" indent="-228600" algn="just">
                        <a:spcBef>
                          <a:spcPts val="0"/>
                        </a:spcBef>
                        <a:spcAft>
                          <a:spcPts val="0"/>
                        </a:spcAft>
                        <a:buFont typeface="+mj-lt"/>
                        <a:buAutoNum type="arabicPeriod" startAt="3"/>
                      </a:pPr>
                      <a:r>
                        <a:rPr lang="en-US" sz="1800" kern="1200" dirty="0" smtClean="0">
                          <a:solidFill>
                            <a:srgbClr val="0070C0"/>
                          </a:solidFill>
                          <a:latin typeface="Segoe UI" panose="020B0502040204020203" pitchFamily="34" charset="0"/>
                          <a:ea typeface="+mn-ea"/>
                          <a:cs typeface="Segoe UI" panose="020B0502040204020203" pitchFamily="34" charset="0"/>
                        </a:rPr>
                        <a:t>Alice computes </a:t>
                      </a:r>
                    </a:p>
                    <a:p>
                      <a:pPr marL="0" marR="0" indent="0" algn="just">
                        <a:spcBef>
                          <a:spcPts val="0"/>
                        </a:spcBef>
                        <a:spcAft>
                          <a:spcPts val="0"/>
                        </a:spcAft>
                        <a:buFont typeface="+mj-lt"/>
                        <a:buNone/>
                      </a:pPr>
                      <a:r>
                        <a:rPr lang="en-US" sz="1800" b="1" kern="1200" dirty="0" smtClean="0">
                          <a:solidFill>
                            <a:srgbClr val="0070C0"/>
                          </a:solidFill>
                          <a:latin typeface="Segoe UI" panose="020B0502040204020203" pitchFamily="34" charset="0"/>
                          <a:ea typeface="+mn-ea"/>
                          <a:cs typeface="Segoe UI" panose="020B0502040204020203" pitchFamily="34" charset="0"/>
                        </a:rPr>
                        <a:t>             A = 3</a:t>
                      </a:r>
                      <a:r>
                        <a:rPr lang="en-US" sz="1800" b="1" kern="1200" baseline="30000" dirty="0" smtClean="0">
                          <a:solidFill>
                            <a:srgbClr val="0070C0"/>
                          </a:solidFill>
                          <a:latin typeface="Segoe UI" panose="020B0502040204020203" pitchFamily="34" charset="0"/>
                          <a:ea typeface="+mn-ea"/>
                          <a:cs typeface="Segoe UI" panose="020B0502040204020203" pitchFamily="34" charset="0"/>
                        </a:rPr>
                        <a:t>2</a:t>
                      </a:r>
                      <a:r>
                        <a:rPr lang="en-US" sz="1800" b="1" kern="1200" dirty="0" smtClean="0">
                          <a:solidFill>
                            <a:srgbClr val="0070C0"/>
                          </a:solidFill>
                          <a:latin typeface="Segoe UI" panose="020B0502040204020203" pitchFamily="34" charset="0"/>
                          <a:ea typeface="+mn-ea"/>
                          <a:cs typeface="Segoe UI" panose="020B0502040204020203" pitchFamily="34" charset="0"/>
                        </a:rPr>
                        <a:t> MOD 11 = 9</a:t>
                      </a:r>
                      <a:endParaRPr lang="en-US" sz="1800" b="1" u="sng" kern="1200" dirty="0" smtClean="0">
                        <a:solidFill>
                          <a:srgbClr val="0070C0"/>
                        </a:solidFill>
                        <a:latin typeface="Segoe UI" panose="020B0502040204020203" pitchFamily="34" charset="0"/>
                        <a:ea typeface="+mn-ea"/>
                        <a:cs typeface="Segoe UI" panose="020B0502040204020203" pitchFamily="34" charset="0"/>
                      </a:endParaRPr>
                    </a:p>
                    <a:p>
                      <a:pPr marL="0" marR="0" algn="just">
                        <a:spcBef>
                          <a:spcPts val="0"/>
                        </a:spcBef>
                        <a:spcAft>
                          <a:spcPts val="0"/>
                        </a:spcAft>
                      </a:pPr>
                      <a:r>
                        <a:rPr lang="en-US" sz="1800" kern="1200" dirty="0">
                          <a:solidFill>
                            <a:srgbClr val="0070C0"/>
                          </a:solidFill>
                          <a:latin typeface="Segoe UI" panose="020B0502040204020203" pitchFamily="34" charset="0"/>
                          <a:ea typeface="+mn-ea"/>
                          <a:cs typeface="Segoe UI" panose="020B0502040204020203" pitchFamily="34" charset="0"/>
                        </a:rPr>
                        <a:t> </a:t>
                      </a: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0" marR="0" algn="just">
                        <a:spcBef>
                          <a:spcPts val="0"/>
                        </a:spcBef>
                        <a:spcAft>
                          <a:spcPts val="0"/>
                        </a:spcAft>
                      </a:pPr>
                      <a:endParaRPr lang="en-US" sz="1800" kern="1200" dirty="0">
                        <a:solidFill>
                          <a:srgbClr val="0070C0"/>
                        </a:solidFill>
                        <a:latin typeface="Segoe UI" panose="020B0502040204020203" pitchFamily="34" charset="0"/>
                        <a:ea typeface="+mn-ea"/>
                        <a:cs typeface="Segoe UI" panose="020B0502040204020203" pitchFamily="34" charset="0"/>
                      </a:endParaRP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342900" marR="0" indent="-342900" algn="just">
                        <a:spcBef>
                          <a:spcPts val="0"/>
                        </a:spcBef>
                        <a:spcAft>
                          <a:spcPts val="0"/>
                        </a:spcAft>
                        <a:buFont typeface="+mj-lt"/>
                        <a:buAutoNum type="arabicPeriod" startAt="3"/>
                      </a:pPr>
                      <a:endParaRPr lang="en-US" sz="1800" kern="1200" dirty="0" smtClean="0">
                        <a:solidFill>
                          <a:srgbClr val="0070C0"/>
                        </a:solidFill>
                        <a:latin typeface="Segoe UI" panose="020B0502040204020203" pitchFamily="34" charset="0"/>
                        <a:ea typeface="+mn-ea"/>
                        <a:cs typeface="Segoe UI" panose="020B0502040204020203" pitchFamily="34" charset="0"/>
                      </a:endParaRPr>
                    </a:p>
                    <a:p>
                      <a:pPr marL="228600" marR="0" indent="-228600" algn="just">
                        <a:spcBef>
                          <a:spcPts val="0"/>
                        </a:spcBef>
                        <a:spcAft>
                          <a:spcPts val="0"/>
                        </a:spcAft>
                        <a:buFont typeface="+mj-lt"/>
                        <a:buAutoNum type="arabicPeriod" startAt="3"/>
                      </a:pPr>
                      <a:r>
                        <a:rPr lang="en-US" sz="1800" kern="1200" dirty="0" smtClean="0">
                          <a:solidFill>
                            <a:srgbClr val="0070C0"/>
                          </a:solidFill>
                          <a:latin typeface="Segoe UI" panose="020B0502040204020203" pitchFamily="34" charset="0"/>
                          <a:ea typeface="+mn-ea"/>
                          <a:cs typeface="Segoe UI" panose="020B0502040204020203" pitchFamily="34" charset="0"/>
                        </a:rPr>
                        <a:t>Bob </a:t>
                      </a:r>
                      <a:r>
                        <a:rPr lang="en-US" sz="1800" kern="1200" dirty="0">
                          <a:solidFill>
                            <a:srgbClr val="0070C0"/>
                          </a:solidFill>
                          <a:latin typeface="Segoe UI" panose="020B0502040204020203" pitchFamily="34" charset="0"/>
                          <a:ea typeface="+mn-ea"/>
                          <a:cs typeface="Segoe UI" panose="020B0502040204020203" pitchFamily="34" charset="0"/>
                        </a:rPr>
                        <a:t>computes </a:t>
                      </a:r>
                    </a:p>
                    <a:p>
                      <a:pPr marL="0" marR="0" algn="just">
                        <a:spcBef>
                          <a:spcPts val="0"/>
                        </a:spcBef>
                        <a:spcAft>
                          <a:spcPts val="0"/>
                        </a:spcAft>
                      </a:pPr>
                      <a:r>
                        <a:rPr lang="da-DK" sz="1800" b="1" kern="1200" dirty="0" smtClean="0">
                          <a:solidFill>
                            <a:srgbClr val="0070C0"/>
                          </a:solidFill>
                          <a:latin typeface="Segoe UI" panose="020B0502040204020203" pitchFamily="34" charset="0"/>
                          <a:ea typeface="+mn-ea"/>
                          <a:cs typeface="Segoe UI" panose="020B0502040204020203" pitchFamily="34" charset="0"/>
                        </a:rPr>
                        <a:t>           B = 3</a:t>
                      </a:r>
                      <a:r>
                        <a:rPr lang="da-DK" sz="1800" b="1" kern="1200" baseline="30000" dirty="0" smtClean="0">
                          <a:solidFill>
                            <a:srgbClr val="0070C0"/>
                          </a:solidFill>
                          <a:latin typeface="Segoe UI" panose="020B0502040204020203" pitchFamily="34" charset="0"/>
                          <a:ea typeface="+mn-ea"/>
                          <a:cs typeface="Segoe UI" panose="020B0502040204020203" pitchFamily="34" charset="0"/>
                        </a:rPr>
                        <a:t>4</a:t>
                      </a:r>
                      <a:r>
                        <a:rPr lang="da-DK" sz="1800" b="1" kern="1200" dirty="0" smtClean="0">
                          <a:solidFill>
                            <a:srgbClr val="0070C0"/>
                          </a:solidFill>
                          <a:latin typeface="Segoe UI" panose="020B0502040204020203" pitchFamily="34" charset="0"/>
                          <a:ea typeface="+mn-ea"/>
                          <a:cs typeface="Segoe UI" panose="020B0502040204020203" pitchFamily="34" charset="0"/>
                        </a:rPr>
                        <a:t> MOD 11 = 4</a:t>
                      </a:r>
                      <a:endParaRPr lang="en-US" sz="1800" b="1" u="sng" kern="1200" dirty="0">
                        <a:solidFill>
                          <a:srgbClr val="0070C0"/>
                        </a:solidFill>
                        <a:latin typeface="Segoe UI" panose="020B0502040204020203" pitchFamily="34" charset="0"/>
                        <a:ea typeface="+mn-ea"/>
                        <a:cs typeface="Segoe UI" panose="020B0502040204020203" pitchFamily="34" charset="0"/>
                      </a:endParaRP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779105">
                <a:tc>
                  <a:txBody>
                    <a:bodyPr/>
                    <a:lstStyle/>
                    <a:p>
                      <a:pPr marL="228600" marR="0" indent="-228600" algn="just">
                        <a:spcBef>
                          <a:spcPts val="0"/>
                        </a:spcBef>
                        <a:spcAft>
                          <a:spcPts val="0"/>
                        </a:spcAft>
                        <a:buFont typeface="+mj-lt"/>
                        <a:buAutoNum type="arabicPeriod" startAt="4"/>
                      </a:pPr>
                      <a:r>
                        <a:rPr lang="en-US" sz="1800" kern="1200" dirty="0" smtClean="0">
                          <a:solidFill>
                            <a:srgbClr val="0070C0"/>
                          </a:solidFill>
                          <a:latin typeface="Segoe UI" panose="020B0502040204020203" pitchFamily="34" charset="0"/>
                          <a:ea typeface="+mn-ea"/>
                          <a:cs typeface="Segoe UI" panose="020B0502040204020203" pitchFamily="34" charset="0"/>
                        </a:rPr>
                        <a:t>Alice computes the key </a:t>
                      </a:r>
                      <a:r>
                        <a:rPr lang="en-US" sz="1800" b="1" kern="1200" dirty="0" smtClean="0">
                          <a:solidFill>
                            <a:srgbClr val="0070C0"/>
                          </a:solidFill>
                          <a:latin typeface="Segoe UI" panose="020B0502040204020203" pitchFamily="34" charset="0"/>
                          <a:ea typeface="+mn-ea"/>
                          <a:cs typeface="Segoe UI" panose="020B0502040204020203" pitchFamily="34" charset="0"/>
                        </a:rPr>
                        <a:t>K = 4</a:t>
                      </a:r>
                      <a:r>
                        <a:rPr lang="en-US" sz="1800" b="1" kern="1200" baseline="30000" dirty="0" smtClean="0">
                          <a:solidFill>
                            <a:srgbClr val="0070C0"/>
                          </a:solidFill>
                          <a:latin typeface="Segoe UI" panose="020B0502040204020203" pitchFamily="34" charset="0"/>
                          <a:ea typeface="+mn-ea"/>
                          <a:cs typeface="Segoe UI" panose="020B0502040204020203" pitchFamily="34" charset="0"/>
                        </a:rPr>
                        <a:t>2</a:t>
                      </a:r>
                      <a:r>
                        <a:rPr lang="en-US" sz="1800" b="1" kern="1200" dirty="0" smtClean="0">
                          <a:solidFill>
                            <a:srgbClr val="0070C0"/>
                          </a:solidFill>
                          <a:latin typeface="Segoe UI" panose="020B0502040204020203" pitchFamily="34" charset="0"/>
                          <a:ea typeface="+mn-ea"/>
                          <a:cs typeface="Segoe UI" panose="020B0502040204020203" pitchFamily="34" charset="0"/>
                        </a:rPr>
                        <a:t> MOD 11 = 5</a:t>
                      </a:r>
                      <a:endParaRPr lang="en-US" sz="1800" b="1" kern="1200" dirty="0">
                        <a:solidFill>
                          <a:srgbClr val="0070C0"/>
                        </a:solidFill>
                        <a:latin typeface="Segoe UI" panose="020B0502040204020203" pitchFamily="34" charset="0"/>
                        <a:ea typeface="+mn-ea"/>
                        <a:cs typeface="Segoe UI" panose="020B0502040204020203" pitchFamily="34" charset="0"/>
                      </a:endParaRP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228600" marR="0" indent="-228600" algn="just">
                        <a:spcBef>
                          <a:spcPts val="0"/>
                        </a:spcBef>
                        <a:spcAft>
                          <a:spcPts val="0"/>
                        </a:spcAft>
                        <a:buFont typeface="+mj-lt"/>
                        <a:buAutoNum type="arabicPeriod" startAt="4"/>
                      </a:pPr>
                      <a:r>
                        <a:rPr lang="en-US" sz="1800" kern="1200" dirty="0" smtClean="0">
                          <a:solidFill>
                            <a:srgbClr val="0070C0"/>
                          </a:solidFill>
                          <a:latin typeface="Segoe UI" panose="020B0502040204020203" pitchFamily="34" charset="0"/>
                          <a:ea typeface="+mn-ea"/>
                          <a:cs typeface="Segoe UI" panose="020B0502040204020203" pitchFamily="34" charset="0"/>
                        </a:rPr>
                        <a:t>Bob </a:t>
                      </a:r>
                      <a:r>
                        <a:rPr lang="en-US" sz="1800" kern="1200" dirty="0">
                          <a:solidFill>
                            <a:srgbClr val="0070C0"/>
                          </a:solidFill>
                          <a:latin typeface="Segoe UI" panose="020B0502040204020203" pitchFamily="34" charset="0"/>
                          <a:ea typeface="+mn-ea"/>
                          <a:cs typeface="Segoe UI" panose="020B0502040204020203" pitchFamily="34" charset="0"/>
                        </a:rPr>
                        <a:t>computes the key </a:t>
                      </a:r>
                      <a:r>
                        <a:rPr lang="da-DK" sz="1800" b="1" kern="1200" dirty="0" smtClean="0">
                          <a:solidFill>
                            <a:srgbClr val="0070C0"/>
                          </a:solidFill>
                          <a:latin typeface="Segoe UI" panose="020B0502040204020203" pitchFamily="34" charset="0"/>
                          <a:ea typeface="+mn-ea"/>
                          <a:cs typeface="Segoe UI" panose="020B0502040204020203" pitchFamily="34" charset="0"/>
                        </a:rPr>
                        <a:t>K = 9</a:t>
                      </a:r>
                      <a:r>
                        <a:rPr lang="da-DK" sz="1800" b="1" kern="1200" baseline="30000" dirty="0" smtClean="0">
                          <a:solidFill>
                            <a:srgbClr val="0070C0"/>
                          </a:solidFill>
                          <a:latin typeface="Segoe UI" panose="020B0502040204020203" pitchFamily="34" charset="0"/>
                          <a:ea typeface="+mn-ea"/>
                          <a:cs typeface="Segoe UI" panose="020B0502040204020203" pitchFamily="34" charset="0"/>
                        </a:rPr>
                        <a:t>4</a:t>
                      </a:r>
                      <a:r>
                        <a:rPr lang="da-DK" sz="1800" b="1" kern="1200" dirty="0" smtClean="0">
                          <a:solidFill>
                            <a:srgbClr val="0070C0"/>
                          </a:solidFill>
                          <a:latin typeface="Segoe UI" panose="020B0502040204020203" pitchFamily="34" charset="0"/>
                          <a:ea typeface="+mn-ea"/>
                          <a:cs typeface="Segoe UI" panose="020B0502040204020203" pitchFamily="34" charset="0"/>
                        </a:rPr>
                        <a:t> MOD 11 =  5</a:t>
                      </a:r>
                      <a:endParaRPr lang="en-US" sz="1800" b="1" kern="1200" dirty="0">
                        <a:solidFill>
                          <a:srgbClr val="0070C0"/>
                        </a:solidFill>
                        <a:latin typeface="Segoe UI" panose="020B0502040204020203" pitchFamily="34" charset="0"/>
                        <a:ea typeface="+mn-ea"/>
                        <a:cs typeface="Segoe UI" panose="020B0502040204020203" pitchFamily="34" charset="0"/>
                      </a:endParaRPr>
                    </a:p>
                  </a:txBody>
                  <a:tcPr marL="51435" marR="51435"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bl>
          </a:graphicData>
        </a:graphic>
      </p:graphicFrame>
    </p:spTree>
    <p:extLst>
      <p:ext uri="{BB962C8B-B14F-4D97-AF65-F5344CB8AC3E}">
        <p14:creationId xmlns:p14="http://schemas.microsoft.com/office/powerpoint/2010/main" val="2309291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Diffie</a:t>
            </a:r>
            <a:r>
              <a:rPr lang="en-US" dirty="0"/>
              <a:t>-Hellman Key Exchange</a:t>
            </a:r>
          </a:p>
        </p:txBody>
      </p:sp>
      <p:sp>
        <p:nvSpPr>
          <p:cNvPr id="5" name="Content Placeholder 4"/>
          <p:cNvSpPr>
            <a:spLocks noGrp="1"/>
          </p:cNvSpPr>
          <p:nvPr>
            <p:ph idx="1"/>
          </p:nvPr>
        </p:nvSpPr>
        <p:spPr/>
        <p:txBody>
          <a:bodyPr>
            <a:normAutofit/>
          </a:bodyPr>
          <a:lstStyle/>
          <a:p>
            <a:pPr marL="0" indent="0">
              <a:buNone/>
            </a:pPr>
            <a:r>
              <a:rPr lang="en-US" dirty="0"/>
              <a:t>We have the following two questions:</a:t>
            </a:r>
          </a:p>
          <a:p>
            <a:r>
              <a:rPr lang="en-US" dirty="0"/>
              <a:t>Why do Alice and Bob always end up with the same key </a:t>
            </a:r>
            <a:r>
              <a:rPr lang="en-US" dirty="0" smtClean="0"/>
              <a:t>K?</a:t>
            </a:r>
            <a:endParaRPr lang="en-US" dirty="0"/>
          </a:p>
          <a:p>
            <a:r>
              <a:rPr lang="en-US" dirty="0"/>
              <a:t>Why can’t an eavesdropper compute </a:t>
            </a:r>
            <a:r>
              <a:rPr lang="en-US" dirty="0" smtClean="0"/>
              <a:t>K?</a:t>
            </a:r>
            <a:endParaRPr lang="en-US" dirty="0"/>
          </a:p>
        </p:txBody>
      </p:sp>
    </p:spTree>
    <p:extLst>
      <p:ext uri="{BB962C8B-B14F-4D97-AF65-F5344CB8AC3E}">
        <p14:creationId xmlns:p14="http://schemas.microsoft.com/office/powerpoint/2010/main" val="1758389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Diffie</a:t>
            </a:r>
            <a:r>
              <a:rPr lang="en-US" dirty="0"/>
              <a:t>-Hellman Key Exchange</a:t>
            </a:r>
          </a:p>
        </p:txBody>
      </p:sp>
      <p:sp>
        <p:nvSpPr>
          <p:cNvPr id="5" name="Content Placeholder 4"/>
          <p:cNvSpPr>
            <a:spLocks noGrp="1"/>
          </p:cNvSpPr>
          <p:nvPr>
            <p:ph idx="1"/>
          </p:nvPr>
        </p:nvSpPr>
        <p:spPr/>
        <p:txBody>
          <a:bodyPr>
            <a:normAutofit/>
          </a:bodyPr>
          <a:lstStyle/>
          <a:p>
            <a:pPr marL="0" indent="0">
              <a:buNone/>
            </a:pPr>
            <a:r>
              <a:rPr lang="en-US" u="sng" dirty="0"/>
              <a:t>Why do Alice and Bob always end up with the same key </a:t>
            </a:r>
            <a:r>
              <a:rPr lang="en-US" u="sng" dirty="0" smtClean="0"/>
              <a:t>K?</a:t>
            </a:r>
          </a:p>
          <a:p>
            <a:pPr marL="0" indent="0">
              <a:buNone/>
            </a:pPr>
            <a:endParaRPr lang="en-US" dirty="0" smtClean="0"/>
          </a:p>
          <a:p>
            <a:pPr marL="0" indent="0">
              <a:buNone/>
            </a:pPr>
            <a:r>
              <a:rPr lang="en-US" dirty="0" smtClean="0"/>
              <a:t>Alice </a:t>
            </a:r>
            <a:r>
              <a:rPr lang="en-US" dirty="0"/>
              <a:t>and Bob compute the key K in the final step as follows:</a:t>
            </a:r>
          </a:p>
          <a:p>
            <a:pPr marL="349250" lvl="1" indent="0">
              <a:buNone/>
            </a:pPr>
            <a:r>
              <a:rPr lang="en-US" sz="2400" dirty="0"/>
              <a:t>Alice: K = B</a:t>
            </a:r>
            <a:r>
              <a:rPr lang="en-US" sz="2400" baseline="30000" dirty="0"/>
              <a:t>a</a:t>
            </a:r>
            <a:r>
              <a:rPr lang="en-US" sz="2400" dirty="0"/>
              <a:t> </a:t>
            </a:r>
            <a:r>
              <a:rPr lang="en-US" sz="2400" dirty="0" smtClean="0"/>
              <a:t>MOD p = (</a:t>
            </a:r>
            <a:r>
              <a:rPr lang="en-US" sz="2400" dirty="0" err="1" smtClean="0"/>
              <a:t>s</a:t>
            </a:r>
            <a:r>
              <a:rPr lang="en-US" sz="2400" baseline="30000" dirty="0" err="1" smtClean="0"/>
              <a:t>b</a:t>
            </a:r>
            <a:r>
              <a:rPr lang="en-US" sz="2400" dirty="0" smtClean="0"/>
              <a:t> MOD p )</a:t>
            </a:r>
            <a:r>
              <a:rPr lang="en-US" sz="2400" baseline="30000" dirty="0" smtClean="0"/>
              <a:t>a</a:t>
            </a:r>
            <a:r>
              <a:rPr lang="en-US" sz="2400" dirty="0" smtClean="0"/>
              <a:t> </a:t>
            </a:r>
            <a:r>
              <a:rPr lang="en-US" sz="2400" dirty="0"/>
              <a:t>MOD </a:t>
            </a:r>
            <a:r>
              <a:rPr lang="en-US" sz="2400" dirty="0" smtClean="0"/>
              <a:t>p = </a:t>
            </a:r>
            <a:r>
              <a:rPr lang="en-US" sz="2400" dirty="0" err="1" smtClean="0"/>
              <a:t>s</a:t>
            </a:r>
            <a:r>
              <a:rPr lang="en-US" sz="2400" baseline="30000" dirty="0" err="1" smtClean="0"/>
              <a:t>ba</a:t>
            </a:r>
            <a:r>
              <a:rPr lang="en-US" sz="2400" dirty="0"/>
              <a:t> MOD p</a:t>
            </a:r>
          </a:p>
          <a:p>
            <a:pPr marL="349250" lvl="1" indent="0">
              <a:buNone/>
            </a:pPr>
            <a:r>
              <a:rPr lang="en-US" sz="2400" dirty="0"/>
              <a:t>Bob: K = </a:t>
            </a:r>
            <a:r>
              <a:rPr lang="en-US" sz="2400" dirty="0" smtClean="0"/>
              <a:t>A</a:t>
            </a:r>
            <a:r>
              <a:rPr lang="en-US" sz="2400" baseline="30000" dirty="0" smtClean="0"/>
              <a:t>b</a:t>
            </a:r>
            <a:r>
              <a:rPr lang="en-US" sz="2400" dirty="0"/>
              <a:t> MOD p </a:t>
            </a:r>
            <a:r>
              <a:rPr lang="en-US" sz="2400" dirty="0" smtClean="0"/>
              <a:t> </a:t>
            </a:r>
            <a:r>
              <a:rPr lang="en-US" sz="2400" dirty="0"/>
              <a:t>= (</a:t>
            </a:r>
            <a:r>
              <a:rPr lang="en-US" sz="2400" dirty="0" err="1" smtClean="0"/>
              <a:t>s</a:t>
            </a:r>
            <a:r>
              <a:rPr lang="en-US" sz="2400" baseline="30000" dirty="0" err="1" smtClean="0"/>
              <a:t>a</a:t>
            </a:r>
            <a:r>
              <a:rPr lang="en-US" sz="2400" dirty="0" smtClean="0"/>
              <a:t> </a:t>
            </a:r>
            <a:r>
              <a:rPr lang="en-US" sz="2400" dirty="0"/>
              <a:t>MOD p </a:t>
            </a:r>
            <a:r>
              <a:rPr lang="en-US" sz="2400" dirty="0" smtClean="0"/>
              <a:t>)</a:t>
            </a:r>
            <a:r>
              <a:rPr lang="en-US" sz="2400" baseline="30000" dirty="0" smtClean="0"/>
              <a:t>b</a:t>
            </a:r>
            <a:r>
              <a:rPr lang="en-US" sz="2400" dirty="0" smtClean="0"/>
              <a:t> </a:t>
            </a:r>
            <a:r>
              <a:rPr lang="en-US" sz="2400" dirty="0"/>
              <a:t>MOD </a:t>
            </a:r>
            <a:r>
              <a:rPr lang="en-US" sz="2400" dirty="0" smtClean="0"/>
              <a:t>p </a:t>
            </a:r>
            <a:r>
              <a:rPr lang="en-US" sz="2400" dirty="0"/>
              <a:t>= s</a:t>
            </a:r>
            <a:r>
              <a:rPr lang="en-US" baseline="30000" dirty="0" smtClean="0"/>
              <a:t>ab</a:t>
            </a:r>
            <a:r>
              <a:rPr lang="en-US" dirty="0" smtClean="0"/>
              <a:t> </a:t>
            </a:r>
            <a:r>
              <a:rPr lang="en-US" sz="2400" dirty="0"/>
              <a:t>MOD p</a:t>
            </a:r>
          </a:p>
          <a:p>
            <a:endParaRPr lang="en-US" dirty="0" smtClean="0"/>
          </a:p>
          <a:p>
            <a:endParaRPr lang="en-US" dirty="0"/>
          </a:p>
          <a:p>
            <a:r>
              <a:rPr lang="en-US" dirty="0" smtClean="0"/>
              <a:t>Since </a:t>
            </a:r>
            <a:r>
              <a:rPr lang="en-US" dirty="0" err="1"/>
              <a:t>s</a:t>
            </a:r>
            <a:r>
              <a:rPr lang="en-US" baseline="30000" dirty="0" err="1"/>
              <a:t>ba</a:t>
            </a:r>
            <a:r>
              <a:rPr lang="en-US" dirty="0"/>
              <a:t> = s</a:t>
            </a:r>
            <a:r>
              <a:rPr lang="en-US" baseline="30000" dirty="0"/>
              <a:t>ab</a:t>
            </a:r>
            <a:r>
              <a:rPr lang="en-US" dirty="0"/>
              <a:t> MOD p both Alice and Bob compute the same key </a:t>
            </a:r>
            <a:r>
              <a:rPr lang="en-US" dirty="0" smtClean="0"/>
              <a:t>K</a:t>
            </a:r>
            <a:endParaRPr lang="en-US" dirty="0"/>
          </a:p>
        </p:txBody>
      </p:sp>
    </p:spTree>
    <p:extLst>
      <p:ext uri="{BB962C8B-B14F-4D97-AF65-F5344CB8AC3E}">
        <p14:creationId xmlns:p14="http://schemas.microsoft.com/office/powerpoint/2010/main" val="27261876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Diffie</a:t>
            </a:r>
            <a:r>
              <a:rPr lang="en-US" dirty="0"/>
              <a:t>-Hellman Key Exchange</a:t>
            </a:r>
          </a:p>
        </p:txBody>
      </p:sp>
      <p:sp>
        <p:nvSpPr>
          <p:cNvPr id="5" name="Content Placeholder 4"/>
          <p:cNvSpPr>
            <a:spLocks noGrp="1"/>
          </p:cNvSpPr>
          <p:nvPr>
            <p:ph idx="1"/>
          </p:nvPr>
        </p:nvSpPr>
        <p:spPr/>
        <p:txBody>
          <a:bodyPr>
            <a:normAutofit lnSpcReduction="10000"/>
          </a:bodyPr>
          <a:lstStyle/>
          <a:p>
            <a:pPr marL="0" indent="0">
              <a:buNone/>
            </a:pPr>
            <a:r>
              <a:rPr lang="en-US" u="sng" dirty="0" smtClean="0"/>
              <a:t>Why </a:t>
            </a:r>
            <a:r>
              <a:rPr lang="en-US" u="sng" dirty="0"/>
              <a:t>can’t an eavesdropper compute K</a:t>
            </a:r>
            <a:r>
              <a:rPr lang="en-US" u="sng" dirty="0" smtClean="0"/>
              <a:t>?</a:t>
            </a:r>
          </a:p>
          <a:p>
            <a:pPr marL="0" indent="0">
              <a:buNone/>
            </a:pPr>
            <a:endParaRPr lang="en-US" dirty="0" smtClean="0"/>
          </a:p>
          <a:p>
            <a:r>
              <a:rPr lang="en-US" dirty="0" smtClean="0"/>
              <a:t>In </a:t>
            </a:r>
            <a:r>
              <a:rPr lang="en-US" dirty="0"/>
              <a:t>order to uncover the key K </a:t>
            </a:r>
            <a:r>
              <a:rPr lang="en-US" dirty="0" smtClean="0"/>
              <a:t>an eavesdropper </a:t>
            </a:r>
            <a:r>
              <a:rPr lang="en-US" dirty="0"/>
              <a:t>has to compute either a or </a:t>
            </a:r>
            <a:r>
              <a:rPr lang="en-US" dirty="0" smtClean="0"/>
              <a:t>b</a:t>
            </a:r>
          </a:p>
          <a:p>
            <a:r>
              <a:rPr lang="en-US" dirty="0" smtClean="0"/>
              <a:t>Mathematics </a:t>
            </a:r>
            <a:r>
              <a:rPr lang="en-US" dirty="0"/>
              <a:t>teaches that this is </a:t>
            </a:r>
            <a:r>
              <a:rPr lang="en-US" dirty="0" smtClean="0"/>
              <a:t>impossible, </a:t>
            </a:r>
            <a:r>
              <a:rPr lang="en-US" dirty="0"/>
              <a:t>if a, b, p, s, A, B were chosen as of </a:t>
            </a:r>
            <a:r>
              <a:rPr lang="en-US" b="1" dirty="0" smtClean="0"/>
              <a:t>1024-bits</a:t>
            </a:r>
            <a:r>
              <a:rPr lang="en-US" dirty="0" smtClean="0"/>
              <a:t> </a:t>
            </a:r>
            <a:r>
              <a:rPr lang="en-US" dirty="0"/>
              <a:t>numbers or </a:t>
            </a:r>
            <a:r>
              <a:rPr lang="en-US" dirty="0" smtClean="0"/>
              <a:t>larger</a:t>
            </a:r>
            <a:endParaRPr lang="en-US" dirty="0"/>
          </a:p>
          <a:p>
            <a:r>
              <a:rPr lang="en-US" u="sng" dirty="0"/>
              <a:t>The reason</a:t>
            </a:r>
            <a:r>
              <a:rPr lang="en-US" dirty="0"/>
              <a:t>: although it is quite simple to compute i.e. A = </a:t>
            </a:r>
            <a:r>
              <a:rPr lang="en-US" dirty="0" err="1"/>
              <a:t>s</a:t>
            </a:r>
            <a:r>
              <a:rPr lang="en-US" baseline="30000" dirty="0" err="1"/>
              <a:t>a</a:t>
            </a:r>
            <a:r>
              <a:rPr lang="en-US" dirty="0"/>
              <a:t> MOD p, however, solving this equation for </a:t>
            </a:r>
            <a:r>
              <a:rPr lang="en-US" i="1" dirty="0"/>
              <a:t>a</a:t>
            </a:r>
            <a:r>
              <a:rPr lang="en-US" dirty="0"/>
              <a:t> is </a:t>
            </a:r>
            <a:r>
              <a:rPr lang="en-US" dirty="0" smtClean="0"/>
              <a:t>impossible</a:t>
            </a:r>
          </a:p>
          <a:p>
            <a:r>
              <a:rPr lang="en-US" u="sng" dirty="0" smtClean="0"/>
              <a:t>More </a:t>
            </a:r>
            <a:r>
              <a:rPr lang="en-US" u="sng" dirty="0"/>
              <a:t>formally stated</a:t>
            </a:r>
            <a:r>
              <a:rPr lang="en-US" dirty="0"/>
              <a:t>: Although the “discrete exponential function” can be executed, its inverse, the “discrete logarithm function” can </a:t>
            </a:r>
            <a:r>
              <a:rPr lang="en-US" dirty="0" smtClean="0"/>
              <a:t>not</a:t>
            </a:r>
          </a:p>
          <a:p>
            <a:r>
              <a:rPr lang="en-US" dirty="0" smtClean="0"/>
              <a:t>Hence</a:t>
            </a:r>
            <a:r>
              <a:rPr lang="en-US" dirty="0"/>
              <a:t>, the “discrete exponential function” is an example of a “One-Way function</a:t>
            </a:r>
            <a:r>
              <a:rPr lang="en-US" dirty="0" smtClean="0"/>
              <a:t>”</a:t>
            </a:r>
            <a:endParaRPr lang="en-US" dirty="0"/>
          </a:p>
        </p:txBody>
      </p:sp>
    </p:spTree>
    <p:extLst>
      <p:ext uri="{BB962C8B-B14F-4D97-AF65-F5344CB8AC3E}">
        <p14:creationId xmlns:p14="http://schemas.microsoft.com/office/powerpoint/2010/main" val="4721155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Key Cryptography</a:t>
            </a:r>
          </a:p>
        </p:txBody>
      </p:sp>
      <p:sp>
        <p:nvSpPr>
          <p:cNvPr id="5" name="Content Placeholder 4"/>
          <p:cNvSpPr>
            <a:spLocks noGrp="1"/>
          </p:cNvSpPr>
          <p:nvPr>
            <p:ph idx="1"/>
          </p:nvPr>
        </p:nvSpPr>
        <p:spPr/>
        <p:txBody>
          <a:bodyPr>
            <a:normAutofit/>
          </a:bodyPr>
          <a:lstStyle/>
          <a:p>
            <a:r>
              <a:rPr lang="en-US" dirty="0"/>
              <a:t>Greatest </a:t>
            </a:r>
            <a:r>
              <a:rPr lang="en-US" dirty="0" smtClean="0"/>
              <a:t>revolution </a:t>
            </a:r>
            <a:r>
              <a:rPr lang="en-US" dirty="0"/>
              <a:t>in the </a:t>
            </a:r>
            <a:r>
              <a:rPr lang="en-US" dirty="0" smtClean="0"/>
              <a:t>history </a:t>
            </a:r>
            <a:r>
              <a:rPr lang="en-US" dirty="0"/>
              <a:t>of cryptography</a:t>
            </a:r>
          </a:p>
          <a:p>
            <a:endParaRPr lang="en-US" dirty="0" smtClean="0"/>
          </a:p>
          <a:p>
            <a:r>
              <a:rPr lang="en-US" dirty="0" smtClean="0"/>
              <a:t>From </a:t>
            </a:r>
            <a:r>
              <a:rPr lang="en-US" dirty="0"/>
              <a:t>its beginnings to modern times, virtually all </a:t>
            </a:r>
            <a:r>
              <a:rPr lang="en-US" dirty="0" smtClean="0"/>
              <a:t>cryptography </a:t>
            </a:r>
            <a:r>
              <a:rPr lang="en-US" dirty="0"/>
              <a:t>have been based on the elementary </a:t>
            </a:r>
            <a:r>
              <a:rPr lang="en-US" u="sng" dirty="0"/>
              <a:t>tools of substitution and permutation</a:t>
            </a:r>
            <a:r>
              <a:rPr lang="en-US" dirty="0"/>
              <a:t>, and can be classed as private/secret/single key (symmetric) </a:t>
            </a:r>
            <a:r>
              <a:rPr lang="en-US" dirty="0" smtClean="0"/>
              <a:t>cryptography</a:t>
            </a:r>
            <a:endParaRPr lang="en-US" dirty="0"/>
          </a:p>
          <a:p>
            <a:endParaRPr lang="en-US" smtClean="0"/>
          </a:p>
          <a:p>
            <a:r>
              <a:rPr lang="en-US" smtClean="0"/>
              <a:t>All </a:t>
            </a:r>
            <a:r>
              <a:rPr lang="en-US" dirty="0"/>
              <a:t>classical, and modern block and stream ciphers are of this form</a:t>
            </a:r>
          </a:p>
        </p:txBody>
      </p:sp>
    </p:spTree>
    <p:extLst>
      <p:ext uri="{BB962C8B-B14F-4D97-AF65-F5344CB8AC3E}">
        <p14:creationId xmlns:p14="http://schemas.microsoft.com/office/powerpoint/2010/main" val="10760354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Birth of Public-Key Cryptosystems</a:t>
            </a:r>
          </a:p>
        </p:txBody>
      </p:sp>
      <p:sp>
        <p:nvSpPr>
          <p:cNvPr id="5" name="Content Placeholder 4"/>
          <p:cNvSpPr>
            <a:spLocks noGrp="1"/>
          </p:cNvSpPr>
          <p:nvPr>
            <p:ph idx="1"/>
          </p:nvPr>
        </p:nvSpPr>
        <p:spPr/>
        <p:txBody>
          <a:bodyPr>
            <a:normAutofit/>
          </a:bodyPr>
          <a:lstStyle/>
          <a:p>
            <a:r>
              <a:rPr lang="en-US" dirty="0" smtClean="0"/>
              <a:t>1960's</a:t>
            </a:r>
            <a:r>
              <a:rPr lang="en-US" dirty="0"/>
              <a:t>: NSA secretly discovered public-key cryptography</a:t>
            </a:r>
          </a:p>
          <a:p>
            <a:r>
              <a:rPr lang="en-US" dirty="0"/>
              <a:t>1970: </a:t>
            </a:r>
            <a:r>
              <a:rPr lang="en-US" dirty="0" smtClean="0"/>
              <a:t>First </a:t>
            </a:r>
            <a:r>
              <a:rPr lang="en-US" dirty="0"/>
              <a:t>known (secret) report on public-key cryptography by CESG, UK</a:t>
            </a:r>
          </a:p>
          <a:p>
            <a:r>
              <a:rPr lang="en-US" dirty="0"/>
              <a:t>1976: </a:t>
            </a:r>
            <a:r>
              <a:rPr lang="en-US" dirty="0" err="1" smtClean="0"/>
              <a:t>Diffie</a:t>
            </a:r>
            <a:r>
              <a:rPr lang="en-US" dirty="0" smtClean="0"/>
              <a:t> </a:t>
            </a:r>
            <a:r>
              <a:rPr lang="en-US" dirty="0"/>
              <a:t>and Hellman public introduction to public-key cryptography</a:t>
            </a:r>
          </a:p>
          <a:p>
            <a:endParaRPr lang="en-US" dirty="0" smtClean="0"/>
          </a:p>
          <a:p>
            <a:r>
              <a:rPr lang="en-US" dirty="0" smtClean="0"/>
              <a:t>Avoid </a:t>
            </a:r>
            <a:r>
              <a:rPr lang="en-US" dirty="0"/>
              <a:t>reliance on third-parties for key distribution</a:t>
            </a:r>
          </a:p>
          <a:p>
            <a:r>
              <a:rPr lang="en-US" dirty="0"/>
              <a:t>Allow digital signatures</a:t>
            </a:r>
          </a:p>
        </p:txBody>
      </p:sp>
    </p:spTree>
    <p:extLst>
      <p:ext uri="{BB962C8B-B14F-4D97-AF65-F5344CB8AC3E}">
        <p14:creationId xmlns:p14="http://schemas.microsoft.com/office/powerpoint/2010/main" val="26356539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Principles of Public-Key Cryptography</a:t>
            </a:r>
          </a:p>
        </p:txBody>
      </p:sp>
      <p:sp>
        <p:nvSpPr>
          <p:cNvPr id="5" name="Content Placeholder 4"/>
          <p:cNvSpPr>
            <a:spLocks noGrp="1"/>
          </p:cNvSpPr>
          <p:nvPr>
            <p:ph idx="1"/>
          </p:nvPr>
        </p:nvSpPr>
        <p:spPr/>
        <p:txBody>
          <a:bodyPr>
            <a:normAutofit/>
          </a:bodyPr>
          <a:lstStyle/>
          <a:p>
            <a:r>
              <a:rPr lang="en-US" dirty="0" smtClean="0"/>
              <a:t>Symmetric </a:t>
            </a:r>
            <a:r>
              <a:rPr lang="en-US" dirty="0"/>
              <a:t>algorithms used same secret key for encryption and decryption</a:t>
            </a:r>
          </a:p>
          <a:p>
            <a:r>
              <a:rPr lang="en-US" dirty="0"/>
              <a:t>Asymmetric algorithms in public-key cryptography use one key for encryption and </a:t>
            </a:r>
            <a:r>
              <a:rPr lang="en-US" u="sng" dirty="0" smtClean="0"/>
              <a:t>different </a:t>
            </a:r>
            <a:r>
              <a:rPr lang="en-US" u="sng" dirty="0"/>
              <a:t>but related key for decryption</a:t>
            </a:r>
          </a:p>
          <a:p>
            <a:endParaRPr lang="en-US" dirty="0" smtClean="0"/>
          </a:p>
          <a:p>
            <a:r>
              <a:rPr lang="en-US" dirty="0" smtClean="0"/>
              <a:t>Characteristics </a:t>
            </a:r>
            <a:r>
              <a:rPr lang="en-US" dirty="0"/>
              <a:t>of asymmetric algorithms:</a:t>
            </a:r>
          </a:p>
          <a:p>
            <a:pPr lvl="1"/>
            <a:r>
              <a:rPr lang="en-US" dirty="0" smtClean="0"/>
              <a:t>Computationally </a:t>
            </a:r>
            <a:r>
              <a:rPr lang="en-US" dirty="0"/>
              <a:t>infeasible to determine decryption key given only algorithm and encryption key</a:t>
            </a:r>
          </a:p>
          <a:p>
            <a:pPr lvl="1"/>
            <a:r>
              <a:rPr lang="en-US" dirty="0" smtClean="0"/>
              <a:t>Either </a:t>
            </a:r>
            <a:r>
              <a:rPr lang="en-US" dirty="0"/>
              <a:t>of two related keys can be used for encryption, with other used for decryption</a:t>
            </a:r>
          </a:p>
        </p:txBody>
      </p:sp>
    </p:spTree>
    <p:extLst>
      <p:ext uri="{BB962C8B-B14F-4D97-AF65-F5344CB8AC3E}">
        <p14:creationId xmlns:p14="http://schemas.microsoft.com/office/powerpoint/2010/main" val="149467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Principles of Public-Key Cryptography</a:t>
            </a:r>
          </a:p>
        </p:txBody>
      </p:sp>
      <p:sp>
        <p:nvSpPr>
          <p:cNvPr id="5" name="Content Placeholder 4"/>
          <p:cNvSpPr>
            <a:spLocks noGrp="1"/>
          </p:cNvSpPr>
          <p:nvPr>
            <p:ph idx="1"/>
          </p:nvPr>
        </p:nvSpPr>
        <p:spPr/>
        <p:txBody>
          <a:bodyPr>
            <a:normAutofit/>
          </a:bodyPr>
          <a:lstStyle/>
          <a:p>
            <a:r>
              <a:rPr lang="en-US" dirty="0"/>
              <a:t>Use of two keys has profound consequences in the areas of confidentiality, key distribution, and authentication</a:t>
            </a:r>
          </a:p>
          <a:p>
            <a:r>
              <a:rPr lang="en-US" dirty="0"/>
              <a:t>Works by the clever use of number theory problems that are easy one way but hard the other</a:t>
            </a:r>
          </a:p>
          <a:p>
            <a:r>
              <a:rPr lang="en-US" dirty="0"/>
              <a:t>Note that public key schemes </a:t>
            </a:r>
            <a:r>
              <a:rPr lang="en-US" dirty="0" smtClean="0"/>
              <a:t>are;</a:t>
            </a:r>
          </a:p>
          <a:p>
            <a:pPr lvl="1"/>
            <a:r>
              <a:rPr lang="en-US" dirty="0" smtClean="0"/>
              <a:t>Not </a:t>
            </a:r>
            <a:r>
              <a:rPr lang="en-US" dirty="0"/>
              <a:t>more nor less secure than private key (security depends on the key size for </a:t>
            </a:r>
            <a:r>
              <a:rPr lang="en-US" dirty="0" smtClean="0"/>
              <a:t>both)</a:t>
            </a:r>
          </a:p>
          <a:p>
            <a:pPr lvl="1"/>
            <a:r>
              <a:rPr lang="en-US" dirty="0" smtClean="0"/>
              <a:t>They do not replace </a:t>
            </a:r>
            <a:r>
              <a:rPr lang="en-US" dirty="0"/>
              <a:t>private key schemes (they are too slow to do </a:t>
            </a:r>
            <a:r>
              <a:rPr lang="en-US" dirty="0" smtClean="0"/>
              <a:t>so)</a:t>
            </a:r>
          </a:p>
          <a:p>
            <a:pPr lvl="1"/>
            <a:r>
              <a:rPr lang="en-US" dirty="0" smtClean="0"/>
              <a:t>Both </a:t>
            </a:r>
            <a:r>
              <a:rPr lang="en-US" dirty="0"/>
              <a:t>complement </a:t>
            </a:r>
            <a:r>
              <a:rPr lang="en-US" dirty="0" smtClean="0"/>
              <a:t>each other</a:t>
            </a:r>
            <a:endParaRPr lang="en-US" dirty="0"/>
          </a:p>
        </p:txBody>
      </p:sp>
    </p:spTree>
    <p:extLst>
      <p:ext uri="{BB962C8B-B14F-4D97-AF65-F5344CB8AC3E}">
        <p14:creationId xmlns:p14="http://schemas.microsoft.com/office/powerpoint/2010/main" val="470465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Prime Factorization</a:t>
            </a:r>
            <a:endParaRPr lang="en-US" dirty="0"/>
          </a:p>
        </p:txBody>
      </p:sp>
      <p:sp>
        <p:nvSpPr>
          <p:cNvPr id="3" name="Content Placeholder 2"/>
          <p:cNvSpPr>
            <a:spLocks noGrp="1"/>
          </p:cNvSpPr>
          <p:nvPr>
            <p:ph idx="1"/>
          </p:nvPr>
        </p:nvSpPr>
        <p:spPr/>
        <p:txBody>
          <a:bodyPr/>
          <a:lstStyle/>
          <a:p>
            <a:r>
              <a:rPr lang="en-US" dirty="0" smtClean="0"/>
              <a:t>Fundamental theorem of arithmetic</a:t>
            </a:r>
            <a:endParaRPr lang="en-US" dirty="0"/>
          </a:p>
          <a:p>
            <a:r>
              <a:rPr lang="en-US" dirty="0">
                <a:hlinkClick r:id="rId2"/>
              </a:rPr>
              <a:t>https://</a:t>
            </a:r>
            <a:r>
              <a:rPr lang="en-US" dirty="0" smtClean="0">
                <a:hlinkClick r:id="rId2"/>
              </a:rPr>
              <a:t>en.wikipedia.org/wiki/Prime_factor</a:t>
            </a:r>
            <a:endParaRPr lang="en-US" dirty="0" smtClean="0"/>
          </a:p>
          <a:p>
            <a:r>
              <a:rPr lang="en-US" dirty="0">
                <a:hlinkClick r:id="rId3"/>
              </a:rPr>
              <a:t>http://</a:t>
            </a:r>
            <a:r>
              <a:rPr lang="en-US" dirty="0" smtClean="0">
                <a:hlinkClick r:id="rId3"/>
              </a:rPr>
              <a:t>www.mathsisfun.com/prime-factorization.html</a:t>
            </a:r>
            <a:endParaRPr lang="en-US" dirty="0" smtClean="0"/>
          </a:p>
          <a:p>
            <a:r>
              <a:rPr lang="en-US" dirty="0">
                <a:hlinkClick r:id="rId4"/>
              </a:rPr>
              <a:t>https://</a:t>
            </a:r>
            <a:r>
              <a:rPr lang="en-US" dirty="0" smtClean="0">
                <a:hlinkClick r:id="rId4"/>
              </a:rPr>
              <a:t>www.khanacademy.org/math/pre-algebra/factors-multiples/prime_factorization/v/prime-factorization</a:t>
            </a:r>
            <a:endParaRPr lang="en-US" dirty="0" smtClean="0"/>
          </a:p>
          <a:p>
            <a:endParaRPr lang="en-US" dirty="0"/>
          </a:p>
        </p:txBody>
      </p:sp>
    </p:spTree>
    <p:extLst>
      <p:ext uri="{BB962C8B-B14F-4D97-AF65-F5344CB8AC3E}">
        <p14:creationId xmlns:p14="http://schemas.microsoft.com/office/powerpoint/2010/main" val="30896962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86100" y="3200403"/>
            <a:ext cx="4972050" cy="828675"/>
          </a:xfrm>
        </p:spPr>
        <p:txBody>
          <a:bodyPr/>
          <a:lstStyle/>
          <a:p>
            <a:pPr algn="ctr"/>
            <a:r>
              <a:rPr lang="en-US" dirty="0" smtClean="0"/>
              <a:t>RSA</a:t>
            </a:r>
            <a:endParaRPr lang="en-US" dirty="0"/>
          </a:p>
        </p:txBody>
      </p:sp>
    </p:spTree>
    <p:extLst>
      <p:ext uri="{BB962C8B-B14F-4D97-AF65-F5344CB8AC3E}">
        <p14:creationId xmlns:p14="http://schemas.microsoft.com/office/powerpoint/2010/main" val="285787724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3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a:t>
            </a:r>
            <a:endParaRPr lang="en-US" dirty="0"/>
          </a:p>
        </p:txBody>
      </p:sp>
      <p:sp>
        <p:nvSpPr>
          <p:cNvPr id="5" name="Content Placeholder 4"/>
          <p:cNvSpPr>
            <a:spLocks noGrp="1"/>
          </p:cNvSpPr>
          <p:nvPr>
            <p:ph idx="1"/>
          </p:nvPr>
        </p:nvSpPr>
        <p:spPr/>
        <p:txBody>
          <a:bodyPr>
            <a:normAutofit/>
          </a:bodyPr>
          <a:lstStyle/>
          <a:p>
            <a:r>
              <a:rPr lang="en-US" dirty="0"/>
              <a:t>Given </a:t>
            </a:r>
            <a:r>
              <a:rPr lang="en-US" u="sng" dirty="0"/>
              <a:t>sufficiently large key lengths</a:t>
            </a:r>
            <a:r>
              <a:rPr lang="en-US" dirty="0"/>
              <a:t>, RSA realizes </a:t>
            </a:r>
            <a:r>
              <a:rPr lang="en-US" dirty="0" smtClean="0"/>
              <a:t>that</a:t>
            </a:r>
            <a:endParaRPr lang="en-US" dirty="0"/>
          </a:p>
          <a:p>
            <a:pPr marL="0" indent="0">
              <a:buNone/>
            </a:pPr>
            <a:endParaRPr lang="en-US" dirty="0" smtClean="0"/>
          </a:p>
          <a:p>
            <a:pPr marL="0" indent="0">
              <a:buNone/>
            </a:pPr>
            <a:r>
              <a:rPr lang="en-US" dirty="0" smtClean="0"/>
              <a:t>"</a:t>
            </a:r>
            <a:r>
              <a:rPr lang="en-US" dirty="0"/>
              <a:t>The knowledge of the encoding key does not reveal the knowledge of the decoding key. Even the usage of the most powerful computers combined will not suffice to crack the secret decoding key based on the knowledge of the publicly known encoding key</a:t>
            </a:r>
            <a:r>
              <a:rPr lang="en-US" dirty="0" smtClean="0"/>
              <a:t>.“</a:t>
            </a:r>
          </a:p>
        </p:txBody>
      </p:sp>
    </p:spTree>
    <p:extLst>
      <p:ext uri="{BB962C8B-B14F-4D97-AF65-F5344CB8AC3E}">
        <p14:creationId xmlns:p14="http://schemas.microsoft.com/office/powerpoint/2010/main" val="12906276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a:t>
            </a:r>
            <a:endParaRPr lang="en-US" dirty="0"/>
          </a:p>
        </p:txBody>
      </p:sp>
      <p:sp>
        <p:nvSpPr>
          <p:cNvPr id="5" name="Content Placeholder 4"/>
          <p:cNvSpPr>
            <a:spLocks noGrp="1"/>
          </p:cNvSpPr>
          <p:nvPr>
            <p:ph idx="1"/>
          </p:nvPr>
        </p:nvSpPr>
        <p:spPr/>
        <p:txBody>
          <a:bodyPr>
            <a:normAutofit/>
          </a:bodyPr>
          <a:lstStyle/>
          <a:p>
            <a:r>
              <a:rPr lang="en-US" dirty="0" smtClean="0"/>
              <a:t>Three </a:t>
            </a:r>
            <a:r>
              <a:rPr lang="en-US" dirty="0"/>
              <a:t>MIT researchers </a:t>
            </a:r>
            <a:r>
              <a:rPr lang="en-US" b="1" dirty="0" err="1"/>
              <a:t>R</a:t>
            </a:r>
            <a:r>
              <a:rPr lang="en-US" dirty="0" err="1"/>
              <a:t>ivest</a:t>
            </a:r>
            <a:r>
              <a:rPr lang="en-US" dirty="0"/>
              <a:t>, </a:t>
            </a:r>
            <a:r>
              <a:rPr lang="en-US" b="1" dirty="0"/>
              <a:t>S</a:t>
            </a:r>
            <a:r>
              <a:rPr lang="en-US" dirty="0"/>
              <a:t>hamir and </a:t>
            </a:r>
            <a:r>
              <a:rPr lang="en-US" b="1" dirty="0" err="1"/>
              <a:t>A</a:t>
            </a:r>
            <a:r>
              <a:rPr lang="en-US" dirty="0" err="1"/>
              <a:t>dleman</a:t>
            </a:r>
            <a:r>
              <a:rPr lang="en-US" dirty="0"/>
              <a:t> came up with their idea for the RSA Ciphers in 1977</a:t>
            </a:r>
          </a:p>
          <a:p>
            <a:r>
              <a:rPr lang="en-US" dirty="0" smtClean="0"/>
              <a:t>Best </a:t>
            </a:r>
            <a:r>
              <a:rPr lang="en-US" dirty="0"/>
              <a:t>known (unbreakable cipher) public key </a:t>
            </a:r>
            <a:r>
              <a:rPr lang="en-US" dirty="0" smtClean="0"/>
              <a:t>system widely </a:t>
            </a:r>
            <a:r>
              <a:rPr lang="en-US" dirty="0"/>
              <a:t>used in electronic commerce protocols, and is believed to be secure </a:t>
            </a:r>
            <a:r>
              <a:rPr lang="en-US" u="sng" dirty="0"/>
              <a:t>given sufficiently long keys</a:t>
            </a:r>
            <a:r>
              <a:rPr lang="en-US" dirty="0"/>
              <a:t> and the use of up-to-date </a:t>
            </a:r>
            <a:r>
              <a:rPr lang="en-US" dirty="0" smtClean="0"/>
              <a:t>implementations</a:t>
            </a:r>
          </a:p>
          <a:p>
            <a:endParaRPr lang="en-US" dirty="0"/>
          </a:p>
          <a:p>
            <a:r>
              <a:rPr lang="en-US" dirty="0"/>
              <a:t>RSA Cipher </a:t>
            </a:r>
            <a:r>
              <a:rPr lang="en-US" dirty="0" smtClean="0"/>
              <a:t>is </a:t>
            </a:r>
            <a:r>
              <a:rPr lang="en-US" dirty="0"/>
              <a:t>quite easy to </a:t>
            </a:r>
            <a:r>
              <a:rPr lang="en-US" dirty="0" smtClean="0"/>
              <a:t>understand, don’t </a:t>
            </a:r>
            <a:r>
              <a:rPr lang="en-US" dirty="0"/>
              <a:t>be </a:t>
            </a:r>
            <a:r>
              <a:rPr lang="en-US" dirty="0" smtClean="0"/>
              <a:t>mislead, the </a:t>
            </a:r>
            <a:r>
              <a:rPr lang="en-US" dirty="0"/>
              <a:t>fact that a cipher can be executed easily does not make it insecure</a:t>
            </a:r>
          </a:p>
          <a:p>
            <a:endParaRPr lang="en-US" dirty="0" smtClean="0"/>
          </a:p>
        </p:txBody>
      </p:sp>
    </p:spTree>
    <p:extLst>
      <p:ext uri="{BB962C8B-B14F-4D97-AF65-F5344CB8AC3E}">
        <p14:creationId xmlns:p14="http://schemas.microsoft.com/office/powerpoint/2010/main" val="34316873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a:t>
            </a:r>
            <a:endParaRPr lang="en-US" dirty="0"/>
          </a:p>
        </p:txBody>
      </p:sp>
      <p:sp>
        <p:nvSpPr>
          <p:cNvPr id="5" name="Content Placeholder 4"/>
          <p:cNvSpPr>
            <a:spLocks noGrp="1"/>
          </p:cNvSpPr>
          <p:nvPr>
            <p:ph idx="1"/>
          </p:nvPr>
        </p:nvSpPr>
        <p:spPr/>
        <p:txBody>
          <a:bodyPr>
            <a:normAutofit lnSpcReduction="10000"/>
          </a:bodyPr>
          <a:lstStyle/>
          <a:p>
            <a:pPr marL="0" indent="0">
              <a:buNone/>
            </a:pPr>
            <a:r>
              <a:rPr lang="en-US" b="1" dirty="0" smtClean="0"/>
              <a:t>RSA </a:t>
            </a:r>
            <a:r>
              <a:rPr lang="en-US" b="1" dirty="0"/>
              <a:t>Encryption and </a:t>
            </a:r>
            <a:r>
              <a:rPr lang="en-US" b="1" dirty="0" smtClean="0"/>
              <a:t>Decryption</a:t>
            </a:r>
          </a:p>
          <a:p>
            <a:endParaRPr lang="en-US" dirty="0"/>
          </a:p>
          <a:p>
            <a:pPr marL="0" indent="0">
              <a:buNone/>
            </a:pPr>
            <a:r>
              <a:rPr lang="en-US" u="sng" dirty="0"/>
              <a:t>Step 1: Preparation</a:t>
            </a:r>
          </a:p>
          <a:p>
            <a:r>
              <a:rPr lang="en-US" dirty="0"/>
              <a:t>Choose two </a:t>
            </a:r>
            <a:r>
              <a:rPr lang="en-US" dirty="0" smtClean="0"/>
              <a:t>(large and distinct) primes </a:t>
            </a:r>
            <a:r>
              <a:rPr lang="en-US" b="1" dirty="0"/>
              <a:t>p</a:t>
            </a:r>
            <a:r>
              <a:rPr lang="en-US" dirty="0"/>
              <a:t> and </a:t>
            </a:r>
            <a:r>
              <a:rPr lang="en-US" b="1" dirty="0"/>
              <a:t>q</a:t>
            </a:r>
            <a:r>
              <a:rPr lang="en-US" dirty="0"/>
              <a:t> so that their product </a:t>
            </a:r>
            <a:r>
              <a:rPr lang="en-US" b="1" dirty="0"/>
              <a:t>n=p*q</a:t>
            </a:r>
            <a:r>
              <a:rPr lang="en-US" dirty="0"/>
              <a:t> is greater than the used alphabet length </a:t>
            </a:r>
            <a:r>
              <a:rPr lang="en-US" u="sng" dirty="0"/>
              <a:t>M</a:t>
            </a:r>
            <a:r>
              <a:rPr lang="en-US" dirty="0"/>
              <a:t> (i.e. here </a:t>
            </a:r>
            <a:r>
              <a:rPr lang="en-US" u="sng" dirty="0" smtClean="0"/>
              <a:t>M=26</a:t>
            </a:r>
            <a:r>
              <a:rPr lang="en-US" dirty="0" smtClean="0"/>
              <a:t>)</a:t>
            </a:r>
            <a:endParaRPr lang="en-US" dirty="0"/>
          </a:p>
          <a:p>
            <a:r>
              <a:rPr lang="en-US" dirty="0"/>
              <a:t>Compute </a:t>
            </a:r>
            <a:r>
              <a:rPr lang="en-US" b="1" dirty="0" smtClean="0">
                <a:sym typeface="Symbol" panose="05050102010706020507" pitchFamily="18" charset="2"/>
              </a:rPr>
              <a:t></a:t>
            </a:r>
            <a:r>
              <a:rPr lang="en-US" b="1" dirty="0" smtClean="0"/>
              <a:t>(</a:t>
            </a:r>
            <a:r>
              <a:rPr lang="en-US" b="1" dirty="0"/>
              <a:t>n</a:t>
            </a:r>
            <a:r>
              <a:rPr lang="en-US" b="1" dirty="0" smtClean="0"/>
              <a:t>)</a:t>
            </a:r>
          </a:p>
          <a:p>
            <a:pPr marL="0" indent="0">
              <a:buNone/>
            </a:pPr>
            <a:r>
              <a:rPr lang="en-US" b="1" dirty="0" smtClean="0">
                <a:sym typeface="Symbol" panose="05050102010706020507" pitchFamily="18" charset="2"/>
              </a:rPr>
              <a:t>			</a:t>
            </a:r>
            <a:r>
              <a:rPr lang="en-US" b="1" dirty="0"/>
              <a:t>(n</a:t>
            </a:r>
            <a:r>
              <a:rPr lang="en-US" b="1" dirty="0" smtClean="0"/>
              <a:t>) = (p-1)(q-1)</a:t>
            </a:r>
          </a:p>
          <a:p>
            <a:pPr marL="0" indent="0">
              <a:buNone/>
            </a:pPr>
            <a:endParaRPr lang="en-US" b="1" dirty="0"/>
          </a:p>
          <a:p>
            <a:pPr lvl="1"/>
            <a:r>
              <a:rPr lang="en-US" dirty="0"/>
              <a:t>In number theory, the </a:t>
            </a:r>
            <a:r>
              <a:rPr lang="en-US" b="1" dirty="0" err="1"/>
              <a:t>totient</a:t>
            </a:r>
            <a:r>
              <a:rPr lang="en-US" dirty="0"/>
              <a:t>  of a positive integer is the number of integers less than the number which are </a:t>
            </a:r>
            <a:r>
              <a:rPr lang="en-US" dirty="0" err="1"/>
              <a:t>coprime</a:t>
            </a:r>
            <a:r>
              <a:rPr lang="en-US" dirty="0"/>
              <a:t> to </a:t>
            </a:r>
            <a:r>
              <a:rPr lang="en-US" i="1" dirty="0"/>
              <a:t>n</a:t>
            </a:r>
            <a:r>
              <a:rPr lang="en-US" dirty="0"/>
              <a:t> (they share no factors).</a:t>
            </a:r>
          </a:p>
          <a:p>
            <a:pPr lvl="1"/>
            <a:r>
              <a:rPr lang="en-US" dirty="0"/>
              <a:t>For example, </a:t>
            </a:r>
            <a:r>
              <a:rPr lang="en-US" b="1" dirty="0">
                <a:sym typeface="Symbol" panose="05050102010706020507" pitchFamily="18" charset="2"/>
              </a:rPr>
              <a:t> </a:t>
            </a:r>
            <a:r>
              <a:rPr lang="en-US" b="1" dirty="0" smtClean="0"/>
              <a:t>(8)=4</a:t>
            </a:r>
            <a:r>
              <a:rPr lang="en-US" dirty="0" smtClean="0"/>
              <a:t>, </a:t>
            </a:r>
            <a:r>
              <a:rPr lang="en-US" dirty="0"/>
              <a:t>because the four numbers 1, 3, 5 and 7 are </a:t>
            </a:r>
            <a:r>
              <a:rPr lang="en-US" dirty="0" err="1"/>
              <a:t>coprime</a:t>
            </a:r>
            <a:r>
              <a:rPr lang="en-US" dirty="0"/>
              <a:t> to 8. </a:t>
            </a:r>
          </a:p>
          <a:p>
            <a:pPr marL="0" indent="0">
              <a:buNone/>
            </a:pPr>
            <a:endParaRPr lang="en-US" b="1" dirty="0"/>
          </a:p>
        </p:txBody>
      </p:sp>
    </p:spTree>
    <p:extLst>
      <p:ext uri="{BB962C8B-B14F-4D97-AF65-F5344CB8AC3E}">
        <p14:creationId xmlns:p14="http://schemas.microsoft.com/office/powerpoint/2010/main" val="2443482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a:t>
            </a:r>
            <a:endParaRPr lang="en-US" dirty="0"/>
          </a:p>
        </p:txBody>
      </p:sp>
      <p:sp>
        <p:nvSpPr>
          <p:cNvPr id="5" name="Content Placeholder 4"/>
          <p:cNvSpPr>
            <a:spLocks noGrp="1"/>
          </p:cNvSpPr>
          <p:nvPr>
            <p:ph idx="1"/>
          </p:nvPr>
        </p:nvSpPr>
        <p:spPr/>
        <p:txBody>
          <a:bodyPr>
            <a:normAutofit/>
          </a:bodyPr>
          <a:lstStyle/>
          <a:p>
            <a:pPr marL="0" indent="0">
              <a:buNone/>
            </a:pPr>
            <a:r>
              <a:rPr lang="en-US" b="1" dirty="0"/>
              <a:t>RSA Encryption and </a:t>
            </a:r>
            <a:r>
              <a:rPr lang="en-US" b="1" dirty="0" smtClean="0"/>
              <a:t>Decryption</a:t>
            </a:r>
          </a:p>
          <a:p>
            <a:endParaRPr lang="en-US" dirty="0"/>
          </a:p>
          <a:p>
            <a:pPr marL="0" indent="0">
              <a:buNone/>
            </a:pPr>
            <a:r>
              <a:rPr lang="en-US" u="sng" dirty="0" smtClean="0"/>
              <a:t>Step </a:t>
            </a:r>
            <a:r>
              <a:rPr lang="en-US" u="sng" dirty="0"/>
              <a:t>2: </a:t>
            </a:r>
            <a:r>
              <a:rPr lang="en-US" u="sng" dirty="0" smtClean="0"/>
              <a:t>Encryption</a:t>
            </a:r>
            <a:r>
              <a:rPr lang="en-US" dirty="0" smtClean="0"/>
              <a:t>		</a:t>
            </a:r>
          </a:p>
          <a:p>
            <a:pPr marL="0" indent="0">
              <a:buNone/>
            </a:pPr>
            <a:r>
              <a:rPr lang="en-US" dirty="0" smtClean="0"/>
              <a:t>uses </a:t>
            </a:r>
            <a:r>
              <a:rPr lang="en-US" dirty="0"/>
              <a:t>the public key </a:t>
            </a:r>
            <a:r>
              <a:rPr lang="en-US" u="sng" dirty="0" smtClean="0"/>
              <a:t>(e, n)</a:t>
            </a:r>
            <a:endParaRPr lang="en-US" u="sng" dirty="0"/>
          </a:p>
          <a:p>
            <a:r>
              <a:rPr lang="en-US" dirty="0"/>
              <a:t>Choose a public encoding key </a:t>
            </a:r>
            <a:r>
              <a:rPr lang="en-US" b="1" dirty="0"/>
              <a:t>e</a:t>
            </a:r>
            <a:r>
              <a:rPr lang="en-US" dirty="0"/>
              <a:t> </a:t>
            </a:r>
            <a:r>
              <a:rPr lang="en-US" dirty="0" smtClean="0"/>
              <a:t>(</a:t>
            </a:r>
            <a:r>
              <a:rPr lang="en-US" dirty="0"/>
              <a:t>such that </a:t>
            </a:r>
            <a:r>
              <a:rPr lang="en-US" u="sng" dirty="0"/>
              <a:t>1&lt;e</a:t>
            </a:r>
            <a:r>
              <a:rPr lang="en-US" u="sng" dirty="0" smtClean="0"/>
              <a:t>&lt;</a:t>
            </a:r>
            <a:r>
              <a:rPr lang="en-US" u="sng" dirty="0" smtClean="0">
                <a:sym typeface="Symbol" panose="05050102010706020507" pitchFamily="18" charset="2"/>
              </a:rPr>
              <a:t></a:t>
            </a:r>
            <a:r>
              <a:rPr lang="en-US" u="sng" dirty="0"/>
              <a:t>(n</a:t>
            </a:r>
            <a:r>
              <a:rPr lang="en-US" u="sng" dirty="0" smtClean="0"/>
              <a:t>)</a:t>
            </a:r>
            <a:r>
              <a:rPr lang="en-US" dirty="0" smtClean="0"/>
              <a:t>) </a:t>
            </a:r>
            <a:r>
              <a:rPr lang="en-US" dirty="0"/>
              <a:t>relative prime </a:t>
            </a:r>
            <a:r>
              <a:rPr lang="en-US" dirty="0" smtClean="0"/>
              <a:t>to </a:t>
            </a:r>
            <a:r>
              <a:rPr lang="en-US" b="1" dirty="0">
                <a:sym typeface="Symbol" panose="05050102010706020507" pitchFamily="18" charset="2"/>
              </a:rPr>
              <a:t></a:t>
            </a:r>
            <a:r>
              <a:rPr lang="en-US" b="1" dirty="0"/>
              <a:t>(n</a:t>
            </a:r>
            <a:r>
              <a:rPr lang="en-US" b="1" dirty="0" smtClean="0"/>
              <a:t>)</a:t>
            </a:r>
            <a:endParaRPr lang="en-US" dirty="0"/>
          </a:p>
          <a:p>
            <a:r>
              <a:rPr lang="en-US" dirty="0"/>
              <a:t>We now encrypt each plain letter </a:t>
            </a:r>
            <a:r>
              <a:rPr lang="en-US" b="1" dirty="0"/>
              <a:t>P</a:t>
            </a:r>
            <a:r>
              <a:rPr lang="en-US" dirty="0"/>
              <a:t> by computing </a:t>
            </a:r>
          </a:p>
          <a:p>
            <a:endParaRPr lang="en-US" dirty="0"/>
          </a:p>
          <a:p>
            <a:pPr marL="0" indent="0">
              <a:buNone/>
            </a:pPr>
            <a:r>
              <a:rPr lang="en-US" dirty="0"/>
              <a:t>            </a:t>
            </a:r>
            <a:r>
              <a:rPr lang="en-US" b="1" dirty="0" smtClean="0"/>
              <a:t>C = </a:t>
            </a:r>
            <a:r>
              <a:rPr lang="en-US" b="1" dirty="0" err="1" smtClean="0"/>
              <a:t>P</a:t>
            </a:r>
            <a:r>
              <a:rPr lang="en-US" b="1" baseline="30000" dirty="0" err="1" smtClean="0"/>
              <a:t>e</a:t>
            </a:r>
            <a:r>
              <a:rPr lang="en-US" b="1" dirty="0" smtClean="0"/>
              <a:t> </a:t>
            </a:r>
            <a:r>
              <a:rPr lang="en-US" b="1" dirty="0"/>
              <a:t>MOD </a:t>
            </a:r>
            <a:r>
              <a:rPr lang="en-US" b="1" dirty="0" smtClean="0"/>
              <a:t>n</a:t>
            </a:r>
            <a:endParaRPr lang="en-US" b="1" dirty="0"/>
          </a:p>
        </p:txBody>
      </p:sp>
    </p:spTree>
    <p:extLst>
      <p:ext uri="{BB962C8B-B14F-4D97-AF65-F5344CB8AC3E}">
        <p14:creationId xmlns:p14="http://schemas.microsoft.com/office/powerpoint/2010/main" val="35452373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a:t>
            </a:r>
            <a:endParaRPr lang="en-US" dirty="0"/>
          </a:p>
        </p:txBody>
      </p:sp>
      <p:sp>
        <p:nvSpPr>
          <p:cNvPr id="5" name="Content Placeholder 4"/>
          <p:cNvSpPr>
            <a:spLocks noGrp="1"/>
          </p:cNvSpPr>
          <p:nvPr>
            <p:ph idx="1"/>
          </p:nvPr>
        </p:nvSpPr>
        <p:spPr/>
        <p:txBody>
          <a:bodyPr>
            <a:normAutofit/>
          </a:bodyPr>
          <a:lstStyle/>
          <a:p>
            <a:pPr marL="0" indent="0">
              <a:buNone/>
            </a:pPr>
            <a:r>
              <a:rPr lang="en-US" b="1" dirty="0"/>
              <a:t>RSA Encryption and </a:t>
            </a:r>
            <a:r>
              <a:rPr lang="en-US" b="1" dirty="0" smtClean="0"/>
              <a:t>Decryption</a:t>
            </a:r>
          </a:p>
          <a:p>
            <a:endParaRPr lang="en-US" dirty="0"/>
          </a:p>
          <a:p>
            <a:pPr marL="0" indent="0">
              <a:buNone/>
            </a:pPr>
            <a:r>
              <a:rPr lang="en-US" u="sng" dirty="0" smtClean="0"/>
              <a:t>Step 3: Decryption</a:t>
            </a:r>
            <a:r>
              <a:rPr lang="en-US" dirty="0" smtClean="0"/>
              <a:t>		</a:t>
            </a:r>
          </a:p>
          <a:p>
            <a:pPr marL="0" indent="0">
              <a:buNone/>
            </a:pPr>
            <a:r>
              <a:rPr lang="en-US" dirty="0" smtClean="0"/>
              <a:t>uses </a:t>
            </a:r>
            <a:r>
              <a:rPr lang="en-US" dirty="0"/>
              <a:t>the private key (d</a:t>
            </a:r>
            <a:r>
              <a:rPr lang="en-US" dirty="0" smtClean="0"/>
              <a:t>, n</a:t>
            </a:r>
            <a:r>
              <a:rPr lang="en-US" dirty="0"/>
              <a:t>)</a:t>
            </a:r>
          </a:p>
          <a:p>
            <a:r>
              <a:rPr lang="en-US" dirty="0"/>
              <a:t>The private decoding key </a:t>
            </a:r>
            <a:r>
              <a:rPr lang="en-US" b="1" dirty="0"/>
              <a:t>d</a:t>
            </a:r>
            <a:r>
              <a:rPr lang="en-US" dirty="0"/>
              <a:t> is chosen as the inverse </a:t>
            </a:r>
            <a:r>
              <a:rPr lang="en-US" dirty="0" smtClean="0"/>
              <a:t>of </a:t>
            </a:r>
            <a:r>
              <a:rPr lang="en-US" b="1" dirty="0" smtClean="0"/>
              <a:t>e </a:t>
            </a:r>
            <a:r>
              <a:rPr lang="en-US" b="1" dirty="0"/>
              <a:t>MOD </a:t>
            </a:r>
            <a:r>
              <a:rPr lang="en-US" b="1" dirty="0">
                <a:sym typeface="Symbol" panose="05050102010706020507" pitchFamily="18" charset="2"/>
              </a:rPr>
              <a:t></a:t>
            </a:r>
            <a:r>
              <a:rPr lang="en-US" b="1" dirty="0"/>
              <a:t>(n</a:t>
            </a:r>
            <a:r>
              <a:rPr lang="en-US" b="1" dirty="0" smtClean="0"/>
              <a:t>)</a:t>
            </a:r>
          </a:p>
          <a:p>
            <a:pPr marL="0" indent="0">
              <a:buNone/>
            </a:pPr>
            <a:r>
              <a:rPr lang="en-US" b="1" dirty="0" smtClean="0"/>
              <a:t>	(e </a:t>
            </a:r>
            <a:r>
              <a:rPr lang="en-US" b="1" dirty="0"/>
              <a:t>* </a:t>
            </a:r>
            <a:r>
              <a:rPr lang="en-US" b="1" dirty="0" smtClean="0"/>
              <a:t>d) </a:t>
            </a:r>
            <a:r>
              <a:rPr lang="en-US" b="1" dirty="0"/>
              <a:t>MOD </a:t>
            </a:r>
            <a:r>
              <a:rPr lang="en-US" b="1" dirty="0">
                <a:sym typeface="Symbol" panose="05050102010706020507" pitchFamily="18" charset="2"/>
              </a:rPr>
              <a:t></a:t>
            </a:r>
            <a:r>
              <a:rPr lang="en-US" b="1" dirty="0"/>
              <a:t>(n) </a:t>
            </a:r>
            <a:r>
              <a:rPr lang="en-US" b="1" dirty="0" smtClean="0"/>
              <a:t>= 1</a:t>
            </a:r>
            <a:endParaRPr lang="en-US" b="1" dirty="0"/>
          </a:p>
          <a:p>
            <a:pPr lvl="1"/>
            <a:r>
              <a:rPr lang="en-US" dirty="0" smtClean="0"/>
              <a:t>In other words, ed-1 </a:t>
            </a:r>
            <a:r>
              <a:rPr lang="en-US" dirty="0"/>
              <a:t>is exactly divisible by </a:t>
            </a:r>
            <a:r>
              <a:rPr lang="en-US" dirty="0">
                <a:sym typeface="Symbol" panose="05050102010706020507" pitchFamily="18" charset="2"/>
              </a:rPr>
              <a:t></a:t>
            </a:r>
            <a:r>
              <a:rPr lang="en-US" dirty="0"/>
              <a:t>(n)</a:t>
            </a:r>
            <a:endParaRPr lang="en-US" dirty="0" smtClean="0"/>
          </a:p>
          <a:p>
            <a:pPr marL="457200" lvl="1" indent="0">
              <a:buNone/>
            </a:pPr>
            <a:endParaRPr lang="en-US" dirty="0"/>
          </a:p>
          <a:p>
            <a:r>
              <a:rPr lang="en-US" dirty="0"/>
              <a:t>We decrypt by </a:t>
            </a:r>
            <a:r>
              <a:rPr lang="en-US" dirty="0" smtClean="0"/>
              <a:t>computing</a:t>
            </a:r>
          </a:p>
          <a:p>
            <a:pPr marL="0" indent="0">
              <a:buNone/>
            </a:pPr>
            <a:r>
              <a:rPr lang="en-US" dirty="0"/>
              <a:t>	</a:t>
            </a:r>
            <a:r>
              <a:rPr lang="en-US" b="1" dirty="0" smtClean="0"/>
              <a:t>P = C</a:t>
            </a:r>
            <a:r>
              <a:rPr lang="en-US" b="1" baseline="30000" dirty="0" smtClean="0"/>
              <a:t>d</a:t>
            </a:r>
            <a:r>
              <a:rPr lang="en-US" b="1" dirty="0" smtClean="0"/>
              <a:t> </a:t>
            </a:r>
            <a:r>
              <a:rPr lang="en-US" b="1" dirty="0"/>
              <a:t>MOD </a:t>
            </a:r>
            <a:r>
              <a:rPr lang="en-US" b="1" dirty="0" smtClean="0"/>
              <a:t>n</a:t>
            </a:r>
            <a:endParaRPr lang="en-US" b="1" dirty="0"/>
          </a:p>
        </p:txBody>
      </p:sp>
    </p:spTree>
    <p:extLst>
      <p:ext uri="{BB962C8B-B14F-4D97-AF65-F5344CB8AC3E}">
        <p14:creationId xmlns:p14="http://schemas.microsoft.com/office/powerpoint/2010/main" val="13130625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a:t>
            </a:r>
            <a:endParaRPr lang="en-US" dirty="0"/>
          </a:p>
        </p:txBody>
      </p:sp>
      <p:sp>
        <p:nvSpPr>
          <p:cNvPr id="5" name="Content Placeholder 4"/>
          <p:cNvSpPr>
            <a:spLocks noGrp="1"/>
          </p:cNvSpPr>
          <p:nvPr>
            <p:ph idx="1"/>
          </p:nvPr>
        </p:nvSpPr>
        <p:spPr/>
        <p:txBody>
          <a:bodyPr>
            <a:normAutofit lnSpcReduction="10000"/>
          </a:bodyPr>
          <a:lstStyle/>
          <a:p>
            <a:pPr marL="0" indent="0">
              <a:buNone/>
            </a:pPr>
            <a:r>
              <a:rPr lang="en-US" b="1" dirty="0"/>
              <a:t>RSA Encryption and </a:t>
            </a:r>
            <a:r>
              <a:rPr lang="en-US" b="1" dirty="0" smtClean="0"/>
              <a:t>Decryption - Example</a:t>
            </a:r>
          </a:p>
          <a:p>
            <a:r>
              <a:rPr lang="en-US" dirty="0" smtClean="0"/>
              <a:t>Lets see how </a:t>
            </a:r>
            <a:r>
              <a:rPr lang="en-US" dirty="0"/>
              <a:t>the word “SAFE” is </a:t>
            </a:r>
            <a:r>
              <a:rPr lang="en-US" dirty="0" smtClean="0"/>
              <a:t>encrypted/decrypted </a:t>
            </a:r>
            <a:r>
              <a:rPr lang="en-US" dirty="0"/>
              <a:t>using the RSA </a:t>
            </a:r>
            <a:r>
              <a:rPr lang="en-US" dirty="0" smtClean="0"/>
              <a:t>Cipher</a:t>
            </a:r>
            <a:endParaRPr lang="en-US" dirty="0"/>
          </a:p>
          <a:p>
            <a:pPr marL="0" indent="0">
              <a:buNone/>
            </a:pPr>
            <a:endParaRPr lang="en-US" u="sng" dirty="0" smtClean="0"/>
          </a:p>
          <a:p>
            <a:pPr marL="0" indent="0">
              <a:buNone/>
            </a:pPr>
            <a:r>
              <a:rPr lang="en-US" u="sng" dirty="0"/>
              <a:t>Step 1: Preparation</a:t>
            </a:r>
          </a:p>
          <a:p>
            <a:r>
              <a:rPr lang="en-US" dirty="0">
                <a:solidFill>
                  <a:schemeClr val="bg1">
                    <a:lumMod val="50000"/>
                  </a:schemeClr>
                </a:solidFill>
              </a:rPr>
              <a:t>Choose two (large and distinct) primes </a:t>
            </a:r>
            <a:r>
              <a:rPr lang="en-US" b="1" dirty="0">
                <a:solidFill>
                  <a:schemeClr val="bg1">
                    <a:lumMod val="50000"/>
                  </a:schemeClr>
                </a:solidFill>
              </a:rPr>
              <a:t>p</a:t>
            </a:r>
            <a:r>
              <a:rPr lang="en-US" dirty="0">
                <a:solidFill>
                  <a:schemeClr val="bg1">
                    <a:lumMod val="50000"/>
                  </a:schemeClr>
                </a:solidFill>
              </a:rPr>
              <a:t> and </a:t>
            </a:r>
            <a:r>
              <a:rPr lang="en-US" b="1" dirty="0">
                <a:solidFill>
                  <a:schemeClr val="bg1">
                    <a:lumMod val="50000"/>
                  </a:schemeClr>
                </a:solidFill>
              </a:rPr>
              <a:t>q</a:t>
            </a:r>
            <a:r>
              <a:rPr lang="en-US" dirty="0">
                <a:solidFill>
                  <a:schemeClr val="bg1">
                    <a:lumMod val="50000"/>
                  </a:schemeClr>
                </a:solidFill>
              </a:rPr>
              <a:t> so that their product </a:t>
            </a:r>
            <a:r>
              <a:rPr lang="en-US" b="1" dirty="0">
                <a:solidFill>
                  <a:schemeClr val="bg1">
                    <a:lumMod val="50000"/>
                  </a:schemeClr>
                </a:solidFill>
              </a:rPr>
              <a:t>n=p*q</a:t>
            </a:r>
            <a:r>
              <a:rPr lang="en-US" dirty="0">
                <a:solidFill>
                  <a:schemeClr val="bg1">
                    <a:lumMod val="50000"/>
                  </a:schemeClr>
                </a:solidFill>
              </a:rPr>
              <a:t> is greater than the used alphabet length </a:t>
            </a:r>
            <a:r>
              <a:rPr lang="en-US" u="sng" dirty="0">
                <a:solidFill>
                  <a:schemeClr val="bg1">
                    <a:lumMod val="50000"/>
                  </a:schemeClr>
                </a:solidFill>
              </a:rPr>
              <a:t>M</a:t>
            </a:r>
            <a:r>
              <a:rPr lang="en-US" dirty="0">
                <a:solidFill>
                  <a:schemeClr val="bg1">
                    <a:lumMod val="50000"/>
                  </a:schemeClr>
                </a:solidFill>
              </a:rPr>
              <a:t> (i.e. here </a:t>
            </a:r>
            <a:r>
              <a:rPr lang="en-US" u="sng" dirty="0">
                <a:solidFill>
                  <a:schemeClr val="bg1">
                    <a:lumMod val="50000"/>
                  </a:schemeClr>
                </a:solidFill>
              </a:rPr>
              <a:t>M=26</a:t>
            </a:r>
            <a:r>
              <a:rPr lang="en-US" dirty="0" smtClean="0">
                <a:solidFill>
                  <a:schemeClr val="bg1">
                    <a:lumMod val="50000"/>
                  </a:schemeClr>
                </a:solidFill>
              </a:rPr>
              <a:t>)</a:t>
            </a:r>
          </a:p>
          <a:p>
            <a:r>
              <a:rPr lang="en-US" dirty="0"/>
              <a:t>Say </a:t>
            </a:r>
            <a:r>
              <a:rPr lang="en-US" b="1" dirty="0"/>
              <a:t>p=3</a:t>
            </a:r>
            <a:r>
              <a:rPr lang="en-US" dirty="0"/>
              <a:t> and </a:t>
            </a:r>
            <a:r>
              <a:rPr lang="en-US" b="1" dirty="0"/>
              <a:t>q=11</a:t>
            </a:r>
            <a:r>
              <a:rPr lang="en-US" dirty="0"/>
              <a:t>, then </a:t>
            </a:r>
            <a:r>
              <a:rPr lang="en-US" b="1" dirty="0" smtClean="0"/>
              <a:t>n=33</a:t>
            </a:r>
          </a:p>
          <a:p>
            <a:endParaRPr lang="en-US" b="1" dirty="0"/>
          </a:p>
          <a:p>
            <a:r>
              <a:rPr lang="en-US" dirty="0">
                <a:solidFill>
                  <a:schemeClr val="bg1">
                    <a:lumMod val="50000"/>
                  </a:schemeClr>
                </a:solidFill>
              </a:rPr>
              <a:t>Compute </a:t>
            </a:r>
            <a:r>
              <a:rPr lang="en-US" b="1" dirty="0">
                <a:solidFill>
                  <a:schemeClr val="bg1">
                    <a:lumMod val="50000"/>
                  </a:schemeClr>
                </a:solidFill>
                <a:sym typeface="Symbol" panose="05050102010706020507" pitchFamily="18" charset="2"/>
              </a:rPr>
              <a:t></a:t>
            </a:r>
            <a:r>
              <a:rPr lang="en-US" b="1" dirty="0">
                <a:solidFill>
                  <a:schemeClr val="bg1">
                    <a:lumMod val="50000"/>
                  </a:schemeClr>
                </a:solidFill>
              </a:rPr>
              <a:t>(n)</a:t>
            </a:r>
          </a:p>
          <a:p>
            <a:pPr marL="0" indent="0">
              <a:buNone/>
            </a:pPr>
            <a:r>
              <a:rPr lang="en-US" dirty="0">
                <a:solidFill>
                  <a:schemeClr val="bg1">
                    <a:lumMod val="50000"/>
                  </a:schemeClr>
                </a:solidFill>
                <a:sym typeface="Symbol" panose="05050102010706020507" pitchFamily="18" charset="2"/>
              </a:rPr>
              <a:t>			</a:t>
            </a:r>
            <a:r>
              <a:rPr lang="en-US" b="1" dirty="0">
                <a:solidFill>
                  <a:schemeClr val="bg1">
                    <a:lumMod val="50000"/>
                  </a:schemeClr>
                </a:solidFill>
                <a:sym typeface="Symbol" panose="05050102010706020507" pitchFamily="18" charset="2"/>
              </a:rPr>
              <a:t></a:t>
            </a:r>
            <a:r>
              <a:rPr lang="en-US" b="1" dirty="0">
                <a:solidFill>
                  <a:schemeClr val="bg1">
                    <a:lumMod val="50000"/>
                  </a:schemeClr>
                </a:solidFill>
              </a:rPr>
              <a:t>(n) = (p-1)(q-1)</a:t>
            </a:r>
          </a:p>
          <a:p>
            <a:pPr marL="0" indent="0">
              <a:buNone/>
            </a:pPr>
            <a:r>
              <a:rPr lang="en-US" b="1" dirty="0" smtClean="0"/>
              <a:t>			</a:t>
            </a:r>
            <a:r>
              <a:rPr lang="en-US" b="1" dirty="0" smtClean="0">
                <a:sym typeface="Symbol" panose="05050102010706020507" pitchFamily="18" charset="2"/>
              </a:rPr>
              <a:t></a:t>
            </a:r>
            <a:r>
              <a:rPr lang="en-US" b="1" dirty="0" smtClean="0"/>
              <a:t>(</a:t>
            </a:r>
            <a:r>
              <a:rPr lang="en-US" b="1" dirty="0"/>
              <a:t>33) = (3-1)*(11-1) = </a:t>
            </a:r>
            <a:r>
              <a:rPr lang="en-US" b="1" dirty="0" smtClean="0"/>
              <a:t>20</a:t>
            </a:r>
            <a:endParaRPr lang="en-US" b="1" dirty="0"/>
          </a:p>
        </p:txBody>
      </p:sp>
    </p:spTree>
    <p:extLst>
      <p:ext uri="{BB962C8B-B14F-4D97-AF65-F5344CB8AC3E}">
        <p14:creationId xmlns:p14="http://schemas.microsoft.com/office/powerpoint/2010/main" val="10644561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a:t>
            </a:r>
            <a:endParaRPr lang="en-US" dirty="0"/>
          </a:p>
        </p:txBody>
      </p:sp>
      <p:sp>
        <p:nvSpPr>
          <p:cNvPr id="5" name="Content Placeholder 4"/>
          <p:cNvSpPr>
            <a:spLocks noGrp="1"/>
          </p:cNvSpPr>
          <p:nvPr>
            <p:ph idx="1"/>
          </p:nvPr>
        </p:nvSpPr>
        <p:spPr/>
        <p:txBody>
          <a:bodyPr>
            <a:normAutofit lnSpcReduction="10000"/>
          </a:bodyPr>
          <a:lstStyle/>
          <a:p>
            <a:pPr marL="0" indent="0">
              <a:buNone/>
            </a:pPr>
            <a:r>
              <a:rPr lang="en-US" b="1" dirty="0"/>
              <a:t>RSA Encryption and </a:t>
            </a:r>
            <a:r>
              <a:rPr lang="en-US" b="1" dirty="0" smtClean="0"/>
              <a:t>Decryption - Example</a:t>
            </a:r>
          </a:p>
          <a:p>
            <a:endParaRPr lang="en-US" dirty="0"/>
          </a:p>
          <a:p>
            <a:pPr marL="0" indent="0">
              <a:buNone/>
            </a:pPr>
            <a:r>
              <a:rPr lang="en-US" u="sng" dirty="0" smtClean="0"/>
              <a:t>Step </a:t>
            </a:r>
            <a:r>
              <a:rPr lang="en-US" u="sng" dirty="0"/>
              <a:t>2: </a:t>
            </a:r>
            <a:r>
              <a:rPr lang="en-US" u="sng" dirty="0" smtClean="0"/>
              <a:t>Encryption</a:t>
            </a:r>
            <a:r>
              <a:rPr lang="en-US" dirty="0" smtClean="0"/>
              <a:t>		uses </a:t>
            </a:r>
            <a:r>
              <a:rPr lang="en-US" dirty="0"/>
              <a:t>the public key </a:t>
            </a:r>
            <a:r>
              <a:rPr lang="en-US" u="sng" dirty="0" smtClean="0"/>
              <a:t>(e, n)</a:t>
            </a:r>
            <a:endParaRPr lang="en-US" u="sng" dirty="0"/>
          </a:p>
          <a:p>
            <a:r>
              <a:rPr lang="en-US" dirty="0">
                <a:solidFill>
                  <a:schemeClr val="bg1">
                    <a:lumMod val="50000"/>
                  </a:schemeClr>
                </a:solidFill>
              </a:rPr>
              <a:t>Choose a public encoding key </a:t>
            </a:r>
            <a:r>
              <a:rPr lang="en-US" b="1" dirty="0">
                <a:solidFill>
                  <a:schemeClr val="bg1">
                    <a:lumMod val="50000"/>
                  </a:schemeClr>
                </a:solidFill>
              </a:rPr>
              <a:t>e</a:t>
            </a:r>
            <a:r>
              <a:rPr lang="en-US" dirty="0">
                <a:solidFill>
                  <a:schemeClr val="bg1">
                    <a:lumMod val="50000"/>
                  </a:schemeClr>
                </a:solidFill>
              </a:rPr>
              <a:t> </a:t>
            </a:r>
            <a:r>
              <a:rPr lang="en-US" dirty="0" smtClean="0">
                <a:solidFill>
                  <a:schemeClr val="bg1">
                    <a:lumMod val="50000"/>
                  </a:schemeClr>
                </a:solidFill>
              </a:rPr>
              <a:t>(</a:t>
            </a:r>
            <a:r>
              <a:rPr lang="en-US" dirty="0">
                <a:solidFill>
                  <a:schemeClr val="bg1">
                    <a:lumMod val="50000"/>
                  </a:schemeClr>
                </a:solidFill>
              </a:rPr>
              <a:t>such that </a:t>
            </a:r>
            <a:r>
              <a:rPr lang="en-US" u="sng" dirty="0">
                <a:solidFill>
                  <a:schemeClr val="bg1">
                    <a:lumMod val="50000"/>
                  </a:schemeClr>
                </a:solidFill>
              </a:rPr>
              <a:t>1&lt;e</a:t>
            </a:r>
            <a:r>
              <a:rPr lang="en-US" u="sng" dirty="0" smtClean="0">
                <a:solidFill>
                  <a:schemeClr val="bg1">
                    <a:lumMod val="50000"/>
                  </a:schemeClr>
                </a:solidFill>
              </a:rPr>
              <a:t>&lt;</a:t>
            </a:r>
            <a:r>
              <a:rPr lang="en-US" u="sng" dirty="0" smtClean="0">
                <a:solidFill>
                  <a:schemeClr val="bg1">
                    <a:lumMod val="50000"/>
                  </a:schemeClr>
                </a:solidFill>
                <a:sym typeface="Symbol" panose="05050102010706020507" pitchFamily="18" charset="2"/>
              </a:rPr>
              <a:t></a:t>
            </a:r>
            <a:r>
              <a:rPr lang="en-US" u="sng" dirty="0">
                <a:solidFill>
                  <a:schemeClr val="bg1">
                    <a:lumMod val="50000"/>
                  </a:schemeClr>
                </a:solidFill>
              </a:rPr>
              <a:t>(n</a:t>
            </a:r>
            <a:r>
              <a:rPr lang="en-US" u="sng" dirty="0" smtClean="0">
                <a:solidFill>
                  <a:schemeClr val="bg1">
                    <a:lumMod val="50000"/>
                  </a:schemeClr>
                </a:solidFill>
              </a:rPr>
              <a:t>)</a:t>
            </a:r>
            <a:r>
              <a:rPr lang="en-US" dirty="0" smtClean="0">
                <a:solidFill>
                  <a:schemeClr val="bg1">
                    <a:lumMod val="50000"/>
                  </a:schemeClr>
                </a:solidFill>
              </a:rPr>
              <a:t>) </a:t>
            </a:r>
            <a:r>
              <a:rPr lang="en-US" dirty="0">
                <a:solidFill>
                  <a:schemeClr val="bg1">
                    <a:lumMod val="50000"/>
                  </a:schemeClr>
                </a:solidFill>
              </a:rPr>
              <a:t>relative prime </a:t>
            </a:r>
            <a:r>
              <a:rPr lang="en-US" dirty="0" smtClean="0">
                <a:solidFill>
                  <a:schemeClr val="bg1">
                    <a:lumMod val="50000"/>
                  </a:schemeClr>
                </a:solidFill>
              </a:rPr>
              <a:t>to </a:t>
            </a:r>
            <a:r>
              <a:rPr lang="en-US" b="1" dirty="0">
                <a:solidFill>
                  <a:schemeClr val="bg1">
                    <a:lumMod val="50000"/>
                  </a:schemeClr>
                </a:solidFill>
                <a:sym typeface="Symbol" panose="05050102010706020507" pitchFamily="18" charset="2"/>
              </a:rPr>
              <a:t></a:t>
            </a:r>
            <a:r>
              <a:rPr lang="en-US" b="1" dirty="0">
                <a:solidFill>
                  <a:schemeClr val="bg1">
                    <a:lumMod val="50000"/>
                  </a:schemeClr>
                </a:solidFill>
              </a:rPr>
              <a:t>(n</a:t>
            </a:r>
            <a:r>
              <a:rPr lang="en-US" b="1" dirty="0" smtClean="0">
                <a:solidFill>
                  <a:schemeClr val="bg1">
                    <a:lumMod val="50000"/>
                  </a:schemeClr>
                </a:solidFill>
              </a:rPr>
              <a:t>)</a:t>
            </a:r>
            <a:endParaRPr lang="en-US" dirty="0">
              <a:solidFill>
                <a:schemeClr val="bg1">
                  <a:lumMod val="50000"/>
                </a:schemeClr>
              </a:solidFill>
            </a:endParaRPr>
          </a:p>
          <a:p>
            <a:r>
              <a:rPr lang="en-US" dirty="0"/>
              <a:t>Here, possible values for e are </a:t>
            </a:r>
            <a:r>
              <a:rPr lang="en-US" u="sng" dirty="0"/>
              <a:t>3, 7, 9, 11, 13, 17, </a:t>
            </a:r>
            <a:r>
              <a:rPr lang="en-US" u="sng" dirty="0" smtClean="0"/>
              <a:t>19</a:t>
            </a:r>
            <a:r>
              <a:rPr lang="en-US" dirty="0" smtClean="0"/>
              <a:t>, let’s </a:t>
            </a:r>
            <a:r>
              <a:rPr lang="en-US" dirty="0"/>
              <a:t>pick </a:t>
            </a:r>
            <a:r>
              <a:rPr lang="en-US" b="1" dirty="0" smtClean="0"/>
              <a:t>e=3</a:t>
            </a:r>
            <a:endParaRPr lang="en-US" dirty="0" smtClean="0"/>
          </a:p>
          <a:p>
            <a:r>
              <a:rPr lang="en-US" dirty="0" smtClean="0">
                <a:solidFill>
                  <a:schemeClr val="bg1">
                    <a:lumMod val="50000"/>
                  </a:schemeClr>
                </a:solidFill>
              </a:rPr>
              <a:t>We </a:t>
            </a:r>
            <a:r>
              <a:rPr lang="en-US" dirty="0">
                <a:solidFill>
                  <a:schemeClr val="bg1">
                    <a:lumMod val="50000"/>
                  </a:schemeClr>
                </a:solidFill>
              </a:rPr>
              <a:t>now encrypt each plain letter </a:t>
            </a:r>
            <a:r>
              <a:rPr lang="en-US" b="1" dirty="0">
                <a:solidFill>
                  <a:schemeClr val="bg1">
                    <a:lumMod val="50000"/>
                  </a:schemeClr>
                </a:solidFill>
              </a:rPr>
              <a:t>P</a:t>
            </a:r>
            <a:r>
              <a:rPr lang="en-US" dirty="0">
                <a:solidFill>
                  <a:schemeClr val="bg1">
                    <a:lumMod val="50000"/>
                  </a:schemeClr>
                </a:solidFill>
              </a:rPr>
              <a:t> by computing </a:t>
            </a:r>
          </a:p>
          <a:p>
            <a:pPr marL="0" indent="0">
              <a:buNone/>
            </a:pPr>
            <a:r>
              <a:rPr lang="en-US" dirty="0" smtClean="0">
                <a:solidFill>
                  <a:schemeClr val="bg1">
                    <a:lumMod val="50000"/>
                  </a:schemeClr>
                </a:solidFill>
              </a:rPr>
              <a:t>            </a:t>
            </a:r>
            <a:r>
              <a:rPr lang="en-US" b="1" dirty="0" smtClean="0">
                <a:solidFill>
                  <a:schemeClr val="bg1">
                    <a:lumMod val="50000"/>
                  </a:schemeClr>
                </a:solidFill>
              </a:rPr>
              <a:t>C = </a:t>
            </a:r>
            <a:r>
              <a:rPr lang="en-US" b="1" dirty="0" err="1" smtClean="0">
                <a:solidFill>
                  <a:schemeClr val="bg1">
                    <a:lumMod val="50000"/>
                  </a:schemeClr>
                </a:solidFill>
              </a:rPr>
              <a:t>P</a:t>
            </a:r>
            <a:r>
              <a:rPr lang="en-US" b="1" baseline="30000" dirty="0" err="1" smtClean="0">
                <a:solidFill>
                  <a:schemeClr val="bg1">
                    <a:lumMod val="50000"/>
                  </a:schemeClr>
                </a:solidFill>
              </a:rPr>
              <a:t>e</a:t>
            </a:r>
            <a:r>
              <a:rPr lang="en-US" b="1" dirty="0" smtClean="0">
                <a:solidFill>
                  <a:schemeClr val="bg1">
                    <a:lumMod val="50000"/>
                  </a:schemeClr>
                </a:solidFill>
              </a:rPr>
              <a:t> </a:t>
            </a:r>
            <a:r>
              <a:rPr lang="en-US" b="1" dirty="0">
                <a:solidFill>
                  <a:schemeClr val="bg1">
                    <a:lumMod val="50000"/>
                  </a:schemeClr>
                </a:solidFill>
              </a:rPr>
              <a:t>MOD </a:t>
            </a:r>
            <a:r>
              <a:rPr lang="en-US" b="1" dirty="0" smtClean="0">
                <a:solidFill>
                  <a:schemeClr val="bg1">
                    <a:lumMod val="50000"/>
                  </a:schemeClr>
                </a:solidFill>
              </a:rPr>
              <a:t>n</a:t>
            </a:r>
          </a:p>
          <a:p>
            <a:pPr marL="0" indent="0">
              <a:buNone/>
            </a:pPr>
            <a:r>
              <a:rPr lang="en-US" dirty="0" smtClean="0"/>
              <a:t>S=18</a:t>
            </a:r>
            <a:r>
              <a:rPr lang="en-US" dirty="0"/>
              <a:t>:   18</a:t>
            </a:r>
            <a:r>
              <a:rPr lang="en-US" baseline="30000" dirty="0"/>
              <a:t>3</a:t>
            </a:r>
            <a:r>
              <a:rPr lang="en-US" dirty="0"/>
              <a:t> MOD 33 </a:t>
            </a:r>
            <a:r>
              <a:rPr lang="en-US" dirty="0" smtClean="0"/>
              <a:t>= </a:t>
            </a:r>
            <a:r>
              <a:rPr lang="en-US" b="1" dirty="0"/>
              <a:t>24</a:t>
            </a:r>
            <a:r>
              <a:rPr lang="en-US" dirty="0"/>
              <a:t> </a:t>
            </a:r>
            <a:r>
              <a:rPr lang="en-US" dirty="0" smtClean="0"/>
              <a:t>		</a:t>
            </a:r>
          </a:p>
          <a:p>
            <a:pPr marL="0" indent="0">
              <a:buNone/>
            </a:pPr>
            <a:r>
              <a:rPr lang="en-US" dirty="0" smtClean="0"/>
              <a:t>A=0</a:t>
            </a:r>
            <a:r>
              <a:rPr lang="en-US" dirty="0"/>
              <a:t>:     0</a:t>
            </a:r>
            <a:r>
              <a:rPr lang="en-US" baseline="30000" dirty="0"/>
              <a:t>3</a:t>
            </a:r>
            <a:r>
              <a:rPr lang="en-US" dirty="0"/>
              <a:t> MOD 33 </a:t>
            </a:r>
            <a:r>
              <a:rPr lang="en-US" dirty="0" smtClean="0"/>
              <a:t>= </a:t>
            </a:r>
            <a:r>
              <a:rPr lang="en-US" b="1" dirty="0" smtClean="0"/>
              <a:t>0</a:t>
            </a:r>
            <a:endParaRPr lang="en-US" b="1" dirty="0"/>
          </a:p>
          <a:p>
            <a:pPr marL="0" indent="0">
              <a:buNone/>
            </a:pPr>
            <a:r>
              <a:rPr lang="en-US" dirty="0" smtClean="0"/>
              <a:t>F=5</a:t>
            </a:r>
            <a:r>
              <a:rPr lang="en-US" dirty="0"/>
              <a:t>:     5</a:t>
            </a:r>
            <a:r>
              <a:rPr lang="en-US" baseline="30000" dirty="0"/>
              <a:t>3</a:t>
            </a:r>
            <a:r>
              <a:rPr lang="en-US" dirty="0"/>
              <a:t> MOD 33 </a:t>
            </a:r>
            <a:r>
              <a:rPr lang="en-US" dirty="0" smtClean="0"/>
              <a:t>= </a:t>
            </a:r>
            <a:r>
              <a:rPr lang="en-US" b="1" dirty="0" smtClean="0"/>
              <a:t>26</a:t>
            </a:r>
            <a:r>
              <a:rPr lang="en-US" dirty="0" smtClean="0"/>
              <a:t>		</a:t>
            </a:r>
          </a:p>
          <a:p>
            <a:pPr marL="0" indent="0">
              <a:buNone/>
            </a:pPr>
            <a:r>
              <a:rPr lang="en-US" dirty="0" smtClean="0"/>
              <a:t>E=4</a:t>
            </a:r>
            <a:r>
              <a:rPr lang="en-US" dirty="0"/>
              <a:t>:     4</a:t>
            </a:r>
            <a:r>
              <a:rPr lang="en-US" baseline="30000" dirty="0"/>
              <a:t>3</a:t>
            </a:r>
            <a:r>
              <a:rPr lang="en-US" dirty="0"/>
              <a:t> MOD 33 </a:t>
            </a:r>
            <a:r>
              <a:rPr lang="en-US" dirty="0" smtClean="0"/>
              <a:t>= </a:t>
            </a:r>
            <a:r>
              <a:rPr lang="en-US" b="1" dirty="0" smtClean="0"/>
              <a:t>31</a:t>
            </a:r>
            <a:endParaRPr lang="en-US" b="1" dirty="0"/>
          </a:p>
        </p:txBody>
      </p:sp>
    </p:spTree>
    <p:extLst>
      <p:ext uri="{BB962C8B-B14F-4D97-AF65-F5344CB8AC3E}">
        <p14:creationId xmlns:p14="http://schemas.microsoft.com/office/powerpoint/2010/main" val="3010656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a:t>
            </a:r>
            <a:endParaRPr lang="en-US" dirty="0"/>
          </a:p>
        </p:txBody>
      </p:sp>
      <p:sp>
        <p:nvSpPr>
          <p:cNvPr id="5" name="Content Placeholder 4"/>
          <p:cNvSpPr>
            <a:spLocks noGrp="1"/>
          </p:cNvSpPr>
          <p:nvPr>
            <p:ph idx="1"/>
          </p:nvPr>
        </p:nvSpPr>
        <p:spPr/>
        <p:txBody>
          <a:bodyPr>
            <a:normAutofit lnSpcReduction="10000"/>
          </a:bodyPr>
          <a:lstStyle/>
          <a:p>
            <a:pPr marL="0" indent="0">
              <a:buNone/>
            </a:pPr>
            <a:r>
              <a:rPr lang="en-US" b="1" dirty="0"/>
              <a:t>RSA Encryption and Decryption - </a:t>
            </a:r>
            <a:r>
              <a:rPr lang="en-US" b="1" dirty="0" smtClean="0"/>
              <a:t>Example</a:t>
            </a:r>
            <a:endParaRPr lang="en-US" dirty="0"/>
          </a:p>
          <a:p>
            <a:pPr marL="0" indent="0">
              <a:buNone/>
            </a:pPr>
            <a:r>
              <a:rPr lang="en-US" u="sng" dirty="0" smtClean="0"/>
              <a:t>Step 3: Decryption</a:t>
            </a:r>
            <a:r>
              <a:rPr lang="en-US" dirty="0" smtClean="0"/>
              <a:t>		uses </a:t>
            </a:r>
            <a:r>
              <a:rPr lang="en-US" dirty="0"/>
              <a:t>the private key (d</a:t>
            </a:r>
            <a:r>
              <a:rPr lang="en-US" dirty="0" smtClean="0"/>
              <a:t>, n</a:t>
            </a:r>
            <a:r>
              <a:rPr lang="en-US" dirty="0"/>
              <a:t>)</a:t>
            </a:r>
          </a:p>
          <a:p>
            <a:r>
              <a:rPr lang="en-US" dirty="0">
                <a:solidFill>
                  <a:schemeClr val="bg1">
                    <a:lumMod val="50000"/>
                  </a:schemeClr>
                </a:solidFill>
              </a:rPr>
              <a:t>The private decoding key </a:t>
            </a:r>
            <a:r>
              <a:rPr lang="en-US" b="1" dirty="0">
                <a:solidFill>
                  <a:schemeClr val="bg1">
                    <a:lumMod val="50000"/>
                  </a:schemeClr>
                </a:solidFill>
              </a:rPr>
              <a:t>d</a:t>
            </a:r>
            <a:r>
              <a:rPr lang="en-US" dirty="0">
                <a:solidFill>
                  <a:schemeClr val="bg1">
                    <a:lumMod val="50000"/>
                  </a:schemeClr>
                </a:solidFill>
              </a:rPr>
              <a:t> is chosen as the inverse </a:t>
            </a:r>
            <a:r>
              <a:rPr lang="en-US" dirty="0" smtClean="0">
                <a:solidFill>
                  <a:schemeClr val="bg1">
                    <a:lumMod val="50000"/>
                  </a:schemeClr>
                </a:solidFill>
              </a:rPr>
              <a:t>of </a:t>
            </a:r>
            <a:r>
              <a:rPr lang="en-US" b="1" dirty="0" smtClean="0">
                <a:solidFill>
                  <a:schemeClr val="bg1">
                    <a:lumMod val="50000"/>
                  </a:schemeClr>
                </a:solidFill>
              </a:rPr>
              <a:t>e </a:t>
            </a:r>
            <a:r>
              <a:rPr lang="en-US" b="1" dirty="0">
                <a:solidFill>
                  <a:schemeClr val="bg1">
                    <a:lumMod val="50000"/>
                  </a:schemeClr>
                </a:solidFill>
              </a:rPr>
              <a:t>MOD </a:t>
            </a:r>
            <a:r>
              <a:rPr lang="en-US" b="1" dirty="0">
                <a:solidFill>
                  <a:schemeClr val="bg1">
                    <a:lumMod val="50000"/>
                  </a:schemeClr>
                </a:solidFill>
                <a:sym typeface="Symbol" panose="05050102010706020507" pitchFamily="18" charset="2"/>
              </a:rPr>
              <a:t></a:t>
            </a:r>
            <a:r>
              <a:rPr lang="en-US" b="1" dirty="0">
                <a:solidFill>
                  <a:schemeClr val="bg1">
                    <a:lumMod val="50000"/>
                  </a:schemeClr>
                </a:solidFill>
              </a:rPr>
              <a:t>(n</a:t>
            </a:r>
            <a:r>
              <a:rPr lang="en-US" b="1" dirty="0" smtClean="0">
                <a:solidFill>
                  <a:schemeClr val="bg1">
                    <a:lumMod val="50000"/>
                  </a:schemeClr>
                </a:solidFill>
              </a:rPr>
              <a:t>)</a:t>
            </a:r>
          </a:p>
          <a:p>
            <a:pPr marL="0" indent="0">
              <a:buNone/>
            </a:pPr>
            <a:r>
              <a:rPr lang="en-US" b="1" dirty="0" smtClean="0">
                <a:solidFill>
                  <a:schemeClr val="bg1">
                    <a:lumMod val="50000"/>
                  </a:schemeClr>
                </a:solidFill>
              </a:rPr>
              <a:t>	(e </a:t>
            </a:r>
            <a:r>
              <a:rPr lang="en-US" b="1" dirty="0">
                <a:solidFill>
                  <a:schemeClr val="bg1">
                    <a:lumMod val="50000"/>
                  </a:schemeClr>
                </a:solidFill>
              </a:rPr>
              <a:t>* </a:t>
            </a:r>
            <a:r>
              <a:rPr lang="en-US" b="1" dirty="0" smtClean="0">
                <a:solidFill>
                  <a:schemeClr val="bg1">
                    <a:lumMod val="50000"/>
                  </a:schemeClr>
                </a:solidFill>
              </a:rPr>
              <a:t>d) </a:t>
            </a:r>
            <a:r>
              <a:rPr lang="en-US" b="1" dirty="0">
                <a:solidFill>
                  <a:schemeClr val="bg1">
                    <a:lumMod val="50000"/>
                  </a:schemeClr>
                </a:solidFill>
              </a:rPr>
              <a:t>MOD </a:t>
            </a:r>
            <a:r>
              <a:rPr lang="en-US" b="1" dirty="0">
                <a:solidFill>
                  <a:schemeClr val="bg1">
                    <a:lumMod val="50000"/>
                  </a:schemeClr>
                </a:solidFill>
                <a:sym typeface="Symbol" panose="05050102010706020507" pitchFamily="18" charset="2"/>
              </a:rPr>
              <a:t></a:t>
            </a:r>
            <a:r>
              <a:rPr lang="en-US" b="1" dirty="0">
                <a:solidFill>
                  <a:schemeClr val="bg1">
                    <a:lumMod val="50000"/>
                  </a:schemeClr>
                </a:solidFill>
              </a:rPr>
              <a:t>(n) </a:t>
            </a:r>
            <a:r>
              <a:rPr lang="en-US" b="1" dirty="0" smtClean="0">
                <a:solidFill>
                  <a:schemeClr val="bg1">
                    <a:lumMod val="50000"/>
                  </a:schemeClr>
                </a:solidFill>
              </a:rPr>
              <a:t>= 1</a:t>
            </a:r>
            <a:endParaRPr lang="en-US" b="1" dirty="0">
              <a:solidFill>
                <a:schemeClr val="bg1">
                  <a:lumMod val="50000"/>
                </a:schemeClr>
              </a:solidFill>
            </a:endParaRPr>
          </a:p>
          <a:p>
            <a:pPr lvl="1"/>
            <a:r>
              <a:rPr lang="en-US" dirty="0" smtClean="0">
                <a:solidFill>
                  <a:schemeClr val="bg1">
                    <a:lumMod val="50000"/>
                  </a:schemeClr>
                </a:solidFill>
              </a:rPr>
              <a:t>In other words, ed-1 </a:t>
            </a:r>
            <a:r>
              <a:rPr lang="en-US" dirty="0">
                <a:solidFill>
                  <a:schemeClr val="bg1">
                    <a:lumMod val="50000"/>
                  </a:schemeClr>
                </a:solidFill>
              </a:rPr>
              <a:t>is exactly divisible by </a:t>
            </a:r>
            <a:r>
              <a:rPr lang="en-US" dirty="0">
                <a:solidFill>
                  <a:schemeClr val="bg1">
                    <a:lumMod val="50000"/>
                  </a:schemeClr>
                </a:solidFill>
                <a:sym typeface="Symbol" panose="05050102010706020507" pitchFamily="18" charset="2"/>
              </a:rPr>
              <a:t></a:t>
            </a:r>
            <a:r>
              <a:rPr lang="en-US" dirty="0">
                <a:solidFill>
                  <a:schemeClr val="bg1">
                    <a:lumMod val="50000"/>
                  </a:schemeClr>
                </a:solidFill>
              </a:rPr>
              <a:t>(n</a:t>
            </a:r>
            <a:r>
              <a:rPr lang="en-US" dirty="0" smtClean="0">
                <a:solidFill>
                  <a:schemeClr val="bg1">
                    <a:lumMod val="50000"/>
                  </a:schemeClr>
                </a:solidFill>
              </a:rPr>
              <a:t>)</a:t>
            </a:r>
          </a:p>
          <a:p>
            <a:r>
              <a:rPr lang="da-DK" dirty="0" smtClean="0"/>
              <a:t>since (3*7) </a:t>
            </a:r>
            <a:r>
              <a:rPr lang="da-DK" dirty="0"/>
              <a:t>MOD 20 </a:t>
            </a:r>
            <a:r>
              <a:rPr lang="da-DK" dirty="0" smtClean="0"/>
              <a:t>= 1, so d = 7</a:t>
            </a:r>
            <a:endParaRPr lang="en-US" dirty="0"/>
          </a:p>
          <a:p>
            <a:r>
              <a:rPr lang="en-US" dirty="0">
                <a:solidFill>
                  <a:schemeClr val="bg1">
                    <a:lumMod val="50000"/>
                  </a:schemeClr>
                </a:solidFill>
              </a:rPr>
              <a:t>We decrypt by </a:t>
            </a:r>
            <a:r>
              <a:rPr lang="en-US" dirty="0" smtClean="0">
                <a:solidFill>
                  <a:schemeClr val="bg1">
                    <a:lumMod val="50000"/>
                  </a:schemeClr>
                </a:solidFill>
              </a:rPr>
              <a:t>computing</a:t>
            </a:r>
          </a:p>
          <a:p>
            <a:pPr marL="0" indent="0">
              <a:buNone/>
            </a:pPr>
            <a:r>
              <a:rPr lang="en-US" dirty="0">
                <a:solidFill>
                  <a:schemeClr val="bg1">
                    <a:lumMod val="50000"/>
                  </a:schemeClr>
                </a:solidFill>
              </a:rPr>
              <a:t>	</a:t>
            </a:r>
            <a:r>
              <a:rPr lang="en-US" b="1" dirty="0" smtClean="0">
                <a:solidFill>
                  <a:schemeClr val="bg1">
                    <a:lumMod val="50000"/>
                  </a:schemeClr>
                </a:solidFill>
              </a:rPr>
              <a:t>P = C</a:t>
            </a:r>
            <a:r>
              <a:rPr lang="en-US" b="1" baseline="30000" dirty="0" smtClean="0">
                <a:solidFill>
                  <a:schemeClr val="bg1">
                    <a:lumMod val="50000"/>
                  </a:schemeClr>
                </a:solidFill>
              </a:rPr>
              <a:t>d</a:t>
            </a:r>
            <a:r>
              <a:rPr lang="en-US" b="1" dirty="0" smtClean="0">
                <a:solidFill>
                  <a:schemeClr val="bg1">
                    <a:lumMod val="50000"/>
                  </a:schemeClr>
                </a:solidFill>
              </a:rPr>
              <a:t> </a:t>
            </a:r>
            <a:r>
              <a:rPr lang="en-US" b="1" dirty="0">
                <a:solidFill>
                  <a:schemeClr val="bg1">
                    <a:lumMod val="50000"/>
                  </a:schemeClr>
                </a:solidFill>
              </a:rPr>
              <a:t>MOD </a:t>
            </a:r>
            <a:r>
              <a:rPr lang="en-US" b="1" dirty="0" smtClean="0">
                <a:solidFill>
                  <a:schemeClr val="bg1">
                    <a:lumMod val="50000"/>
                  </a:schemeClr>
                </a:solidFill>
              </a:rPr>
              <a:t>n</a:t>
            </a:r>
          </a:p>
          <a:p>
            <a:pPr marL="0" indent="0">
              <a:buNone/>
            </a:pPr>
            <a:r>
              <a:rPr lang="da-DK" dirty="0"/>
              <a:t>24</a:t>
            </a:r>
            <a:r>
              <a:rPr lang="da-DK" baseline="30000" dirty="0"/>
              <a:t>7</a:t>
            </a:r>
            <a:r>
              <a:rPr lang="da-DK" dirty="0"/>
              <a:t> MOD 33 </a:t>
            </a:r>
            <a:r>
              <a:rPr lang="da-DK" dirty="0" smtClean="0"/>
              <a:t>= 18,   18=S		</a:t>
            </a:r>
          </a:p>
          <a:p>
            <a:pPr marL="0" indent="0">
              <a:buNone/>
            </a:pPr>
            <a:r>
              <a:rPr lang="da-DK" dirty="0" smtClean="0"/>
              <a:t>0</a:t>
            </a:r>
            <a:r>
              <a:rPr lang="da-DK" baseline="30000" dirty="0" smtClean="0"/>
              <a:t>7</a:t>
            </a:r>
            <a:r>
              <a:rPr lang="da-DK" dirty="0" smtClean="0"/>
              <a:t> </a:t>
            </a:r>
            <a:r>
              <a:rPr lang="da-DK" dirty="0"/>
              <a:t>MOD 33 </a:t>
            </a:r>
            <a:r>
              <a:rPr lang="da-DK" dirty="0" smtClean="0"/>
              <a:t>= 0,      0=A</a:t>
            </a:r>
            <a:endParaRPr lang="da-DK" dirty="0"/>
          </a:p>
          <a:p>
            <a:pPr marL="0" indent="0">
              <a:buNone/>
            </a:pPr>
            <a:r>
              <a:rPr lang="da-DK" dirty="0"/>
              <a:t>26</a:t>
            </a:r>
            <a:r>
              <a:rPr lang="da-DK" baseline="30000" dirty="0"/>
              <a:t>7</a:t>
            </a:r>
            <a:r>
              <a:rPr lang="da-DK" dirty="0"/>
              <a:t> MOD 33 </a:t>
            </a:r>
            <a:r>
              <a:rPr lang="da-DK" dirty="0" smtClean="0"/>
              <a:t>= 5,      5=F 		</a:t>
            </a:r>
          </a:p>
          <a:p>
            <a:pPr marL="0" indent="0">
              <a:buNone/>
            </a:pPr>
            <a:r>
              <a:rPr lang="da-DK" dirty="0" smtClean="0"/>
              <a:t>31</a:t>
            </a:r>
            <a:r>
              <a:rPr lang="da-DK" baseline="30000" dirty="0" smtClean="0"/>
              <a:t>7</a:t>
            </a:r>
            <a:r>
              <a:rPr lang="da-DK" dirty="0" smtClean="0"/>
              <a:t> </a:t>
            </a:r>
            <a:r>
              <a:rPr lang="da-DK" dirty="0"/>
              <a:t>MOD 33 </a:t>
            </a:r>
            <a:r>
              <a:rPr lang="da-DK" dirty="0" smtClean="0"/>
              <a:t>= 4</a:t>
            </a:r>
            <a:r>
              <a:rPr lang="da-DK" smtClean="0"/>
              <a:t>,    4=E</a:t>
            </a:r>
            <a:endParaRPr lang="da-DK" dirty="0" smtClean="0"/>
          </a:p>
        </p:txBody>
      </p:sp>
    </p:spTree>
    <p:extLst>
      <p:ext uri="{BB962C8B-B14F-4D97-AF65-F5344CB8AC3E}">
        <p14:creationId xmlns:p14="http://schemas.microsoft.com/office/powerpoint/2010/main" val="7726894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 – A Secure Cipher</a:t>
            </a:r>
            <a:endParaRPr lang="en-US" dirty="0"/>
          </a:p>
        </p:txBody>
      </p:sp>
      <p:sp>
        <p:nvSpPr>
          <p:cNvPr id="5" name="Content Placeholder 4"/>
          <p:cNvSpPr>
            <a:spLocks noGrp="1"/>
          </p:cNvSpPr>
          <p:nvPr>
            <p:ph idx="1"/>
          </p:nvPr>
        </p:nvSpPr>
        <p:spPr/>
        <p:txBody>
          <a:bodyPr>
            <a:normAutofit/>
          </a:bodyPr>
          <a:lstStyle/>
          <a:p>
            <a:r>
              <a:rPr lang="en-US" dirty="0"/>
              <a:t>RSA (actually) does not fulfill the public key property </a:t>
            </a:r>
            <a:endParaRPr lang="en-US" dirty="0" smtClean="0"/>
          </a:p>
          <a:p>
            <a:pPr lvl="1"/>
            <a:r>
              <a:rPr lang="en-US" dirty="0" smtClean="0"/>
              <a:t>the </a:t>
            </a:r>
            <a:r>
              <a:rPr lang="en-US" dirty="0"/>
              <a:t>decoding key can be derived from the </a:t>
            </a:r>
            <a:r>
              <a:rPr lang="en-US" dirty="0" smtClean="0"/>
              <a:t>encoding </a:t>
            </a:r>
            <a:r>
              <a:rPr lang="en-US" dirty="0"/>
              <a:t>key </a:t>
            </a:r>
            <a:r>
              <a:rPr lang="en-US" sz="2100" dirty="0"/>
              <a:t>and </a:t>
            </a:r>
            <a:r>
              <a:rPr lang="en-US" sz="2100" dirty="0">
                <a:sym typeface="Symbol" panose="05050102010706020507" pitchFamily="18" charset="2"/>
              </a:rPr>
              <a:t></a:t>
            </a:r>
            <a:r>
              <a:rPr lang="en-US" sz="2100" dirty="0"/>
              <a:t>(n), </a:t>
            </a:r>
            <a:r>
              <a:rPr lang="en-US" u="sng" dirty="0"/>
              <a:t>if p and q are chosen to be small </a:t>
            </a:r>
            <a:r>
              <a:rPr lang="en-US" u="sng" dirty="0" smtClean="0"/>
              <a:t>numbers</a:t>
            </a:r>
            <a:endParaRPr lang="en-US" dirty="0"/>
          </a:p>
          <a:p>
            <a:r>
              <a:rPr lang="en-US" dirty="0" smtClean="0"/>
              <a:t>But RSA </a:t>
            </a:r>
            <a:r>
              <a:rPr lang="en-US" dirty="0"/>
              <a:t>encryption system </a:t>
            </a:r>
            <a:r>
              <a:rPr lang="en-US" dirty="0" smtClean="0"/>
              <a:t>can </a:t>
            </a:r>
            <a:r>
              <a:rPr lang="en-US" dirty="0"/>
              <a:t>be upgraded so that even though everybody knows </a:t>
            </a:r>
            <a:r>
              <a:rPr lang="en-US" dirty="0" smtClean="0"/>
              <a:t>the </a:t>
            </a:r>
            <a:r>
              <a:rPr lang="en-US" dirty="0"/>
              <a:t>modulus </a:t>
            </a:r>
            <a:r>
              <a:rPr lang="en-US" dirty="0" smtClean="0"/>
              <a:t>n, </a:t>
            </a:r>
            <a:r>
              <a:rPr lang="en-US" dirty="0"/>
              <a:t>not even the best eavesdropper is able to </a:t>
            </a:r>
            <a:r>
              <a:rPr lang="en-US" dirty="0" smtClean="0"/>
              <a:t>compute </a:t>
            </a:r>
            <a:r>
              <a:rPr lang="en-US" dirty="0" smtClean="0">
                <a:sym typeface="Symbol" panose="05050102010706020507" pitchFamily="18" charset="2"/>
              </a:rPr>
              <a:t></a:t>
            </a:r>
            <a:r>
              <a:rPr lang="en-US" dirty="0" smtClean="0"/>
              <a:t>(</a:t>
            </a:r>
            <a:r>
              <a:rPr lang="en-US" dirty="0"/>
              <a:t>n</a:t>
            </a:r>
            <a:r>
              <a:rPr lang="en-US" dirty="0" smtClean="0"/>
              <a:t>).</a:t>
            </a:r>
          </a:p>
          <a:p>
            <a:endParaRPr lang="en-US" dirty="0"/>
          </a:p>
          <a:p>
            <a:r>
              <a:rPr lang="en-US" dirty="0" smtClean="0"/>
              <a:t>Solution:</a:t>
            </a:r>
            <a:endParaRPr lang="en-US" dirty="0"/>
          </a:p>
          <a:p>
            <a:pPr marL="0" indent="0">
              <a:buNone/>
            </a:pPr>
            <a:r>
              <a:rPr lang="en-US" dirty="0" smtClean="0"/>
              <a:t>	Choose </a:t>
            </a:r>
            <a:r>
              <a:rPr lang="en-US" dirty="0"/>
              <a:t>the two </a:t>
            </a:r>
            <a:r>
              <a:rPr lang="en-US" dirty="0" smtClean="0"/>
              <a:t>primes, </a:t>
            </a:r>
            <a:r>
              <a:rPr lang="en-US" dirty="0"/>
              <a:t>p and q to be at least </a:t>
            </a:r>
            <a:r>
              <a:rPr lang="en-US" b="1" u="sng" dirty="0" smtClean="0"/>
              <a:t>1024-bit numbers</a:t>
            </a:r>
          </a:p>
          <a:p>
            <a:pPr marL="0" indent="0">
              <a:buNone/>
            </a:pPr>
            <a:endParaRPr lang="en-US" b="1" u="sng" dirty="0"/>
          </a:p>
          <a:p>
            <a:pPr marL="0" indent="0">
              <a:buNone/>
            </a:pPr>
            <a:r>
              <a:rPr lang="en-US" b="1" u="sng" dirty="0" smtClean="0">
                <a:hlinkClick r:id="rId2"/>
              </a:rPr>
              <a:t>https://en.wikipedia.org/wiki/RSA_numbers</a:t>
            </a:r>
            <a:endParaRPr lang="en-US" b="1" u="sng" dirty="0" smtClean="0"/>
          </a:p>
          <a:p>
            <a:pPr marL="0" indent="0">
              <a:buNone/>
            </a:pPr>
            <a:endParaRPr lang="en-US" b="1" u="sng" dirty="0"/>
          </a:p>
        </p:txBody>
      </p:sp>
    </p:spTree>
    <p:extLst>
      <p:ext uri="{BB962C8B-B14F-4D97-AF65-F5344CB8AC3E}">
        <p14:creationId xmlns:p14="http://schemas.microsoft.com/office/powerpoint/2010/main" val="19525558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RSA-1024</a:t>
            </a:r>
            <a:endParaRPr lang="en-GB" dirty="0"/>
          </a:p>
        </p:txBody>
      </p:sp>
      <p:sp>
        <p:nvSpPr>
          <p:cNvPr id="3" name="Content Placeholder 2"/>
          <p:cNvSpPr>
            <a:spLocks noGrp="1"/>
          </p:cNvSpPr>
          <p:nvPr>
            <p:ph idx="1"/>
          </p:nvPr>
        </p:nvSpPr>
        <p:spPr/>
        <p:txBody>
          <a:bodyPr/>
          <a:lstStyle/>
          <a:p>
            <a:r>
              <a:rPr lang="it-IT" dirty="0" smtClean="0"/>
              <a:t>13506641086599522334960321627880596993888147560566702752448514385152651060485953383394028715057190944179820728216447155137368041970396419174304649658927425623934102086438320211037295872576235850964311056407350150818751067659462920556368552947521350085287941637732853390610975054433499981115005697 </a:t>
            </a:r>
            <a:r>
              <a:rPr lang="it-IT" dirty="0"/>
              <a:t>7236890927563</a:t>
            </a:r>
            <a:endParaRPr lang="en-GB" dirty="0"/>
          </a:p>
        </p:txBody>
      </p:sp>
    </p:spTree>
    <p:extLst>
      <p:ext uri="{BB962C8B-B14F-4D97-AF65-F5344CB8AC3E}">
        <p14:creationId xmlns:p14="http://schemas.microsoft.com/office/powerpoint/2010/main" val="1690399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 – A Secure Cipher</a:t>
            </a:r>
            <a:endParaRPr lang="en-US" dirty="0"/>
          </a:p>
        </p:txBody>
      </p:sp>
      <p:sp>
        <p:nvSpPr>
          <p:cNvPr id="5" name="Content Placeholder 4"/>
          <p:cNvSpPr>
            <a:spLocks noGrp="1"/>
          </p:cNvSpPr>
          <p:nvPr>
            <p:ph idx="1"/>
          </p:nvPr>
        </p:nvSpPr>
        <p:spPr/>
        <p:txBody>
          <a:bodyPr>
            <a:normAutofit/>
          </a:bodyPr>
          <a:lstStyle/>
          <a:p>
            <a:r>
              <a:rPr lang="en-US" dirty="0"/>
              <a:t>Choosing the key </a:t>
            </a:r>
            <a:r>
              <a:rPr lang="en-US" dirty="0" smtClean="0"/>
              <a:t>length </a:t>
            </a:r>
            <a:r>
              <a:rPr lang="en-US" dirty="0"/>
              <a:t>wisely becomes crucial when transferring sensitive </a:t>
            </a:r>
            <a:r>
              <a:rPr lang="en-US" dirty="0" smtClean="0"/>
              <a:t>information using RSA</a:t>
            </a:r>
          </a:p>
          <a:p>
            <a:r>
              <a:rPr lang="en-US" dirty="0" smtClean="0"/>
              <a:t>A </a:t>
            </a:r>
            <a:r>
              <a:rPr lang="en-US" dirty="0"/>
              <a:t>public key </a:t>
            </a:r>
            <a:r>
              <a:rPr lang="en-US" dirty="0" smtClean="0"/>
              <a:t>length </a:t>
            </a:r>
            <a:r>
              <a:rPr lang="en-US" dirty="0"/>
              <a:t>of 768 bits (232 decimal) or 1024 bits (309 decimal) digits is recommended </a:t>
            </a:r>
            <a:r>
              <a:rPr lang="en-US" dirty="0" smtClean="0"/>
              <a:t>today</a:t>
            </a:r>
          </a:p>
          <a:p>
            <a:endParaRPr lang="en-US" dirty="0" smtClean="0"/>
          </a:p>
          <a:p>
            <a:r>
              <a:rPr lang="en-US" dirty="0" smtClean="0"/>
              <a:t>The </a:t>
            </a:r>
            <a:r>
              <a:rPr lang="en-US" dirty="0"/>
              <a:t>payoff </a:t>
            </a:r>
            <a:r>
              <a:rPr lang="en-US" dirty="0" smtClean="0"/>
              <a:t>here is speed</a:t>
            </a:r>
          </a:p>
          <a:p>
            <a:r>
              <a:rPr lang="en-US" dirty="0" smtClean="0"/>
              <a:t>Greater </a:t>
            </a:r>
            <a:r>
              <a:rPr lang="en-US" dirty="0"/>
              <a:t>key sizes slow the computerized encryption process </a:t>
            </a:r>
            <a:r>
              <a:rPr lang="en-US" dirty="0" smtClean="0"/>
              <a:t>down</a:t>
            </a:r>
            <a:endParaRPr lang="en-US" b="1" dirty="0"/>
          </a:p>
        </p:txBody>
      </p:sp>
    </p:spTree>
    <p:extLst>
      <p:ext uri="{BB962C8B-B14F-4D97-AF65-F5344CB8AC3E}">
        <p14:creationId xmlns:p14="http://schemas.microsoft.com/office/powerpoint/2010/main" val="2678905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 – A Secure Cipher</a:t>
            </a:r>
            <a:endParaRPr lang="en-US" dirty="0"/>
          </a:p>
        </p:txBody>
      </p:sp>
      <p:sp>
        <p:nvSpPr>
          <p:cNvPr id="5" name="Content Placeholder 4"/>
          <p:cNvSpPr>
            <a:spLocks noGrp="1"/>
          </p:cNvSpPr>
          <p:nvPr>
            <p:ph idx="1"/>
          </p:nvPr>
        </p:nvSpPr>
        <p:spPr/>
        <p:txBody>
          <a:bodyPr>
            <a:normAutofit/>
          </a:bodyPr>
          <a:lstStyle/>
          <a:p>
            <a:r>
              <a:rPr lang="en-US" dirty="0" smtClean="0"/>
              <a:t>No </a:t>
            </a:r>
            <a:r>
              <a:rPr lang="en-US" dirty="0"/>
              <a:t>eavesdropper (not even the NSA or the FBI) is able to compute </a:t>
            </a:r>
            <a:r>
              <a:rPr lang="en-US" dirty="0">
                <a:sym typeface="Symbol" panose="05050102010706020507" pitchFamily="18" charset="2"/>
              </a:rPr>
              <a:t></a:t>
            </a:r>
            <a:r>
              <a:rPr lang="en-US" dirty="0"/>
              <a:t>(n) from the publicly known modulus n since its factors p and q </a:t>
            </a:r>
            <a:r>
              <a:rPr lang="en-US" dirty="0" smtClean="0"/>
              <a:t>(required </a:t>
            </a:r>
            <a:r>
              <a:rPr lang="en-US" dirty="0"/>
              <a:t>to compute </a:t>
            </a:r>
            <a:r>
              <a:rPr lang="en-US" dirty="0">
                <a:sym typeface="Symbol" panose="05050102010706020507" pitchFamily="18" charset="2"/>
              </a:rPr>
              <a:t></a:t>
            </a:r>
            <a:r>
              <a:rPr lang="en-US" dirty="0"/>
              <a:t>(n) as (p*q) = (p-1) * (q-1</a:t>
            </a:r>
            <a:r>
              <a:rPr lang="en-US" dirty="0" smtClean="0"/>
              <a:t>)) </a:t>
            </a:r>
            <a:r>
              <a:rPr lang="en-US" dirty="0"/>
              <a:t>can not be derived from n</a:t>
            </a:r>
          </a:p>
          <a:p>
            <a:endParaRPr lang="en-US" dirty="0" smtClean="0"/>
          </a:p>
          <a:p>
            <a:r>
              <a:rPr lang="en-US" dirty="0" err="1" smtClean="0"/>
              <a:t>Rivest</a:t>
            </a:r>
            <a:r>
              <a:rPr lang="en-US" dirty="0"/>
              <a:t>, Shamir and </a:t>
            </a:r>
            <a:r>
              <a:rPr lang="en-US" dirty="0" err="1"/>
              <a:t>Adleman</a:t>
            </a:r>
            <a:r>
              <a:rPr lang="en-US" dirty="0"/>
              <a:t> </a:t>
            </a:r>
            <a:r>
              <a:rPr lang="en-US" dirty="0" smtClean="0"/>
              <a:t>(experienced </a:t>
            </a:r>
            <a:r>
              <a:rPr lang="en-US" dirty="0"/>
              <a:t>computer experts</a:t>
            </a:r>
            <a:r>
              <a:rPr lang="en-US" dirty="0" smtClean="0"/>
              <a:t>) knew that;</a:t>
            </a:r>
          </a:p>
          <a:p>
            <a:pPr marL="0" indent="0">
              <a:buNone/>
            </a:pPr>
            <a:endParaRPr lang="en-US" b="1" dirty="0" smtClean="0"/>
          </a:p>
          <a:p>
            <a:pPr marL="349250" lvl="1" indent="0">
              <a:buNone/>
            </a:pPr>
            <a:r>
              <a:rPr lang="en-US" sz="2400" b="1" dirty="0" smtClean="0"/>
              <a:t>“multiplication </a:t>
            </a:r>
            <a:r>
              <a:rPr lang="en-US" sz="2400" b="1" dirty="0"/>
              <a:t>of two large numbers is not difficult, however, finding the factors of a given large integer is a difficult computer </a:t>
            </a:r>
            <a:r>
              <a:rPr lang="en-US" sz="2400" b="1" dirty="0" smtClean="0"/>
              <a:t>problem”</a:t>
            </a:r>
          </a:p>
          <a:p>
            <a:pPr marL="349250" lvl="1" indent="0">
              <a:buNone/>
            </a:pPr>
            <a:endParaRPr lang="en-US" sz="2400" b="1" dirty="0"/>
          </a:p>
          <a:p>
            <a:pPr marL="349250" lvl="1" indent="0">
              <a:buNone/>
            </a:pPr>
            <a:r>
              <a:rPr lang="en-US" b="1" u="sng" dirty="0">
                <a:hlinkClick r:id="rId2"/>
              </a:rPr>
              <a:t>https://www.youtube.com/watch?v=Z8M2BTscoD4</a:t>
            </a:r>
            <a:endParaRPr lang="en-US" b="1" u="sng" dirty="0"/>
          </a:p>
          <a:p>
            <a:pPr marL="349250" lvl="1" indent="0">
              <a:buNone/>
            </a:pPr>
            <a:endParaRPr lang="en-US" b="1" dirty="0"/>
          </a:p>
        </p:txBody>
      </p:sp>
    </p:spTree>
    <p:extLst>
      <p:ext uri="{BB962C8B-B14F-4D97-AF65-F5344CB8AC3E}">
        <p14:creationId xmlns:p14="http://schemas.microsoft.com/office/powerpoint/2010/main" val="10762157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 – A Secure Cipher</a:t>
            </a:r>
            <a:endParaRPr lang="en-US" dirty="0"/>
          </a:p>
        </p:txBody>
      </p:sp>
      <p:sp>
        <p:nvSpPr>
          <p:cNvPr id="5" name="Content Placeholder 4"/>
          <p:cNvSpPr>
            <a:spLocks noGrp="1"/>
          </p:cNvSpPr>
          <p:nvPr>
            <p:ph idx="1"/>
          </p:nvPr>
        </p:nvSpPr>
        <p:spPr/>
        <p:txBody>
          <a:bodyPr>
            <a:normAutofit lnSpcReduction="10000"/>
          </a:bodyPr>
          <a:lstStyle/>
          <a:p>
            <a:r>
              <a:rPr lang="en-US" dirty="0"/>
              <a:t>Among the many possible ways of attacking the RSA Cipher, factoring is the most promising </a:t>
            </a:r>
            <a:r>
              <a:rPr lang="en-US" dirty="0" smtClean="0"/>
              <a:t>one</a:t>
            </a:r>
          </a:p>
          <a:p>
            <a:r>
              <a:rPr lang="en-US" dirty="0" smtClean="0"/>
              <a:t>But the fact is </a:t>
            </a:r>
            <a:r>
              <a:rPr lang="en-US" dirty="0"/>
              <a:t>that </a:t>
            </a:r>
            <a:r>
              <a:rPr lang="en-US" u="sng" dirty="0"/>
              <a:t>sufficiently large integers</a:t>
            </a:r>
            <a:r>
              <a:rPr lang="en-US" dirty="0"/>
              <a:t> can not be factored, even when using the best factoring </a:t>
            </a:r>
            <a:r>
              <a:rPr lang="en-US" dirty="0" smtClean="0"/>
              <a:t>algorithms </a:t>
            </a:r>
            <a:r>
              <a:rPr lang="en-US" dirty="0"/>
              <a:t>on the fastest computers in the </a:t>
            </a:r>
            <a:r>
              <a:rPr lang="en-US" dirty="0" smtClean="0"/>
              <a:t>world</a:t>
            </a:r>
            <a:endParaRPr lang="en-US" dirty="0"/>
          </a:p>
          <a:p>
            <a:endParaRPr lang="en-US" dirty="0"/>
          </a:p>
          <a:p>
            <a:r>
              <a:rPr lang="en-US" dirty="0"/>
              <a:t>Consequently, if n is chosen sufficiently large nobody is able to find the factors p and q of n and </a:t>
            </a:r>
            <a:r>
              <a:rPr lang="en-US" dirty="0" smtClean="0"/>
              <a:t>thus </a:t>
            </a:r>
            <a:r>
              <a:rPr lang="en-US" dirty="0"/>
              <a:t>nobody can compute </a:t>
            </a:r>
            <a:r>
              <a:rPr lang="en-US" dirty="0">
                <a:sym typeface="Symbol" panose="05050102010706020507" pitchFamily="18" charset="2"/>
              </a:rPr>
              <a:t></a:t>
            </a:r>
            <a:r>
              <a:rPr lang="en-US" dirty="0"/>
              <a:t>(n</a:t>
            </a:r>
            <a:r>
              <a:rPr lang="en-US" dirty="0" smtClean="0"/>
              <a:t>) </a:t>
            </a:r>
            <a:r>
              <a:rPr lang="en-US" dirty="0"/>
              <a:t>in order to then identify the decoding key </a:t>
            </a:r>
            <a:r>
              <a:rPr lang="en-US" dirty="0" smtClean="0"/>
              <a:t>d</a:t>
            </a:r>
            <a:endParaRPr lang="en-US" dirty="0"/>
          </a:p>
          <a:p>
            <a:endParaRPr lang="en-US" dirty="0"/>
          </a:p>
          <a:p>
            <a:r>
              <a:rPr lang="en-US" b="1" dirty="0" smtClean="0"/>
              <a:t>Since </a:t>
            </a:r>
            <a:r>
              <a:rPr lang="en-US" b="1" dirty="0"/>
              <a:t>finding the factors of a huge integer n [without knowing </a:t>
            </a:r>
            <a:r>
              <a:rPr lang="en-US" b="1" dirty="0">
                <a:sym typeface="Symbol" panose="05050102010706020507" pitchFamily="18" charset="2"/>
              </a:rPr>
              <a:t></a:t>
            </a:r>
            <a:r>
              <a:rPr lang="en-US" b="1" dirty="0"/>
              <a:t>(n</a:t>
            </a:r>
            <a:r>
              <a:rPr lang="en-US" b="1" dirty="0" smtClean="0"/>
              <a:t>)] </a:t>
            </a:r>
            <a:r>
              <a:rPr lang="en-US" b="1" dirty="0"/>
              <a:t>is difficult, the </a:t>
            </a:r>
            <a:r>
              <a:rPr lang="en-US" b="1" u="sng" dirty="0"/>
              <a:t>RSA encryption is </a:t>
            </a:r>
            <a:r>
              <a:rPr lang="en-US" b="1" u="sng" dirty="0" smtClean="0"/>
              <a:t>secure</a:t>
            </a:r>
            <a:endParaRPr lang="en-US" b="1" u="sng" dirty="0"/>
          </a:p>
        </p:txBody>
      </p:sp>
    </p:spTree>
    <p:extLst>
      <p:ext uri="{BB962C8B-B14F-4D97-AF65-F5344CB8AC3E}">
        <p14:creationId xmlns:p14="http://schemas.microsoft.com/office/powerpoint/2010/main" val="29530576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RSA Cipher – A Secure Cipher</a:t>
            </a:r>
            <a:endParaRPr lang="en-US" dirty="0"/>
          </a:p>
        </p:txBody>
      </p:sp>
      <p:sp>
        <p:nvSpPr>
          <p:cNvPr id="5" name="Content Placeholder 4"/>
          <p:cNvSpPr>
            <a:spLocks noGrp="1"/>
          </p:cNvSpPr>
          <p:nvPr>
            <p:ph idx="1"/>
          </p:nvPr>
        </p:nvSpPr>
        <p:spPr/>
        <p:txBody>
          <a:bodyPr>
            <a:normAutofit lnSpcReduction="10000"/>
          </a:bodyPr>
          <a:lstStyle/>
          <a:p>
            <a:r>
              <a:rPr lang="en-US" dirty="0"/>
              <a:t>The inability to crack RSA is based mathematically on the inability to factor the product n into the two huge primes p and </a:t>
            </a:r>
            <a:r>
              <a:rPr lang="en-US" dirty="0" smtClean="0"/>
              <a:t>q</a:t>
            </a:r>
          </a:p>
          <a:p>
            <a:r>
              <a:rPr lang="en-US" dirty="0" smtClean="0"/>
              <a:t>However</a:t>
            </a:r>
            <a:r>
              <a:rPr lang="en-US" dirty="0"/>
              <a:t>, the reverse process, computing the product given the two primes </a:t>
            </a:r>
            <a:r>
              <a:rPr lang="en-US" dirty="0" smtClean="0"/>
              <a:t>is easy</a:t>
            </a:r>
          </a:p>
          <a:p>
            <a:r>
              <a:rPr lang="en-US" dirty="0" smtClean="0"/>
              <a:t>A </a:t>
            </a:r>
            <a:r>
              <a:rPr lang="en-US" dirty="0"/>
              <a:t>function with such property is called a </a:t>
            </a:r>
            <a:r>
              <a:rPr lang="en-US" u="sng" dirty="0"/>
              <a:t>one-way </a:t>
            </a:r>
            <a:r>
              <a:rPr lang="en-US" u="sng" dirty="0" smtClean="0"/>
              <a:t>function</a:t>
            </a:r>
            <a:endParaRPr lang="en-US" u="sng" dirty="0"/>
          </a:p>
          <a:p>
            <a:endParaRPr lang="en-US" dirty="0"/>
          </a:p>
          <a:p>
            <a:r>
              <a:rPr lang="en-US" dirty="0" smtClean="0"/>
              <a:t>A </a:t>
            </a:r>
            <a:r>
              <a:rPr lang="en-US" dirty="0"/>
              <a:t>function that computes the result (i.e. the product of two primes) easily. However, given the result it is practically impossible to compute the original </a:t>
            </a:r>
            <a:r>
              <a:rPr lang="en-US" dirty="0" smtClean="0"/>
              <a:t>values</a:t>
            </a:r>
            <a:endParaRPr lang="en-US" dirty="0"/>
          </a:p>
          <a:p>
            <a:r>
              <a:rPr lang="en-US" dirty="0"/>
              <a:t>Mathematically stated: Given x, f(x) can be computed easily. However, given f(x), computing x is practically </a:t>
            </a:r>
            <a:r>
              <a:rPr lang="en-US" dirty="0" smtClean="0"/>
              <a:t>impossible</a:t>
            </a:r>
            <a:endParaRPr lang="en-US" b="1" u="sng" dirty="0"/>
          </a:p>
        </p:txBody>
      </p:sp>
    </p:spTree>
    <p:extLst>
      <p:ext uri="{BB962C8B-B14F-4D97-AF65-F5344CB8AC3E}">
        <p14:creationId xmlns:p14="http://schemas.microsoft.com/office/powerpoint/2010/main" val="41706697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t>Symmetric VS Asymmetric Key Cryptography</a:t>
            </a:r>
            <a:endParaRPr lang="en-US" dirty="0"/>
          </a:p>
        </p:txBody>
      </p:sp>
      <p:sp>
        <p:nvSpPr>
          <p:cNvPr id="5" name="Content Placeholder 4"/>
          <p:cNvSpPr>
            <a:spLocks noGrp="1"/>
          </p:cNvSpPr>
          <p:nvPr>
            <p:ph idx="1"/>
          </p:nvPr>
        </p:nvSpPr>
        <p:spPr/>
        <p:txBody>
          <a:bodyPr>
            <a:normAutofit/>
          </a:bodyPr>
          <a:lstStyle/>
          <a:p>
            <a:pPr marL="0" indent="0">
              <a:buNone/>
            </a:pPr>
            <a:r>
              <a:rPr lang="en-US" u="sng" dirty="0"/>
              <a:t>Which method provides stronger security?</a:t>
            </a:r>
          </a:p>
          <a:p>
            <a:r>
              <a:rPr lang="en-US" dirty="0"/>
              <a:t>With suitable keys and algorithms, both methods can be secure enough for most purposes</a:t>
            </a:r>
          </a:p>
          <a:p>
            <a:pPr marL="0" indent="0">
              <a:buNone/>
            </a:pPr>
            <a:r>
              <a:rPr lang="en-US" u="sng" dirty="0"/>
              <a:t>Which method is more convenient?</a:t>
            </a:r>
          </a:p>
          <a:p>
            <a:r>
              <a:rPr lang="en-US" dirty="0"/>
              <a:t>To use symmetric cryptography, both parties must know the secret key, which can be quite inconvenient</a:t>
            </a:r>
          </a:p>
          <a:p>
            <a:r>
              <a:rPr lang="en-US" dirty="0"/>
              <a:t>To use asymmetric key cryptography, one only needs to find the public key to communicate with someone else, which can be a lot more convenient</a:t>
            </a:r>
          </a:p>
          <a:p>
            <a:pPr marL="0" indent="0">
              <a:buNone/>
            </a:pPr>
            <a:r>
              <a:rPr lang="en-US" u="sng" dirty="0"/>
              <a:t>Which method performs better?</a:t>
            </a:r>
          </a:p>
          <a:p>
            <a:r>
              <a:rPr lang="en-US" dirty="0"/>
              <a:t>Encrypting and decrypting a lot of information with asymmetric key cryptography can be painfully slow in comparison to symmetric cryptography</a:t>
            </a:r>
            <a:endParaRPr lang="en-US" b="1" u="sng" dirty="0"/>
          </a:p>
        </p:txBody>
      </p:sp>
    </p:spTree>
    <p:extLst>
      <p:ext uri="{BB962C8B-B14F-4D97-AF65-F5344CB8AC3E}">
        <p14:creationId xmlns:p14="http://schemas.microsoft.com/office/powerpoint/2010/main" val="11639469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Hybrid Cryptography</a:t>
            </a:r>
            <a:endParaRPr lang="en-US" dirty="0"/>
          </a:p>
        </p:txBody>
      </p:sp>
      <p:sp>
        <p:nvSpPr>
          <p:cNvPr id="5" name="Content Placeholder 4"/>
          <p:cNvSpPr>
            <a:spLocks noGrp="1"/>
          </p:cNvSpPr>
          <p:nvPr>
            <p:ph idx="1"/>
          </p:nvPr>
        </p:nvSpPr>
        <p:spPr/>
        <p:txBody>
          <a:bodyPr>
            <a:normAutofit/>
          </a:bodyPr>
          <a:lstStyle/>
          <a:p>
            <a:r>
              <a:rPr lang="en-US" dirty="0" smtClean="0"/>
              <a:t>Ideally</a:t>
            </a:r>
            <a:r>
              <a:rPr lang="en-US" dirty="0"/>
              <a:t>, we would like to combine the strengths of symmetric and asymmetric key cryptography, and avoid their weaknesses</a:t>
            </a:r>
          </a:p>
          <a:p>
            <a:r>
              <a:rPr lang="en-US" dirty="0"/>
              <a:t>We want the efficiency of symmetric cryptography combined with the ease of use and convenience of asymmetric key cryptography</a:t>
            </a:r>
          </a:p>
          <a:p>
            <a:r>
              <a:rPr lang="en-US" dirty="0"/>
              <a:t>When two parties want to communicate securely, asymmetric key cryptography is used to exchange a random symmetric session key</a:t>
            </a:r>
          </a:p>
          <a:p>
            <a:r>
              <a:rPr lang="en-US" dirty="0"/>
              <a:t>Since the session key is encrypted, we can ensure secrecy and mutual authentication</a:t>
            </a:r>
          </a:p>
          <a:p>
            <a:r>
              <a:rPr lang="en-US" dirty="0"/>
              <a:t>Thus, key distribution and setup is easy and </a:t>
            </a:r>
            <a:r>
              <a:rPr lang="en-US" dirty="0" smtClean="0"/>
              <a:t>risk-free</a:t>
            </a:r>
            <a:endParaRPr lang="en-US" dirty="0"/>
          </a:p>
        </p:txBody>
      </p:sp>
    </p:spTree>
    <p:extLst>
      <p:ext uri="{BB962C8B-B14F-4D97-AF65-F5344CB8AC3E}">
        <p14:creationId xmlns:p14="http://schemas.microsoft.com/office/powerpoint/2010/main" val="35942164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Hybrid Cryptography</a:t>
            </a:r>
            <a:endParaRPr lang="en-US" dirty="0"/>
          </a:p>
        </p:txBody>
      </p:sp>
      <p:sp>
        <p:nvSpPr>
          <p:cNvPr id="5" name="Content Placeholder 4"/>
          <p:cNvSpPr>
            <a:spLocks noGrp="1"/>
          </p:cNvSpPr>
          <p:nvPr>
            <p:ph idx="1"/>
          </p:nvPr>
        </p:nvSpPr>
        <p:spPr/>
        <p:txBody>
          <a:bodyPr>
            <a:normAutofit lnSpcReduction="10000"/>
          </a:bodyPr>
          <a:lstStyle/>
          <a:p>
            <a:r>
              <a:rPr lang="en-US" dirty="0"/>
              <a:t>To communicate, symmetric cryptography is used with the session key</a:t>
            </a:r>
          </a:p>
          <a:p>
            <a:pPr lvl="1"/>
            <a:r>
              <a:rPr lang="en-US" dirty="0"/>
              <a:t>Since only these two parties know the session key, the messages are secure</a:t>
            </a:r>
          </a:p>
          <a:p>
            <a:pPr lvl="1"/>
            <a:r>
              <a:rPr lang="en-US" dirty="0"/>
              <a:t>Since secret key cryptography is used, this can be done relatively efficiently</a:t>
            </a:r>
          </a:p>
          <a:p>
            <a:r>
              <a:rPr lang="en-US" dirty="0"/>
              <a:t>When done, both parties destroy the session key.  If communication is required in the future, this process is repeated from the beginning to obtain a completely new session key</a:t>
            </a:r>
          </a:p>
          <a:p>
            <a:r>
              <a:rPr lang="en-US" dirty="0"/>
              <a:t>This general approach is used in </a:t>
            </a:r>
            <a:r>
              <a:rPr lang="en-US" b="1" dirty="0"/>
              <a:t>Pretty Good Privacy (PGP)</a:t>
            </a:r>
            <a:r>
              <a:rPr lang="en-US" dirty="0"/>
              <a:t> and </a:t>
            </a:r>
            <a:r>
              <a:rPr lang="en-US" dirty="0" smtClean="0"/>
              <a:t>elsewhere</a:t>
            </a:r>
          </a:p>
          <a:p>
            <a:endParaRPr lang="en-US" dirty="0"/>
          </a:p>
          <a:p>
            <a:r>
              <a:rPr lang="en-US" u="sng" dirty="0"/>
              <a:t>The fast encryption speed of symmetric ciphers is coupled with the security of asymmetric ciphers</a:t>
            </a:r>
          </a:p>
        </p:txBody>
      </p:sp>
    </p:spTree>
    <p:extLst>
      <p:ext uri="{BB962C8B-B14F-4D97-AF65-F5344CB8AC3E}">
        <p14:creationId xmlns:p14="http://schemas.microsoft.com/office/powerpoint/2010/main" val="11890324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custDataLst>
              <p:tags r:id="rId2"/>
            </p:custDataLst>
          </p:nvPr>
        </p:nvSpPr>
        <p:spPr/>
        <p:txBody>
          <a:bodyPr/>
          <a:lstStyle/>
          <a:p>
            <a:pPr>
              <a:defRPr/>
            </a:pPr>
            <a:r>
              <a:rPr lang="en-US" dirty="0" smtClean="0">
                <a:solidFill>
                  <a:srgbClr val="0070C0"/>
                </a:solidFill>
              </a:rPr>
              <a:t>THANKS</a:t>
            </a:r>
          </a:p>
        </p:txBody>
      </p:sp>
    </p:spTree>
    <p:custDataLst>
      <p:tags r:id="rId1"/>
    </p:custDataLst>
    <p:extLst>
      <p:ext uri="{BB962C8B-B14F-4D97-AF65-F5344CB8AC3E}">
        <p14:creationId xmlns:p14="http://schemas.microsoft.com/office/powerpoint/2010/main" val="3383540765"/>
      </p:ext>
    </p:ext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2.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ags/tag3.xml><?xml version="1.0" encoding="utf-8"?>
<p:tagLst xmlns:a="http://schemas.openxmlformats.org/drawingml/2006/main" xmlns:r="http://schemas.openxmlformats.org/officeDocument/2006/relationships" xmlns:p="http://schemas.openxmlformats.org/presentationml/2006/main">
  <p:tag name="DVSHAPEID" val="0uhWvCQomImT50qU5y4Znw"/>
</p:tagLst>
</file>

<file path=ppt/tags/tag4.xml><?xml version="1.0" encoding="utf-8"?>
<p:tagLst xmlns:a="http://schemas.openxmlformats.org/drawingml/2006/main" xmlns:r="http://schemas.openxmlformats.org/officeDocument/2006/relationships" xmlns:p="http://schemas.openxmlformats.org/presentationml/2006/main">
  <p:tag name="DVSECTIONID" val="c48BxRTjzwKhAarpC8SPOi"/>
</p:tagLst>
</file>

<file path=ppt/tags/tag5.xml><?xml version="1.0" encoding="utf-8"?>
<p:tagLst xmlns:a="http://schemas.openxmlformats.org/drawingml/2006/main" xmlns:r="http://schemas.openxmlformats.org/officeDocument/2006/relationships" xmlns:p="http://schemas.openxmlformats.org/presentationml/2006/main">
  <p:tag name="DVSHAPEID" val="GFUQynbDZ7CnnKAa7cx9M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1916</Words>
  <Application>Microsoft Office PowerPoint</Application>
  <PresentationFormat>On-screen Show (4:3)</PresentationFormat>
  <Paragraphs>251</Paragraphs>
  <Slides>34</Slides>
  <Notes>2</Notes>
  <HiddenSlides>0</HiddenSlides>
  <MMClips>0</MMClips>
  <ScaleCrop>false</ScaleCrop>
  <HeadingPairs>
    <vt:vector size="4" baseType="variant">
      <vt:variant>
        <vt:lpstr>Theme</vt:lpstr>
      </vt:variant>
      <vt:variant>
        <vt:i4>2</vt:i4>
      </vt:variant>
      <vt:variant>
        <vt:lpstr>Slide Titles</vt:lpstr>
      </vt:variant>
      <vt:variant>
        <vt:i4>34</vt:i4>
      </vt:variant>
    </vt:vector>
  </HeadingPairs>
  <TitlesOfParts>
    <vt:vector size="36" baseType="lpstr">
      <vt:lpstr>Office Theme</vt:lpstr>
      <vt:lpstr>Training</vt:lpstr>
      <vt:lpstr>CSC432 – information Security </vt:lpstr>
      <vt:lpstr>Asymmetric Key Cryptography and RSA</vt:lpstr>
      <vt:lpstr>Cryptography</vt:lpstr>
      <vt:lpstr>Issues with Symmetric Key Cryptography</vt:lpstr>
      <vt:lpstr>Diffie-Hellman Key Exchange</vt:lpstr>
      <vt:lpstr>Diffie-Hellman Key Exchange</vt:lpstr>
      <vt:lpstr>Diffie-Hellman Key Exchange – Example</vt:lpstr>
      <vt:lpstr>Diffie-Hellman Key Exchange</vt:lpstr>
      <vt:lpstr>Diffie-Hellman Key Exchange</vt:lpstr>
      <vt:lpstr>Diffie-Hellman Key Exchange</vt:lpstr>
      <vt:lpstr>Public Key Cryptography</vt:lpstr>
      <vt:lpstr>Birth of Public-Key Cryptosystems</vt:lpstr>
      <vt:lpstr>Principles of Public-Key Cryptography</vt:lpstr>
      <vt:lpstr>Principles of Public-Key Cryptography</vt:lpstr>
      <vt:lpstr>Prime Factorization</vt:lpstr>
      <vt:lpstr>RSA</vt:lpstr>
      <vt:lpstr>RSA</vt:lpstr>
      <vt:lpstr>RSA Cipher</vt:lpstr>
      <vt:lpstr>RSA Cipher</vt:lpstr>
      <vt:lpstr>RSA Cipher</vt:lpstr>
      <vt:lpstr>RSA Cipher</vt:lpstr>
      <vt:lpstr>RSA Cipher</vt:lpstr>
      <vt:lpstr>RSA Cipher</vt:lpstr>
      <vt:lpstr>RSA Cipher</vt:lpstr>
      <vt:lpstr>RSA Cipher – A Secure Cipher</vt:lpstr>
      <vt:lpstr>RSA-1024</vt:lpstr>
      <vt:lpstr>RSA Cipher – A Secure Cipher</vt:lpstr>
      <vt:lpstr>RSA Cipher – A Secure Cipher</vt:lpstr>
      <vt:lpstr>RSA Cipher – A Secure Cipher</vt:lpstr>
      <vt:lpstr>RSA Cipher – A Secure Cipher</vt:lpstr>
      <vt:lpstr>Symmetric VS Asymmetric Key Cryptography</vt:lpstr>
      <vt:lpstr>Hybrid Cryptography</vt:lpstr>
      <vt:lpstr>Hybrid Cryptography</vt:lpstr>
      <vt:lpstr>THANKS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CSC332 – Data Security  and Encryption</dc:title>
  <dc:creator>Dr. Ahmad</dc:creator>
  <cp:lastModifiedBy>Adnan</cp:lastModifiedBy>
  <cp:revision>31</cp:revision>
  <dcterms:created xsi:type="dcterms:W3CDTF">2006-08-16T00:00:00Z</dcterms:created>
  <dcterms:modified xsi:type="dcterms:W3CDTF">2022-09-20T07:56:53Z</dcterms:modified>
</cp:coreProperties>
</file>