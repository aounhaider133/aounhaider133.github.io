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43"/>
  </p:notesMasterIdLst>
  <p:sldIdLst>
    <p:sldId id="256" r:id="rId4"/>
    <p:sldId id="257" r:id="rId5"/>
    <p:sldId id="258" r:id="rId6"/>
    <p:sldId id="291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69" r:id="rId16"/>
    <p:sldId id="292" r:id="rId17"/>
    <p:sldId id="270" r:id="rId18"/>
    <p:sldId id="271" r:id="rId19"/>
    <p:sldId id="272" r:id="rId20"/>
    <p:sldId id="273" r:id="rId21"/>
    <p:sldId id="274" r:id="rId22"/>
    <p:sldId id="293" r:id="rId23"/>
    <p:sldId id="294" r:id="rId24"/>
    <p:sldId id="295" r:id="rId25"/>
    <p:sldId id="277" r:id="rId26"/>
    <p:sldId id="296" r:id="rId27"/>
    <p:sldId id="278" r:id="rId28"/>
    <p:sldId id="279" r:id="rId29"/>
    <p:sldId id="280" r:id="rId30"/>
    <p:sldId id="297" r:id="rId31"/>
    <p:sldId id="281" r:id="rId32"/>
    <p:sldId id="298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5409D-CC16-44EB-A470-4F2D844217B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DCA09-9390-401E-BB7A-CBAD810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4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06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038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78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91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78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379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349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570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32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707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576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6687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4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40239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7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5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06373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4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2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8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38142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180963"/>
      </p:ext>
    </p:extLst>
  </p:cSld>
  <p:clrMapOvr>
    <a:masterClrMapping/>
  </p:clrMapOvr>
  <p:transition spd="slow"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37572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54912"/>
      </p:ext>
    </p:extLst>
  </p:cSld>
  <p:clrMapOvr>
    <a:masterClrMapping/>
  </p:clrMapOvr>
  <p:transition spd="slow">
    <p:wipe dir="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95556"/>
      </p:ext>
    </p:extLst>
  </p:cSld>
  <p:clrMapOvr>
    <a:masterClrMapping/>
  </p:clrMapOvr>
  <p:transition spd="slow">
    <p:wipe dir="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2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726803"/>
      </p:ext>
    </p:extLst>
  </p:cSld>
  <p:clrMapOvr>
    <a:masterClrMapping/>
  </p:clrMapOvr>
  <p:transition spd="slow">
    <p:wipe dir="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87249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7967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4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4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4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8798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64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4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8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3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CSC348 – </a:t>
            </a: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Data Security </a:t>
            </a:r>
            <a:b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and Encryption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Adnan Ahmad</a:t>
            </a:r>
            <a:endParaRPr lang="en-US" sz="24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30152" y="4889212"/>
            <a:ext cx="2404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smtClean="0">
                <a:solidFill>
                  <a:srgbClr val="0070C0"/>
                </a:solidFill>
              </a:rPr>
              <a:t>AdnanAhmad@ciitlahore.edu.pk</a:t>
            </a:r>
            <a:endParaRPr lang="en-US" sz="1300" dirty="0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38223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6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Block Ciphers and 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8389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Ciphers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Stream </a:t>
            </a:r>
            <a:r>
              <a:rPr lang="en-US" b="1" u="sng" dirty="0" smtClean="0"/>
              <a:t>Ciphers</a:t>
            </a:r>
          </a:p>
          <a:p>
            <a:r>
              <a:rPr lang="en-US" dirty="0" smtClean="0"/>
              <a:t>Encrypts </a:t>
            </a:r>
            <a:r>
              <a:rPr lang="en-US" dirty="0"/>
              <a:t>a digital data stream one bit or one byte at a time</a:t>
            </a:r>
          </a:p>
          <a:p>
            <a:r>
              <a:rPr lang="en-US" dirty="0"/>
              <a:t>One time pad is </a:t>
            </a:r>
            <a:r>
              <a:rPr lang="en-US" dirty="0" smtClean="0"/>
              <a:t>an example</a:t>
            </a:r>
            <a:r>
              <a:rPr lang="en-US" dirty="0"/>
              <a:t>; but practical limitations</a:t>
            </a:r>
          </a:p>
          <a:p>
            <a:r>
              <a:rPr lang="en-US" dirty="0"/>
              <a:t>Typical approach for stream cipher:</a:t>
            </a:r>
          </a:p>
          <a:p>
            <a:pPr lvl="1"/>
            <a:r>
              <a:rPr lang="en-US" dirty="0"/>
              <a:t>Key </a:t>
            </a:r>
            <a:r>
              <a:rPr lang="en-US" dirty="0" smtClean="0"/>
              <a:t>(k) </a:t>
            </a:r>
            <a:r>
              <a:rPr lang="en-US" dirty="0"/>
              <a:t>used as input to bit-stream generator algorithm</a:t>
            </a:r>
          </a:p>
          <a:p>
            <a:pPr lvl="1"/>
            <a:r>
              <a:rPr lang="en-US" dirty="0"/>
              <a:t>Algorithm generates cryptographic bit stream (</a:t>
            </a:r>
            <a:r>
              <a:rPr lang="en-US" dirty="0" err="1" smtClean="0"/>
              <a:t>k</a:t>
            </a:r>
            <a:r>
              <a:rPr lang="en-US" baseline="-25000" dirty="0" err="1" smtClean="0"/>
              <a:t>i</a:t>
            </a:r>
            <a:r>
              <a:rPr lang="en-US" dirty="0" smtClean="0"/>
              <a:t>) </a:t>
            </a:r>
            <a:r>
              <a:rPr lang="en-US" dirty="0"/>
              <a:t>used to encrypt plaintext</a:t>
            </a:r>
          </a:p>
          <a:p>
            <a:pPr lvl="1"/>
            <a:r>
              <a:rPr lang="en-US" dirty="0"/>
              <a:t>Users share a key; use it to generate </a:t>
            </a:r>
            <a:r>
              <a:rPr lang="en-US" dirty="0" smtClean="0"/>
              <a:t>key-stream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1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Ciphers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Stream Ciphers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83" y="2057400"/>
            <a:ext cx="784391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4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Block Ciphers</a:t>
            </a:r>
          </a:p>
          <a:p>
            <a:r>
              <a:rPr lang="en-US" dirty="0"/>
              <a:t>Encrypt a block of plaintext as a whole to produce same sized </a:t>
            </a:r>
            <a:r>
              <a:rPr lang="en-US" dirty="0" err="1"/>
              <a:t>ciphertext</a:t>
            </a:r>
            <a:endParaRPr lang="en-US" dirty="0"/>
          </a:p>
          <a:p>
            <a:r>
              <a:rPr lang="en-US" dirty="0"/>
              <a:t>Typical block sizes are 64 or 128 bits</a:t>
            </a:r>
          </a:p>
          <a:p>
            <a:r>
              <a:rPr lang="en-US" dirty="0"/>
              <a:t>Modes of operation used to apply block ciphers to larger plaintexts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400" y="3516175"/>
            <a:ext cx="2429400" cy="318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3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Block Ciphers</a:t>
            </a:r>
          </a:p>
          <a:p>
            <a:r>
              <a:rPr lang="en-US" dirty="0"/>
              <a:t>n-bit block cipher takes </a:t>
            </a:r>
            <a:r>
              <a:rPr lang="en-US" dirty="0" smtClean="0"/>
              <a:t>n-bit </a:t>
            </a:r>
            <a:r>
              <a:rPr lang="en-US" dirty="0"/>
              <a:t>plaintext and produces </a:t>
            </a:r>
            <a:r>
              <a:rPr lang="en-US" dirty="0" smtClean="0"/>
              <a:t>n-bit </a:t>
            </a:r>
            <a:r>
              <a:rPr lang="en-US" dirty="0" err="1"/>
              <a:t>ciphertext</a:t>
            </a:r>
            <a:endParaRPr lang="en-US" dirty="0"/>
          </a:p>
          <a:p>
            <a:r>
              <a:rPr lang="en-US" dirty="0" smtClean="0"/>
              <a:t>Encryption </a:t>
            </a:r>
            <a:r>
              <a:rPr lang="en-US" dirty="0"/>
              <a:t>must be reversible (decryption possible)</a:t>
            </a:r>
          </a:p>
          <a:p>
            <a:r>
              <a:rPr lang="en-US" dirty="0"/>
              <a:t>Each plaintext block must produce unique </a:t>
            </a:r>
            <a:r>
              <a:rPr lang="en-US" dirty="0" err="1"/>
              <a:t>ciphertext</a:t>
            </a:r>
            <a:r>
              <a:rPr lang="en-US" dirty="0"/>
              <a:t> block</a:t>
            </a:r>
          </a:p>
          <a:p>
            <a:r>
              <a:rPr lang="en-US" dirty="0"/>
              <a:t>Total transformations </a:t>
            </a:r>
            <a:r>
              <a:rPr lang="en-US"/>
              <a:t>is </a:t>
            </a:r>
            <a:r>
              <a:rPr lang="en-US" smtClean="0"/>
              <a:t>2</a:t>
            </a:r>
            <a:r>
              <a:rPr lang="en-US" baseline="30000" smtClean="0"/>
              <a:t>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852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 Ideal </a:t>
            </a:r>
            <a:r>
              <a:rPr lang="en-US" u="sng" dirty="0"/>
              <a:t>Block Cipher</a:t>
            </a:r>
          </a:p>
          <a:p>
            <a:r>
              <a:rPr lang="en-US" dirty="0"/>
              <a:t>n-bit input maps to 2</a:t>
            </a:r>
            <a:r>
              <a:rPr lang="en-US" baseline="30000" dirty="0"/>
              <a:t>n</a:t>
            </a:r>
            <a:r>
              <a:rPr lang="en-US" dirty="0"/>
              <a:t> possible input states</a:t>
            </a:r>
          </a:p>
          <a:p>
            <a:r>
              <a:rPr lang="en-US" dirty="0"/>
              <a:t>Substitution used to produce 2</a:t>
            </a:r>
            <a:r>
              <a:rPr lang="en-US" baseline="30000" dirty="0"/>
              <a:t>n</a:t>
            </a:r>
            <a:r>
              <a:rPr lang="en-US" dirty="0"/>
              <a:t> output states</a:t>
            </a:r>
          </a:p>
          <a:p>
            <a:r>
              <a:rPr lang="en-US" dirty="0"/>
              <a:t>Output states map to n-bit output</a:t>
            </a:r>
          </a:p>
          <a:p>
            <a:r>
              <a:rPr lang="en-US" dirty="0" smtClean="0"/>
              <a:t>An ideal </a:t>
            </a:r>
            <a:r>
              <a:rPr lang="en-US" dirty="0"/>
              <a:t>block cipher allows maximum number of possible encryption mappings from plaintext </a:t>
            </a:r>
            <a:r>
              <a:rPr lang="en-US" dirty="0" smtClean="0"/>
              <a:t>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7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Lets see an example</a:t>
            </a:r>
            <a:endParaRPr lang="en-US" u="sng" dirty="0"/>
          </a:p>
          <a:p>
            <a:r>
              <a:rPr lang="en-US" dirty="0" smtClean="0"/>
              <a:t>4-bit input </a:t>
            </a:r>
            <a:r>
              <a:rPr lang="en-US" dirty="0"/>
              <a:t>= 16 different possible 4-bit </a:t>
            </a:r>
            <a:r>
              <a:rPr lang="en-US" dirty="0" smtClean="0"/>
              <a:t>patterns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24" y="2209804"/>
            <a:ext cx="4238386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4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 Ideal </a:t>
            </a:r>
            <a:r>
              <a:rPr lang="en-US" u="sng" dirty="0"/>
              <a:t>Block Cipher</a:t>
            </a:r>
          </a:p>
          <a:p>
            <a:r>
              <a:rPr lang="en-US" dirty="0" smtClean="0"/>
              <a:t>Problems </a:t>
            </a:r>
            <a:r>
              <a:rPr lang="en-US" dirty="0"/>
              <a:t>with </a:t>
            </a:r>
            <a:r>
              <a:rPr lang="en-US" dirty="0" smtClean="0"/>
              <a:t>this ideal </a:t>
            </a:r>
            <a:r>
              <a:rPr lang="en-US" dirty="0"/>
              <a:t>block cipher:</a:t>
            </a:r>
          </a:p>
          <a:p>
            <a:pPr lvl="1"/>
            <a:r>
              <a:rPr lang="en-US" sz="2400" dirty="0"/>
              <a:t>Small block </a:t>
            </a:r>
            <a:r>
              <a:rPr lang="en-US" sz="2400" dirty="0" smtClean="0"/>
              <a:t>size:</a:t>
            </a:r>
          </a:p>
          <a:p>
            <a:pPr lvl="2"/>
            <a:r>
              <a:rPr lang="en-US" sz="2000" dirty="0" smtClean="0"/>
              <a:t>equivalent </a:t>
            </a:r>
            <a:r>
              <a:rPr lang="en-US" sz="2000" dirty="0"/>
              <a:t>to classical </a:t>
            </a:r>
            <a:r>
              <a:rPr lang="en-US" sz="2000" dirty="0" smtClean="0"/>
              <a:t>substitution cipher</a:t>
            </a:r>
            <a:r>
              <a:rPr lang="en-US" sz="2000" dirty="0"/>
              <a:t>; cryptanalysis based on statistical characteristics feasible</a:t>
            </a:r>
          </a:p>
          <a:p>
            <a:pPr lvl="1"/>
            <a:r>
              <a:rPr lang="en-US" sz="2400" dirty="0"/>
              <a:t>Large block </a:t>
            </a:r>
            <a:r>
              <a:rPr lang="en-US" sz="2400" dirty="0" smtClean="0"/>
              <a:t>size:</a:t>
            </a:r>
          </a:p>
          <a:p>
            <a:pPr lvl="2"/>
            <a:r>
              <a:rPr lang="en-US" sz="2000" dirty="0" smtClean="0"/>
              <a:t>key </a:t>
            </a:r>
            <a:r>
              <a:rPr lang="en-US" sz="2000" dirty="0"/>
              <a:t>must be very large</a:t>
            </a:r>
            <a:r>
              <a:rPr lang="en-US" sz="2000" dirty="0" smtClean="0"/>
              <a:t>; performance/implementation </a:t>
            </a:r>
            <a:r>
              <a:rPr lang="en-US" sz="2000" dirty="0"/>
              <a:t>problems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450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Named after the IBM cryptographer Horst </a:t>
            </a:r>
            <a:r>
              <a:rPr lang="en-US" dirty="0" err="1"/>
              <a:t>Feistel</a:t>
            </a:r>
            <a:r>
              <a:rPr lang="en-US" dirty="0"/>
              <a:t> </a:t>
            </a:r>
            <a:r>
              <a:rPr lang="en-US" dirty="0" smtClean="0"/>
              <a:t>(early 70’s) and </a:t>
            </a:r>
            <a:r>
              <a:rPr lang="en-US" dirty="0"/>
              <a:t>first implemented in the Lucifer cipher by Horst </a:t>
            </a:r>
            <a:r>
              <a:rPr lang="en-US" dirty="0" err="1"/>
              <a:t>Feistel</a:t>
            </a:r>
            <a:r>
              <a:rPr lang="en-US" dirty="0"/>
              <a:t> and Don </a:t>
            </a:r>
            <a:r>
              <a:rPr lang="en-US" dirty="0" smtClean="0"/>
              <a:t>Coppersmith</a:t>
            </a:r>
          </a:p>
          <a:p>
            <a:r>
              <a:rPr lang="en-US" dirty="0" err="1"/>
              <a:t>Feistel</a:t>
            </a:r>
            <a:r>
              <a:rPr lang="en-US" dirty="0"/>
              <a:t> proposed applying two or more simple ciphers in sequence </a:t>
            </a:r>
            <a:r>
              <a:rPr lang="en-US" dirty="0" smtClean="0"/>
              <a:t>so final </a:t>
            </a:r>
            <a:r>
              <a:rPr lang="en-US" dirty="0"/>
              <a:t>result is cryptographically stronger than component ciphers</a:t>
            </a:r>
          </a:p>
          <a:p>
            <a:r>
              <a:rPr lang="en-US" dirty="0"/>
              <a:t>n-bit block length; k-bit key length; 2</a:t>
            </a:r>
            <a:r>
              <a:rPr lang="en-US" baseline="30000" dirty="0"/>
              <a:t>k</a:t>
            </a:r>
            <a:r>
              <a:rPr lang="en-US" dirty="0"/>
              <a:t> transformations</a:t>
            </a:r>
          </a:p>
          <a:p>
            <a:r>
              <a:rPr lang="en-US" dirty="0" err="1"/>
              <a:t>Feistel</a:t>
            </a:r>
            <a:r>
              <a:rPr lang="en-US" dirty="0"/>
              <a:t> cipher alternates: substitutions, transpositions</a:t>
            </a:r>
          </a:p>
          <a:p>
            <a:r>
              <a:rPr lang="en-US" dirty="0"/>
              <a:t>Applies concepts of </a:t>
            </a:r>
            <a:r>
              <a:rPr lang="en-US" u="sng" dirty="0"/>
              <a:t>confusion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u="sng" dirty="0" smtClean="0"/>
              <a:t>diffusion</a:t>
            </a:r>
            <a:endParaRPr lang="en-US" u="sng" dirty="0"/>
          </a:p>
          <a:p>
            <a:r>
              <a:rPr lang="en-US" dirty="0"/>
              <a:t>Applied in many ciphers </a:t>
            </a:r>
            <a:r>
              <a:rPr lang="en-US" dirty="0" smtClean="0"/>
              <a:t>today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608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Approach:</a:t>
            </a:r>
          </a:p>
          <a:p>
            <a:pPr lvl="1"/>
            <a:r>
              <a:rPr lang="en-US" sz="2400" dirty="0"/>
              <a:t>Plaintext split into </a:t>
            </a:r>
            <a:r>
              <a:rPr lang="en-US" sz="2400" dirty="0" smtClean="0"/>
              <a:t>two halves</a:t>
            </a:r>
            <a:endParaRPr lang="en-US" sz="2400" dirty="0"/>
          </a:p>
          <a:p>
            <a:pPr lvl="1"/>
            <a:r>
              <a:rPr lang="en-US" sz="2400" dirty="0" err="1"/>
              <a:t>Subkeys</a:t>
            </a:r>
            <a:r>
              <a:rPr lang="en-US" sz="2400" dirty="0"/>
              <a:t> (or round keys) generated from key</a:t>
            </a:r>
          </a:p>
          <a:p>
            <a:pPr lvl="1"/>
            <a:r>
              <a:rPr lang="en-US" sz="2400" dirty="0"/>
              <a:t>Round function, F, applied to right half</a:t>
            </a:r>
          </a:p>
          <a:p>
            <a:pPr lvl="1"/>
            <a:r>
              <a:rPr lang="en-US" sz="2400" dirty="0"/>
              <a:t>Apply substitution on left half using XOR</a:t>
            </a:r>
          </a:p>
          <a:p>
            <a:pPr lvl="1"/>
            <a:r>
              <a:rPr lang="en-US" sz="2400" dirty="0"/>
              <a:t>Apply </a:t>
            </a:r>
            <a:r>
              <a:rPr lang="en-US" sz="2400" dirty="0" smtClean="0"/>
              <a:t>permutation by interchanging two halves</a:t>
            </a:r>
          </a:p>
          <a:p>
            <a:pPr lvl="1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755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19205"/>
            <a:ext cx="2914650" cy="535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886200" y="1676400"/>
            <a:ext cx="1314450" cy="19812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971550" y="1371600"/>
            <a:ext cx="291465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971550" y="3657600"/>
            <a:ext cx="2914650" cy="1964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2" y="1371600"/>
            <a:ext cx="2722149" cy="42506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4" name="Straight Connector 13"/>
          <p:cNvCxnSpPr/>
          <p:nvPr/>
        </p:nvCxnSpPr>
        <p:spPr>
          <a:xfrm flipH="1">
            <a:off x="3693701" y="3657600"/>
            <a:ext cx="1506951" cy="19944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3657600" y="1364716"/>
            <a:ext cx="1543050" cy="3116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Diffusion</a:t>
            </a:r>
          </a:p>
          <a:p>
            <a:r>
              <a:rPr lang="en-US" dirty="0"/>
              <a:t>Statistical nature of plaintext is reduced in </a:t>
            </a:r>
            <a:r>
              <a:rPr lang="en-US" dirty="0" err="1" smtClean="0"/>
              <a:t>ciphertext</a:t>
            </a:r>
            <a:endParaRPr lang="en-US" dirty="0" smtClean="0"/>
          </a:p>
          <a:p>
            <a:pPr lvl="1"/>
            <a:r>
              <a:rPr lang="en-US" dirty="0" smtClean="0"/>
              <a:t>Output should be dependent on the input in a complex way</a:t>
            </a:r>
            <a:endParaRPr lang="en-US" dirty="0"/>
          </a:p>
          <a:p>
            <a:r>
              <a:rPr lang="en-US" dirty="0"/>
              <a:t>E.g. A plaintext letter </a:t>
            </a:r>
            <a:r>
              <a:rPr lang="en-US" dirty="0" smtClean="0"/>
              <a:t>affects </a:t>
            </a:r>
            <a:r>
              <a:rPr lang="en-US" dirty="0"/>
              <a:t>the value of many </a:t>
            </a:r>
            <a:r>
              <a:rPr lang="en-US" dirty="0" err="1"/>
              <a:t>ciphertext</a:t>
            </a:r>
            <a:r>
              <a:rPr lang="en-US" dirty="0"/>
              <a:t> </a:t>
            </a:r>
            <a:r>
              <a:rPr lang="en-US" dirty="0" smtClean="0"/>
              <a:t>letters</a:t>
            </a:r>
          </a:p>
          <a:p>
            <a:r>
              <a:rPr lang="en-US" dirty="0" smtClean="0"/>
              <a:t>One bit change in the input modifies 50% of the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56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Confusion</a:t>
            </a:r>
            <a:endParaRPr lang="en-US" u="sng" dirty="0"/>
          </a:p>
          <a:p>
            <a:r>
              <a:rPr lang="en-US" dirty="0"/>
              <a:t>Make relationship between </a:t>
            </a:r>
            <a:r>
              <a:rPr lang="en-US" dirty="0" err="1"/>
              <a:t>ciphertext</a:t>
            </a:r>
            <a:r>
              <a:rPr lang="en-US" dirty="0"/>
              <a:t> and key as complex as </a:t>
            </a:r>
            <a:r>
              <a:rPr lang="en-US" dirty="0" smtClean="0"/>
              <a:t>possible</a:t>
            </a:r>
          </a:p>
          <a:p>
            <a:r>
              <a:rPr lang="en-US" dirty="0" smtClean="0"/>
              <a:t>Even </a:t>
            </a:r>
            <a:r>
              <a:rPr lang="en-US" dirty="0"/>
              <a:t>if attacker </a:t>
            </a:r>
            <a:r>
              <a:rPr lang="en-US" dirty="0" smtClean="0"/>
              <a:t>can find </a:t>
            </a:r>
            <a:r>
              <a:rPr lang="en-US" dirty="0"/>
              <a:t>some statistical characteristics of </a:t>
            </a:r>
            <a:r>
              <a:rPr lang="en-US" dirty="0" err="1"/>
              <a:t>ciphertext</a:t>
            </a:r>
            <a:r>
              <a:rPr lang="en-US" dirty="0"/>
              <a:t>, still hard to find </a:t>
            </a:r>
            <a:r>
              <a:rPr lang="en-US" dirty="0" smtClean="0"/>
              <a:t>key</a:t>
            </a:r>
          </a:p>
          <a:p>
            <a:r>
              <a:rPr lang="en-US" dirty="0" smtClean="0"/>
              <a:t>Cannot find the key based on the </a:t>
            </a:r>
            <a:r>
              <a:rPr lang="en-US" dirty="0" err="1" smtClean="0"/>
              <a:t>ciphertext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0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Feistel</a:t>
            </a:r>
            <a:r>
              <a:rPr lang="en-US" dirty="0"/>
              <a:t> Structure for Block Ciphers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Using </a:t>
            </a:r>
            <a:r>
              <a:rPr lang="en-US" b="1" dirty="0"/>
              <a:t>the </a:t>
            </a:r>
            <a:r>
              <a:rPr lang="en-US" b="1" dirty="0" err="1"/>
              <a:t>Feistel</a:t>
            </a:r>
            <a:r>
              <a:rPr lang="en-US" b="1" dirty="0"/>
              <a:t> Structure</a:t>
            </a:r>
          </a:p>
          <a:p>
            <a:r>
              <a:rPr lang="en-US" dirty="0"/>
              <a:t>Exact implementation depends on various design features</a:t>
            </a:r>
          </a:p>
          <a:p>
            <a:r>
              <a:rPr lang="en-US" dirty="0"/>
              <a:t>Block size, e.g. 64, 128 </a:t>
            </a:r>
            <a:r>
              <a:rPr lang="en-US" dirty="0" smtClean="0"/>
              <a:t>bits, </a:t>
            </a:r>
            <a:r>
              <a:rPr lang="en-US" dirty="0"/>
              <a:t>larger values leads to more diffusion</a:t>
            </a:r>
          </a:p>
          <a:p>
            <a:r>
              <a:rPr lang="en-US" dirty="0"/>
              <a:t>Key size, e.g. 128 </a:t>
            </a:r>
            <a:r>
              <a:rPr lang="en-US" dirty="0" smtClean="0"/>
              <a:t>bits, </a:t>
            </a:r>
            <a:r>
              <a:rPr lang="en-US" dirty="0"/>
              <a:t>larger values leads to more confusion, resistance against brute force</a:t>
            </a:r>
          </a:p>
          <a:p>
            <a:r>
              <a:rPr lang="en-US" dirty="0"/>
              <a:t>Number of rounds, e.g. 16 rounds</a:t>
            </a:r>
          </a:p>
          <a:p>
            <a:r>
              <a:rPr lang="en-US" dirty="0" err="1"/>
              <a:t>Subkey</a:t>
            </a:r>
            <a:r>
              <a:rPr lang="en-US" dirty="0"/>
              <a:t> generation </a:t>
            </a:r>
            <a:r>
              <a:rPr lang="en-US" dirty="0" smtClean="0"/>
              <a:t>algorithm, should </a:t>
            </a:r>
            <a:r>
              <a:rPr lang="en-US" dirty="0"/>
              <a:t>be complex</a:t>
            </a:r>
          </a:p>
          <a:p>
            <a:r>
              <a:rPr lang="en-US" dirty="0"/>
              <a:t>Round function </a:t>
            </a:r>
            <a:r>
              <a:rPr lang="en-US" dirty="0" smtClean="0"/>
              <a:t>F, </a:t>
            </a:r>
            <a:r>
              <a:rPr lang="en-US" dirty="0"/>
              <a:t>should be complex</a:t>
            </a:r>
          </a:p>
          <a:p>
            <a:r>
              <a:rPr lang="en-US" dirty="0"/>
              <a:t>Other factors include fast encryption in software and ease of analysis</a:t>
            </a:r>
          </a:p>
          <a:p>
            <a:r>
              <a:rPr lang="en-US" dirty="0"/>
              <a:t>Tradeoff: </a:t>
            </a:r>
            <a:r>
              <a:rPr lang="en-US" u="sng" dirty="0"/>
              <a:t>security vs performance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7308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0" y="3200404"/>
            <a:ext cx="4972050" cy="8286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Encryption Standard</a:t>
            </a:r>
          </a:p>
        </p:txBody>
      </p:sp>
    </p:spTree>
    <p:extLst>
      <p:ext uri="{BB962C8B-B14F-4D97-AF65-F5344CB8AC3E}">
        <p14:creationId xmlns:p14="http://schemas.microsoft.com/office/powerpoint/2010/main" val="4720304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most used encryption systems in world</a:t>
            </a:r>
          </a:p>
          <a:p>
            <a:r>
              <a:rPr lang="en-US" dirty="0"/>
              <a:t>Designed by IBM (Lucifer) with input from </a:t>
            </a:r>
            <a:r>
              <a:rPr lang="en-US" dirty="0" smtClean="0"/>
              <a:t>NSA</a:t>
            </a:r>
            <a:endParaRPr lang="en-US" dirty="0"/>
          </a:p>
          <a:p>
            <a:r>
              <a:rPr lang="en-US" dirty="0" smtClean="0"/>
              <a:t>Adopted/published </a:t>
            </a:r>
            <a:r>
              <a:rPr lang="en-US" dirty="0"/>
              <a:t>by National Bureau of </a:t>
            </a:r>
            <a:r>
              <a:rPr lang="en-US" dirty="0" smtClean="0"/>
              <a:t>Standards (NBS) </a:t>
            </a:r>
            <a:r>
              <a:rPr lang="en-US" dirty="0"/>
              <a:t>now National Institute of Standards and Technology </a:t>
            </a:r>
            <a:r>
              <a:rPr lang="en-US" dirty="0" smtClean="0"/>
              <a:t>(NIST) in </a:t>
            </a:r>
            <a:r>
              <a:rPr lang="en-US" dirty="0"/>
              <a:t>1977</a:t>
            </a:r>
          </a:p>
          <a:p>
            <a:r>
              <a:rPr lang="en-US" dirty="0"/>
              <a:t>For commercial and unclassified government applications</a:t>
            </a:r>
          </a:p>
          <a:p>
            <a:r>
              <a:rPr lang="en-US" dirty="0"/>
              <a:t>Efficient hardware implementation</a:t>
            </a:r>
          </a:p>
          <a:p>
            <a:r>
              <a:rPr lang="en-US" dirty="0" smtClean="0"/>
              <a:t>Electronic </a:t>
            </a:r>
            <a:r>
              <a:rPr lang="en-US" dirty="0"/>
              <a:t>payment industry (ATM machines) uses </a:t>
            </a:r>
            <a:r>
              <a:rPr lang="en-US" dirty="0" smtClean="0"/>
              <a:t>DES</a:t>
            </a:r>
          </a:p>
          <a:p>
            <a:r>
              <a:rPr lang="en-US" dirty="0" smtClean="0"/>
              <a:t>Microsoft </a:t>
            </a:r>
            <a:r>
              <a:rPr lang="en-US" dirty="0"/>
              <a:t>OneNote, Outlook use DES to password protect user content and system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1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56-bit key, 64-bit input block, 64-bit output block</a:t>
            </a:r>
          </a:p>
          <a:p>
            <a:r>
              <a:rPr lang="en-US" dirty="0"/>
              <a:t>The key itself is specified with 8 bytes, but one bit of each byte is used as a parity check</a:t>
            </a:r>
          </a:p>
          <a:p>
            <a:r>
              <a:rPr lang="en-US" dirty="0"/>
              <a:t>Uses the </a:t>
            </a:r>
            <a:r>
              <a:rPr lang="en-US" dirty="0" err="1"/>
              <a:t>Feistel</a:t>
            </a:r>
            <a:r>
              <a:rPr lang="en-US" dirty="0"/>
              <a:t> structure with 16 rounds</a:t>
            </a:r>
          </a:p>
          <a:p>
            <a:r>
              <a:rPr lang="en-US" dirty="0"/>
              <a:t>Specific to DES is;</a:t>
            </a:r>
          </a:p>
          <a:p>
            <a:pPr marL="914400" lvl="2" indent="-457200"/>
            <a:r>
              <a:rPr lang="en-US" sz="2400" dirty="0" smtClean="0"/>
              <a:t>Implementation </a:t>
            </a:r>
            <a:r>
              <a:rPr lang="en-US" sz="2400" dirty="0"/>
              <a:t>of the F function (</a:t>
            </a:r>
            <a:r>
              <a:rPr lang="en-US" sz="2400" dirty="0" err="1"/>
              <a:t>Mangler</a:t>
            </a:r>
            <a:r>
              <a:rPr lang="en-US" sz="2400" dirty="0"/>
              <a:t> function) in the algorithm</a:t>
            </a:r>
          </a:p>
          <a:p>
            <a:pPr marL="914400" lvl="2" indent="-457200"/>
            <a:r>
              <a:rPr lang="en-US" sz="2400" dirty="0" smtClean="0"/>
              <a:t>How </a:t>
            </a:r>
            <a:r>
              <a:rPr lang="en-US" sz="2400" dirty="0"/>
              <a:t>round keys are derived from the main encryption key</a:t>
            </a:r>
            <a:endParaRPr lang="en-US" sz="2200" dirty="0"/>
          </a:p>
          <a:p>
            <a:endParaRPr lang="en-US" dirty="0"/>
          </a:p>
          <a:p>
            <a:r>
              <a:rPr lang="en-US" dirty="0"/>
              <a:t>Round keys are generated from the main key by a sequence of permutations</a:t>
            </a:r>
          </a:p>
          <a:p>
            <a:r>
              <a:rPr lang="en-US" dirty="0"/>
              <a:t>Each round key is 48 bits in length</a:t>
            </a:r>
          </a:p>
        </p:txBody>
      </p:sp>
    </p:spTree>
    <p:extLst>
      <p:ext uri="{BB962C8B-B14F-4D97-AF65-F5344CB8AC3E}">
        <p14:creationId xmlns:p14="http://schemas.microsoft.com/office/powerpoint/2010/main" val="172674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Single </a:t>
            </a:r>
            <a:r>
              <a:rPr lang="en-US" dirty="0"/>
              <a:t>round of </a:t>
            </a:r>
            <a:r>
              <a:rPr lang="en-US" dirty="0" smtClean="0"/>
              <a:t>DES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1996440"/>
            <a:ext cx="1828800" cy="310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DES</a:t>
            </a:r>
          </a:p>
          <a:p>
            <a:pPr algn="ctr"/>
            <a:r>
              <a:rPr lang="en-US" dirty="0" err="1">
                <a:solidFill>
                  <a:prstClr val="black"/>
                </a:solidFill>
              </a:rPr>
              <a:t>Mangler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Function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67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182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32-bit right half of the 64-bit input data block is expanded into a 48-bit block. This is referred to as the expansion permutation step (</a:t>
            </a:r>
            <a:r>
              <a:rPr lang="en-US" b="1" dirty="0"/>
              <a:t>E-step)</a:t>
            </a:r>
          </a:p>
        </p:txBody>
      </p:sp>
      <p:cxnSp>
        <p:nvCxnSpPr>
          <p:cNvPr id="8" name="Straight Connector 7"/>
          <p:cNvCxnSpPr>
            <a:stCxn id="6" idx="3"/>
          </p:cNvCxnSpPr>
          <p:nvPr/>
        </p:nvCxnSpPr>
        <p:spPr>
          <a:xfrm>
            <a:off x="5181600" y="2290465"/>
            <a:ext cx="1524000" cy="147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9600" y="2819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56-bit key is permuted/contracted to yield a 48-bit round key</a:t>
            </a:r>
            <a:endParaRPr lang="en-US" sz="1600" dirty="0"/>
          </a:p>
        </p:txBody>
      </p:sp>
      <p:cxnSp>
        <p:nvCxnSpPr>
          <p:cNvPr id="11" name="Straight Connector 10"/>
          <p:cNvCxnSpPr>
            <a:stCxn id="9" idx="3"/>
          </p:cNvCxnSpPr>
          <p:nvPr/>
        </p:nvCxnSpPr>
        <p:spPr>
          <a:xfrm flipV="1">
            <a:off x="5181600" y="2819400"/>
            <a:ext cx="3485535" cy="323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9600" y="357247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48 bits of the expanded output produced by the E-step are </a:t>
            </a:r>
            <a:r>
              <a:rPr lang="en-US" dirty="0" err="1"/>
              <a:t>XORed</a:t>
            </a:r>
            <a:r>
              <a:rPr lang="en-US" dirty="0"/>
              <a:t> with the round key. This is referred to as </a:t>
            </a:r>
            <a:r>
              <a:rPr lang="en-US" b="1" dirty="0"/>
              <a:t>key mixing</a:t>
            </a:r>
          </a:p>
        </p:txBody>
      </p:sp>
      <p:cxnSp>
        <p:nvCxnSpPr>
          <p:cNvPr id="14" name="Straight Connector 13"/>
          <p:cNvCxnSpPr>
            <a:stCxn id="12" idx="3"/>
          </p:cNvCxnSpPr>
          <p:nvPr/>
        </p:nvCxnSpPr>
        <p:spPr>
          <a:xfrm flipV="1">
            <a:off x="5181600" y="3276600"/>
            <a:ext cx="1943100" cy="757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9600" y="44958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Output (of the above step) is broken into eight 6-bit words. Each 6-bit word goes through a </a:t>
            </a:r>
            <a:r>
              <a:rPr lang="en-US" b="1" dirty="0"/>
              <a:t>substitution step</a:t>
            </a:r>
            <a:r>
              <a:rPr lang="en-US" dirty="0"/>
              <a:t>, where it is replaced with a 4-bit word. The substitution is carried out with an </a:t>
            </a:r>
            <a:r>
              <a:rPr lang="en-US" u="sng" dirty="0"/>
              <a:t>S-box</a:t>
            </a:r>
          </a:p>
        </p:txBody>
      </p:sp>
      <p:cxnSp>
        <p:nvCxnSpPr>
          <p:cNvPr id="18" name="Straight Connector 17"/>
          <p:cNvCxnSpPr>
            <a:stCxn id="17" idx="3"/>
          </p:cNvCxnSpPr>
          <p:nvPr/>
        </p:nvCxnSpPr>
        <p:spPr>
          <a:xfrm flipV="1">
            <a:off x="5181600" y="4010416"/>
            <a:ext cx="1524000" cy="122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9600" y="597312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32-bit word (resulted from the above step) then go through a </a:t>
            </a:r>
            <a:r>
              <a:rPr lang="en-US" b="1" dirty="0"/>
              <a:t>P-box based permutation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4800600" y="4774840"/>
            <a:ext cx="1905000" cy="1397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33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7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Single </a:t>
            </a:r>
            <a:r>
              <a:rPr lang="en-US" dirty="0"/>
              <a:t>round of </a:t>
            </a:r>
            <a:r>
              <a:rPr lang="en-US" dirty="0" smtClean="0"/>
              <a:t>DES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1996440"/>
            <a:ext cx="1828800" cy="310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DES</a:t>
            </a:r>
          </a:p>
          <a:p>
            <a:pPr algn="ctr"/>
            <a:r>
              <a:rPr lang="en-US" dirty="0" err="1">
                <a:solidFill>
                  <a:prstClr val="black"/>
                </a:solidFill>
              </a:rPr>
              <a:t>Mangler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Function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40104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Output from the F function is then </a:t>
            </a:r>
            <a:r>
              <a:rPr lang="en-US" dirty="0" err="1"/>
              <a:t>XORed</a:t>
            </a:r>
            <a:r>
              <a:rPr lang="en-US" dirty="0"/>
              <a:t> with the left half (32-bit) of the 64-bit input block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181600" y="4333581"/>
            <a:ext cx="1943100" cy="115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7142" y="478223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Output of this </a:t>
            </a:r>
            <a:r>
              <a:rPr lang="en-US" dirty="0" err="1"/>
              <a:t>XORing</a:t>
            </a:r>
            <a:r>
              <a:rPr lang="en-US" dirty="0"/>
              <a:t> operation gives the right half block for the next round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179142" y="5105399"/>
            <a:ext cx="2136058" cy="1143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9600" y="56020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Left half of the next round is the right half of the previous round</a:t>
            </a:r>
          </a:p>
        </p:txBody>
      </p:sp>
      <p:cxnSp>
        <p:nvCxnSpPr>
          <p:cNvPr id="14" name="Straight Connector 13"/>
          <p:cNvCxnSpPr>
            <a:stCxn id="13" idx="3"/>
          </p:cNvCxnSpPr>
          <p:nvPr/>
        </p:nvCxnSpPr>
        <p:spPr>
          <a:xfrm>
            <a:off x="5181600" y="5925235"/>
            <a:ext cx="457200" cy="323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3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1828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32-bit right half of the 64-bit input data block is expanded into a 48-bit block. This is referred to as the expansion permutation step (</a:t>
            </a:r>
            <a:r>
              <a:rPr lang="en-US" b="1" dirty="0"/>
              <a:t>E-step)</a:t>
            </a:r>
          </a:p>
        </p:txBody>
      </p:sp>
      <p:cxnSp>
        <p:nvCxnSpPr>
          <p:cNvPr id="8" name="Straight Connector 7"/>
          <p:cNvCxnSpPr>
            <a:stCxn id="6" idx="3"/>
          </p:cNvCxnSpPr>
          <p:nvPr/>
        </p:nvCxnSpPr>
        <p:spPr>
          <a:xfrm>
            <a:off x="5181600" y="2290465"/>
            <a:ext cx="1524000" cy="147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3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Expansion </a:t>
            </a:r>
            <a:r>
              <a:rPr lang="en-US" u="sng" dirty="0"/>
              <a:t>permutation </a:t>
            </a:r>
            <a:r>
              <a:rPr lang="en-US" u="sng" dirty="0" smtClean="0"/>
              <a:t>step</a:t>
            </a:r>
            <a:r>
              <a:rPr lang="en-US" u="sng" dirty="0"/>
              <a:t> </a:t>
            </a:r>
            <a:r>
              <a:rPr lang="en-US" u="sng" dirty="0" smtClean="0"/>
              <a:t>(E-step)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Divide </a:t>
            </a:r>
            <a:r>
              <a:rPr lang="en-US" dirty="0"/>
              <a:t>the 32-bit block into eight 4-bit words</a:t>
            </a:r>
          </a:p>
          <a:p>
            <a:r>
              <a:rPr lang="en-US" dirty="0" smtClean="0"/>
              <a:t>Attach </a:t>
            </a:r>
            <a:r>
              <a:rPr lang="en-US" dirty="0"/>
              <a:t>an additional bit on the left to each 4-bit word that is the last bit of the previous 4-bit word</a:t>
            </a:r>
          </a:p>
          <a:p>
            <a:r>
              <a:rPr lang="en-US" dirty="0" smtClean="0"/>
              <a:t>Attach </a:t>
            </a:r>
            <a:r>
              <a:rPr lang="en-US" dirty="0"/>
              <a:t>an additional bit to the right of each 4-bit word that is the beginning bit of the next 4-bit word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2" y="1752605"/>
            <a:ext cx="5870181" cy="2050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578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09600" y="44958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Output (of the above step) is broken into eight 6-bit words. Each 6-bit word goes through a </a:t>
            </a:r>
            <a:r>
              <a:rPr lang="en-US" b="1" dirty="0"/>
              <a:t>substitution step</a:t>
            </a:r>
            <a:r>
              <a:rPr lang="en-US" dirty="0"/>
              <a:t>, where it is replaced with a 4-bit word. The substitution is carried out with an </a:t>
            </a:r>
            <a:r>
              <a:rPr lang="en-US" u="sng" dirty="0"/>
              <a:t>S-box</a:t>
            </a:r>
          </a:p>
        </p:txBody>
      </p:sp>
      <p:cxnSp>
        <p:nvCxnSpPr>
          <p:cNvPr id="18" name="Straight Connector 17"/>
          <p:cNvCxnSpPr>
            <a:stCxn id="17" idx="3"/>
          </p:cNvCxnSpPr>
          <p:nvPr/>
        </p:nvCxnSpPr>
        <p:spPr>
          <a:xfrm flipV="1">
            <a:off x="5181600" y="4010416"/>
            <a:ext cx="1524000" cy="122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3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S-box </a:t>
            </a:r>
            <a:r>
              <a:rPr lang="en-US" u="sng" dirty="0"/>
              <a:t>substitution step</a:t>
            </a:r>
            <a:endParaRPr lang="en-US" u="sng" dirty="0" smtClean="0"/>
          </a:p>
          <a:p>
            <a:r>
              <a:rPr lang="en-US" dirty="0" smtClean="0"/>
              <a:t>48-bit </a:t>
            </a:r>
            <a:r>
              <a:rPr lang="en-US" dirty="0"/>
              <a:t>input word is divided into eight 6-bit words</a:t>
            </a:r>
          </a:p>
          <a:p>
            <a:r>
              <a:rPr lang="en-US" dirty="0" smtClean="0"/>
              <a:t>Each </a:t>
            </a:r>
            <a:r>
              <a:rPr lang="en-US" dirty="0"/>
              <a:t>6-bit word fed into a separate S-box</a:t>
            </a:r>
          </a:p>
          <a:p>
            <a:r>
              <a:rPr lang="en-US" dirty="0"/>
              <a:t>Each S-box produces a 4-bit output</a:t>
            </a:r>
          </a:p>
          <a:p>
            <a:r>
              <a:rPr lang="en-US" dirty="0"/>
              <a:t>8 S-boxes together generate a 32-bit output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152" y="3657604"/>
            <a:ext cx="4465563" cy="295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6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S-box </a:t>
            </a:r>
            <a:r>
              <a:rPr lang="en-US" u="sng" dirty="0"/>
              <a:t>substitution step</a:t>
            </a:r>
            <a:endParaRPr lang="en-US" u="sng" dirty="0" smtClean="0"/>
          </a:p>
          <a:p>
            <a:r>
              <a:rPr lang="en-US" dirty="0"/>
              <a:t>Each of the eight S-boxes consists of a 4×16 table </a:t>
            </a:r>
            <a:r>
              <a:rPr lang="en-US" dirty="0" smtClean="0"/>
              <a:t>lookup</a:t>
            </a:r>
          </a:p>
          <a:p>
            <a:r>
              <a:rPr lang="en-US" dirty="0"/>
              <a:t>F</a:t>
            </a:r>
            <a:r>
              <a:rPr lang="en-US" dirty="0" smtClean="0"/>
              <a:t>irst </a:t>
            </a:r>
            <a:r>
              <a:rPr lang="en-US" dirty="0"/>
              <a:t>and </a:t>
            </a:r>
            <a:r>
              <a:rPr lang="en-US" dirty="0" smtClean="0"/>
              <a:t>last </a:t>
            </a:r>
            <a:r>
              <a:rPr lang="en-US" dirty="0"/>
              <a:t>bit of </a:t>
            </a:r>
            <a:r>
              <a:rPr lang="en-US" dirty="0" smtClean="0"/>
              <a:t>each </a:t>
            </a:r>
            <a:r>
              <a:rPr lang="en-US" dirty="0"/>
              <a:t>6-bit </a:t>
            </a:r>
            <a:r>
              <a:rPr lang="en-US" dirty="0" smtClean="0"/>
              <a:t>input word </a:t>
            </a:r>
            <a:r>
              <a:rPr lang="en-US" dirty="0"/>
              <a:t>are decoded into one of 4 rows and the middle 4 bits </a:t>
            </a:r>
            <a:r>
              <a:rPr lang="en-US" dirty="0" smtClean="0"/>
              <a:t>decoded into </a:t>
            </a:r>
            <a:r>
              <a:rPr lang="en-US" dirty="0"/>
              <a:t>one of 16 columns for the table </a:t>
            </a:r>
            <a:r>
              <a:rPr lang="en-US" dirty="0" smtClean="0"/>
              <a:t>lookup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81400"/>
            <a:ext cx="1714500" cy="34834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390011"/>
              </p:ext>
            </p:extLst>
          </p:nvPr>
        </p:nvGraphicFramePr>
        <p:xfrm>
          <a:off x="3086102" y="3581400"/>
          <a:ext cx="5667439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309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44091"/>
                <a:gridCol w="316765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0000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0001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0010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0011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0100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0101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0110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0111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1000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1001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1010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1011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1100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1101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1110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1111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01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10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11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75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Eight </a:t>
            </a:r>
            <a:r>
              <a:rPr lang="en-US" dirty="0"/>
              <a:t>S-boxes, S1 through S8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60" y="2057400"/>
            <a:ext cx="3986640" cy="4114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805" y="2057400"/>
            <a:ext cx="40057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09600" y="597312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32-bit word (resulted from the above step) then go through a </a:t>
            </a:r>
            <a:r>
              <a:rPr lang="en-US" b="1" dirty="0"/>
              <a:t>P-box based permutation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4800600" y="4774840"/>
            <a:ext cx="1905000" cy="1397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3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P-Box Permutation </a:t>
            </a:r>
            <a:r>
              <a:rPr lang="en-US" u="sng" dirty="0" smtClean="0"/>
              <a:t>step</a:t>
            </a:r>
          </a:p>
          <a:p>
            <a:r>
              <a:rPr lang="en-US" dirty="0" smtClean="0"/>
              <a:t>32-bit (output from previous step) goes through the </a:t>
            </a:r>
            <a:r>
              <a:rPr lang="en-US" dirty="0"/>
              <a:t>last step </a:t>
            </a:r>
            <a:r>
              <a:rPr lang="en-US" dirty="0" smtClean="0"/>
              <a:t>which is </a:t>
            </a:r>
            <a:r>
              <a:rPr lang="en-US" dirty="0"/>
              <a:t>permutation with </a:t>
            </a:r>
            <a:r>
              <a:rPr lang="en-US" dirty="0" smtClean="0"/>
              <a:t>P-Box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https</a:t>
            </a:r>
            <a:r>
              <a:rPr lang="en-US" dirty="0"/>
              <a:t>://en.wikipedia.org/wiki/Permutation_box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819400"/>
            <a:ext cx="2844128" cy="20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1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295400"/>
            <a:ext cx="3886200" cy="54300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9600" y="2819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56-bit key is permuted/contracted to yield a 48-bit round key</a:t>
            </a:r>
            <a:endParaRPr lang="en-US" sz="1600" dirty="0"/>
          </a:p>
        </p:txBody>
      </p:sp>
      <p:cxnSp>
        <p:nvCxnSpPr>
          <p:cNvPr id="11" name="Straight Connector 10"/>
          <p:cNvCxnSpPr>
            <a:stCxn id="9" idx="3"/>
          </p:cNvCxnSpPr>
          <p:nvPr/>
        </p:nvCxnSpPr>
        <p:spPr>
          <a:xfrm flipV="1">
            <a:off x="5181600" y="2819400"/>
            <a:ext cx="3485535" cy="323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3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The DES Key: Generating the Round </a:t>
            </a:r>
            <a:r>
              <a:rPr lang="en-US" u="sng" dirty="0" smtClean="0"/>
              <a:t>Keys</a:t>
            </a:r>
          </a:p>
          <a:p>
            <a:r>
              <a:rPr lang="en-US" dirty="0"/>
              <a:t>I</a:t>
            </a:r>
            <a:r>
              <a:rPr lang="en-US" dirty="0" smtClean="0"/>
              <a:t>nitial </a:t>
            </a:r>
            <a:r>
              <a:rPr lang="en-US" dirty="0"/>
              <a:t>56-bit key may be represented as 8 bytes, with the last bit (the least significant bit) of each byte used as a parity bit</a:t>
            </a:r>
          </a:p>
          <a:p>
            <a:r>
              <a:rPr lang="en-US" dirty="0" smtClean="0"/>
              <a:t>Relevant </a:t>
            </a:r>
            <a:r>
              <a:rPr lang="en-US" dirty="0"/>
              <a:t>56 bits are subject to a permutation at the beginning before any round keys are </a:t>
            </a:r>
            <a:r>
              <a:rPr lang="en-US" dirty="0" smtClean="0"/>
              <a:t>generated, referred </a:t>
            </a:r>
            <a:r>
              <a:rPr lang="en-US" dirty="0"/>
              <a:t>to as </a:t>
            </a:r>
            <a:r>
              <a:rPr lang="en-US" u="sng" dirty="0"/>
              <a:t>Permutation Choice </a:t>
            </a:r>
            <a:r>
              <a:rPr lang="en-US" u="sng" dirty="0" smtClean="0"/>
              <a:t>1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618276"/>
            <a:ext cx="2150569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The DES Key: Generating the Round </a:t>
            </a:r>
            <a:r>
              <a:rPr lang="en-US" u="sng" dirty="0" smtClean="0"/>
              <a:t>Keys</a:t>
            </a:r>
          </a:p>
          <a:p>
            <a:r>
              <a:rPr lang="en-US" dirty="0"/>
              <a:t>At the beginning of each </a:t>
            </a:r>
            <a:r>
              <a:rPr lang="en-US" dirty="0" smtClean="0"/>
              <a:t>round</a:t>
            </a:r>
          </a:p>
          <a:p>
            <a:pPr lvl="1"/>
            <a:r>
              <a:rPr lang="en-US" sz="2400" dirty="0" smtClean="0"/>
              <a:t>Divide </a:t>
            </a:r>
            <a:r>
              <a:rPr lang="en-US" sz="2400" dirty="0"/>
              <a:t>the 56 relevant key bits into two </a:t>
            </a:r>
            <a:r>
              <a:rPr lang="en-US" sz="2400" dirty="0" smtClean="0"/>
              <a:t>28-bit </a:t>
            </a:r>
            <a:r>
              <a:rPr lang="en-US" sz="2400" dirty="0"/>
              <a:t>halves and circularly shift to the left each half by one or two bits, depending on the </a:t>
            </a:r>
            <a:r>
              <a:rPr lang="en-US" sz="2400" dirty="0" smtClean="0"/>
              <a:t>round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rounds 1, 2, 9, and 16 rotate 1-bit </a:t>
            </a:r>
            <a:r>
              <a:rPr lang="en-US" dirty="0" smtClean="0"/>
              <a:t>left</a:t>
            </a:r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other rounds rotate 2-bit </a:t>
            </a:r>
            <a:r>
              <a:rPr lang="en-US" dirty="0" smtClean="0"/>
              <a:t>left</a:t>
            </a:r>
          </a:p>
        </p:txBody>
      </p:sp>
    </p:spTree>
    <p:extLst>
      <p:ext uri="{BB962C8B-B14F-4D97-AF65-F5344CB8AC3E}">
        <p14:creationId xmlns:p14="http://schemas.microsoft.com/office/powerpoint/2010/main" val="14526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The DES Key: Generating the Round </a:t>
            </a:r>
            <a:r>
              <a:rPr lang="en-US" u="sng" dirty="0" smtClean="0"/>
              <a:t>Keys</a:t>
            </a:r>
          </a:p>
          <a:p>
            <a:r>
              <a:rPr lang="en-US" dirty="0" smtClean="0"/>
              <a:t>Join </a:t>
            </a:r>
            <a:r>
              <a:rPr lang="en-US" dirty="0"/>
              <a:t>together the two halves and apply a 56 bit to 48 bit contracting </a:t>
            </a:r>
            <a:r>
              <a:rPr lang="en-US" dirty="0" smtClean="0"/>
              <a:t>permutation, referred </a:t>
            </a:r>
            <a:r>
              <a:rPr lang="en-US" dirty="0"/>
              <a:t>to as </a:t>
            </a:r>
            <a:r>
              <a:rPr lang="en-US" u="sng" dirty="0"/>
              <a:t>Permutation Choice </a:t>
            </a:r>
            <a:r>
              <a:rPr lang="en-US" u="sng" dirty="0" smtClean="0"/>
              <a:t>2</a:t>
            </a:r>
          </a:p>
          <a:p>
            <a:r>
              <a:rPr lang="en-US" dirty="0" smtClean="0"/>
              <a:t>Resulting </a:t>
            </a:r>
            <a:r>
              <a:rPr lang="en-US" dirty="0"/>
              <a:t>48 bits </a:t>
            </a:r>
            <a:r>
              <a:rPr lang="en-US" dirty="0" smtClean="0"/>
              <a:t>constitute </a:t>
            </a:r>
            <a:r>
              <a:rPr lang="en-US" dirty="0"/>
              <a:t>round </a:t>
            </a:r>
            <a:r>
              <a:rPr lang="en-US" dirty="0" smtClean="0"/>
              <a:t>key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Two </a:t>
            </a:r>
            <a:r>
              <a:rPr lang="en-US" dirty="0"/>
              <a:t>halves of the encryption key generated in each round </a:t>
            </a:r>
            <a:r>
              <a:rPr lang="en-US" dirty="0" smtClean="0"/>
              <a:t>are fed </a:t>
            </a:r>
            <a:r>
              <a:rPr lang="en-US" dirty="0"/>
              <a:t>as the two halves going into the next </a:t>
            </a:r>
            <a:r>
              <a:rPr lang="en-US" dirty="0" smtClean="0"/>
              <a:t>round</a:t>
            </a:r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2" y="2789685"/>
            <a:ext cx="2657168" cy="25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2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smtClean="0"/>
              <a:t>What </a:t>
            </a:r>
            <a:r>
              <a:rPr lang="en-US" u="sng" dirty="0"/>
              <a:t>makes DES a strong cipher</a:t>
            </a:r>
          </a:p>
          <a:p>
            <a:endParaRPr lang="en-US" sz="1100" dirty="0"/>
          </a:p>
          <a:p>
            <a:r>
              <a:rPr lang="en-US" dirty="0" smtClean="0"/>
              <a:t>Substitution </a:t>
            </a:r>
            <a:r>
              <a:rPr lang="en-US" dirty="0"/>
              <a:t>step </a:t>
            </a:r>
            <a:r>
              <a:rPr lang="en-US" dirty="0" smtClean="0"/>
              <a:t>(</a:t>
            </a:r>
            <a:r>
              <a:rPr lang="en-US" dirty="0"/>
              <a:t>diffusion</a:t>
            </a:r>
            <a:r>
              <a:rPr lang="en-US" dirty="0" smtClean="0"/>
              <a:t>) is </a:t>
            </a:r>
            <a:r>
              <a:rPr lang="en-US" dirty="0"/>
              <a:t>very </a:t>
            </a:r>
            <a:r>
              <a:rPr lang="en-US" dirty="0" smtClean="0"/>
              <a:t>effective</a:t>
            </a:r>
          </a:p>
          <a:p>
            <a:r>
              <a:rPr lang="en-US" dirty="0" smtClean="0"/>
              <a:t>It </a:t>
            </a:r>
            <a:r>
              <a:rPr lang="en-US" dirty="0"/>
              <a:t>has been shown that if you change just </a:t>
            </a:r>
            <a:r>
              <a:rPr lang="en-US" u="sng" dirty="0"/>
              <a:t>one bit</a:t>
            </a:r>
            <a:r>
              <a:rPr lang="en-US" dirty="0"/>
              <a:t> of </a:t>
            </a:r>
            <a:r>
              <a:rPr lang="en-US" dirty="0" smtClean="0"/>
              <a:t>the 64-bit </a:t>
            </a:r>
            <a:r>
              <a:rPr lang="en-US" dirty="0"/>
              <a:t>input data block, on the average that alters </a:t>
            </a:r>
            <a:r>
              <a:rPr lang="en-US" u="sng" dirty="0"/>
              <a:t>34 bits</a:t>
            </a:r>
            <a:r>
              <a:rPr lang="en-US" dirty="0"/>
              <a:t> of </a:t>
            </a:r>
            <a:r>
              <a:rPr lang="en-US" dirty="0" smtClean="0"/>
              <a:t>the </a:t>
            </a:r>
            <a:r>
              <a:rPr lang="en-US" dirty="0" err="1" smtClean="0"/>
              <a:t>ciphertext</a:t>
            </a:r>
            <a:r>
              <a:rPr lang="en-US" dirty="0" smtClean="0"/>
              <a:t> block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Round </a:t>
            </a:r>
            <a:r>
              <a:rPr lang="en-US" dirty="0"/>
              <a:t>keys </a:t>
            </a:r>
            <a:r>
              <a:rPr lang="en-US" dirty="0" smtClean="0"/>
              <a:t>generation </a:t>
            </a:r>
            <a:r>
              <a:rPr lang="en-US" dirty="0"/>
              <a:t>from </a:t>
            </a:r>
            <a:r>
              <a:rPr lang="en-US" dirty="0" smtClean="0"/>
              <a:t>the encryption </a:t>
            </a:r>
            <a:r>
              <a:rPr lang="en-US" dirty="0"/>
              <a:t>key </a:t>
            </a:r>
            <a:r>
              <a:rPr lang="en-US" dirty="0" smtClean="0"/>
              <a:t>(</a:t>
            </a:r>
            <a:r>
              <a:rPr lang="en-US" dirty="0"/>
              <a:t>confusion</a:t>
            </a:r>
            <a:r>
              <a:rPr lang="en-US" dirty="0" smtClean="0"/>
              <a:t>) is </a:t>
            </a:r>
            <a:r>
              <a:rPr lang="en-US" dirty="0"/>
              <a:t>also very </a:t>
            </a:r>
            <a:r>
              <a:rPr lang="en-US" dirty="0" smtClean="0"/>
              <a:t>effective</a:t>
            </a:r>
          </a:p>
          <a:p>
            <a:r>
              <a:rPr lang="en-US" dirty="0" smtClean="0"/>
              <a:t>It </a:t>
            </a:r>
            <a:r>
              <a:rPr lang="en-US" dirty="0"/>
              <a:t>has been shown that if you change just </a:t>
            </a:r>
            <a:r>
              <a:rPr lang="en-US" u="sng" dirty="0"/>
              <a:t>one bit</a:t>
            </a:r>
            <a:r>
              <a:rPr lang="en-US" dirty="0"/>
              <a:t> </a:t>
            </a:r>
            <a:r>
              <a:rPr lang="en-US" dirty="0" smtClean="0"/>
              <a:t>of the </a:t>
            </a:r>
            <a:r>
              <a:rPr lang="en-US" dirty="0"/>
              <a:t>encryption key, on the average that changes </a:t>
            </a:r>
            <a:r>
              <a:rPr lang="en-US" u="sng" dirty="0"/>
              <a:t>35 bits</a:t>
            </a:r>
            <a:r>
              <a:rPr lang="en-US" dirty="0"/>
              <a:t> of </a:t>
            </a:r>
            <a:r>
              <a:rPr lang="en-US" dirty="0" smtClean="0"/>
              <a:t>the </a:t>
            </a:r>
            <a:r>
              <a:rPr lang="en-US" dirty="0" err="1" smtClean="0"/>
              <a:t>ciphertext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Both effects </a:t>
            </a:r>
            <a:r>
              <a:rPr lang="en-US" dirty="0"/>
              <a:t>are referred to as the </a:t>
            </a:r>
            <a:r>
              <a:rPr lang="en-US" dirty="0" smtClean="0"/>
              <a:t>avalanche effect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674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What </a:t>
            </a:r>
            <a:r>
              <a:rPr lang="en-US" u="sng" dirty="0"/>
              <a:t>makes DES a strong cipher</a:t>
            </a:r>
          </a:p>
          <a:p>
            <a:endParaRPr lang="en-US" sz="1100" dirty="0"/>
          </a:p>
          <a:p>
            <a:r>
              <a:rPr lang="en-US" dirty="0"/>
              <a:t>56-bit encryption key means a key space of size 2</a:t>
            </a:r>
            <a:r>
              <a:rPr lang="en-US" baseline="30000" dirty="0"/>
              <a:t>56</a:t>
            </a:r>
            <a:r>
              <a:rPr lang="en-US" dirty="0"/>
              <a:t> ≈ 7.2 × 10</a:t>
            </a:r>
            <a:r>
              <a:rPr lang="en-US" baseline="30000" dirty="0"/>
              <a:t>16</a:t>
            </a:r>
          </a:p>
          <a:p>
            <a:endParaRPr lang="en-US" dirty="0"/>
          </a:p>
          <a:p>
            <a:r>
              <a:rPr lang="en-US" dirty="0" smtClean="0"/>
              <a:t>On </a:t>
            </a:r>
            <a:r>
              <a:rPr lang="en-US" dirty="0"/>
              <a:t>the average, you’d need to try half the keys in a brute-force </a:t>
            </a:r>
            <a:r>
              <a:rPr lang="en-US" dirty="0" smtClean="0"/>
              <a:t>attack</a:t>
            </a:r>
          </a:p>
          <a:p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machine able to process 1000 keys per microsecond would need roughly 13 months to break the </a:t>
            </a:r>
            <a:r>
              <a:rPr lang="en-US" dirty="0" smtClean="0"/>
              <a:t>code</a:t>
            </a:r>
            <a:endParaRPr lang="en-US" dirty="0"/>
          </a:p>
          <a:p>
            <a:r>
              <a:rPr lang="en-US" dirty="0"/>
              <a:t>However, a parallel-processing machine trying 1 million keys simultaneously would need only about 10 </a:t>
            </a:r>
            <a:r>
              <a:rPr lang="en-US" dirty="0" smtClean="0"/>
              <a:t>hours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4686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DES was </a:t>
            </a:r>
            <a:r>
              <a:rPr lang="en-US" dirty="0"/>
              <a:t>broken in 1999 by Electronics Frontiers Foundation (</a:t>
            </a:r>
            <a:r>
              <a:rPr lang="en-US" dirty="0" smtClean="0"/>
              <a:t>EFF)</a:t>
            </a:r>
          </a:p>
          <a:p>
            <a:r>
              <a:rPr lang="en-US" dirty="0"/>
              <a:t>EFF took 3</a:t>
            </a:r>
            <a:r>
              <a:rPr lang="en-US" dirty="0" smtClean="0"/>
              <a:t> </a:t>
            </a:r>
            <a:r>
              <a:rPr lang="en-US" dirty="0"/>
              <a:t>days on a specially </a:t>
            </a:r>
            <a:r>
              <a:rPr lang="en-US" dirty="0" smtClean="0"/>
              <a:t>designed </a:t>
            </a:r>
            <a:r>
              <a:rPr lang="en-US" dirty="0"/>
              <a:t>machine to break </a:t>
            </a:r>
            <a:r>
              <a:rPr lang="en-US"/>
              <a:t>the </a:t>
            </a:r>
            <a:r>
              <a:rPr lang="en-US" smtClean="0"/>
              <a:t>code (costs $ 250,000)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resulted in NIST issuing a new directive </a:t>
            </a:r>
            <a:r>
              <a:rPr lang="en-US" dirty="0" smtClean="0"/>
              <a:t>the same year </a:t>
            </a:r>
            <a:r>
              <a:rPr lang="en-US" dirty="0"/>
              <a:t>that required organizations to use </a:t>
            </a:r>
            <a:r>
              <a:rPr lang="en-US" b="1" dirty="0"/>
              <a:t>Triple </a:t>
            </a:r>
            <a:r>
              <a:rPr lang="en-US" b="1" dirty="0" smtClean="0"/>
              <a:t>DES (3DES)</a:t>
            </a:r>
            <a:r>
              <a:rPr lang="en-US" dirty="0" smtClean="0"/>
              <a:t>, </a:t>
            </a:r>
            <a:r>
              <a:rPr lang="en-US" dirty="0"/>
              <a:t>that is, three consecutive applications of </a:t>
            </a:r>
            <a:r>
              <a:rPr lang="en-US" dirty="0" smtClean="0"/>
              <a:t>DES</a:t>
            </a:r>
            <a:endParaRPr lang="en-US" dirty="0"/>
          </a:p>
          <a:p>
            <a:r>
              <a:rPr lang="en-US" dirty="0" smtClean="0"/>
              <a:t>3DES </a:t>
            </a:r>
            <a:r>
              <a:rPr lang="en-US" dirty="0"/>
              <a:t>was found to be not as strong as </a:t>
            </a:r>
            <a:r>
              <a:rPr lang="en-US" dirty="0" smtClean="0"/>
              <a:t>originally believed</a:t>
            </a:r>
          </a:p>
          <a:p>
            <a:endParaRPr lang="en-US" dirty="0"/>
          </a:p>
          <a:p>
            <a:r>
              <a:rPr lang="en-US" dirty="0" smtClean="0"/>
              <a:t>So, NIST initiated </a:t>
            </a:r>
            <a:r>
              <a:rPr lang="en-US" dirty="0"/>
              <a:t>the development of </a:t>
            </a:r>
            <a:r>
              <a:rPr lang="en-US" dirty="0" smtClean="0"/>
              <a:t>new standards </a:t>
            </a:r>
            <a:r>
              <a:rPr lang="en-US" dirty="0"/>
              <a:t>for data </a:t>
            </a:r>
            <a:r>
              <a:rPr lang="en-US" dirty="0" smtClean="0"/>
              <a:t>encryption and the </a:t>
            </a:r>
            <a:r>
              <a:rPr lang="en-US" dirty="0"/>
              <a:t>result is </a:t>
            </a:r>
            <a:r>
              <a:rPr lang="en-US" b="1" dirty="0" smtClean="0"/>
              <a:t>Advanced Encryption Standard (AES)</a:t>
            </a:r>
            <a:endParaRPr lang="en-US" b="1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398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Triple DES continues to enjoy wide usage in commercial applications even </a:t>
            </a:r>
            <a:r>
              <a:rPr lang="en-US" dirty="0" smtClean="0"/>
              <a:t>today</a:t>
            </a:r>
          </a:p>
          <a:p>
            <a:endParaRPr lang="en-US" dirty="0"/>
          </a:p>
          <a:p>
            <a:r>
              <a:rPr lang="en-US" dirty="0" smtClean="0"/>
              <a:t>DES was </a:t>
            </a:r>
            <a:r>
              <a:rPr lang="en-US" dirty="0"/>
              <a:t>broken because its short key size permits rapid key-search</a:t>
            </a:r>
          </a:p>
          <a:p>
            <a:r>
              <a:rPr lang="en-US" dirty="0"/>
              <a:t>But DES is a very strong design as evidenced by the fact that there are no practical attacks that exploit its </a:t>
            </a:r>
            <a:r>
              <a:rPr lang="en-US" dirty="0" smtClean="0"/>
              <a:t>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3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Data Encryption 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IDEA </a:t>
            </a:r>
            <a:r>
              <a:rPr lang="en-US" dirty="0"/>
              <a:t>is a block cipher designed by </a:t>
            </a:r>
            <a:r>
              <a:rPr lang="en-US" dirty="0" err="1"/>
              <a:t>Xuejia</a:t>
            </a:r>
            <a:r>
              <a:rPr lang="en-US" dirty="0"/>
              <a:t> Lai and James Massey of ETH Zurich in 1991</a:t>
            </a:r>
          </a:p>
          <a:p>
            <a:r>
              <a:rPr lang="en-US" dirty="0" smtClean="0"/>
              <a:t>It </a:t>
            </a:r>
            <a:r>
              <a:rPr lang="en-US" dirty="0"/>
              <a:t>is patented in a number of countries but can be used by anyone for non-commercial use</a:t>
            </a:r>
          </a:p>
          <a:p>
            <a:r>
              <a:rPr lang="en-US" dirty="0"/>
              <a:t>O</a:t>
            </a:r>
            <a:r>
              <a:rPr lang="en-US" dirty="0" smtClean="0"/>
              <a:t>perates </a:t>
            </a:r>
            <a:r>
              <a:rPr lang="en-US" dirty="0"/>
              <a:t>on 64-bit blocks, using a 128-bit </a:t>
            </a:r>
            <a:r>
              <a:rPr lang="en-US" dirty="0" smtClean="0"/>
              <a:t>key</a:t>
            </a:r>
          </a:p>
          <a:p>
            <a:r>
              <a:rPr lang="en-US" dirty="0"/>
              <a:t>E</a:t>
            </a:r>
            <a:r>
              <a:rPr lang="en-US" dirty="0" smtClean="0"/>
              <a:t>ight </a:t>
            </a:r>
            <a:r>
              <a:rPr lang="en-US" dirty="0"/>
              <a:t>identical transformations (rounds) and one output transformation (the half-round</a:t>
            </a:r>
            <a:r>
              <a:rPr lang="en-US" dirty="0" smtClean="0"/>
              <a:t>), </a:t>
            </a:r>
            <a:r>
              <a:rPr lang="en-US" dirty="0"/>
              <a:t>a total of 8.5 </a:t>
            </a:r>
            <a:r>
              <a:rPr lang="en-US" dirty="0" smtClean="0"/>
              <a:t>rounds</a:t>
            </a:r>
            <a:endParaRPr lang="en-US" dirty="0"/>
          </a:p>
          <a:p>
            <a:r>
              <a:rPr lang="en-US" dirty="0"/>
              <a:t>Each of the eight round uses six sub-keys, while the half-round uses </a:t>
            </a:r>
            <a:r>
              <a:rPr lang="en-US" dirty="0" smtClean="0"/>
              <a:t>four</a:t>
            </a:r>
          </a:p>
          <a:p>
            <a:r>
              <a:rPr lang="en-US" dirty="0" smtClean="0"/>
              <a:t>52 total sub-keys of </a:t>
            </a:r>
            <a:r>
              <a:rPr lang="en-US" dirty="0"/>
              <a:t>16-bit in </a:t>
            </a:r>
            <a:r>
              <a:rPr lang="en-US" smtClean="0"/>
              <a:t>length each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108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25894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1826</Words>
  <Application>Microsoft Office PowerPoint</Application>
  <PresentationFormat>On-screen Show (4:3)</PresentationFormat>
  <Paragraphs>248</Paragraphs>
  <Slides>39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Office Theme</vt:lpstr>
      <vt:lpstr>1_Office Theme</vt:lpstr>
      <vt:lpstr>Training</vt:lpstr>
      <vt:lpstr>CSC348 – Data Security  and Encryption</vt:lpstr>
      <vt:lpstr>Block Ciphers and DES</vt:lpstr>
      <vt:lpstr>Modern Ciphers</vt:lpstr>
      <vt:lpstr>Modern Ciphers</vt:lpstr>
      <vt:lpstr>Modern Ciphers</vt:lpstr>
      <vt:lpstr>Modern Ciphers</vt:lpstr>
      <vt:lpstr>Modern Ciphers</vt:lpstr>
      <vt:lpstr>Modern Ciphers</vt:lpstr>
      <vt:lpstr>Modern Ciphers</vt:lpstr>
      <vt:lpstr>The Feistel Structure for Block Ciphers</vt:lpstr>
      <vt:lpstr>The Feistel Structure for Block Ciphers</vt:lpstr>
      <vt:lpstr>The Feistel Structure for Block Ciphers</vt:lpstr>
      <vt:lpstr>The Feistel Structure for Block Ciphers</vt:lpstr>
      <vt:lpstr>The Feistel Structure for Block Ciphers</vt:lpstr>
      <vt:lpstr>The Feistel Structure for Block Ciphers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Data Encryption Standard</vt:lpstr>
      <vt:lpstr>International Data Encryption Algorithm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Adnan</cp:lastModifiedBy>
  <cp:revision>35</cp:revision>
  <dcterms:created xsi:type="dcterms:W3CDTF">2006-08-16T00:00:00Z</dcterms:created>
  <dcterms:modified xsi:type="dcterms:W3CDTF">2022-09-20T07:55:32Z</dcterms:modified>
</cp:coreProperties>
</file>