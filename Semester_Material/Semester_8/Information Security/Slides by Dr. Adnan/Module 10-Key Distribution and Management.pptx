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4336B-3C4D-4756-AB54-224A08976FC1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A02AF-ACEE-488A-ACFD-21A1718BD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4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70438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10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3691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1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78375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663117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0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031744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429380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4999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8337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00268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8780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021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8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DKuLMLOEb4" TargetMode="Externa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CSC432 </a:t>
            </a:r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information Security 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Adnan Ahmad</a:t>
            </a:r>
            <a:endParaRPr lang="en-US" sz="24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41772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4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/>
              <a:t>Key Distribution and </a:t>
            </a:r>
            <a:r>
              <a:rPr lang="en-US" dirty="0" smtClean="0"/>
              <a:t>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38021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and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At many points so far, we have run into problems with using cryptography for network security</a:t>
            </a:r>
          </a:p>
          <a:p>
            <a:endParaRPr lang="en-US" dirty="0"/>
          </a:p>
          <a:p>
            <a:r>
              <a:rPr lang="en-US" dirty="0"/>
              <a:t>How can we securely store and distribute key and password information?</a:t>
            </a:r>
          </a:p>
          <a:p>
            <a:r>
              <a:rPr lang="en-US" dirty="0" smtClean="0"/>
              <a:t>How </a:t>
            </a:r>
            <a:r>
              <a:rPr lang="en-US" dirty="0"/>
              <a:t>can we </a:t>
            </a:r>
            <a:r>
              <a:rPr lang="en-US" dirty="0" smtClean="0"/>
              <a:t>certify </a:t>
            </a:r>
            <a:r>
              <a:rPr lang="en-US" dirty="0"/>
              <a:t>that keys and password are safe and to be trusted?</a:t>
            </a:r>
          </a:p>
          <a:p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solve these issues, we make use of a variety of trusted </a:t>
            </a:r>
            <a:r>
              <a:rPr lang="en-US" dirty="0" smtClean="0"/>
              <a:t>intermediaries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2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and </a:t>
            </a:r>
            <a:r>
              <a:rPr lang="en-US" sz="3200" dirty="0" smtClean="0"/>
              <a:t>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Pros and Cons</a:t>
            </a:r>
          </a:p>
          <a:p>
            <a:r>
              <a:rPr lang="en-US" u="sng" dirty="0" smtClean="0"/>
              <a:t>Symmetric </a:t>
            </a:r>
            <a:r>
              <a:rPr lang="en-US" u="sng" dirty="0"/>
              <a:t>key cryptography</a:t>
            </a:r>
            <a:r>
              <a:rPr lang="en-US" dirty="0"/>
              <a:t>: fast </a:t>
            </a:r>
            <a:r>
              <a:rPr lang="en-US" dirty="0" smtClean="0"/>
              <a:t>implementations, good </a:t>
            </a:r>
            <a:r>
              <a:rPr lang="en-US" dirty="0"/>
              <a:t>for encrypting large amounts of data; </a:t>
            </a:r>
            <a:r>
              <a:rPr lang="en-US" dirty="0" smtClean="0"/>
              <a:t>requires shared </a:t>
            </a:r>
            <a:r>
              <a:rPr lang="en-US" dirty="0"/>
              <a:t>secret key</a:t>
            </a:r>
          </a:p>
          <a:p>
            <a:r>
              <a:rPr lang="en-US" u="sng" dirty="0"/>
              <a:t>Asymmetric (public) key cryptography</a:t>
            </a:r>
            <a:r>
              <a:rPr lang="en-US" dirty="0"/>
              <a:t>: </a:t>
            </a:r>
            <a:r>
              <a:rPr lang="en-US" dirty="0" smtClean="0"/>
              <a:t>inefficient for large </a:t>
            </a:r>
            <a:r>
              <a:rPr lang="en-US" dirty="0"/>
              <a:t>data, good for authentication; no need to share </a:t>
            </a:r>
            <a:r>
              <a:rPr lang="en-US" dirty="0" smtClean="0"/>
              <a:t>a secret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Issues:</a:t>
            </a:r>
          </a:p>
          <a:p>
            <a:pPr marL="349250" lvl="1" indent="0">
              <a:buNone/>
            </a:pPr>
            <a:r>
              <a:rPr lang="en-US" sz="2400" u="sng" dirty="0" smtClean="0"/>
              <a:t>How </a:t>
            </a:r>
            <a:r>
              <a:rPr lang="en-US" sz="2400" u="sng" dirty="0"/>
              <a:t>to share symmetric </a:t>
            </a:r>
            <a:r>
              <a:rPr lang="en-US" sz="2400" u="sng" dirty="0" smtClean="0"/>
              <a:t>keys?</a:t>
            </a:r>
            <a:r>
              <a:rPr lang="en-US" sz="2400" dirty="0" smtClean="0"/>
              <a:t>             </a:t>
            </a:r>
          </a:p>
          <a:p>
            <a:pPr marL="349250" lvl="1" indent="0">
              <a:buNone/>
            </a:pPr>
            <a:r>
              <a:rPr lang="en-US" sz="2400" u="sng" dirty="0" smtClean="0"/>
              <a:t>How </a:t>
            </a:r>
            <a:r>
              <a:rPr lang="en-US" sz="2400" u="sng" dirty="0"/>
              <a:t>to distribute public keys?</a:t>
            </a:r>
          </a:p>
        </p:txBody>
      </p:sp>
    </p:spTree>
    <p:extLst>
      <p:ext uri="{BB962C8B-B14F-4D97-AF65-F5344CB8AC3E}">
        <p14:creationId xmlns:p14="http://schemas.microsoft.com/office/powerpoint/2010/main" val="203824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and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Symmetric key problem</a:t>
            </a:r>
            <a:r>
              <a:rPr lang="en-US" dirty="0"/>
              <a:t>:</a:t>
            </a:r>
          </a:p>
          <a:p>
            <a:r>
              <a:rPr lang="en-US" dirty="0"/>
              <a:t>How do two entities establish shared secret key over network?</a:t>
            </a:r>
          </a:p>
          <a:p>
            <a:pPr marL="0" indent="0">
              <a:buNone/>
            </a:pPr>
            <a:r>
              <a:rPr lang="en-US" u="sng" dirty="0"/>
              <a:t>Solution</a:t>
            </a:r>
            <a:r>
              <a:rPr lang="en-US" dirty="0"/>
              <a:t>: </a:t>
            </a:r>
            <a:r>
              <a:rPr lang="en-US" dirty="0" smtClean="0"/>
              <a:t>Trusted </a:t>
            </a:r>
            <a:r>
              <a:rPr lang="en-US" dirty="0"/>
              <a:t>key distribution </a:t>
            </a:r>
            <a:r>
              <a:rPr lang="en-US" dirty="0" err="1" smtClean="0"/>
              <a:t>centre</a:t>
            </a:r>
            <a:r>
              <a:rPr lang="en-US" dirty="0" smtClean="0"/>
              <a:t> </a:t>
            </a:r>
            <a:r>
              <a:rPr lang="en-US" dirty="0"/>
              <a:t>(KDC) acting as intermediary between entities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 smtClean="0"/>
              <a:t>Asymmetric </a:t>
            </a:r>
            <a:r>
              <a:rPr lang="en-US" u="sng" dirty="0"/>
              <a:t>key problem</a:t>
            </a:r>
            <a:r>
              <a:rPr lang="en-US" dirty="0"/>
              <a:t>:</a:t>
            </a:r>
          </a:p>
          <a:p>
            <a:r>
              <a:rPr lang="en-US" dirty="0"/>
              <a:t>When Alice obtains Bob’s public key (from web site, e-mail, diskette), how does she know it is Bob’s public key, not Trudy’s?</a:t>
            </a:r>
          </a:p>
          <a:p>
            <a:pPr marL="0" indent="0">
              <a:buNone/>
            </a:pPr>
            <a:r>
              <a:rPr lang="en-US" u="sng" dirty="0"/>
              <a:t>Solution</a:t>
            </a:r>
            <a:r>
              <a:rPr lang="en-US" dirty="0"/>
              <a:t>: </a:t>
            </a:r>
            <a:r>
              <a:rPr lang="en-US" dirty="0" smtClean="0"/>
              <a:t>Trusted </a:t>
            </a:r>
            <a:r>
              <a:rPr lang="en-US" dirty="0"/>
              <a:t>certification authority (CA)</a:t>
            </a:r>
          </a:p>
        </p:txBody>
      </p:sp>
    </p:spTree>
    <p:extLst>
      <p:ext uri="{BB962C8B-B14F-4D97-AF65-F5344CB8AC3E}">
        <p14:creationId xmlns:p14="http://schemas.microsoft.com/office/powerpoint/2010/main" val="34908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and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Key Distribution Centre</a:t>
            </a:r>
          </a:p>
          <a:p>
            <a:r>
              <a:rPr lang="en-US" dirty="0" smtClean="0"/>
              <a:t>If </a:t>
            </a:r>
            <a:r>
              <a:rPr lang="en-US" dirty="0"/>
              <a:t>A and B have secure connection with third party C, </a:t>
            </a:r>
            <a:r>
              <a:rPr lang="en-US" dirty="0" smtClean="0"/>
              <a:t>C can </a:t>
            </a:r>
            <a:r>
              <a:rPr lang="en-US" dirty="0"/>
              <a:t>securely send keys to A and </a:t>
            </a:r>
            <a:r>
              <a:rPr lang="en-US" dirty="0" smtClean="0"/>
              <a:t>B</a:t>
            </a:r>
          </a:p>
          <a:p>
            <a:r>
              <a:rPr lang="en-US" dirty="0"/>
              <a:t>Key Distribution Centre (KDC) is trusted third party</a:t>
            </a:r>
          </a:p>
        </p:txBody>
      </p:sp>
    </p:spTree>
    <p:extLst>
      <p:ext uri="{BB962C8B-B14F-4D97-AF65-F5344CB8AC3E}">
        <p14:creationId xmlns:p14="http://schemas.microsoft.com/office/powerpoint/2010/main" val="266278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Key Distribution </a:t>
            </a:r>
            <a:r>
              <a:rPr lang="en-US" sz="3200" dirty="0" err="1" smtClean="0"/>
              <a:t>Centres</a:t>
            </a:r>
            <a:r>
              <a:rPr lang="en-US" sz="3200" dirty="0" smtClean="0"/>
              <a:t> (KDCs)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Alice</a:t>
            </a:r>
            <a:r>
              <a:rPr lang="en-US" dirty="0"/>
              <a:t>, Bob need shared symmetric key</a:t>
            </a:r>
          </a:p>
          <a:p>
            <a:r>
              <a:rPr lang="en-US" dirty="0"/>
              <a:t>KDC server shares different secret </a:t>
            </a:r>
            <a:r>
              <a:rPr lang="en-US" dirty="0" smtClean="0"/>
              <a:t>keys </a:t>
            </a:r>
            <a:r>
              <a:rPr lang="en-US" dirty="0"/>
              <a:t>with each registered user (many users)</a:t>
            </a:r>
          </a:p>
          <a:p>
            <a:r>
              <a:rPr lang="en-US" dirty="0" smtClean="0"/>
              <a:t>Both Alice and </a:t>
            </a:r>
            <a:r>
              <a:rPr lang="en-US" dirty="0"/>
              <a:t>Bob </a:t>
            </a:r>
            <a:r>
              <a:rPr lang="en-US" dirty="0" smtClean="0"/>
              <a:t>know their own </a:t>
            </a:r>
            <a:r>
              <a:rPr lang="en-US" dirty="0"/>
              <a:t>symmetric </a:t>
            </a:r>
            <a:r>
              <a:rPr lang="en-US" dirty="0" smtClean="0"/>
              <a:t>keys (master keys), </a:t>
            </a:r>
            <a:r>
              <a:rPr lang="en-US" dirty="0"/>
              <a:t>K</a:t>
            </a:r>
            <a:r>
              <a:rPr lang="en-US" baseline="-25000" dirty="0"/>
              <a:t>A-KDC</a:t>
            </a:r>
            <a:r>
              <a:rPr lang="en-US" dirty="0"/>
              <a:t> and </a:t>
            </a:r>
            <a:r>
              <a:rPr lang="en-US" dirty="0" smtClean="0"/>
              <a:t>K</a:t>
            </a:r>
            <a:r>
              <a:rPr lang="en-US" baseline="-25000" dirty="0" smtClean="0"/>
              <a:t>B-KDC</a:t>
            </a:r>
            <a:r>
              <a:rPr lang="en-US" dirty="0" smtClean="0"/>
              <a:t>, </a:t>
            </a:r>
            <a:r>
              <a:rPr lang="en-US" dirty="0"/>
              <a:t>for communicating with KDC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5789173" y="4096546"/>
            <a:ext cx="2278856" cy="2306637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6" name="Picture 5" descr="j0175664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617" y="4874421"/>
            <a:ext cx="90130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6282087" y="5874548"/>
            <a:ext cx="801290" cy="677863"/>
            <a:chOff x="4006" y="2460"/>
            <a:chExt cx="673" cy="427"/>
          </a:xfrm>
        </p:grpSpPr>
        <p:pic>
          <p:nvPicPr>
            <p:cNvPr id="8" name="Picture 7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20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prstClr val="black"/>
                  </a:solidFill>
                </a:rPr>
                <a:t>K</a:t>
              </a:r>
              <a:r>
                <a:rPr lang="en-US" baseline="-25000">
                  <a:solidFill>
                    <a:prstClr val="black"/>
                  </a:solidFill>
                </a:rPr>
                <a:t>B-KDC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166730" y="4648998"/>
            <a:ext cx="801292" cy="677863"/>
            <a:chOff x="4006" y="2460"/>
            <a:chExt cx="673" cy="427"/>
          </a:xfrm>
        </p:grpSpPr>
        <p:pic>
          <p:nvPicPr>
            <p:cNvPr id="11" name="Picture 10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prstClr val="black"/>
                  </a:solidFill>
                </a:rPr>
                <a:t>K</a:t>
              </a:r>
              <a:r>
                <a:rPr lang="en-US" baseline="-25000">
                  <a:solidFill>
                    <a:prstClr val="black"/>
                  </a:solidFill>
                </a:rPr>
                <a:t>X-KDC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111962" y="5109373"/>
            <a:ext cx="801292" cy="677863"/>
            <a:chOff x="4006" y="2460"/>
            <a:chExt cx="673" cy="427"/>
          </a:xfrm>
        </p:grpSpPr>
        <p:pic>
          <p:nvPicPr>
            <p:cNvPr id="14" name="Picture 13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prstClr val="black"/>
                  </a:solidFill>
                </a:rPr>
                <a:t>K</a:t>
              </a:r>
              <a:r>
                <a:rPr lang="en-US" baseline="-25000">
                  <a:solidFill>
                    <a:prstClr val="black"/>
                  </a:solidFill>
                </a:rPr>
                <a:t>Y-KDC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6994012" y="5674639"/>
            <a:ext cx="801290" cy="677863"/>
            <a:chOff x="4006" y="2460"/>
            <a:chExt cx="673" cy="427"/>
          </a:xfrm>
        </p:grpSpPr>
        <p:pic>
          <p:nvPicPr>
            <p:cNvPr id="17" name="Picture 16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prstClr val="black"/>
                  </a:solidFill>
                </a:rPr>
                <a:t>K</a:t>
              </a:r>
              <a:r>
                <a:rPr lang="en-US" baseline="-25000" dirty="0">
                  <a:solidFill>
                    <a:prstClr val="black"/>
                  </a:solidFill>
                </a:rPr>
                <a:t>Z-KDC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6610699" y="4341023"/>
            <a:ext cx="801290" cy="677863"/>
            <a:chOff x="4006" y="2460"/>
            <a:chExt cx="673" cy="427"/>
          </a:xfrm>
        </p:grpSpPr>
        <p:pic>
          <p:nvPicPr>
            <p:cNvPr id="20" name="Picture 19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prstClr val="black"/>
                  </a:solidFill>
                </a:rPr>
                <a:t>K</a:t>
              </a:r>
              <a:r>
                <a:rPr lang="en-US" baseline="-25000">
                  <a:solidFill>
                    <a:prstClr val="black"/>
                  </a:solidFill>
                </a:rPr>
                <a:t>P-KDC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3086101" y="3515521"/>
            <a:ext cx="1779500" cy="1562101"/>
            <a:chOff x="240" y="2216"/>
            <a:chExt cx="1196" cy="736"/>
          </a:xfrm>
        </p:grpSpPr>
        <p:grpSp>
          <p:nvGrpSpPr>
            <p:cNvPr id="24" name="Group 23"/>
            <p:cNvGrpSpPr>
              <a:grpSpLocks/>
            </p:cNvGrpSpPr>
            <p:nvPr/>
          </p:nvGrpSpPr>
          <p:grpSpPr bwMode="auto">
            <a:xfrm>
              <a:off x="509" y="2582"/>
              <a:ext cx="768" cy="290"/>
              <a:chOff x="3863" y="2460"/>
              <a:chExt cx="768" cy="290"/>
            </a:xfrm>
          </p:grpSpPr>
          <p:pic>
            <p:nvPicPr>
              <p:cNvPr id="26" name="Picture 25" descr="BS00768_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348" y="2460"/>
                <a:ext cx="283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Text Box 36"/>
              <p:cNvSpPr txBox="1">
                <a:spLocks noChangeArrowheads="1"/>
              </p:cNvSpPr>
              <p:nvPr/>
            </p:nvSpPr>
            <p:spPr bwMode="auto">
              <a:xfrm>
                <a:off x="3863" y="2576"/>
                <a:ext cx="673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800" dirty="0">
                    <a:solidFill>
                      <a:prstClr val="black"/>
                    </a:solidFill>
                  </a:rPr>
                  <a:t>K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B-KDC</a:t>
                </a:r>
              </a:p>
            </p:txBody>
          </p:sp>
        </p:grp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240" y="2216"/>
              <a:ext cx="1196" cy="7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1200151" y="5105400"/>
            <a:ext cx="1771232" cy="1563624"/>
            <a:chOff x="168" y="3136"/>
            <a:chExt cx="1196" cy="736"/>
          </a:xfrm>
        </p:grpSpPr>
        <p:grpSp>
          <p:nvGrpSpPr>
            <p:cNvPr id="30" name="Group 29"/>
            <p:cNvGrpSpPr>
              <a:grpSpLocks/>
            </p:cNvGrpSpPr>
            <p:nvPr/>
          </p:nvGrpSpPr>
          <p:grpSpPr bwMode="auto">
            <a:xfrm>
              <a:off x="421" y="3495"/>
              <a:ext cx="789" cy="337"/>
              <a:chOff x="3728" y="2619"/>
              <a:chExt cx="789" cy="337"/>
            </a:xfrm>
          </p:grpSpPr>
          <p:pic>
            <p:nvPicPr>
              <p:cNvPr id="32" name="Picture 31" descr="BS00768_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234" y="2619"/>
                <a:ext cx="283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" name="Text Box 39"/>
              <p:cNvSpPr txBox="1">
                <a:spLocks noChangeArrowheads="1"/>
              </p:cNvSpPr>
              <p:nvPr/>
            </p:nvSpPr>
            <p:spPr bwMode="auto">
              <a:xfrm>
                <a:off x="3728" y="2782"/>
                <a:ext cx="673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800" dirty="0">
                    <a:solidFill>
                      <a:prstClr val="black"/>
                    </a:solidFill>
                  </a:rPr>
                  <a:t>K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A-KDC</a:t>
                </a:r>
              </a:p>
            </p:txBody>
          </p:sp>
        </p:grp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168" y="3136"/>
              <a:ext cx="1196" cy="7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6046342" y="4445798"/>
            <a:ext cx="801290" cy="677863"/>
            <a:chOff x="4006" y="2460"/>
            <a:chExt cx="673" cy="427"/>
          </a:xfrm>
        </p:grpSpPr>
        <p:pic>
          <p:nvPicPr>
            <p:cNvPr id="35" name="Picture 34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205" y="2460"/>
              <a:ext cx="2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 Box 47"/>
            <p:cNvSpPr txBox="1">
              <a:spLocks noChangeArrowheads="1"/>
            </p:cNvSpPr>
            <p:nvPr/>
          </p:nvSpPr>
          <p:spPr bwMode="auto">
            <a:xfrm>
              <a:off x="4006" y="2499"/>
              <a:ext cx="6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prstClr val="black"/>
                  </a:solidFill>
                </a:rPr>
                <a:t>K</a:t>
              </a:r>
              <a:r>
                <a:rPr lang="en-US" baseline="-25000">
                  <a:solidFill>
                    <a:prstClr val="black"/>
                  </a:solidFill>
                </a:rPr>
                <a:t>A-KDC</a:t>
              </a:r>
            </a:p>
          </p:txBody>
        </p:sp>
      </p:grp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485901" y="5242560"/>
            <a:ext cx="903548" cy="10058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3371851" y="3581400"/>
            <a:ext cx="853319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4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Key Distribution </a:t>
            </a:r>
            <a:r>
              <a:rPr lang="en-US" sz="3200" dirty="0" err="1" smtClean="0"/>
              <a:t>Centres</a:t>
            </a:r>
            <a:r>
              <a:rPr lang="en-US" sz="3200" dirty="0" smtClean="0"/>
              <a:t> (KDCs)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KDC allow Bob, Alice to determine shared symmetric secret key to communicate with each other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sz="2000" b="1" dirty="0"/>
              <a:t>Alice and Bob communicate: using R1 as </a:t>
            </a:r>
            <a:r>
              <a:rPr lang="en-US" sz="2000" b="1" dirty="0" smtClean="0"/>
              <a:t>session </a:t>
            </a:r>
            <a:r>
              <a:rPr lang="en-US" sz="2000" b="1" dirty="0"/>
              <a:t>key for shared symmetric encryption</a:t>
            </a:r>
            <a:r>
              <a:rPr lang="en-US" dirty="0"/>
              <a:t> 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485901" y="2499360"/>
            <a:ext cx="903548" cy="10058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6317042" y="2499360"/>
            <a:ext cx="853319" cy="1005840"/>
          </a:xfrm>
          <a:prstGeom prst="rect">
            <a:avLst/>
          </a:prstGeom>
        </p:spPr>
      </p:pic>
      <p:pic>
        <p:nvPicPr>
          <p:cNvPr id="39" name="Picture 38" descr="j0175664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93" y="2506666"/>
            <a:ext cx="901304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2355056" y="3135313"/>
            <a:ext cx="1687116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" name="Line 28"/>
          <p:cNvSpPr>
            <a:spLocks noChangeShapeType="1"/>
          </p:cNvSpPr>
          <p:nvPr/>
        </p:nvSpPr>
        <p:spPr bwMode="auto">
          <a:xfrm flipH="1">
            <a:off x="2163366" y="3467100"/>
            <a:ext cx="1951434" cy="63023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4" name="Line 29"/>
          <p:cNvSpPr>
            <a:spLocks noChangeShapeType="1"/>
          </p:cNvSpPr>
          <p:nvPr/>
        </p:nvSpPr>
        <p:spPr bwMode="auto">
          <a:xfrm>
            <a:off x="2478882" y="4484688"/>
            <a:ext cx="3558779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5" name="Text Box 30"/>
          <p:cNvSpPr txBox="1">
            <a:spLocks noChangeArrowheads="1"/>
          </p:cNvSpPr>
          <p:nvPr/>
        </p:nvSpPr>
        <p:spPr bwMode="auto">
          <a:xfrm>
            <a:off x="1485901" y="3717928"/>
            <a:ext cx="91797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prstClr val="black"/>
                </a:solidFill>
              </a:rPr>
              <a:t>Alice</a:t>
            </a:r>
          </a:p>
          <a:p>
            <a:r>
              <a:rPr lang="en-US" sz="2000">
                <a:solidFill>
                  <a:prstClr val="black"/>
                </a:solidFill>
              </a:rPr>
              <a:t>knows R1</a:t>
            </a:r>
          </a:p>
        </p:txBody>
      </p:sp>
      <p:sp>
        <p:nvSpPr>
          <p:cNvPr id="46" name="Text Box 31"/>
          <p:cNvSpPr txBox="1">
            <a:spLocks noChangeArrowheads="1"/>
          </p:cNvSpPr>
          <p:nvPr/>
        </p:nvSpPr>
        <p:spPr bwMode="auto">
          <a:xfrm>
            <a:off x="6050757" y="3811590"/>
            <a:ext cx="138588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prstClr val="black"/>
                </a:solidFill>
              </a:rPr>
              <a:t>Bob knows to use  R1 to communicate with Alice</a:t>
            </a:r>
          </a:p>
        </p:txBody>
      </p:sp>
      <p:sp>
        <p:nvSpPr>
          <p:cNvPr id="47" name="Line 32"/>
          <p:cNvSpPr>
            <a:spLocks noChangeShapeType="1"/>
          </p:cNvSpPr>
          <p:nvPr/>
        </p:nvSpPr>
        <p:spPr bwMode="auto">
          <a:xfrm>
            <a:off x="2035970" y="5175250"/>
            <a:ext cx="4473179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5066110" y="2438403"/>
            <a:ext cx="103703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prstClr val="black"/>
                </a:solidFill>
              </a:rPr>
              <a:t>KDC generates  R1</a:t>
            </a: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3680223" y="4583668"/>
            <a:ext cx="151804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1800" baseline="-250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B-KDC</a:t>
            </a:r>
            <a:r>
              <a:rPr lang="en-US" sz="18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(A,R1) </a:t>
            </a: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2497931" y="2743200"/>
            <a:ext cx="1287066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1600" baseline="-250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A-KDC</a:t>
            </a:r>
            <a:r>
              <a:rPr lang="en-US" sz="16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(A,B)</a:t>
            </a: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2487216" y="3598864"/>
            <a:ext cx="3162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1800" baseline="-250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A-KDC</a:t>
            </a:r>
            <a:r>
              <a:rPr lang="en-US" sz="18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(R1, K</a:t>
            </a:r>
            <a:r>
              <a:rPr lang="en-US" sz="1800" baseline="-250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B-KDC</a:t>
            </a:r>
            <a:r>
              <a:rPr lang="en-US" sz="18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(A,R1) )</a:t>
            </a:r>
          </a:p>
        </p:txBody>
      </p:sp>
    </p:spTree>
    <p:extLst>
      <p:ext uri="{BB962C8B-B14F-4D97-AF65-F5344CB8AC3E}">
        <p14:creationId xmlns:p14="http://schemas.microsoft.com/office/powerpoint/2010/main" val="48508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</a:t>
            </a:r>
            <a:r>
              <a:rPr lang="en-US" sz="3200" dirty="0" err="1" smtClean="0"/>
              <a:t>Centres</a:t>
            </a:r>
            <a:r>
              <a:rPr lang="en-US" sz="3200" dirty="0" smtClean="0"/>
              <a:t> </a:t>
            </a:r>
            <a:r>
              <a:rPr lang="en-US" sz="3200" dirty="0"/>
              <a:t>(KDCs)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</a:t>
            </a:r>
            <a:r>
              <a:rPr lang="en-US" dirty="0"/>
              <a:t>are the keys shared with the KDC originally agreed upon and distributed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KDC has all the </a:t>
            </a:r>
            <a:r>
              <a:rPr lang="en-US" dirty="0" smtClean="0"/>
              <a:t>keys, while each </a:t>
            </a:r>
            <a:r>
              <a:rPr lang="en-US" dirty="0"/>
              <a:t>node is configured with KDC's </a:t>
            </a:r>
            <a:r>
              <a:rPr lang="en-US" dirty="0" smtClean="0"/>
              <a:t>key (master key)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approaches assume some form of manual key generation and distribution with the KDC</a:t>
            </a:r>
          </a:p>
          <a:p>
            <a:r>
              <a:rPr lang="en-US" dirty="0"/>
              <a:t>The KDC is a critical, centralized part of network </a:t>
            </a:r>
            <a:r>
              <a:rPr lang="en-US" dirty="0" smtClean="0"/>
              <a:t>infrastructure</a:t>
            </a:r>
          </a:p>
          <a:p>
            <a:pPr lvl="1"/>
            <a:r>
              <a:rPr lang="en-US" dirty="0"/>
              <a:t>If KDC is compromised, all systems are </a:t>
            </a:r>
            <a:r>
              <a:rPr lang="en-US" dirty="0" smtClean="0"/>
              <a:t>compromised</a:t>
            </a:r>
            <a:endParaRPr lang="en-US" dirty="0"/>
          </a:p>
          <a:p>
            <a:pPr lvl="1"/>
            <a:r>
              <a:rPr lang="en-US" dirty="0"/>
              <a:t>KDC is single point of failure or performance </a:t>
            </a:r>
            <a:r>
              <a:rPr lang="en-US" dirty="0" smtClean="0"/>
              <a:t>bottleneck</a:t>
            </a:r>
            <a:endParaRPr lang="en-US" dirty="0"/>
          </a:p>
          <a:p>
            <a:pPr lvl="1"/>
            <a:r>
              <a:rPr lang="en-US" dirty="0" smtClean="0"/>
              <a:t>This </a:t>
            </a:r>
            <a:r>
              <a:rPr lang="en-US" dirty="0"/>
              <a:t>makes the KDC subject to interruption attacks to disrupt the general security of the network</a:t>
            </a:r>
          </a:p>
          <a:p>
            <a:r>
              <a:rPr lang="en-US" dirty="0"/>
              <a:t>How does this approach scale?</a:t>
            </a:r>
          </a:p>
          <a:p>
            <a:pPr lvl="1"/>
            <a:r>
              <a:rPr lang="en-US" dirty="0"/>
              <a:t>A single KDC cannot service all users of the Internet!</a:t>
            </a:r>
          </a:p>
          <a:p>
            <a:pPr lvl="1"/>
            <a:r>
              <a:rPr lang="en-US" dirty="0"/>
              <a:t>To scale, we require a collection of KDCs, that work together for key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8178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Distribution </a:t>
            </a:r>
            <a:r>
              <a:rPr lang="en-US" sz="3200" dirty="0" err="1" smtClean="0"/>
              <a:t>Centres</a:t>
            </a:r>
            <a:r>
              <a:rPr lang="en-US" sz="3200" dirty="0" smtClean="0"/>
              <a:t> </a:t>
            </a:r>
            <a:r>
              <a:rPr lang="en-US" sz="3200" dirty="0"/>
              <a:t>(KDCs)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 </a:t>
            </a:r>
            <a:r>
              <a:rPr lang="en-US" u="sng" dirty="0"/>
              <a:t>Typical Network Scenario</a:t>
            </a:r>
          </a:p>
          <a:p>
            <a:endParaRPr lang="en-US" dirty="0"/>
          </a:p>
          <a:p>
            <a:r>
              <a:rPr lang="en-US" dirty="0"/>
              <a:t>When a user Alice first logs into a workstation, she'll type her account name and password</a:t>
            </a:r>
          </a:p>
          <a:p>
            <a:r>
              <a:rPr lang="en-US" dirty="0"/>
              <a:t>We'll call the period from when she logs in to when she logs out her login session</a:t>
            </a:r>
          </a:p>
          <a:p>
            <a:r>
              <a:rPr lang="en-US" dirty="0"/>
              <a:t>During her login session Alice will probably need to access remote resources</a:t>
            </a:r>
          </a:p>
          <a:p>
            <a:r>
              <a:rPr lang="en-US" dirty="0"/>
              <a:t>These remote resources will need to authenticate her, but Alice's workstation performs the authentication </a:t>
            </a:r>
            <a:r>
              <a:rPr lang="en-US" dirty="0" smtClean="0"/>
              <a:t>(using protocol) </a:t>
            </a:r>
            <a:r>
              <a:rPr lang="en-US" dirty="0"/>
              <a:t>on Alice's behalf, and Alice need not be aware that it is </a:t>
            </a:r>
            <a:r>
              <a:rPr lang="en-US" dirty="0" smtClean="0"/>
              <a:t>happening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7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Kerberos </a:t>
            </a:r>
            <a:r>
              <a:rPr lang="en-US" dirty="0"/>
              <a:t>is an authentication system developed in 1988 at MIT as part of Project Athena</a:t>
            </a:r>
          </a:p>
          <a:p>
            <a:r>
              <a:rPr lang="en-US" dirty="0" smtClean="0"/>
              <a:t>Based </a:t>
            </a:r>
            <a:r>
              <a:rPr lang="en-US" dirty="0"/>
              <a:t>on Needham and Schroeder’s secret key protocol, with DES to handle encryption and decryption</a:t>
            </a:r>
          </a:p>
          <a:p>
            <a:r>
              <a:rPr lang="en-US" dirty="0" smtClean="0"/>
              <a:t>Kerberos is </a:t>
            </a:r>
            <a:r>
              <a:rPr lang="en-US" dirty="0"/>
              <a:t>used to provide secure </a:t>
            </a:r>
            <a:r>
              <a:rPr lang="en-US" dirty="0" smtClean="0"/>
              <a:t>access, protects </a:t>
            </a:r>
            <a:r>
              <a:rPr lang="en-US" dirty="0"/>
              <a:t>against eavesdropping and replay </a:t>
            </a:r>
            <a:r>
              <a:rPr lang="en-US" dirty="0" smtClean="0"/>
              <a:t>attacks</a:t>
            </a:r>
          </a:p>
          <a:p>
            <a:r>
              <a:rPr lang="en-US" dirty="0" smtClean="0"/>
              <a:t>Used in Windows </a:t>
            </a:r>
            <a:r>
              <a:rPr lang="en-US" dirty="0"/>
              <a:t>as </a:t>
            </a:r>
            <a:r>
              <a:rPr lang="en-US" dirty="0" smtClean="0"/>
              <a:t>default </a:t>
            </a:r>
            <a:r>
              <a:rPr lang="en-US" dirty="0"/>
              <a:t>authentication </a:t>
            </a:r>
            <a:r>
              <a:rPr lang="en-US" dirty="0" smtClean="0"/>
              <a:t>mechanism, Apple's </a:t>
            </a:r>
            <a:r>
              <a:rPr lang="en-US" dirty="0"/>
              <a:t>Mac OS X clients and servers also use Kerberos</a:t>
            </a:r>
          </a:p>
          <a:p>
            <a:r>
              <a:rPr lang="en-US" dirty="0"/>
              <a:t>Apache HTTP Server, Eudora, NFS, </a:t>
            </a:r>
            <a:r>
              <a:rPr lang="en-US" dirty="0" err="1"/>
              <a:t>OpenSSH</a:t>
            </a:r>
            <a:r>
              <a:rPr lang="en-US" dirty="0"/>
              <a:t>, </a:t>
            </a:r>
            <a:r>
              <a:rPr lang="en-US" dirty="0" err="1"/>
              <a:t>rcp</a:t>
            </a:r>
            <a:r>
              <a:rPr lang="en-US" dirty="0"/>
              <a:t> </a:t>
            </a:r>
            <a:r>
              <a:rPr lang="en-US" dirty="0" smtClean="0"/>
              <a:t>, </a:t>
            </a:r>
            <a:r>
              <a:rPr lang="en-US" dirty="0" err="1" smtClean="0"/>
              <a:t>rsh</a:t>
            </a:r>
            <a:r>
              <a:rPr lang="en-US" dirty="0" smtClean="0"/>
              <a:t> </a:t>
            </a:r>
            <a:r>
              <a:rPr lang="en-US" dirty="0"/>
              <a:t>allow using Kerberos </a:t>
            </a:r>
            <a:r>
              <a:rPr lang="en-US" dirty="0" smtClean="0"/>
              <a:t>for authentication</a:t>
            </a:r>
            <a:endParaRPr lang="en-US" dirty="0"/>
          </a:p>
          <a:p>
            <a:r>
              <a:rPr lang="en-US" dirty="0"/>
              <a:t>There are two commonly available versions of Kerberos, version 4 and version 5 (RFC 4120)</a:t>
            </a:r>
          </a:p>
        </p:txBody>
      </p:sp>
    </p:spTree>
    <p:extLst>
      <p:ext uri="{BB962C8B-B14F-4D97-AF65-F5344CB8AC3E}">
        <p14:creationId xmlns:p14="http://schemas.microsoft.com/office/powerpoint/2010/main" val="252668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heart of Kerberos is its own version of a Key Distribution Centre</a:t>
            </a:r>
          </a:p>
          <a:p>
            <a:r>
              <a:rPr lang="en-US" dirty="0"/>
              <a:t>KDC runs on a physically secure node somewhere on the network, there is a library of subroutines used by distributed applications which want to authenticate their users</a:t>
            </a:r>
          </a:p>
          <a:p>
            <a:r>
              <a:rPr lang="en-US" dirty="0" smtClean="0"/>
              <a:t>When </a:t>
            </a:r>
            <a:r>
              <a:rPr lang="en-US" dirty="0"/>
              <a:t>a user logs into a workstation by providing a user name and a </a:t>
            </a:r>
            <a:r>
              <a:rPr lang="en-US" dirty="0" smtClean="0"/>
              <a:t>password, the </a:t>
            </a:r>
            <a:r>
              <a:rPr lang="en-US" dirty="0"/>
              <a:t>workstation </a:t>
            </a:r>
            <a:r>
              <a:rPr lang="en-US" dirty="0" smtClean="0"/>
              <a:t>used them to </a:t>
            </a:r>
            <a:r>
              <a:rPr lang="en-US" dirty="0"/>
              <a:t>obtain information from the KDC that can be used by any process to access remote resources on behalf of the user</a:t>
            </a:r>
          </a:p>
        </p:txBody>
      </p:sp>
    </p:spTree>
    <p:extLst>
      <p:ext uri="{BB962C8B-B14F-4D97-AF65-F5344CB8AC3E}">
        <p14:creationId xmlns:p14="http://schemas.microsoft.com/office/powerpoint/2010/main" val="118703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Kerberos a KDC </a:t>
            </a:r>
            <a:r>
              <a:rPr lang="en-US" dirty="0"/>
              <a:t>is logically comprised of two services:</a:t>
            </a:r>
          </a:p>
          <a:p>
            <a:endParaRPr lang="en-US" dirty="0"/>
          </a:p>
          <a:p>
            <a:r>
              <a:rPr lang="en-US" u="sng" dirty="0"/>
              <a:t>Authentication Service (AS)</a:t>
            </a:r>
            <a:r>
              <a:rPr lang="en-US" dirty="0"/>
              <a:t>: authenticates user clients and provides access to the TGS</a:t>
            </a:r>
          </a:p>
          <a:p>
            <a:r>
              <a:rPr lang="en-US" u="sng" dirty="0"/>
              <a:t>Ticket Granting Service (TGS)</a:t>
            </a:r>
            <a:r>
              <a:rPr lang="en-US" dirty="0"/>
              <a:t>: provides tickets and session keys to allow users to access particular services within the Kerberos realm</a:t>
            </a:r>
          </a:p>
        </p:txBody>
      </p:sp>
    </p:spTree>
    <p:extLst>
      <p:ext uri="{BB962C8B-B14F-4D97-AF65-F5344CB8AC3E}">
        <p14:creationId xmlns:p14="http://schemas.microsoft.com/office/powerpoint/2010/main" val="160328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KDC in Kerberos </a:t>
            </a:r>
            <a:r>
              <a:rPr lang="en-US" dirty="0"/>
              <a:t>shares a secret key, known as a master key, with each principal (each user and each resource that will be using Kerberos)</a:t>
            </a:r>
          </a:p>
          <a:p>
            <a:r>
              <a:rPr lang="en-US" dirty="0"/>
              <a:t>When Alice informs the KDC that she wants to talk to Bob, the KDC invents a session key K</a:t>
            </a:r>
            <a:r>
              <a:rPr lang="en-US" baseline="-25000" dirty="0"/>
              <a:t>AB</a:t>
            </a:r>
            <a:r>
              <a:rPr lang="en-US" dirty="0"/>
              <a:t> for Alice and Bob to share, encrypts K</a:t>
            </a:r>
            <a:r>
              <a:rPr lang="en-US" baseline="-25000" dirty="0"/>
              <a:t>AB</a:t>
            </a:r>
            <a:r>
              <a:rPr lang="en-US" dirty="0"/>
              <a:t> with Alice's master key for Alice, encrypts K</a:t>
            </a:r>
            <a:r>
              <a:rPr lang="en-US" baseline="-25000" dirty="0"/>
              <a:t>AB</a:t>
            </a:r>
            <a:r>
              <a:rPr lang="en-US" dirty="0"/>
              <a:t> with Bob's master key for Bob, and returns all this information to Alice</a:t>
            </a:r>
          </a:p>
          <a:p>
            <a:r>
              <a:rPr lang="en-US" dirty="0"/>
              <a:t>The message consisting of the session key K</a:t>
            </a:r>
            <a:r>
              <a:rPr lang="en-US" baseline="-25000" dirty="0"/>
              <a:t>AB</a:t>
            </a:r>
            <a:r>
              <a:rPr lang="en-US" dirty="0"/>
              <a:t> (and other information such as Alice's name) encrypted with Bob's master key is known as a ticket to Bob</a:t>
            </a:r>
          </a:p>
          <a:p>
            <a:r>
              <a:rPr lang="en-US" dirty="0"/>
              <a:t>Alice can't read what's inside the ticket, because it's encrypted with Bob's master key</a:t>
            </a:r>
          </a:p>
        </p:txBody>
      </p:sp>
    </p:spTree>
    <p:extLst>
      <p:ext uri="{BB962C8B-B14F-4D97-AF65-F5344CB8AC3E}">
        <p14:creationId xmlns:p14="http://schemas.microsoft.com/office/powerpoint/2010/main" val="129628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Bob can decrypt the ticket and discover K</a:t>
            </a:r>
            <a:r>
              <a:rPr lang="en-US" baseline="-25000" dirty="0"/>
              <a:t>AB</a:t>
            </a:r>
            <a:r>
              <a:rPr lang="en-US" dirty="0"/>
              <a:t> and Alice's name</a:t>
            </a:r>
          </a:p>
          <a:p>
            <a:r>
              <a:rPr lang="en-US" dirty="0"/>
              <a:t>Bob knows, based on the ticket, that anyone else who knows K</a:t>
            </a:r>
            <a:r>
              <a:rPr lang="en-US" baseline="-25000" dirty="0"/>
              <a:t>AB</a:t>
            </a:r>
            <a:r>
              <a:rPr lang="en-US" dirty="0"/>
              <a:t> is acting on Alice's behalf</a:t>
            </a:r>
          </a:p>
          <a:p>
            <a:r>
              <a:rPr lang="en-US" dirty="0"/>
              <a:t>So Alice and Bob can authenticate each other, and optionally encrypt or integrity-protect their entire conversation, based on the shared key K</a:t>
            </a:r>
            <a:r>
              <a:rPr lang="en-US" baseline="-25000" dirty="0"/>
              <a:t>AB</a:t>
            </a:r>
          </a:p>
          <a:p>
            <a:r>
              <a:rPr lang="en-US" dirty="0"/>
              <a:t>The session key K</a:t>
            </a:r>
            <a:r>
              <a:rPr lang="en-US" baseline="-25000" dirty="0"/>
              <a:t>AB</a:t>
            </a:r>
            <a:r>
              <a:rPr lang="en-US" dirty="0"/>
              <a:t> together with the ticket to Bob are known as Alice's credentials to Bob</a:t>
            </a:r>
          </a:p>
        </p:txBody>
      </p:sp>
    </p:spTree>
    <p:extLst>
      <p:ext uri="{BB962C8B-B14F-4D97-AF65-F5344CB8AC3E}">
        <p14:creationId xmlns:p14="http://schemas.microsoft.com/office/powerpoint/2010/main" val="274288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85800" y="1524000"/>
            <a:ext cx="8305800" cy="5181600"/>
            <a:chOff x="1630741" y="2351943"/>
            <a:chExt cx="5970209" cy="3620948"/>
          </a:xfrm>
        </p:grpSpPr>
        <p:pic>
          <p:nvPicPr>
            <p:cNvPr id="4" name="Picture 3" descr="j0175664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1" y="2420206"/>
              <a:ext cx="901304" cy="954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2519363" y="3048853"/>
              <a:ext cx="1687116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i="1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9" name="Line 28"/>
            <p:cNvSpPr>
              <a:spLocks noChangeShapeType="1"/>
            </p:cNvSpPr>
            <p:nvPr/>
          </p:nvSpPr>
          <p:spPr bwMode="auto">
            <a:xfrm flipH="1">
              <a:off x="2327672" y="3380640"/>
              <a:ext cx="1951434" cy="630238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i="1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0" name="Line 29"/>
            <p:cNvSpPr>
              <a:spLocks noChangeShapeType="1"/>
            </p:cNvSpPr>
            <p:nvPr/>
          </p:nvSpPr>
          <p:spPr bwMode="auto">
            <a:xfrm>
              <a:off x="2643188" y="4398228"/>
              <a:ext cx="3558779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i="1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1" name="Text Box 30"/>
            <p:cNvSpPr txBox="1">
              <a:spLocks noChangeArrowheads="1"/>
            </p:cNvSpPr>
            <p:nvPr/>
          </p:nvSpPr>
          <p:spPr bwMode="auto">
            <a:xfrm>
              <a:off x="1650208" y="3631466"/>
              <a:ext cx="917972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Alice</a:t>
              </a:r>
            </a:p>
            <a:p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knows 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AB</a:t>
              </a:r>
              <a:endParaRPr lang="en-US" sz="2000" i="1" dirty="0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6215062" y="3725130"/>
              <a:ext cx="1385888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8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Bob knows to use K</a:t>
              </a:r>
              <a:r>
                <a:rPr lang="en-US" sz="18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AB</a:t>
              </a:r>
              <a:r>
                <a:rPr lang="en-US" sz="18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 </a:t>
              </a:r>
              <a:r>
                <a:rPr lang="en-US" sz="18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to communicate with Alice</a:t>
              </a:r>
            </a:p>
          </p:txBody>
        </p:sp>
        <p:sp>
          <p:nvSpPr>
            <p:cNvPr id="13" name="Line 32"/>
            <p:cNvSpPr>
              <a:spLocks noChangeShapeType="1"/>
            </p:cNvSpPr>
            <p:nvPr/>
          </p:nvSpPr>
          <p:spPr bwMode="auto">
            <a:xfrm>
              <a:off x="2200276" y="5088790"/>
              <a:ext cx="4473179" cy="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i="1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1839518" y="5265005"/>
              <a:ext cx="517326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Alice and Bob communicate: using K</a:t>
              </a:r>
              <a:r>
                <a:rPr lang="en-US" sz="2000" baseline="-25000" dirty="0">
                  <a:solidFill>
                    <a:srgbClr val="0070C0"/>
                  </a:solidFill>
                  <a:latin typeface="Calibri"/>
                </a:rPr>
                <a:t>AB</a:t>
              </a:r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 as </a:t>
              </a:r>
            </a:p>
            <a:p>
              <a:r>
                <a:rPr lang="en-US" sz="2000" b="1" dirty="0">
                  <a:solidFill>
                    <a:srgbClr val="0070C0"/>
                  </a:solidFill>
                  <a:latin typeface="Calibri"/>
                </a:rPr>
                <a:t>session key</a:t>
              </a:r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 for shared symmetric encryption </a:t>
              </a:r>
            </a:p>
          </p:txBody>
        </p:sp>
        <p:sp>
          <p:nvSpPr>
            <p:cNvPr id="15" name="Text Box 36"/>
            <p:cNvSpPr txBox="1">
              <a:spLocks noChangeArrowheads="1"/>
            </p:cNvSpPr>
            <p:nvPr/>
          </p:nvSpPr>
          <p:spPr bwMode="auto">
            <a:xfrm>
              <a:off x="5230416" y="2351943"/>
              <a:ext cx="1037034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KDC generates  </a:t>
              </a:r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K</a:t>
              </a:r>
              <a:r>
                <a:rPr lang="en-US" sz="2000" i="1" baseline="-25000" dirty="0" smtClean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AB</a:t>
              </a:r>
              <a:endParaRPr lang="en-US" sz="2000" i="1" baseline="-25000" dirty="0">
                <a:solidFill>
                  <a:srgbClr val="4F81BD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3844529" y="4454547"/>
              <a:ext cx="151804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B-KDC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(A</a:t>
              </a:r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,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 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AB</a:t>
              </a:r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) </a:t>
              </a:r>
              <a:endParaRPr lang="en-US" sz="2000" i="1" dirty="0">
                <a:solidFill>
                  <a:srgbClr val="4F81BD">
                    <a:lumMod val="75000"/>
                  </a:srgbClr>
                </a:solidFill>
                <a:latin typeface="Calibri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2662238" y="2590800"/>
              <a:ext cx="1287066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8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K</a:t>
              </a:r>
              <a:r>
                <a:rPr lang="en-US" sz="18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A-KDC</a:t>
              </a:r>
              <a:r>
                <a:rPr lang="en-US" sz="18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(A,B)</a:t>
              </a:r>
            </a:p>
          </p:txBody>
        </p:sp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3124200" y="3571142"/>
              <a:ext cx="31623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K</a:t>
              </a:r>
              <a:r>
                <a:rPr lang="en-US" sz="2000" i="1" baseline="-25000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A-KDC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(K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AB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, 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B-KDC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(A</a:t>
              </a:r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,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 K</a:t>
              </a:r>
              <a:r>
                <a:rPr lang="en-US" sz="2000" i="1" baseline="-25000" dirty="0">
                  <a:solidFill>
                    <a:srgbClr val="4F81BD">
                      <a:lumMod val="75000"/>
                    </a:srgbClr>
                  </a:solidFill>
                  <a:latin typeface="Calibri"/>
                </a:rPr>
                <a:t>AB</a:t>
              </a:r>
              <a:r>
                <a:rPr lang="en-US" sz="2000" i="1" dirty="0" smtClean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) </a:t>
              </a:r>
              <a:r>
                <a:rPr lang="en-US" sz="2000" i="1" dirty="0">
                  <a:solidFill>
                    <a:srgbClr val="4F81BD">
                      <a:lumMod val="75000"/>
                    </a:srgbClr>
                  </a:solidFill>
                  <a:latin typeface="Calibri"/>
                  <a:ea typeface="Arial Unicode MS" pitchFamily="34" charset="-128"/>
                  <a:cs typeface="Arial Unicode MS" pitchFamily="34" charset="-128"/>
                </a:rPr>
                <a:t>)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1630741" y="2499360"/>
              <a:ext cx="903548" cy="100584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6461882" y="2499360"/>
              <a:ext cx="853319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303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communication in Kerberos is protected through symmetric key </a:t>
            </a:r>
            <a:r>
              <a:rPr lang="en-US" dirty="0" smtClean="0"/>
              <a:t>cryptography (DES)</a:t>
            </a:r>
            <a:endParaRPr lang="en-US" dirty="0"/>
          </a:p>
          <a:p>
            <a:r>
              <a:rPr lang="en-US" dirty="0"/>
              <a:t>Each client (user) and server in Kerberos has a secret </a:t>
            </a:r>
            <a:r>
              <a:rPr lang="en-US" dirty="0" smtClean="0"/>
              <a:t>key known </a:t>
            </a:r>
            <a:r>
              <a:rPr lang="en-US" dirty="0"/>
              <a:t>only by the individual and the Kerberos Authentication </a:t>
            </a:r>
            <a:r>
              <a:rPr lang="en-US" dirty="0" smtClean="0"/>
              <a:t>Service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facilitate the process, users have passwords that are transformed to their secret key when </a:t>
            </a:r>
            <a:r>
              <a:rPr lang="en-US" dirty="0" smtClean="0"/>
              <a:t>needed</a:t>
            </a:r>
            <a:endParaRPr lang="en-US" dirty="0"/>
          </a:p>
          <a:p>
            <a:r>
              <a:rPr lang="en-US" dirty="0"/>
              <a:t>For communication between everything else, session keys are used that generated by </a:t>
            </a:r>
            <a:r>
              <a:rPr lang="en-US" dirty="0" smtClean="0"/>
              <a:t>the </a:t>
            </a:r>
            <a:r>
              <a:rPr lang="en-US" dirty="0"/>
              <a:t>Ticket Granting Service</a:t>
            </a:r>
          </a:p>
          <a:p>
            <a:r>
              <a:rPr lang="en-US" dirty="0"/>
              <a:t>Tickets are tokens issued to clients to present to a particular server to verify that the client was recently authenticated by Kerberos</a:t>
            </a:r>
          </a:p>
          <a:p>
            <a:r>
              <a:rPr lang="en-US" dirty="0"/>
              <a:t>Each ticket contains an expiry time and a session key for use by the client and the particular server</a:t>
            </a:r>
          </a:p>
        </p:txBody>
      </p:sp>
    </p:spTree>
    <p:extLst>
      <p:ext uri="{BB962C8B-B14F-4D97-AF65-F5344CB8AC3E}">
        <p14:creationId xmlns:p14="http://schemas.microsoft.com/office/powerpoint/2010/main" val="120496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Kerberos </a:t>
            </a:r>
            <a:r>
              <a:rPr lang="en-US" dirty="0"/>
              <a:t>protects against eavesdropping:</a:t>
            </a:r>
          </a:p>
          <a:p>
            <a:pPr lvl="1"/>
            <a:r>
              <a:rPr lang="en-US" sz="2400" dirty="0"/>
              <a:t>If someone else sends TGT, they get back a </a:t>
            </a:r>
            <a:r>
              <a:rPr lang="en-US" sz="2400" dirty="0" smtClean="0"/>
              <a:t>ticket, and </a:t>
            </a:r>
            <a:r>
              <a:rPr lang="en-US" sz="2400" dirty="0"/>
              <a:t>can't decrypt the service key unless they </a:t>
            </a:r>
            <a:r>
              <a:rPr lang="en-US" sz="2400" dirty="0" smtClean="0"/>
              <a:t>know the </a:t>
            </a:r>
            <a:r>
              <a:rPr lang="en-US" sz="2400" dirty="0"/>
              <a:t>client's secret </a:t>
            </a:r>
            <a:r>
              <a:rPr lang="en-US" sz="2400" dirty="0" smtClean="0"/>
              <a:t>key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Kerberos </a:t>
            </a:r>
            <a:r>
              <a:rPr lang="en-US" dirty="0"/>
              <a:t>protects against replay attacks:</a:t>
            </a:r>
          </a:p>
          <a:p>
            <a:pPr lvl="1"/>
            <a:r>
              <a:rPr lang="en-US" sz="2400" dirty="0"/>
              <a:t>If someone sends TGT or ticket later, it is </a:t>
            </a:r>
            <a:r>
              <a:rPr lang="en-US" sz="2400" dirty="0" smtClean="0"/>
              <a:t>rejected</a:t>
            </a:r>
            <a:endParaRPr lang="en-US" sz="2400" dirty="0"/>
          </a:p>
          <a:p>
            <a:pPr lvl="1"/>
            <a:r>
              <a:rPr lang="en-US" sz="2400" dirty="0"/>
              <a:t>All clients, servers should have time </a:t>
            </a:r>
            <a:r>
              <a:rPr lang="en-US" sz="2400" dirty="0" smtClean="0"/>
              <a:t>synchronized within </a:t>
            </a:r>
            <a:r>
              <a:rPr lang="en-US" sz="2400" dirty="0"/>
              <a:t>a specified </a:t>
            </a:r>
            <a:r>
              <a:rPr lang="en-US" sz="2400" dirty="0" smtClean="0"/>
              <a:t>limit</a:t>
            </a:r>
          </a:p>
          <a:p>
            <a:pPr marL="107950" indent="0">
              <a:buNone/>
            </a:pPr>
            <a:endParaRPr lang="en-US" sz="2800" dirty="0" smtClean="0"/>
          </a:p>
          <a:p>
            <a:r>
              <a:rPr lang="en-US" dirty="0"/>
              <a:t>Ticket's contain requesters IP address, no one else can use the ticket without changing their IP addresses</a:t>
            </a:r>
          </a:p>
        </p:txBody>
      </p:sp>
    </p:spTree>
    <p:extLst>
      <p:ext uri="{BB962C8B-B14F-4D97-AF65-F5344CB8AC3E}">
        <p14:creationId xmlns:p14="http://schemas.microsoft.com/office/powerpoint/2010/main" val="307641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Kerberos: A KDC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 its ticket-granting capabilities, one can achieve scalability by having one KDC grant a ticket permitting a client to contact a KDC in another </a:t>
            </a:r>
            <a:r>
              <a:rPr lang="en-US" dirty="0" smtClean="0"/>
              <a:t>realm</a:t>
            </a:r>
          </a:p>
          <a:p>
            <a:r>
              <a:rPr lang="en-US" dirty="0"/>
              <a:t>Most KDC operations are </a:t>
            </a:r>
            <a:r>
              <a:rPr lang="en-US" dirty="0" smtClean="0"/>
              <a:t>read-only</a:t>
            </a:r>
            <a:endParaRPr lang="en-US" dirty="0"/>
          </a:p>
          <a:p>
            <a:r>
              <a:rPr lang="en-US" dirty="0"/>
              <a:t>But, we still have issues of setting up secret keys in the first place, and the potential for interruption attacks on the KDC itself</a:t>
            </a:r>
          </a:p>
          <a:p>
            <a:r>
              <a:rPr lang="en-US" dirty="0"/>
              <a:t>Furthermore, Kerberos depends on a good network time service to synchronize system times for accepting timestamps</a:t>
            </a:r>
          </a:p>
          <a:p>
            <a:r>
              <a:rPr lang="en-US" dirty="0"/>
              <a:t>This makes the time service a good target for interruption attacks too!</a:t>
            </a:r>
          </a:p>
        </p:txBody>
      </p:sp>
    </p:spTree>
    <p:extLst>
      <p:ext uri="{BB962C8B-B14F-4D97-AF65-F5344CB8AC3E}">
        <p14:creationId xmlns:p14="http://schemas.microsoft.com/office/powerpoint/2010/main" val="192744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Distribution of Public Keys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design, public keys are made public</a:t>
            </a:r>
          </a:p>
          <a:p>
            <a:pPr marL="0" indent="0">
              <a:buNone/>
            </a:pPr>
            <a:r>
              <a:rPr lang="en-US" u="sng" dirty="0" smtClean="0"/>
              <a:t>Issue</a:t>
            </a:r>
            <a:r>
              <a:rPr lang="en-US" u="sng" dirty="0"/>
              <a:t>: how to ensure public key of A actually belongs </a:t>
            </a:r>
            <a:r>
              <a:rPr lang="en-US" u="sng" dirty="0" smtClean="0"/>
              <a:t>to A </a:t>
            </a:r>
            <a:r>
              <a:rPr lang="en-US" u="sng" dirty="0"/>
              <a:t>(and not someone pretending to be A)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Approaches </a:t>
            </a:r>
            <a:r>
              <a:rPr lang="en-US" dirty="0"/>
              <a:t>for distributing public keys</a:t>
            </a:r>
          </a:p>
          <a:p>
            <a:pPr lvl="1"/>
            <a:r>
              <a:rPr lang="en-US" sz="2400" dirty="0" smtClean="0"/>
              <a:t>Public </a:t>
            </a:r>
            <a:r>
              <a:rPr lang="en-US" sz="2400" dirty="0"/>
              <a:t>announcement</a:t>
            </a:r>
          </a:p>
          <a:p>
            <a:pPr lvl="1"/>
            <a:r>
              <a:rPr lang="en-US" sz="2400" dirty="0" smtClean="0"/>
              <a:t>Publicly </a:t>
            </a:r>
            <a:r>
              <a:rPr lang="en-US" sz="2400" dirty="0"/>
              <a:t>available directory</a:t>
            </a:r>
          </a:p>
          <a:p>
            <a:pPr lvl="1"/>
            <a:r>
              <a:rPr lang="en-US" sz="2400" dirty="0" smtClean="0"/>
              <a:t>Public-key certificates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r>
              <a:rPr lang="en-US" dirty="0">
                <a:hlinkClick r:id="rId2"/>
              </a:rPr>
              <a:t>https</a:t>
            </a:r>
            <a:r>
              <a:rPr lang="en-US">
                <a:hlinkClick r:id="rId2"/>
              </a:rPr>
              <a:t>://</a:t>
            </a:r>
            <a:r>
              <a:rPr lang="en-US" smtClean="0">
                <a:hlinkClick r:id="rId2"/>
              </a:rPr>
              <a:t>www.youtube.com/watch?v=dDKuLMLOEb4</a:t>
            </a:r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Certification Authorities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Unsigned public keys can be tampered</a:t>
            </a:r>
          </a:p>
          <a:p>
            <a:r>
              <a:rPr lang="en-US" dirty="0" smtClean="0"/>
              <a:t>Certification </a:t>
            </a:r>
            <a:r>
              <a:rPr lang="en-US" dirty="0"/>
              <a:t>Authority (</a:t>
            </a:r>
            <a:r>
              <a:rPr lang="en-US" dirty="0" smtClean="0"/>
              <a:t>CA) binds </a:t>
            </a:r>
            <a:r>
              <a:rPr lang="en-US" dirty="0"/>
              <a:t>a public key to particular entity, E</a:t>
            </a:r>
          </a:p>
          <a:p>
            <a:pPr lvl="1"/>
            <a:r>
              <a:rPr lang="en-US" dirty="0"/>
              <a:t>E (person, router) registers its public key with CA</a:t>
            </a:r>
          </a:p>
          <a:p>
            <a:pPr lvl="1"/>
            <a:r>
              <a:rPr lang="en-US" dirty="0"/>
              <a:t>E provides “proof of identity” to CA</a:t>
            </a:r>
          </a:p>
          <a:p>
            <a:pPr lvl="1"/>
            <a:r>
              <a:rPr lang="en-US" dirty="0"/>
              <a:t>CA creates certificate binding E to its public key</a:t>
            </a:r>
          </a:p>
          <a:p>
            <a:pPr lvl="1"/>
            <a:r>
              <a:rPr lang="en-US" dirty="0"/>
              <a:t>Certificate containing E’s public key digitally signed by </a:t>
            </a:r>
            <a:r>
              <a:rPr lang="en-US" dirty="0" smtClean="0"/>
              <a:t>CA, </a:t>
            </a:r>
            <a:r>
              <a:rPr lang="en-US" dirty="0"/>
              <a:t>CA says “this is E’s public key”</a:t>
            </a:r>
          </a:p>
        </p:txBody>
      </p:sp>
    </p:spTree>
    <p:extLst>
      <p:ext uri="{BB962C8B-B14F-4D97-AF65-F5344CB8AC3E}">
        <p14:creationId xmlns:p14="http://schemas.microsoft.com/office/powerpoint/2010/main" val="293344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Certification Authorities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62000" y="1905001"/>
            <a:ext cx="8153400" cy="4038599"/>
            <a:chOff x="1200150" y="2682889"/>
            <a:chExt cx="6400800" cy="2498711"/>
          </a:xfrm>
        </p:grpSpPr>
        <p:pic>
          <p:nvPicPr>
            <p:cNvPr id="4" name="Picture 3" descr="j0175664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9501" y="3829053"/>
              <a:ext cx="866775" cy="917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" name="Text Box 13"/>
            <p:cNvSpPr txBox="1">
              <a:spLocks noChangeArrowheads="1"/>
            </p:cNvSpPr>
            <p:nvPr/>
          </p:nvSpPr>
          <p:spPr bwMode="auto">
            <a:xfrm>
              <a:off x="1439432" y="3173413"/>
              <a:ext cx="1274004" cy="3618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rgbClr val="0070C0"/>
                  </a:solidFill>
                </a:rPr>
                <a:t>Bob’s </a:t>
              </a:r>
              <a:r>
                <a:rPr lang="en-US" sz="1600" dirty="0" smtClean="0">
                  <a:solidFill>
                    <a:srgbClr val="0070C0"/>
                  </a:solidFill>
                </a:rPr>
                <a:t>public</a:t>
              </a:r>
              <a:endParaRPr lang="en-US" sz="1600" dirty="0">
                <a:solidFill>
                  <a:srgbClr val="0070C0"/>
                </a:solidFill>
              </a:endParaRPr>
            </a:p>
            <a:p>
              <a:r>
                <a:rPr lang="en-US" sz="1600" dirty="0">
                  <a:solidFill>
                    <a:srgbClr val="0070C0"/>
                  </a:solidFill>
                </a:rPr>
                <a:t>key </a:t>
              </a:r>
            </a:p>
          </p:txBody>
        </p:sp>
        <p:pic>
          <p:nvPicPr>
            <p:cNvPr id="8" name="Picture 7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726531" y="3254378"/>
              <a:ext cx="344091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2644386" y="3492506"/>
              <a:ext cx="398860" cy="528638"/>
              <a:chOff x="2982" y="2073"/>
              <a:chExt cx="335" cy="333"/>
            </a:xfrm>
          </p:grpSpPr>
          <p:grpSp>
            <p:nvGrpSpPr>
              <p:cNvPr id="10" name="Group 9"/>
              <p:cNvGrpSpPr>
                <a:grpSpLocks/>
              </p:cNvGrpSpPr>
              <p:nvPr/>
            </p:nvGrpSpPr>
            <p:grpSpPr bwMode="auto">
              <a:xfrm>
                <a:off x="2982" y="2144"/>
                <a:ext cx="335" cy="262"/>
                <a:chOff x="2982" y="2144"/>
                <a:chExt cx="335" cy="262"/>
              </a:xfrm>
            </p:grpSpPr>
            <p:sp>
              <p:nvSpPr>
                <p:cNvPr id="1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982" y="2144"/>
                  <a:ext cx="291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>
                      <a:solidFill>
                        <a:srgbClr val="FF0000"/>
                      </a:solidFill>
                    </a:rPr>
                    <a:t>K </a:t>
                  </a:r>
                </a:p>
              </p:txBody>
            </p:sp>
            <p:sp>
              <p:nvSpPr>
                <p:cNvPr id="1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088" y="2241"/>
                  <a:ext cx="229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11" name="Text Box 19"/>
              <p:cNvSpPr txBox="1">
                <a:spLocks noChangeArrowheads="1"/>
              </p:cNvSpPr>
              <p:nvPr/>
            </p:nvSpPr>
            <p:spPr bwMode="auto">
              <a:xfrm>
                <a:off x="3099" y="2073"/>
                <a:ext cx="212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10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3048001" y="3500437"/>
              <a:ext cx="523875" cy="615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600">
                <a:solidFill>
                  <a:prstClr val="black"/>
                </a:solidFill>
              </a:endParaRPr>
            </a:p>
          </p:txBody>
        </p: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1200150" y="4356102"/>
              <a:ext cx="982266" cy="4570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400" dirty="0">
                  <a:solidFill>
                    <a:srgbClr val="0070C0"/>
                  </a:solidFill>
                </a:rPr>
                <a:t>Bob’s </a:t>
              </a:r>
            </a:p>
            <a:p>
              <a:pPr algn="r"/>
              <a:r>
                <a:rPr lang="en-US" sz="1400" dirty="0">
                  <a:solidFill>
                    <a:srgbClr val="0070C0"/>
                  </a:solidFill>
                </a:rPr>
                <a:t>identifying information </a:t>
              </a: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V="1">
              <a:off x="3020616" y="4283075"/>
              <a:ext cx="556022" cy="341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600">
                <a:solidFill>
                  <a:prstClr val="black"/>
                </a:solidFill>
              </a:endParaRPr>
            </a:p>
          </p:txBody>
        </p:sp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4754169" y="3073402"/>
              <a:ext cx="932259" cy="955675"/>
              <a:chOff x="1114" y="2124"/>
              <a:chExt cx="783" cy="602"/>
            </a:xfrm>
          </p:grpSpPr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126" y="2124"/>
                <a:ext cx="751" cy="60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endParaRPr 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Text Box 26"/>
              <p:cNvSpPr txBox="1">
                <a:spLocks noChangeArrowheads="1"/>
              </p:cNvSpPr>
              <p:nvPr/>
            </p:nvSpPr>
            <p:spPr bwMode="auto">
              <a:xfrm>
                <a:off x="1114" y="2127"/>
                <a:ext cx="78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solidFill>
                      <a:prstClr val="white"/>
                    </a:solidFill>
                  </a:rPr>
                  <a:t>digital</a:t>
                </a:r>
              </a:p>
              <a:p>
                <a:r>
                  <a:rPr lang="en-US" sz="1800" dirty="0">
                    <a:solidFill>
                      <a:prstClr val="white"/>
                    </a:solidFill>
                  </a:rPr>
                  <a:t>signature</a:t>
                </a:r>
              </a:p>
              <a:p>
                <a:r>
                  <a:rPr lang="en-US" sz="1800" dirty="0">
                    <a:solidFill>
                      <a:prstClr val="white"/>
                    </a:solidFill>
                  </a:rPr>
                  <a:t>(encrypt)</a:t>
                </a:r>
              </a:p>
            </p:txBody>
          </p:sp>
        </p:grpSp>
        <p:sp>
          <p:nvSpPr>
            <p:cNvPr id="20" name="Text Box 27"/>
            <p:cNvSpPr txBox="1">
              <a:spLocks noChangeArrowheads="1"/>
            </p:cNvSpPr>
            <p:nvPr/>
          </p:nvSpPr>
          <p:spPr bwMode="auto">
            <a:xfrm>
              <a:off x="4536282" y="4068763"/>
              <a:ext cx="720329" cy="514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CA </a:t>
              </a:r>
            </a:p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private</a:t>
              </a:r>
            </a:p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key </a:t>
              </a:r>
            </a:p>
          </p:txBody>
        </p:sp>
        <p:pic>
          <p:nvPicPr>
            <p:cNvPr id="21" name="Picture 20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5412581" y="4162428"/>
              <a:ext cx="344091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21"/>
            <p:cNvGrpSpPr>
              <a:grpSpLocks/>
            </p:cNvGrpSpPr>
            <p:nvPr/>
          </p:nvGrpSpPr>
          <p:grpSpPr bwMode="auto">
            <a:xfrm>
              <a:off x="5164958" y="4400555"/>
              <a:ext cx="503637" cy="403225"/>
              <a:chOff x="3758" y="3688"/>
              <a:chExt cx="423" cy="254"/>
            </a:xfrm>
          </p:grpSpPr>
          <p:sp>
            <p:nvSpPr>
              <p:cNvPr id="23" name="Text Box 31"/>
              <p:cNvSpPr txBox="1">
                <a:spLocks noChangeArrowheads="1"/>
              </p:cNvSpPr>
              <p:nvPr/>
            </p:nvSpPr>
            <p:spPr bwMode="auto">
              <a:xfrm>
                <a:off x="3758" y="3688"/>
                <a:ext cx="291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24" name="Text Box 32"/>
              <p:cNvSpPr txBox="1">
                <a:spLocks noChangeArrowheads="1"/>
              </p:cNvSpPr>
              <p:nvPr/>
            </p:nvSpPr>
            <p:spPr bwMode="auto">
              <a:xfrm>
                <a:off x="3868" y="3777"/>
                <a:ext cx="31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100">
                    <a:solidFill>
                      <a:srgbClr val="FF0000"/>
                    </a:solidFill>
                  </a:rPr>
                  <a:t>CA</a:t>
                </a:r>
              </a:p>
            </p:txBody>
          </p:sp>
        </p:grp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5303962" y="4235452"/>
              <a:ext cx="26962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60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6" name="Line 34"/>
            <p:cNvSpPr>
              <a:spLocks noChangeShapeType="1"/>
            </p:cNvSpPr>
            <p:nvPr/>
          </p:nvSpPr>
          <p:spPr bwMode="auto">
            <a:xfrm flipV="1">
              <a:off x="5351860" y="3981453"/>
              <a:ext cx="0" cy="4286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600">
                <a:solidFill>
                  <a:prstClr val="black"/>
                </a:solidFill>
              </a:endParaRPr>
            </a:p>
          </p:txBody>
        </p:sp>
        <p:sp>
          <p:nvSpPr>
            <p:cNvPr id="27" name="Line 36"/>
            <p:cNvSpPr>
              <a:spLocks noChangeShapeType="1"/>
            </p:cNvSpPr>
            <p:nvPr/>
          </p:nvSpPr>
          <p:spPr bwMode="auto">
            <a:xfrm>
              <a:off x="3086101" y="3317875"/>
              <a:ext cx="1666875" cy="6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600">
                <a:solidFill>
                  <a:prstClr val="black"/>
                </a:solidFill>
              </a:endParaRPr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 flipV="1">
              <a:off x="5693569" y="3344865"/>
              <a:ext cx="850106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600">
                <a:solidFill>
                  <a:prstClr val="black"/>
                </a:solidFill>
              </a:endParaRPr>
            </a:p>
          </p:txBody>
        </p:sp>
        <p:grpSp>
          <p:nvGrpSpPr>
            <p:cNvPr id="29" name="Group 28"/>
            <p:cNvGrpSpPr>
              <a:grpSpLocks/>
            </p:cNvGrpSpPr>
            <p:nvPr/>
          </p:nvGrpSpPr>
          <p:grpSpPr bwMode="auto">
            <a:xfrm>
              <a:off x="6419851" y="3052765"/>
              <a:ext cx="644129" cy="1158875"/>
              <a:chOff x="4446" y="2648"/>
              <a:chExt cx="541" cy="730"/>
            </a:xfrm>
          </p:grpSpPr>
          <p:pic>
            <p:nvPicPr>
              <p:cNvPr id="30" name="Picture 29" descr="SO00109_[1]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46" y="2648"/>
                <a:ext cx="541" cy="7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31" name="Group 30"/>
              <p:cNvGrpSpPr>
                <a:grpSpLocks/>
              </p:cNvGrpSpPr>
              <p:nvPr/>
            </p:nvGrpSpPr>
            <p:grpSpPr bwMode="auto">
              <a:xfrm>
                <a:off x="4598" y="2766"/>
                <a:ext cx="335" cy="333"/>
                <a:chOff x="2982" y="2073"/>
                <a:chExt cx="335" cy="333"/>
              </a:xfrm>
            </p:grpSpPr>
            <p:grpSp>
              <p:nvGrpSpPr>
                <p:cNvPr id="33" name="Group 32"/>
                <p:cNvGrpSpPr>
                  <a:grpSpLocks/>
                </p:cNvGrpSpPr>
                <p:nvPr/>
              </p:nvGrpSpPr>
              <p:grpSpPr bwMode="auto">
                <a:xfrm>
                  <a:off x="2982" y="2144"/>
                  <a:ext cx="335" cy="262"/>
                  <a:chOff x="2982" y="2144"/>
                  <a:chExt cx="335" cy="262"/>
                </a:xfrm>
              </p:grpSpPr>
              <p:sp>
                <p:nvSpPr>
                  <p:cNvPr id="35" name="Text Box 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2" y="2144"/>
                    <a:ext cx="291" cy="19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400">
                        <a:solidFill>
                          <a:srgbClr val="FF0000"/>
                        </a:solidFill>
                      </a:rPr>
                      <a:t>K </a:t>
                    </a:r>
                  </a:p>
                </p:txBody>
              </p:sp>
              <p:sp>
                <p:nvSpPr>
                  <p:cNvPr id="36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8" y="2241"/>
                    <a:ext cx="229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10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</p:grpSp>
            <p:sp>
              <p:nvSpPr>
                <p:cNvPr id="3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099" y="2073"/>
                  <a:ext cx="212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  <p:pic>
            <p:nvPicPr>
              <p:cNvPr id="32" name="Picture 31" descr="BS00768_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640" y="3118"/>
                <a:ext cx="289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7" name="Text Box 47"/>
            <p:cNvSpPr txBox="1">
              <a:spLocks noChangeArrowheads="1"/>
            </p:cNvSpPr>
            <p:nvPr/>
          </p:nvSpPr>
          <p:spPr bwMode="auto">
            <a:xfrm>
              <a:off x="5866210" y="4146553"/>
              <a:ext cx="1734740" cy="571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solidFill>
                    <a:srgbClr val="0070C0"/>
                  </a:solidFill>
                </a:rPr>
                <a:t>certificate for Bob’s public key, </a:t>
              </a:r>
              <a:endParaRPr lang="en-US" sz="1800" dirty="0" smtClean="0">
                <a:solidFill>
                  <a:srgbClr val="0070C0"/>
                </a:solidFill>
              </a:endParaRPr>
            </a:p>
            <a:p>
              <a:r>
                <a:rPr lang="en-US" sz="1800" dirty="0" smtClean="0">
                  <a:solidFill>
                    <a:srgbClr val="0070C0"/>
                  </a:solidFill>
                </a:rPr>
                <a:t>signed </a:t>
              </a:r>
              <a:r>
                <a:rPr lang="en-US" sz="1800" dirty="0">
                  <a:solidFill>
                    <a:srgbClr val="0070C0"/>
                  </a:solidFill>
                </a:rPr>
                <a:t>by CA</a:t>
              </a:r>
            </a:p>
          </p:txBody>
        </p:sp>
        <p:grpSp>
          <p:nvGrpSpPr>
            <p:cNvPr id="38" name="Group 37"/>
            <p:cNvGrpSpPr>
              <a:grpSpLocks/>
            </p:cNvGrpSpPr>
            <p:nvPr/>
          </p:nvGrpSpPr>
          <p:grpSpPr bwMode="auto">
            <a:xfrm>
              <a:off x="5664991" y="2682889"/>
              <a:ext cx="910827" cy="623889"/>
              <a:chOff x="3812" y="2415"/>
              <a:chExt cx="765" cy="393"/>
            </a:xfrm>
          </p:grpSpPr>
          <p:sp>
            <p:nvSpPr>
              <p:cNvPr id="39" name="Text Box 50"/>
              <p:cNvSpPr txBox="1">
                <a:spLocks noChangeArrowheads="1"/>
              </p:cNvSpPr>
              <p:nvPr/>
            </p:nvSpPr>
            <p:spPr bwMode="auto">
              <a:xfrm>
                <a:off x="3959" y="2415"/>
                <a:ext cx="22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600">
                    <a:solidFill>
                      <a:srgbClr val="FF0000"/>
                    </a:solidFill>
                  </a:rPr>
                  <a:t>-</a:t>
                </a:r>
              </a:p>
            </p:txBody>
          </p:sp>
          <p:grpSp>
            <p:nvGrpSpPr>
              <p:cNvPr id="40" name="Group 39"/>
              <p:cNvGrpSpPr>
                <a:grpSpLocks/>
              </p:cNvGrpSpPr>
              <p:nvPr/>
            </p:nvGrpSpPr>
            <p:grpSpPr bwMode="auto">
              <a:xfrm>
                <a:off x="3812" y="2475"/>
                <a:ext cx="765" cy="333"/>
                <a:chOff x="3008" y="3843"/>
                <a:chExt cx="765" cy="333"/>
              </a:xfrm>
            </p:grpSpPr>
            <p:grpSp>
              <p:nvGrpSpPr>
                <p:cNvPr id="41" name="Group 40"/>
                <p:cNvGrpSpPr>
                  <a:grpSpLocks/>
                </p:cNvGrpSpPr>
                <p:nvPr/>
              </p:nvGrpSpPr>
              <p:grpSpPr bwMode="auto">
                <a:xfrm>
                  <a:off x="3008" y="3905"/>
                  <a:ext cx="423" cy="254"/>
                  <a:chOff x="3758" y="3688"/>
                  <a:chExt cx="423" cy="254"/>
                </a:xfrm>
              </p:grpSpPr>
              <p:sp>
                <p:nvSpPr>
                  <p:cNvPr id="46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58" y="3688"/>
                    <a:ext cx="291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400">
                        <a:solidFill>
                          <a:srgbClr val="FF0000"/>
                        </a:solidFill>
                      </a:rPr>
                      <a:t>K </a:t>
                    </a:r>
                  </a:p>
                </p:txBody>
              </p:sp>
              <p:sp>
                <p:nvSpPr>
                  <p:cNvPr id="47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68" y="3777"/>
                    <a:ext cx="313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100">
                        <a:solidFill>
                          <a:srgbClr val="FF0000"/>
                        </a:solidFill>
                      </a:rPr>
                      <a:t>CA</a:t>
                    </a:r>
                  </a:p>
                </p:txBody>
              </p:sp>
            </p:grpSp>
            <p:grpSp>
              <p:nvGrpSpPr>
                <p:cNvPr id="42" name="Group 41"/>
                <p:cNvGrpSpPr>
                  <a:grpSpLocks/>
                </p:cNvGrpSpPr>
                <p:nvPr/>
              </p:nvGrpSpPr>
              <p:grpSpPr bwMode="auto">
                <a:xfrm>
                  <a:off x="3283" y="3843"/>
                  <a:ext cx="490" cy="333"/>
                  <a:chOff x="2191" y="3789"/>
                  <a:chExt cx="490" cy="333"/>
                </a:xfrm>
              </p:grpSpPr>
              <p:sp>
                <p:nvSpPr>
                  <p:cNvPr id="43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91" y="3860"/>
                    <a:ext cx="490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400">
                        <a:solidFill>
                          <a:srgbClr val="FF0000"/>
                        </a:solidFill>
                      </a:rPr>
                      <a:t>(K  ) </a:t>
                    </a:r>
                  </a:p>
                </p:txBody>
              </p:sp>
              <p:sp>
                <p:nvSpPr>
                  <p:cNvPr id="44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5" y="3957"/>
                    <a:ext cx="229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10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45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6" y="3789"/>
                    <a:ext cx="212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100">
                        <a:solidFill>
                          <a:srgbClr val="FF0000"/>
                        </a:solidFill>
                      </a:rPr>
                      <a:t>+</a:t>
                    </a:r>
                  </a:p>
                </p:txBody>
              </p:sp>
            </p:grpSp>
          </p:grpSp>
        </p:grpSp>
        <p:pic>
          <p:nvPicPr>
            <p:cNvPr id="48" name="Picture 4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2232782" y="4175760"/>
              <a:ext cx="853319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Certification Authorities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1650391"/>
          </a:xfrm>
        </p:spPr>
        <p:txBody>
          <a:bodyPr>
            <a:normAutofit/>
          </a:bodyPr>
          <a:lstStyle/>
          <a:p>
            <a:r>
              <a:rPr lang="en-US" dirty="0"/>
              <a:t>When Alice wants Bob’s public key:</a:t>
            </a:r>
          </a:p>
          <a:p>
            <a:pPr lvl="1"/>
            <a:r>
              <a:rPr lang="en-US" dirty="0"/>
              <a:t>Gets Bob’s certificate (Bob or elsewhere)</a:t>
            </a:r>
          </a:p>
          <a:p>
            <a:pPr lvl="1"/>
            <a:r>
              <a:rPr lang="en-US" dirty="0"/>
              <a:t>Apply CA’s public key to Bob’s certificate, get Bob’s public key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4000" y="2514600"/>
            <a:ext cx="6019799" cy="4191000"/>
            <a:chOff x="2096691" y="3124211"/>
            <a:chExt cx="4532710" cy="2733658"/>
          </a:xfrm>
        </p:grpSpPr>
        <p:pic>
          <p:nvPicPr>
            <p:cNvPr id="49" name="Picture 48" descr="j0175664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2413" y="5113331"/>
              <a:ext cx="703659" cy="744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0" name="Text Box 39"/>
            <p:cNvSpPr txBox="1">
              <a:spLocks noChangeArrowheads="1"/>
            </p:cNvSpPr>
            <p:nvPr/>
          </p:nvSpPr>
          <p:spPr bwMode="auto">
            <a:xfrm>
              <a:off x="5909072" y="3338507"/>
              <a:ext cx="720329" cy="48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400" dirty="0">
                  <a:solidFill>
                    <a:srgbClr val="0070C0"/>
                  </a:solidFill>
                </a:rPr>
                <a:t>Bob’s </a:t>
              </a:r>
            </a:p>
            <a:p>
              <a:pPr algn="r"/>
              <a:r>
                <a:rPr lang="en-US" sz="1400" dirty="0">
                  <a:solidFill>
                    <a:srgbClr val="0070C0"/>
                  </a:solidFill>
                </a:rPr>
                <a:t>public</a:t>
              </a:r>
            </a:p>
            <a:p>
              <a:pPr algn="r"/>
              <a:r>
                <a:rPr lang="en-US" sz="1400" dirty="0">
                  <a:solidFill>
                    <a:srgbClr val="0070C0"/>
                  </a:solidFill>
                </a:rPr>
                <a:t>key </a:t>
              </a:r>
            </a:p>
          </p:txBody>
        </p:sp>
        <p:pic>
          <p:nvPicPr>
            <p:cNvPr id="51" name="Picture 50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5782865" y="3463922"/>
              <a:ext cx="344091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2" name="Group 51"/>
            <p:cNvGrpSpPr>
              <a:grpSpLocks/>
            </p:cNvGrpSpPr>
            <p:nvPr/>
          </p:nvGrpSpPr>
          <p:grpSpPr bwMode="auto">
            <a:xfrm>
              <a:off x="5688815" y="3702050"/>
              <a:ext cx="415529" cy="542926"/>
              <a:chOff x="2972" y="2073"/>
              <a:chExt cx="349" cy="342"/>
            </a:xfrm>
          </p:grpSpPr>
          <p:grpSp>
            <p:nvGrpSpPr>
              <p:cNvPr id="53" name="Group 52"/>
              <p:cNvGrpSpPr>
                <a:grpSpLocks/>
              </p:cNvGrpSpPr>
              <p:nvPr/>
            </p:nvGrpSpPr>
            <p:grpSpPr bwMode="auto">
              <a:xfrm>
                <a:off x="2972" y="2144"/>
                <a:ext cx="349" cy="271"/>
                <a:chOff x="2972" y="2144"/>
                <a:chExt cx="349" cy="271"/>
              </a:xfrm>
            </p:grpSpPr>
            <p:sp>
              <p:nvSpPr>
                <p:cNvPr id="5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972" y="2144"/>
                  <a:ext cx="311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600">
                      <a:solidFill>
                        <a:srgbClr val="FF0000"/>
                      </a:solidFill>
                    </a:rPr>
                    <a:t>K </a:t>
                  </a:r>
                </a:p>
              </p:txBody>
            </p:sp>
            <p:sp>
              <p:nvSpPr>
                <p:cNvPr id="5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084" y="2241"/>
                  <a:ext cx="237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54" name="Text Box 45"/>
              <p:cNvSpPr txBox="1">
                <a:spLocks noChangeArrowheads="1"/>
              </p:cNvSpPr>
              <p:nvPr/>
            </p:nvSpPr>
            <p:spPr bwMode="auto">
              <a:xfrm>
                <a:off x="3094" y="2073"/>
                <a:ext cx="217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  <p:grpSp>
          <p:nvGrpSpPr>
            <p:cNvPr id="57" name="Group 56"/>
            <p:cNvGrpSpPr>
              <a:grpSpLocks/>
            </p:cNvGrpSpPr>
            <p:nvPr/>
          </p:nvGrpSpPr>
          <p:grpSpPr bwMode="auto">
            <a:xfrm>
              <a:off x="3915968" y="3297234"/>
              <a:ext cx="973932" cy="955675"/>
              <a:chOff x="1098" y="2124"/>
              <a:chExt cx="818" cy="602"/>
            </a:xfrm>
          </p:grpSpPr>
          <p:sp>
            <p:nvSpPr>
              <p:cNvPr id="58" name="Rectangle 57"/>
              <p:cNvSpPr>
                <a:spLocks noChangeArrowheads="1"/>
              </p:cNvSpPr>
              <p:nvPr/>
            </p:nvSpPr>
            <p:spPr bwMode="auto">
              <a:xfrm>
                <a:off x="1126" y="2124"/>
                <a:ext cx="751" cy="60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endParaRPr lang="en-US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Text Box 51"/>
              <p:cNvSpPr txBox="1">
                <a:spLocks noChangeArrowheads="1"/>
              </p:cNvSpPr>
              <p:nvPr/>
            </p:nvSpPr>
            <p:spPr bwMode="auto">
              <a:xfrm>
                <a:off x="1098" y="2127"/>
                <a:ext cx="818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prstClr val="white"/>
                    </a:solidFill>
                  </a:rPr>
                  <a:t>digital</a:t>
                </a:r>
              </a:p>
              <a:p>
                <a:r>
                  <a:rPr lang="en-US" sz="1400">
                    <a:solidFill>
                      <a:prstClr val="white"/>
                    </a:solidFill>
                  </a:rPr>
                  <a:t>signature</a:t>
                </a:r>
              </a:p>
              <a:p>
                <a:r>
                  <a:rPr lang="en-US" sz="1400">
                    <a:solidFill>
                      <a:prstClr val="white"/>
                    </a:solidFill>
                  </a:rPr>
                  <a:t>(decrypt)</a:t>
                </a:r>
              </a:p>
            </p:txBody>
          </p:sp>
        </p:grpSp>
        <p:sp>
          <p:nvSpPr>
            <p:cNvPr id="60" name="Text Box 52"/>
            <p:cNvSpPr txBox="1">
              <a:spLocks noChangeArrowheads="1"/>
            </p:cNvSpPr>
            <p:nvPr/>
          </p:nvSpPr>
          <p:spPr bwMode="auto">
            <a:xfrm>
              <a:off x="3598070" y="4394195"/>
              <a:ext cx="720328" cy="542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CA </a:t>
              </a:r>
            </a:p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public</a:t>
              </a:r>
            </a:p>
            <a:p>
              <a:pPr algn="r"/>
              <a:r>
                <a:rPr lang="en-US" sz="1600" dirty="0">
                  <a:solidFill>
                    <a:srgbClr val="0070C0"/>
                  </a:solidFill>
                </a:rPr>
                <a:t>key </a:t>
              </a:r>
            </a:p>
          </p:txBody>
        </p:sp>
        <p:pic>
          <p:nvPicPr>
            <p:cNvPr id="61" name="Picture 60" descr="BS00768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527947" y="4402131"/>
              <a:ext cx="344091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2" name="Group 61"/>
            <p:cNvGrpSpPr>
              <a:grpSpLocks/>
            </p:cNvGrpSpPr>
            <p:nvPr/>
          </p:nvGrpSpPr>
          <p:grpSpPr bwMode="auto">
            <a:xfrm>
              <a:off x="4486288" y="4681531"/>
              <a:ext cx="523877" cy="417513"/>
              <a:chOff x="3748" y="3688"/>
              <a:chExt cx="440" cy="263"/>
            </a:xfrm>
          </p:grpSpPr>
          <p:sp>
            <p:nvSpPr>
              <p:cNvPr id="63" name="Text Box 55"/>
              <p:cNvSpPr txBox="1">
                <a:spLocks noChangeArrowheads="1"/>
              </p:cNvSpPr>
              <p:nvPr/>
            </p:nvSpPr>
            <p:spPr bwMode="auto">
              <a:xfrm>
                <a:off x="3748" y="3688"/>
                <a:ext cx="31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600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64" name="Text Box 56"/>
              <p:cNvSpPr txBox="1">
                <a:spLocks noChangeArrowheads="1"/>
              </p:cNvSpPr>
              <p:nvPr/>
            </p:nvSpPr>
            <p:spPr bwMode="auto">
              <a:xfrm>
                <a:off x="3861" y="3777"/>
                <a:ext cx="327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solidFill>
                      <a:srgbClr val="FF0000"/>
                    </a:solidFill>
                  </a:rPr>
                  <a:t>CA</a:t>
                </a:r>
              </a:p>
            </p:txBody>
          </p:sp>
        </p:grpSp>
        <p:sp>
          <p:nvSpPr>
            <p:cNvPr id="65" name="Text Box 57"/>
            <p:cNvSpPr txBox="1">
              <a:spLocks noChangeArrowheads="1"/>
            </p:cNvSpPr>
            <p:nvPr/>
          </p:nvSpPr>
          <p:spPr bwMode="auto">
            <a:xfrm>
              <a:off x="4623197" y="4516433"/>
              <a:ext cx="29527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 flipV="1">
              <a:off x="4380309" y="4321169"/>
              <a:ext cx="0" cy="893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>
              <a:off x="2712244" y="3744906"/>
              <a:ext cx="1220390" cy="6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 flipV="1">
              <a:off x="4863703" y="3757609"/>
              <a:ext cx="850106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Comic Sans MS" pitchFamily="66" charset="0"/>
                  <a:ea typeface="+mn-ea"/>
                  <a:cs typeface="+mn-cs"/>
                </a:defRPr>
              </a:lvl9pPr>
            </a:lstStyle>
            <a:p>
              <a:endParaRPr lang="en-US" sz="1800">
                <a:solidFill>
                  <a:prstClr val="black"/>
                </a:solidFill>
              </a:endParaRPr>
            </a:p>
          </p:txBody>
        </p:sp>
        <p:grpSp>
          <p:nvGrpSpPr>
            <p:cNvPr id="69" name="Group 68"/>
            <p:cNvGrpSpPr>
              <a:grpSpLocks/>
            </p:cNvGrpSpPr>
            <p:nvPr/>
          </p:nvGrpSpPr>
          <p:grpSpPr bwMode="auto">
            <a:xfrm>
              <a:off x="2096691" y="3176584"/>
              <a:ext cx="644129" cy="1158875"/>
              <a:chOff x="4446" y="2648"/>
              <a:chExt cx="541" cy="730"/>
            </a:xfrm>
          </p:grpSpPr>
          <p:pic>
            <p:nvPicPr>
              <p:cNvPr id="70" name="Picture 69" descr="SO00109_[1]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46" y="2648"/>
                <a:ext cx="541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1" name="Group 70"/>
              <p:cNvGrpSpPr>
                <a:grpSpLocks/>
              </p:cNvGrpSpPr>
              <p:nvPr/>
            </p:nvGrpSpPr>
            <p:grpSpPr bwMode="auto">
              <a:xfrm>
                <a:off x="4588" y="2766"/>
                <a:ext cx="349" cy="342"/>
                <a:chOff x="2972" y="2073"/>
                <a:chExt cx="349" cy="342"/>
              </a:xfrm>
            </p:grpSpPr>
            <p:grpSp>
              <p:nvGrpSpPr>
                <p:cNvPr id="73" name="Group 72"/>
                <p:cNvGrpSpPr>
                  <a:grpSpLocks/>
                </p:cNvGrpSpPr>
                <p:nvPr/>
              </p:nvGrpSpPr>
              <p:grpSpPr bwMode="auto">
                <a:xfrm>
                  <a:off x="2972" y="2144"/>
                  <a:ext cx="349" cy="271"/>
                  <a:chOff x="2972" y="2144"/>
                  <a:chExt cx="349" cy="271"/>
                </a:xfrm>
              </p:grpSpPr>
              <p:sp>
                <p:nvSpPr>
                  <p:cNvPr id="75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2" y="2144"/>
                    <a:ext cx="311" cy="21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00">
                        <a:solidFill>
                          <a:srgbClr val="FF0000"/>
                        </a:solidFill>
                      </a:rPr>
                      <a:t>K </a:t>
                    </a:r>
                  </a:p>
                </p:txBody>
              </p:sp>
              <p:sp>
                <p:nvSpPr>
                  <p:cNvPr id="76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4" y="2241"/>
                    <a:ext cx="237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20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</p:grpSp>
            <p:sp>
              <p:nvSpPr>
                <p:cNvPr id="74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094" y="2073"/>
                  <a:ext cx="217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1pPr>
                  <a:lvl2pPr marL="4572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2pPr>
                  <a:lvl3pPr marL="9144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3pPr>
                  <a:lvl4pPr marL="13716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4pPr>
                  <a:lvl5pPr marL="1828800"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Comic Sans MS" pitchFamily="66" charset="0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  <p:pic>
            <p:nvPicPr>
              <p:cNvPr id="72" name="Picture 71" descr="BS00768_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640" y="3118"/>
                <a:ext cx="289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7" name="Group 76"/>
            <p:cNvGrpSpPr>
              <a:grpSpLocks/>
            </p:cNvGrpSpPr>
            <p:nvPr/>
          </p:nvGrpSpPr>
          <p:grpSpPr bwMode="auto">
            <a:xfrm>
              <a:off x="2725338" y="3124211"/>
              <a:ext cx="952499" cy="638177"/>
              <a:chOff x="3802" y="2415"/>
              <a:chExt cx="800" cy="402"/>
            </a:xfrm>
          </p:grpSpPr>
          <p:sp>
            <p:nvSpPr>
              <p:cNvPr id="78" name="Text Box 70"/>
              <p:cNvSpPr txBox="1">
                <a:spLocks noChangeArrowheads="1"/>
              </p:cNvSpPr>
              <p:nvPr/>
            </p:nvSpPr>
            <p:spPr bwMode="auto">
              <a:xfrm>
                <a:off x="3955" y="2415"/>
                <a:ext cx="2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Comic Sans MS" pitchFamily="66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800">
                    <a:solidFill>
                      <a:srgbClr val="FF0000"/>
                    </a:solidFill>
                  </a:rPr>
                  <a:t>-</a:t>
                </a:r>
              </a:p>
            </p:txBody>
          </p:sp>
          <p:grpSp>
            <p:nvGrpSpPr>
              <p:cNvPr id="79" name="Group 78"/>
              <p:cNvGrpSpPr>
                <a:grpSpLocks/>
              </p:cNvGrpSpPr>
              <p:nvPr/>
            </p:nvGrpSpPr>
            <p:grpSpPr bwMode="auto">
              <a:xfrm>
                <a:off x="3802" y="2475"/>
                <a:ext cx="800" cy="342"/>
                <a:chOff x="2998" y="3843"/>
                <a:chExt cx="800" cy="342"/>
              </a:xfrm>
            </p:grpSpPr>
            <p:grpSp>
              <p:nvGrpSpPr>
                <p:cNvPr id="80" name="Group 79"/>
                <p:cNvGrpSpPr>
                  <a:grpSpLocks/>
                </p:cNvGrpSpPr>
                <p:nvPr/>
              </p:nvGrpSpPr>
              <p:grpSpPr bwMode="auto">
                <a:xfrm>
                  <a:off x="2998" y="3905"/>
                  <a:ext cx="440" cy="263"/>
                  <a:chOff x="3748" y="3688"/>
                  <a:chExt cx="440" cy="263"/>
                </a:xfrm>
              </p:grpSpPr>
              <p:sp>
                <p:nvSpPr>
                  <p:cNvPr id="85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48" y="3688"/>
                    <a:ext cx="311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00">
                        <a:solidFill>
                          <a:srgbClr val="FF0000"/>
                        </a:solidFill>
                      </a:rPr>
                      <a:t>K </a:t>
                    </a:r>
                  </a:p>
                </p:txBody>
              </p:sp>
              <p:sp>
                <p:nvSpPr>
                  <p:cNvPr id="86" name="Text Box 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61" y="3777"/>
                    <a:ext cx="327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200">
                        <a:solidFill>
                          <a:srgbClr val="FF0000"/>
                        </a:solidFill>
                      </a:rPr>
                      <a:t>CA</a:t>
                    </a:r>
                  </a:p>
                </p:txBody>
              </p:sp>
            </p:grpSp>
            <p:grpSp>
              <p:nvGrpSpPr>
                <p:cNvPr id="81" name="Group 80"/>
                <p:cNvGrpSpPr>
                  <a:grpSpLocks/>
                </p:cNvGrpSpPr>
                <p:nvPr/>
              </p:nvGrpSpPr>
              <p:grpSpPr bwMode="auto">
                <a:xfrm>
                  <a:off x="3258" y="3843"/>
                  <a:ext cx="540" cy="342"/>
                  <a:chOff x="2166" y="3789"/>
                  <a:chExt cx="540" cy="342"/>
                </a:xfrm>
              </p:grpSpPr>
              <p:sp>
                <p:nvSpPr>
                  <p:cNvPr id="82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6" y="3860"/>
                    <a:ext cx="540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00">
                        <a:solidFill>
                          <a:srgbClr val="FF0000"/>
                        </a:solidFill>
                      </a:rPr>
                      <a:t>(K  ) </a:t>
                    </a:r>
                  </a:p>
                </p:txBody>
              </p:sp>
              <p:sp>
                <p:nvSpPr>
                  <p:cNvPr id="83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1" y="3957"/>
                    <a:ext cx="237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20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84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1" y="3789"/>
                    <a:ext cx="217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1pPr>
                    <a:lvl2pPr marL="4572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2pPr>
                    <a:lvl3pPr marL="9144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3pPr>
                    <a:lvl4pPr marL="13716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4pPr>
                    <a:lvl5pPr marL="1828800"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Comic Sans MS" pitchFamily="66" charset="0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200">
                        <a:solidFill>
                          <a:srgbClr val="FF0000"/>
                        </a:solidFill>
                      </a:rPr>
                      <a:t>+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93389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Certification Authorities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But, how does Alice get the authority’s public key?</a:t>
            </a:r>
          </a:p>
          <a:p>
            <a:pPr lvl="1"/>
            <a:r>
              <a:rPr lang="en-US" dirty="0"/>
              <a:t>Assume they are published in a trusted, public, and well-known place.  But, how can you really trust this?</a:t>
            </a:r>
          </a:p>
          <a:p>
            <a:pPr lvl="1"/>
            <a:r>
              <a:rPr lang="en-US" dirty="0"/>
              <a:t>Pre-configure trusted Certificate Authorities into the software requiring them</a:t>
            </a:r>
          </a:p>
          <a:p>
            <a:pPr lvl="1"/>
            <a:r>
              <a:rPr lang="en-US" dirty="0"/>
              <a:t>For example, web browsers come pre-configured to recognize many authorities, and have the facilities to add or accept new ones as necessary</a:t>
            </a:r>
          </a:p>
          <a:p>
            <a:pPr marL="0" indent="0">
              <a:buNone/>
            </a:pPr>
            <a:r>
              <a:rPr lang="en-US" u="sng" dirty="0"/>
              <a:t>How can you really trust a Certificate Authority?</a:t>
            </a:r>
          </a:p>
          <a:p>
            <a:pPr lvl="1"/>
            <a:r>
              <a:rPr lang="en-US" dirty="0"/>
              <a:t>In many domains, these authorities are run, licensed, or regulated by governments or government-appointed bodies</a:t>
            </a:r>
          </a:p>
          <a:p>
            <a:pPr lvl="1"/>
            <a:r>
              <a:rPr lang="en-US" dirty="0"/>
              <a:t>Ultimately it is up to the individual receiving a certificate to judge whether they accept it or not</a:t>
            </a:r>
          </a:p>
          <a:p>
            <a:pPr lvl="1"/>
            <a:r>
              <a:rPr lang="en-US" dirty="0"/>
              <a:t>Keep in mind, though, that refusing to accept an authority means that you cannot communicate securely with other individuals that use it!</a:t>
            </a:r>
          </a:p>
        </p:txBody>
      </p:sp>
    </p:spTree>
    <p:extLst>
      <p:ext uri="{BB962C8B-B14F-4D97-AF65-F5344CB8AC3E}">
        <p14:creationId xmlns:p14="http://schemas.microsoft.com/office/powerpoint/2010/main" val="13845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36791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1748</Words>
  <Application>Microsoft Office PowerPoint</Application>
  <PresentationFormat>On-screen Show (4:3)</PresentationFormat>
  <Paragraphs>227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Training</vt:lpstr>
      <vt:lpstr>CSC432 – information Security </vt:lpstr>
      <vt:lpstr>Key Distribution and Management</vt:lpstr>
      <vt:lpstr>Key Distribution and Management</vt:lpstr>
      <vt:lpstr>Key Distribution and Management</vt:lpstr>
      <vt:lpstr>Key Distribution and Management</vt:lpstr>
      <vt:lpstr>Key Distribution and Management</vt:lpstr>
      <vt:lpstr>Key Distribution Centres (KDCs)</vt:lpstr>
      <vt:lpstr>Key Distribution Centres (KDCs)</vt:lpstr>
      <vt:lpstr>Key Distribution Centres (KDCs)</vt:lpstr>
      <vt:lpstr>Key Distribution Centres (KDCs)</vt:lpstr>
      <vt:lpstr>Kerberos: A KDC in Practice</vt:lpstr>
      <vt:lpstr>Kerberos: A KDC in Practice</vt:lpstr>
      <vt:lpstr>Kerberos: A KDC in Practice</vt:lpstr>
      <vt:lpstr>Kerberos: A KDC in Practice</vt:lpstr>
      <vt:lpstr>Kerberos: A KDC in Practice</vt:lpstr>
      <vt:lpstr>Kerberos: A KDC in Practice</vt:lpstr>
      <vt:lpstr>Kerberos: A KDC in Practice</vt:lpstr>
      <vt:lpstr>Kerberos: A KDC in Practice</vt:lpstr>
      <vt:lpstr>Kerberos: A KDC in Practice</vt:lpstr>
      <vt:lpstr>Distribution of Public Keys</vt:lpstr>
      <vt:lpstr>Certification Authorities</vt:lpstr>
      <vt:lpstr>Certification Authorities</vt:lpstr>
      <vt:lpstr>Certification Authorities</vt:lpstr>
      <vt:lpstr>Certification Authorities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Adnan</cp:lastModifiedBy>
  <cp:revision>21</cp:revision>
  <dcterms:created xsi:type="dcterms:W3CDTF">2006-08-16T00:00:00Z</dcterms:created>
  <dcterms:modified xsi:type="dcterms:W3CDTF">2022-09-20T07:56:34Z</dcterms:modified>
</cp:coreProperties>
</file>