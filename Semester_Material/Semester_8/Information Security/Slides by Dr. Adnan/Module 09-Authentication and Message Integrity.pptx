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6"/>
  </p:notesMasterIdLst>
  <p:sldIdLst>
    <p:sldId id="316" r:id="rId3"/>
    <p:sldId id="257" r:id="rId4"/>
    <p:sldId id="312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311" r:id="rId19"/>
    <p:sldId id="271" r:id="rId20"/>
    <p:sldId id="272" r:id="rId21"/>
    <p:sldId id="273" r:id="rId22"/>
    <p:sldId id="31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4" r:id="rId32"/>
    <p:sldId id="285" r:id="rId33"/>
    <p:sldId id="286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314" r:id="rId42"/>
    <p:sldId id="315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958460-2725-4B60-8A24-CB6705BEFD41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64E693-09F3-4F1F-A261-D1B2F03BC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14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726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3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Microsoft </a:t>
            </a:r>
            <a:r>
              <a:rPr lang="en-US" b="1" dirty="0" smtClean="0">
                <a:solidFill>
                  <a:prstClr val="black"/>
                </a:solidFill>
              </a:rPr>
              <a:t>Engineering Excellence</a:t>
            </a:r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43011" name="Rectangle 25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Microsoft Confidential</a:t>
            </a:r>
          </a:p>
        </p:txBody>
      </p:sp>
      <p:sp>
        <p:nvSpPr>
          <p:cNvPr id="43012" name="Rectangle 2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FF76F4-FC11-42FE-9D94-04E3E6D16C06}" type="slidenum">
              <a:rPr lang="en-US" smtClean="0">
                <a:solidFill>
                  <a:prstClr val="black"/>
                </a:solidFill>
              </a:rPr>
              <a:pPr/>
              <a:t>53</a:t>
            </a:fld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450850"/>
            <a:ext cx="6096000" cy="3429000"/>
          </a:xfrm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492" y="4130103"/>
            <a:ext cx="6261652" cy="4603230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61005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90801" y="2286002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1" y="40386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372161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5105400"/>
            <a:ext cx="1828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7862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>
            <a:normAutofit/>
          </a:bodyPr>
          <a:lstStyle>
            <a:lvl1pPr algn="ctr">
              <a:defRPr sz="3600" b="1" cap="small" baseline="0">
                <a:solidFill>
                  <a:srgbClr val="0AA1C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12/27/2022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4800600" y="959825"/>
            <a:ext cx="350520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Module # 9</a:t>
            </a:r>
            <a:endParaRPr lang="en-US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25099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52402"/>
            <a:ext cx="8382000" cy="864207"/>
          </a:xfrm>
          <a:noFill/>
        </p:spPr>
        <p:txBody>
          <a:bodyPr lIns="182880" anchor="ctr" anchorCtr="0">
            <a:normAutofit/>
          </a:bodyPr>
          <a:lstStyle>
            <a:lvl1pPr algn="l">
              <a:defRPr lang="en-US" sz="3600" b="1" dirty="0">
                <a:solidFill>
                  <a:srgbClr val="0AA1C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69009"/>
            <a:ext cx="8382000" cy="5536592"/>
          </a:xfrm>
        </p:spPr>
        <p:txBody>
          <a:bodyPr tIns="91440" rIns="365760" bIns="91440">
            <a:normAutofit/>
          </a:bodyPr>
          <a:lstStyle>
            <a:lvl1pPr marL="457200" indent="-457200" algn="just">
              <a:buFont typeface="Wingdings" panose="05000000000000000000" pitchFamily="2" charset="2"/>
              <a:buChar char="q"/>
              <a:defRPr sz="2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806450" indent="-349250" algn="just">
              <a:buFont typeface="Wingdings" panose="05000000000000000000" pitchFamily="2" charset="2"/>
              <a:buChar char="q"/>
              <a:defRPr sz="20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1263650" indent="-349250" algn="just">
              <a:buFont typeface="Wingdings" panose="05000000000000000000" pitchFamily="2" charset="2"/>
              <a:buChar char="q"/>
              <a:defRPr sz="18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720850" indent="-349250" algn="just">
              <a:buFont typeface="Wingdings" panose="05000000000000000000" pitchFamily="2" charset="2"/>
              <a:buChar char="q"/>
              <a:defRPr sz="16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057400" indent="-228600" algn="just">
              <a:buFont typeface="Wingdings" panose="05000000000000000000" pitchFamily="2" charset="2"/>
              <a:buChar char="q"/>
              <a:defRPr sz="1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48640" y="990600"/>
            <a:ext cx="7680960" cy="0"/>
          </a:xfrm>
          <a:prstGeom prst="line">
            <a:avLst/>
          </a:prstGeom>
          <a:ln w="69850">
            <a:solidFill>
              <a:srgbClr val="0AA1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1" y="0"/>
            <a:ext cx="1449845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12/27/2022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99821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36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12/27/2022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312718"/>
      </p:ext>
    </p:extLst>
  </p:cSld>
  <p:clrMapOvr>
    <a:masterClrMapping/>
  </p:clrMapOvr>
  <p:transition spd="slow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6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12/27/2022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7039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12/27/2022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257998"/>
      </p:ext>
    </p:extLst>
  </p:cSld>
  <p:clrMapOvr>
    <a:masterClrMapping/>
  </p:clrMapOvr>
  <p:transition spd="slow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12/27/2022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108636"/>
      </p:ext>
    </p:extLst>
  </p:cSld>
  <p:clrMapOvr>
    <a:masterClrMapping/>
  </p:clrMapOvr>
  <p:transition spd="slow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274640"/>
            <a:ext cx="5867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12/27/2022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655701"/>
      </p:ext>
    </p:extLst>
  </p:cSld>
  <p:clrMapOvr>
    <a:masterClrMapping/>
  </p:clrMapOvr>
  <p:transition spd="slow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12/27/2022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38638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12/27/2022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95809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2"/>
            <a:ext cx="2133600" cy="365125"/>
          </a:xfrm>
        </p:spPr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12/27/2022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2"/>
            <a:ext cx="2895600" cy="365125"/>
          </a:xfr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2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52407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32292" y="1969862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465F4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000" y="57150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251"/>
            <a:ext cx="2457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6902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807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00202"/>
            <a:ext cx="807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12/27/2022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399" y="-109183"/>
            <a:ext cx="818707" cy="70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76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slow">
    <p:wipe dir="d"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wmf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wmf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000502" y="1828800"/>
            <a:ext cx="4025601" cy="762000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CSC432 </a:t>
            </a:r>
            <a:r>
              <a:rPr lang="en-US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en-US" sz="4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information Security </a:t>
            </a:r>
            <a:endParaRPr lang="en-US" sz="4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715001" y="4419600"/>
            <a:ext cx="2836446" cy="5334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  <a:latin typeface="+mn-lt"/>
              </a:rPr>
              <a:t>Dr. Adnan Ahmad</a:t>
            </a:r>
            <a:endParaRPr lang="en-US" sz="2400" b="1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457" y="1500195"/>
            <a:ext cx="1607344" cy="1419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957" y="304803"/>
            <a:ext cx="1607344" cy="14192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8417720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43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0.00092 C 0.04036 -0.00092 0.40469 -0.00185 0.52695 -0.00254 C 0.64909 -0.00301 0.79466 0.00232 0.73294 -0.00509 C 0.67591 -0.03379 0.74687 0.03912 0.74687 -0.00023 " pathEditMode="relative" rAng="0" ptsTypes="AAAA">
                                      <p:cBhvr>
                                        <p:cTn id="1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383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1650" y="3048004"/>
            <a:ext cx="6057900" cy="1362075"/>
          </a:xfrm>
        </p:spPr>
        <p:txBody>
          <a:bodyPr anchor="ctr">
            <a:normAutofit/>
          </a:bodyPr>
          <a:lstStyle/>
          <a:p>
            <a:r>
              <a:rPr lang="en-US" dirty="0" smtClean="0"/>
              <a:t>Authentication and Message Integrity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62001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Authentication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800184491"/>
      </p:ext>
    </p:extLst>
  </p:cSld>
  <p:clrMapOvr>
    <a:masterClrMapping/>
  </p:clrMapOvr>
  <p:transition spd="slow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Authentication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Authentication is the process of proving one’s identity to someone else</a:t>
            </a:r>
          </a:p>
          <a:p>
            <a:r>
              <a:rPr lang="en-US" dirty="0"/>
              <a:t>There are three main ways of </a:t>
            </a:r>
            <a:r>
              <a:rPr lang="en-US" dirty="0" smtClean="0"/>
              <a:t>authenticating an </a:t>
            </a:r>
            <a:r>
              <a:rPr lang="en-US" dirty="0"/>
              <a:t>individual</a:t>
            </a:r>
            <a:r>
              <a:rPr lang="en-US" dirty="0" smtClean="0"/>
              <a:t>:</a:t>
            </a:r>
          </a:p>
          <a:p>
            <a:pPr lvl="1"/>
            <a:r>
              <a:rPr lang="en-US" sz="2400" u="sng" dirty="0" smtClean="0"/>
              <a:t>Something </a:t>
            </a:r>
            <a:r>
              <a:rPr lang="en-US" sz="2400" u="sng" dirty="0"/>
              <a:t>you know</a:t>
            </a:r>
            <a:r>
              <a:rPr lang="en-US" sz="2400" dirty="0"/>
              <a:t>: A password, cryptographic key, or the correct answer to a challenge-response test</a:t>
            </a:r>
          </a:p>
          <a:p>
            <a:pPr lvl="1"/>
            <a:r>
              <a:rPr lang="en-US" sz="2400" u="sng" dirty="0"/>
              <a:t>Something you own</a:t>
            </a:r>
            <a:r>
              <a:rPr lang="en-US" sz="2400" dirty="0"/>
              <a:t>: A physical key, security card or badge, or a one-time password generator</a:t>
            </a:r>
          </a:p>
          <a:p>
            <a:pPr lvl="1"/>
            <a:r>
              <a:rPr lang="en-US" sz="2400" u="sng" dirty="0"/>
              <a:t>Something you are</a:t>
            </a:r>
            <a:r>
              <a:rPr lang="en-US" sz="2400" dirty="0"/>
              <a:t>: Some biometric measurement (facial features, fingerprint, retina scan, voice print, and so on)</a:t>
            </a:r>
            <a:endParaRPr lang="en-US" dirty="0"/>
          </a:p>
          <a:p>
            <a:endParaRPr lang="en-US" dirty="0"/>
          </a:p>
          <a:p>
            <a:r>
              <a:rPr lang="en-US" b="1" u="sng" dirty="0"/>
              <a:t>For a network, we need an authentication protocol during communication when direct proof cannot be given</a:t>
            </a:r>
          </a:p>
        </p:txBody>
      </p:sp>
    </p:spTree>
    <p:extLst>
      <p:ext uri="{BB962C8B-B14F-4D97-AF65-F5344CB8AC3E}">
        <p14:creationId xmlns:p14="http://schemas.microsoft.com/office/powerpoint/2010/main" val="2399996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Authentication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A </a:t>
            </a:r>
            <a:r>
              <a:rPr lang="en-US" u="sng" dirty="0"/>
              <a:t>First Attempt</a:t>
            </a:r>
          </a:p>
          <a:p>
            <a:r>
              <a:rPr lang="en-US" dirty="0"/>
              <a:t>Goal: Bob wants Alice to “prove” her identity to him</a:t>
            </a:r>
          </a:p>
          <a:p>
            <a:r>
              <a:rPr lang="en-US" u="sng" dirty="0"/>
              <a:t>Protocol 1.0</a:t>
            </a:r>
            <a:r>
              <a:rPr lang="en-US" dirty="0"/>
              <a:t>: Alice says “I am Alice”</a:t>
            </a:r>
            <a:endParaRPr lang="en-US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1085850" y="3581400"/>
            <a:ext cx="1369012" cy="1524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4972051" y="3581400"/>
            <a:ext cx="1292905" cy="1524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186"/>
          <a:stretch/>
        </p:blipFill>
        <p:spPr>
          <a:xfrm>
            <a:off x="2457450" y="4979012"/>
            <a:ext cx="1085850" cy="1574191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4" idx="3"/>
            <a:endCxn id="6" idx="1"/>
          </p:cNvCxnSpPr>
          <p:nvPr/>
        </p:nvCxnSpPr>
        <p:spPr>
          <a:xfrm>
            <a:off x="2454862" y="4343400"/>
            <a:ext cx="25171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 Box 36"/>
          <p:cNvSpPr txBox="1">
            <a:spLocks noChangeArrowheads="1"/>
          </p:cNvSpPr>
          <p:nvPr/>
        </p:nvSpPr>
        <p:spPr bwMode="auto">
          <a:xfrm>
            <a:off x="2774334" y="3867090"/>
            <a:ext cx="16129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prstClr val="black"/>
                </a:solidFill>
                <a:latin typeface="Comic Sans MS" pitchFamily="66" charset="0"/>
              </a:rPr>
              <a:t>“I am Alice”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6563725" y="4736068"/>
            <a:ext cx="21291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prstClr val="black"/>
                </a:solidFill>
                <a:latin typeface="Comic Sans MS" pitchFamily="66" charset="0"/>
              </a:rPr>
              <a:t>Failure scenario??</a:t>
            </a:r>
          </a:p>
        </p:txBody>
      </p:sp>
    </p:spTree>
    <p:extLst>
      <p:ext uri="{BB962C8B-B14F-4D97-AF65-F5344CB8AC3E}">
        <p14:creationId xmlns:p14="http://schemas.microsoft.com/office/powerpoint/2010/main" val="405717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Authentication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A </a:t>
            </a:r>
            <a:r>
              <a:rPr lang="en-US" u="sng" dirty="0"/>
              <a:t>First Attempt</a:t>
            </a:r>
          </a:p>
          <a:p>
            <a:r>
              <a:rPr lang="en-US" dirty="0"/>
              <a:t>Goal: Bob wants Alice to “prove” her identity to him</a:t>
            </a:r>
          </a:p>
          <a:p>
            <a:r>
              <a:rPr lang="en-US" u="sng" dirty="0"/>
              <a:t>Protocol 1.0</a:t>
            </a:r>
            <a:r>
              <a:rPr lang="en-US" dirty="0"/>
              <a:t>: Alice says “I am Alice”</a:t>
            </a:r>
            <a:endParaRPr lang="en-US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1085850" y="3581400"/>
            <a:ext cx="1369012" cy="1524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4972051" y="3581400"/>
            <a:ext cx="1292905" cy="1524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186"/>
          <a:stretch/>
        </p:blipFill>
        <p:spPr>
          <a:xfrm>
            <a:off x="2457450" y="4979012"/>
            <a:ext cx="1085850" cy="1574191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3" idx="3"/>
            <a:endCxn id="6" idx="1"/>
          </p:cNvCxnSpPr>
          <p:nvPr/>
        </p:nvCxnSpPr>
        <p:spPr>
          <a:xfrm flipV="1">
            <a:off x="3543300" y="4343403"/>
            <a:ext cx="1428750" cy="14227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 Box 36"/>
          <p:cNvSpPr txBox="1">
            <a:spLocks noChangeArrowheads="1"/>
          </p:cNvSpPr>
          <p:nvPr/>
        </p:nvSpPr>
        <p:spPr bwMode="auto">
          <a:xfrm>
            <a:off x="3783168" y="5467290"/>
            <a:ext cx="120970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prstClr val="black"/>
                </a:solidFill>
                <a:latin typeface="Comic Sans MS" pitchFamily="66" charset="0"/>
              </a:rPr>
              <a:t>“I am Alice”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6563725" y="4736068"/>
            <a:ext cx="21291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prstClr val="black"/>
                </a:solidFill>
                <a:latin typeface="Comic Sans MS" pitchFamily="66" charset="0"/>
              </a:rPr>
              <a:t>Failure scenario??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6591300" y="5257801"/>
            <a:ext cx="24003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I</a:t>
            </a:r>
            <a:r>
              <a:rPr lang="en-US" dirty="0" smtClean="0">
                <a:solidFill>
                  <a:prstClr val="black"/>
                </a:solidFill>
                <a:latin typeface="Comic Sans MS" pitchFamily="66" charset="0"/>
              </a:rPr>
              <a:t>n </a:t>
            </a:r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a </a:t>
            </a:r>
            <a:r>
              <a:rPr lang="en-US" dirty="0" smtClean="0">
                <a:solidFill>
                  <a:prstClr val="black"/>
                </a:solidFill>
                <a:latin typeface="Comic Sans MS" pitchFamily="66" charset="0"/>
              </a:rPr>
              <a:t>network, Bob </a:t>
            </a:r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can not “see” Alice, so Trudy simply </a:t>
            </a:r>
            <a:r>
              <a:rPr lang="en-US" dirty="0" smtClean="0">
                <a:solidFill>
                  <a:prstClr val="black"/>
                </a:solidFill>
                <a:latin typeface="Comic Sans MS" pitchFamily="66" charset="0"/>
              </a:rPr>
              <a:t>declares herself </a:t>
            </a:r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to be Alice</a:t>
            </a:r>
          </a:p>
        </p:txBody>
      </p:sp>
    </p:spTree>
    <p:extLst>
      <p:ext uri="{BB962C8B-B14F-4D97-AF65-F5344CB8AC3E}">
        <p14:creationId xmlns:p14="http://schemas.microsoft.com/office/powerpoint/2010/main" val="96107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71750" y="3606801"/>
            <a:ext cx="2171700" cy="584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Authentication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Another </a:t>
            </a:r>
            <a:r>
              <a:rPr lang="en-US" u="sng" dirty="0"/>
              <a:t>try</a:t>
            </a:r>
          </a:p>
          <a:p>
            <a:r>
              <a:rPr lang="en-US" dirty="0"/>
              <a:t>Goal: Bob wants Alice to “prove” her identity to him</a:t>
            </a:r>
          </a:p>
          <a:p>
            <a:r>
              <a:rPr lang="en-US" u="sng" dirty="0"/>
              <a:t>Protocol 2.0</a:t>
            </a:r>
            <a:r>
              <a:rPr lang="en-US" dirty="0"/>
              <a:t>: Alice says “I am Alice” in an IP packet containing her source IP address</a:t>
            </a:r>
            <a:endParaRPr lang="en-US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1085850" y="3581400"/>
            <a:ext cx="1369012" cy="1524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4972051" y="3581400"/>
            <a:ext cx="1292905" cy="1524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186"/>
          <a:stretch/>
        </p:blipFill>
        <p:spPr>
          <a:xfrm>
            <a:off x="2457450" y="4979012"/>
            <a:ext cx="1085850" cy="1574191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4" idx="3"/>
            <a:endCxn id="6" idx="1"/>
          </p:cNvCxnSpPr>
          <p:nvPr/>
        </p:nvCxnSpPr>
        <p:spPr>
          <a:xfrm>
            <a:off x="2454862" y="4343400"/>
            <a:ext cx="25171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6563725" y="4736068"/>
            <a:ext cx="21291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prstClr val="black"/>
                </a:solidFill>
                <a:latin typeface="Comic Sans MS" pitchFamily="66" charset="0"/>
              </a:rPr>
              <a:t>Failure scenario??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3657602" y="3733800"/>
            <a:ext cx="1326004" cy="338554"/>
          </a:xfrm>
          <a:prstGeom prst="rect">
            <a:avLst/>
          </a:prstGeom>
          <a:ln/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“I am Alice”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2628902" y="3606802"/>
            <a:ext cx="9621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omic Sans MS" pitchFamily="66" charset="0"/>
              </a:rPr>
              <a:t>Alice’s </a:t>
            </a:r>
          </a:p>
          <a:p>
            <a:r>
              <a:rPr lang="en-US" sz="1200" dirty="0">
                <a:solidFill>
                  <a:prstClr val="black"/>
                </a:solidFill>
                <a:latin typeface="Comic Sans MS" pitchFamily="66" charset="0"/>
              </a:rPr>
              <a:t>IP address</a:t>
            </a:r>
          </a:p>
        </p:txBody>
      </p:sp>
    </p:spTree>
    <p:extLst>
      <p:ext uri="{BB962C8B-B14F-4D97-AF65-F5344CB8AC3E}">
        <p14:creationId xmlns:p14="http://schemas.microsoft.com/office/powerpoint/2010/main" val="254791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00450" y="5816600"/>
            <a:ext cx="2171700" cy="584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Authentication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Another </a:t>
            </a:r>
            <a:r>
              <a:rPr lang="en-US" u="sng" dirty="0"/>
              <a:t>try</a:t>
            </a:r>
          </a:p>
          <a:p>
            <a:r>
              <a:rPr lang="en-US" dirty="0"/>
              <a:t>Goal: Bob wants Alice to “prove” her identity to him</a:t>
            </a:r>
          </a:p>
          <a:p>
            <a:r>
              <a:rPr lang="en-US" u="sng" dirty="0"/>
              <a:t>Protocol 2.0</a:t>
            </a:r>
            <a:r>
              <a:rPr lang="en-US" dirty="0"/>
              <a:t>: Alice says “I am Alice” in an IP packet containing her source IP address</a:t>
            </a:r>
            <a:endParaRPr lang="en-US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1085850" y="3581400"/>
            <a:ext cx="1369012" cy="1524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4972051" y="3581400"/>
            <a:ext cx="1292905" cy="1524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186"/>
          <a:stretch/>
        </p:blipFill>
        <p:spPr>
          <a:xfrm>
            <a:off x="2457450" y="4979012"/>
            <a:ext cx="1085850" cy="1574191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3" idx="3"/>
            <a:endCxn id="6" idx="1"/>
          </p:cNvCxnSpPr>
          <p:nvPr/>
        </p:nvCxnSpPr>
        <p:spPr>
          <a:xfrm flipV="1">
            <a:off x="3543300" y="4343403"/>
            <a:ext cx="1428750" cy="14227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6563725" y="4736068"/>
            <a:ext cx="21291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prstClr val="black"/>
                </a:solidFill>
                <a:latin typeface="Comic Sans MS" pitchFamily="66" charset="0"/>
              </a:rPr>
              <a:t>Failure scenario??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4686301" y="5943599"/>
            <a:ext cx="1326004" cy="338554"/>
          </a:xfrm>
          <a:prstGeom prst="rect">
            <a:avLst/>
          </a:prstGeom>
          <a:ln/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“I am Alice”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3657602" y="5816601"/>
            <a:ext cx="9621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omic Sans MS" pitchFamily="66" charset="0"/>
              </a:rPr>
              <a:t>Alice’s </a:t>
            </a:r>
          </a:p>
          <a:p>
            <a:r>
              <a:rPr lang="en-US" sz="1200" dirty="0">
                <a:solidFill>
                  <a:prstClr val="black"/>
                </a:solidFill>
                <a:latin typeface="Comic Sans MS" pitchFamily="66" charset="0"/>
              </a:rPr>
              <a:t>IP address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6457950" y="5172672"/>
            <a:ext cx="245745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Trudy can </a:t>
            </a:r>
            <a:r>
              <a:rPr lang="en-US" dirty="0" smtClean="0">
                <a:solidFill>
                  <a:prstClr val="black"/>
                </a:solidFill>
                <a:latin typeface="Comic Sans MS" pitchFamily="66" charset="0"/>
              </a:rPr>
              <a:t>create a </a:t>
            </a:r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packet “</a:t>
            </a:r>
            <a:r>
              <a:rPr lang="en-US" dirty="0" smtClean="0">
                <a:solidFill>
                  <a:prstClr val="black"/>
                </a:solidFill>
                <a:latin typeface="Comic Sans MS" pitchFamily="66" charset="0"/>
              </a:rPr>
              <a:t>spoofing” Alice’s IP </a:t>
            </a:r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address</a:t>
            </a:r>
          </a:p>
        </p:txBody>
      </p:sp>
    </p:spTree>
    <p:extLst>
      <p:ext uri="{BB962C8B-B14F-4D97-AF65-F5344CB8AC3E}">
        <p14:creationId xmlns:p14="http://schemas.microsoft.com/office/powerpoint/2010/main" val="247419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43251" y="3606801"/>
            <a:ext cx="994172" cy="584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Authentication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Another </a:t>
            </a:r>
            <a:r>
              <a:rPr lang="en-US" u="sng" dirty="0"/>
              <a:t>try</a:t>
            </a:r>
          </a:p>
          <a:p>
            <a:r>
              <a:rPr lang="en-US" dirty="0"/>
              <a:t>Goal: Bob wants Alice to “prove” her identity to him</a:t>
            </a:r>
          </a:p>
          <a:p>
            <a:r>
              <a:rPr lang="en-US" u="sng" dirty="0"/>
              <a:t>Protocol 3.0</a:t>
            </a:r>
            <a:r>
              <a:rPr lang="en-US" dirty="0"/>
              <a:t>: Alice says “I am Alice” and sends her secret password to “prove” it</a:t>
            </a:r>
            <a:endParaRPr lang="en-US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1085850" y="3581400"/>
            <a:ext cx="1369012" cy="1524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4972051" y="3581400"/>
            <a:ext cx="1292905" cy="1524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186"/>
          <a:stretch/>
        </p:blipFill>
        <p:spPr>
          <a:xfrm>
            <a:off x="2457450" y="4979012"/>
            <a:ext cx="1085850" cy="1574191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4" idx="3"/>
            <a:endCxn id="6" idx="1"/>
          </p:cNvCxnSpPr>
          <p:nvPr/>
        </p:nvCxnSpPr>
        <p:spPr>
          <a:xfrm>
            <a:off x="2454862" y="4343400"/>
            <a:ext cx="25171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6563725" y="4736068"/>
            <a:ext cx="21291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prstClr val="black"/>
                </a:solidFill>
                <a:latin typeface="Comic Sans MS" pitchFamily="66" charset="0"/>
              </a:rPr>
              <a:t>Failure scenario??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3143252" y="3243262"/>
            <a:ext cx="1326004" cy="338554"/>
          </a:xfrm>
          <a:prstGeom prst="rect">
            <a:avLst/>
          </a:prstGeom>
          <a:ln/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“I am Alice”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3200401" y="3606802"/>
            <a:ext cx="9370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omic Sans MS" pitchFamily="66" charset="0"/>
              </a:rPr>
              <a:t>Alice’s </a:t>
            </a:r>
          </a:p>
          <a:p>
            <a:r>
              <a:rPr lang="en-US" sz="1200" dirty="0" smtClean="0">
                <a:solidFill>
                  <a:prstClr val="black"/>
                </a:solidFill>
                <a:latin typeface="Comic Sans MS" pitchFamily="66" charset="0"/>
              </a:rPr>
              <a:t>Password</a:t>
            </a:r>
            <a:endParaRPr lang="en-US" sz="1200" dirty="0">
              <a:solidFill>
                <a:prstClr val="black"/>
              </a:solidFill>
              <a:latin typeface="Comic Sans MS" pitchFamily="66" charset="0"/>
            </a:endParaRP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3806875" y="4402724"/>
            <a:ext cx="365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latin typeface="Comic Sans MS" pitchFamily="66" charset="0"/>
              </a:rPr>
              <a:t>OK</a:t>
            </a:r>
            <a:endParaRPr lang="en-US" sz="1600" dirty="0">
              <a:solidFill>
                <a:prstClr val="black"/>
              </a:solidFill>
              <a:latin typeface="Comic Sans MS" pitchFamily="66" charset="0"/>
            </a:endParaRPr>
          </a:p>
        </p:txBody>
      </p:sp>
      <p:cxnSp>
        <p:nvCxnSpPr>
          <p:cNvPr id="13" name="Straight Arrow Connector 12"/>
          <p:cNvCxnSpPr>
            <a:stCxn id="12" idx="1"/>
          </p:cNvCxnSpPr>
          <p:nvPr/>
        </p:nvCxnSpPr>
        <p:spPr>
          <a:xfrm flipH="1" flipV="1">
            <a:off x="3339913" y="4572003"/>
            <a:ext cx="466962" cy="123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165558" y="3707792"/>
            <a:ext cx="292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95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030267" y="5994704"/>
            <a:ext cx="994172" cy="584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Authentication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Another </a:t>
            </a:r>
            <a:r>
              <a:rPr lang="en-US" u="sng" dirty="0"/>
              <a:t>try</a:t>
            </a:r>
          </a:p>
          <a:p>
            <a:r>
              <a:rPr lang="en-US" dirty="0"/>
              <a:t>Goal: Bob wants Alice to “prove” her identity to him</a:t>
            </a:r>
          </a:p>
          <a:p>
            <a:r>
              <a:rPr lang="en-US" u="sng" dirty="0" smtClean="0"/>
              <a:t>Protocol 3.0</a:t>
            </a:r>
            <a:r>
              <a:rPr lang="en-US" dirty="0" smtClean="0"/>
              <a:t>: Alice says “I am Alice” and sends her secret password to “prove” it</a:t>
            </a:r>
            <a:endParaRPr lang="en-US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1085850" y="3581400"/>
            <a:ext cx="1369012" cy="1524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4972051" y="3581400"/>
            <a:ext cx="1292905" cy="1524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186"/>
          <a:stretch/>
        </p:blipFill>
        <p:spPr>
          <a:xfrm>
            <a:off x="2743200" y="4979012"/>
            <a:ext cx="1085850" cy="1574191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4" idx="3"/>
            <a:endCxn id="6" idx="1"/>
          </p:cNvCxnSpPr>
          <p:nvPr/>
        </p:nvCxnSpPr>
        <p:spPr>
          <a:xfrm>
            <a:off x="2454862" y="4343400"/>
            <a:ext cx="25171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6563725" y="4736068"/>
            <a:ext cx="21291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prstClr val="black"/>
                </a:solidFill>
                <a:latin typeface="Comic Sans MS" pitchFamily="66" charset="0"/>
              </a:rPr>
              <a:t>Failure scenario??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4035029" y="5638800"/>
            <a:ext cx="1326004" cy="338554"/>
          </a:xfrm>
          <a:prstGeom prst="rect">
            <a:avLst/>
          </a:prstGeom>
          <a:ln/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“I am Alice”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4092178" y="6002341"/>
            <a:ext cx="9370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omic Sans MS" pitchFamily="66" charset="0"/>
              </a:rPr>
              <a:t>Alice’s </a:t>
            </a:r>
          </a:p>
          <a:p>
            <a:r>
              <a:rPr lang="en-US" sz="1200" dirty="0" smtClean="0">
                <a:solidFill>
                  <a:prstClr val="black"/>
                </a:solidFill>
                <a:latin typeface="Comic Sans MS" pitchFamily="66" charset="0"/>
              </a:rPr>
              <a:t>Password</a:t>
            </a:r>
            <a:endParaRPr lang="en-US" sz="1200" dirty="0">
              <a:solidFill>
                <a:prstClr val="black"/>
              </a:solidFill>
              <a:latin typeface="Comic Sans MS" pitchFamily="66" charset="0"/>
            </a:endParaRP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4206925" y="4648201"/>
            <a:ext cx="365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latin typeface="Comic Sans MS" pitchFamily="66" charset="0"/>
              </a:rPr>
              <a:t>OK</a:t>
            </a:r>
            <a:endParaRPr lang="en-US" sz="1600" dirty="0">
              <a:solidFill>
                <a:prstClr val="black"/>
              </a:solidFill>
              <a:latin typeface="Comic Sans MS" pitchFamily="66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989070" y="4885944"/>
            <a:ext cx="240030" cy="219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4297338" y="5257800"/>
            <a:ext cx="274662" cy="246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6743701" y="5200473"/>
            <a:ext cx="202287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P</a:t>
            </a:r>
            <a:r>
              <a:rPr lang="en-US" dirty="0" smtClean="0">
                <a:solidFill>
                  <a:prstClr val="black"/>
                </a:solidFill>
                <a:latin typeface="Comic Sans MS" pitchFamily="66" charset="0"/>
              </a:rPr>
              <a:t>layback </a:t>
            </a:r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attack: Trudy records Alice’s packet</a:t>
            </a:r>
          </a:p>
          <a:p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and </a:t>
            </a:r>
            <a:r>
              <a:rPr lang="en-US" dirty="0" smtClean="0">
                <a:solidFill>
                  <a:prstClr val="black"/>
                </a:solidFill>
                <a:latin typeface="Comic Sans MS" pitchFamily="66" charset="0"/>
              </a:rPr>
              <a:t>later plays </a:t>
            </a:r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it back to Bob </a:t>
            </a:r>
          </a:p>
        </p:txBody>
      </p:sp>
      <p:pic>
        <p:nvPicPr>
          <p:cNvPr id="19" name="Picture 32" descr="EN00179_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43150" y="5105403"/>
            <a:ext cx="361668" cy="37387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cxnSp>
        <p:nvCxnSpPr>
          <p:cNvPr id="20" name="Straight Arrow Connector 19"/>
          <p:cNvCxnSpPr/>
          <p:nvPr/>
        </p:nvCxnSpPr>
        <p:spPr>
          <a:xfrm flipV="1">
            <a:off x="3714751" y="4622800"/>
            <a:ext cx="1208651" cy="10077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454862" y="4495802"/>
            <a:ext cx="437612" cy="11347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143251" y="3606801"/>
            <a:ext cx="994172" cy="5842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34" name="Text Box 14"/>
          <p:cNvSpPr txBox="1">
            <a:spLocks noChangeArrowheads="1"/>
          </p:cNvSpPr>
          <p:nvPr/>
        </p:nvSpPr>
        <p:spPr bwMode="auto">
          <a:xfrm>
            <a:off x="3143252" y="3243262"/>
            <a:ext cx="1326004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“I am Alice”</a:t>
            </a:r>
          </a:p>
        </p:txBody>
      </p:sp>
      <p:sp>
        <p:nvSpPr>
          <p:cNvPr id="35" name="Text Box 15"/>
          <p:cNvSpPr txBox="1">
            <a:spLocks noChangeArrowheads="1"/>
          </p:cNvSpPr>
          <p:nvPr/>
        </p:nvSpPr>
        <p:spPr bwMode="auto">
          <a:xfrm>
            <a:off x="3200401" y="3606802"/>
            <a:ext cx="937022" cy="4616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omic Sans MS" pitchFamily="66" charset="0"/>
              </a:rPr>
              <a:t>Alice’s </a:t>
            </a:r>
          </a:p>
          <a:p>
            <a:r>
              <a:rPr lang="en-US" sz="1200" dirty="0" smtClean="0">
                <a:solidFill>
                  <a:prstClr val="black"/>
                </a:solidFill>
                <a:latin typeface="Comic Sans MS" pitchFamily="66" charset="0"/>
              </a:rPr>
              <a:t>Password</a:t>
            </a:r>
            <a:endParaRPr lang="en-US" sz="1200" dirty="0">
              <a:solidFill>
                <a:prstClr val="black"/>
              </a:solidFill>
              <a:latin typeface="Comic Sans MS" pitchFamily="66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4165558" y="3707792"/>
            <a:ext cx="292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70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43251" y="3606801"/>
            <a:ext cx="994172" cy="584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Authentication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Better </a:t>
            </a:r>
            <a:r>
              <a:rPr lang="en-US" u="sng" dirty="0"/>
              <a:t>try</a:t>
            </a:r>
          </a:p>
          <a:p>
            <a:r>
              <a:rPr lang="en-US" dirty="0"/>
              <a:t>Goal: Bob wants Alice to “prove” her identity to him</a:t>
            </a:r>
          </a:p>
          <a:p>
            <a:r>
              <a:rPr lang="en-US" u="sng" dirty="0"/>
              <a:t>Protocol 3.1</a:t>
            </a:r>
            <a:r>
              <a:rPr lang="en-US" dirty="0"/>
              <a:t>: Alice says “I am Alice” and sends her encrypted secret password to “prove” it</a:t>
            </a:r>
            <a:endParaRPr lang="en-US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1085850" y="3581400"/>
            <a:ext cx="1369012" cy="1524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4972051" y="3581400"/>
            <a:ext cx="1292905" cy="1524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186"/>
          <a:stretch/>
        </p:blipFill>
        <p:spPr>
          <a:xfrm>
            <a:off x="2457450" y="4979012"/>
            <a:ext cx="1085850" cy="1574191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4" idx="3"/>
            <a:endCxn id="6" idx="1"/>
          </p:cNvCxnSpPr>
          <p:nvPr/>
        </p:nvCxnSpPr>
        <p:spPr>
          <a:xfrm>
            <a:off x="2454862" y="4343400"/>
            <a:ext cx="25171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6563725" y="4736068"/>
            <a:ext cx="21291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prstClr val="black"/>
                </a:solidFill>
                <a:latin typeface="Comic Sans MS" pitchFamily="66" charset="0"/>
              </a:rPr>
              <a:t>Failure scenario??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3143252" y="3243262"/>
            <a:ext cx="1326004" cy="338554"/>
          </a:xfrm>
          <a:prstGeom prst="rect">
            <a:avLst/>
          </a:prstGeom>
          <a:ln/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“I am Alice”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3200401" y="3606802"/>
            <a:ext cx="9370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omic Sans MS" pitchFamily="66" charset="0"/>
              </a:rPr>
              <a:t>E</a:t>
            </a:r>
            <a:r>
              <a:rPr lang="en-US" sz="1200" dirty="0" smtClean="0">
                <a:solidFill>
                  <a:prstClr val="black"/>
                </a:solidFill>
                <a:latin typeface="Comic Sans MS" pitchFamily="66" charset="0"/>
              </a:rPr>
              <a:t>ncrypted</a:t>
            </a:r>
            <a:endParaRPr lang="en-US" sz="1200" dirty="0">
              <a:solidFill>
                <a:prstClr val="black"/>
              </a:solidFill>
              <a:latin typeface="Comic Sans MS" pitchFamily="66" charset="0"/>
            </a:endParaRPr>
          </a:p>
          <a:p>
            <a:r>
              <a:rPr lang="en-US" sz="1200" dirty="0" smtClean="0">
                <a:solidFill>
                  <a:prstClr val="black"/>
                </a:solidFill>
                <a:latin typeface="Comic Sans MS" pitchFamily="66" charset="0"/>
              </a:rPr>
              <a:t>Password</a:t>
            </a:r>
            <a:endParaRPr lang="en-US" sz="1200" dirty="0">
              <a:solidFill>
                <a:prstClr val="black"/>
              </a:solidFill>
              <a:latin typeface="Comic Sans MS" pitchFamily="66" charset="0"/>
            </a:endParaRP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3806875" y="4402724"/>
            <a:ext cx="365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latin typeface="Comic Sans MS" pitchFamily="66" charset="0"/>
              </a:rPr>
              <a:t>OK</a:t>
            </a:r>
            <a:endParaRPr lang="en-US" sz="1600" dirty="0">
              <a:solidFill>
                <a:prstClr val="black"/>
              </a:solidFill>
              <a:latin typeface="Comic Sans MS" pitchFamily="66" charset="0"/>
            </a:endParaRPr>
          </a:p>
        </p:txBody>
      </p:sp>
      <p:cxnSp>
        <p:nvCxnSpPr>
          <p:cNvPr id="13" name="Straight Arrow Connector 12"/>
          <p:cNvCxnSpPr>
            <a:stCxn id="12" idx="1"/>
          </p:cNvCxnSpPr>
          <p:nvPr/>
        </p:nvCxnSpPr>
        <p:spPr>
          <a:xfrm flipH="1" flipV="1">
            <a:off x="3339913" y="4572003"/>
            <a:ext cx="466962" cy="123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165558" y="3707792"/>
            <a:ext cx="292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97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030267" y="5994704"/>
            <a:ext cx="994172" cy="584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Authentication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Better try</a:t>
            </a:r>
          </a:p>
          <a:p>
            <a:r>
              <a:rPr lang="en-US" dirty="0"/>
              <a:t>Goal: Bob wants Alice to “prove” her identity to him</a:t>
            </a:r>
          </a:p>
          <a:p>
            <a:r>
              <a:rPr lang="en-US" u="sng" dirty="0"/>
              <a:t>Protocol 3.1</a:t>
            </a:r>
            <a:r>
              <a:rPr lang="en-US" dirty="0"/>
              <a:t>: Alice says “I am Alice” and sends her encrypted secret password to “prove” it</a:t>
            </a:r>
            <a:endParaRPr lang="en-US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1085850" y="3581400"/>
            <a:ext cx="1369012" cy="1524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4972051" y="3581400"/>
            <a:ext cx="1292905" cy="1524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186"/>
          <a:stretch/>
        </p:blipFill>
        <p:spPr>
          <a:xfrm>
            <a:off x="2743200" y="4979012"/>
            <a:ext cx="1085850" cy="1574191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4" idx="3"/>
            <a:endCxn id="6" idx="1"/>
          </p:cNvCxnSpPr>
          <p:nvPr/>
        </p:nvCxnSpPr>
        <p:spPr>
          <a:xfrm>
            <a:off x="2454862" y="4343400"/>
            <a:ext cx="25171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6563725" y="4736068"/>
            <a:ext cx="21291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prstClr val="black"/>
                </a:solidFill>
                <a:latin typeface="Comic Sans MS" pitchFamily="66" charset="0"/>
              </a:rPr>
              <a:t>Failure scenario??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4035029" y="5638800"/>
            <a:ext cx="1326004" cy="338554"/>
          </a:xfrm>
          <a:prstGeom prst="rect">
            <a:avLst/>
          </a:prstGeom>
          <a:ln/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“I am Alice”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4092178" y="6002340"/>
            <a:ext cx="9370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prstClr val="black"/>
                </a:solidFill>
                <a:latin typeface="Comic Sans MS" pitchFamily="66" charset="0"/>
              </a:rPr>
              <a:t>Encrypted</a:t>
            </a:r>
            <a:endParaRPr lang="en-US" sz="1200" dirty="0">
              <a:solidFill>
                <a:prstClr val="black"/>
              </a:solidFill>
              <a:latin typeface="Comic Sans MS" pitchFamily="66" charset="0"/>
            </a:endParaRPr>
          </a:p>
          <a:p>
            <a:r>
              <a:rPr lang="en-US" sz="1200" dirty="0" smtClean="0">
                <a:solidFill>
                  <a:prstClr val="black"/>
                </a:solidFill>
                <a:latin typeface="Comic Sans MS" pitchFamily="66" charset="0"/>
              </a:rPr>
              <a:t>Password</a:t>
            </a:r>
            <a:endParaRPr lang="en-US" sz="1200" dirty="0">
              <a:solidFill>
                <a:prstClr val="black"/>
              </a:solidFill>
              <a:latin typeface="Comic Sans MS" pitchFamily="66" charset="0"/>
            </a:endParaRP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4206925" y="4648201"/>
            <a:ext cx="365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latin typeface="Comic Sans MS" pitchFamily="66" charset="0"/>
              </a:rPr>
              <a:t>OK</a:t>
            </a:r>
            <a:endParaRPr lang="en-US" sz="1600" dirty="0">
              <a:solidFill>
                <a:prstClr val="black"/>
              </a:solidFill>
              <a:latin typeface="Comic Sans MS" pitchFamily="66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989070" y="4885944"/>
            <a:ext cx="240030" cy="219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4297338" y="5257800"/>
            <a:ext cx="274662" cy="246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6743701" y="5200473"/>
            <a:ext cx="202287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  <a:latin typeface="Comic Sans MS" pitchFamily="66" charset="0"/>
              </a:rPr>
              <a:t>Record and playback</a:t>
            </a:r>
            <a:endParaRPr lang="en-US" dirty="0">
              <a:solidFill>
                <a:prstClr val="black"/>
              </a:solidFill>
              <a:latin typeface="Comic Sans MS" pitchFamily="66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still works!</a:t>
            </a:r>
          </a:p>
        </p:txBody>
      </p:sp>
      <p:pic>
        <p:nvPicPr>
          <p:cNvPr id="19" name="Picture 32" descr="EN00179_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43150" y="5105403"/>
            <a:ext cx="361668" cy="37387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cxnSp>
        <p:nvCxnSpPr>
          <p:cNvPr id="20" name="Straight Arrow Connector 19"/>
          <p:cNvCxnSpPr/>
          <p:nvPr/>
        </p:nvCxnSpPr>
        <p:spPr>
          <a:xfrm flipV="1">
            <a:off x="3714751" y="4622800"/>
            <a:ext cx="1208651" cy="10077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454862" y="4495802"/>
            <a:ext cx="437612" cy="11347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143251" y="3606801"/>
            <a:ext cx="994172" cy="5842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34" name="Text Box 14"/>
          <p:cNvSpPr txBox="1">
            <a:spLocks noChangeArrowheads="1"/>
          </p:cNvSpPr>
          <p:nvPr/>
        </p:nvSpPr>
        <p:spPr bwMode="auto">
          <a:xfrm>
            <a:off x="3143252" y="3243262"/>
            <a:ext cx="1326004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“I am Alice”</a:t>
            </a:r>
          </a:p>
        </p:txBody>
      </p:sp>
      <p:sp>
        <p:nvSpPr>
          <p:cNvPr id="35" name="Text Box 15"/>
          <p:cNvSpPr txBox="1">
            <a:spLocks noChangeArrowheads="1"/>
          </p:cNvSpPr>
          <p:nvPr/>
        </p:nvSpPr>
        <p:spPr bwMode="auto">
          <a:xfrm>
            <a:off x="3200401" y="3606802"/>
            <a:ext cx="937022" cy="4616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prstClr val="black"/>
                </a:solidFill>
                <a:latin typeface="Comic Sans MS" pitchFamily="66" charset="0"/>
              </a:rPr>
              <a:t>Encrypted</a:t>
            </a:r>
            <a:endParaRPr lang="en-US" sz="1200" dirty="0">
              <a:solidFill>
                <a:prstClr val="black"/>
              </a:solidFill>
              <a:latin typeface="Comic Sans MS" pitchFamily="66" charset="0"/>
            </a:endParaRPr>
          </a:p>
          <a:p>
            <a:r>
              <a:rPr lang="en-US" sz="1200" dirty="0" smtClean="0">
                <a:solidFill>
                  <a:prstClr val="black"/>
                </a:solidFill>
                <a:latin typeface="Comic Sans MS" pitchFamily="66" charset="0"/>
              </a:rPr>
              <a:t>Password</a:t>
            </a:r>
            <a:endParaRPr lang="en-US" sz="1200" dirty="0">
              <a:solidFill>
                <a:prstClr val="black"/>
              </a:solidFill>
              <a:latin typeface="Comic Sans MS" pitchFamily="66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4165558" y="3707792"/>
            <a:ext cx="2921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57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Authentication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One </a:t>
            </a:r>
            <a:r>
              <a:rPr lang="en-US" u="sng" dirty="0"/>
              <a:t>More Try</a:t>
            </a:r>
          </a:p>
          <a:p>
            <a:r>
              <a:rPr lang="en-US" dirty="0"/>
              <a:t>Goal: Bob wants Alice to “prove” her identity to </a:t>
            </a:r>
            <a:r>
              <a:rPr lang="en-US" dirty="0" smtClean="0"/>
              <a:t>him</a:t>
            </a:r>
          </a:p>
          <a:p>
            <a:r>
              <a:rPr lang="en-US" dirty="0" smtClean="0"/>
              <a:t>Nonce</a:t>
            </a:r>
            <a:r>
              <a:rPr lang="en-US" dirty="0"/>
              <a:t>: number (timestamp) used only once–in-a-lifetime  </a:t>
            </a:r>
          </a:p>
          <a:p>
            <a:r>
              <a:rPr lang="en-US" u="sng" dirty="0"/>
              <a:t>Protocol 4.0</a:t>
            </a:r>
            <a:r>
              <a:rPr lang="en-US" dirty="0"/>
              <a:t>: </a:t>
            </a:r>
            <a:r>
              <a:rPr lang="en-US" dirty="0" smtClean="0"/>
              <a:t>To </a:t>
            </a:r>
            <a:r>
              <a:rPr lang="en-US" dirty="0"/>
              <a:t>prove Alice “live”, Bob sends Alice nonce, N. Alice must return N, encrypted with shared secret key</a:t>
            </a:r>
            <a:endParaRPr lang="en-US" b="1" u="sng" dirty="0"/>
          </a:p>
        </p:txBody>
      </p:sp>
      <p:grpSp>
        <p:nvGrpSpPr>
          <p:cNvPr id="3" name="Group 2"/>
          <p:cNvGrpSpPr/>
          <p:nvPr/>
        </p:nvGrpSpPr>
        <p:grpSpPr>
          <a:xfrm>
            <a:off x="990600" y="4032970"/>
            <a:ext cx="8073319" cy="2748830"/>
            <a:chOff x="1085850" y="3581400"/>
            <a:chExt cx="8073319" cy="274883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3768"/>
            <a:stretch/>
          </p:blipFill>
          <p:spPr>
            <a:xfrm>
              <a:off x="1085850" y="3581400"/>
              <a:ext cx="1369012" cy="152400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3768"/>
            <a:stretch/>
          </p:blipFill>
          <p:spPr>
            <a:xfrm>
              <a:off x="4972051" y="3581400"/>
              <a:ext cx="1292905" cy="1524000"/>
            </a:xfrm>
            <a:prstGeom prst="rect">
              <a:avLst/>
            </a:prstGeom>
          </p:spPr>
        </p:pic>
        <p:cxnSp>
          <p:nvCxnSpPr>
            <p:cNvPr id="8" name="Straight Arrow Connector 7"/>
            <p:cNvCxnSpPr>
              <a:stCxn id="4" idx="3"/>
              <a:endCxn id="6" idx="1"/>
            </p:cNvCxnSpPr>
            <p:nvPr/>
          </p:nvCxnSpPr>
          <p:spPr>
            <a:xfrm>
              <a:off x="2454862" y="4343400"/>
              <a:ext cx="2517188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6731901" y="4572000"/>
              <a:ext cx="242726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r>
                <a:rPr lang="en-US" sz="1800" dirty="0">
                  <a:solidFill>
                    <a:prstClr val="black"/>
                  </a:solidFill>
                  <a:latin typeface="Comic Sans MS" pitchFamily="66" charset="0"/>
                </a:rPr>
                <a:t>Failures, drawbacks?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2454862" y="5824390"/>
              <a:ext cx="2517188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H="1">
              <a:off x="2398014" y="5029200"/>
              <a:ext cx="2516886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 Box 36"/>
            <p:cNvSpPr txBox="1">
              <a:spLocks noChangeArrowheads="1"/>
            </p:cNvSpPr>
            <p:nvPr/>
          </p:nvSpPr>
          <p:spPr bwMode="auto">
            <a:xfrm>
              <a:off x="2609850" y="3962400"/>
              <a:ext cx="168595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solidFill>
                    <a:prstClr val="black"/>
                  </a:solidFill>
                  <a:latin typeface="Comic Sans MS" pitchFamily="66" charset="0"/>
                </a:rPr>
                <a:t>“I am Alice”</a:t>
              </a:r>
            </a:p>
          </p:txBody>
        </p:sp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3543300" y="4648200"/>
              <a:ext cx="36901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mic Sans MS" pitchFamily="66" charset="0"/>
                </a:rPr>
                <a:t>N</a:t>
              </a:r>
            </a:p>
          </p:txBody>
        </p:sp>
        <p:sp>
          <p:nvSpPr>
            <p:cNvPr id="28" name="Text Box 27"/>
            <p:cNvSpPr txBox="1">
              <a:spLocks noChangeArrowheads="1"/>
            </p:cNvSpPr>
            <p:nvPr/>
          </p:nvSpPr>
          <p:spPr bwMode="auto">
            <a:xfrm>
              <a:off x="3314700" y="5375523"/>
              <a:ext cx="742950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  <a:latin typeface="Comic Sans MS" pitchFamily="66" charset="0"/>
                </a:rPr>
                <a:t>K</a:t>
              </a:r>
              <a:r>
                <a:rPr lang="en-US" baseline="-25000" dirty="0" smtClean="0">
                  <a:solidFill>
                    <a:prstClr val="black"/>
                  </a:solidFill>
                  <a:latin typeface="Comic Sans MS" pitchFamily="66" charset="0"/>
                </a:rPr>
                <a:t>AB</a:t>
              </a:r>
              <a:r>
                <a:rPr lang="en-US" dirty="0" smtClean="0">
                  <a:solidFill>
                    <a:prstClr val="black"/>
                  </a:solidFill>
                  <a:latin typeface="Comic Sans MS" pitchFamily="66" charset="0"/>
                </a:rPr>
                <a:t> (N)</a:t>
              </a:r>
              <a:endParaRPr lang="en-US" dirty="0">
                <a:solidFill>
                  <a:prstClr val="black"/>
                </a:solidFill>
                <a:latin typeface="Comic Sans MS" pitchFamily="66" charset="0"/>
              </a:endParaRPr>
            </a:p>
          </p:txBody>
        </p:sp>
        <p:sp>
          <p:nvSpPr>
            <p:cNvPr id="29" name="Text Box 31"/>
            <p:cNvSpPr txBox="1">
              <a:spLocks noChangeArrowheads="1"/>
            </p:cNvSpPr>
            <p:nvPr/>
          </p:nvSpPr>
          <p:spPr bwMode="auto">
            <a:xfrm>
              <a:off x="4986562" y="5406900"/>
              <a:ext cx="3395438" cy="923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mic Sans MS" pitchFamily="66" charset="0"/>
                </a:rPr>
                <a:t>Alice is live, and only Alice knows key to encrypt nonce, so it must be Alice!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174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Authentication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Protocol </a:t>
            </a:r>
            <a:r>
              <a:rPr lang="en-US" dirty="0"/>
              <a:t>4.0 requires shared symmetric key </a:t>
            </a:r>
          </a:p>
          <a:p>
            <a:r>
              <a:rPr lang="en-US" dirty="0" smtClean="0"/>
              <a:t>Can </a:t>
            </a:r>
            <a:r>
              <a:rPr lang="en-US" dirty="0"/>
              <a:t>we authenticate using public key techniques?</a:t>
            </a:r>
          </a:p>
          <a:p>
            <a:r>
              <a:rPr lang="en-US" u="sng" dirty="0"/>
              <a:t>Protocol 5.0</a:t>
            </a:r>
            <a:r>
              <a:rPr lang="en-US" dirty="0"/>
              <a:t>: use nonce, public key cryptography</a:t>
            </a:r>
            <a:endParaRPr lang="en-US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1085850" y="3581400"/>
            <a:ext cx="1369012" cy="1524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4972051" y="3581400"/>
            <a:ext cx="1292905" cy="15240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2454862" y="4114800"/>
            <a:ext cx="2517188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6848691" y="3135868"/>
            <a:ext cx="24272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prstClr val="black"/>
                </a:solidFill>
                <a:latin typeface="Comic Sans MS" pitchFamily="66" charset="0"/>
              </a:rPr>
              <a:t>Failures, drawbacks?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454862" y="5205824"/>
            <a:ext cx="2517188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2398014" y="4648200"/>
            <a:ext cx="251688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 Box 36"/>
          <p:cNvSpPr txBox="1">
            <a:spLocks noChangeArrowheads="1"/>
          </p:cNvSpPr>
          <p:nvPr/>
        </p:nvSpPr>
        <p:spPr bwMode="auto">
          <a:xfrm>
            <a:off x="3086100" y="3733800"/>
            <a:ext cx="17145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prstClr val="black"/>
                </a:solidFill>
                <a:latin typeface="Comic Sans MS" pitchFamily="66" charset="0"/>
              </a:rPr>
              <a:t>“I </a:t>
            </a:r>
            <a:r>
              <a:rPr lang="en-US" sz="2000" dirty="0" smtClean="0">
                <a:solidFill>
                  <a:prstClr val="black"/>
                </a:solidFill>
                <a:latin typeface="Comic Sans MS" pitchFamily="66" charset="0"/>
              </a:rPr>
              <a:t>am Alice</a:t>
            </a:r>
            <a:r>
              <a:rPr lang="en-US" sz="2000" dirty="0">
                <a:solidFill>
                  <a:prstClr val="black"/>
                </a:solidFill>
                <a:latin typeface="Comic Sans MS" pitchFamily="66" charset="0"/>
              </a:rPr>
              <a:t>”</a:t>
            </a: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3543300" y="4267200"/>
            <a:ext cx="3690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N</a:t>
            </a:r>
          </a:p>
        </p:txBody>
      </p:sp>
      <p:grpSp>
        <p:nvGrpSpPr>
          <p:cNvPr id="14" name="Group 41"/>
          <p:cNvGrpSpPr>
            <a:grpSpLocks/>
          </p:cNvGrpSpPr>
          <p:nvPr/>
        </p:nvGrpSpPr>
        <p:grpSpPr bwMode="auto">
          <a:xfrm>
            <a:off x="3384844" y="4648200"/>
            <a:ext cx="889397" cy="617538"/>
            <a:chOff x="2351" y="2077"/>
            <a:chExt cx="747" cy="389"/>
          </a:xfrm>
        </p:grpSpPr>
        <p:sp>
          <p:nvSpPr>
            <p:cNvPr id="15" name="Text Box 38"/>
            <p:cNvSpPr txBox="1">
              <a:spLocks noChangeArrowheads="1"/>
            </p:cNvSpPr>
            <p:nvPr/>
          </p:nvSpPr>
          <p:spPr bwMode="auto">
            <a:xfrm>
              <a:off x="2351" y="2132"/>
              <a:ext cx="74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omic Sans MS" pitchFamily="66" charset="0"/>
                </a:rPr>
                <a:t>K </a:t>
              </a:r>
              <a:r>
                <a:rPr lang="en-US" sz="2000" dirty="0" smtClean="0">
                  <a:solidFill>
                    <a:prstClr val="black"/>
                  </a:solidFill>
                  <a:latin typeface="Comic Sans MS" pitchFamily="66" charset="0"/>
                </a:rPr>
                <a:t> (N)</a:t>
              </a:r>
              <a:endParaRPr lang="en-US" sz="2000" dirty="0">
                <a:solidFill>
                  <a:prstClr val="black"/>
                </a:solidFill>
                <a:latin typeface="Comic Sans MS" pitchFamily="66" charset="0"/>
              </a:endParaRPr>
            </a:p>
          </p:txBody>
        </p:sp>
        <p:sp>
          <p:nvSpPr>
            <p:cNvPr id="16" name="Text Box 39"/>
            <p:cNvSpPr txBox="1">
              <a:spLocks noChangeArrowheads="1"/>
            </p:cNvSpPr>
            <p:nvPr/>
          </p:nvSpPr>
          <p:spPr bwMode="auto">
            <a:xfrm>
              <a:off x="2466" y="2253"/>
              <a:ext cx="28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Comic Sans MS" pitchFamily="66" charset="0"/>
                </a:rPr>
                <a:t>A</a:t>
              </a:r>
            </a:p>
          </p:txBody>
        </p:sp>
        <p:sp>
          <p:nvSpPr>
            <p:cNvPr id="17" name="Text Box 40"/>
            <p:cNvSpPr txBox="1">
              <a:spLocks noChangeArrowheads="1"/>
            </p:cNvSpPr>
            <p:nvPr/>
          </p:nvSpPr>
          <p:spPr bwMode="auto">
            <a:xfrm>
              <a:off x="2475" y="2077"/>
              <a:ext cx="22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solidFill>
                    <a:prstClr val="black"/>
                  </a:solidFill>
                  <a:latin typeface="Comic Sans MS" pitchFamily="66" charset="0"/>
                </a:rPr>
                <a:t>-</a:t>
              </a:r>
              <a:endParaRPr lang="en-US" sz="1600" dirty="0">
                <a:solidFill>
                  <a:prstClr val="black"/>
                </a:solidFill>
                <a:latin typeface="Comic Sans MS" pitchFamily="66" charset="0"/>
              </a:endParaRPr>
            </a:p>
          </p:txBody>
        </p:sp>
      </p:grpSp>
      <p:sp>
        <p:nvSpPr>
          <p:cNvPr id="19" name="Text Box 26"/>
          <p:cNvSpPr txBox="1">
            <a:spLocks noChangeArrowheads="1"/>
          </p:cNvSpPr>
          <p:nvPr/>
        </p:nvSpPr>
        <p:spPr bwMode="auto">
          <a:xfrm>
            <a:off x="2628901" y="5424488"/>
            <a:ext cx="291458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“send me your public key”</a:t>
            </a:r>
          </a:p>
        </p:txBody>
      </p:sp>
      <p:grpSp>
        <p:nvGrpSpPr>
          <p:cNvPr id="21" name="Group 32"/>
          <p:cNvGrpSpPr>
            <a:grpSpLocks/>
          </p:cNvGrpSpPr>
          <p:nvPr/>
        </p:nvGrpSpPr>
        <p:grpSpPr bwMode="auto">
          <a:xfrm>
            <a:off x="3486152" y="5791201"/>
            <a:ext cx="463154" cy="719138"/>
            <a:chOff x="831" y="3234"/>
            <a:chExt cx="389" cy="453"/>
          </a:xfrm>
        </p:grpSpPr>
        <p:sp>
          <p:nvSpPr>
            <p:cNvPr id="22" name="Text Box 29"/>
            <p:cNvSpPr txBox="1">
              <a:spLocks noChangeArrowheads="1"/>
            </p:cNvSpPr>
            <p:nvPr/>
          </p:nvSpPr>
          <p:spPr bwMode="auto">
            <a:xfrm>
              <a:off x="831" y="3330"/>
              <a:ext cx="3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mic Sans MS" pitchFamily="66" charset="0"/>
                </a:rPr>
                <a:t>K  </a:t>
              </a:r>
            </a:p>
          </p:txBody>
        </p:sp>
        <p:sp>
          <p:nvSpPr>
            <p:cNvPr id="24" name="Text Box 30"/>
            <p:cNvSpPr txBox="1">
              <a:spLocks noChangeArrowheads="1"/>
            </p:cNvSpPr>
            <p:nvPr/>
          </p:nvSpPr>
          <p:spPr bwMode="auto">
            <a:xfrm>
              <a:off x="918" y="3454"/>
              <a:ext cx="2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prstClr val="black"/>
                  </a:solidFill>
                  <a:latin typeface="Comic Sans MS" pitchFamily="66" charset="0"/>
                </a:rPr>
                <a:t>A</a:t>
              </a:r>
            </a:p>
          </p:txBody>
        </p:sp>
        <p:sp>
          <p:nvSpPr>
            <p:cNvPr id="30" name="Text Box 31"/>
            <p:cNvSpPr txBox="1">
              <a:spLocks noChangeArrowheads="1"/>
            </p:cNvSpPr>
            <p:nvPr/>
          </p:nvSpPr>
          <p:spPr bwMode="auto">
            <a:xfrm>
              <a:off x="956" y="3234"/>
              <a:ext cx="25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prstClr val="black"/>
                  </a:solidFill>
                  <a:latin typeface="Comic Sans MS" pitchFamily="66" charset="0"/>
                </a:rPr>
                <a:t>+</a:t>
              </a:r>
            </a:p>
          </p:txBody>
        </p:sp>
      </p:grpSp>
      <p:cxnSp>
        <p:nvCxnSpPr>
          <p:cNvPr id="31" name="Straight Arrow Connector 30"/>
          <p:cNvCxnSpPr/>
          <p:nvPr/>
        </p:nvCxnSpPr>
        <p:spPr>
          <a:xfrm flipH="1">
            <a:off x="2400300" y="5791200"/>
            <a:ext cx="251688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2400301" y="6477000"/>
            <a:ext cx="2517188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3" name="Group 41"/>
          <p:cNvGrpSpPr>
            <a:grpSpLocks/>
          </p:cNvGrpSpPr>
          <p:nvPr/>
        </p:nvGrpSpPr>
        <p:grpSpPr bwMode="auto">
          <a:xfrm>
            <a:off x="6698458" y="4054477"/>
            <a:ext cx="1624013" cy="746125"/>
            <a:chOff x="1127" y="3574"/>
            <a:chExt cx="1364" cy="470"/>
          </a:xfrm>
        </p:grpSpPr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1292" y="3687"/>
              <a:ext cx="119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mic Sans MS" pitchFamily="66" charset="0"/>
                </a:rPr>
                <a:t>(K  (N)) = N</a:t>
              </a:r>
            </a:p>
          </p:txBody>
        </p:sp>
        <p:sp>
          <p:nvSpPr>
            <p:cNvPr id="35" name="Text Box 35"/>
            <p:cNvSpPr txBox="1">
              <a:spLocks noChangeArrowheads="1"/>
            </p:cNvSpPr>
            <p:nvPr/>
          </p:nvSpPr>
          <p:spPr bwMode="auto">
            <a:xfrm>
              <a:off x="1512" y="3811"/>
              <a:ext cx="2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prstClr val="black"/>
                  </a:solidFill>
                  <a:latin typeface="Comic Sans MS" pitchFamily="66" charset="0"/>
                </a:rPr>
                <a:t>A</a:t>
              </a: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1535" y="3574"/>
              <a:ext cx="24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prstClr val="black"/>
                  </a:solidFill>
                  <a:latin typeface="Comic Sans MS" pitchFamily="66" charset="0"/>
                </a:rPr>
                <a:t>-</a:t>
              </a:r>
            </a:p>
          </p:txBody>
        </p:sp>
        <p:grpSp>
          <p:nvGrpSpPr>
            <p:cNvPr id="37" name="Group 37"/>
            <p:cNvGrpSpPr>
              <a:grpSpLocks/>
            </p:cNvGrpSpPr>
            <p:nvPr/>
          </p:nvGrpSpPr>
          <p:grpSpPr bwMode="auto">
            <a:xfrm>
              <a:off x="1127" y="3578"/>
              <a:ext cx="389" cy="453"/>
              <a:chOff x="831" y="3234"/>
              <a:chExt cx="389" cy="453"/>
            </a:xfrm>
          </p:grpSpPr>
          <p:sp>
            <p:nvSpPr>
              <p:cNvPr id="38" name="Text Box 38"/>
              <p:cNvSpPr txBox="1">
                <a:spLocks noChangeArrowheads="1"/>
              </p:cNvSpPr>
              <p:nvPr/>
            </p:nvSpPr>
            <p:spPr bwMode="auto">
              <a:xfrm>
                <a:off x="831" y="3330"/>
                <a:ext cx="38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prstClr val="black"/>
                    </a:solidFill>
                    <a:latin typeface="Comic Sans MS" pitchFamily="66" charset="0"/>
                  </a:rPr>
                  <a:t>K  </a:t>
                </a:r>
              </a:p>
            </p:txBody>
          </p:sp>
          <p:sp>
            <p:nvSpPr>
              <p:cNvPr id="39" name="Text Box 39"/>
              <p:cNvSpPr txBox="1">
                <a:spLocks noChangeArrowheads="1"/>
              </p:cNvSpPr>
              <p:nvPr/>
            </p:nvSpPr>
            <p:spPr bwMode="auto">
              <a:xfrm>
                <a:off x="918" y="3454"/>
                <a:ext cx="29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prstClr val="black"/>
                    </a:solidFill>
                    <a:latin typeface="Comic Sans MS" pitchFamily="66" charset="0"/>
                  </a:rPr>
                  <a:t>A</a:t>
                </a:r>
              </a:p>
            </p:txBody>
          </p:sp>
          <p:sp>
            <p:nvSpPr>
              <p:cNvPr id="40" name="Text Box 40"/>
              <p:cNvSpPr txBox="1">
                <a:spLocks noChangeArrowheads="1"/>
              </p:cNvSpPr>
              <p:nvPr/>
            </p:nvSpPr>
            <p:spPr bwMode="auto">
              <a:xfrm>
                <a:off x="956" y="3234"/>
                <a:ext cx="25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prstClr val="black"/>
                    </a:solidFill>
                    <a:latin typeface="Comic Sans MS" pitchFamily="66" charset="0"/>
                  </a:rPr>
                  <a:t>+</a:t>
                </a:r>
              </a:p>
            </p:txBody>
          </p:sp>
        </p:grpSp>
      </p:grpSp>
      <p:sp>
        <p:nvSpPr>
          <p:cNvPr id="41" name="Text Box 42"/>
          <p:cNvSpPr txBox="1">
            <a:spLocks noChangeArrowheads="1"/>
          </p:cNvSpPr>
          <p:nvPr/>
        </p:nvSpPr>
        <p:spPr bwMode="auto">
          <a:xfrm>
            <a:off x="6296026" y="4649790"/>
            <a:ext cx="227647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and knows only Alice could have the private key, that encrypted N such that</a:t>
            </a:r>
          </a:p>
        </p:txBody>
      </p:sp>
      <p:grpSp>
        <p:nvGrpSpPr>
          <p:cNvPr id="42" name="Group 51"/>
          <p:cNvGrpSpPr>
            <a:grpSpLocks/>
          </p:cNvGrpSpPr>
          <p:nvPr/>
        </p:nvGrpSpPr>
        <p:grpSpPr bwMode="auto">
          <a:xfrm>
            <a:off x="6769894" y="5713414"/>
            <a:ext cx="1843088" cy="766762"/>
            <a:chOff x="940" y="3588"/>
            <a:chExt cx="1548" cy="483"/>
          </a:xfrm>
        </p:grpSpPr>
        <p:sp>
          <p:nvSpPr>
            <p:cNvPr id="43" name="Text Box 44"/>
            <p:cNvSpPr txBox="1">
              <a:spLocks noChangeArrowheads="1"/>
            </p:cNvSpPr>
            <p:nvPr/>
          </p:nvSpPr>
          <p:spPr bwMode="auto">
            <a:xfrm>
              <a:off x="1170" y="3731"/>
              <a:ext cx="131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prstClr val="black"/>
                  </a:solidFill>
                  <a:latin typeface="Comic Sans MS" pitchFamily="66" charset="0"/>
                </a:rPr>
                <a:t>(K  (N)) = N</a:t>
              </a:r>
            </a:p>
          </p:txBody>
        </p:sp>
        <p:sp>
          <p:nvSpPr>
            <p:cNvPr id="44" name="Text Box 45"/>
            <p:cNvSpPr txBox="1">
              <a:spLocks noChangeArrowheads="1"/>
            </p:cNvSpPr>
            <p:nvPr/>
          </p:nvSpPr>
          <p:spPr bwMode="auto">
            <a:xfrm>
              <a:off x="1337" y="3819"/>
              <a:ext cx="31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prstClr val="black"/>
                  </a:solidFill>
                  <a:latin typeface="Comic Sans MS" pitchFamily="66" charset="0"/>
                </a:rPr>
                <a:t>A</a:t>
              </a:r>
            </a:p>
          </p:txBody>
        </p:sp>
        <p:sp>
          <p:nvSpPr>
            <p:cNvPr id="45" name="Text Box 46"/>
            <p:cNvSpPr txBox="1">
              <a:spLocks noChangeArrowheads="1"/>
            </p:cNvSpPr>
            <p:nvPr/>
          </p:nvSpPr>
          <p:spPr bwMode="auto">
            <a:xfrm>
              <a:off x="1330" y="3588"/>
              <a:ext cx="24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prstClr val="black"/>
                  </a:solidFill>
                  <a:latin typeface="Comic Sans MS" pitchFamily="66" charset="0"/>
                </a:rPr>
                <a:t>-</a:t>
              </a:r>
            </a:p>
          </p:txBody>
        </p:sp>
        <p:sp>
          <p:nvSpPr>
            <p:cNvPr id="46" name="Text Box 48"/>
            <p:cNvSpPr txBox="1">
              <a:spLocks noChangeArrowheads="1"/>
            </p:cNvSpPr>
            <p:nvPr/>
          </p:nvSpPr>
          <p:spPr bwMode="auto">
            <a:xfrm>
              <a:off x="940" y="3718"/>
              <a:ext cx="41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prstClr val="black"/>
                  </a:solidFill>
                  <a:latin typeface="Comic Sans MS" pitchFamily="66" charset="0"/>
                </a:rPr>
                <a:t>K  </a:t>
              </a:r>
            </a:p>
          </p:txBody>
        </p:sp>
        <p:sp>
          <p:nvSpPr>
            <p:cNvPr id="47" name="Text Box 49"/>
            <p:cNvSpPr txBox="1">
              <a:spLocks noChangeArrowheads="1"/>
            </p:cNvSpPr>
            <p:nvPr/>
          </p:nvSpPr>
          <p:spPr bwMode="auto">
            <a:xfrm>
              <a:off x="1039" y="3805"/>
              <a:ext cx="31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prstClr val="black"/>
                  </a:solidFill>
                  <a:latin typeface="Comic Sans MS" pitchFamily="66" charset="0"/>
                </a:rPr>
                <a:t>A</a:t>
              </a:r>
            </a:p>
          </p:txBody>
        </p:sp>
        <p:sp>
          <p:nvSpPr>
            <p:cNvPr id="48" name="Text Box 50"/>
            <p:cNvSpPr txBox="1">
              <a:spLocks noChangeArrowheads="1"/>
            </p:cNvSpPr>
            <p:nvPr/>
          </p:nvSpPr>
          <p:spPr bwMode="auto">
            <a:xfrm>
              <a:off x="1065" y="3620"/>
              <a:ext cx="25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prstClr val="black"/>
                  </a:solidFill>
                  <a:latin typeface="Comic Sans MS" pitchFamily="66" charset="0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492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Authentication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Protocol 5.0</a:t>
            </a:r>
            <a:r>
              <a:rPr lang="en-US" dirty="0"/>
              <a:t>: Security Hole</a:t>
            </a:r>
          </a:p>
          <a:p>
            <a:r>
              <a:rPr lang="en-US" dirty="0"/>
              <a:t>Man in the middle attack: </a:t>
            </a:r>
            <a:r>
              <a:rPr lang="en-US" dirty="0" smtClean="0"/>
              <a:t>Eve </a:t>
            </a:r>
            <a:r>
              <a:rPr lang="en-US" dirty="0"/>
              <a:t>poses as Alice (to Bob) and as Bob (to Alice)</a:t>
            </a:r>
            <a:endParaRPr lang="en-US" b="1" u="sng" dirty="0"/>
          </a:p>
        </p:txBody>
      </p:sp>
      <p:grpSp>
        <p:nvGrpSpPr>
          <p:cNvPr id="3" name="Group 2"/>
          <p:cNvGrpSpPr/>
          <p:nvPr/>
        </p:nvGrpSpPr>
        <p:grpSpPr>
          <a:xfrm>
            <a:off x="800100" y="2362201"/>
            <a:ext cx="8001002" cy="4571999"/>
            <a:chOff x="800100" y="2209801"/>
            <a:chExt cx="8001002" cy="457199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3768"/>
            <a:stretch/>
          </p:blipFill>
          <p:spPr>
            <a:xfrm>
              <a:off x="800100" y="2286000"/>
              <a:ext cx="1369012" cy="152400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3768"/>
            <a:stretch/>
          </p:blipFill>
          <p:spPr>
            <a:xfrm>
              <a:off x="7508197" y="2286000"/>
              <a:ext cx="1292905" cy="1524000"/>
            </a:xfrm>
            <a:prstGeom prst="rect">
              <a:avLst/>
            </a:prstGeom>
          </p:spPr>
        </p:pic>
        <p:cxnSp>
          <p:nvCxnSpPr>
            <p:cNvPr id="8" name="Straight Arrow Connector 7"/>
            <p:cNvCxnSpPr/>
            <p:nvPr/>
          </p:nvCxnSpPr>
          <p:spPr>
            <a:xfrm>
              <a:off x="2039230" y="2662210"/>
              <a:ext cx="2002838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H="1">
              <a:off x="2039230" y="3143310"/>
              <a:ext cx="2002838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 Box 36"/>
            <p:cNvSpPr txBox="1">
              <a:spLocks noChangeArrowheads="1"/>
            </p:cNvSpPr>
            <p:nvPr/>
          </p:nvSpPr>
          <p:spPr bwMode="auto">
            <a:xfrm>
              <a:off x="1905000" y="2209801"/>
              <a:ext cx="164785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r>
                <a:rPr lang="en-US" sz="1800" dirty="0">
                  <a:solidFill>
                    <a:prstClr val="black"/>
                  </a:solidFill>
                  <a:latin typeface="Comic Sans MS" pitchFamily="66" charset="0"/>
                </a:rPr>
                <a:t>“I </a:t>
              </a:r>
              <a:r>
                <a:rPr lang="en-US" sz="1800" dirty="0" smtClean="0">
                  <a:solidFill>
                    <a:prstClr val="black"/>
                  </a:solidFill>
                  <a:latin typeface="Comic Sans MS" pitchFamily="66" charset="0"/>
                </a:rPr>
                <a:t>am Alice</a:t>
              </a:r>
              <a:r>
                <a:rPr lang="en-US" sz="1800" dirty="0">
                  <a:solidFill>
                    <a:prstClr val="black"/>
                  </a:solidFill>
                  <a:latin typeface="Comic Sans MS" pitchFamily="66" charset="0"/>
                </a:rPr>
                <a:t>”</a:t>
              </a:r>
            </a:p>
          </p:txBody>
        </p:sp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2822971" y="2838510"/>
              <a:ext cx="36901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mic Sans MS" pitchFamily="66" charset="0"/>
                </a:rPr>
                <a:t>N</a:t>
              </a:r>
            </a:p>
          </p:txBody>
        </p:sp>
        <p:grpSp>
          <p:nvGrpSpPr>
            <p:cNvPr id="14" name="Group 41"/>
            <p:cNvGrpSpPr>
              <a:grpSpLocks/>
            </p:cNvGrpSpPr>
            <p:nvPr/>
          </p:nvGrpSpPr>
          <p:grpSpPr bwMode="auto">
            <a:xfrm>
              <a:off x="2686051" y="3143310"/>
              <a:ext cx="889397" cy="617538"/>
              <a:chOff x="2351" y="2077"/>
              <a:chExt cx="747" cy="389"/>
            </a:xfrm>
          </p:grpSpPr>
          <p:sp>
            <p:nvSpPr>
              <p:cNvPr id="15" name="Text Box 38"/>
              <p:cNvSpPr txBox="1">
                <a:spLocks noChangeArrowheads="1"/>
              </p:cNvSpPr>
              <p:nvPr/>
            </p:nvSpPr>
            <p:spPr bwMode="auto">
              <a:xfrm>
                <a:off x="2351" y="2132"/>
                <a:ext cx="74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Comic Sans MS" pitchFamily="66" charset="0"/>
                  </a:rPr>
                  <a:t>K </a:t>
                </a:r>
                <a:r>
                  <a:rPr lang="en-US" sz="2000" dirty="0" smtClean="0">
                    <a:solidFill>
                      <a:prstClr val="black"/>
                    </a:solidFill>
                    <a:latin typeface="Comic Sans MS" pitchFamily="66" charset="0"/>
                  </a:rPr>
                  <a:t> (N)</a:t>
                </a:r>
                <a:endParaRPr lang="en-US" sz="2000" dirty="0">
                  <a:solidFill>
                    <a:prstClr val="black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16" name="Text Box 39"/>
              <p:cNvSpPr txBox="1">
                <a:spLocks noChangeArrowheads="1"/>
              </p:cNvSpPr>
              <p:nvPr/>
            </p:nvSpPr>
            <p:spPr bwMode="auto">
              <a:xfrm>
                <a:off x="2466" y="2253"/>
                <a:ext cx="28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solidFill>
                      <a:prstClr val="black"/>
                    </a:solidFill>
                    <a:latin typeface="Comic Sans MS" pitchFamily="66" charset="0"/>
                  </a:rPr>
                  <a:t>A</a:t>
                </a:r>
              </a:p>
            </p:txBody>
          </p:sp>
          <p:sp>
            <p:nvSpPr>
              <p:cNvPr id="17" name="Text Box 40"/>
              <p:cNvSpPr txBox="1">
                <a:spLocks noChangeArrowheads="1"/>
              </p:cNvSpPr>
              <p:nvPr/>
            </p:nvSpPr>
            <p:spPr bwMode="auto">
              <a:xfrm>
                <a:off x="2475" y="2077"/>
                <a:ext cx="226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solidFill>
                      <a:prstClr val="black"/>
                    </a:solidFill>
                    <a:latin typeface="Comic Sans MS" pitchFamily="66" charset="0"/>
                  </a:rPr>
                  <a:t>-</a:t>
                </a:r>
                <a:endParaRPr lang="en-US" sz="1600" dirty="0">
                  <a:solidFill>
                    <a:prstClr val="black"/>
                  </a:solidFill>
                  <a:latin typeface="Comic Sans MS" pitchFamily="66" charset="0"/>
                </a:endParaRPr>
              </a:p>
            </p:txBody>
          </p:sp>
        </p:grpSp>
        <p:sp>
          <p:nvSpPr>
            <p:cNvPr id="19" name="Text Box 26"/>
            <p:cNvSpPr txBox="1">
              <a:spLocks noChangeArrowheads="1"/>
            </p:cNvSpPr>
            <p:nvPr/>
          </p:nvSpPr>
          <p:spPr bwMode="auto">
            <a:xfrm>
              <a:off x="2057400" y="3913248"/>
              <a:ext cx="2608406" cy="3385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Comic Sans MS" pitchFamily="66" charset="0"/>
                </a:rPr>
                <a:t>“send me your public key”</a:t>
              </a:r>
            </a:p>
          </p:txBody>
        </p:sp>
        <p:grpSp>
          <p:nvGrpSpPr>
            <p:cNvPr id="21" name="Group 32"/>
            <p:cNvGrpSpPr>
              <a:grpSpLocks/>
            </p:cNvGrpSpPr>
            <p:nvPr/>
          </p:nvGrpSpPr>
          <p:grpSpPr bwMode="auto">
            <a:xfrm>
              <a:off x="2844405" y="4294249"/>
              <a:ext cx="463154" cy="719138"/>
              <a:chOff x="831" y="3234"/>
              <a:chExt cx="389" cy="453"/>
            </a:xfrm>
          </p:grpSpPr>
          <p:sp>
            <p:nvSpPr>
              <p:cNvPr id="22" name="Text Box 29"/>
              <p:cNvSpPr txBox="1">
                <a:spLocks noChangeArrowheads="1"/>
              </p:cNvSpPr>
              <p:nvPr/>
            </p:nvSpPr>
            <p:spPr bwMode="auto">
              <a:xfrm>
                <a:off x="831" y="3330"/>
                <a:ext cx="38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  <a:latin typeface="Comic Sans MS" pitchFamily="66" charset="0"/>
                  </a:rPr>
                  <a:t>K  </a:t>
                </a:r>
              </a:p>
            </p:txBody>
          </p:sp>
          <p:sp>
            <p:nvSpPr>
              <p:cNvPr id="24" name="Text Box 30"/>
              <p:cNvSpPr txBox="1">
                <a:spLocks noChangeArrowheads="1"/>
              </p:cNvSpPr>
              <p:nvPr/>
            </p:nvSpPr>
            <p:spPr bwMode="auto">
              <a:xfrm>
                <a:off x="918" y="3454"/>
                <a:ext cx="29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prstClr val="black"/>
                    </a:solidFill>
                    <a:latin typeface="Comic Sans MS" pitchFamily="66" charset="0"/>
                  </a:rPr>
                  <a:t>A</a:t>
                </a:r>
              </a:p>
            </p:txBody>
          </p:sp>
          <p:sp>
            <p:nvSpPr>
              <p:cNvPr id="30" name="Text Box 31"/>
              <p:cNvSpPr txBox="1">
                <a:spLocks noChangeArrowheads="1"/>
              </p:cNvSpPr>
              <p:nvPr/>
            </p:nvSpPr>
            <p:spPr bwMode="auto">
              <a:xfrm>
                <a:off x="956" y="3234"/>
                <a:ext cx="25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Comic Sans MS" pitchFamily="66" charset="0"/>
                  </a:rPr>
                  <a:t>+</a:t>
                </a:r>
              </a:p>
            </p:txBody>
          </p:sp>
        </p:grpSp>
        <p:cxnSp>
          <p:nvCxnSpPr>
            <p:cNvPr id="49" name="Straight Arrow Connector 48"/>
            <p:cNvCxnSpPr/>
            <p:nvPr/>
          </p:nvCxnSpPr>
          <p:spPr>
            <a:xfrm>
              <a:off x="5540962" y="2667000"/>
              <a:ext cx="2002838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50" name="Picture 49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3186"/>
            <a:stretch/>
          </p:blipFill>
          <p:spPr>
            <a:xfrm>
              <a:off x="4257675" y="2286003"/>
              <a:ext cx="1085850" cy="1574191"/>
            </a:xfrm>
            <a:prstGeom prst="rect">
              <a:avLst/>
            </a:prstGeom>
          </p:spPr>
        </p:pic>
        <p:sp>
          <p:nvSpPr>
            <p:cNvPr id="51" name="Text Box 36"/>
            <p:cNvSpPr txBox="1">
              <a:spLocks noChangeArrowheads="1"/>
            </p:cNvSpPr>
            <p:nvPr/>
          </p:nvSpPr>
          <p:spPr bwMode="auto">
            <a:xfrm>
              <a:off x="5943599" y="2209801"/>
              <a:ext cx="156459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r>
                <a:rPr lang="en-US" sz="1800" dirty="0">
                  <a:solidFill>
                    <a:prstClr val="black"/>
                  </a:solidFill>
                  <a:latin typeface="Comic Sans MS" pitchFamily="66" charset="0"/>
                </a:rPr>
                <a:t>“I </a:t>
              </a:r>
              <a:r>
                <a:rPr lang="en-US" sz="1800" dirty="0" smtClean="0">
                  <a:solidFill>
                    <a:prstClr val="black"/>
                  </a:solidFill>
                  <a:latin typeface="Comic Sans MS" pitchFamily="66" charset="0"/>
                </a:rPr>
                <a:t>am Alice</a:t>
              </a:r>
              <a:r>
                <a:rPr lang="en-US" sz="1800" dirty="0">
                  <a:solidFill>
                    <a:prstClr val="black"/>
                  </a:solidFill>
                  <a:latin typeface="Comic Sans MS" pitchFamily="66" charset="0"/>
                </a:rPr>
                <a:t>”</a:t>
              </a:r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 flipH="1">
              <a:off x="5540962" y="3124200"/>
              <a:ext cx="2002838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 Box 27"/>
            <p:cNvSpPr txBox="1">
              <a:spLocks noChangeArrowheads="1"/>
            </p:cNvSpPr>
            <p:nvPr/>
          </p:nvSpPr>
          <p:spPr bwMode="auto">
            <a:xfrm>
              <a:off x="6423421" y="2819400"/>
              <a:ext cx="36901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mic Sans MS" pitchFamily="66" charset="0"/>
                </a:rPr>
                <a:t>N</a:t>
              </a:r>
            </a:p>
          </p:txBody>
        </p:sp>
        <p:cxnSp>
          <p:nvCxnSpPr>
            <p:cNvPr id="54" name="Straight Arrow Connector 53"/>
            <p:cNvCxnSpPr/>
            <p:nvPr/>
          </p:nvCxnSpPr>
          <p:spPr>
            <a:xfrm>
              <a:off x="2054812" y="3684648"/>
              <a:ext cx="2002838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5540962" y="3665538"/>
              <a:ext cx="2002838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56" name="Group 41"/>
            <p:cNvGrpSpPr>
              <a:grpSpLocks/>
            </p:cNvGrpSpPr>
            <p:nvPr/>
          </p:nvGrpSpPr>
          <p:grpSpPr bwMode="auto">
            <a:xfrm>
              <a:off x="6286499" y="3132138"/>
              <a:ext cx="889397" cy="617538"/>
              <a:chOff x="2351" y="2077"/>
              <a:chExt cx="747" cy="389"/>
            </a:xfrm>
          </p:grpSpPr>
          <p:sp>
            <p:nvSpPr>
              <p:cNvPr id="57" name="Text Box 38"/>
              <p:cNvSpPr txBox="1">
                <a:spLocks noChangeArrowheads="1"/>
              </p:cNvSpPr>
              <p:nvPr/>
            </p:nvSpPr>
            <p:spPr bwMode="auto">
              <a:xfrm>
                <a:off x="2351" y="2132"/>
                <a:ext cx="74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Comic Sans MS" pitchFamily="66" charset="0"/>
                  </a:rPr>
                  <a:t>K </a:t>
                </a:r>
                <a:r>
                  <a:rPr lang="en-US" sz="2000" dirty="0" smtClean="0">
                    <a:solidFill>
                      <a:prstClr val="black"/>
                    </a:solidFill>
                    <a:latin typeface="Comic Sans MS" pitchFamily="66" charset="0"/>
                  </a:rPr>
                  <a:t> (N)</a:t>
                </a:r>
                <a:endParaRPr lang="en-US" sz="2000" dirty="0">
                  <a:solidFill>
                    <a:prstClr val="black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58" name="Text Box 39"/>
              <p:cNvSpPr txBox="1">
                <a:spLocks noChangeArrowheads="1"/>
              </p:cNvSpPr>
              <p:nvPr/>
            </p:nvSpPr>
            <p:spPr bwMode="auto">
              <a:xfrm>
                <a:off x="2466" y="2253"/>
                <a:ext cx="27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solidFill>
                      <a:srgbClr val="FF0000"/>
                    </a:solidFill>
                    <a:latin typeface="Comic Sans MS" pitchFamily="66" charset="0"/>
                  </a:rPr>
                  <a:t>T</a:t>
                </a:r>
                <a:endParaRPr lang="en-US" sz="1600" dirty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59" name="Text Box 40"/>
              <p:cNvSpPr txBox="1">
                <a:spLocks noChangeArrowheads="1"/>
              </p:cNvSpPr>
              <p:nvPr/>
            </p:nvSpPr>
            <p:spPr bwMode="auto">
              <a:xfrm>
                <a:off x="2475" y="2077"/>
                <a:ext cx="226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solidFill>
                      <a:srgbClr val="FF0000"/>
                    </a:solidFill>
                    <a:latin typeface="Comic Sans MS" pitchFamily="66" charset="0"/>
                  </a:rPr>
                  <a:t>-</a:t>
                </a:r>
                <a:endParaRPr lang="en-US" sz="1600" dirty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p:grpSp>
        <p:cxnSp>
          <p:nvCxnSpPr>
            <p:cNvPr id="60" name="Straight Arrow Connector 59"/>
            <p:cNvCxnSpPr/>
            <p:nvPr/>
          </p:nvCxnSpPr>
          <p:spPr>
            <a:xfrm flipH="1">
              <a:off x="2000251" y="4294248"/>
              <a:ext cx="2002838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>
              <a:off x="5501983" y="4275138"/>
              <a:ext cx="2002838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Box 26"/>
            <p:cNvSpPr txBox="1">
              <a:spLocks noChangeArrowheads="1"/>
            </p:cNvSpPr>
            <p:nvPr/>
          </p:nvSpPr>
          <p:spPr bwMode="auto">
            <a:xfrm>
              <a:off x="5600700" y="3894138"/>
              <a:ext cx="2608406" cy="3385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Comic Sans MS" pitchFamily="66" charset="0"/>
                </a:rPr>
                <a:t>“send me your public key”</a:t>
              </a:r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>
              <a:off x="2054812" y="4980048"/>
              <a:ext cx="2002838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5540962" y="4960938"/>
              <a:ext cx="2002838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65" name="Group 32"/>
            <p:cNvGrpSpPr>
              <a:grpSpLocks/>
            </p:cNvGrpSpPr>
            <p:nvPr/>
          </p:nvGrpSpPr>
          <p:grpSpPr bwMode="auto">
            <a:xfrm>
              <a:off x="6457952" y="4275139"/>
              <a:ext cx="463154" cy="719138"/>
              <a:chOff x="831" y="3234"/>
              <a:chExt cx="389" cy="453"/>
            </a:xfrm>
          </p:grpSpPr>
          <p:sp>
            <p:nvSpPr>
              <p:cNvPr id="66" name="Text Box 29"/>
              <p:cNvSpPr txBox="1">
                <a:spLocks noChangeArrowheads="1"/>
              </p:cNvSpPr>
              <p:nvPr/>
            </p:nvSpPr>
            <p:spPr bwMode="auto">
              <a:xfrm>
                <a:off x="831" y="3330"/>
                <a:ext cx="38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  <a:latin typeface="Comic Sans MS" pitchFamily="66" charset="0"/>
                  </a:rPr>
                  <a:t>K  </a:t>
                </a:r>
              </a:p>
            </p:txBody>
          </p:sp>
          <p:sp>
            <p:nvSpPr>
              <p:cNvPr id="67" name="Text Box 30"/>
              <p:cNvSpPr txBox="1">
                <a:spLocks noChangeArrowheads="1"/>
              </p:cNvSpPr>
              <p:nvPr/>
            </p:nvSpPr>
            <p:spPr bwMode="auto">
              <a:xfrm>
                <a:off x="918" y="3454"/>
                <a:ext cx="28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solidFill>
                      <a:srgbClr val="FF0000"/>
                    </a:solidFill>
                    <a:latin typeface="Comic Sans MS" pitchFamily="66" charset="0"/>
                  </a:rPr>
                  <a:t>T</a:t>
                </a:r>
                <a:endParaRPr lang="en-US" dirty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68" name="Text Box 31"/>
              <p:cNvSpPr txBox="1">
                <a:spLocks noChangeArrowheads="1"/>
              </p:cNvSpPr>
              <p:nvPr/>
            </p:nvSpPr>
            <p:spPr bwMode="auto">
              <a:xfrm>
                <a:off x="956" y="3234"/>
                <a:ext cx="25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solidFill>
                      <a:srgbClr val="FF0000"/>
                    </a:solidFill>
                    <a:latin typeface="Comic Sans MS" pitchFamily="66" charset="0"/>
                  </a:rPr>
                  <a:t>+</a:t>
                </a:r>
              </a:p>
            </p:txBody>
          </p:sp>
        </p:grpSp>
        <p:grpSp>
          <p:nvGrpSpPr>
            <p:cNvPr id="69" name="Group 67"/>
            <p:cNvGrpSpPr>
              <a:grpSpLocks/>
            </p:cNvGrpSpPr>
            <p:nvPr/>
          </p:nvGrpSpPr>
          <p:grpSpPr bwMode="auto">
            <a:xfrm>
              <a:off x="4139804" y="5332414"/>
              <a:ext cx="1765697" cy="690563"/>
              <a:chOff x="1305" y="3332"/>
              <a:chExt cx="1483" cy="435"/>
            </a:xfrm>
          </p:grpSpPr>
          <p:sp>
            <p:nvSpPr>
              <p:cNvPr id="70" name="Text Box 58"/>
              <p:cNvSpPr txBox="1">
                <a:spLocks noChangeArrowheads="1"/>
              </p:cNvSpPr>
              <p:nvPr/>
            </p:nvSpPr>
            <p:spPr bwMode="auto">
              <a:xfrm>
                <a:off x="1657" y="3526"/>
                <a:ext cx="28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rgbClr val="FF0000"/>
                    </a:solidFill>
                    <a:latin typeface="Comic Sans MS" pitchFamily="66" charset="0"/>
                  </a:rPr>
                  <a:t>T</a:t>
                </a:r>
              </a:p>
            </p:txBody>
          </p:sp>
          <p:sp>
            <p:nvSpPr>
              <p:cNvPr id="71" name="Text Box 59"/>
              <p:cNvSpPr txBox="1">
                <a:spLocks noChangeArrowheads="1"/>
              </p:cNvSpPr>
              <p:nvPr/>
            </p:nvSpPr>
            <p:spPr bwMode="auto">
              <a:xfrm>
                <a:off x="1305" y="3414"/>
                <a:ext cx="148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prstClr val="black"/>
                    </a:solidFill>
                    <a:latin typeface="Comic Sans MS" pitchFamily="66" charset="0"/>
                  </a:rPr>
                  <a:t>m = K  (K   (m))</a:t>
                </a:r>
              </a:p>
            </p:txBody>
          </p:sp>
          <p:sp>
            <p:nvSpPr>
              <p:cNvPr id="72" name="Text Box 60"/>
              <p:cNvSpPr txBox="1">
                <a:spLocks noChangeArrowheads="1"/>
              </p:cNvSpPr>
              <p:nvPr/>
            </p:nvSpPr>
            <p:spPr bwMode="auto">
              <a:xfrm>
                <a:off x="1909" y="3332"/>
                <a:ext cx="24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Comic Sans MS" pitchFamily="66" charset="0"/>
                  </a:rPr>
                  <a:t>+</a:t>
                </a:r>
              </a:p>
            </p:txBody>
          </p:sp>
          <p:sp>
            <p:nvSpPr>
              <p:cNvPr id="73" name="Text Box 65"/>
              <p:cNvSpPr txBox="1">
                <a:spLocks noChangeArrowheads="1"/>
              </p:cNvSpPr>
              <p:nvPr/>
            </p:nvSpPr>
            <p:spPr bwMode="auto">
              <a:xfrm>
                <a:off x="1901" y="3534"/>
                <a:ext cx="28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rgbClr val="FF0000"/>
                    </a:solidFill>
                    <a:latin typeface="Comic Sans MS" pitchFamily="66" charset="0"/>
                  </a:rPr>
                  <a:t>T</a:t>
                </a:r>
              </a:p>
            </p:txBody>
          </p:sp>
          <p:sp>
            <p:nvSpPr>
              <p:cNvPr id="74" name="Text Box 66"/>
              <p:cNvSpPr txBox="1">
                <a:spLocks noChangeArrowheads="1"/>
              </p:cNvSpPr>
              <p:nvPr/>
            </p:nvSpPr>
            <p:spPr bwMode="auto">
              <a:xfrm>
                <a:off x="1673" y="3332"/>
                <a:ext cx="23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rgbClr val="FF0000"/>
                    </a:solidFill>
                    <a:latin typeface="Comic Sans MS" pitchFamily="66" charset="0"/>
                  </a:rPr>
                  <a:t>-</a:t>
                </a:r>
              </a:p>
            </p:txBody>
          </p:sp>
        </p:grpSp>
        <p:sp>
          <p:nvSpPr>
            <p:cNvPr id="75" name="Text Box 68"/>
            <p:cNvSpPr txBox="1">
              <a:spLocks noChangeArrowheads="1"/>
            </p:cNvSpPr>
            <p:nvPr/>
          </p:nvSpPr>
          <p:spPr bwMode="auto">
            <a:xfrm>
              <a:off x="4287442" y="5105400"/>
              <a:ext cx="110639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  <a:latin typeface="Comic Sans MS" pitchFamily="66" charset="0"/>
                </a:rPr>
                <a:t>Eve </a:t>
              </a:r>
              <a:r>
                <a:rPr lang="en-US" dirty="0">
                  <a:solidFill>
                    <a:prstClr val="black"/>
                  </a:solidFill>
                  <a:latin typeface="Comic Sans MS" pitchFamily="66" charset="0"/>
                </a:rPr>
                <a:t>gets</a:t>
              </a:r>
            </a:p>
          </p:txBody>
        </p:sp>
        <p:sp>
          <p:nvSpPr>
            <p:cNvPr id="76" name="Text Box 69"/>
            <p:cNvSpPr txBox="1">
              <a:spLocks noChangeArrowheads="1"/>
            </p:cNvSpPr>
            <p:nvPr/>
          </p:nvSpPr>
          <p:spPr bwMode="auto">
            <a:xfrm>
              <a:off x="3429000" y="6135469"/>
              <a:ext cx="3289698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mic Sans MS" pitchFamily="66" charset="0"/>
                </a:rPr>
                <a:t>sends m to Alice encrypted with Alice’s public key</a:t>
              </a:r>
            </a:p>
          </p:txBody>
        </p:sp>
        <p:grpSp>
          <p:nvGrpSpPr>
            <p:cNvPr id="77" name="Group 56"/>
            <p:cNvGrpSpPr>
              <a:grpSpLocks/>
            </p:cNvGrpSpPr>
            <p:nvPr/>
          </p:nvGrpSpPr>
          <p:grpSpPr bwMode="auto">
            <a:xfrm>
              <a:off x="6144817" y="5257801"/>
              <a:ext cx="882254" cy="681038"/>
              <a:chOff x="3670" y="3430"/>
              <a:chExt cx="741" cy="429"/>
            </a:xfrm>
          </p:grpSpPr>
          <p:sp>
            <p:nvSpPr>
              <p:cNvPr id="78" name="Text Box 53"/>
              <p:cNvSpPr txBox="1">
                <a:spLocks noChangeArrowheads="1"/>
              </p:cNvSpPr>
              <p:nvPr/>
            </p:nvSpPr>
            <p:spPr bwMode="auto">
              <a:xfrm>
                <a:off x="3774" y="3626"/>
                <a:ext cx="28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rgbClr val="FF0000"/>
                    </a:solidFill>
                    <a:latin typeface="Comic Sans MS" pitchFamily="66" charset="0"/>
                  </a:rPr>
                  <a:t>T</a:t>
                </a:r>
              </a:p>
            </p:txBody>
          </p:sp>
          <p:sp>
            <p:nvSpPr>
              <p:cNvPr id="79" name="Text Box 54"/>
              <p:cNvSpPr txBox="1">
                <a:spLocks noChangeArrowheads="1"/>
              </p:cNvSpPr>
              <p:nvPr/>
            </p:nvSpPr>
            <p:spPr bwMode="auto">
              <a:xfrm>
                <a:off x="3670" y="3540"/>
                <a:ext cx="74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  <a:latin typeface="Comic Sans MS" pitchFamily="66" charset="0"/>
                  </a:rPr>
                  <a:t>K   (m)</a:t>
                </a:r>
              </a:p>
            </p:txBody>
          </p:sp>
          <p:sp>
            <p:nvSpPr>
              <p:cNvPr id="80" name="Text Box 55"/>
              <p:cNvSpPr txBox="1">
                <a:spLocks noChangeArrowheads="1"/>
              </p:cNvSpPr>
              <p:nvPr/>
            </p:nvSpPr>
            <p:spPr bwMode="auto">
              <a:xfrm>
                <a:off x="3734" y="3430"/>
                <a:ext cx="24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Comic Sans MS" pitchFamily="66" charset="0"/>
                  </a:rPr>
                  <a:t>+</a:t>
                </a:r>
              </a:p>
            </p:txBody>
          </p:sp>
        </p:grpSp>
        <p:grpSp>
          <p:nvGrpSpPr>
            <p:cNvPr id="81" name="Group 71"/>
            <p:cNvGrpSpPr>
              <a:grpSpLocks/>
            </p:cNvGrpSpPr>
            <p:nvPr/>
          </p:nvGrpSpPr>
          <p:grpSpPr bwMode="auto">
            <a:xfrm>
              <a:off x="2800351" y="5334002"/>
              <a:ext cx="813198" cy="681037"/>
              <a:chOff x="3691" y="3430"/>
              <a:chExt cx="683" cy="429"/>
            </a:xfrm>
          </p:grpSpPr>
          <p:sp>
            <p:nvSpPr>
              <p:cNvPr id="82" name="Text Box 72"/>
              <p:cNvSpPr txBox="1">
                <a:spLocks noChangeArrowheads="1"/>
              </p:cNvSpPr>
              <p:nvPr/>
            </p:nvSpPr>
            <p:spPr bwMode="auto">
              <a:xfrm>
                <a:off x="3771" y="3626"/>
                <a:ext cx="29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  <a:latin typeface="Comic Sans MS" pitchFamily="66" charset="0"/>
                  </a:rPr>
                  <a:t>A</a:t>
                </a:r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Text Box 73"/>
              <p:cNvSpPr txBox="1">
                <a:spLocks noChangeArrowheads="1"/>
              </p:cNvSpPr>
              <p:nvPr/>
            </p:nvSpPr>
            <p:spPr bwMode="auto">
              <a:xfrm>
                <a:off x="3691" y="3540"/>
                <a:ext cx="68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  <a:latin typeface="Comic Sans MS" pitchFamily="66" charset="0"/>
                  </a:rPr>
                  <a:t>K  (m)</a:t>
                </a:r>
              </a:p>
            </p:txBody>
          </p:sp>
          <p:sp>
            <p:nvSpPr>
              <p:cNvPr id="84" name="Text Box 74"/>
              <p:cNvSpPr txBox="1">
                <a:spLocks noChangeArrowheads="1"/>
              </p:cNvSpPr>
              <p:nvPr/>
            </p:nvSpPr>
            <p:spPr bwMode="auto">
              <a:xfrm>
                <a:off x="3734" y="3430"/>
                <a:ext cx="24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  <a:latin typeface="Comic Sans MS" pitchFamily="66" charset="0"/>
                  </a:rPr>
                  <a:t>+</a:t>
                </a:r>
              </a:p>
            </p:txBody>
          </p:sp>
        </p:grpSp>
        <p:cxnSp>
          <p:nvCxnSpPr>
            <p:cNvPr id="85" name="Straight Arrow Connector 84"/>
            <p:cNvCxnSpPr/>
            <p:nvPr/>
          </p:nvCxnSpPr>
          <p:spPr>
            <a:xfrm flipH="1">
              <a:off x="2000251" y="5943600"/>
              <a:ext cx="2002838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H="1">
              <a:off x="5501983" y="5924490"/>
              <a:ext cx="2002838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8513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Authentication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Man in the middle attack</a:t>
            </a:r>
            <a:r>
              <a:rPr lang="en-US" dirty="0"/>
              <a:t>: </a:t>
            </a:r>
            <a:r>
              <a:rPr lang="en-US" dirty="0" smtClean="0"/>
              <a:t>Eve </a:t>
            </a:r>
            <a:r>
              <a:rPr lang="en-US" dirty="0"/>
              <a:t>poses as Alice (to Bob) and as Bob (to Alice)</a:t>
            </a:r>
          </a:p>
          <a:p>
            <a:r>
              <a:rPr lang="en-US" dirty="0" smtClean="0"/>
              <a:t>Launch it </a:t>
            </a:r>
            <a:r>
              <a:rPr lang="en-US" dirty="0"/>
              <a:t>on </a:t>
            </a:r>
            <a:r>
              <a:rPr lang="en-US" dirty="0" err="1" smtClean="0"/>
              <a:t>Diffie</a:t>
            </a:r>
            <a:r>
              <a:rPr lang="en-US" dirty="0" smtClean="0"/>
              <a:t>-Hellman </a:t>
            </a:r>
            <a:r>
              <a:rPr lang="en-US" dirty="0"/>
              <a:t>Key Exchange </a:t>
            </a:r>
            <a:r>
              <a:rPr lang="en-US" dirty="0" smtClean="0"/>
              <a:t>Protocol</a:t>
            </a:r>
          </a:p>
          <a:p>
            <a:endParaRPr lang="en-US" dirty="0"/>
          </a:p>
          <a:p>
            <a:pPr fontAlgn="t"/>
            <a:r>
              <a:rPr lang="en-US" dirty="0" smtClean="0"/>
              <a:t>Alice </a:t>
            </a:r>
            <a:r>
              <a:rPr lang="en-US" dirty="0"/>
              <a:t>and Bob publicly pick 2 integers: </a:t>
            </a:r>
            <a:endParaRPr lang="en-US" dirty="0" smtClean="0"/>
          </a:p>
          <a:p>
            <a:pPr algn="ctr" fontAlgn="t"/>
            <a:r>
              <a:rPr lang="en-US" b="1" dirty="0" smtClean="0"/>
              <a:t>p </a:t>
            </a:r>
            <a:r>
              <a:rPr lang="en-US" b="1" dirty="0"/>
              <a:t>= 11 </a:t>
            </a:r>
            <a:r>
              <a:rPr lang="en-US" dirty="0"/>
              <a:t>and</a:t>
            </a:r>
            <a:r>
              <a:rPr lang="en-US" b="1" dirty="0"/>
              <a:t> s = </a:t>
            </a:r>
            <a:r>
              <a:rPr lang="en-US" b="1" dirty="0" smtClean="0"/>
              <a:t>3</a:t>
            </a:r>
          </a:p>
          <a:p>
            <a:pPr algn="ctr" fontAlgn="t"/>
            <a:endParaRPr lang="en-GB" dirty="0"/>
          </a:p>
          <a:p>
            <a:pPr lvl="1" fontAlgn="t"/>
            <a:r>
              <a:rPr lang="en-US" dirty="0"/>
              <a:t>Alice picks </a:t>
            </a:r>
            <a:r>
              <a:rPr lang="en-US" b="1" dirty="0"/>
              <a:t>a = </a:t>
            </a:r>
            <a:r>
              <a:rPr lang="en-US" b="1" dirty="0" smtClean="0"/>
              <a:t>2</a:t>
            </a:r>
            <a:r>
              <a:rPr lang="en-GB" dirty="0"/>
              <a:t>	</a:t>
            </a:r>
            <a:r>
              <a:rPr lang="en-GB" dirty="0" smtClean="0"/>
              <a:t>		</a:t>
            </a:r>
            <a:r>
              <a:rPr lang="en-US" dirty="0" smtClean="0"/>
              <a:t>Bob </a:t>
            </a:r>
            <a:r>
              <a:rPr lang="en-US" dirty="0"/>
              <a:t>picks </a:t>
            </a:r>
            <a:r>
              <a:rPr lang="en-US" b="1" dirty="0"/>
              <a:t>b = 4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9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Authentication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Man in the middle attack</a:t>
            </a:r>
            <a:r>
              <a:rPr lang="en-US" dirty="0"/>
              <a:t>: </a:t>
            </a:r>
            <a:r>
              <a:rPr lang="en-US" dirty="0" smtClean="0"/>
              <a:t>Eve </a:t>
            </a:r>
            <a:r>
              <a:rPr lang="en-US" dirty="0"/>
              <a:t>poses as Alice (to Bob) and as Bob (to Alice)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u="sng" dirty="0"/>
              <a:t>Difficult to detect</a:t>
            </a:r>
            <a:r>
              <a:rPr lang="en-US" dirty="0"/>
              <a:t>:</a:t>
            </a:r>
          </a:p>
          <a:p>
            <a:r>
              <a:rPr lang="en-US" dirty="0"/>
              <a:t>Bob receives everything that Alice sends, and vice versa</a:t>
            </a:r>
          </a:p>
          <a:p>
            <a:r>
              <a:rPr lang="en-US" dirty="0"/>
              <a:t>Problem is that </a:t>
            </a:r>
            <a:r>
              <a:rPr lang="en-US" dirty="0" smtClean="0"/>
              <a:t>Eve </a:t>
            </a:r>
            <a:r>
              <a:rPr lang="en-US" dirty="0"/>
              <a:t>receives all messages as well!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u="sng" dirty="0" smtClean="0"/>
              <a:t>Note</a:t>
            </a:r>
            <a:r>
              <a:rPr lang="en-US" dirty="0" smtClean="0"/>
              <a:t>: </a:t>
            </a:r>
            <a:r>
              <a:rPr lang="en-US" dirty="0"/>
              <a:t>The problem was one of key distribution</a:t>
            </a:r>
          </a:p>
          <a:p>
            <a:r>
              <a:rPr lang="en-US" dirty="0"/>
              <a:t>If Bob knew or could securely obtain Alice’s public key, there would have been no problem!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973937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Authentication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Hybrid </a:t>
            </a:r>
            <a:r>
              <a:rPr lang="en-US" b="1" u="sng" dirty="0"/>
              <a:t>Secret-Public Key Authentication</a:t>
            </a:r>
          </a:p>
          <a:p>
            <a:endParaRPr lang="en-US" dirty="0"/>
          </a:p>
          <a:p>
            <a:r>
              <a:rPr lang="en-US" dirty="0"/>
              <a:t>As discussed earlier, the idea is to use public key cryptography to negotiate a symmetric session key for communication</a:t>
            </a:r>
          </a:p>
          <a:p>
            <a:r>
              <a:rPr lang="en-US" dirty="0"/>
              <a:t>We must have mutual authentication to ensure the session key can be trusted</a:t>
            </a:r>
          </a:p>
          <a:p>
            <a:r>
              <a:rPr lang="en-US" dirty="0"/>
              <a:t>Both Alice and Bob must agree that they are in fact talking to their counterpart</a:t>
            </a:r>
          </a:p>
          <a:p>
            <a:r>
              <a:rPr lang="en-US" dirty="0"/>
              <a:t>In this case, we will assume that Alice and Bob already know each other’s public keys</a:t>
            </a:r>
          </a:p>
          <a:p>
            <a:r>
              <a:rPr lang="en-US" dirty="0"/>
              <a:t>We will look at key distribution and certification very shortly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04803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Authentication</a:t>
            </a:r>
            <a:endParaRPr lang="en-US" dirty="0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3301603" y="3429000"/>
            <a:ext cx="2772966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3200400" y="2209800"/>
            <a:ext cx="16033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“I am Alice”, </a:t>
            </a: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H="1">
            <a:off x="3275409" y="4114800"/>
            <a:ext cx="2772966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3313509" y="4724400"/>
            <a:ext cx="2772966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 flipH="1">
            <a:off x="3302795" y="5410200"/>
            <a:ext cx="277296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4082652" y="2881313"/>
            <a:ext cx="13003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(K  (K</a:t>
            </a:r>
            <a:r>
              <a:rPr lang="en-US" b="1" baseline="-25000" dirty="0">
                <a:solidFill>
                  <a:prstClr val="black"/>
                </a:solidFill>
                <a:latin typeface="Comic Sans MS" pitchFamily="66" charset="0"/>
              </a:rPr>
              <a:t>S</a:t>
            </a:r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,N))</a:t>
            </a:r>
          </a:p>
        </p:txBody>
      </p:sp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4294584" y="3048001"/>
            <a:ext cx="3529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Comic Sans MS" pitchFamily="66" charset="0"/>
              </a:rPr>
              <a:t>A</a:t>
            </a:r>
          </a:p>
        </p:txBody>
      </p:sp>
      <p:sp>
        <p:nvSpPr>
          <p:cNvPr id="14" name="Text Box 25"/>
          <p:cNvSpPr txBox="1">
            <a:spLocks noChangeArrowheads="1"/>
          </p:cNvSpPr>
          <p:nvPr/>
        </p:nvSpPr>
        <p:spPr bwMode="auto">
          <a:xfrm>
            <a:off x="4301728" y="2741614"/>
            <a:ext cx="2920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omic Sans MS" pitchFamily="66" charset="0"/>
              </a:rPr>
              <a:t>-</a:t>
            </a:r>
          </a:p>
        </p:txBody>
      </p:sp>
      <p:grpSp>
        <p:nvGrpSpPr>
          <p:cNvPr id="15" name="Group 26"/>
          <p:cNvGrpSpPr>
            <a:grpSpLocks/>
          </p:cNvGrpSpPr>
          <p:nvPr/>
        </p:nvGrpSpPr>
        <p:grpSpPr bwMode="auto">
          <a:xfrm>
            <a:off x="3829052" y="2713040"/>
            <a:ext cx="463154" cy="719137"/>
            <a:chOff x="831" y="3234"/>
            <a:chExt cx="389" cy="453"/>
          </a:xfrm>
        </p:grpSpPr>
        <p:sp>
          <p:nvSpPr>
            <p:cNvPr id="16" name="Text Box 27"/>
            <p:cNvSpPr txBox="1">
              <a:spLocks noChangeArrowheads="1"/>
            </p:cNvSpPr>
            <p:nvPr/>
          </p:nvSpPr>
          <p:spPr bwMode="auto">
            <a:xfrm>
              <a:off x="831" y="3330"/>
              <a:ext cx="3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prstClr val="black"/>
                  </a:solidFill>
                  <a:latin typeface="Comic Sans MS" pitchFamily="66" charset="0"/>
                </a:rPr>
                <a:t>K  </a:t>
              </a:r>
            </a:p>
          </p:txBody>
        </p:sp>
        <p:sp>
          <p:nvSpPr>
            <p:cNvPr id="17" name="Text Box 28"/>
            <p:cNvSpPr txBox="1">
              <a:spLocks noChangeArrowheads="1"/>
            </p:cNvSpPr>
            <p:nvPr/>
          </p:nvSpPr>
          <p:spPr bwMode="auto">
            <a:xfrm>
              <a:off x="925" y="3454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prstClr val="black"/>
                  </a:solidFill>
                  <a:latin typeface="Comic Sans MS" pitchFamily="66" charset="0"/>
                </a:rPr>
                <a:t>B</a:t>
              </a:r>
            </a:p>
          </p:txBody>
        </p:sp>
        <p:sp>
          <p:nvSpPr>
            <p:cNvPr id="18" name="Text Box 29"/>
            <p:cNvSpPr txBox="1">
              <a:spLocks noChangeArrowheads="1"/>
            </p:cNvSpPr>
            <p:nvPr/>
          </p:nvSpPr>
          <p:spPr bwMode="auto">
            <a:xfrm>
              <a:off x="956" y="3234"/>
              <a:ext cx="25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prstClr val="black"/>
                  </a:solidFill>
                  <a:latin typeface="Comic Sans MS" pitchFamily="66" charset="0"/>
                </a:rPr>
                <a:t>+</a:t>
              </a:r>
            </a:p>
          </p:txBody>
        </p:sp>
      </p:grpSp>
      <p:sp>
        <p:nvSpPr>
          <p:cNvPr id="19" name="Text Box 30"/>
          <p:cNvSpPr txBox="1">
            <a:spLocks noChangeArrowheads="1"/>
          </p:cNvSpPr>
          <p:nvPr/>
        </p:nvSpPr>
        <p:spPr bwMode="auto">
          <a:xfrm>
            <a:off x="4208861" y="3567113"/>
            <a:ext cx="10518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(K  (K</a:t>
            </a:r>
            <a:r>
              <a:rPr lang="en-US" b="1" baseline="-25000" dirty="0">
                <a:solidFill>
                  <a:prstClr val="black"/>
                </a:solidFill>
                <a:latin typeface="Comic Sans MS" pitchFamily="66" charset="0"/>
              </a:rPr>
              <a:t>S</a:t>
            </a:r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))</a:t>
            </a:r>
          </a:p>
        </p:txBody>
      </p:sp>
      <p:sp>
        <p:nvSpPr>
          <p:cNvPr id="20" name="Text Box 31"/>
          <p:cNvSpPr txBox="1">
            <a:spLocks noChangeArrowheads="1"/>
          </p:cNvSpPr>
          <p:nvPr/>
        </p:nvSpPr>
        <p:spPr bwMode="auto">
          <a:xfrm>
            <a:off x="4432697" y="3733800"/>
            <a:ext cx="3305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Comic Sans MS" pitchFamily="66" charset="0"/>
              </a:rPr>
              <a:t>B</a:t>
            </a:r>
          </a:p>
        </p:txBody>
      </p:sp>
      <p:sp>
        <p:nvSpPr>
          <p:cNvPr id="21" name="Text Box 32"/>
          <p:cNvSpPr txBox="1">
            <a:spLocks noChangeArrowheads="1"/>
          </p:cNvSpPr>
          <p:nvPr/>
        </p:nvSpPr>
        <p:spPr bwMode="auto">
          <a:xfrm>
            <a:off x="4431507" y="3427413"/>
            <a:ext cx="2920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Comic Sans MS" pitchFamily="66" charset="0"/>
              </a:rPr>
              <a:t>-</a:t>
            </a:r>
          </a:p>
        </p:txBody>
      </p:sp>
      <p:grpSp>
        <p:nvGrpSpPr>
          <p:cNvPr id="22" name="Group 33"/>
          <p:cNvGrpSpPr>
            <a:grpSpLocks/>
          </p:cNvGrpSpPr>
          <p:nvPr/>
        </p:nvGrpSpPr>
        <p:grpSpPr bwMode="auto">
          <a:xfrm>
            <a:off x="3971928" y="3398839"/>
            <a:ext cx="463154" cy="719137"/>
            <a:chOff x="831" y="3234"/>
            <a:chExt cx="389" cy="453"/>
          </a:xfrm>
        </p:grpSpPr>
        <p:sp>
          <p:nvSpPr>
            <p:cNvPr id="23" name="Text Box 34"/>
            <p:cNvSpPr txBox="1">
              <a:spLocks noChangeArrowheads="1"/>
            </p:cNvSpPr>
            <p:nvPr/>
          </p:nvSpPr>
          <p:spPr bwMode="auto">
            <a:xfrm>
              <a:off x="831" y="3330"/>
              <a:ext cx="3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prstClr val="black"/>
                  </a:solidFill>
                  <a:latin typeface="Comic Sans MS" pitchFamily="66" charset="0"/>
                </a:rPr>
                <a:t>K  </a:t>
              </a:r>
            </a:p>
          </p:txBody>
        </p:sp>
        <p:sp>
          <p:nvSpPr>
            <p:cNvPr id="24" name="Text Box 35"/>
            <p:cNvSpPr txBox="1">
              <a:spLocks noChangeArrowheads="1"/>
            </p:cNvSpPr>
            <p:nvPr/>
          </p:nvSpPr>
          <p:spPr bwMode="auto">
            <a:xfrm>
              <a:off x="918" y="3454"/>
              <a:ext cx="2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prstClr val="black"/>
                  </a:solidFill>
                  <a:latin typeface="Comic Sans MS" pitchFamily="66" charset="0"/>
                </a:rPr>
                <a:t>A</a:t>
              </a:r>
            </a:p>
          </p:txBody>
        </p:sp>
        <p:sp>
          <p:nvSpPr>
            <p:cNvPr id="25" name="Text Box 36"/>
            <p:cNvSpPr txBox="1">
              <a:spLocks noChangeArrowheads="1"/>
            </p:cNvSpPr>
            <p:nvPr/>
          </p:nvSpPr>
          <p:spPr bwMode="auto">
            <a:xfrm>
              <a:off x="956" y="3234"/>
              <a:ext cx="25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prstClr val="black"/>
                  </a:solidFill>
                  <a:latin typeface="Comic Sans MS" pitchFamily="66" charset="0"/>
                </a:rPr>
                <a:t>+</a:t>
              </a:r>
            </a:p>
          </p:txBody>
        </p:sp>
      </p:grpSp>
      <p:sp>
        <p:nvSpPr>
          <p:cNvPr id="26" name="Text Box 37"/>
          <p:cNvSpPr txBox="1">
            <a:spLocks noChangeArrowheads="1"/>
          </p:cNvSpPr>
          <p:nvPr/>
        </p:nvSpPr>
        <p:spPr bwMode="auto">
          <a:xfrm>
            <a:off x="3886200" y="4343400"/>
            <a:ext cx="16738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K</a:t>
            </a:r>
            <a:r>
              <a:rPr lang="en-US" b="1" baseline="-25000" dirty="0">
                <a:solidFill>
                  <a:prstClr val="black"/>
                </a:solidFill>
                <a:latin typeface="Comic Sans MS" pitchFamily="66" charset="0"/>
              </a:rPr>
              <a:t>S</a:t>
            </a:r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(message 1)</a:t>
            </a:r>
          </a:p>
        </p:txBody>
      </p:sp>
      <p:sp>
        <p:nvSpPr>
          <p:cNvPr id="27" name="Text Box 38"/>
          <p:cNvSpPr txBox="1">
            <a:spLocks noChangeArrowheads="1"/>
          </p:cNvSpPr>
          <p:nvPr/>
        </p:nvSpPr>
        <p:spPr bwMode="auto">
          <a:xfrm>
            <a:off x="3956449" y="5029200"/>
            <a:ext cx="17107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K</a:t>
            </a:r>
            <a:r>
              <a:rPr lang="en-US" b="1" baseline="-25000" dirty="0">
                <a:solidFill>
                  <a:prstClr val="black"/>
                </a:solidFill>
                <a:latin typeface="Comic Sans MS" pitchFamily="66" charset="0"/>
              </a:rPr>
              <a:t>S</a:t>
            </a:r>
            <a:r>
              <a:rPr lang="en-US" dirty="0">
                <a:solidFill>
                  <a:prstClr val="black"/>
                </a:solidFill>
                <a:latin typeface="Comic Sans MS" pitchFamily="66" charset="0"/>
              </a:rPr>
              <a:t>(message 2)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1546410" y="2473098"/>
            <a:ext cx="1369012" cy="152400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6629401" y="2485011"/>
            <a:ext cx="1292905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37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Authentication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 smtClean="0"/>
              <a:t>Hybrid </a:t>
            </a:r>
            <a:r>
              <a:rPr lang="en-US" b="1" u="sng" dirty="0"/>
              <a:t>Secret-Public Key Authentication</a:t>
            </a:r>
          </a:p>
          <a:p>
            <a:endParaRPr lang="en-US" dirty="0"/>
          </a:p>
          <a:p>
            <a:r>
              <a:rPr lang="en-US" dirty="0"/>
              <a:t>In her message to Bob, Alice identifies herself, and sends a message that only Bob can decrypt with his private key</a:t>
            </a:r>
          </a:p>
          <a:p>
            <a:pPr lvl="1"/>
            <a:r>
              <a:rPr lang="en-US" dirty="0"/>
              <a:t>After decrypting the outer message, the inner message can only be decrypted with Alice’s public key, proving that she sent it</a:t>
            </a:r>
          </a:p>
          <a:p>
            <a:pPr lvl="1"/>
            <a:r>
              <a:rPr lang="en-US" dirty="0"/>
              <a:t>This contains the new session key KS and a nonce to ensure freshness</a:t>
            </a:r>
          </a:p>
          <a:p>
            <a:endParaRPr lang="en-US" dirty="0" smtClean="0"/>
          </a:p>
          <a:p>
            <a:r>
              <a:rPr lang="en-US" dirty="0" smtClean="0"/>
              <a:t>Bob </a:t>
            </a:r>
            <a:r>
              <a:rPr lang="en-US" dirty="0"/>
              <a:t>sends a response to Alice that only Alice can decrypt with her private key</a:t>
            </a:r>
          </a:p>
          <a:p>
            <a:pPr lvl="1"/>
            <a:r>
              <a:rPr lang="en-US" dirty="0"/>
              <a:t>After decrypting the outer message, the inner message can only be decrypted with Bob’s public key, proving that he sent it</a:t>
            </a:r>
          </a:p>
          <a:p>
            <a:pPr lvl="1"/>
            <a:r>
              <a:rPr lang="en-US" dirty="0"/>
              <a:t>This contains the session key again. If it matches what she sent originally, then they are mutually authenticated and can use the key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69445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Integrity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940712567"/>
      </p:ext>
    </p:extLst>
  </p:cSld>
  <p:clrMapOvr>
    <a:masterClrMapping/>
  </p:clrMapOvr>
  <p:transition spd="slow"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Integrity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Bob </a:t>
            </a:r>
            <a:r>
              <a:rPr lang="en-US" dirty="0"/>
              <a:t>receives message from Alice, and so Bob wants to ensure:</a:t>
            </a:r>
          </a:p>
          <a:p>
            <a:pPr lvl="1"/>
            <a:r>
              <a:rPr lang="en-US" sz="2400" dirty="0"/>
              <a:t>That the message originally came from Alice</a:t>
            </a:r>
          </a:p>
          <a:p>
            <a:pPr lvl="1"/>
            <a:r>
              <a:rPr lang="en-US" sz="2400" dirty="0"/>
              <a:t>That the message not changed since sent by </a:t>
            </a:r>
            <a:r>
              <a:rPr lang="en-US" sz="2400" dirty="0" smtClean="0"/>
              <a:t>Alice</a:t>
            </a:r>
          </a:p>
          <a:p>
            <a:pPr lvl="1"/>
            <a:endParaRPr lang="en-US" sz="2400" dirty="0"/>
          </a:p>
          <a:p>
            <a:r>
              <a:rPr lang="en-US" dirty="0"/>
              <a:t>This is what ensuring </a:t>
            </a:r>
            <a:r>
              <a:rPr lang="en-US" u="sng" dirty="0"/>
              <a:t>message integrity</a:t>
            </a:r>
            <a:r>
              <a:rPr lang="en-US" dirty="0"/>
              <a:t> is all about</a:t>
            </a:r>
          </a:p>
          <a:p>
            <a:r>
              <a:rPr lang="en-US" dirty="0"/>
              <a:t>There are several ways to go about doing this</a:t>
            </a:r>
          </a:p>
          <a:p>
            <a:r>
              <a:rPr lang="en-US" dirty="0"/>
              <a:t>Of course, some are better than others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00931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Integrity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Message Checksum</a:t>
            </a:r>
          </a:p>
          <a:p>
            <a:endParaRPr lang="en-US" dirty="0"/>
          </a:p>
          <a:p>
            <a:r>
              <a:rPr lang="en-US" dirty="0"/>
              <a:t>A checksum is a function calculated over input data to determine if the data has been altered or corrupted</a:t>
            </a:r>
          </a:p>
          <a:p>
            <a:r>
              <a:rPr lang="en-US" dirty="0"/>
              <a:t>Checksums are simple to fool, as it is not difficult to alter data in such a way that the same checksum is produced</a:t>
            </a:r>
          </a:p>
          <a:p>
            <a:r>
              <a:rPr lang="en-US" dirty="0"/>
              <a:t>Since checksums themselves are not protected, they can be changed after data has been altered anyways</a:t>
            </a:r>
          </a:p>
          <a:p>
            <a:r>
              <a:rPr lang="en-US" dirty="0"/>
              <a:t>Checksums, however, are easy to calculate and offer a very basic integrity check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3003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Integrity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Message </a:t>
            </a:r>
            <a:r>
              <a:rPr lang="en-US" u="sng" dirty="0" smtClean="0"/>
              <a:t>Checksum (Example)</a:t>
            </a:r>
            <a:endParaRPr lang="en-US" u="sng" dirty="0"/>
          </a:p>
          <a:p>
            <a:endParaRPr lang="en-US" dirty="0"/>
          </a:p>
          <a:p>
            <a:r>
              <a:rPr lang="en-US" dirty="0"/>
              <a:t>Checksums used in data packets of the Internet protocol suite are a good example</a:t>
            </a:r>
          </a:p>
          <a:p>
            <a:r>
              <a:rPr lang="en-US" dirty="0"/>
              <a:t>They provide some protection against corruption, but as seen below, it is quite easy to have different messages produce the same </a:t>
            </a:r>
            <a:r>
              <a:rPr lang="en-US" dirty="0" smtClean="0"/>
              <a:t>checksums</a:t>
            </a:r>
            <a:endParaRPr lang="en-US" b="1" u="sng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143000" y="4418016"/>
            <a:ext cx="126188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Courier" charset="0"/>
              </a:rPr>
              <a:t>I O U 1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" charset="0"/>
              </a:rPr>
              <a:t>0 0 . 9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" charset="0"/>
              </a:rPr>
              <a:t>9 B O B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489598" y="4418016"/>
            <a:ext cx="187743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Courier" charset="0"/>
              </a:rPr>
              <a:t>49 4F 55 31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" charset="0"/>
              </a:rPr>
              <a:t>30 30 2E 39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" charset="0"/>
              </a:rPr>
              <a:t>39 42 D2 42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219200" y="4059239"/>
            <a:ext cx="11833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u="sng" dirty="0">
                <a:solidFill>
                  <a:prstClr val="black"/>
                </a:solidFill>
                <a:latin typeface="Comic Sans MS" pitchFamily="66" charset="0"/>
              </a:rPr>
              <a:t>message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507457" y="4054476"/>
            <a:ext cx="18982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u="sng">
                <a:solidFill>
                  <a:prstClr val="black"/>
                </a:solidFill>
                <a:latin typeface="Comic Sans MS" pitchFamily="66" charset="0"/>
              </a:rPr>
              <a:t>ASCII format</a:t>
            </a: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2580086" y="5437188"/>
            <a:ext cx="120253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499123" y="5470526"/>
            <a:ext cx="18774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prstClr val="black"/>
                </a:solidFill>
                <a:latin typeface="Courier" charset="0"/>
              </a:rPr>
              <a:t>B2 C1 D2 AC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986516" y="4402141"/>
            <a:ext cx="126188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Courier" charset="0"/>
              </a:rPr>
              <a:t>I O U </a:t>
            </a:r>
            <a:r>
              <a:rPr lang="en-US" sz="2000" b="1" u="sng" dirty="0">
                <a:solidFill>
                  <a:srgbClr val="FF0000"/>
                </a:solidFill>
                <a:latin typeface="Courier" charset="0"/>
              </a:rPr>
              <a:t>9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" charset="0"/>
              </a:rPr>
              <a:t>0 0 . </a:t>
            </a:r>
            <a:r>
              <a:rPr lang="en-US" sz="2000" b="1" u="sng" dirty="0">
                <a:solidFill>
                  <a:srgbClr val="FF0000"/>
                </a:solidFill>
                <a:latin typeface="Courier" charset="0"/>
              </a:rPr>
              <a:t>1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" charset="0"/>
              </a:rPr>
              <a:t>9 B O B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6255545" y="4402141"/>
            <a:ext cx="187743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prstClr val="black"/>
                </a:solidFill>
                <a:latin typeface="Courier" charset="0"/>
              </a:rPr>
              <a:t>49 4F 55 </a:t>
            </a:r>
            <a:r>
              <a:rPr lang="en-US" sz="2000" b="1" u="sng">
                <a:solidFill>
                  <a:srgbClr val="FF0000"/>
                </a:solidFill>
                <a:latin typeface="Courier" charset="0"/>
              </a:rPr>
              <a:t>39</a:t>
            </a:r>
          </a:p>
          <a:p>
            <a:r>
              <a:rPr lang="en-US" sz="2000" b="1">
                <a:solidFill>
                  <a:prstClr val="black"/>
                </a:solidFill>
                <a:latin typeface="Courier" charset="0"/>
              </a:rPr>
              <a:t>30 30 2E </a:t>
            </a:r>
            <a:r>
              <a:rPr lang="en-US" sz="2000" b="1" u="sng">
                <a:solidFill>
                  <a:srgbClr val="FF0000"/>
                </a:solidFill>
                <a:latin typeface="Courier" charset="0"/>
              </a:rPr>
              <a:t>31</a:t>
            </a:r>
          </a:p>
          <a:p>
            <a:r>
              <a:rPr lang="en-US" sz="2000" b="1">
                <a:solidFill>
                  <a:prstClr val="black"/>
                </a:solidFill>
                <a:latin typeface="Courier" charset="0"/>
              </a:rPr>
              <a:t>39 42 D2 42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4988863" y="4043364"/>
            <a:ext cx="11833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u="sng" dirty="0">
                <a:solidFill>
                  <a:prstClr val="black"/>
                </a:solidFill>
                <a:latin typeface="Comic Sans MS" pitchFamily="66" charset="0"/>
              </a:rPr>
              <a:t>message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6273405" y="4038601"/>
            <a:ext cx="18982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u="sng">
                <a:solidFill>
                  <a:prstClr val="black"/>
                </a:solidFill>
                <a:latin typeface="Comic Sans MS" pitchFamily="66" charset="0"/>
              </a:rPr>
              <a:t>ASCII format</a:t>
            </a:r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6346033" y="5421313"/>
            <a:ext cx="120253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6265070" y="5454651"/>
            <a:ext cx="18774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prstClr val="black"/>
                </a:solidFill>
                <a:latin typeface="Courier" charset="0"/>
              </a:rPr>
              <a:t>B2 C1 D2 AC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3092648" y="5913437"/>
            <a:ext cx="38862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different </a:t>
            </a:r>
            <a:r>
              <a:rPr lang="en-US" sz="2000" dirty="0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messages but </a:t>
            </a:r>
            <a:r>
              <a:rPr lang="en-US" sz="20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identical checksums!</a:t>
            </a:r>
          </a:p>
        </p:txBody>
      </p:sp>
    </p:spTree>
    <p:extLst>
      <p:ext uri="{BB962C8B-B14F-4D97-AF65-F5344CB8AC3E}">
        <p14:creationId xmlns:p14="http://schemas.microsoft.com/office/powerpoint/2010/main" val="365157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Integrity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Message </a:t>
            </a:r>
            <a:r>
              <a:rPr lang="en-US" u="sng" dirty="0"/>
              <a:t>Sequence Number</a:t>
            </a:r>
          </a:p>
          <a:p>
            <a:endParaRPr lang="en-US" dirty="0"/>
          </a:p>
          <a:p>
            <a:r>
              <a:rPr lang="en-US" dirty="0"/>
              <a:t>Another basic integrity check is a sequence number, which gives the position of a message relative to a larger stream of messages</a:t>
            </a:r>
          </a:p>
          <a:p>
            <a:r>
              <a:rPr lang="en-US" dirty="0"/>
              <a:t>Sequence numbers can be used to determine if messages have been inserted or deleted, but not if they have been modified</a:t>
            </a:r>
          </a:p>
          <a:p>
            <a:r>
              <a:rPr lang="en-US" dirty="0"/>
              <a:t>Since sequence numbers can be forged like checksums, they only provide minimal integrity protection on their own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06898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Integrity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Message Digests (MD)</a:t>
            </a:r>
            <a:endParaRPr lang="en-US" b="1" u="sng" dirty="0"/>
          </a:p>
          <a:p>
            <a:endParaRPr lang="en-US" dirty="0"/>
          </a:p>
          <a:p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special kind of checksum produced using cryptographic </a:t>
            </a:r>
            <a:r>
              <a:rPr lang="en-US" dirty="0" smtClean="0"/>
              <a:t>means</a:t>
            </a:r>
          </a:p>
          <a:p>
            <a:pPr lvl="1"/>
            <a:r>
              <a:rPr lang="en-US" dirty="0" smtClean="0"/>
              <a:t>Also </a:t>
            </a:r>
            <a:r>
              <a:rPr lang="en-US" dirty="0"/>
              <a:t>referred to as </a:t>
            </a:r>
            <a:r>
              <a:rPr lang="en-US" u="sng" dirty="0"/>
              <a:t>cryptographic </a:t>
            </a:r>
            <a:r>
              <a:rPr lang="en-US" u="sng" dirty="0" smtClean="0"/>
              <a:t>checksums</a:t>
            </a:r>
            <a:endParaRPr lang="en-US" u="sng" dirty="0"/>
          </a:p>
          <a:p>
            <a:r>
              <a:rPr lang="en-US" dirty="0" smtClean="0"/>
              <a:t>Typically </a:t>
            </a:r>
            <a:r>
              <a:rPr lang="en-US" dirty="0"/>
              <a:t>produced as a </a:t>
            </a:r>
            <a:r>
              <a:rPr lang="en-US" u="sng" dirty="0"/>
              <a:t>hash-code</a:t>
            </a:r>
            <a:r>
              <a:rPr lang="en-US" dirty="0"/>
              <a:t> from a </a:t>
            </a:r>
            <a:r>
              <a:rPr lang="en-US" u="sng" dirty="0"/>
              <a:t>one-way function</a:t>
            </a:r>
            <a:r>
              <a:rPr lang="en-US" dirty="0"/>
              <a:t> that is difficult to reverse or predict</a:t>
            </a:r>
          </a:p>
          <a:p>
            <a:r>
              <a:rPr lang="en-US" dirty="0"/>
              <a:t>Given a message digest </a:t>
            </a:r>
            <a:r>
              <a:rPr lang="en-US" i="1" dirty="0"/>
              <a:t>x</a:t>
            </a:r>
            <a:r>
              <a:rPr lang="en-US" dirty="0"/>
              <a:t> and hash function </a:t>
            </a:r>
            <a:r>
              <a:rPr lang="en-US" i="1" dirty="0"/>
              <a:t>H</a:t>
            </a:r>
            <a:r>
              <a:rPr lang="en-US" dirty="0"/>
              <a:t>, it should be computationally infeasible to find a message </a:t>
            </a:r>
            <a:r>
              <a:rPr lang="en-US" i="1" dirty="0"/>
              <a:t>m</a:t>
            </a:r>
            <a:r>
              <a:rPr lang="en-US" dirty="0"/>
              <a:t> such that H(m) = x</a:t>
            </a:r>
          </a:p>
          <a:p>
            <a:r>
              <a:rPr lang="en-US" dirty="0"/>
              <a:t>This function takes the entire input and reduces it to a small value of fixed </a:t>
            </a:r>
            <a:r>
              <a:rPr lang="en-US" dirty="0" smtClean="0"/>
              <a:t>length (typically </a:t>
            </a:r>
            <a:r>
              <a:rPr lang="en-US" dirty="0"/>
              <a:t>128 to 512 bits in </a:t>
            </a:r>
            <a:r>
              <a:rPr lang="en-US" dirty="0" smtClean="0"/>
              <a:t>length)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39476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Integrity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Message Digests (MD)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Since modifications to the input data changes the message digest, it is practically impossible to alter a message and still have a matching digest</a:t>
            </a:r>
          </a:p>
          <a:p>
            <a:r>
              <a:rPr lang="en-US" dirty="0"/>
              <a:t>However, there is nothing preventing </a:t>
            </a:r>
            <a:r>
              <a:rPr lang="en-US" u="sng" dirty="0"/>
              <a:t>modifying the digest as well</a:t>
            </a:r>
            <a:r>
              <a:rPr lang="en-US" dirty="0"/>
              <a:t> to reflect any alterations to the original </a:t>
            </a:r>
            <a:r>
              <a:rPr lang="en-US" dirty="0" smtClean="0"/>
              <a:t>message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 solution </a:t>
            </a:r>
            <a:r>
              <a:rPr lang="en-US" dirty="0"/>
              <a:t>is to produce a more secure digest, protected by a secret of some </a:t>
            </a:r>
            <a:r>
              <a:rPr lang="en-US" dirty="0" smtClean="0"/>
              <a:t>kind, referred </a:t>
            </a:r>
            <a:r>
              <a:rPr lang="en-US" dirty="0"/>
              <a:t>to as a </a:t>
            </a:r>
            <a:r>
              <a:rPr lang="en-US" b="1" u="sng" dirty="0"/>
              <a:t>message authentication code</a:t>
            </a:r>
          </a:p>
        </p:txBody>
      </p:sp>
    </p:spTree>
    <p:extLst>
      <p:ext uri="{BB962C8B-B14F-4D97-AF65-F5344CB8AC3E}">
        <p14:creationId xmlns:p14="http://schemas.microsoft.com/office/powerpoint/2010/main" val="288507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Integrity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Message </a:t>
            </a:r>
            <a:r>
              <a:rPr lang="en-US" b="1" u="sng" dirty="0"/>
              <a:t>Authentication </a:t>
            </a:r>
            <a:r>
              <a:rPr lang="en-US" b="1" u="sng" dirty="0" smtClean="0"/>
              <a:t>Codes (MAC)</a:t>
            </a:r>
            <a:endParaRPr lang="en-US" b="1" u="sng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There are a couple of approaches to creating message authentication codes</a:t>
            </a:r>
          </a:p>
          <a:p>
            <a:r>
              <a:rPr lang="en-US" dirty="0"/>
              <a:t>One approach is to produce an encrypted digest, by providing a key or password to the digest function</a:t>
            </a:r>
          </a:p>
          <a:p>
            <a:pPr lvl="1"/>
            <a:r>
              <a:rPr lang="en-US" dirty="0"/>
              <a:t>Without this key or password, modifying the digest itself is no longer an option</a:t>
            </a:r>
          </a:p>
          <a:p>
            <a:r>
              <a:rPr lang="en-US" dirty="0" smtClean="0"/>
              <a:t>Another </a:t>
            </a:r>
            <a:r>
              <a:rPr lang="en-US" dirty="0"/>
              <a:t>approach is to embed a shared secret called an authentication key in with the message before being passed into the digest hash function</a:t>
            </a:r>
          </a:p>
          <a:p>
            <a:pPr lvl="1"/>
            <a:r>
              <a:rPr lang="en-US" dirty="0"/>
              <a:t>Without knowing this shared secret on the receiving end, the hash function cannot reproduce the same message authentication code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96385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Integrity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How Hash </a:t>
            </a:r>
            <a:r>
              <a:rPr lang="en-US" b="1" u="sng" dirty="0"/>
              <a:t>F</a:t>
            </a:r>
            <a:r>
              <a:rPr lang="en-US" b="1" u="sng" dirty="0" smtClean="0"/>
              <a:t>unctions Work</a:t>
            </a:r>
            <a:endParaRPr lang="en-US" b="1" u="sng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2343152" y="3744922"/>
            <a:ext cx="459581" cy="404813"/>
            <a:chOff x="606" y="1968"/>
            <a:chExt cx="386" cy="255"/>
          </a:xfrm>
          <a:solidFill>
            <a:srgbClr val="003300"/>
          </a:solidFill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606" y="1968"/>
              <a:ext cx="354" cy="25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670" y="1971"/>
              <a:ext cx="322" cy="25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prstClr val="white"/>
                  </a:solidFill>
                  <a:latin typeface="Comic Sans MS" pitchFamily="66" charset="0"/>
                </a:rPr>
                <a:t>m</a:t>
              </a:r>
            </a:p>
          </p:txBody>
        </p:sp>
      </p:grp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2083594" y="3238500"/>
            <a:ext cx="12105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(message)</a:t>
            </a:r>
          </a:p>
        </p:txBody>
      </p: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2528888" y="4192590"/>
            <a:ext cx="1607344" cy="790575"/>
            <a:chOff x="762" y="2250"/>
            <a:chExt cx="1350" cy="498"/>
          </a:xfrm>
        </p:grpSpPr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989" y="2364"/>
              <a:ext cx="507" cy="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970" y="2379"/>
              <a:ext cx="563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  <a:latin typeface="Comic Sans MS" pitchFamily="66" charset="0"/>
                </a:rPr>
                <a:t>H(</a:t>
              </a:r>
              <a:r>
                <a:rPr lang="en-US" sz="3200" baseline="10000" dirty="0">
                  <a:solidFill>
                    <a:srgbClr val="0070C0"/>
                  </a:solidFill>
                  <a:latin typeface="Comic Sans MS" pitchFamily="66" charset="0"/>
                </a:rPr>
                <a:t>.</a:t>
              </a:r>
              <a:r>
                <a:rPr lang="en-US" sz="2000" dirty="0">
                  <a:solidFill>
                    <a:srgbClr val="0070C0"/>
                  </a:solidFill>
                  <a:latin typeface="Comic Sans MS" pitchFamily="66" charset="0"/>
                </a:rPr>
                <a:t>)</a:t>
              </a: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762" y="2250"/>
              <a:ext cx="234" cy="198"/>
            </a:xfrm>
            <a:custGeom>
              <a:avLst/>
              <a:gdLst>
                <a:gd name="T0" fmla="*/ 0 w 360"/>
                <a:gd name="T1" fmla="*/ 0 h 210"/>
                <a:gd name="T2" fmla="*/ 0 w 360"/>
                <a:gd name="T3" fmla="*/ 210 h 210"/>
                <a:gd name="T4" fmla="*/ 360 w 360"/>
                <a:gd name="T5" fmla="*/ 21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0" h="210">
                  <a:moveTo>
                    <a:pt x="0" y="0"/>
                  </a:moveTo>
                  <a:lnTo>
                    <a:pt x="0" y="210"/>
                  </a:lnTo>
                  <a:lnTo>
                    <a:pt x="360" y="21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 flipV="1">
              <a:off x="762" y="2550"/>
              <a:ext cx="234" cy="198"/>
            </a:xfrm>
            <a:custGeom>
              <a:avLst/>
              <a:gdLst>
                <a:gd name="T0" fmla="*/ 0 w 360"/>
                <a:gd name="T1" fmla="*/ 0 h 210"/>
                <a:gd name="T2" fmla="*/ 0 w 360"/>
                <a:gd name="T3" fmla="*/ 210 h 210"/>
                <a:gd name="T4" fmla="*/ 360 w 360"/>
                <a:gd name="T5" fmla="*/ 21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0" h="210">
                  <a:moveTo>
                    <a:pt x="0" y="0"/>
                  </a:moveTo>
                  <a:lnTo>
                    <a:pt x="0" y="210"/>
                  </a:lnTo>
                  <a:lnTo>
                    <a:pt x="360" y="21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1500" y="2262"/>
              <a:ext cx="66" cy="240"/>
            </a:xfrm>
            <a:custGeom>
              <a:avLst/>
              <a:gdLst>
                <a:gd name="T0" fmla="*/ 0 w 192"/>
                <a:gd name="T1" fmla="*/ 240 h 240"/>
                <a:gd name="T2" fmla="*/ 192 w 192"/>
                <a:gd name="T3" fmla="*/ 240 h 240"/>
                <a:gd name="T4" fmla="*/ 192 w 192"/>
                <a:gd name="T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240">
                  <a:moveTo>
                    <a:pt x="0" y="240"/>
                  </a:moveTo>
                  <a:lnTo>
                    <a:pt x="192" y="24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16" name="Group 15"/>
            <p:cNvGrpSpPr>
              <a:grpSpLocks/>
            </p:cNvGrpSpPr>
            <p:nvPr/>
          </p:nvGrpSpPr>
          <p:grpSpPr bwMode="auto">
            <a:xfrm>
              <a:off x="1573" y="2388"/>
              <a:ext cx="539" cy="252"/>
              <a:chOff x="2179" y="2964"/>
              <a:chExt cx="539" cy="252"/>
            </a:xfrm>
          </p:grpSpPr>
          <p:sp>
            <p:nvSpPr>
              <p:cNvPr id="17" name="Rectangle 16"/>
              <p:cNvSpPr>
                <a:spLocks noChangeArrowheads="1"/>
              </p:cNvSpPr>
              <p:nvPr/>
            </p:nvSpPr>
            <p:spPr bwMode="auto">
              <a:xfrm>
                <a:off x="2214" y="2964"/>
                <a:ext cx="354" cy="25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Text Box 17"/>
              <p:cNvSpPr txBox="1">
                <a:spLocks noChangeArrowheads="1"/>
              </p:cNvSpPr>
              <p:nvPr/>
            </p:nvSpPr>
            <p:spPr bwMode="auto">
              <a:xfrm>
                <a:off x="2179" y="3006"/>
                <a:ext cx="539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050" dirty="0">
                    <a:solidFill>
                      <a:prstClr val="black"/>
                    </a:solidFill>
                    <a:latin typeface="Comic Sans MS" pitchFamily="66" charset="0"/>
                  </a:rPr>
                  <a:t>H(</a:t>
                </a:r>
                <a:r>
                  <a:rPr lang="en-US" sz="1050" dirty="0" err="1">
                    <a:solidFill>
                      <a:prstClr val="black"/>
                    </a:solidFill>
                    <a:latin typeface="Comic Sans MS" pitchFamily="66" charset="0"/>
                  </a:rPr>
                  <a:t>m+s</a:t>
                </a:r>
                <a:r>
                  <a:rPr lang="en-US" sz="1050" dirty="0">
                    <a:solidFill>
                      <a:prstClr val="black"/>
                    </a:solidFill>
                    <a:latin typeface="Comic Sans MS" pitchFamily="66" charset="0"/>
                  </a:rPr>
                  <a:t>)</a:t>
                </a:r>
              </a:p>
            </p:txBody>
          </p:sp>
        </p:grpSp>
      </p:grp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2800351" y="3306765"/>
            <a:ext cx="3214688" cy="1141413"/>
            <a:chOff x="990" y="1692"/>
            <a:chExt cx="2700" cy="719"/>
          </a:xfrm>
        </p:grpSpPr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2323" y="1692"/>
              <a:ext cx="1198" cy="719"/>
            </a:xfrm>
            <a:custGeom>
              <a:avLst/>
              <a:gdLst>
                <a:gd name="T0" fmla="*/ 1142 w 1198"/>
                <a:gd name="T1" fmla="*/ 3 h 719"/>
                <a:gd name="T2" fmla="*/ 1116 w 1198"/>
                <a:gd name="T3" fmla="*/ 0 h 719"/>
                <a:gd name="T4" fmla="*/ 1082 w 1198"/>
                <a:gd name="T5" fmla="*/ 7 h 719"/>
                <a:gd name="T6" fmla="*/ 1036 w 1198"/>
                <a:gd name="T7" fmla="*/ 24 h 719"/>
                <a:gd name="T8" fmla="*/ 956 w 1198"/>
                <a:gd name="T9" fmla="*/ 56 h 719"/>
                <a:gd name="T10" fmla="*/ 904 w 1198"/>
                <a:gd name="T11" fmla="*/ 73 h 719"/>
                <a:gd name="T12" fmla="*/ 866 w 1198"/>
                <a:gd name="T13" fmla="*/ 77 h 719"/>
                <a:gd name="T14" fmla="*/ 798 w 1198"/>
                <a:gd name="T15" fmla="*/ 75 h 719"/>
                <a:gd name="T16" fmla="*/ 719 w 1198"/>
                <a:gd name="T17" fmla="*/ 65 h 719"/>
                <a:gd name="T18" fmla="*/ 632 w 1198"/>
                <a:gd name="T19" fmla="*/ 56 h 719"/>
                <a:gd name="T20" fmla="*/ 574 w 1198"/>
                <a:gd name="T21" fmla="*/ 58 h 719"/>
                <a:gd name="T22" fmla="*/ 524 w 1198"/>
                <a:gd name="T23" fmla="*/ 65 h 719"/>
                <a:gd name="T24" fmla="*/ 464 w 1198"/>
                <a:gd name="T25" fmla="*/ 76 h 719"/>
                <a:gd name="T26" fmla="*/ 398 w 1198"/>
                <a:gd name="T27" fmla="*/ 89 h 719"/>
                <a:gd name="T28" fmla="*/ 274 w 1198"/>
                <a:gd name="T29" fmla="*/ 117 h 719"/>
                <a:gd name="T30" fmla="*/ 190 w 1198"/>
                <a:gd name="T31" fmla="*/ 144 h 719"/>
                <a:gd name="T32" fmla="*/ 131 w 1198"/>
                <a:gd name="T33" fmla="*/ 169 h 719"/>
                <a:gd name="T34" fmla="*/ 82 w 1198"/>
                <a:gd name="T35" fmla="*/ 198 h 719"/>
                <a:gd name="T36" fmla="*/ 47 w 1198"/>
                <a:gd name="T37" fmla="*/ 232 h 719"/>
                <a:gd name="T38" fmla="*/ 23 w 1198"/>
                <a:gd name="T39" fmla="*/ 273 h 719"/>
                <a:gd name="T40" fmla="*/ 8 w 1198"/>
                <a:gd name="T41" fmla="*/ 323 h 719"/>
                <a:gd name="T42" fmla="*/ 1 w 1198"/>
                <a:gd name="T43" fmla="*/ 378 h 719"/>
                <a:gd name="T44" fmla="*/ 0 w 1198"/>
                <a:gd name="T45" fmla="*/ 434 h 719"/>
                <a:gd name="T46" fmla="*/ 6 w 1198"/>
                <a:gd name="T47" fmla="*/ 489 h 719"/>
                <a:gd name="T48" fmla="*/ 17 w 1198"/>
                <a:gd name="T49" fmla="*/ 539 h 719"/>
                <a:gd name="T50" fmla="*/ 33 w 1198"/>
                <a:gd name="T51" fmla="*/ 582 h 719"/>
                <a:gd name="T52" fmla="*/ 51 w 1198"/>
                <a:gd name="T53" fmla="*/ 615 h 719"/>
                <a:gd name="T54" fmla="*/ 77 w 1198"/>
                <a:gd name="T55" fmla="*/ 638 h 719"/>
                <a:gd name="T56" fmla="*/ 110 w 1198"/>
                <a:gd name="T57" fmla="*/ 656 h 719"/>
                <a:gd name="T58" fmla="*/ 159 w 1198"/>
                <a:gd name="T59" fmla="*/ 670 h 719"/>
                <a:gd name="T60" fmla="*/ 248 w 1198"/>
                <a:gd name="T61" fmla="*/ 683 h 719"/>
                <a:gd name="T62" fmla="*/ 342 w 1198"/>
                <a:gd name="T63" fmla="*/ 692 h 719"/>
                <a:gd name="T64" fmla="*/ 401 w 1198"/>
                <a:gd name="T65" fmla="*/ 700 h 719"/>
                <a:gd name="T66" fmla="*/ 492 w 1198"/>
                <a:gd name="T67" fmla="*/ 710 h 719"/>
                <a:gd name="T68" fmla="*/ 631 w 1198"/>
                <a:gd name="T69" fmla="*/ 717 h 719"/>
                <a:gd name="T70" fmla="*/ 708 w 1198"/>
                <a:gd name="T71" fmla="*/ 719 h 719"/>
                <a:gd name="T72" fmla="*/ 753 w 1198"/>
                <a:gd name="T73" fmla="*/ 719 h 719"/>
                <a:gd name="T74" fmla="*/ 791 w 1198"/>
                <a:gd name="T75" fmla="*/ 719 h 719"/>
                <a:gd name="T76" fmla="*/ 824 w 1198"/>
                <a:gd name="T77" fmla="*/ 718 h 719"/>
                <a:gd name="T78" fmla="*/ 876 w 1198"/>
                <a:gd name="T79" fmla="*/ 712 h 719"/>
                <a:gd name="T80" fmla="*/ 931 w 1198"/>
                <a:gd name="T81" fmla="*/ 700 h 719"/>
                <a:gd name="T82" fmla="*/ 977 w 1198"/>
                <a:gd name="T83" fmla="*/ 687 h 719"/>
                <a:gd name="T84" fmla="*/ 1029 w 1198"/>
                <a:gd name="T85" fmla="*/ 672 h 719"/>
                <a:gd name="T86" fmla="*/ 1096 w 1198"/>
                <a:gd name="T87" fmla="*/ 652 h 719"/>
                <a:gd name="T88" fmla="*/ 1142 w 1198"/>
                <a:gd name="T89" fmla="*/ 627 h 719"/>
                <a:gd name="T90" fmla="*/ 1168 w 1198"/>
                <a:gd name="T91" fmla="*/ 601 h 719"/>
                <a:gd name="T92" fmla="*/ 1188 w 1198"/>
                <a:gd name="T93" fmla="*/ 554 h 719"/>
                <a:gd name="T94" fmla="*/ 1196 w 1198"/>
                <a:gd name="T95" fmla="*/ 498 h 719"/>
                <a:gd name="T96" fmla="*/ 1197 w 1198"/>
                <a:gd name="T97" fmla="*/ 433 h 719"/>
                <a:gd name="T98" fmla="*/ 1196 w 1198"/>
                <a:gd name="T99" fmla="*/ 361 h 719"/>
                <a:gd name="T100" fmla="*/ 1196 w 1198"/>
                <a:gd name="T101" fmla="*/ 321 h 719"/>
                <a:gd name="T102" fmla="*/ 1197 w 1198"/>
                <a:gd name="T103" fmla="*/ 271 h 719"/>
                <a:gd name="T104" fmla="*/ 1197 w 1198"/>
                <a:gd name="T105" fmla="*/ 166 h 719"/>
                <a:gd name="T106" fmla="*/ 1194 w 1198"/>
                <a:gd name="T107" fmla="*/ 103 h 719"/>
                <a:gd name="T108" fmla="*/ 1186 w 1198"/>
                <a:gd name="T109" fmla="*/ 61 h 719"/>
                <a:gd name="T110" fmla="*/ 1173 w 1198"/>
                <a:gd name="T111" fmla="*/ 28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98" h="719">
                  <a:moveTo>
                    <a:pt x="1160" y="13"/>
                  </a:moveTo>
                  <a:lnTo>
                    <a:pt x="1154" y="9"/>
                  </a:lnTo>
                  <a:lnTo>
                    <a:pt x="1149" y="5"/>
                  </a:lnTo>
                  <a:lnTo>
                    <a:pt x="1142" y="3"/>
                  </a:lnTo>
                  <a:lnTo>
                    <a:pt x="1137" y="2"/>
                  </a:lnTo>
                  <a:lnTo>
                    <a:pt x="1130" y="0"/>
                  </a:lnTo>
                  <a:lnTo>
                    <a:pt x="1123" y="0"/>
                  </a:lnTo>
                  <a:lnTo>
                    <a:pt x="1116" y="0"/>
                  </a:lnTo>
                  <a:lnTo>
                    <a:pt x="1107" y="2"/>
                  </a:lnTo>
                  <a:lnTo>
                    <a:pt x="1099" y="3"/>
                  </a:lnTo>
                  <a:lnTo>
                    <a:pt x="1091" y="5"/>
                  </a:lnTo>
                  <a:lnTo>
                    <a:pt x="1082" y="7"/>
                  </a:lnTo>
                  <a:lnTo>
                    <a:pt x="1074" y="10"/>
                  </a:lnTo>
                  <a:lnTo>
                    <a:pt x="1064" y="13"/>
                  </a:lnTo>
                  <a:lnTo>
                    <a:pt x="1055" y="17"/>
                  </a:lnTo>
                  <a:lnTo>
                    <a:pt x="1036" y="24"/>
                  </a:lnTo>
                  <a:lnTo>
                    <a:pt x="1016" y="32"/>
                  </a:lnTo>
                  <a:lnTo>
                    <a:pt x="997" y="40"/>
                  </a:lnTo>
                  <a:lnTo>
                    <a:pt x="977" y="49"/>
                  </a:lnTo>
                  <a:lnTo>
                    <a:pt x="956" y="56"/>
                  </a:lnTo>
                  <a:lnTo>
                    <a:pt x="936" y="65"/>
                  </a:lnTo>
                  <a:lnTo>
                    <a:pt x="925" y="67"/>
                  </a:lnTo>
                  <a:lnTo>
                    <a:pt x="915" y="70"/>
                  </a:lnTo>
                  <a:lnTo>
                    <a:pt x="904" y="73"/>
                  </a:lnTo>
                  <a:lnTo>
                    <a:pt x="895" y="75"/>
                  </a:lnTo>
                  <a:lnTo>
                    <a:pt x="885" y="76"/>
                  </a:lnTo>
                  <a:lnTo>
                    <a:pt x="875" y="77"/>
                  </a:lnTo>
                  <a:lnTo>
                    <a:pt x="866" y="77"/>
                  </a:lnTo>
                  <a:lnTo>
                    <a:pt x="855" y="79"/>
                  </a:lnTo>
                  <a:lnTo>
                    <a:pt x="837" y="77"/>
                  </a:lnTo>
                  <a:lnTo>
                    <a:pt x="817" y="76"/>
                  </a:lnTo>
                  <a:lnTo>
                    <a:pt x="798" y="75"/>
                  </a:lnTo>
                  <a:lnTo>
                    <a:pt x="778" y="73"/>
                  </a:lnTo>
                  <a:lnTo>
                    <a:pt x="758" y="70"/>
                  </a:lnTo>
                  <a:lnTo>
                    <a:pt x="739" y="67"/>
                  </a:lnTo>
                  <a:lnTo>
                    <a:pt x="719" y="65"/>
                  </a:lnTo>
                  <a:lnTo>
                    <a:pt x="698" y="61"/>
                  </a:lnTo>
                  <a:lnTo>
                    <a:pt x="677" y="59"/>
                  </a:lnTo>
                  <a:lnTo>
                    <a:pt x="655" y="58"/>
                  </a:lnTo>
                  <a:lnTo>
                    <a:pt x="632" y="56"/>
                  </a:lnTo>
                  <a:lnTo>
                    <a:pt x="610" y="56"/>
                  </a:lnTo>
                  <a:lnTo>
                    <a:pt x="599" y="56"/>
                  </a:lnTo>
                  <a:lnTo>
                    <a:pt x="586" y="56"/>
                  </a:lnTo>
                  <a:lnTo>
                    <a:pt x="574" y="58"/>
                  </a:lnTo>
                  <a:lnTo>
                    <a:pt x="562" y="59"/>
                  </a:lnTo>
                  <a:lnTo>
                    <a:pt x="550" y="61"/>
                  </a:lnTo>
                  <a:lnTo>
                    <a:pt x="537" y="63"/>
                  </a:lnTo>
                  <a:lnTo>
                    <a:pt x="524" y="65"/>
                  </a:lnTo>
                  <a:lnTo>
                    <a:pt x="510" y="68"/>
                  </a:lnTo>
                  <a:lnTo>
                    <a:pt x="495" y="70"/>
                  </a:lnTo>
                  <a:lnTo>
                    <a:pt x="480" y="73"/>
                  </a:lnTo>
                  <a:lnTo>
                    <a:pt x="464" y="76"/>
                  </a:lnTo>
                  <a:lnTo>
                    <a:pt x="448" y="79"/>
                  </a:lnTo>
                  <a:lnTo>
                    <a:pt x="432" y="82"/>
                  </a:lnTo>
                  <a:lnTo>
                    <a:pt x="415" y="86"/>
                  </a:lnTo>
                  <a:lnTo>
                    <a:pt x="398" y="89"/>
                  </a:lnTo>
                  <a:lnTo>
                    <a:pt x="380" y="93"/>
                  </a:lnTo>
                  <a:lnTo>
                    <a:pt x="345" y="100"/>
                  </a:lnTo>
                  <a:lnTo>
                    <a:pt x="310" y="108"/>
                  </a:lnTo>
                  <a:lnTo>
                    <a:pt x="274" y="117"/>
                  </a:lnTo>
                  <a:lnTo>
                    <a:pt x="240" y="128"/>
                  </a:lnTo>
                  <a:lnTo>
                    <a:pt x="223" y="132"/>
                  </a:lnTo>
                  <a:lnTo>
                    <a:pt x="206" y="138"/>
                  </a:lnTo>
                  <a:lnTo>
                    <a:pt x="190" y="144"/>
                  </a:lnTo>
                  <a:lnTo>
                    <a:pt x="175" y="150"/>
                  </a:lnTo>
                  <a:lnTo>
                    <a:pt x="159" y="156"/>
                  </a:lnTo>
                  <a:lnTo>
                    <a:pt x="145" y="163"/>
                  </a:lnTo>
                  <a:lnTo>
                    <a:pt x="131" y="169"/>
                  </a:lnTo>
                  <a:lnTo>
                    <a:pt x="117" y="176"/>
                  </a:lnTo>
                  <a:lnTo>
                    <a:pt x="104" y="183"/>
                  </a:lnTo>
                  <a:lnTo>
                    <a:pt x="92" y="191"/>
                  </a:lnTo>
                  <a:lnTo>
                    <a:pt x="82" y="198"/>
                  </a:lnTo>
                  <a:lnTo>
                    <a:pt x="71" y="206"/>
                  </a:lnTo>
                  <a:lnTo>
                    <a:pt x="62" y="214"/>
                  </a:lnTo>
                  <a:lnTo>
                    <a:pt x="54" y="222"/>
                  </a:lnTo>
                  <a:lnTo>
                    <a:pt x="47" y="232"/>
                  </a:lnTo>
                  <a:lnTo>
                    <a:pt x="40" y="241"/>
                  </a:lnTo>
                  <a:lnTo>
                    <a:pt x="34" y="250"/>
                  </a:lnTo>
                  <a:lnTo>
                    <a:pt x="28" y="262"/>
                  </a:lnTo>
                  <a:lnTo>
                    <a:pt x="23" y="273"/>
                  </a:lnTo>
                  <a:lnTo>
                    <a:pt x="19" y="284"/>
                  </a:lnTo>
                  <a:lnTo>
                    <a:pt x="14" y="297"/>
                  </a:lnTo>
                  <a:lnTo>
                    <a:pt x="10" y="310"/>
                  </a:lnTo>
                  <a:lnTo>
                    <a:pt x="8" y="323"/>
                  </a:lnTo>
                  <a:lnTo>
                    <a:pt x="6" y="336"/>
                  </a:lnTo>
                  <a:lnTo>
                    <a:pt x="3" y="350"/>
                  </a:lnTo>
                  <a:lnTo>
                    <a:pt x="2" y="364"/>
                  </a:lnTo>
                  <a:lnTo>
                    <a:pt x="1" y="378"/>
                  </a:lnTo>
                  <a:lnTo>
                    <a:pt x="0" y="391"/>
                  </a:lnTo>
                  <a:lnTo>
                    <a:pt x="0" y="406"/>
                  </a:lnTo>
                  <a:lnTo>
                    <a:pt x="0" y="420"/>
                  </a:lnTo>
                  <a:lnTo>
                    <a:pt x="0" y="434"/>
                  </a:lnTo>
                  <a:lnTo>
                    <a:pt x="1" y="448"/>
                  </a:lnTo>
                  <a:lnTo>
                    <a:pt x="2" y="461"/>
                  </a:lnTo>
                  <a:lnTo>
                    <a:pt x="5" y="475"/>
                  </a:lnTo>
                  <a:lnTo>
                    <a:pt x="6" y="489"/>
                  </a:lnTo>
                  <a:lnTo>
                    <a:pt x="8" y="502"/>
                  </a:lnTo>
                  <a:lnTo>
                    <a:pt x="12" y="514"/>
                  </a:lnTo>
                  <a:lnTo>
                    <a:pt x="14" y="526"/>
                  </a:lnTo>
                  <a:lnTo>
                    <a:pt x="17" y="539"/>
                  </a:lnTo>
                  <a:lnTo>
                    <a:pt x="21" y="551"/>
                  </a:lnTo>
                  <a:lnTo>
                    <a:pt x="24" y="561"/>
                  </a:lnTo>
                  <a:lnTo>
                    <a:pt x="28" y="572"/>
                  </a:lnTo>
                  <a:lnTo>
                    <a:pt x="33" y="582"/>
                  </a:lnTo>
                  <a:lnTo>
                    <a:pt x="37" y="590"/>
                  </a:lnTo>
                  <a:lnTo>
                    <a:pt x="42" y="600"/>
                  </a:lnTo>
                  <a:lnTo>
                    <a:pt x="47" y="607"/>
                  </a:lnTo>
                  <a:lnTo>
                    <a:pt x="51" y="615"/>
                  </a:lnTo>
                  <a:lnTo>
                    <a:pt x="57" y="621"/>
                  </a:lnTo>
                  <a:lnTo>
                    <a:pt x="63" y="627"/>
                  </a:lnTo>
                  <a:lnTo>
                    <a:pt x="70" y="632"/>
                  </a:lnTo>
                  <a:lnTo>
                    <a:pt x="77" y="638"/>
                  </a:lnTo>
                  <a:lnTo>
                    <a:pt x="85" y="643"/>
                  </a:lnTo>
                  <a:lnTo>
                    <a:pt x="92" y="648"/>
                  </a:lnTo>
                  <a:lnTo>
                    <a:pt x="101" y="651"/>
                  </a:lnTo>
                  <a:lnTo>
                    <a:pt x="110" y="656"/>
                  </a:lnTo>
                  <a:lnTo>
                    <a:pt x="119" y="659"/>
                  </a:lnTo>
                  <a:lnTo>
                    <a:pt x="128" y="662"/>
                  </a:lnTo>
                  <a:lnTo>
                    <a:pt x="138" y="665"/>
                  </a:lnTo>
                  <a:lnTo>
                    <a:pt x="159" y="670"/>
                  </a:lnTo>
                  <a:lnTo>
                    <a:pt x="180" y="673"/>
                  </a:lnTo>
                  <a:lnTo>
                    <a:pt x="202" y="677"/>
                  </a:lnTo>
                  <a:lnTo>
                    <a:pt x="225" y="680"/>
                  </a:lnTo>
                  <a:lnTo>
                    <a:pt x="248" y="683"/>
                  </a:lnTo>
                  <a:lnTo>
                    <a:pt x="272" y="685"/>
                  </a:lnTo>
                  <a:lnTo>
                    <a:pt x="295" y="686"/>
                  </a:lnTo>
                  <a:lnTo>
                    <a:pt x="319" y="689"/>
                  </a:lnTo>
                  <a:lnTo>
                    <a:pt x="342" y="692"/>
                  </a:lnTo>
                  <a:lnTo>
                    <a:pt x="365" y="696"/>
                  </a:lnTo>
                  <a:lnTo>
                    <a:pt x="377" y="697"/>
                  </a:lnTo>
                  <a:lnTo>
                    <a:pt x="389" y="698"/>
                  </a:lnTo>
                  <a:lnTo>
                    <a:pt x="401" y="700"/>
                  </a:lnTo>
                  <a:lnTo>
                    <a:pt x="413" y="701"/>
                  </a:lnTo>
                  <a:lnTo>
                    <a:pt x="439" y="704"/>
                  </a:lnTo>
                  <a:lnTo>
                    <a:pt x="466" y="707"/>
                  </a:lnTo>
                  <a:lnTo>
                    <a:pt x="492" y="710"/>
                  </a:lnTo>
                  <a:lnTo>
                    <a:pt x="520" y="711"/>
                  </a:lnTo>
                  <a:lnTo>
                    <a:pt x="576" y="714"/>
                  </a:lnTo>
                  <a:lnTo>
                    <a:pt x="604" y="715"/>
                  </a:lnTo>
                  <a:lnTo>
                    <a:pt x="631" y="717"/>
                  </a:lnTo>
                  <a:lnTo>
                    <a:pt x="658" y="718"/>
                  </a:lnTo>
                  <a:lnTo>
                    <a:pt x="684" y="719"/>
                  </a:lnTo>
                  <a:lnTo>
                    <a:pt x="695" y="719"/>
                  </a:lnTo>
                  <a:lnTo>
                    <a:pt x="708" y="719"/>
                  </a:lnTo>
                  <a:lnTo>
                    <a:pt x="720" y="719"/>
                  </a:lnTo>
                  <a:lnTo>
                    <a:pt x="732" y="719"/>
                  </a:lnTo>
                  <a:lnTo>
                    <a:pt x="742" y="719"/>
                  </a:lnTo>
                  <a:lnTo>
                    <a:pt x="753" y="719"/>
                  </a:lnTo>
                  <a:lnTo>
                    <a:pt x="763" y="719"/>
                  </a:lnTo>
                  <a:lnTo>
                    <a:pt x="773" y="719"/>
                  </a:lnTo>
                  <a:lnTo>
                    <a:pt x="782" y="719"/>
                  </a:lnTo>
                  <a:lnTo>
                    <a:pt x="791" y="719"/>
                  </a:lnTo>
                  <a:lnTo>
                    <a:pt x="801" y="719"/>
                  </a:lnTo>
                  <a:lnTo>
                    <a:pt x="809" y="718"/>
                  </a:lnTo>
                  <a:lnTo>
                    <a:pt x="816" y="718"/>
                  </a:lnTo>
                  <a:lnTo>
                    <a:pt x="824" y="718"/>
                  </a:lnTo>
                  <a:lnTo>
                    <a:pt x="839" y="717"/>
                  </a:lnTo>
                  <a:lnTo>
                    <a:pt x="852" y="715"/>
                  </a:lnTo>
                  <a:lnTo>
                    <a:pt x="865" y="713"/>
                  </a:lnTo>
                  <a:lnTo>
                    <a:pt x="876" y="712"/>
                  </a:lnTo>
                  <a:lnTo>
                    <a:pt x="888" y="710"/>
                  </a:lnTo>
                  <a:lnTo>
                    <a:pt x="900" y="707"/>
                  </a:lnTo>
                  <a:lnTo>
                    <a:pt x="910" y="705"/>
                  </a:lnTo>
                  <a:lnTo>
                    <a:pt x="931" y="700"/>
                  </a:lnTo>
                  <a:lnTo>
                    <a:pt x="943" y="697"/>
                  </a:lnTo>
                  <a:lnTo>
                    <a:pt x="953" y="693"/>
                  </a:lnTo>
                  <a:lnTo>
                    <a:pt x="965" y="691"/>
                  </a:lnTo>
                  <a:lnTo>
                    <a:pt x="977" y="687"/>
                  </a:lnTo>
                  <a:lnTo>
                    <a:pt x="990" y="683"/>
                  </a:lnTo>
                  <a:lnTo>
                    <a:pt x="1002" y="679"/>
                  </a:lnTo>
                  <a:lnTo>
                    <a:pt x="1015" y="676"/>
                  </a:lnTo>
                  <a:lnTo>
                    <a:pt x="1029" y="672"/>
                  </a:lnTo>
                  <a:lnTo>
                    <a:pt x="1056" y="665"/>
                  </a:lnTo>
                  <a:lnTo>
                    <a:pt x="1070" y="662"/>
                  </a:lnTo>
                  <a:lnTo>
                    <a:pt x="1083" y="657"/>
                  </a:lnTo>
                  <a:lnTo>
                    <a:pt x="1096" y="652"/>
                  </a:lnTo>
                  <a:lnTo>
                    <a:pt x="1109" y="647"/>
                  </a:lnTo>
                  <a:lnTo>
                    <a:pt x="1120" y="641"/>
                  </a:lnTo>
                  <a:lnTo>
                    <a:pt x="1132" y="635"/>
                  </a:lnTo>
                  <a:lnTo>
                    <a:pt x="1142" y="627"/>
                  </a:lnTo>
                  <a:lnTo>
                    <a:pt x="1152" y="620"/>
                  </a:lnTo>
                  <a:lnTo>
                    <a:pt x="1160" y="610"/>
                  </a:lnTo>
                  <a:lnTo>
                    <a:pt x="1165" y="606"/>
                  </a:lnTo>
                  <a:lnTo>
                    <a:pt x="1168" y="601"/>
                  </a:lnTo>
                  <a:lnTo>
                    <a:pt x="1174" y="590"/>
                  </a:lnTo>
                  <a:lnTo>
                    <a:pt x="1180" y="579"/>
                  </a:lnTo>
                  <a:lnTo>
                    <a:pt x="1184" y="567"/>
                  </a:lnTo>
                  <a:lnTo>
                    <a:pt x="1188" y="554"/>
                  </a:lnTo>
                  <a:lnTo>
                    <a:pt x="1191" y="541"/>
                  </a:lnTo>
                  <a:lnTo>
                    <a:pt x="1194" y="527"/>
                  </a:lnTo>
                  <a:lnTo>
                    <a:pt x="1195" y="513"/>
                  </a:lnTo>
                  <a:lnTo>
                    <a:pt x="1196" y="498"/>
                  </a:lnTo>
                  <a:lnTo>
                    <a:pt x="1197" y="483"/>
                  </a:lnTo>
                  <a:lnTo>
                    <a:pt x="1197" y="467"/>
                  </a:lnTo>
                  <a:lnTo>
                    <a:pt x="1197" y="450"/>
                  </a:lnTo>
                  <a:lnTo>
                    <a:pt x="1197" y="433"/>
                  </a:lnTo>
                  <a:lnTo>
                    <a:pt x="1197" y="415"/>
                  </a:lnTo>
                  <a:lnTo>
                    <a:pt x="1197" y="398"/>
                  </a:lnTo>
                  <a:lnTo>
                    <a:pt x="1197" y="380"/>
                  </a:lnTo>
                  <a:lnTo>
                    <a:pt x="1196" y="361"/>
                  </a:lnTo>
                  <a:lnTo>
                    <a:pt x="1196" y="352"/>
                  </a:lnTo>
                  <a:lnTo>
                    <a:pt x="1196" y="343"/>
                  </a:lnTo>
                  <a:lnTo>
                    <a:pt x="1196" y="331"/>
                  </a:lnTo>
                  <a:lnTo>
                    <a:pt x="1196" y="321"/>
                  </a:lnTo>
                  <a:lnTo>
                    <a:pt x="1197" y="309"/>
                  </a:lnTo>
                  <a:lnTo>
                    <a:pt x="1197" y="297"/>
                  </a:lnTo>
                  <a:lnTo>
                    <a:pt x="1197" y="284"/>
                  </a:lnTo>
                  <a:lnTo>
                    <a:pt x="1197" y="271"/>
                  </a:lnTo>
                  <a:lnTo>
                    <a:pt x="1198" y="246"/>
                  </a:lnTo>
                  <a:lnTo>
                    <a:pt x="1198" y="219"/>
                  </a:lnTo>
                  <a:lnTo>
                    <a:pt x="1198" y="192"/>
                  </a:lnTo>
                  <a:lnTo>
                    <a:pt x="1197" y="166"/>
                  </a:lnTo>
                  <a:lnTo>
                    <a:pt x="1196" y="141"/>
                  </a:lnTo>
                  <a:lnTo>
                    <a:pt x="1196" y="128"/>
                  </a:lnTo>
                  <a:lnTo>
                    <a:pt x="1195" y="116"/>
                  </a:lnTo>
                  <a:lnTo>
                    <a:pt x="1194" y="103"/>
                  </a:lnTo>
                  <a:lnTo>
                    <a:pt x="1191" y="93"/>
                  </a:lnTo>
                  <a:lnTo>
                    <a:pt x="1190" y="81"/>
                  </a:lnTo>
                  <a:lnTo>
                    <a:pt x="1188" y="70"/>
                  </a:lnTo>
                  <a:lnTo>
                    <a:pt x="1186" y="61"/>
                  </a:lnTo>
                  <a:lnTo>
                    <a:pt x="1183" y="52"/>
                  </a:lnTo>
                  <a:lnTo>
                    <a:pt x="1180" y="44"/>
                  </a:lnTo>
                  <a:lnTo>
                    <a:pt x="1176" y="35"/>
                  </a:lnTo>
                  <a:lnTo>
                    <a:pt x="1173" y="28"/>
                  </a:lnTo>
                  <a:lnTo>
                    <a:pt x="1169" y="23"/>
                  </a:lnTo>
                  <a:lnTo>
                    <a:pt x="1165" y="17"/>
                  </a:lnTo>
                  <a:lnTo>
                    <a:pt x="1160" y="13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313" y="1986"/>
              <a:ext cx="549" cy="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2614" y="1893"/>
              <a:ext cx="952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prstClr val="black"/>
                  </a:solidFill>
                  <a:latin typeface="Comic Sans MS" pitchFamily="66" charset="0"/>
                </a:rPr>
                <a:t>public</a:t>
              </a:r>
            </a:p>
            <a:p>
              <a:r>
                <a:rPr lang="en-US">
                  <a:solidFill>
                    <a:prstClr val="black"/>
                  </a:solidFill>
                  <a:latin typeface="Comic Sans MS" pitchFamily="66" charset="0"/>
                </a:rPr>
                <a:t>Internet</a:t>
              </a:r>
            </a:p>
          </p:txBody>
        </p:sp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1291" y="1988"/>
              <a:ext cx="614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append</a:t>
              </a:r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990" y="2106"/>
              <a:ext cx="3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1890" y="2106"/>
              <a:ext cx="4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28" name="Group 27"/>
            <p:cNvGrpSpPr>
              <a:grpSpLocks/>
            </p:cNvGrpSpPr>
            <p:nvPr/>
          </p:nvGrpSpPr>
          <p:grpSpPr bwMode="auto">
            <a:xfrm>
              <a:off x="1884" y="1811"/>
              <a:ext cx="788" cy="259"/>
              <a:chOff x="2340" y="2717"/>
              <a:chExt cx="788" cy="259"/>
            </a:xfrm>
          </p:grpSpPr>
          <p:grpSp>
            <p:nvGrpSpPr>
              <p:cNvPr id="30" name="Group 28"/>
              <p:cNvGrpSpPr>
                <a:grpSpLocks/>
              </p:cNvGrpSpPr>
              <p:nvPr/>
            </p:nvGrpSpPr>
            <p:grpSpPr bwMode="auto">
              <a:xfrm>
                <a:off x="2340" y="2717"/>
                <a:ext cx="386" cy="259"/>
                <a:chOff x="606" y="1961"/>
                <a:chExt cx="386" cy="259"/>
              </a:xfrm>
            </p:grpSpPr>
            <p:sp>
              <p:nvSpPr>
                <p:cNvPr id="34" name="Rectangle 29"/>
                <p:cNvSpPr>
                  <a:spLocks noChangeArrowheads="1"/>
                </p:cNvSpPr>
                <p:nvPr/>
              </p:nvSpPr>
              <p:spPr bwMode="auto">
                <a:xfrm>
                  <a:off x="606" y="1968"/>
                  <a:ext cx="354" cy="252"/>
                </a:xfrm>
                <a:prstGeom prst="rect">
                  <a:avLst/>
                </a:prstGeom>
                <a:solidFill>
                  <a:srgbClr val="0033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5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670" y="1961"/>
                  <a:ext cx="322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2000" dirty="0">
                      <a:solidFill>
                        <a:prstClr val="white"/>
                      </a:solidFill>
                      <a:latin typeface="Comic Sans MS" pitchFamily="66" charset="0"/>
                    </a:rPr>
                    <a:t>m</a:t>
                  </a:r>
                </a:p>
              </p:txBody>
            </p:sp>
          </p:grpSp>
          <p:grpSp>
            <p:nvGrpSpPr>
              <p:cNvPr id="31" name="Group 31"/>
              <p:cNvGrpSpPr>
                <a:grpSpLocks/>
              </p:cNvGrpSpPr>
              <p:nvPr/>
            </p:nvGrpSpPr>
            <p:grpSpPr bwMode="auto">
              <a:xfrm>
                <a:off x="2659" y="2724"/>
                <a:ext cx="469" cy="252"/>
                <a:chOff x="2179" y="2964"/>
                <a:chExt cx="469" cy="252"/>
              </a:xfrm>
            </p:grpSpPr>
            <p:sp>
              <p:nvSpPr>
                <p:cNvPr id="32" name="Rectangle 32"/>
                <p:cNvSpPr>
                  <a:spLocks noChangeArrowheads="1"/>
                </p:cNvSpPr>
                <p:nvPr/>
              </p:nvSpPr>
              <p:spPr bwMode="auto">
                <a:xfrm>
                  <a:off x="2214" y="2964"/>
                  <a:ext cx="354" cy="25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3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179" y="3006"/>
                  <a:ext cx="469" cy="1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900" dirty="0">
                      <a:solidFill>
                        <a:prstClr val="black"/>
                      </a:solidFill>
                      <a:latin typeface="Comic Sans MS" pitchFamily="66" charset="0"/>
                    </a:rPr>
                    <a:t>H(</a:t>
                  </a:r>
                  <a:r>
                    <a:rPr lang="en-US" sz="900" dirty="0" err="1">
                      <a:solidFill>
                        <a:prstClr val="black"/>
                      </a:solidFill>
                      <a:latin typeface="Comic Sans MS" pitchFamily="66" charset="0"/>
                    </a:rPr>
                    <a:t>m+s</a:t>
                  </a:r>
                  <a:r>
                    <a:rPr lang="en-US" sz="900" dirty="0">
                      <a:solidFill>
                        <a:prstClr val="black"/>
                      </a:solidFill>
                      <a:latin typeface="Comic Sans MS" pitchFamily="66" charset="0"/>
                    </a:rPr>
                    <a:t>)</a:t>
                  </a:r>
                </a:p>
              </p:txBody>
            </p:sp>
          </p:grpSp>
        </p:grpSp>
        <p:sp>
          <p:nvSpPr>
            <p:cNvPr id="29" name="Line 34"/>
            <p:cNvSpPr>
              <a:spLocks noChangeShapeType="1"/>
            </p:cNvSpPr>
            <p:nvPr/>
          </p:nvSpPr>
          <p:spPr bwMode="auto">
            <a:xfrm>
              <a:off x="3474" y="2106"/>
              <a:ext cx="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8" name="Group 37"/>
          <p:cNvGrpSpPr>
            <a:grpSpLocks/>
          </p:cNvGrpSpPr>
          <p:nvPr/>
        </p:nvGrpSpPr>
        <p:grpSpPr bwMode="auto">
          <a:xfrm>
            <a:off x="5986465" y="3163887"/>
            <a:ext cx="2090738" cy="1419225"/>
            <a:chOff x="3666" y="1602"/>
            <a:chExt cx="1756" cy="894"/>
          </a:xfrm>
        </p:grpSpPr>
        <p:sp>
          <p:nvSpPr>
            <p:cNvPr id="39" name="Line 38"/>
            <p:cNvSpPr>
              <a:spLocks noChangeShapeType="1"/>
            </p:cNvSpPr>
            <p:nvPr/>
          </p:nvSpPr>
          <p:spPr bwMode="auto">
            <a:xfrm>
              <a:off x="3666" y="2496"/>
              <a:ext cx="1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40" name="Group 39"/>
            <p:cNvGrpSpPr>
              <a:grpSpLocks/>
            </p:cNvGrpSpPr>
            <p:nvPr/>
          </p:nvGrpSpPr>
          <p:grpSpPr bwMode="auto">
            <a:xfrm>
              <a:off x="4650" y="1848"/>
              <a:ext cx="772" cy="501"/>
              <a:chOff x="2136" y="3336"/>
              <a:chExt cx="772" cy="501"/>
            </a:xfrm>
          </p:grpSpPr>
          <p:sp>
            <p:nvSpPr>
              <p:cNvPr id="43" name="AutoShape 40"/>
              <p:cNvSpPr>
                <a:spLocks noChangeArrowheads="1"/>
              </p:cNvSpPr>
              <p:nvPr/>
            </p:nvSpPr>
            <p:spPr bwMode="auto">
              <a:xfrm>
                <a:off x="2136" y="3336"/>
                <a:ext cx="561" cy="501"/>
              </a:xfrm>
              <a:prstGeom prst="diamond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2136" y="3483"/>
                <a:ext cx="77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400" b="1" dirty="0">
                    <a:solidFill>
                      <a:prstClr val="black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compare</a:t>
                </a:r>
              </a:p>
            </p:txBody>
          </p:sp>
        </p:grpSp>
        <p:sp>
          <p:nvSpPr>
            <p:cNvPr id="41" name="Line 42"/>
            <p:cNvSpPr>
              <a:spLocks noChangeShapeType="1"/>
            </p:cNvSpPr>
            <p:nvPr/>
          </p:nvSpPr>
          <p:spPr bwMode="auto">
            <a:xfrm flipH="1" flipV="1">
              <a:off x="4926" y="2340"/>
              <a:ext cx="6" cy="1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2" name="Freeform 43"/>
            <p:cNvSpPr>
              <a:spLocks/>
            </p:cNvSpPr>
            <p:nvPr/>
          </p:nvSpPr>
          <p:spPr bwMode="auto">
            <a:xfrm>
              <a:off x="4416" y="1602"/>
              <a:ext cx="498" cy="240"/>
            </a:xfrm>
            <a:custGeom>
              <a:avLst/>
              <a:gdLst>
                <a:gd name="T0" fmla="*/ 0 w 480"/>
                <a:gd name="T1" fmla="*/ 0 h 240"/>
                <a:gd name="T2" fmla="*/ 480 w 480"/>
                <a:gd name="T3" fmla="*/ 0 h 240"/>
                <a:gd name="T4" fmla="*/ 480 w 480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0" h="240">
                  <a:moveTo>
                    <a:pt x="0" y="0"/>
                  </a:moveTo>
                  <a:lnTo>
                    <a:pt x="480" y="0"/>
                  </a:lnTo>
                  <a:lnTo>
                    <a:pt x="480" y="24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5" name="Group 44"/>
          <p:cNvGrpSpPr>
            <a:grpSpLocks/>
          </p:cNvGrpSpPr>
          <p:nvPr/>
        </p:nvGrpSpPr>
        <p:grpSpPr bwMode="auto">
          <a:xfrm>
            <a:off x="6000751" y="2725737"/>
            <a:ext cx="1585913" cy="1857375"/>
            <a:chOff x="3678" y="1326"/>
            <a:chExt cx="1332" cy="1170"/>
          </a:xfrm>
        </p:grpSpPr>
        <p:sp>
          <p:nvSpPr>
            <p:cNvPr id="46" name="Line 45"/>
            <p:cNvSpPr>
              <a:spLocks noChangeShapeType="1"/>
            </p:cNvSpPr>
            <p:nvPr/>
          </p:nvSpPr>
          <p:spPr bwMode="auto">
            <a:xfrm>
              <a:off x="3678" y="1680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7" name="Line 46"/>
            <p:cNvSpPr>
              <a:spLocks noChangeShapeType="1"/>
            </p:cNvSpPr>
            <p:nvPr/>
          </p:nvSpPr>
          <p:spPr bwMode="auto">
            <a:xfrm>
              <a:off x="3678" y="1680"/>
              <a:ext cx="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48" name="Group 47"/>
            <p:cNvGrpSpPr>
              <a:grpSpLocks/>
            </p:cNvGrpSpPr>
            <p:nvPr/>
          </p:nvGrpSpPr>
          <p:grpSpPr bwMode="auto">
            <a:xfrm>
              <a:off x="3708" y="1769"/>
              <a:ext cx="386" cy="259"/>
              <a:chOff x="606" y="1961"/>
              <a:chExt cx="386" cy="259"/>
            </a:xfrm>
          </p:grpSpPr>
          <p:sp>
            <p:nvSpPr>
              <p:cNvPr id="58" name="Rectangle 48"/>
              <p:cNvSpPr>
                <a:spLocks noChangeArrowheads="1"/>
              </p:cNvSpPr>
              <p:nvPr/>
            </p:nvSpPr>
            <p:spPr bwMode="auto">
              <a:xfrm>
                <a:off x="606" y="1968"/>
                <a:ext cx="354" cy="252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Text Box 49"/>
              <p:cNvSpPr txBox="1">
                <a:spLocks noChangeArrowheads="1"/>
              </p:cNvSpPr>
              <p:nvPr/>
            </p:nvSpPr>
            <p:spPr bwMode="auto">
              <a:xfrm>
                <a:off x="670" y="1961"/>
                <a:ext cx="32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prstClr val="white"/>
                    </a:solidFill>
                    <a:latin typeface="Comic Sans MS" pitchFamily="66" charset="0"/>
                  </a:rPr>
                  <a:t>m</a:t>
                </a:r>
              </a:p>
            </p:txBody>
          </p:sp>
        </p:grpSp>
        <p:grpSp>
          <p:nvGrpSpPr>
            <p:cNvPr id="49" name="Group 50"/>
            <p:cNvGrpSpPr>
              <a:grpSpLocks/>
            </p:cNvGrpSpPr>
            <p:nvPr/>
          </p:nvGrpSpPr>
          <p:grpSpPr bwMode="auto">
            <a:xfrm>
              <a:off x="3679" y="2202"/>
              <a:ext cx="469" cy="252"/>
              <a:chOff x="2179" y="2964"/>
              <a:chExt cx="469" cy="252"/>
            </a:xfrm>
          </p:grpSpPr>
          <p:sp>
            <p:nvSpPr>
              <p:cNvPr id="56" name="Rectangle 51"/>
              <p:cNvSpPr>
                <a:spLocks noChangeArrowheads="1"/>
              </p:cNvSpPr>
              <p:nvPr/>
            </p:nvSpPr>
            <p:spPr bwMode="auto">
              <a:xfrm>
                <a:off x="2214" y="2964"/>
                <a:ext cx="354" cy="25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Text Box 52"/>
              <p:cNvSpPr txBox="1">
                <a:spLocks noChangeArrowheads="1"/>
              </p:cNvSpPr>
              <p:nvPr/>
            </p:nvSpPr>
            <p:spPr bwMode="auto">
              <a:xfrm>
                <a:off x="2179" y="3006"/>
                <a:ext cx="469" cy="1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900" dirty="0">
                    <a:solidFill>
                      <a:prstClr val="black"/>
                    </a:solidFill>
                    <a:latin typeface="Comic Sans MS" pitchFamily="66" charset="0"/>
                  </a:rPr>
                  <a:t>H(</a:t>
                </a:r>
                <a:r>
                  <a:rPr lang="en-US" sz="900" dirty="0" err="1">
                    <a:solidFill>
                      <a:prstClr val="black"/>
                    </a:solidFill>
                    <a:latin typeface="Comic Sans MS" pitchFamily="66" charset="0"/>
                  </a:rPr>
                  <a:t>m+s</a:t>
                </a:r>
                <a:r>
                  <a:rPr lang="en-US" sz="900" dirty="0">
                    <a:solidFill>
                      <a:prstClr val="black"/>
                    </a:solidFill>
                    <a:latin typeface="Comic Sans MS" pitchFamily="66" charset="0"/>
                  </a:rPr>
                  <a:t>)</a:t>
                </a:r>
              </a:p>
            </p:txBody>
          </p:sp>
        </p:grpSp>
        <p:grpSp>
          <p:nvGrpSpPr>
            <p:cNvPr id="50" name="Group 53"/>
            <p:cNvGrpSpPr>
              <a:grpSpLocks/>
            </p:cNvGrpSpPr>
            <p:nvPr/>
          </p:nvGrpSpPr>
          <p:grpSpPr bwMode="auto">
            <a:xfrm>
              <a:off x="3892" y="1326"/>
              <a:ext cx="1118" cy="423"/>
              <a:chOff x="3892" y="1326"/>
              <a:chExt cx="1118" cy="423"/>
            </a:xfrm>
          </p:grpSpPr>
          <p:sp>
            <p:nvSpPr>
              <p:cNvPr id="51" name="Rectangle 54"/>
              <p:cNvSpPr>
                <a:spLocks noChangeArrowheads="1"/>
              </p:cNvSpPr>
              <p:nvPr/>
            </p:nvSpPr>
            <p:spPr bwMode="auto">
              <a:xfrm>
                <a:off x="3911" y="1482"/>
                <a:ext cx="507" cy="26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Text Box 55"/>
              <p:cNvSpPr txBox="1">
                <a:spLocks noChangeArrowheads="1"/>
              </p:cNvSpPr>
              <p:nvPr/>
            </p:nvSpPr>
            <p:spPr bwMode="auto">
              <a:xfrm>
                <a:off x="3892" y="1497"/>
                <a:ext cx="563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sz="2000" dirty="0">
                    <a:solidFill>
                      <a:srgbClr val="0070C0"/>
                    </a:solidFill>
                    <a:latin typeface="Comic Sans MS" pitchFamily="66" charset="0"/>
                  </a:rPr>
                  <a:t>H(.)</a:t>
                </a:r>
              </a:p>
            </p:txBody>
          </p:sp>
          <p:grpSp>
            <p:nvGrpSpPr>
              <p:cNvPr id="53" name="Group 56"/>
              <p:cNvGrpSpPr>
                <a:grpSpLocks/>
              </p:cNvGrpSpPr>
              <p:nvPr/>
            </p:nvGrpSpPr>
            <p:grpSpPr bwMode="auto">
              <a:xfrm>
                <a:off x="4435" y="1326"/>
                <a:ext cx="575" cy="252"/>
                <a:chOff x="2179" y="2964"/>
                <a:chExt cx="575" cy="252"/>
              </a:xfrm>
            </p:grpSpPr>
            <p:sp>
              <p:nvSpPr>
                <p:cNvPr id="54" name="Rectangle 57"/>
                <p:cNvSpPr>
                  <a:spLocks noChangeArrowheads="1"/>
                </p:cNvSpPr>
                <p:nvPr/>
              </p:nvSpPr>
              <p:spPr bwMode="auto">
                <a:xfrm>
                  <a:off x="2214" y="2964"/>
                  <a:ext cx="354" cy="25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5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2179" y="3006"/>
                  <a:ext cx="575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sz="1200">
                      <a:solidFill>
                        <a:prstClr val="black"/>
                      </a:solidFill>
                      <a:latin typeface="Comic Sans MS" pitchFamily="66" charset="0"/>
                    </a:rPr>
                    <a:t>H(m+s)</a:t>
                  </a:r>
                </a:p>
              </p:txBody>
            </p:sp>
          </p:grpSp>
        </p:grpSp>
      </p:grpSp>
      <p:sp>
        <p:nvSpPr>
          <p:cNvPr id="36" name="Freeform 35"/>
          <p:cNvSpPr>
            <a:spLocks/>
          </p:cNvSpPr>
          <p:nvPr/>
        </p:nvSpPr>
        <p:spPr bwMode="auto">
          <a:xfrm>
            <a:off x="5972176" y="2763840"/>
            <a:ext cx="278606" cy="314325"/>
          </a:xfrm>
          <a:custGeom>
            <a:avLst/>
            <a:gdLst>
              <a:gd name="T0" fmla="*/ 0 w 360"/>
              <a:gd name="T1" fmla="*/ 0 h 210"/>
              <a:gd name="T2" fmla="*/ 0 w 360"/>
              <a:gd name="T3" fmla="*/ 210 h 210"/>
              <a:gd name="T4" fmla="*/ 360 w 360"/>
              <a:gd name="T5" fmla="*/ 21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0" h="210">
                <a:moveTo>
                  <a:pt x="0" y="0"/>
                </a:moveTo>
                <a:lnTo>
                  <a:pt x="0" y="210"/>
                </a:lnTo>
                <a:lnTo>
                  <a:pt x="360" y="21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5362230" y="2078501"/>
            <a:ext cx="1664623" cy="689273"/>
            <a:chOff x="6103109" y="1447562"/>
            <a:chExt cx="2219499" cy="689273"/>
          </a:xfrm>
        </p:grpSpPr>
        <p:sp>
          <p:nvSpPr>
            <p:cNvPr id="37" name="Text Box 36"/>
            <p:cNvSpPr txBox="1">
              <a:spLocks noChangeArrowheads="1"/>
            </p:cNvSpPr>
            <p:nvPr/>
          </p:nvSpPr>
          <p:spPr bwMode="auto">
            <a:xfrm>
              <a:off x="6781432" y="1736725"/>
              <a:ext cx="41293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  <a:latin typeface="Comic Sans MS" pitchFamily="66" charset="0"/>
                </a:rPr>
                <a:t>s</a:t>
              </a:r>
            </a:p>
          </p:txBody>
        </p:sp>
        <p:sp>
          <p:nvSpPr>
            <p:cNvPr id="60" name="Text Box 59"/>
            <p:cNvSpPr txBox="1">
              <a:spLocks noChangeArrowheads="1"/>
            </p:cNvSpPr>
            <p:nvPr/>
          </p:nvSpPr>
          <p:spPr bwMode="auto">
            <a:xfrm>
              <a:off x="6103109" y="1447562"/>
              <a:ext cx="221949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(shared secret)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894784" y="4953000"/>
            <a:ext cx="1664623" cy="685800"/>
            <a:chOff x="2526377" y="4953000"/>
            <a:chExt cx="2219499" cy="685800"/>
          </a:xfrm>
        </p:grpSpPr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3224214" y="4953000"/>
              <a:ext cx="41293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  <a:latin typeface="Comic Sans MS" pitchFamily="66" charset="0"/>
                </a:rPr>
                <a:t>s</a:t>
              </a:r>
            </a:p>
          </p:txBody>
        </p:sp>
        <p:sp>
          <p:nvSpPr>
            <p:cNvPr id="61" name="Text Box 7"/>
            <p:cNvSpPr txBox="1">
              <a:spLocks noChangeArrowheads="1"/>
            </p:cNvSpPr>
            <p:nvPr/>
          </p:nvSpPr>
          <p:spPr bwMode="auto">
            <a:xfrm>
              <a:off x="2526377" y="5269468"/>
              <a:ext cx="221949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(shared secret)</a:t>
              </a:r>
            </a:p>
          </p:txBody>
        </p:sp>
      </p:grpSp>
      <p:pic>
        <p:nvPicPr>
          <p:cNvPr id="62" name="Picture 6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971550" y="2473098"/>
            <a:ext cx="1369012" cy="1524000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8"/>
          <a:stretch/>
        </p:blipFill>
        <p:spPr>
          <a:xfrm>
            <a:off x="7336747" y="4038600"/>
            <a:ext cx="1292905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8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Integrity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Basic uses of Hash functions</a:t>
            </a:r>
            <a:endParaRPr lang="en-US" b="1" u="sng" dirty="0"/>
          </a:p>
          <a:p>
            <a:r>
              <a:rPr lang="en-US" dirty="0"/>
              <a:t>User authentication</a:t>
            </a:r>
          </a:p>
          <a:p>
            <a:r>
              <a:rPr lang="en-US" dirty="0"/>
              <a:t>Message authenticity</a:t>
            </a:r>
          </a:p>
          <a:p>
            <a:r>
              <a:rPr lang="en-US" dirty="0"/>
              <a:t>Compact file identifiers</a:t>
            </a:r>
          </a:p>
          <a:p>
            <a:r>
              <a:rPr lang="en-US" dirty="0"/>
              <a:t>Used in digital signatures </a:t>
            </a:r>
          </a:p>
        </p:txBody>
      </p:sp>
    </p:spTree>
    <p:extLst>
      <p:ext uri="{BB962C8B-B14F-4D97-AF65-F5344CB8AC3E}">
        <p14:creationId xmlns:p14="http://schemas.microsoft.com/office/powerpoint/2010/main" val="296212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Integrity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 smtClean="0"/>
              <a:t>Hash Functions</a:t>
            </a:r>
          </a:p>
          <a:p>
            <a:r>
              <a:rPr lang="en-US" dirty="0" smtClean="0"/>
              <a:t>To </a:t>
            </a:r>
            <a:r>
              <a:rPr lang="en-US" dirty="0"/>
              <a:t>be useful for message i</a:t>
            </a:r>
            <a:r>
              <a:rPr lang="en-US" dirty="0" smtClean="0"/>
              <a:t>ntegrity, </a:t>
            </a:r>
            <a:r>
              <a:rPr lang="en-US" dirty="0"/>
              <a:t>a </a:t>
            </a:r>
            <a:r>
              <a:rPr lang="en-US" u="sng" dirty="0"/>
              <a:t>hash function H must have</a:t>
            </a:r>
            <a:r>
              <a:rPr lang="en-US" dirty="0"/>
              <a:t> the following properties:</a:t>
            </a:r>
          </a:p>
          <a:p>
            <a:pPr lvl="1">
              <a:buFont typeface="+mj-lt"/>
              <a:buAutoNum type="arabicPeriod"/>
            </a:pPr>
            <a:r>
              <a:rPr lang="en-US" sz="2400" dirty="0"/>
              <a:t>H can be applied to a block of data of any size</a:t>
            </a:r>
          </a:p>
          <a:p>
            <a:pPr lvl="1">
              <a:buFont typeface="+mj-lt"/>
              <a:buAutoNum type="arabicPeriod"/>
            </a:pPr>
            <a:r>
              <a:rPr lang="en-US" sz="2400" dirty="0"/>
              <a:t>H produces a fixed-length output</a:t>
            </a:r>
          </a:p>
          <a:p>
            <a:pPr lvl="1">
              <a:buFont typeface="+mj-lt"/>
              <a:buAutoNum type="arabicPeriod"/>
            </a:pPr>
            <a:r>
              <a:rPr lang="en-US" sz="2400" dirty="0"/>
              <a:t>H(x) is relatively easy to compute for any given </a:t>
            </a:r>
            <a:r>
              <a:rPr lang="en-US" sz="2400" dirty="0" smtClean="0"/>
              <a:t>x</a:t>
            </a:r>
            <a:endParaRPr lang="en-US" sz="2400" dirty="0"/>
          </a:p>
          <a:p>
            <a:pPr lvl="1">
              <a:buFont typeface="+mj-lt"/>
              <a:buAutoNum type="arabicPeriod"/>
            </a:pPr>
            <a:r>
              <a:rPr lang="en-US" sz="2400" dirty="0"/>
              <a:t>For any given code h, it is computationally infeasible to find x such that H(x) = </a:t>
            </a:r>
            <a:r>
              <a:rPr lang="en-US" sz="2400" dirty="0" smtClean="0"/>
              <a:t>h</a:t>
            </a:r>
          </a:p>
          <a:p>
            <a:pPr lvl="1">
              <a:buFont typeface="+mj-lt"/>
              <a:buAutoNum type="arabicPeriod"/>
            </a:pPr>
            <a:r>
              <a:rPr lang="en-US" sz="2400" dirty="0" smtClean="0"/>
              <a:t>For any given block x, it is computationally infeasible to find y ≠ x with H(y) = H(x) (</a:t>
            </a:r>
            <a:r>
              <a:rPr lang="en-US" sz="2400" u="sng" dirty="0" smtClean="0"/>
              <a:t>referred to as weak collision property</a:t>
            </a:r>
            <a:r>
              <a:rPr lang="en-US" sz="2400" dirty="0" smtClean="0"/>
              <a:t>)</a:t>
            </a:r>
          </a:p>
          <a:p>
            <a:pPr lvl="1">
              <a:buFont typeface="+mj-lt"/>
              <a:buAutoNum type="arabicPeriod"/>
            </a:pPr>
            <a:r>
              <a:rPr lang="en-US" sz="2400" dirty="0" smtClean="0"/>
              <a:t>It is computationally infeasible to find any pair (x, y) such that H(x) = H(y) (</a:t>
            </a:r>
            <a:r>
              <a:rPr lang="en-US" sz="2400" u="sng" dirty="0" smtClean="0"/>
              <a:t>referred to as strong collision property</a:t>
            </a:r>
            <a:r>
              <a:rPr lang="en-US" sz="2400" dirty="0" smtClean="0"/>
              <a:t>)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12667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Integrity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last </a:t>
            </a:r>
            <a:r>
              <a:rPr lang="en-US" dirty="0"/>
              <a:t>property protects against a sophisticated </a:t>
            </a:r>
            <a:r>
              <a:rPr lang="en-US" dirty="0" smtClean="0"/>
              <a:t>class of </a:t>
            </a:r>
            <a:r>
              <a:rPr lang="en-US" dirty="0"/>
              <a:t>attack known as the </a:t>
            </a:r>
            <a:r>
              <a:rPr lang="en-US" b="1" dirty="0"/>
              <a:t>birthday </a:t>
            </a:r>
            <a:r>
              <a:rPr lang="en-US" b="1" dirty="0" smtClean="0"/>
              <a:t>attack</a:t>
            </a:r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r>
              <a:rPr lang="en-US" b="1" u="sng" dirty="0" smtClean="0"/>
              <a:t>Message </a:t>
            </a:r>
            <a:r>
              <a:rPr lang="en-US" b="1" u="sng" dirty="0"/>
              <a:t>Digests: Hash Function Algorithms</a:t>
            </a:r>
          </a:p>
          <a:p>
            <a:r>
              <a:rPr lang="en-US" u="sng" dirty="0" smtClean="0"/>
              <a:t>MD5</a:t>
            </a:r>
            <a:r>
              <a:rPr lang="en-US" dirty="0" smtClean="0"/>
              <a:t> </a:t>
            </a:r>
            <a:r>
              <a:rPr lang="en-US" dirty="0"/>
              <a:t>hash function widely used (RFC 1321) </a:t>
            </a:r>
          </a:p>
          <a:p>
            <a:pPr lvl="1"/>
            <a:r>
              <a:rPr lang="en-US" dirty="0"/>
              <a:t>Computes 128-bit message digest in 4-step process</a:t>
            </a:r>
          </a:p>
          <a:p>
            <a:r>
              <a:rPr lang="en-US" u="sng" dirty="0"/>
              <a:t>SHA-1</a:t>
            </a:r>
            <a:r>
              <a:rPr lang="en-US" dirty="0"/>
              <a:t> is also used, US standard [NIST, FIPS PUB 180-1]</a:t>
            </a:r>
          </a:p>
          <a:p>
            <a:pPr lvl="1"/>
            <a:r>
              <a:rPr lang="en-US" dirty="0"/>
              <a:t>160-bit message digest</a:t>
            </a:r>
          </a:p>
          <a:p>
            <a:endParaRPr lang="en-US" dirty="0"/>
          </a:p>
          <a:p>
            <a:r>
              <a:rPr lang="en-US" dirty="0"/>
              <a:t>Issues in both MD5 and SHA-1 have been found in recent years though</a:t>
            </a:r>
          </a:p>
          <a:p>
            <a:r>
              <a:rPr lang="en-US" dirty="0"/>
              <a:t>These algorithms are now being phased out more quickly in favor of other, newer approaches like SHA-2, and so </a:t>
            </a:r>
            <a:r>
              <a:rPr lang="en-US" dirty="0" smtClean="0"/>
              <a:t>on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26268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</a:t>
            </a:r>
            <a:r>
              <a:rPr lang="en-US" sz="3200" dirty="0" smtClean="0"/>
              <a:t>Integrity – The Birthday Attack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dirty="0"/>
              <a:t>Birthday attack makes use of what’s known as the </a:t>
            </a:r>
            <a:r>
              <a:rPr lang="en-US" u="sng" dirty="0"/>
              <a:t>Birthday </a:t>
            </a:r>
            <a:r>
              <a:rPr lang="en-US" u="sng" dirty="0" smtClean="0"/>
              <a:t>Paradox</a:t>
            </a:r>
            <a:r>
              <a:rPr lang="en-US" dirty="0" smtClean="0"/>
              <a:t> </a:t>
            </a:r>
            <a:r>
              <a:rPr lang="en-US" dirty="0"/>
              <a:t>to try to attack cryptographic hash functions</a:t>
            </a:r>
          </a:p>
          <a:p>
            <a:endParaRPr lang="en-US" dirty="0"/>
          </a:p>
          <a:p>
            <a:r>
              <a:rPr lang="en-US" dirty="0"/>
              <a:t>The birthday paradox can be stated as </a:t>
            </a:r>
            <a:r>
              <a:rPr lang="en-US" dirty="0" smtClean="0"/>
              <a:t>follows:</a:t>
            </a:r>
          </a:p>
          <a:p>
            <a:pPr marL="0" indent="0" algn="ctr">
              <a:buNone/>
            </a:pPr>
            <a:r>
              <a:rPr lang="en-US" i="1" dirty="0" smtClean="0"/>
              <a:t>“What </a:t>
            </a:r>
            <a:r>
              <a:rPr lang="en-US" i="1" dirty="0"/>
              <a:t>is the minimum value of k such that the probability is greater than 0.5 that at least two people in a group of k people have the same birthday</a:t>
            </a:r>
            <a:r>
              <a:rPr lang="en-US" i="1" dirty="0" smtClean="0"/>
              <a:t>?”</a:t>
            </a:r>
          </a:p>
          <a:p>
            <a:r>
              <a:rPr lang="en-US" dirty="0" smtClean="0"/>
              <a:t>It </a:t>
            </a:r>
            <a:r>
              <a:rPr lang="en-US" dirty="0"/>
              <a:t>is a probability problem that deals with the probability of at least one pair of people in a group of </a:t>
            </a:r>
            <a:r>
              <a:rPr lang="en-US" i="1" dirty="0"/>
              <a:t>n</a:t>
            </a:r>
            <a:r>
              <a:rPr lang="en-US" dirty="0"/>
              <a:t> people that share the same birthday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turns out that the answer is </a:t>
            </a:r>
            <a:r>
              <a:rPr lang="en-US" b="1" u="sng" dirty="0" smtClean="0"/>
              <a:t>23 (and not 183)</a:t>
            </a:r>
            <a:r>
              <a:rPr lang="en-US" dirty="0" smtClean="0"/>
              <a:t>, </a:t>
            </a:r>
            <a:r>
              <a:rPr lang="en-US" dirty="0"/>
              <a:t>which is quite a surprising </a:t>
            </a:r>
            <a:r>
              <a:rPr lang="en-US" dirty="0" smtClean="0"/>
              <a:t>result</a:t>
            </a:r>
          </a:p>
          <a:p>
            <a:r>
              <a:rPr lang="en-US" sz="1800" b="1" i="1" dirty="0"/>
              <a:t>https://danielmiessler.com/study/birthday_attack/</a:t>
            </a:r>
          </a:p>
        </p:txBody>
      </p:sp>
    </p:spTree>
    <p:extLst>
      <p:ext uri="{BB962C8B-B14F-4D97-AF65-F5344CB8AC3E}">
        <p14:creationId xmlns:p14="http://schemas.microsoft.com/office/powerpoint/2010/main" val="304390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</a:t>
            </a:r>
            <a:r>
              <a:rPr lang="en-US" sz="3200" dirty="0" smtClean="0"/>
              <a:t>Integrity – The Birthday Attack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</a:t>
            </a:r>
            <a:r>
              <a:rPr lang="en-US" dirty="0"/>
              <a:t>other </a:t>
            </a:r>
            <a:r>
              <a:rPr lang="en-US" dirty="0" smtClean="0"/>
              <a:t>words, </a:t>
            </a:r>
            <a:r>
              <a:rPr lang="en-US" dirty="0"/>
              <a:t>if there are 23 people in a room, the probability that two of them have the same birthday is approximately 0.5</a:t>
            </a:r>
          </a:p>
          <a:p>
            <a:endParaRPr lang="en-US" dirty="0"/>
          </a:p>
          <a:p>
            <a:r>
              <a:rPr lang="en-US" dirty="0"/>
              <a:t>If there </a:t>
            </a:r>
            <a:r>
              <a:rPr lang="en-US" dirty="0" smtClean="0"/>
              <a:t>are 100 </a:t>
            </a:r>
            <a:r>
              <a:rPr lang="en-US" dirty="0"/>
              <a:t>people (i.e. k=100) then the probability is .9999997, i.e. you are almost guaranteed that there will be a </a:t>
            </a:r>
            <a:r>
              <a:rPr lang="en-US" dirty="0" smtClean="0"/>
              <a:t>duplicate</a:t>
            </a:r>
          </a:p>
          <a:p>
            <a:endParaRPr lang="en-US" dirty="0"/>
          </a:p>
          <a:p>
            <a:r>
              <a:rPr lang="en-US" dirty="0"/>
              <a:t>Although this is the case for birthdays we can </a:t>
            </a:r>
            <a:r>
              <a:rPr lang="en-US" dirty="0" smtClean="0"/>
              <a:t>generalize </a:t>
            </a:r>
            <a:r>
              <a:rPr lang="en-US" dirty="0"/>
              <a:t>it for </a:t>
            </a:r>
            <a:r>
              <a:rPr lang="en-US" i="1" dirty="0"/>
              <a:t>n</a:t>
            </a:r>
            <a:r>
              <a:rPr lang="en-US" dirty="0"/>
              <a:t> equally likely values (in the case of birthdays </a:t>
            </a:r>
            <a:r>
              <a:rPr lang="en-US" dirty="0" smtClean="0"/>
              <a:t>n=365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4872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</a:t>
            </a:r>
            <a:r>
              <a:rPr lang="en-US" sz="3200" dirty="0" smtClean="0"/>
              <a:t>Integrity – The Birthday Attack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 the problem can be stated like </a:t>
            </a:r>
            <a:r>
              <a:rPr lang="en-US" dirty="0" smtClean="0"/>
              <a:t>this;</a:t>
            </a:r>
          </a:p>
          <a:p>
            <a:pPr marL="0" indent="0">
              <a:buNone/>
            </a:pPr>
            <a:r>
              <a:rPr lang="en-US" i="1" dirty="0" smtClean="0"/>
              <a:t>Given </a:t>
            </a:r>
            <a:r>
              <a:rPr lang="en-US" i="1" dirty="0"/>
              <a:t>a random variable that is an integer with uniform distribution between </a:t>
            </a:r>
            <a:r>
              <a:rPr lang="en-US" b="1" i="1" dirty="0"/>
              <a:t>1</a:t>
            </a:r>
            <a:r>
              <a:rPr lang="en-US" i="1" dirty="0"/>
              <a:t> and </a:t>
            </a:r>
            <a:r>
              <a:rPr lang="en-US" b="1" i="1" dirty="0"/>
              <a:t>n</a:t>
            </a:r>
            <a:r>
              <a:rPr lang="en-US" i="1" dirty="0"/>
              <a:t> and a selection of </a:t>
            </a:r>
            <a:r>
              <a:rPr lang="en-US" b="1" i="1" dirty="0"/>
              <a:t>k</a:t>
            </a:r>
            <a:r>
              <a:rPr lang="en-US" i="1" dirty="0"/>
              <a:t> instances (</a:t>
            </a:r>
            <a:r>
              <a:rPr lang="en-US" b="1" i="1" dirty="0"/>
              <a:t>k ≤ n</a:t>
            </a:r>
            <a:r>
              <a:rPr lang="en-US" i="1" dirty="0"/>
              <a:t>) of the random variable, what is the probability </a:t>
            </a:r>
            <a:r>
              <a:rPr lang="en-US" b="1" i="1" dirty="0"/>
              <a:t>P(n, k)</a:t>
            </a:r>
            <a:r>
              <a:rPr lang="en-US" i="1" dirty="0"/>
              <a:t>, that there is at least one duplicate</a:t>
            </a:r>
            <a:r>
              <a:rPr lang="en-US" i="1" dirty="0" smtClean="0"/>
              <a:t>?</a:t>
            </a:r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r>
              <a:rPr lang="en-US" dirty="0" smtClean="0"/>
              <a:t>It has been found that;</a:t>
            </a:r>
            <a:endParaRPr lang="en-US" dirty="0"/>
          </a:p>
          <a:p>
            <a:r>
              <a:rPr lang="en-US" dirty="0" smtClean="0"/>
              <a:t>K = 1.18</a:t>
            </a:r>
            <a:r>
              <a:rPr lang="en-US" dirty="0"/>
              <a:t>√n ≈ √</a:t>
            </a:r>
            <a:r>
              <a:rPr lang="en-US" dirty="0" smtClean="0"/>
              <a:t>n</a:t>
            </a:r>
          </a:p>
          <a:p>
            <a:r>
              <a:rPr lang="en-US" dirty="0" smtClean="0"/>
              <a:t>For </a:t>
            </a:r>
            <a:r>
              <a:rPr lang="en-US" dirty="0"/>
              <a:t>n = </a:t>
            </a:r>
            <a:r>
              <a:rPr lang="en-US" dirty="0" smtClean="0"/>
              <a:t>365, almost </a:t>
            </a:r>
            <a:r>
              <a:rPr lang="en-US" dirty="0"/>
              <a:t>equal to </a:t>
            </a:r>
            <a:r>
              <a:rPr lang="en-US" dirty="0" smtClean="0"/>
              <a:t>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37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</a:t>
            </a:r>
            <a:r>
              <a:rPr lang="en-US" sz="3200" dirty="0" smtClean="0"/>
              <a:t>Integrity – The Birthday Attack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Now lets look at this in terms of hash </a:t>
            </a:r>
            <a:r>
              <a:rPr lang="en-US" dirty="0" smtClean="0"/>
              <a:t>codes</a:t>
            </a:r>
            <a:endParaRPr lang="en-US" dirty="0"/>
          </a:p>
          <a:p>
            <a:r>
              <a:rPr lang="en-US" dirty="0"/>
              <a:t>Remember a hash code is a function that takes a variable length message </a:t>
            </a:r>
            <a:r>
              <a:rPr lang="en-US" i="1" dirty="0"/>
              <a:t>M</a:t>
            </a:r>
            <a:r>
              <a:rPr lang="en-US" dirty="0"/>
              <a:t> and produces a fixed length message digest</a:t>
            </a:r>
          </a:p>
          <a:p>
            <a:r>
              <a:rPr lang="en-US" dirty="0"/>
              <a:t>Assuming the length of the digest is </a:t>
            </a:r>
            <a:r>
              <a:rPr lang="en-US" i="1" dirty="0"/>
              <a:t>m</a:t>
            </a:r>
            <a:r>
              <a:rPr lang="en-US" dirty="0"/>
              <a:t> then there are 2</a:t>
            </a:r>
            <a:r>
              <a:rPr lang="en-US" baseline="30000" dirty="0"/>
              <a:t>m</a:t>
            </a:r>
            <a:r>
              <a:rPr lang="en-US" dirty="0"/>
              <a:t> possible message digests</a:t>
            </a:r>
          </a:p>
          <a:p>
            <a:r>
              <a:rPr lang="en-US" dirty="0" smtClean="0"/>
              <a:t>However (normally), </a:t>
            </a:r>
            <a:r>
              <a:rPr lang="en-US" dirty="0"/>
              <a:t>because the length of </a:t>
            </a:r>
            <a:r>
              <a:rPr lang="en-US" i="1" dirty="0"/>
              <a:t>M</a:t>
            </a:r>
            <a:r>
              <a:rPr lang="en-US" dirty="0"/>
              <a:t> will generally be greater than </a:t>
            </a:r>
            <a:r>
              <a:rPr lang="en-US" i="1" dirty="0"/>
              <a:t>m</a:t>
            </a:r>
            <a:r>
              <a:rPr lang="en-US" dirty="0"/>
              <a:t> this implies that more than one message will be mapped to the same digest</a:t>
            </a:r>
          </a:p>
          <a:p>
            <a:r>
              <a:rPr lang="en-US" dirty="0" smtClean="0"/>
              <a:t>The </a:t>
            </a:r>
            <a:r>
              <a:rPr lang="en-US" dirty="0"/>
              <a:t>idea is to make it computationally infeasible to find two messages that map to the same </a:t>
            </a:r>
            <a:r>
              <a:rPr lang="en-US" dirty="0" smtClean="0"/>
              <a:t>digest (</a:t>
            </a:r>
            <a:r>
              <a:rPr lang="en-US" u="sng" dirty="0"/>
              <a:t>strong collision property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04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</a:t>
            </a:r>
            <a:r>
              <a:rPr lang="en-US" sz="3200" dirty="0" smtClean="0"/>
              <a:t>Integrity – The Birthday Attack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</a:t>
            </a:r>
            <a:r>
              <a:rPr lang="en-US" dirty="0"/>
              <a:t>we apply </a:t>
            </a:r>
            <a:r>
              <a:rPr lang="en-US" i="1" dirty="0"/>
              <a:t>k</a:t>
            </a:r>
            <a:r>
              <a:rPr lang="en-US" dirty="0"/>
              <a:t> random messages to our hash code what must the value of </a:t>
            </a:r>
            <a:r>
              <a:rPr lang="en-US" i="1" dirty="0"/>
              <a:t>k</a:t>
            </a:r>
            <a:r>
              <a:rPr lang="en-US" dirty="0"/>
              <a:t> be so that there is the probability of 0.5 that at least one duplicate (i.e. H(x) = H(y) will occur for some inputs x, y)?</a:t>
            </a:r>
          </a:p>
          <a:p>
            <a:pPr lvl="1"/>
            <a:r>
              <a:rPr lang="en-US" dirty="0"/>
              <a:t>This is the same as the question we asked about the birthday </a:t>
            </a:r>
            <a:r>
              <a:rPr lang="en-US" dirty="0" smtClean="0"/>
              <a:t>duplicates</a:t>
            </a:r>
          </a:p>
          <a:p>
            <a:endParaRPr lang="en-US" dirty="0" smtClean="0"/>
          </a:p>
          <a:p>
            <a:r>
              <a:rPr lang="en-US" dirty="0" smtClean="0"/>
              <a:t>Answer is simple;</a:t>
            </a:r>
          </a:p>
          <a:p>
            <a:pPr marL="0" indent="0">
              <a:buNone/>
            </a:pPr>
            <a:r>
              <a:rPr lang="en-US" dirty="0" smtClean="0"/>
              <a:t>k </a:t>
            </a:r>
            <a:r>
              <a:rPr lang="en-US" dirty="0"/>
              <a:t>= √2</a:t>
            </a:r>
            <a:r>
              <a:rPr lang="en-US" baseline="30000" dirty="0"/>
              <a:t>m</a:t>
            </a:r>
            <a:r>
              <a:rPr lang="en-US" dirty="0"/>
              <a:t> = </a:t>
            </a:r>
            <a:r>
              <a:rPr lang="en-US" dirty="0" smtClean="0"/>
              <a:t>2</a:t>
            </a:r>
            <a:r>
              <a:rPr lang="en-US" baseline="30000" dirty="0" smtClean="0"/>
              <a:t>m/2</a:t>
            </a:r>
            <a:r>
              <a:rPr lang="en-US" dirty="0" smtClean="0"/>
              <a:t> (as n here is 2</a:t>
            </a:r>
            <a:r>
              <a:rPr lang="en-US" baseline="30000" dirty="0" smtClean="0"/>
              <a:t>m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77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</a:t>
            </a:r>
            <a:r>
              <a:rPr lang="en-US" sz="3200" dirty="0" smtClean="0"/>
              <a:t>Integrity – The Birthday Attack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we use a 64-bit hash code then the level of </a:t>
            </a:r>
            <a:r>
              <a:rPr lang="en-US" dirty="0" smtClean="0"/>
              <a:t>effort required </a:t>
            </a:r>
            <a:r>
              <a:rPr lang="en-US" dirty="0"/>
              <a:t>is only on the order of 2</a:t>
            </a:r>
            <a:r>
              <a:rPr lang="en-US" baseline="30000" dirty="0"/>
              <a:t>m/2</a:t>
            </a:r>
            <a:r>
              <a:rPr lang="en-US" dirty="0"/>
              <a:t> = 2</a:t>
            </a:r>
            <a:r>
              <a:rPr lang="en-US" baseline="30000" dirty="0"/>
              <a:t>64/2</a:t>
            </a:r>
            <a:r>
              <a:rPr lang="en-US" dirty="0"/>
              <a:t> = 2</a:t>
            </a:r>
            <a:r>
              <a:rPr lang="en-US" baseline="30000" dirty="0"/>
              <a:t>32</a:t>
            </a:r>
            <a:r>
              <a:rPr lang="en-US" dirty="0"/>
              <a:t> </a:t>
            </a:r>
            <a:r>
              <a:rPr lang="en-US" dirty="0" smtClean="0"/>
              <a:t>which is </a:t>
            </a:r>
            <a:r>
              <a:rPr lang="en-US" dirty="0"/>
              <a:t>clearly not sufficient to withstand </a:t>
            </a:r>
            <a:r>
              <a:rPr lang="en-US" dirty="0" smtClean="0"/>
              <a:t>today’s computational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67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</a:t>
            </a:r>
            <a:r>
              <a:rPr lang="en-US" sz="3200" dirty="0" smtClean="0"/>
              <a:t>Integrity – The Birthday Attack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h, attacker computes m</a:t>
            </a:r>
            <a:r>
              <a:rPr lang="en-US" dirty="0" smtClean="0"/>
              <a:t>, m</a:t>
            </a:r>
            <a:r>
              <a:rPr lang="en-US" dirty="0"/>
              <a:t>’ such that h(m) = h(m</a:t>
            </a:r>
            <a:r>
              <a:rPr lang="en-US" dirty="0" smtClean="0"/>
              <a:t>’)</a:t>
            </a:r>
          </a:p>
          <a:p>
            <a:pPr lvl="1"/>
            <a:r>
              <a:rPr lang="en-US" dirty="0"/>
              <a:t>generate t = </a:t>
            </a:r>
            <a:r>
              <a:rPr lang="en-US" dirty="0" smtClean="0"/>
              <a:t>2</a:t>
            </a:r>
            <a:r>
              <a:rPr lang="en-US" baseline="30000" dirty="0"/>
              <a:t>n</a:t>
            </a:r>
            <a:r>
              <a:rPr lang="en-US" baseline="30000" dirty="0" smtClean="0"/>
              <a:t>/2</a:t>
            </a:r>
            <a:r>
              <a:rPr lang="en-US" dirty="0" smtClean="0"/>
              <a:t> variations on </a:t>
            </a:r>
            <a:r>
              <a:rPr lang="en-US" dirty="0"/>
              <a:t>m (all of which convey essentially the same meaning)</a:t>
            </a:r>
          </a:p>
          <a:p>
            <a:pPr lvl="1"/>
            <a:r>
              <a:rPr lang="en-US" dirty="0" smtClean="0"/>
              <a:t>generate </a:t>
            </a:r>
            <a:r>
              <a:rPr lang="en-US" dirty="0"/>
              <a:t>a minor modification </a:t>
            </a:r>
            <a:r>
              <a:rPr lang="en-US" dirty="0" smtClean="0"/>
              <a:t>m’ </a:t>
            </a:r>
            <a:r>
              <a:rPr lang="en-US" dirty="0"/>
              <a:t>of </a:t>
            </a:r>
            <a:r>
              <a:rPr lang="en-US" dirty="0" smtClean="0"/>
              <a:t>m (equal in number as that of m)</a:t>
            </a:r>
          </a:p>
          <a:p>
            <a:pPr lvl="1"/>
            <a:r>
              <a:rPr lang="en-US" dirty="0"/>
              <a:t>The two sets of messages </a:t>
            </a:r>
            <a:r>
              <a:rPr lang="en-US" dirty="0" smtClean="0"/>
              <a:t>(m m’) are </a:t>
            </a:r>
            <a:r>
              <a:rPr lang="en-US" dirty="0"/>
              <a:t>compared to find a pair of messages that produce the same hash </a:t>
            </a:r>
            <a:r>
              <a:rPr lang="en-US" dirty="0" smtClean="0"/>
              <a:t>code (h)</a:t>
            </a:r>
            <a:endParaRPr lang="en-US" dirty="0"/>
          </a:p>
          <a:p>
            <a:pPr lvl="1"/>
            <a:r>
              <a:rPr lang="en-US" dirty="0"/>
              <a:t>repeat the above step until a match is found (this is </a:t>
            </a:r>
            <a:r>
              <a:rPr lang="en-US" dirty="0" smtClean="0"/>
              <a:t>expected after </a:t>
            </a:r>
            <a:r>
              <a:rPr lang="en-US" i="1" dirty="0"/>
              <a:t>t</a:t>
            </a:r>
            <a:r>
              <a:rPr lang="en-US" dirty="0"/>
              <a:t> steps)</a:t>
            </a:r>
          </a:p>
          <a:p>
            <a:endParaRPr lang="en-US" dirty="0" smtClean="0"/>
          </a:p>
          <a:p>
            <a:r>
              <a:rPr lang="en-US" dirty="0" smtClean="0"/>
              <a:t>Attacker </a:t>
            </a:r>
            <a:r>
              <a:rPr lang="en-US" dirty="0"/>
              <a:t>gives m to </a:t>
            </a:r>
            <a:r>
              <a:rPr lang="en-US" dirty="0" smtClean="0"/>
              <a:t>the ‘source’ </a:t>
            </a:r>
            <a:r>
              <a:rPr lang="en-US" dirty="0"/>
              <a:t>to hash-then-sign</a:t>
            </a:r>
          </a:p>
          <a:p>
            <a:r>
              <a:rPr lang="en-US" dirty="0" smtClean="0"/>
              <a:t>consequences</a:t>
            </a:r>
            <a:r>
              <a:rPr lang="en-US" dirty="0"/>
              <a:t>: a signature on </a:t>
            </a:r>
            <a:r>
              <a:rPr lang="en-US" dirty="0" smtClean="0"/>
              <a:t>m </a:t>
            </a:r>
            <a:r>
              <a:rPr lang="en-US" dirty="0"/>
              <a:t>is also a valid signature on </a:t>
            </a:r>
            <a:r>
              <a:rPr lang="en-US" dirty="0" smtClean="0"/>
              <a:t>m’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32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Message </a:t>
            </a:r>
            <a:r>
              <a:rPr lang="en-US" sz="3200" dirty="0" smtClean="0"/>
              <a:t>Integrity – The Birthday Attack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Lets </a:t>
            </a:r>
            <a:r>
              <a:rPr lang="en-US" dirty="0"/>
              <a:t>try with Roll numbers</a:t>
            </a:r>
          </a:p>
          <a:p>
            <a:pPr lvl="1"/>
            <a:r>
              <a:rPr lang="en-US" dirty="0"/>
              <a:t>Anyone sharing same value after summation</a:t>
            </a:r>
          </a:p>
          <a:p>
            <a:endParaRPr lang="en-US" dirty="0" smtClean="0"/>
          </a:p>
          <a:p>
            <a:r>
              <a:rPr lang="en-US" dirty="0" smtClean="0"/>
              <a:t>Lets try it with Names</a:t>
            </a:r>
          </a:p>
          <a:p>
            <a:pPr lvl="1"/>
            <a:r>
              <a:rPr lang="en-US" dirty="0" smtClean="0"/>
              <a:t>Anyone sharing same name</a:t>
            </a:r>
          </a:p>
          <a:p>
            <a:pPr lvl="1"/>
            <a:r>
              <a:rPr lang="en-US" dirty="0" smtClean="0"/>
              <a:t>What about surname?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We can try many examples from unique identifiers to different color of clothes…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031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Digital Signatures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139608898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Digital Signatures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Message authentication protects two </a:t>
            </a:r>
            <a:r>
              <a:rPr lang="en-US" dirty="0" smtClean="0"/>
              <a:t>parties </a:t>
            </a:r>
            <a:r>
              <a:rPr lang="en-US" dirty="0"/>
              <a:t>from any third </a:t>
            </a:r>
            <a:r>
              <a:rPr lang="en-US" dirty="0" smtClean="0"/>
              <a:t>party, however</a:t>
            </a:r>
            <a:r>
              <a:rPr lang="en-US" dirty="0"/>
              <a:t>, it does not protect the two parties against each </a:t>
            </a:r>
            <a:r>
              <a:rPr lang="en-US" dirty="0" smtClean="0"/>
              <a:t>other</a:t>
            </a:r>
            <a:endParaRPr lang="en-US" dirty="0"/>
          </a:p>
          <a:p>
            <a:r>
              <a:rPr lang="en-US" dirty="0" smtClean="0"/>
              <a:t>Several </a:t>
            </a:r>
            <a:r>
              <a:rPr lang="en-US" dirty="0"/>
              <a:t>forms of dispute between the two are </a:t>
            </a:r>
            <a:r>
              <a:rPr lang="en-US" dirty="0" smtClean="0"/>
              <a:t>possible</a:t>
            </a:r>
          </a:p>
          <a:p>
            <a:endParaRPr lang="en-US" dirty="0"/>
          </a:p>
          <a:p>
            <a:r>
              <a:rPr lang="en-US" dirty="0" smtClean="0"/>
              <a:t>Alice </a:t>
            </a:r>
            <a:r>
              <a:rPr lang="en-US" dirty="0"/>
              <a:t>may forge a different message and claim that </a:t>
            </a:r>
            <a:r>
              <a:rPr lang="en-US" dirty="0" smtClean="0"/>
              <a:t>it came </a:t>
            </a:r>
            <a:r>
              <a:rPr lang="en-US" dirty="0"/>
              <a:t>from </a:t>
            </a:r>
            <a:r>
              <a:rPr lang="en-US" dirty="0" smtClean="0"/>
              <a:t>Bob</a:t>
            </a:r>
          </a:p>
          <a:p>
            <a:pPr lvl="1"/>
            <a:r>
              <a:rPr lang="en-US" dirty="0" smtClean="0"/>
              <a:t>Alice </a:t>
            </a:r>
            <a:r>
              <a:rPr lang="en-US" dirty="0"/>
              <a:t>would simply have to create </a:t>
            </a:r>
            <a:r>
              <a:rPr lang="en-US" dirty="0" smtClean="0"/>
              <a:t>a message </a:t>
            </a:r>
            <a:r>
              <a:rPr lang="en-US" dirty="0"/>
              <a:t>and append an authentication code using </a:t>
            </a:r>
            <a:r>
              <a:rPr lang="en-US" dirty="0" smtClean="0"/>
              <a:t>the key </a:t>
            </a:r>
            <a:r>
              <a:rPr lang="en-US" dirty="0"/>
              <a:t>that </a:t>
            </a:r>
            <a:r>
              <a:rPr lang="en-US" dirty="0" smtClean="0"/>
              <a:t>Alice </a:t>
            </a:r>
            <a:r>
              <a:rPr lang="en-US" dirty="0"/>
              <a:t>and </a:t>
            </a:r>
            <a:r>
              <a:rPr lang="en-US" dirty="0" smtClean="0"/>
              <a:t>Bob share</a:t>
            </a:r>
          </a:p>
          <a:p>
            <a:r>
              <a:rPr lang="en-US" dirty="0" smtClean="0"/>
              <a:t>Bob </a:t>
            </a:r>
            <a:r>
              <a:rPr lang="en-US" dirty="0"/>
              <a:t>can deny sending the </a:t>
            </a:r>
            <a:r>
              <a:rPr lang="en-US" dirty="0" smtClean="0"/>
              <a:t>message</a:t>
            </a:r>
          </a:p>
          <a:p>
            <a:pPr lvl="1"/>
            <a:r>
              <a:rPr lang="en-US" dirty="0" smtClean="0"/>
              <a:t>Because </a:t>
            </a:r>
            <a:r>
              <a:rPr lang="en-US" dirty="0"/>
              <a:t>it </a:t>
            </a:r>
            <a:r>
              <a:rPr lang="en-US" dirty="0" smtClean="0"/>
              <a:t>is possible </a:t>
            </a:r>
            <a:r>
              <a:rPr lang="en-US" dirty="0"/>
              <a:t>for </a:t>
            </a:r>
            <a:r>
              <a:rPr lang="en-US" dirty="0" smtClean="0"/>
              <a:t>Alice </a:t>
            </a:r>
            <a:r>
              <a:rPr lang="en-US" dirty="0"/>
              <a:t>to forge a message, there is no </a:t>
            </a:r>
            <a:r>
              <a:rPr lang="en-US" dirty="0" smtClean="0"/>
              <a:t>way to </a:t>
            </a:r>
            <a:r>
              <a:rPr lang="en-US" dirty="0"/>
              <a:t>prove that </a:t>
            </a:r>
            <a:r>
              <a:rPr lang="en-US" dirty="0" smtClean="0"/>
              <a:t>Bob </a:t>
            </a:r>
            <a:r>
              <a:rPr lang="en-US" dirty="0"/>
              <a:t>did in fact send the </a:t>
            </a:r>
            <a:r>
              <a:rPr lang="en-US" dirty="0" smtClean="0"/>
              <a:t>message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24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Digital Signatures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Both scenarios are of legitimate </a:t>
            </a:r>
            <a:r>
              <a:rPr lang="en-US" dirty="0" smtClean="0"/>
              <a:t>concern</a:t>
            </a:r>
          </a:p>
          <a:p>
            <a:r>
              <a:rPr lang="en-US" dirty="0" smtClean="0"/>
              <a:t>In </a:t>
            </a:r>
            <a:r>
              <a:rPr lang="en-US" dirty="0"/>
              <a:t>situations where there is not complete trust between sender and receiver, something more than authentication is </a:t>
            </a:r>
            <a:r>
              <a:rPr lang="en-US" dirty="0" smtClean="0"/>
              <a:t>needed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most attractive solution to this problem is </a:t>
            </a:r>
            <a:r>
              <a:rPr lang="en-US" dirty="0" smtClean="0"/>
              <a:t>the </a:t>
            </a:r>
            <a:r>
              <a:rPr lang="en-US" u="sng" dirty="0" smtClean="0"/>
              <a:t>digital </a:t>
            </a:r>
            <a:r>
              <a:rPr lang="en-US" u="sng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380673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Digital Signatures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digital signature is analogous to the </a:t>
            </a:r>
            <a:r>
              <a:rPr lang="en-US" dirty="0" smtClean="0"/>
              <a:t>handwritten signature</a:t>
            </a:r>
            <a:endParaRPr lang="en-US" dirty="0"/>
          </a:p>
          <a:p>
            <a:r>
              <a:rPr lang="en-US" dirty="0" smtClean="0"/>
              <a:t>It </a:t>
            </a:r>
            <a:r>
              <a:rPr lang="en-US" dirty="0"/>
              <a:t>must have the following properties:</a:t>
            </a:r>
          </a:p>
          <a:p>
            <a:pPr lvl="1"/>
            <a:r>
              <a:rPr lang="en-US" dirty="0" smtClean="0"/>
              <a:t>Verify </a:t>
            </a:r>
            <a:r>
              <a:rPr lang="en-US" dirty="0"/>
              <a:t>the author and the date and time of </a:t>
            </a:r>
            <a:r>
              <a:rPr lang="en-US" dirty="0" smtClean="0"/>
              <a:t>the signature</a:t>
            </a:r>
            <a:endParaRPr lang="en-US" dirty="0"/>
          </a:p>
          <a:p>
            <a:pPr lvl="1"/>
            <a:r>
              <a:rPr lang="en-US" dirty="0" smtClean="0"/>
              <a:t>Authenticate </a:t>
            </a:r>
            <a:r>
              <a:rPr lang="en-US" dirty="0"/>
              <a:t>the contents at the time of </a:t>
            </a:r>
            <a:r>
              <a:rPr lang="en-US" dirty="0" smtClean="0"/>
              <a:t>the signature</a:t>
            </a:r>
            <a:endParaRPr lang="en-US" dirty="0"/>
          </a:p>
          <a:p>
            <a:pPr lvl="1"/>
            <a:r>
              <a:rPr lang="en-US" dirty="0" smtClean="0"/>
              <a:t>Verifiable </a:t>
            </a:r>
            <a:r>
              <a:rPr lang="en-US" dirty="0"/>
              <a:t>by third parties, to </a:t>
            </a:r>
            <a:r>
              <a:rPr lang="en-US" dirty="0" smtClean="0"/>
              <a:t>resolve disputes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642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Digital Signatures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Simplest digital </a:t>
            </a:r>
            <a:r>
              <a:rPr lang="en-US" u="sng" dirty="0" smtClean="0"/>
              <a:t>signature</a:t>
            </a:r>
            <a:endParaRPr lang="en-US" dirty="0"/>
          </a:p>
          <a:p>
            <a:r>
              <a:rPr lang="en-US" dirty="0"/>
              <a:t>Bob signs m by encrypting his name with his private key K</a:t>
            </a:r>
            <a:r>
              <a:rPr lang="en-US" baseline="-25000" dirty="0"/>
              <a:t>B</a:t>
            </a:r>
            <a:r>
              <a:rPr lang="en-US" baseline="30000" dirty="0"/>
              <a:t>-</a:t>
            </a:r>
            <a:r>
              <a:rPr lang="en-US" dirty="0"/>
              <a:t>, and appending this to the original message</a:t>
            </a:r>
          </a:p>
          <a:p>
            <a:endParaRPr lang="en-US" dirty="0"/>
          </a:p>
        </p:txBody>
      </p:sp>
      <p:sp>
        <p:nvSpPr>
          <p:cNvPr id="4" name="Rectangle 27"/>
          <p:cNvSpPr>
            <a:spLocks noChangeArrowheads="1"/>
          </p:cNvSpPr>
          <p:nvPr/>
        </p:nvSpPr>
        <p:spPr bwMode="auto">
          <a:xfrm>
            <a:off x="5673328" y="3617912"/>
            <a:ext cx="1733550" cy="1658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1653778" y="3733800"/>
            <a:ext cx="1733550" cy="21732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1682354" y="3745230"/>
            <a:ext cx="1590675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Dear Alice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Oh, how I have missed you. I think of you all the time! …(blah </a:t>
            </a:r>
            <a:r>
              <a:rPr lang="en-US" sz="1400" dirty="0" err="1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blah</a:t>
            </a:r>
            <a:r>
              <a:rPr lang="en-US" sz="14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blah)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Bob</a:t>
            </a:r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1428751" y="2949714"/>
            <a:ext cx="2051447" cy="7078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mic Sans MS" pitchFamily="66" charset="0"/>
              </a:rPr>
              <a:t>Bob’s message, m</a:t>
            </a: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4045744" y="3884615"/>
            <a:ext cx="1063228" cy="1082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4050506" y="3919540"/>
            <a:ext cx="106952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Public key</a:t>
            </a:r>
          </a:p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encryption</a:t>
            </a:r>
          </a:p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algorithm</a:t>
            </a: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3496865" y="4348162"/>
            <a:ext cx="50601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4620816" y="3074988"/>
            <a:ext cx="132159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mic Sans MS" pitchFamily="66" charset="0"/>
              </a:rPr>
              <a:t>Bob’s private</a:t>
            </a:r>
          </a:p>
          <a:p>
            <a:r>
              <a:rPr lang="en-US" dirty="0">
                <a:solidFill>
                  <a:srgbClr val="0070C0"/>
                </a:solidFill>
                <a:latin typeface="Comic Sans MS" pitchFamily="66" charset="0"/>
              </a:rPr>
              <a:t>key </a:t>
            </a:r>
          </a:p>
        </p:txBody>
      </p:sp>
      <p:pic>
        <p:nvPicPr>
          <p:cNvPr id="13" name="Picture 18" descr="BS00768_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950494" y="3255962"/>
            <a:ext cx="344090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oup 23"/>
          <p:cNvGrpSpPr>
            <a:grpSpLocks/>
          </p:cNvGrpSpPr>
          <p:nvPr/>
        </p:nvGrpSpPr>
        <p:grpSpPr bwMode="auto">
          <a:xfrm>
            <a:off x="4307680" y="3048003"/>
            <a:ext cx="441722" cy="604838"/>
            <a:chOff x="2997" y="2073"/>
            <a:chExt cx="371" cy="381"/>
          </a:xfrm>
        </p:grpSpPr>
        <p:grpSp>
          <p:nvGrpSpPr>
            <p:cNvPr id="15" name="Group 22"/>
            <p:cNvGrpSpPr>
              <a:grpSpLocks/>
            </p:cNvGrpSpPr>
            <p:nvPr/>
          </p:nvGrpSpPr>
          <p:grpSpPr bwMode="auto">
            <a:xfrm>
              <a:off x="2997" y="2144"/>
              <a:ext cx="371" cy="310"/>
              <a:chOff x="2997" y="2144"/>
              <a:chExt cx="371" cy="310"/>
            </a:xfrm>
          </p:grpSpPr>
          <p:sp>
            <p:nvSpPr>
              <p:cNvPr id="17" name="Text Box 19"/>
              <p:cNvSpPr txBox="1">
                <a:spLocks noChangeArrowheads="1"/>
              </p:cNvSpPr>
              <p:nvPr/>
            </p:nvSpPr>
            <p:spPr bwMode="auto">
              <a:xfrm>
                <a:off x="2997" y="2144"/>
                <a:ext cx="35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rgbClr val="FF0000"/>
                    </a:solidFill>
                    <a:latin typeface="Comic Sans MS" pitchFamily="66" charset="0"/>
                  </a:rPr>
                  <a:t>K </a:t>
                </a:r>
              </a:p>
            </p:txBody>
          </p:sp>
          <p:sp>
            <p:nvSpPr>
              <p:cNvPr id="18" name="Text Box 20"/>
              <p:cNvSpPr txBox="1">
                <a:spLocks noChangeArrowheads="1"/>
              </p:cNvSpPr>
              <p:nvPr/>
            </p:nvSpPr>
            <p:spPr bwMode="auto">
              <a:xfrm>
                <a:off x="3104" y="2241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FF0000"/>
                    </a:solidFill>
                    <a:latin typeface="Comic Sans MS" pitchFamily="66" charset="0"/>
                  </a:rPr>
                  <a:t>B</a:t>
                </a:r>
              </a:p>
            </p:txBody>
          </p:sp>
        </p:grpSp>
        <p:sp>
          <p:nvSpPr>
            <p:cNvPr id="16" name="Text Box 21"/>
            <p:cNvSpPr txBox="1">
              <a:spLocks noChangeArrowheads="1"/>
            </p:cNvSpPr>
            <p:nvPr/>
          </p:nvSpPr>
          <p:spPr bwMode="auto">
            <a:xfrm>
              <a:off x="3117" y="2073"/>
              <a:ext cx="22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latin typeface="Comic Sans MS" pitchFamily="66" charset="0"/>
                </a:rPr>
                <a:t>-</a:t>
              </a:r>
            </a:p>
          </p:txBody>
        </p:sp>
      </p:grpSp>
      <p:sp>
        <p:nvSpPr>
          <p:cNvPr id="19" name="Line 24"/>
          <p:cNvSpPr>
            <a:spLocks noChangeShapeType="1"/>
          </p:cNvSpPr>
          <p:nvPr/>
        </p:nvSpPr>
        <p:spPr bwMode="auto">
          <a:xfrm>
            <a:off x="4306490" y="3408362"/>
            <a:ext cx="1191" cy="4699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Line 25"/>
          <p:cNvSpPr>
            <a:spLocks noChangeShapeType="1"/>
          </p:cNvSpPr>
          <p:nvPr/>
        </p:nvSpPr>
        <p:spPr bwMode="auto">
          <a:xfrm>
            <a:off x="5135165" y="4348162"/>
            <a:ext cx="50601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Text Box 26"/>
          <p:cNvSpPr txBox="1">
            <a:spLocks noChangeArrowheads="1"/>
          </p:cNvSpPr>
          <p:nvPr/>
        </p:nvSpPr>
        <p:spPr bwMode="auto">
          <a:xfrm>
            <a:off x="5768579" y="3719513"/>
            <a:ext cx="1590675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Dear Alice</a:t>
            </a:r>
          </a:p>
          <a:p>
            <a:pPr>
              <a:spcBef>
                <a:spcPct val="50000"/>
              </a:spcBef>
            </a:pPr>
            <a:r>
              <a:rPr lang="en-US" sz="12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Oh, how I have missed you. I think of you all the time! …(blah </a:t>
            </a:r>
            <a:r>
              <a:rPr lang="en-US" sz="1200" dirty="0" err="1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blah</a:t>
            </a:r>
            <a:r>
              <a:rPr lang="en-US" sz="12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blah)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(Bob)</a:t>
            </a:r>
          </a:p>
        </p:txBody>
      </p:sp>
      <p:grpSp>
        <p:nvGrpSpPr>
          <p:cNvPr id="22" name="Group 28"/>
          <p:cNvGrpSpPr>
            <a:grpSpLocks/>
          </p:cNvGrpSpPr>
          <p:nvPr/>
        </p:nvGrpSpPr>
        <p:grpSpPr bwMode="auto">
          <a:xfrm>
            <a:off x="5755480" y="4721228"/>
            <a:ext cx="441722" cy="604838"/>
            <a:chOff x="2997" y="2073"/>
            <a:chExt cx="371" cy="381"/>
          </a:xfrm>
        </p:grpSpPr>
        <p:grpSp>
          <p:nvGrpSpPr>
            <p:cNvPr id="23" name="Group 29"/>
            <p:cNvGrpSpPr>
              <a:grpSpLocks/>
            </p:cNvGrpSpPr>
            <p:nvPr/>
          </p:nvGrpSpPr>
          <p:grpSpPr bwMode="auto">
            <a:xfrm>
              <a:off x="2997" y="2144"/>
              <a:ext cx="371" cy="310"/>
              <a:chOff x="2997" y="2144"/>
              <a:chExt cx="371" cy="310"/>
            </a:xfrm>
          </p:grpSpPr>
          <p:sp>
            <p:nvSpPr>
              <p:cNvPr id="25" name="Text Box 30"/>
              <p:cNvSpPr txBox="1">
                <a:spLocks noChangeArrowheads="1"/>
              </p:cNvSpPr>
              <p:nvPr/>
            </p:nvSpPr>
            <p:spPr bwMode="auto">
              <a:xfrm>
                <a:off x="2997" y="2144"/>
                <a:ext cx="35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rgbClr val="FF0000"/>
                    </a:solidFill>
                    <a:latin typeface="Comic Sans MS" pitchFamily="66" charset="0"/>
                  </a:rPr>
                  <a:t>K </a:t>
                </a:r>
              </a:p>
            </p:txBody>
          </p:sp>
          <p:sp>
            <p:nvSpPr>
              <p:cNvPr id="26" name="Text Box 31"/>
              <p:cNvSpPr txBox="1">
                <a:spLocks noChangeArrowheads="1"/>
              </p:cNvSpPr>
              <p:nvPr/>
            </p:nvSpPr>
            <p:spPr bwMode="auto">
              <a:xfrm>
                <a:off x="3104" y="2241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FF0000"/>
                    </a:solidFill>
                    <a:latin typeface="Comic Sans MS" pitchFamily="66" charset="0"/>
                  </a:rPr>
                  <a:t>B</a:t>
                </a:r>
              </a:p>
            </p:txBody>
          </p:sp>
        </p:grpSp>
        <p:sp>
          <p:nvSpPr>
            <p:cNvPr id="24" name="Text Box 32"/>
            <p:cNvSpPr txBox="1">
              <a:spLocks noChangeArrowheads="1"/>
            </p:cNvSpPr>
            <p:nvPr/>
          </p:nvSpPr>
          <p:spPr bwMode="auto">
            <a:xfrm>
              <a:off x="3117" y="2073"/>
              <a:ext cx="22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latin typeface="Comic Sans MS" pitchFamily="66" charset="0"/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5264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Digital Signatures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Simplest digital </a:t>
            </a:r>
            <a:r>
              <a:rPr lang="en-US" u="sng" dirty="0" smtClean="0"/>
              <a:t>signature</a:t>
            </a:r>
            <a:endParaRPr lang="en-US" dirty="0"/>
          </a:p>
          <a:p>
            <a:r>
              <a:rPr lang="en-US" dirty="0" smtClean="0"/>
              <a:t>Only </a:t>
            </a:r>
            <a:r>
              <a:rPr lang="en-US" dirty="0"/>
              <a:t>Bob could produce this signature, but</a:t>
            </a:r>
          </a:p>
          <a:p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signature could be copied to any message!</a:t>
            </a:r>
          </a:p>
          <a:p>
            <a:r>
              <a:rPr lang="en-US" dirty="0"/>
              <a:t>A digital signature must be tied to a particular message to prevent fraudulent copying and use!</a:t>
            </a:r>
          </a:p>
        </p:txBody>
      </p:sp>
    </p:spTree>
    <p:extLst>
      <p:ext uri="{BB962C8B-B14F-4D97-AF65-F5344CB8AC3E}">
        <p14:creationId xmlns:p14="http://schemas.microsoft.com/office/powerpoint/2010/main" val="1549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Digital Signatures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Better </a:t>
            </a:r>
            <a:r>
              <a:rPr lang="en-US" u="sng" dirty="0"/>
              <a:t>digital </a:t>
            </a:r>
            <a:r>
              <a:rPr lang="en-US" u="sng" dirty="0" smtClean="0"/>
              <a:t>signature</a:t>
            </a:r>
            <a:endParaRPr lang="en-US" dirty="0"/>
          </a:p>
          <a:p>
            <a:r>
              <a:rPr lang="en-US" dirty="0"/>
              <a:t>Bob signs m by encrypting it with his private key K</a:t>
            </a:r>
            <a:r>
              <a:rPr lang="en-US" baseline="-25000" dirty="0"/>
              <a:t>B</a:t>
            </a:r>
            <a:r>
              <a:rPr lang="en-US" baseline="30000" dirty="0"/>
              <a:t>-</a:t>
            </a:r>
            <a:r>
              <a:rPr lang="en-US" dirty="0"/>
              <a:t>, creating “signed” message, K</a:t>
            </a:r>
            <a:r>
              <a:rPr lang="en-US" baseline="-25000" dirty="0"/>
              <a:t>B</a:t>
            </a:r>
            <a:r>
              <a:rPr lang="en-US" baseline="30000" dirty="0"/>
              <a:t>-</a:t>
            </a:r>
            <a:r>
              <a:rPr lang="en-US" dirty="0"/>
              <a:t>(m)</a:t>
            </a:r>
          </a:p>
          <a:p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638800" y="3581400"/>
            <a:ext cx="1733550" cy="19716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619250" y="3708400"/>
            <a:ext cx="1733550" cy="1930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647826" y="3669030"/>
            <a:ext cx="1590675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Dear Alice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Oh, how I have missed you. I think of you all the time! …(blah </a:t>
            </a:r>
            <a:r>
              <a:rPr lang="en-US" sz="1400" dirty="0" err="1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blah</a:t>
            </a:r>
            <a:r>
              <a:rPr lang="en-US" sz="14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blah)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Bob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1453753" y="2873514"/>
            <a:ext cx="2051447" cy="7078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mic Sans MS" pitchFamily="66" charset="0"/>
              </a:rPr>
              <a:t>Bob’s message, m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4011216" y="3781428"/>
            <a:ext cx="1063228" cy="1082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015979" y="3816353"/>
            <a:ext cx="1205779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prstClr val="white"/>
                </a:solidFill>
                <a:latin typeface="Comic Sans MS" pitchFamily="66" charset="0"/>
              </a:rPr>
              <a:t>Public key</a:t>
            </a:r>
          </a:p>
          <a:p>
            <a:r>
              <a:rPr lang="en-US" sz="1600" dirty="0">
                <a:solidFill>
                  <a:prstClr val="white"/>
                </a:solidFill>
                <a:latin typeface="Comic Sans MS" pitchFamily="66" charset="0"/>
              </a:rPr>
              <a:t>encryption</a:t>
            </a:r>
          </a:p>
          <a:p>
            <a:r>
              <a:rPr lang="en-US" sz="1600" dirty="0">
                <a:solidFill>
                  <a:prstClr val="white"/>
                </a:solidFill>
                <a:latin typeface="Comic Sans MS" pitchFamily="66" charset="0"/>
              </a:rPr>
              <a:t>algorithm</a:t>
            </a:r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3462338" y="4244975"/>
            <a:ext cx="50601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4586289" y="2971801"/>
            <a:ext cx="132159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mic Sans MS" pitchFamily="66" charset="0"/>
              </a:rPr>
              <a:t>Bob’s private</a:t>
            </a:r>
          </a:p>
          <a:p>
            <a:r>
              <a:rPr lang="en-US" dirty="0">
                <a:solidFill>
                  <a:srgbClr val="0070C0"/>
                </a:solidFill>
                <a:latin typeface="Comic Sans MS" pitchFamily="66" charset="0"/>
              </a:rPr>
              <a:t>key </a:t>
            </a:r>
          </a:p>
        </p:txBody>
      </p:sp>
      <p:pic>
        <p:nvPicPr>
          <p:cNvPr id="13" name="Picture 14" descr="BS00768_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915967" y="3152778"/>
            <a:ext cx="344090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Line 20"/>
          <p:cNvSpPr>
            <a:spLocks noChangeShapeType="1"/>
          </p:cNvSpPr>
          <p:nvPr/>
        </p:nvSpPr>
        <p:spPr bwMode="auto">
          <a:xfrm>
            <a:off x="4271963" y="3305175"/>
            <a:ext cx="1191" cy="4699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Line 21"/>
          <p:cNvSpPr>
            <a:spLocks noChangeShapeType="1"/>
          </p:cNvSpPr>
          <p:nvPr/>
        </p:nvSpPr>
        <p:spPr bwMode="auto">
          <a:xfrm>
            <a:off x="5100638" y="4244975"/>
            <a:ext cx="50601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5734051" y="3616327"/>
            <a:ext cx="159067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Bob’s message, m, signed (encrypted) with his private key</a:t>
            </a:r>
          </a:p>
        </p:txBody>
      </p:sp>
      <p:grpSp>
        <p:nvGrpSpPr>
          <p:cNvPr id="17" name="Group 23"/>
          <p:cNvGrpSpPr>
            <a:grpSpLocks/>
          </p:cNvGrpSpPr>
          <p:nvPr/>
        </p:nvGrpSpPr>
        <p:grpSpPr bwMode="auto">
          <a:xfrm>
            <a:off x="6159103" y="2982915"/>
            <a:ext cx="441722" cy="604838"/>
            <a:chOff x="2997" y="2073"/>
            <a:chExt cx="371" cy="381"/>
          </a:xfrm>
        </p:grpSpPr>
        <p:grpSp>
          <p:nvGrpSpPr>
            <p:cNvPr id="18" name="Group 24"/>
            <p:cNvGrpSpPr>
              <a:grpSpLocks/>
            </p:cNvGrpSpPr>
            <p:nvPr/>
          </p:nvGrpSpPr>
          <p:grpSpPr bwMode="auto">
            <a:xfrm>
              <a:off x="2997" y="2144"/>
              <a:ext cx="371" cy="310"/>
              <a:chOff x="2997" y="2144"/>
              <a:chExt cx="371" cy="310"/>
            </a:xfrm>
          </p:grpSpPr>
          <p:sp>
            <p:nvSpPr>
              <p:cNvPr id="20" name="Text Box 25"/>
              <p:cNvSpPr txBox="1">
                <a:spLocks noChangeArrowheads="1"/>
              </p:cNvSpPr>
              <p:nvPr/>
            </p:nvSpPr>
            <p:spPr bwMode="auto">
              <a:xfrm>
                <a:off x="2997" y="2144"/>
                <a:ext cx="35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rgbClr val="FF0000"/>
                    </a:solidFill>
                    <a:latin typeface="Comic Sans MS" pitchFamily="66" charset="0"/>
                  </a:rPr>
                  <a:t>K </a:t>
                </a:r>
              </a:p>
            </p:txBody>
          </p:sp>
          <p:sp>
            <p:nvSpPr>
              <p:cNvPr id="21" name="Text Box 26"/>
              <p:cNvSpPr txBox="1">
                <a:spLocks noChangeArrowheads="1"/>
              </p:cNvSpPr>
              <p:nvPr/>
            </p:nvSpPr>
            <p:spPr bwMode="auto">
              <a:xfrm>
                <a:off x="3104" y="2241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FF0000"/>
                    </a:solidFill>
                    <a:latin typeface="Comic Sans MS" pitchFamily="66" charset="0"/>
                  </a:rPr>
                  <a:t>B</a:t>
                </a:r>
              </a:p>
            </p:txBody>
          </p:sp>
        </p:grpSp>
        <p:sp>
          <p:nvSpPr>
            <p:cNvPr id="19" name="Text Box 27"/>
            <p:cNvSpPr txBox="1">
              <a:spLocks noChangeArrowheads="1"/>
            </p:cNvSpPr>
            <p:nvPr/>
          </p:nvSpPr>
          <p:spPr bwMode="auto">
            <a:xfrm>
              <a:off x="3117" y="2073"/>
              <a:ext cx="22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latin typeface="Comic Sans MS" pitchFamily="66" charset="0"/>
                </a:rPr>
                <a:t>-</a:t>
              </a:r>
            </a:p>
          </p:txBody>
        </p:sp>
      </p:grpSp>
      <p:sp>
        <p:nvSpPr>
          <p:cNvPr id="22" name="Text Box 28"/>
          <p:cNvSpPr txBox="1">
            <a:spLocks noChangeArrowheads="1"/>
          </p:cNvSpPr>
          <p:nvPr/>
        </p:nvSpPr>
        <p:spPr bwMode="auto">
          <a:xfrm>
            <a:off x="6328173" y="3082926"/>
            <a:ext cx="7584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mic Sans MS" pitchFamily="66" charset="0"/>
              </a:rPr>
              <a:t>(m)</a:t>
            </a:r>
          </a:p>
        </p:txBody>
      </p:sp>
      <p:grpSp>
        <p:nvGrpSpPr>
          <p:cNvPr id="23" name="Group 23"/>
          <p:cNvGrpSpPr>
            <a:grpSpLocks/>
          </p:cNvGrpSpPr>
          <p:nvPr/>
        </p:nvGrpSpPr>
        <p:grpSpPr bwMode="auto">
          <a:xfrm>
            <a:off x="4286249" y="2901953"/>
            <a:ext cx="441722" cy="604838"/>
            <a:chOff x="2997" y="2073"/>
            <a:chExt cx="371" cy="381"/>
          </a:xfrm>
        </p:grpSpPr>
        <p:grpSp>
          <p:nvGrpSpPr>
            <p:cNvPr id="24" name="Group 22"/>
            <p:cNvGrpSpPr>
              <a:grpSpLocks/>
            </p:cNvGrpSpPr>
            <p:nvPr/>
          </p:nvGrpSpPr>
          <p:grpSpPr bwMode="auto">
            <a:xfrm>
              <a:off x="2997" y="2144"/>
              <a:ext cx="371" cy="310"/>
              <a:chOff x="2997" y="2144"/>
              <a:chExt cx="371" cy="310"/>
            </a:xfrm>
          </p:grpSpPr>
          <p:sp>
            <p:nvSpPr>
              <p:cNvPr id="26" name="Text Box 19"/>
              <p:cNvSpPr txBox="1">
                <a:spLocks noChangeArrowheads="1"/>
              </p:cNvSpPr>
              <p:nvPr/>
            </p:nvSpPr>
            <p:spPr bwMode="auto">
              <a:xfrm>
                <a:off x="2997" y="2144"/>
                <a:ext cx="35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rgbClr val="FF0000"/>
                    </a:solidFill>
                    <a:latin typeface="Comic Sans MS" pitchFamily="66" charset="0"/>
                  </a:rPr>
                  <a:t>K </a:t>
                </a:r>
              </a:p>
            </p:txBody>
          </p:sp>
          <p:sp>
            <p:nvSpPr>
              <p:cNvPr id="27" name="Text Box 20"/>
              <p:cNvSpPr txBox="1">
                <a:spLocks noChangeArrowheads="1"/>
              </p:cNvSpPr>
              <p:nvPr/>
            </p:nvSpPr>
            <p:spPr bwMode="auto">
              <a:xfrm>
                <a:off x="3104" y="2241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  <a:latin typeface="Comic Sans MS" pitchFamily="66" charset="0"/>
                  </a:rPr>
                  <a:t>B</a:t>
                </a:r>
              </a:p>
            </p:txBody>
          </p:sp>
        </p:grpSp>
        <p:sp>
          <p:nvSpPr>
            <p:cNvPr id="25" name="Text Box 21"/>
            <p:cNvSpPr txBox="1">
              <a:spLocks noChangeArrowheads="1"/>
            </p:cNvSpPr>
            <p:nvPr/>
          </p:nvSpPr>
          <p:spPr bwMode="auto">
            <a:xfrm>
              <a:off x="3117" y="2073"/>
              <a:ext cx="22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latin typeface="Comic Sans MS" pitchFamily="66" charset="0"/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3654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Digital Signatures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Better </a:t>
            </a:r>
            <a:r>
              <a:rPr lang="en-US" u="sng" dirty="0"/>
              <a:t>digital </a:t>
            </a:r>
            <a:r>
              <a:rPr lang="en-US" u="sng" dirty="0" smtClean="0"/>
              <a:t>signature</a:t>
            </a:r>
            <a:endParaRPr lang="en-US" dirty="0"/>
          </a:p>
          <a:p>
            <a:r>
              <a:rPr lang="en-US" dirty="0"/>
              <a:t>The signature is now tied to the message, so we know that Bob signed </a:t>
            </a:r>
            <a:r>
              <a:rPr lang="en-US" i="1" dirty="0"/>
              <a:t>m</a:t>
            </a:r>
            <a:r>
              <a:rPr lang="en-US" dirty="0"/>
              <a:t> in particular</a:t>
            </a:r>
          </a:p>
          <a:p>
            <a:endParaRPr lang="en-US" dirty="0" smtClean="0"/>
          </a:p>
          <a:p>
            <a:r>
              <a:rPr lang="en-US" dirty="0" smtClean="0"/>
              <a:t>Problem?</a:t>
            </a:r>
          </a:p>
          <a:p>
            <a:pPr lvl="1"/>
            <a:r>
              <a:rPr lang="en-US" dirty="0" smtClean="0"/>
              <a:t>However, if </a:t>
            </a:r>
            <a:r>
              <a:rPr lang="en-US" i="1" dirty="0"/>
              <a:t>m</a:t>
            </a:r>
            <a:r>
              <a:rPr lang="en-US" dirty="0"/>
              <a:t> is excessively large, encrypting and decrypting the whole message could be very </a:t>
            </a:r>
            <a:r>
              <a:rPr lang="en-US" dirty="0" smtClean="0"/>
              <a:t>inefficient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11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Digital Signatures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Even better </a:t>
            </a:r>
            <a:r>
              <a:rPr lang="en-US" u="sng" dirty="0"/>
              <a:t>digital </a:t>
            </a:r>
            <a:r>
              <a:rPr lang="en-US" u="sng" dirty="0" smtClean="0"/>
              <a:t>signature</a:t>
            </a:r>
            <a:endParaRPr lang="en-US" dirty="0"/>
          </a:p>
          <a:p>
            <a:r>
              <a:rPr lang="en-US" dirty="0"/>
              <a:t>Bob signs </a:t>
            </a:r>
            <a:r>
              <a:rPr lang="en-US" i="1" dirty="0"/>
              <a:t>m</a:t>
            </a:r>
            <a:r>
              <a:rPr lang="en-US" dirty="0"/>
              <a:t> by generating a message digest, and then encrypting only the digest with his private key K</a:t>
            </a:r>
            <a:r>
              <a:rPr lang="en-US" baseline="-25000" dirty="0"/>
              <a:t>B</a:t>
            </a:r>
            <a:r>
              <a:rPr lang="en-US" baseline="30000" dirty="0"/>
              <a:t>-</a:t>
            </a:r>
            <a:r>
              <a:rPr lang="en-US" dirty="0" smtClean="0"/>
              <a:t>, </a:t>
            </a:r>
            <a:r>
              <a:rPr lang="en-US" dirty="0"/>
              <a:t>and attaches this to the </a:t>
            </a:r>
            <a:r>
              <a:rPr lang="en-US" dirty="0" smtClean="0"/>
              <a:t>message</a:t>
            </a:r>
            <a:endParaRPr lang="en-US" dirty="0"/>
          </a:p>
          <a:p>
            <a:endParaRPr lang="en-US" dirty="0"/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1741884" y="3690937"/>
            <a:ext cx="1733550" cy="196977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1770460" y="3690939"/>
            <a:ext cx="1590675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Dear Alice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Oh, how I have missed you. I think of you all the time! …(blah </a:t>
            </a:r>
            <a:r>
              <a:rPr lang="en-US" sz="1400" dirty="0" err="1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blah</a:t>
            </a:r>
            <a:r>
              <a:rPr lang="en-US" sz="14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blah)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Bob</a:t>
            </a:r>
          </a:p>
        </p:txBody>
      </p: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1529953" y="3048000"/>
            <a:ext cx="2051447" cy="7078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mic Sans MS" pitchFamily="66" charset="0"/>
              </a:rPr>
              <a:t>Bob’s message, m</a:t>
            </a:r>
          </a:p>
        </p:txBody>
      </p:sp>
      <p:sp>
        <p:nvSpPr>
          <p:cNvPr id="31" name="Rectangle 10"/>
          <p:cNvSpPr>
            <a:spLocks noChangeArrowheads="1"/>
          </p:cNvSpPr>
          <p:nvPr/>
        </p:nvSpPr>
        <p:spPr bwMode="auto">
          <a:xfrm>
            <a:off x="4133850" y="4033841"/>
            <a:ext cx="1063228" cy="1082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4138613" y="4068766"/>
            <a:ext cx="106952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Public key</a:t>
            </a:r>
          </a:p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encryption</a:t>
            </a:r>
          </a:p>
          <a:p>
            <a:r>
              <a:rPr lang="en-US" sz="1400" dirty="0">
                <a:solidFill>
                  <a:prstClr val="white"/>
                </a:solidFill>
                <a:latin typeface="Comic Sans MS" pitchFamily="66" charset="0"/>
              </a:rPr>
              <a:t>algorithm</a:t>
            </a:r>
          </a:p>
        </p:txBody>
      </p:sp>
      <p:sp>
        <p:nvSpPr>
          <p:cNvPr id="33" name="Line 12"/>
          <p:cNvSpPr>
            <a:spLocks noChangeShapeType="1"/>
          </p:cNvSpPr>
          <p:nvPr/>
        </p:nvSpPr>
        <p:spPr bwMode="auto">
          <a:xfrm>
            <a:off x="3584972" y="4497388"/>
            <a:ext cx="50601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" name="Text Box 13"/>
          <p:cNvSpPr txBox="1">
            <a:spLocks noChangeArrowheads="1"/>
          </p:cNvSpPr>
          <p:nvPr/>
        </p:nvSpPr>
        <p:spPr bwMode="auto">
          <a:xfrm>
            <a:off x="4708923" y="3224214"/>
            <a:ext cx="132159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mic Sans MS" pitchFamily="66" charset="0"/>
              </a:rPr>
              <a:t>Bob’s private</a:t>
            </a:r>
          </a:p>
          <a:p>
            <a:r>
              <a:rPr lang="en-US" dirty="0">
                <a:solidFill>
                  <a:srgbClr val="0070C0"/>
                </a:solidFill>
                <a:latin typeface="Comic Sans MS" pitchFamily="66" charset="0"/>
              </a:rPr>
              <a:t>key </a:t>
            </a:r>
          </a:p>
        </p:txBody>
      </p:sp>
      <p:pic>
        <p:nvPicPr>
          <p:cNvPr id="35" name="Picture 14" descr="BS00768_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038601" y="3405191"/>
            <a:ext cx="344090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6" name="Group 15"/>
          <p:cNvGrpSpPr>
            <a:grpSpLocks/>
          </p:cNvGrpSpPr>
          <p:nvPr/>
        </p:nvGrpSpPr>
        <p:grpSpPr bwMode="auto">
          <a:xfrm>
            <a:off x="4395787" y="3197228"/>
            <a:ext cx="441722" cy="604838"/>
            <a:chOff x="2997" y="2073"/>
            <a:chExt cx="371" cy="381"/>
          </a:xfrm>
        </p:grpSpPr>
        <p:grpSp>
          <p:nvGrpSpPr>
            <p:cNvPr id="37" name="Group 16"/>
            <p:cNvGrpSpPr>
              <a:grpSpLocks/>
            </p:cNvGrpSpPr>
            <p:nvPr/>
          </p:nvGrpSpPr>
          <p:grpSpPr bwMode="auto">
            <a:xfrm>
              <a:off x="2997" y="2144"/>
              <a:ext cx="371" cy="310"/>
              <a:chOff x="2997" y="2144"/>
              <a:chExt cx="371" cy="310"/>
            </a:xfrm>
          </p:grpSpPr>
          <p:sp>
            <p:nvSpPr>
              <p:cNvPr id="39" name="Text Box 17"/>
              <p:cNvSpPr txBox="1">
                <a:spLocks noChangeArrowheads="1"/>
              </p:cNvSpPr>
              <p:nvPr/>
            </p:nvSpPr>
            <p:spPr bwMode="auto">
              <a:xfrm>
                <a:off x="2997" y="2144"/>
                <a:ext cx="35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rgbClr val="FF0000"/>
                    </a:solidFill>
                    <a:latin typeface="Comic Sans MS" pitchFamily="66" charset="0"/>
                  </a:rPr>
                  <a:t>K </a:t>
                </a:r>
              </a:p>
            </p:txBody>
          </p:sp>
          <p:sp>
            <p:nvSpPr>
              <p:cNvPr id="40" name="Text Box 18"/>
              <p:cNvSpPr txBox="1">
                <a:spLocks noChangeArrowheads="1"/>
              </p:cNvSpPr>
              <p:nvPr/>
            </p:nvSpPr>
            <p:spPr bwMode="auto">
              <a:xfrm>
                <a:off x="3104" y="2241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FF0000"/>
                    </a:solidFill>
                    <a:latin typeface="Comic Sans MS" pitchFamily="66" charset="0"/>
                  </a:rPr>
                  <a:t>B</a:t>
                </a:r>
              </a:p>
            </p:txBody>
          </p:sp>
        </p:grpSp>
        <p:sp>
          <p:nvSpPr>
            <p:cNvPr id="38" name="Text Box 19"/>
            <p:cNvSpPr txBox="1">
              <a:spLocks noChangeArrowheads="1"/>
            </p:cNvSpPr>
            <p:nvPr/>
          </p:nvSpPr>
          <p:spPr bwMode="auto">
            <a:xfrm>
              <a:off x="3117" y="2073"/>
              <a:ext cx="22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latin typeface="Comic Sans MS" pitchFamily="66" charset="0"/>
                </a:rPr>
                <a:t>-</a:t>
              </a:r>
            </a:p>
          </p:txBody>
        </p:sp>
      </p:grpSp>
      <p:sp>
        <p:nvSpPr>
          <p:cNvPr id="41" name="Line 20"/>
          <p:cNvSpPr>
            <a:spLocks noChangeShapeType="1"/>
          </p:cNvSpPr>
          <p:nvPr/>
        </p:nvSpPr>
        <p:spPr bwMode="auto">
          <a:xfrm>
            <a:off x="4394597" y="3557588"/>
            <a:ext cx="1191" cy="4699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2" name="Line 21"/>
          <p:cNvSpPr>
            <a:spLocks noChangeShapeType="1"/>
          </p:cNvSpPr>
          <p:nvPr/>
        </p:nvSpPr>
        <p:spPr bwMode="auto">
          <a:xfrm>
            <a:off x="5223272" y="4497388"/>
            <a:ext cx="50601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3" name="Text Box 22"/>
          <p:cNvSpPr txBox="1">
            <a:spLocks noChangeArrowheads="1"/>
          </p:cNvSpPr>
          <p:nvPr/>
        </p:nvSpPr>
        <p:spPr bwMode="auto">
          <a:xfrm>
            <a:off x="5856685" y="3868738"/>
            <a:ext cx="159067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prstClr val="black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Bob’s message, m, followed by message digest signed (encrypted) with his private key</a:t>
            </a:r>
          </a:p>
        </p:txBody>
      </p:sp>
      <p:grpSp>
        <p:nvGrpSpPr>
          <p:cNvPr id="44" name="Group 23"/>
          <p:cNvGrpSpPr>
            <a:grpSpLocks/>
          </p:cNvGrpSpPr>
          <p:nvPr/>
        </p:nvGrpSpPr>
        <p:grpSpPr bwMode="auto">
          <a:xfrm>
            <a:off x="6172199" y="3235328"/>
            <a:ext cx="441722" cy="604838"/>
            <a:chOff x="2997" y="2073"/>
            <a:chExt cx="371" cy="381"/>
          </a:xfrm>
        </p:grpSpPr>
        <p:grpSp>
          <p:nvGrpSpPr>
            <p:cNvPr id="45" name="Group 24"/>
            <p:cNvGrpSpPr>
              <a:grpSpLocks/>
            </p:cNvGrpSpPr>
            <p:nvPr/>
          </p:nvGrpSpPr>
          <p:grpSpPr bwMode="auto">
            <a:xfrm>
              <a:off x="2997" y="2144"/>
              <a:ext cx="371" cy="310"/>
              <a:chOff x="2997" y="2144"/>
              <a:chExt cx="371" cy="310"/>
            </a:xfrm>
          </p:grpSpPr>
          <p:sp>
            <p:nvSpPr>
              <p:cNvPr id="47" name="Text Box 25"/>
              <p:cNvSpPr txBox="1">
                <a:spLocks noChangeArrowheads="1"/>
              </p:cNvSpPr>
              <p:nvPr/>
            </p:nvSpPr>
            <p:spPr bwMode="auto">
              <a:xfrm>
                <a:off x="2997" y="2144"/>
                <a:ext cx="35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rgbClr val="FF0000"/>
                    </a:solidFill>
                    <a:latin typeface="Comic Sans MS" pitchFamily="66" charset="0"/>
                  </a:rPr>
                  <a:t>K </a:t>
                </a:r>
              </a:p>
            </p:txBody>
          </p:sp>
          <p:sp>
            <p:nvSpPr>
              <p:cNvPr id="48" name="Text Box 26"/>
              <p:cNvSpPr txBox="1">
                <a:spLocks noChangeArrowheads="1"/>
              </p:cNvSpPr>
              <p:nvPr/>
            </p:nvSpPr>
            <p:spPr bwMode="auto">
              <a:xfrm>
                <a:off x="3104" y="2241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  <a:latin typeface="Comic Sans MS" pitchFamily="66" charset="0"/>
                  </a:rPr>
                  <a:t>B</a:t>
                </a:r>
              </a:p>
            </p:txBody>
          </p:sp>
        </p:grpSp>
        <p:sp>
          <p:nvSpPr>
            <p:cNvPr id="46" name="Text Box 27"/>
            <p:cNvSpPr txBox="1">
              <a:spLocks noChangeArrowheads="1"/>
            </p:cNvSpPr>
            <p:nvPr/>
          </p:nvSpPr>
          <p:spPr bwMode="auto">
            <a:xfrm>
              <a:off x="3117" y="2073"/>
              <a:ext cx="22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latin typeface="Comic Sans MS" pitchFamily="66" charset="0"/>
                </a:rPr>
                <a:t>-</a:t>
              </a:r>
            </a:p>
          </p:txBody>
        </p:sp>
      </p:grpSp>
      <p:sp>
        <p:nvSpPr>
          <p:cNvPr id="49" name="Text Box 28"/>
          <p:cNvSpPr txBox="1">
            <a:spLocks noChangeArrowheads="1"/>
          </p:cNvSpPr>
          <p:nvPr/>
        </p:nvSpPr>
        <p:spPr bwMode="auto">
          <a:xfrm>
            <a:off x="5836444" y="3335339"/>
            <a:ext cx="170735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mic Sans MS" pitchFamily="66" charset="0"/>
              </a:rPr>
              <a:t> m, </a:t>
            </a:r>
            <a:r>
              <a:rPr lang="en-US" sz="1600" dirty="0" smtClean="0">
                <a:solidFill>
                  <a:srgbClr val="FF0000"/>
                </a:solidFill>
                <a:latin typeface="Comic Sans MS" pitchFamily="66" charset="0"/>
              </a:rPr>
              <a:t>     (</a:t>
            </a:r>
            <a:r>
              <a:rPr lang="en-US" sz="1600" dirty="0">
                <a:solidFill>
                  <a:srgbClr val="FF0000"/>
                </a:solidFill>
                <a:latin typeface="Comic Sans MS" pitchFamily="66" charset="0"/>
              </a:rPr>
              <a:t>digest)</a:t>
            </a:r>
          </a:p>
        </p:txBody>
      </p:sp>
    </p:spTree>
    <p:extLst>
      <p:ext uri="{BB962C8B-B14F-4D97-AF65-F5344CB8AC3E}">
        <p14:creationId xmlns:p14="http://schemas.microsoft.com/office/powerpoint/2010/main" val="1953598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Digital Signatures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Even better </a:t>
            </a:r>
            <a:r>
              <a:rPr lang="en-US" u="sng" dirty="0"/>
              <a:t>digital </a:t>
            </a:r>
            <a:r>
              <a:rPr lang="en-US" u="sng" dirty="0" smtClean="0"/>
              <a:t>signature</a:t>
            </a:r>
            <a:endParaRPr lang="en-US" dirty="0"/>
          </a:p>
          <a:p>
            <a:r>
              <a:rPr lang="en-US" dirty="0"/>
              <a:t>By signing only the digest, we have the same level of security, as the digest is tied to the message, with less encryption and decryption overhead</a:t>
            </a:r>
          </a:p>
        </p:txBody>
      </p:sp>
    </p:spTree>
    <p:extLst>
      <p:ext uri="{BB962C8B-B14F-4D97-AF65-F5344CB8AC3E}">
        <p14:creationId xmlns:p14="http://schemas.microsoft.com/office/powerpoint/2010/main" val="307215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Digital Signatures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Signed Message Digests as Digital Signatures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887717" y="2790828"/>
            <a:ext cx="571500" cy="4079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6" name="Group 68"/>
          <p:cNvGrpSpPr>
            <a:grpSpLocks/>
          </p:cNvGrpSpPr>
          <p:nvPr/>
        </p:nvGrpSpPr>
        <p:grpSpPr bwMode="auto">
          <a:xfrm>
            <a:off x="1532662" y="2462212"/>
            <a:ext cx="1071563" cy="790575"/>
            <a:chOff x="477" y="1308"/>
            <a:chExt cx="772" cy="498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477" y="1308"/>
              <a:ext cx="685" cy="4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477" y="1318"/>
              <a:ext cx="772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dirty="0">
                  <a:solidFill>
                    <a:srgbClr val="0070C0"/>
                  </a:solidFill>
                  <a:latin typeface="Comic Sans MS" pitchFamily="66" charset="0"/>
                </a:rPr>
                <a:t>large </a:t>
              </a:r>
            </a:p>
            <a:p>
              <a:pPr>
                <a:lnSpc>
                  <a:spcPct val="80000"/>
                </a:lnSpc>
              </a:pPr>
              <a:r>
                <a:rPr lang="en-US" sz="1600" dirty="0">
                  <a:solidFill>
                    <a:srgbClr val="0070C0"/>
                  </a:solidFill>
                  <a:latin typeface="Comic Sans MS" pitchFamily="66" charset="0"/>
                </a:rPr>
                <a:t>message</a:t>
              </a:r>
            </a:p>
            <a:p>
              <a:pPr>
                <a:lnSpc>
                  <a:spcPct val="80000"/>
                </a:lnSpc>
              </a:pPr>
              <a:r>
                <a:rPr lang="en-US" sz="1600" dirty="0">
                  <a:solidFill>
                    <a:srgbClr val="0070C0"/>
                  </a:solidFill>
                  <a:latin typeface="Comic Sans MS" pitchFamily="66" charset="0"/>
                </a:rPr>
                <a:t>m</a:t>
              </a:r>
            </a:p>
          </p:txBody>
        </p:sp>
      </p:grpSp>
      <p:grpSp>
        <p:nvGrpSpPr>
          <p:cNvPr id="9" name="Group 17"/>
          <p:cNvGrpSpPr>
            <a:grpSpLocks/>
          </p:cNvGrpSpPr>
          <p:nvPr/>
        </p:nvGrpSpPr>
        <p:grpSpPr bwMode="auto">
          <a:xfrm>
            <a:off x="2806630" y="2649539"/>
            <a:ext cx="777478" cy="631826"/>
            <a:chOff x="1376" y="982"/>
            <a:chExt cx="653" cy="398"/>
          </a:xfrm>
        </p:grpSpPr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1397" y="982"/>
              <a:ext cx="619" cy="3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1376" y="985"/>
              <a:ext cx="65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prstClr val="white"/>
                  </a:solidFill>
                  <a:latin typeface="Comic Sans MS" pitchFamily="66" charset="0"/>
                </a:rPr>
                <a:t>H: Hash</a:t>
              </a:r>
            </a:p>
            <a:p>
              <a:r>
                <a:rPr lang="en-US" sz="1200" dirty="0">
                  <a:solidFill>
                    <a:prstClr val="white"/>
                  </a:solidFill>
                  <a:latin typeface="Comic Sans MS" pitchFamily="66" charset="0"/>
                </a:rPr>
                <a:t>function</a:t>
              </a:r>
            </a:p>
          </p:txBody>
        </p:sp>
      </p:grpSp>
      <p:sp>
        <p:nvSpPr>
          <p:cNvPr id="12" name="Line 10"/>
          <p:cNvSpPr>
            <a:spLocks noChangeShapeType="1"/>
          </p:cNvSpPr>
          <p:nvPr/>
        </p:nvSpPr>
        <p:spPr bwMode="auto">
          <a:xfrm>
            <a:off x="2472065" y="2932112"/>
            <a:ext cx="37981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3850807" y="2814638"/>
            <a:ext cx="6346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Comic Sans MS" pitchFamily="66" charset="0"/>
              </a:rPr>
              <a:t>H(m)</a:t>
            </a:r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3990112" y="3225800"/>
            <a:ext cx="1190" cy="3286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3513862" y="2946400"/>
            <a:ext cx="37980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16" name="Group 21"/>
          <p:cNvGrpSpPr>
            <a:grpSpLocks/>
          </p:cNvGrpSpPr>
          <p:nvPr/>
        </p:nvGrpSpPr>
        <p:grpSpPr bwMode="auto">
          <a:xfrm>
            <a:off x="3565057" y="3557589"/>
            <a:ext cx="975123" cy="955675"/>
            <a:chOff x="1126" y="2124"/>
            <a:chExt cx="819" cy="602"/>
          </a:xfrm>
        </p:grpSpPr>
        <p:sp>
          <p:nvSpPr>
            <p:cNvPr id="17" name="Rectangle 19"/>
            <p:cNvSpPr>
              <a:spLocks noChangeArrowheads="1"/>
            </p:cNvSpPr>
            <p:nvPr/>
          </p:nvSpPr>
          <p:spPr bwMode="auto">
            <a:xfrm>
              <a:off x="1126" y="2124"/>
              <a:ext cx="751" cy="60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8" name="Text Box 20"/>
            <p:cNvSpPr txBox="1">
              <a:spLocks noChangeArrowheads="1"/>
            </p:cNvSpPr>
            <p:nvPr/>
          </p:nvSpPr>
          <p:spPr bwMode="auto">
            <a:xfrm>
              <a:off x="1134" y="2127"/>
              <a:ext cx="811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prstClr val="white"/>
                  </a:solidFill>
                  <a:latin typeface="Comic Sans MS" pitchFamily="66" charset="0"/>
                </a:rPr>
                <a:t>digital</a:t>
              </a:r>
            </a:p>
            <a:p>
              <a:r>
                <a:rPr lang="en-US" sz="1400" dirty="0">
                  <a:solidFill>
                    <a:prstClr val="white"/>
                  </a:solidFill>
                  <a:latin typeface="Comic Sans MS" pitchFamily="66" charset="0"/>
                </a:rPr>
                <a:t>signature</a:t>
              </a:r>
            </a:p>
            <a:p>
              <a:r>
                <a:rPr lang="en-US" sz="1400" dirty="0">
                  <a:solidFill>
                    <a:prstClr val="white"/>
                  </a:solidFill>
                  <a:latin typeface="Comic Sans MS" pitchFamily="66" charset="0"/>
                </a:rPr>
                <a:t>(encrypt)</a:t>
              </a:r>
            </a:p>
          </p:txBody>
        </p:sp>
      </p:grpSp>
      <p:sp>
        <p:nvSpPr>
          <p:cNvPr id="19" name="Text Box 23"/>
          <p:cNvSpPr txBox="1">
            <a:spLocks noChangeArrowheads="1"/>
          </p:cNvSpPr>
          <p:nvPr/>
        </p:nvSpPr>
        <p:spPr bwMode="auto">
          <a:xfrm>
            <a:off x="2087494" y="3638551"/>
            <a:ext cx="8989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Bob’s </a:t>
            </a:r>
          </a:p>
          <a:p>
            <a:pPr algn="r"/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private</a:t>
            </a:r>
          </a:p>
          <a:p>
            <a:pPr algn="r"/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key </a:t>
            </a:r>
          </a:p>
        </p:txBody>
      </p:sp>
      <p:pic>
        <p:nvPicPr>
          <p:cNvPr id="20" name="Picture 24" descr="BS00768_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2999512" y="3719512"/>
            <a:ext cx="344090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" name="Group 25"/>
          <p:cNvGrpSpPr>
            <a:grpSpLocks/>
          </p:cNvGrpSpPr>
          <p:nvPr/>
        </p:nvGrpSpPr>
        <p:grpSpPr bwMode="auto">
          <a:xfrm>
            <a:off x="2956648" y="4044953"/>
            <a:ext cx="441722" cy="604838"/>
            <a:chOff x="2997" y="2073"/>
            <a:chExt cx="371" cy="381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2997" y="2144"/>
              <a:ext cx="371" cy="310"/>
              <a:chOff x="2997" y="2144"/>
              <a:chExt cx="371" cy="310"/>
            </a:xfrm>
          </p:grpSpPr>
          <p:sp>
            <p:nvSpPr>
              <p:cNvPr id="24" name="Text Box 27"/>
              <p:cNvSpPr txBox="1">
                <a:spLocks noChangeArrowheads="1"/>
              </p:cNvSpPr>
              <p:nvPr/>
            </p:nvSpPr>
            <p:spPr bwMode="auto">
              <a:xfrm>
                <a:off x="2997" y="2144"/>
                <a:ext cx="35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rgbClr val="FF0000"/>
                    </a:solidFill>
                    <a:latin typeface="Comic Sans MS" pitchFamily="66" charset="0"/>
                  </a:rPr>
                  <a:t>K </a:t>
                </a:r>
              </a:p>
            </p:txBody>
          </p:sp>
          <p:sp>
            <p:nvSpPr>
              <p:cNvPr id="25" name="Text Box 28"/>
              <p:cNvSpPr txBox="1">
                <a:spLocks noChangeArrowheads="1"/>
              </p:cNvSpPr>
              <p:nvPr/>
            </p:nvSpPr>
            <p:spPr bwMode="auto">
              <a:xfrm>
                <a:off x="3104" y="2241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FF0000"/>
                    </a:solidFill>
                    <a:latin typeface="Comic Sans MS" pitchFamily="66" charset="0"/>
                  </a:rPr>
                  <a:t>B</a:t>
                </a:r>
              </a:p>
            </p:txBody>
          </p:sp>
        </p:grpSp>
        <p:sp>
          <p:nvSpPr>
            <p:cNvPr id="23" name="Text Box 29"/>
            <p:cNvSpPr txBox="1">
              <a:spLocks noChangeArrowheads="1"/>
            </p:cNvSpPr>
            <p:nvPr/>
          </p:nvSpPr>
          <p:spPr bwMode="auto">
            <a:xfrm>
              <a:off x="3117" y="2073"/>
              <a:ext cx="22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latin typeface="Comic Sans MS" pitchFamily="66" charset="0"/>
                </a:rPr>
                <a:t>-</a:t>
              </a:r>
            </a:p>
          </p:txBody>
        </p:sp>
      </p:grpSp>
      <p:sp>
        <p:nvSpPr>
          <p:cNvPr id="26" name="Line 30"/>
          <p:cNvSpPr>
            <a:spLocks noChangeShapeType="1"/>
          </p:cNvSpPr>
          <p:nvPr/>
        </p:nvSpPr>
        <p:spPr bwMode="auto">
          <a:xfrm flipV="1">
            <a:off x="3049518" y="4087812"/>
            <a:ext cx="423863" cy="793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" name="Line 38"/>
          <p:cNvSpPr>
            <a:spLocks noChangeShapeType="1"/>
          </p:cNvSpPr>
          <p:nvPr/>
        </p:nvSpPr>
        <p:spPr bwMode="auto">
          <a:xfrm>
            <a:off x="3998446" y="4514853"/>
            <a:ext cx="11906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>
            <a:off x="2105351" y="3314700"/>
            <a:ext cx="0" cy="1981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2" name="Line 45"/>
          <p:cNvSpPr>
            <a:spLocks noChangeShapeType="1"/>
          </p:cNvSpPr>
          <p:nvPr/>
        </p:nvSpPr>
        <p:spPr bwMode="auto">
          <a:xfrm>
            <a:off x="2085113" y="5608637"/>
            <a:ext cx="2381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3522196" y="4711701"/>
            <a:ext cx="1291829" cy="995362"/>
            <a:chOff x="3287" y="2362"/>
            <a:chExt cx="1085" cy="627"/>
          </a:xfrm>
        </p:grpSpPr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3291" y="2378"/>
              <a:ext cx="780" cy="611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35" name="Group 54"/>
            <p:cNvGrpSpPr>
              <a:grpSpLocks/>
            </p:cNvGrpSpPr>
            <p:nvPr/>
          </p:nvGrpSpPr>
          <p:grpSpPr bwMode="auto">
            <a:xfrm>
              <a:off x="3299" y="2639"/>
              <a:ext cx="923" cy="331"/>
              <a:chOff x="2625" y="3029"/>
              <a:chExt cx="923" cy="331"/>
            </a:xfrm>
          </p:grpSpPr>
          <p:sp>
            <p:nvSpPr>
              <p:cNvPr id="38" name="Text Box 31"/>
              <p:cNvSpPr txBox="1">
                <a:spLocks noChangeArrowheads="1"/>
              </p:cNvSpPr>
              <p:nvPr/>
            </p:nvSpPr>
            <p:spPr bwMode="auto">
              <a:xfrm>
                <a:off x="2625" y="3127"/>
                <a:ext cx="92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dirty="0">
                    <a:solidFill>
                      <a:prstClr val="white"/>
                    </a:solidFill>
                    <a:latin typeface="Comic Sans MS" pitchFamily="66" charset="0"/>
                  </a:rPr>
                  <a:t>K</a:t>
                </a:r>
                <a:r>
                  <a:rPr lang="en-US" sz="1600" baseline="-25000" dirty="0">
                    <a:solidFill>
                      <a:prstClr val="white"/>
                    </a:solidFill>
                    <a:latin typeface="Comic Sans MS" pitchFamily="66" charset="0"/>
                  </a:rPr>
                  <a:t>B</a:t>
                </a:r>
                <a:r>
                  <a:rPr lang="en-US" dirty="0">
                    <a:solidFill>
                      <a:prstClr val="white"/>
                    </a:solidFill>
                    <a:latin typeface="Comic Sans MS" pitchFamily="66" charset="0"/>
                  </a:rPr>
                  <a:t>(H(m))</a:t>
                </a:r>
              </a:p>
            </p:txBody>
          </p:sp>
          <p:sp>
            <p:nvSpPr>
              <p:cNvPr id="39" name="Text Box 32"/>
              <p:cNvSpPr txBox="1">
                <a:spLocks noChangeArrowheads="1"/>
              </p:cNvSpPr>
              <p:nvPr/>
            </p:nvSpPr>
            <p:spPr bwMode="auto">
              <a:xfrm>
                <a:off x="2756" y="3029"/>
                <a:ext cx="7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prstClr val="white"/>
                    </a:solidFill>
                    <a:latin typeface="Comic Sans MS" pitchFamily="66" charset="0"/>
                  </a:rPr>
                  <a:t>-</a:t>
                </a:r>
              </a:p>
            </p:txBody>
          </p:sp>
        </p:grpSp>
        <p:sp>
          <p:nvSpPr>
            <p:cNvPr id="37" name="Text Box 53"/>
            <p:cNvSpPr txBox="1">
              <a:spLocks noChangeArrowheads="1"/>
            </p:cNvSpPr>
            <p:nvPr/>
          </p:nvSpPr>
          <p:spPr bwMode="auto">
            <a:xfrm>
              <a:off x="3287" y="2362"/>
              <a:ext cx="108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400" dirty="0">
                  <a:solidFill>
                    <a:prstClr val="white"/>
                  </a:solidFill>
                  <a:latin typeface="Comic Sans MS" pitchFamily="66" charset="0"/>
                </a:rPr>
                <a:t>encrypted </a:t>
              </a:r>
            </a:p>
            <a:p>
              <a:r>
                <a:rPr lang="en-US" sz="1400" dirty="0" err="1">
                  <a:solidFill>
                    <a:prstClr val="white"/>
                  </a:solidFill>
                  <a:latin typeface="Comic Sans MS" pitchFamily="66" charset="0"/>
                </a:rPr>
                <a:t>msg</a:t>
              </a:r>
              <a:r>
                <a:rPr lang="en-US" sz="1400" dirty="0">
                  <a:solidFill>
                    <a:prstClr val="white"/>
                  </a:solidFill>
                  <a:latin typeface="Comic Sans MS" pitchFamily="66" charset="0"/>
                </a:rPr>
                <a:t> digest</a:t>
              </a:r>
            </a:p>
          </p:txBody>
        </p:sp>
      </p:grpSp>
      <p:sp>
        <p:nvSpPr>
          <p:cNvPr id="40" name="Line 56"/>
          <p:cNvSpPr>
            <a:spLocks noChangeShapeType="1"/>
          </p:cNvSpPr>
          <p:nvPr/>
        </p:nvSpPr>
        <p:spPr bwMode="auto">
          <a:xfrm flipH="1">
            <a:off x="2181552" y="5464175"/>
            <a:ext cx="135136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2" name="Line 60"/>
          <p:cNvSpPr>
            <a:spLocks noChangeShapeType="1"/>
          </p:cNvSpPr>
          <p:nvPr/>
        </p:nvSpPr>
        <p:spPr bwMode="auto">
          <a:xfrm>
            <a:off x="7235755" y="3738562"/>
            <a:ext cx="11906" cy="312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49" name="Group 69"/>
          <p:cNvGrpSpPr>
            <a:grpSpLocks/>
          </p:cNvGrpSpPr>
          <p:nvPr/>
        </p:nvGrpSpPr>
        <p:grpSpPr bwMode="auto">
          <a:xfrm>
            <a:off x="5021192" y="3640138"/>
            <a:ext cx="925116" cy="895350"/>
            <a:chOff x="472" y="1308"/>
            <a:chExt cx="777" cy="564"/>
          </a:xfrm>
        </p:grpSpPr>
        <p:sp>
          <p:nvSpPr>
            <p:cNvPr id="50" name="Rectangle 70"/>
            <p:cNvSpPr>
              <a:spLocks noChangeArrowheads="1"/>
            </p:cNvSpPr>
            <p:nvPr/>
          </p:nvSpPr>
          <p:spPr bwMode="auto">
            <a:xfrm>
              <a:off x="477" y="1308"/>
              <a:ext cx="685" cy="4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1" name="Text Box 71"/>
            <p:cNvSpPr txBox="1">
              <a:spLocks noChangeArrowheads="1"/>
            </p:cNvSpPr>
            <p:nvPr/>
          </p:nvSpPr>
          <p:spPr bwMode="auto">
            <a:xfrm>
              <a:off x="472" y="1318"/>
              <a:ext cx="777" cy="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dirty="0">
                  <a:solidFill>
                    <a:srgbClr val="0070C0"/>
                  </a:solidFill>
                  <a:latin typeface="Comic Sans MS" pitchFamily="66" charset="0"/>
                </a:rPr>
                <a:t>large </a:t>
              </a:r>
            </a:p>
            <a:p>
              <a:pPr>
                <a:lnSpc>
                  <a:spcPct val="80000"/>
                </a:lnSpc>
              </a:pPr>
              <a:r>
                <a:rPr lang="en-US" sz="1600" dirty="0">
                  <a:solidFill>
                    <a:srgbClr val="0070C0"/>
                  </a:solidFill>
                  <a:latin typeface="Comic Sans MS" pitchFamily="66" charset="0"/>
                </a:rPr>
                <a:t>message</a:t>
              </a:r>
            </a:p>
            <a:p>
              <a:pPr>
                <a:lnSpc>
                  <a:spcPct val="80000"/>
                </a:lnSpc>
              </a:pPr>
              <a:r>
                <a:rPr lang="en-US" sz="1600" dirty="0">
                  <a:solidFill>
                    <a:srgbClr val="0070C0"/>
                  </a:solidFill>
                  <a:latin typeface="Comic Sans MS" pitchFamily="66" charset="0"/>
                </a:rPr>
                <a:t>m</a:t>
              </a:r>
            </a:p>
          </p:txBody>
        </p:sp>
      </p:grpSp>
      <p:grpSp>
        <p:nvGrpSpPr>
          <p:cNvPr id="52" name="Group 72"/>
          <p:cNvGrpSpPr>
            <a:grpSpLocks/>
          </p:cNvGrpSpPr>
          <p:nvPr/>
        </p:nvGrpSpPr>
        <p:grpSpPr bwMode="auto">
          <a:xfrm>
            <a:off x="5021192" y="4673599"/>
            <a:ext cx="879872" cy="631824"/>
            <a:chOff x="1376" y="982"/>
            <a:chExt cx="739" cy="398"/>
          </a:xfrm>
        </p:grpSpPr>
        <p:sp>
          <p:nvSpPr>
            <p:cNvPr id="53" name="Rectangle 73"/>
            <p:cNvSpPr>
              <a:spLocks noChangeArrowheads="1"/>
            </p:cNvSpPr>
            <p:nvPr/>
          </p:nvSpPr>
          <p:spPr bwMode="auto">
            <a:xfrm>
              <a:off x="1397" y="982"/>
              <a:ext cx="619" cy="3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4" name="Text Box 74"/>
            <p:cNvSpPr txBox="1">
              <a:spLocks noChangeArrowheads="1"/>
            </p:cNvSpPr>
            <p:nvPr/>
          </p:nvSpPr>
          <p:spPr bwMode="auto">
            <a:xfrm>
              <a:off x="1376" y="985"/>
              <a:ext cx="73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prstClr val="white"/>
                  </a:solidFill>
                  <a:latin typeface="Comic Sans MS" pitchFamily="66" charset="0"/>
                </a:rPr>
                <a:t>H: Hash</a:t>
              </a:r>
            </a:p>
            <a:p>
              <a:r>
                <a:rPr lang="en-US" sz="1400" dirty="0">
                  <a:solidFill>
                    <a:prstClr val="white"/>
                  </a:solidFill>
                  <a:latin typeface="Comic Sans MS" pitchFamily="66" charset="0"/>
                </a:rPr>
                <a:t>function</a:t>
              </a:r>
            </a:p>
          </p:txBody>
        </p:sp>
      </p:grpSp>
      <p:grpSp>
        <p:nvGrpSpPr>
          <p:cNvPr id="55" name="Group 82"/>
          <p:cNvGrpSpPr>
            <a:grpSpLocks/>
          </p:cNvGrpSpPr>
          <p:nvPr/>
        </p:nvGrpSpPr>
        <p:grpSpPr bwMode="auto">
          <a:xfrm>
            <a:off x="5115252" y="5518164"/>
            <a:ext cx="654844" cy="407988"/>
            <a:chOff x="3305" y="3136"/>
            <a:chExt cx="550" cy="257"/>
          </a:xfrm>
        </p:grpSpPr>
        <p:sp>
          <p:nvSpPr>
            <p:cNvPr id="56" name="Rectangle 75"/>
            <p:cNvSpPr>
              <a:spLocks noChangeArrowheads="1"/>
            </p:cNvSpPr>
            <p:nvPr/>
          </p:nvSpPr>
          <p:spPr bwMode="auto">
            <a:xfrm>
              <a:off x="3336" y="3136"/>
              <a:ext cx="480" cy="2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7" name="Text Box 76"/>
            <p:cNvSpPr txBox="1">
              <a:spLocks noChangeArrowheads="1"/>
            </p:cNvSpPr>
            <p:nvPr/>
          </p:nvSpPr>
          <p:spPr bwMode="auto">
            <a:xfrm>
              <a:off x="3305" y="3151"/>
              <a:ext cx="550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Comic Sans MS" pitchFamily="66" charset="0"/>
                </a:rPr>
                <a:t>H(m)</a:t>
              </a:r>
            </a:p>
          </p:txBody>
        </p:sp>
      </p:grpSp>
      <p:grpSp>
        <p:nvGrpSpPr>
          <p:cNvPr id="58" name="Group 78"/>
          <p:cNvGrpSpPr>
            <a:grpSpLocks/>
          </p:cNvGrpSpPr>
          <p:nvPr/>
        </p:nvGrpSpPr>
        <p:grpSpPr bwMode="auto">
          <a:xfrm>
            <a:off x="6845231" y="4090990"/>
            <a:ext cx="979884" cy="955675"/>
            <a:chOff x="1126" y="2124"/>
            <a:chExt cx="823" cy="602"/>
          </a:xfrm>
        </p:grpSpPr>
        <p:sp>
          <p:nvSpPr>
            <p:cNvPr id="59" name="Rectangle 79"/>
            <p:cNvSpPr>
              <a:spLocks noChangeArrowheads="1"/>
            </p:cNvSpPr>
            <p:nvPr/>
          </p:nvSpPr>
          <p:spPr bwMode="auto">
            <a:xfrm>
              <a:off x="1126" y="2124"/>
              <a:ext cx="751" cy="60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0" name="Text Box 80"/>
            <p:cNvSpPr txBox="1">
              <a:spLocks noChangeArrowheads="1"/>
            </p:cNvSpPr>
            <p:nvPr/>
          </p:nvSpPr>
          <p:spPr bwMode="auto">
            <a:xfrm>
              <a:off x="1131" y="2127"/>
              <a:ext cx="818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prstClr val="white"/>
                  </a:solidFill>
                  <a:latin typeface="Comic Sans MS" pitchFamily="66" charset="0"/>
                </a:rPr>
                <a:t>digital</a:t>
              </a:r>
            </a:p>
            <a:p>
              <a:r>
                <a:rPr lang="en-US" sz="1400" dirty="0">
                  <a:solidFill>
                    <a:prstClr val="white"/>
                  </a:solidFill>
                  <a:latin typeface="Comic Sans MS" pitchFamily="66" charset="0"/>
                </a:rPr>
                <a:t>signature</a:t>
              </a:r>
            </a:p>
            <a:p>
              <a:r>
                <a:rPr lang="en-US" sz="1400" dirty="0">
                  <a:solidFill>
                    <a:prstClr val="white"/>
                  </a:solidFill>
                  <a:latin typeface="Comic Sans MS" pitchFamily="66" charset="0"/>
                </a:rPr>
                <a:t>(decrypt)</a:t>
              </a:r>
            </a:p>
          </p:txBody>
        </p:sp>
      </p:grpSp>
      <p:sp>
        <p:nvSpPr>
          <p:cNvPr id="61" name="Line 81"/>
          <p:cNvSpPr>
            <a:spLocks noChangeShapeType="1"/>
          </p:cNvSpPr>
          <p:nvPr/>
        </p:nvSpPr>
        <p:spPr bwMode="auto">
          <a:xfrm>
            <a:off x="7247662" y="5133978"/>
            <a:ext cx="11906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62" name="Group 61"/>
          <p:cNvGrpSpPr>
            <a:grpSpLocks/>
          </p:cNvGrpSpPr>
          <p:nvPr/>
        </p:nvGrpSpPr>
        <p:grpSpPr bwMode="auto">
          <a:xfrm>
            <a:off x="6970245" y="5514989"/>
            <a:ext cx="654844" cy="407988"/>
            <a:chOff x="3305" y="3136"/>
            <a:chExt cx="550" cy="257"/>
          </a:xfrm>
        </p:grpSpPr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3336" y="3136"/>
              <a:ext cx="480" cy="2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4" name="Text Box 85"/>
            <p:cNvSpPr txBox="1">
              <a:spLocks noChangeArrowheads="1"/>
            </p:cNvSpPr>
            <p:nvPr/>
          </p:nvSpPr>
          <p:spPr bwMode="auto">
            <a:xfrm>
              <a:off x="3305" y="3151"/>
              <a:ext cx="550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Comic Sans MS" pitchFamily="66" charset="0"/>
                </a:rPr>
                <a:t>H(m)</a:t>
              </a:r>
            </a:p>
          </p:txBody>
        </p:sp>
      </p:grpSp>
      <p:sp>
        <p:nvSpPr>
          <p:cNvPr id="65" name="Line 86"/>
          <p:cNvSpPr>
            <a:spLocks noChangeShapeType="1"/>
          </p:cNvSpPr>
          <p:nvPr/>
        </p:nvSpPr>
        <p:spPr bwMode="auto">
          <a:xfrm flipH="1">
            <a:off x="5651033" y="2957512"/>
            <a:ext cx="108704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6" name="Line 87"/>
          <p:cNvSpPr>
            <a:spLocks noChangeShapeType="1"/>
          </p:cNvSpPr>
          <p:nvPr/>
        </p:nvSpPr>
        <p:spPr bwMode="auto">
          <a:xfrm>
            <a:off x="5377189" y="3300412"/>
            <a:ext cx="11906" cy="312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7" name="Line 88"/>
          <p:cNvSpPr>
            <a:spLocks noChangeShapeType="1"/>
          </p:cNvSpPr>
          <p:nvPr/>
        </p:nvSpPr>
        <p:spPr bwMode="auto">
          <a:xfrm>
            <a:off x="5406955" y="4422778"/>
            <a:ext cx="11906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8" name="Line 89"/>
          <p:cNvSpPr>
            <a:spLocks noChangeShapeType="1"/>
          </p:cNvSpPr>
          <p:nvPr/>
        </p:nvSpPr>
        <p:spPr bwMode="auto">
          <a:xfrm>
            <a:off x="5415289" y="5278437"/>
            <a:ext cx="11906" cy="312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9" name="Text Box 90"/>
          <p:cNvSpPr txBox="1">
            <a:spLocks noChangeArrowheads="1"/>
          </p:cNvSpPr>
          <p:nvPr/>
        </p:nvSpPr>
        <p:spPr bwMode="auto">
          <a:xfrm>
            <a:off x="5693895" y="4029076"/>
            <a:ext cx="78343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Bob’s </a:t>
            </a:r>
          </a:p>
          <a:p>
            <a:pPr algn="r"/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public</a:t>
            </a:r>
          </a:p>
          <a:p>
            <a:pPr algn="r"/>
            <a:r>
              <a:rPr lang="en-US" sz="1600" dirty="0">
                <a:solidFill>
                  <a:prstClr val="black"/>
                </a:solidFill>
                <a:latin typeface="Comic Sans MS" pitchFamily="66" charset="0"/>
              </a:rPr>
              <a:t>key </a:t>
            </a:r>
          </a:p>
        </p:txBody>
      </p:sp>
      <p:pic>
        <p:nvPicPr>
          <p:cNvPr id="70" name="Picture 69" descr="BS00768_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427321" y="4110037"/>
            <a:ext cx="344091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1" name="Group 70"/>
          <p:cNvGrpSpPr>
            <a:grpSpLocks/>
          </p:cNvGrpSpPr>
          <p:nvPr/>
        </p:nvGrpSpPr>
        <p:grpSpPr bwMode="auto">
          <a:xfrm>
            <a:off x="6384457" y="4435478"/>
            <a:ext cx="441722" cy="604838"/>
            <a:chOff x="2997" y="2073"/>
            <a:chExt cx="371" cy="381"/>
          </a:xfrm>
        </p:grpSpPr>
        <p:grpSp>
          <p:nvGrpSpPr>
            <p:cNvPr id="72" name="Group 71"/>
            <p:cNvGrpSpPr>
              <a:grpSpLocks/>
            </p:cNvGrpSpPr>
            <p:nvPr/>
          </p:nvGrpSpPr>
          <p:grpSpPr bwMode="auto">
            <a:xfrm>
              <a:off x="2997" y="2144"/>
              <a:ext cx="371" cy="310"/>
              <a:chOff x="2997" y="2144"/>
              <a:chExt cx="371" cy="310"/>
            </a:xfrm>
          </p:grpSpPr>
          <p:sp>
            <p:nvSpPr>
              <p:cNvPr id="74" name="Text Box 94"/>
              <p:cNvSpPr txBox="1">
                <a:spLocks noChangeArrowheads="1"/>
              </p:cNvSpPr>
              <p:nvPr/>
            </p:nvSpPr>
            <p:spPr bwMode="auto">
              <a:xfrm>
                <a:off x="2997" y="2144"/>
                <a:ext cx="35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rgbClr val="FF0000"/>
                    </a:solidFill>
                    <a:latin typeface="Comic Sans MS" pitchFamily="66" charset="0"/>
                  </a:rPr>
                  <a:t>K </a:t>
                </a:r>
              </a:p>
            </p:txBody>
          </p:sp>
          <p:sp>
            <p:nvSpPr>
              <p:cNvPr id="75" name="Text Box 95"/>
              <p:cNvSpPr txBox="1">
                <a:spLocks noChangeArrowheads="1"/>
              </p:cNvSpPr>
              <p:nvPr/>
            </p:nvSpPr>
            <p:spPr bwMode="auto">
              <a:xfrm>
                <a:off x="3104" y="2241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FF0000"/>
                    </a:solidFill>
                    <a:latin typeface="Comic Sans MS" pitchFamily="66" charset="0"/>
                  </a:rPr>
                  <a:t>B</a:t>
                </a:r>
              </a:p>
            </p:txBody>
          </p:sp>
        </p:grpSp>
        <p:sp>
          <p:nvSpPr>
            <p:cNvPr id="73" name="Text Box 96"/>
            <p:cNvSpPr txBox="1">
              <a:spLocks noChangeArrowheads="1"/>
            </p:cNvSpPr>
            <p:nvPr/>
          </p:nvSpPr>
          <p:spPr bwMode="auto">
            <a:xfrm>
              <a:off x="3113" y="2073"/>
              <a:ext cx="23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  <a:latin typeface="Comic Sans MS" pitchFamily="66" charset="0"/>
                </a:rPr>
                <a:t>+</a:t>
              </a:r>
            </a:p>
          </p:txBody>
        </p:sp>
      </p:grpSp>
      <p:sp>
        <p:nvSpPr>
          <p:cNvPr id="76" name="Line 97"/>
          <p:cNvSpPr>
            <a:spLocks noChangeShapeType="1"/>
          </p:cNvSpPr>
          <p:nvPr/>
        </p:nvSpPr>
        <p:spPr bwMode="auto">
          <a:xfrm flipV="1">
            <a:off x="6477328" y="4478337"/>
            <a:ext cx="317897" cy="793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7" name="Line 99"/>
          <p:cNvSpPr>
            <a:spLocks noChangeShapeType="1"/>
          </p:cNvSpPr>
          <p:nvPr/>
        </p:nvSpPr>
        <p:spPr bwMode="auto">
          <a:xfrm>
            <a:off x="5409336" y="5967412"/>
            <a:ext cx="654844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8" name="Line 100"/>
          <p:cNvSpPr>
            <a:spLocks noChangeShapeType="1"/>
          </p:cNvSpPr>
          <p:nvPr/>
        </p:nvSpPr>
        <p:spPr bwMode="auto">
          <a:xfrm flipH="1">
            <a:off x="6622584" y="5961062"/>
            <a:ext cx="654844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9" name="Freeform 104"/>
          <p:cNvSpPr>
            <a:spLocks/>
          </p:cNvSpPr>
          <p:nvPr/>
        </p:nvSpPr>
        <p:spPr bwMode="auto">
          <a:xfrm>
            <a:off x="2291090" y="2965450"/>
            <a:ext cx="2839641" cy="3294062"/>
          </a:xfrm>
          <a:custGeom>
            <a:avLst/>
            <a:gdLst>
              <a:gd name="T0" fmla="*/ 0 w 2385"/>
              <a:gd name="T1" fmla="*/ 2075 h 2075"/>
              <a:gd name="T2" fmla="*/ 2090 w 2385"/>
              <a:gd name="T3" fmla="*/ 2075 h 2075"/>
              <a:gd name="T4" fmla="*/ 2082 w 2385"/>
              <a:gd name="T5" fmla="*/ 0 h 2075"/>
              <a:gd name="T6" fmla="*/ 2385 w 2385"/>
              <a:gd name="T7" fmla="*/ 0 h 20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85" h="2075">
                <a:moveTo>
                  <a:pt x="0" y="2075"/>
                </a:moveTo>
                <a:lnTo>
                  <a:pt x="2090" y="2075"/>
                </a:lnTo>
                <a:lnTo>
                  <a:pt x="2082" y="0"/>
                </a:lnTo>
                <a:lnTo>
                  <a:pt x="2385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80" name="Group 79"/>
          <p:cNvGrpSpPr>
            <a:grpSpLocks/>
          </p:cNvGrpSpPr>
          <p:nvPr/>
        </p:nvGrpSpPr>
        <p:grpSpPr bwMode="auto">
          <a:xfrm>
            <a:off x="6766322" y="2667001"/>
            <a:ext cx="1291829" cy="995362"/>
            <a:chOff x="3287" y="2362"/>
            <a:chExt cx="1085" cy="627"/>
          </a:xfrm>
        </p:grpSpPr>
        <p:sp>
          <p:nvSpPr>
            <p:cNvPr id="81" name="Rectangle 37"/>
            <p:cNvSpPr>
              <a:spLocks noChangeArrowheads="1"/>
            </p:cNvSpPr>
            <p:nvPr/>
          </p:nvSpPr>
          <p:spPr bwMode="auto">
            <a:xfrm>
              <a:off x="3291" y="2378"/>
              <a:ext cx="780" cy="611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82" name="Group 54"/>
            <p:cNvGrpSpPr>
              <a:grpSpLocks/>
            </p:cNvGrpSpPr>
            <p:nvPr/>
          </p:nvGrpSpPr>
          <p:grpSpPr bwMode="auto">
            <a:xfrm>
              <a:off x="3299" y="2639"/>
              <a:ext cx="923" cy="331"/>
              <a:chOff x="2625" y="3029"/>
              <a:chExt cx="923" cy="331"/>
            </a:xfrm>
          </p:grpSpPr>
          <p:sp>
            <p:nvSpPr>
              <p:cNvPr id="84" name="Text Box 31"/>
              <p:cNvSpPr txBox="1">
                <a:spLocks noChangeArrowheads="1"/>
              </p:cNvSpPr>
              <p:nvPr/>
            </p:nvSpPr>
            <p:spPr bwMode="auto">
              <a:xfrm>
                <a:off x="2625" y="3127"/>
                <a:ext cx="92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dirty="0">
                    <a:solidFill>
                      <a:prstClr val="white"/>
                    </a:solidFill>
                    <a:latin typeface="Comic Sans MS" pitchFamily="66" charset="0"/>
                  </a:rPr>
                  <a:t>K</a:t>
                </a:r>
                <a:r>
                  <a:rPr lang="en-US" sz="1600" baseline="-25000" dirty="0">
                    <a:solidFill>
                      <a:prstClr val="white"/>
                    </a:solidFill>
                    <a:latin typeface="Comic Sans MS" pitchFamily="66" charset="0"/>
                  </a:rPr>
                  <a:t>B</a:t>
                </a:r>
                <a:r>
                  <a:rPr lang="en-US" dirty="0">
                    <a:solidFill>
                      <a:prstClr val="white"/>
                    </a:solidFill>
                    <a:latin typeface="Comic Sans MS" pitchFamily="66" charset="0"/>
                  </a:rPr>
                  <a:t>(H(m))</a:t>
                </a:r>
              </a:p>
            </p:txBody>
          </p:sp>
          <p:sp>
            <p:nvSpPr>
              <p:cNvPr id="85" name="Text Box 32"/>
              <p:cNvSpPr txBox="1">
                <a:spLocks noChangeArrowheads="1"/>
              </p:cNvSpPr>
              <p:nvPr/>
            </p:nvSpPr>
            <p:spPr bwMode="auto">
              <a:xfrm>
                <a:off x="2756" y="3029"/>
                <a:ext cx="53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sz="2000" dirty="0">
                    <a:solidFill>
                      <a:prstClr val="white"/>
                    </a:solidFill>
                    <a:latin typeface="Comic Sans MS" pitchFamily="66" charset="0"/>
                  </a:rPr>
                  <a:t>-</a:t>
                </a:r>
              </a:p>
            </p:txBody>
          </p:sp>
        </p:grpSp>
        <p:sp>
          <p:nvSpPr>
            <p:cNvPr id="83" name="Text Box 53"/>
            <p:cNvSpPr txBox="1">
              <a:spLocks noChangeArrowheads="1"/>
            </p:cNvSpPr>
            <p:nvPr/>
          </p:nvSpPr>
          <p:spPr bwMode="auto">
            <a:xfrm>
              <a:off x="3287" y="2362"/>
              <a:ext cx="108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400" dirty="0">
                  <a:solidFill>
                    <a:prstClr val="white"/>
                  </a:solidFill>
                  <a:latin typeface="Comic Sans MS" pitchFamily="66" charset="0"/>
                </a:rPr>
                <a:t>encrypted </a:t>
              </a:r>
            </a:p>
            <a:p>
              <a:r>
                <a:rPr lang="en-US" sz="1400" dirty="0" err="1">
                  <a:solidFill>
                    <a:prstClr val="white"/>
                  </a:solidFill>
                  <a:latin typeface="Comic Sans MS" pitchFamily="66" charset="0"/>
                </a:rPr>
                <a:t>msg</a:t>
              </a:r>
              <a:r>
                <a:rPr lang="en-US" sz="1400" dirty="0">
                  <a:solidFill>
                    <a:prstClr val="white"/>
                  </a:solidFill>
                  <a:latin typeface="Comic Sans MS" pitchFamily="66" charset="0"/>
                </a:rPr>
                <a:t> digest</a:t>
              </a:r>
            </a:p>
          </p:txBody>
        </p:sp>
      </p:grpSp>
      <p:sp>
        <p:nvSpPr>
          <p:cNvPr id="86" name="Text Box 40"/>
          <p:cNvSpPr txBox="1">
            <a:spLocks noChangeArrowheads="1"/>
          </p:cNvSpPr>
          <p:nvPr/>
        </p:nvSpPr>
        <p:spPr bwMode="auto">
          <a:xfrm>
            <a:off x="1943100" y="5184771"/>
            <a:ext cx="2854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omic Sans MS" pitchFamily="66" charset="0"/>
              </a:rPr>
              <a:t>+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843" y="5962278"/>
            <a:ext cx="497008" cy="667125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141" y="2591921"/>
            <a:ext cx="497008" cy="667125"/>
          </a:xfrm>
          <a:prstGeom prst="rect">
            <a:avLst/>
          </a:prstGeom>
        </p:spPr>
      </p:pic>
      <p:sp>
        <p:nvSpPr>
          <p:cNvPr id="88" name="AutoShape 40"/>
          <p:cNvSpPr>
            <a:spLocks noChangeArrowheads="1"/>
          </p:cNvSpPr>
          <p:nvPr/>
        </p:nvSpPr>
        <p:spPr bwMode="auto">
          <a:xfrm>
            <a:off x="6000751" y="5834062"/>
            <a:ext cx="667941" cy="795338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9" name="Text Box 41"/>
          <p:cNvSpPr txBox="1">
            <a:spLocks noChangeArrowheads="1"/>
          </p:cNvSpPr>
          <p:nvPr/>
        </p:nvSpPr>
        <p:spPr bwMode="auto">
          <a:xfrm>
            <a:off x="6000752" y="6067428"/>
            <a:ext cx="76495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compare</a:t>
            </a:r>
          </a:p>
        </p:txBody>
      </p:sp>
    </p:spTree>
    <p:extLst>
      <p:ext uri="{BB962C8B-B14F-4D97-AF65-F5344CB8AC3E}">
        <p14:creationId xmlns:p14="http://schemas.microsoft.com/office/powerpoint/2010/main" val="58628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Digital Signatures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Digital </a:t>
            </a:r>
            <a:r>
              <a:rPr lang="en-US" dirty="0"/>
              <a:t>Signature Standard (DSS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US </a:t>
            </a:r>
            <a:r>
              <a:rPr lang="en-US" dirty="0" smtClean="0"/>
              <a:t>Govt. </a:t>
            </a:r>
            <a:r>
              <a:rPr lang="en-US" dirty="0"/>
              <a:t>approved signature scheme, designed by NIST &amp; NSA in early 90's</a:t>
            </a:r>
          </a:p>
          <a:p>
            <a:pPr lvl="1"/>
            <a:r>
              <a:rPr lang="en-US" dirty="0"/>
              <a:t>Published as FIPS‐186 in 1991, revised in 1993, 1996 &amp; then 2000</a:t>
            </a:r>
          </a:p>
          <a:p>
            <a:pPr lvl="1"/>
            <a:r>
              <a:rPr lang="en-US" dirty="0"/>
              <a:t>Uses the SHA hash algorithm</a:t>
            </a:r>
          </a:p>
          <a:p>
            <a:pPr lvl="1"/>
            <a:r>
              <a:rPr lang="en-US" dirty="0"/>
              <a:t>FIPS 186‐2 (2000) includes alternative RSA (public‐key technique) &amp; elliptic curve signature variants</a:t>
            </a:r>
          </a:p>
          <a:p>
            <a:r>
              <a:rPr lang="en-US" dirty="0"/>
              <a:t>Digital Signature Algorithm (DSA)</a:t>
            </a:r>
          </a:p>
          <a:p>
            <a:pPr lvl="1"/>
            <a:r>
              <a:rPr lang="en-US" dirty="0"/>
              <a:t>Creates a 320 bit signature, with 512‐1024 bit security</a:t>
            </a:r>
          </a:p>
          <a:p>
            <a:pPr lvl="1"/>
            <a:r>
              <a:rPr lang="en-US" dirty="0"/>
              <a:t>Smaller and faster than RSA</a:t>
            </a:r>
          </a:p>
          <a:p>
            <a:pPr lvl="1"/>
            <a:r>
              <a:rPr lang="en-US" dirty="0" smtClean="0"/>
              <a:t>security depends </a:t>
            </a:r>
            <a:r>
              <a:rPr lang="en-US" dirty="0"/>
              <a:t>on difficulty of computing (discrete </a:t>
            </a:r>
            <a:r>
              <a:rPr lang="en-US"/>
              <a:t>logarithms</a:t>
            </a:r>
            <a:r>
              <a:rPr lang="en-US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331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0070C0"/>
                </a:solidFill>
              </a:rPr>
              <a:t>THANKS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93762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uhWvCQomImT50qU5y4Z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c48BxRTjzwKhAarpC8SPO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FUQynbDZ7CnnKAa7cx9MM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3440</Words>
  <Application>Microsoft Office PowerPoint</Application>
  <PresentationFormat>On-screen Show (4:3)</PresentationFormat>
  <Paragraphs>534</Paragraphs>
  <Slides>53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55" baseType="lpstr">
      <vt:lpstr>Office Theme</vt:lpstr>
      <vt:lpstr>Training</vt:lpstr>
      <vt:lpstr>CSC432 – information Security </vt:lpstr>
      <vt:lpstr>Authentication and Message Integrity</vt:lpstr>
      <vt:lpstr>Authentication</vt:lpstr>
      <vt:lpstr>Authentication</vt:lpstr>
      <vt:lpstr>Authentication</vt:lpstr>
      <vt:lpstr>Authentication</vt:lpstr>
      <vt:lpstr>Authentication</vt:lpstr>
      <vt:lpstr>Authentication</vt:lpstr>
      <vt:lpstr>Authentication</vt:lpstr>
      <vt:lpstr>Authentication</vt:lpstr>
      <vt:lpstr>Authentication</vt:lpstr>
      <vt:lpstr>Authentication</vt:lpstr>
      <vt:lpstr>Authentication</vt:lpstr>
      <vt:lpstr>Authentication</vt:lpstr>
      <vt:lpstr>Authentication</vt:lpstr>
      <vt:lpstr>Authentication</vt:lpstr>
      <vt:lpstr>Authentication</vt:lpstr>
      <vt:lpstr>Authentication</vt:lpstr>
      <vt:lpstr>Authentication</vt:lpstr>
      <vt:lpstr>Authentication</vt:lpstr>
      <vt:lpstr>Message Integrity</vt:lpstr>
      <vt:lpstr>Message Integrity</vt:lpstr>
      <vt:lpstr>Message Integrity</vt:lpstr>
      <vt:lpstr>Message Integrity</vt:lpstr>
      <vt:lpstr>Message Integrity</vt:lpstr>
      <vt:lpstr>Message Integrity</vt:lpstr>
      <vt:lpstr>Message Integrity</vt:lpstr>
      <vt:lpstr>Message Integrity</vt:lpstr>
      <vt:lpstr>Message Integrity</vt:lpstr>
      <vt:lpstr>Message Integrity</vt:lpstr>
      <vt:lpstr>Message Integrity</vt:lpstr>
      <vt:lpstr>Message Integrity</vt:lpstr>
      <vt:lpstr>Message Integrity – The Birthday Attack</vt:lpstr>
      <vt:lpstr>Message Integrity – The Birthday Attack</vt:lpstr>
      <vt:lpstr>Message Integrity – The Birthday Attack</vt:lpstr>
      <vt:lpstr>Message Integrity – The Birthday Attack</vt:lpstr>
      <vt:lpstr>Message Integrity – The Birthday Attack</vt:lpstr>
      <vt:lpstr>Message Integrity – The Birthday Attack</vt:lpstr>
      <vt:lpstr>Message Integrity – The Birthday Attack</vt:lpstr>
      <vt:lpstr>Message Integrity – The Birthday Attack</vt:lpstr>
      <vt:lpstr>Digital Signatures</vt:lpstr>
      <vt:lpstr>Digital Signatures</vt:lpstr>
      <vt:lpstr>Digital Signatures</vt:lpstr>
      <vt:lpstr>Digital Signatures</vt:lpstr>
      <vt:lpstr>Digital Signatures</vt:lpstr>
      <vt:lpstr>Digital Signatures</vt:lpstr>
      <vt:lpstr>Digital Signatures</vt:lpstr>
      <vt:lpstr>Digital Signatures</vt:lpstr>
      <vt:lpstr>Digital Signatures</vt:lpstr>
      <vt:lpstr>Digital Signatures</vt:lpstr>
      <vt:lpstr>Digital Signatures</vt:lpstr>
      <vt:lpstr>Digital Signatures</vt:lpstr>
      <vt:lpstr>THANKS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CSC332 – Data Security  and Encryption</dc:title>
  <dc:creator>Dr. Ahmad</dc:creator>
  <cp:lastModifiedBy>Adnan</cp:lastModifiedBy>
  <cp:revision>51</cp:revision>
  <dcterms:created xsi:type="dcterms:W3CDTF">2006-08-16T00:00:00Z</dcterms:created>
  <dcterms:modified xsi:type="dcterms:W3CDTF">2022-12-27T06:28:00Z</dcterms:modified>
</cp:coreProperties>
</file>