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8"/>
  </p:notesMasterIdLst>
  <p:sldIdLst>
    <p:sldId id="281" r:id="rId3"/>
    <p:sldId id="257" r:id="rId4"/>
    <p:sldId id="269" r:id="rId5"/>
    <p:sldId id="272" r:id="rId6"/>
    <p:sldId id="270" r:id="rId7"/>
    <p:sldId id="273" r:id="rId8"/>
    <p:sldId id="274" r:id="rId9"/>
    <p:sldId id="275" r:id="rId10"/>
    <p:sldId id="258" r:id="rId11"/>
    <p:sldId id="259" r:id="rId12"/>
    <p:sldId id="271" r:id="rId13"/>
    <p:sldId id="260" r:id="rId14"/>
    <p:sldId id="261" r:id="rId15"/>
    <p:sldId id="262" r:id="rId16"/>
    <p:sldId id="279" r:id="rId17"/>
    <p:sldId id="263" r:id="rId18"/>
    <p:sldId id="280" r:id="rId19"/>
    <p:sldId id="264" r:id="rId20"/>
    <p:sldId id="265" r:id="rId21"/>
    <p:sldId id="266" r:id="rId22"/>
    <p:sldId id="267" r:id="rId23"/>
    <p:sldId id="276" r:id="rId24"/>
    <p:sldId id="277" r:id="rId25"/>
    <p:sldId id="278" r:id="rId26"/>
    <p:sldId id="26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28" autoAdjust="0"/>
  </p:normalViewPr>
  <p:slideViewPr>
    <p:cSldViewPr>
      <p:cViewPr>
        <p:scale>
          <a:sx n="70" d="100"/>
          <a:sy n="70" d="100"/>
        </p:scale>
        <p:origin x="-1386"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34312E6-33DB-4E44-BCEE-70709B3EA880}" type="datetimeFigureOut">
              <a:rPr lang="en-US" smtClean="0"/>
              <a:t>9/20/2022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D27692-0CB7-4593-A572-9337D222AC28}" type="slidenum">
              <a:rPr lang="en-US" smtClean="0"/>
              <a:t>‹#›</a:t>
            </a:fld>
            <a:endParaRPr lang="en-US"/>
          </a:p>
        </p:txBody>
      </p:sp>
    </p:spTree>
    <p:extLst>
      <p:ext uri="{BB962C8B-B14F-4D97-AF65-F5344CB8AC3E}">
        <p14:creationId xmlns:p14="http://schemas.microsoft.com/office/powerpoint/2010/main" val="4072921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C6EAC7D-5A89-47C2-8ABA-56C9C2DEF7A4}"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1664726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dirty="0" smtClean="0">
              <a:ea typeface="ＭＳ Ｐゴシック" pitchFamily="34" charset="-128"/>
            </a:endParaRPr>
          </a:p>
        </p:txBody>
      </p:sp>
      <p:sp>
        <p:nvSpPr>
          <p:cNvPr id="215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FE68CAD7-7648-4F6A-9FF7-1D8F1D693BB1}" type="slidenum">
              <a:rPr lang="en-US" sz="1200"/>
              <a:pPr eaLnBrk="1" hangingPunct="1"/>
              <a:t>6</a:t>
            </a:fld>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ea typeface="ＭＳ Ｐゴシック" pitchFamily="34" charset="-128"/>
            </a:endParaRPr>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4E07E02-2AD8-4AE2-A0CC-B909DB6EA926}" type="slidenum">
              <a:rPr lang="en-AU" sz="1200"/>
              <a:pPr eaLnBrk="1" hangingPunct="1"/>
              <a:t>8</a:t>
            </a:fld>
            <a:endParaRPr lang="en-AU"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ea typeface="ＭＳ Ｐゴシック" pitchFamily="34" charset="-128"/>
            </a:endParaRPr>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7CA74AC8-FFBC-48E9-87C6-3D6FEA302E4E}" type="slidenum">
              <a:rPr lang="en-US" sz="1200"/>
              <a:pPr eaLnBrk="1" hangingPunct="1"/>
              <a:t>22</a:t>
            </a:fld>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smtClean="0">
              <a:ea typeface="ＭＳ Ｐゴシック" pitchFamily="34" charset="-128"/>
            </a:endParaRPr>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B1C03221-E641-4848-8607-5B7F56E3D8C9}" type="slidenum">
              <a:rPr lang="en-US" sz="1200"/>
              <a:pPr eaLnBrk="1" hangingPunct="1"/>
              <a:t>23</a:t>
            </a:fld>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ea typeface="ＭＳ Ｐゴシック" pitchFamily="34" charset="-128"/>
              </a:rPr>
              <a:t>To form the stream key for en/decryption (which are identical), RC4 continues to shuffle the permutation array S by continuing to swap each element in turn with some other entry, and using the sum of these two entry values to select another value from the permutation to use as the stream key, which is then XOR’d with the current message byte.</a:t>
            </a:r>
          </a:p>
          <a:p>
            <a:pPr eaLnBrk="1" hangingPunct="1">
              <a:spcBef>
                <a:spcPct val="0"/>
              </a:spcBef>
            </a:pPr>
            <a:endParaRPr lang="en-US" smtClean="0">
              <a:ea typeface="ＭＳ Ｐゴシック" pitchFamily="34" charset="-128"/>
            </a:endParaRPr>
          </a:p>
          <a:p>
            <a:pPr eaLnBrk="1" hangingPunct="1">
              <a:spcBef>
                <a:spcPct val="0"/>
              </a:spcBef>
            </a:pPr>
            <a:r>
              <a:rPr lang="en-US" smtClean="0">
                <a:latin typeface="Times-Roman" charset="0"/>
                <a:ea typeface="ＭＳ Ｐゴシック" pitchFamily="34" charset="-128"/>
              </a:rPr>
              <a:t>A number of papers have been published analyzing methods of attacking RC4, but none of these approaches is practical against RC4 with a reasonable key length, such as 128 bits.</a:t>
            </a:r>
          </a:p>
          <a:p>
            <a:pPr eaLnBrk="1" hangingPunct="1">
              <a:spcBef>
                <a:spcPct val="0"/>
              </a:spcBef>
            </a:pPr>
            <a:r>
              <a:rPr lang="en-US" smtClean="0">
                <a:latin typeface="Times-Roman" charset="0"/>
                <a:ea typeface="ＭＳ Ｐゴシック" pitchFamily="34" charset="-128"/>
              </a:rPr>
              <a:t>A more serious problem occurs in its use in the WEP protocol, not with RC4 itself but the way in which keys are generated for use as input to RC4.</a:t>
            </a:r>
            <a:endParaRPr lang="en-AU" smtClean="0">
              <a:ea typeface="ＭＳ Ｐゴシック" pitchFamily="34" charset="-128"/>
            </a:endParaRPr>
          </a:p>
          <a:p>
            <a:pPr eaLnBrk="1" hangingPunct="1">
              <a:spcBef>
                <a:spcPct val="0"/>
              </a:spcBef>
            </a:pPr>
            <a:r>
              <a:rPr lang="en-AU" smtClean="0">
                <a:ea typeface="ＭＳ Ｐゴシック" pitchFamily="34" charset="-128"/>
              </a:rPr>
              <a:t>Currently RC4 its regarded as quite secure, if used correctly, with a sufficiently large key.</a:t>
            </a:r>
          </a:p>
          <a:p>
            <a:pPr eaLnBrk="1" hangingPunct="1">
              <a:spcBef>
                <a:spcPct val="0"/>
              </a:spcBef>
            </a:pPr>
            <a:endParaRPr lang="en-AU" smtClean="0">
              <a:ea typeface="ＭＳ Ｐゴシック" pitchFamily="34" charset="-128"/>
            </a:endParaRPr>
          </a:p>
          <a:p>
            <a:pPr eaLnBrk="1" hangingPunct="1">
              <a:spcBef>
                <a:spcPct val="0"/>
              </a:spcBef>
            </a:pPr>
            <a:endParaRPr lang="en-AU" smtClean="0">
              <a:ea typeface="ＭＳ Ｐゴシック" pitchFamily="34" charset="-128"/>
            </a:endParaRPr>
          </a:p>
          <a:p>
            <a:pPr eaLnBrk="1" hangingPunct="1">
              <a:spcBef>
                <a:spcPct val="0"/>
              </a:spcBef>
            </a:pPr>
            <a:endParaRPr lang="en-AU" smtClean="0">
              <a:ea typeface="ＭＳ Ｐゴシック" pitchFamily="34" charset="-128"/>
            </a:endParaRPr>
          </a:p>
          <a:p>
            <a:endParaRPr lang="en-US" smtClean="0">
              <a:ea typeface="ＭＳ Ｐゴシック" pitchFamily="34" charset="-128"/>
            </a:endParaRPr>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8F3FF162-A6FA-48BA-8E7C-60A020D85F5D}" type="slidenum">
              <a:rPr lang="en-US" sz="1200"/>
              <a:pPr eaLnBrk="1" hangingPunct="1"/>
              <a:t>24</a:t>
            </a:fld>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3"/>
          <p:cNvSpPr>
            <a:spLocks noGrp="1" noChangeArrowheads="1"/>
          </p:cNvSpPr>
          <p:nvPr>
            <p:ph type="hdr" sz="quarter"/>
          </p:nvPr>
        </p:nvSpPr>
        <p:spPr>
          <a:noFill/>
        </p:spPr>
        <p:txBody>
          <a:bodyPr/>
          <a:lstStyle/>
          <a:p>
            <a:r>
              <a:rPr lang="en-US" dirty="0" smtClean="0">
                <a:solidFill>
                  <a:prstClr val="black"/>
                </a:solidFill>
              </a:rPr>
              <a:t>Microsoft </a:t>
            </a:r>
            <a:r>
              <a:rPr lang="en-US" b="1" dirty="0" smtClean="0">
                <a:solidFill>
                  <a:prstClr val="black"/>
                </a:solidFill>
              </a:rPr>
              <a:t>Engineering Excellence</a:t>
            </a:r>
            <a:endParaRPr lang="en-US" dirty="0" smtClean="0">
              <a:solidFill>
                <a:prstClr val="black"/>
              </a:solidFill>
            </a:endParaRPr>
          </a:p>
        </p:txBody>
      </p:sp>
      <p:sp>
        <p:nvSpPr>
          <p:cNvPr id="43011" name="Rectangle 25"/>
          <p:cNvSpPr>
            <a:spLocks noGrp="1" noChangeArrowheads="1"/>
          </p:cNvSpPr>
          <p:nvPr>
            <p:ph type="ftr" sz="quarter" idx="4"/>
          </p:nvPr>
        </p:nvSpPr>
        <p:spPr>
          <a:noFill/>
        </p:spPr>
        <p:txBody>
          <a:bodyPr/>
          <a:lstStyle/>
          <a:p>
            <a:r>
              <a:rPr lang="en-US" dirty="0" smtClean="0">
                <a:solidFill>
                  <a:prstClr val="black"/>
                </a:solidFill>
              </a:rPr>
              <a:t>Microsoft Confidential</a:t>
            </a:r>
          </a:p>
        </p:txBody>
      </p:sp>
      <p:sp>
        <p:nvSpPr>
          <p:cNvPr id="43012" name="Rectangle 26"/>
          <p:cNvSpPr>
            <a:spLocks noGrp="1" noChangeArrowheads="1"/>
          </p:cNvSpPr>
          <p:nvPr>
            <p:ph type="sldNum" sz="quarter" idx="5"/>
          </p:nvPr>
        </p:nvSpPr>
        <p:spPr>
          <a:noFill/>
        </p:spPr>
        <p:txBody>
          <a:bodyPr/>
          <a:lstStyle/>
          <a:p>
            <a:fld id="{B5FF76F4-FC11-42FE-9D94-04E3E6D16C06}" type="slidenum">
              <a:rPr lang="en-US" smtClean="0">
                <a:solidFill>
                  <a:prstClr val="black"/>
                </a:solidFill>
              </a:rPr>
              <a:pPr/>
              <a:t>25</a:t>
            </a:fld>
            <a:endParaRPr lang="en-US" dirty="0" smtClean="0">
              <a:solidFill>
                <a:prstClr val="black"/>
              </a:solidFill>
            </a:endParaRPr>
          </a:p>
        </p:txBody>
      </p:sp>
      <p:sp>
        <p:nvSpPr>
          <p:cNvPr id="43013" name="Rectangle 2"/>
          <p:cNvSpPr>
            <a:spLocks noGrp="1" noRot="1" noChangeAspect="1" noChangeArrowheads="1" noTextEdit="1"/>
          </p:cNvSpPr>
          <p:nvPr>
            <p:ph type="sldImg"/>
          </p:nvPr>
        </p:nvSpPr>
        <p:spPr>
          <a:xfrm>
            <a:off x="381000" y="450850"/>
            <a:ext cx="6096000" cy="3429000"/>
          </a:xfrm>
          <a:ln/>
        </p:spPr>
      </p:sp>
      <p:sp>
        <p:nvSpPr>
          <p:cNvPr id="43014" name="Rectangle 3"/>
          <p:cNvSpPr>
            <a:spLocks noGrp="1" noChangeArrowheads="1"/>
          </p:cNvSpPr>
          <p:nvPr>
            <p:ph type="body" idx="1"/>
          </p:nvPr>
        </p:nvSpPr>
        <p:spPr>
          <a:xfrm>
            <a:off x="307492" y="4130103"/>
            <a:ext cx="6261652" cy="4603230"/>
          </a:xfrm>
          <a:noFill/>
          <a:ln/>
        </p:spPr>
        <p:txBody>
          <a:bodyPr/>
          <a:lstStyle/>
          <a:p>
            <a:pPr>
              <a:buFontTx/>
              <a:buNone/>
            </a:pPr>
            <a:endParaRPr lang="en-US" dirty="0" smtClean="0"/>
          </a:p>
          <a:p>
            <a:endParaRPr lang="en-US" dirty="0" smtClean="0"/>
          </a:p>
          <a:p>
            <a:endParaRPr lang="en-US" dirty="0" smtClean="0"/>
          </a:p>
          <a:p>
            <a:endParaRPr lang="en-US" dirty="0" smtClean="0"/>
          </a:p>
        </p:txBody>
      </p:sp>
    </p:spTree>
    <p:extLst>
      <p:ext uri="{BB962C8B-B14F-4D97-AF65-F5344CB8AC3E}">
        <p14:creationId xmlns:p14="http://schemas.microsoft.com/office/powerpoint/2010/main" val="3761005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1"/>
          <p:cNvSpPr>
            <a:spLocks noGrp="1"/>
          </p:cNvSpPr>
          <p:nvPr>
            <p:ph type="ctrTitle" hasCustomPrompt="1"/>
          </p:nvPr>
        </p:nvSpPr>
        <p:spPr>
          <a:xfrm>
            <a:off x="2590801" y="2286002"/>
            <a:ext cx="6180224" cy="1470025"/>
          </a:xfrm>
        </p:spPr>
        <p:txBody>
          <a:bodyPr anchor="t"/>
          <a:lstStyle>
            <a:lvl1pPr algn="r">
              <a:defRPr b="1" cap="small" baseline="0">
                <a:solidFill>
                  <a:srgbClr val="003300"/>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962401" y="40386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0" y="1251"/>
            <a:ext cx="3721618" cy="6858000"/>
          </a:xfrm>
          <a:prstGeom prst="rect">
            <a:avLst/>
          </a:prstGeom>
        </p:spPr>
      </p:pic>
      <p:sp>
        <p:nvSpPr>
          <p:cNvPr id="10" name="Picture Placeholder 9"/>
          <p:cNvSpPr>
            <a:spLocks noGrp="1"/>
          </p:cNvSpPr>
          <p:nvPr>
            <p:ph type="pic" sz="quarter" idx="13" hasCustomPrompt="1"/>
          </p:nvPr>
        </p:nvSpPr>
        <p:spPr>
          <a:xfrm>
            <a:off x="6858000" y="5105400"/>
            <a:ext cx="1828800" cy="990600"/>
          </a:xfrm>
        </p:spPr>
        <p:txBody>
          <a:bodyPr>
            <a:normAutofit/>
          </a:bodyPr>
          <a:lstStyle>
            <a:lvl1pPr marL="0" indent="0" algn="ctr">
              <a:buNone/>
              <a:defRPr sz="2000" baseline="0"/>
            </a:lvl1pPr>
          </a:lstStyle>
          <a:p>
            <a:r>
              <a:rPr lang="en-US" dirty="0" smtClean="0"/>
              <a:t>Company Logo</a:t>
            </a:r>
            <a:endParaRPr lang="en-US" dirty="0"/>
          </a:p>
        </p:txBody>
      </p:sp>
    </p:spTree>
    <p:extLst>
      <p:ext uri="{BB962C8B-B14F-4D97-AF65-F5344CB8AC3E}">
        <p14:creationId xmlns:p14="http://schemas.microsoft.com/office/powerpoint/2010/main" val="4206440522"/>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rot="5400000">
            <a:off x="3161049" y="-3176815"/>
            <a:ext cx="2819400" cy="9173031"/>
          </a:xfrm>
          <a:prstGeom prst="rect">
            <a:avLst/>
          </a:prstGeom>
        </p:spPr>
      </p:pic>
      <p:sp>
        <p:nvSpPr>
          <p:cNvPr id="2" name="Title 1"/>
          <p:cNvSpPr>
            <a:spLocks noGrp="1"/>
          </p:cNvSpPr>
          <p:nvPr>
            <p:ph type="title" hasCustomPrompt="1"/>
          </p:nvPr>
        </p:nvSpPr>
        <p:spPr>
          <a:xfrm>
            <a:off x="4572000" y="3048000"/>
            <a:ext cx="4343400" cy="1362075"/>
          </a:xfrm>
        </p:spPr>
        <p:txBody>
          <a:bodyPr anchor="b" anchorCtr="0">
            <a:normAutofit/>
          </a:bodyPr>
          <a:lstStyle>
            <a:lvl1pPr algn="ctr">
              <a:defRPr sz="3600" b="1" cap="small" baseline="0">
                <a:solidFill>
                  <a:srgbClr val="0AA1C5"/>
                </a:solidFill>
                <a:latin typeface="Segoe UI" panose="020B0502040204020203" pitchFamily="34" charset="0"/>
                <a:cs typeface="Segoe UI" panose="020B0502040204020203" pitchFamily="34"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
        <p:nvSpPr>
          <p:cNvPr id="10" name="Picture Placeholder 9"/>
          <p:cNvSpPr>
            <a:spLocks noGrp="1"/>
          </p:cNvSpPr>
          <p:nvPr>
            <p:ph type="pic" sz="quarter" idx="13" hasCustomPrompt="1"/>
          </p:nvPr>
        </p:nvSpPr>
        <p:spPr>
          <a:xfrm>
            <a:off x="6781800" y="5334000"/>
            <a:ext cx="2133600" cy="990600"/>
          </a:xfrm>
        </p:spPr>
        <p:txBody>
          <a:bodyPr>
            <a:normAutofit/>
          </a:bodyPr>
          <a:lstStyle>
            <a:lvl1pPr marL="0" indent="0" algn="ctr">
              <a:buNone/>
              <a:defRPr sz="1800"/>
            </a:lvl1pPr>
          </a:lstStyle>
          <a:p>
            <a:r>
              <a:rPr lang="en-US" dirty="0" smtClean="0"/>
              <a:t>Company Logo</a:t>
            </a:r>
            <a:endParaRPr lang="en-US" dirty="0"/>
          </a:p>
        </p:txBody>
      </p:sp>
      <p:sp>
        <p:nvSpPr>
          <p:cNvPr id="3" name="TextBox 2"/>
          <p:cNvSpPr txBox="1"/>
          <p:nvPr userDrawn="1"/>
        </p:nvSpPr>
        <p:spPr>
          <a:xfrm>
            <a:off x="4800600" y="959825"/>
            <a:ext cx="3505200" cy="584775"/>
          </a:xfrm>
          <a:prstGeom prst="rect">
            <a:avLst/>
          </a:prstGeom>
          <a:noFill/>
        </p:spPr>
        <p:txBody>
          <a:bodyPr wrap="square" rtlCol="0" anchor="ctr">
            <a:spAutoFit/>
          </a:bodyPr>
          <a:lstStyle/>
          <a:p>
            <a:pPr algn="ctr"/>
            <a:r>
              <a:rPr lang="en-US" sz="3200" b="1"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Module # 7</a:t>
            </a:r>
            <a:endParaRPr lang="en-US" sz="3200" b="1"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68996633"/>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152402"/>
            <a:ext cx="8382000" cy="864207"/>
          </a:xfrm>
          <a:noFill/>
        </p:spPr>
        <p:txBody>
          <a:bodyPr lIns="182880" anchor="ctr" anchorCtr="0">
            <a:normAutofit/>
          </a:bodyPr>
          <a:lstStyle>
            <a:lvl1pPr algn="l">
              <a:defRPr lang="en-US" sz="3600" b="1" dirty="0">
                <a:solidFill>
                  <a:srgbClr val="0AA1C5"/>
                </a:solidFill>
                <a:effectLst/>
                <a:latin typeface="Segoe UI" panose="020B0502040204020203" pitchFamily="34" charset="0"/>
                <a:cs typeface="Segoe UI" panose="020B0502040204020203"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609600" y="1169009"/>
            <a:ext cx="8382000" cy="5536592"/>
          </a:xfrm>
        </p:spPr>
        <p:txBody>
          <a:bodyPr tIns="91440" rIns="365760" bIns="91440">
            <a:normAutofit/>
          </a:bodyPr>
          <a:lstStyle>
            <a:lvl1pPr marL="457200" indent="-457200" algn="just">
              <a:buFont typeface="Wingdings" panose="05000000000000000000" pitchFamily="2" charset="2"/>
              <a:buChar char="q"/>
              <a:defRPr sz="2400">
                <a:solidFill>
                  <a:srgbClr val="0070C0"/>
                </a:solidFill>
                <a:latin typeface="Segoe UI" panose="020B0502040204020203" pitchFamily="34" charset="0"/>
                <a:cs typeface="Segoe UI" panose="020B0502040204020203" pitchFamily="34" charset="0"/>
              </a:defRPr>
            </a:lvl1pPr>
            <a:lvl2pPr marL="806450" indent="-349250" algn="just">
              <a:buFont typeface="Wingdings" panose="05000000000000000000" pitchFamily="2" charset="2"/>
              <a:buChar char="q"/>
              <a:defRPr sz="2000">
                <a:solidFill>
                  <a:srgbClr val="0070C0"/>
                </a:solidFill>
                <a:latin typeface="Segoe UI" panose="020B0502040204020203" pitchFamily="34" charset="0"/>
                <a:cs typeface="Segoe UI" panose="020B0502040204020203" pitchFamily="34" charset="0"/>
              </a:defRPr>
            </a:lvl2pPr>
            <a:lvl3pPr marL="1263650" indent="-349250" algn="just">
              <a:buFont typeface="Wingdings" panose="05000000000000000000" pitchFamily="2" charset="2"/>
              <a:buChar char="q"/>
              <a:defRPr sz="1800">
                <a:solidFill>
                  <a:srgbClr val="0070C0"/>
                </a:solidFill>
                <a:latin typeface="Segoe UI" panose="020B0502040204020203" pitchFamily="34" charset="0"/>
                <a:cs typeface="Segoe UI" panose="020B0502040204020203" pitchFamily="34" charset="0"/>
              </a:defRPr>
            </a:lvl3pPr>
            <a:lvl4pPr marL="1720850" indent="-349250" algn="just">
              <a:buFont typeface="Wingdings" panose="05000000000000000000" pitchFamily="2" charset="2"/>
              <a:buChar char="q"/>
              <a:defRPr sz="1600">
                <a:solidFill>
                  <a:srgbClr val="0070C0"/>
                </a:solidFill>
                <a:latin typeface="Segoe UI" panose="020B0502040204020203" pitchFamily="34" charset="0"/>
                <a:cs typeface="Segoe UI" panose="020B0502040204020203" pitchFamily="34" charset="0"/>
              </a:defRPr>
            </a:lvl4pPr>
            <a:lvl5pPr marL="2057400" indent="-228600" algn="just">
              <a:buFont typeface="Wingdings" panose="05000000000000000000" pitchFamily="2" charset="2"/>
              <a:buChar char="q"/>
              <a:defRPr sz="1400">
                <a:solidFill>
                  <a:srgbClr val="0070C0"/>
                </a:solidFill>
                <a:latin typeface="Segoe UI" panose="020B0502040204020203" pitchFamily="34" charset="0"/>
                <a:cs typeface="Segoe UI" panose="020B0502040204020203"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cxnSp>
        <p:nvCxnSpPr>
          <p:cNvPr id="6" name="Straight Connector 5"/>
          <p:cNvCxnSpPr/>
          <p:nvPr userDrawn="1"/>
        </p:nvCxnSpPr>
        <p:spPr>
          <a:xfrm>
            <a:off x="548640" y="990600"/>
            <a:ext cx="7680960" cy="0"/>
          </a:xfrm>
          <a:prstGeom prst="line">
            <a:avLst/>
          </a:prstGeom>
          <a:ln w="69850">
            <a:solidFill>
              <a:srgbClr val="0AA1C5"/>
            </a:solidFill>
          </a:ln>
        </p:spPr>
        <p:style>
          <a:lnRef idx="1">
            <a:schemeClr val="accent1"/>
          </a:lnRef>
          <a:fillRef idx="0">
            <a:schemeClr val="accent1"/>
          </a:fillRef>
          <a:effectRef idx="0">
            <a:schemeClr val="accent1"/>
          </a:effectRef>
          <a:fontRef idx="minor">
            <a:schemeClr val="tx1"/>
          </a:fontRef>
        </p:style>
      </p:cxn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772401" y="0"/>
            <a:ext cx="1449845" cy="1280160"/>
          </a:xfrm>
          <a:prstGeom prst="rect">
            <a:avLst/>
          </a:prstGeom>
        </p:spPr>
      </p:pic>
    </p:spTree>
    <p:extLst>
      <p:ext uri="{BB962C8B-B14F-4D97-AF65-F5344CB8AC3E}">
        <p14:creationId xmlns:p14="http://schemas.microsoft.com/office/powerpoint/2010/main" val="3247905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76800" y="1600202"/>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28926746"/>
      </p:ext>
    </p:extLst>
  </p:cSld>
  <p:clrMapOvr>
    <a:masterClrMapping/>
  </p:clrMapOvr>
  <p:transition spd="slow">
    <p:wipe dir="d"/>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858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8736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8736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424672538"/>
      </p:ext>
    </p:extLst>
  </p:cSld>
  <p:clrMapOvr>
    <a:masterClrMapping/>
  </p:clrMapOvr>
  <p:transition spd="slow">
    <p:wipe di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8036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858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807556994"/>
      </p:ext>
    </p:extLst>
  </p:cSld>
  <p:clrMapOvr>
    <a:masterClrMapping/>
  </p:clrMapOvr>
  <p:transition spd="slow">
    <p:wipe dir="d"/>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091431826"/>
      </p:ext>
    </p:extLst>
  </p:cSld>
  <p:clrMapOvr>
    <a:masterClrMapping/>
  </p:clrMapOvr>
  <p:transition spd="slow">
    <p:wipe di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765183866"/>
      </p:ext>
    </p:extLst>
  </p:cSld>
  <p:clrMapOvr>
    <a:masterClrMapping/>
  </p:clrMapOvr>
  <p:transition spd="slow">
    <p:wipe di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274640"/>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274640"/>
            <a:ext cx="5867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798292840"/>
      </p:ext>
    </p:extLst>
  </p:cSld>
  <p:clrMapOvr>
    <a:masterClrMapping/>
  </p:clrMapOvr>
  <p:transition spd="slow">
    <p:wipe di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90813312"/>
      </p:ext>
    </p:extLst>
  </p:cSld>
  <p:clrMapOvr>
    <a:masterClrMapping/>
  </p:clrMapOvr>
  <p:transition spd="slow">
    <p:wipe dir="d"/>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594498483"/>
      </p:ext>
    </p:extLst>
  </p:cSld>
  <p:clrMapOvr>
    <a:masterClrMapping/>
  </p:clrMapOvr>
  <p:transition spd="slow">
    <p:wipe dir="d"/>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ackground Only">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3" name="Date Placeholder 3"/>
          <p:cNvSpPr>
            <a:spLocks noGrp="1"/>
          </p:cNvSpPr>
          <p:nvPr>
            <p:ph type="dt" sz="half" idx="10"/>
          </p:nvPr>
        </p:nvSpPr>
        <p:spPr>
          <a:xfrm>
            <a:off x="762000" y="6356352"/>
            <a:ext cx="2133600" cy="365125"/>
          </a:xfrm>
        </p:spPr>
        <p:txBody>
          <a:body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4" name="Footer Placeholder 4"/>
          <p:cNvSpPr>
            <a:spLocks noGrp="1"/>
          </p:cNvSpPr>
          <p:nvPr>
            <p:ph type="ftr" sz="quarter" idx="11"/>
          </p:nvPr>
        </p:nvSpPr>
        <p:spPr>
          <a:xfrm>
            <a:off x="3352800" y="6356352"/>
            <a:ext cx="2895600" cy="365125"/>
          </a:xfrm>
        </p:spPr>
        <p:txBody>
          <a:bodyPr/>
          <a:lstStyle/>
          <a:p>
            <a:endParaRPr lang="en-US" dirty="0">
              <a:solidFill>
                <a:prstClr val="black">
                  <a:tint val="75000"/>
                </a:prstClr>
              </a:solidFill>
            </a:endParaRPr>
          </a:p>
        </p:txBody>
      </p:sp>
      <p:sp>
        <p:nvSpPr>
          <p:cNvPr id="5" name="Slide Number Placeholder 5"/>
          <p:cNvSpPr>
            <a:spLocks noGrp="1"/>
          </p:cNvSpPr>
          <p:nvPr>
            <p:ph type="sldNum" sz="quarter" idx="12"/>
          </p:nvPr>
        </p:nvSpPr>
        <p:spPr>
          <a:xfrm>
            <a:off x="6705600" y="6356352"/>
            <a:ext cx="2133600" cy="365125"/>
          </a:xfrm>
        </p:spPr>
        <p:txBody>
          <a:body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26464702"/>
      </p:ext>
    </p:extLst>
  </p:cSld>
  <p:clrMapOvr>
    <a:masterClrMapping/>
  </p:clrMapOvr>
  <p:transition spd="slow">
    <p:wipe dir="d"/>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1"/>
          <p:cNvSpPr>
            <a:spLocks noGrp="1"/>
          </p:cNvSpPr>
          <p:nvPr>
            <p:ph type="ctrTitle" hasCustomPrompt="1"/>
          </p:nvPr>
        </p:nvSpPr>
        <p:spPr>
          <a:xfrm>
            <a:off x="2532292" y="1969862"/>
            <a:ext cx="6180224" cy="1470025"/>
          </a:xfrm>
        </p:spPr>
        <p:txBody>
          <a:bodyPr anchor="t"/>
          <a:lstStyle>
            <a:lvl1pPr algn="r">
              <a:defRPr b="1" cap="small" baseline="0">
                <a:solidFill>
                  <a:srgbClr val="465F46"/>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4191000" y="5715000"/>
            <a:ext cx="4772528" cy="990600"/>
          </a:xfrm>
        </p:spPr>
        <p:txBody>
          <a:bodyPr>
            <a:normAutofit/>
          </a:bodyPr>
          <a:lstStyle>
            <a:lvl1pPr marL="0" indent="0" algn="r">
              <a:buNone/>
              <a:defRPr sz="2000" b="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pic>
        <p:nvPicPr>
          <p:cNvPr id="7" name="Picture 6"/>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1" y="1251"/>
            <a:ext cx="2457450" cy="6858000"/>
          </a:xfrm>
          <a:prstGeom prst="rect">
            <a:avLst/>
          </a:prstGeom>
        </p:spPr>
      </p:pic>
    </p:spTree>
    <p:extLst>
      <p:ext uri="{BB962C8B-B14F-4D97-AF65-F5344CB8AC3E}">
        <p14:creationId xmlns:p14="http://schemas.microsoft.com/office/powerpoint/2010/main" val="2800930199"/>
      </p:ext>
    </p:extLst>
  </p:cSld>
  <p:clrMapOvr>
    <a:masterClrMapping/>
  </p:clrMapOvr>
  <p:transition spd="slow">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jpe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9/20/2022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43544" y="0"/>
            <a:ext cx="9100457" cy="6879771"/>
          </a:xfrm>
          <a:prstGeom prst="rect">
            <a:avLst/>
          </a:prstGeom>
        </p:spPr>
      </p:pic>
      <p:sp>
        <p:nvSpPr>
          <p:cNvPr id="2" name="Title Placeholder 1"/>
          <p:cNvSpPr>
            <a:spLocks noGrp="1"/>
          </p:cNvSpPr>
          <p:nvPr>
            <p:ph type="title"/>
          </p:nvPr>
        </p:nvSpPr>
        <p:spPr>
          <a:xfrm>
            <a:off x="762000" y="274638"/>
            <a:ext cx="8077200" cy="11430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2000" y="1600202"/>
            <a:ext cx="80772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2000" y="6356352"/>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7B281C-5159-4971-8228-52B9A72E9ED2}" type="datetimeFigureOut">
              <a:rPr lang="en-US" smtClean="0">
                <a:solidFill>
                  <a:prstClr val="black">
                    <a:tint val="75000"/>
                  </a:prstClr>
                </a:solidFill>
              </a:rPr>
              <a:pPr/>
              <a:t>9/20/2022</a:t>
            </a:fld>
            <a:endParaRPr lang="en-US" dirty="0">
              <a:solidFill>
                <a:prstClr val="black">
                  <a:tint val="75000"/>
                </a:prstClr>
              </a:solidFill>
            </a:endParaRPr>
          </a:p>
        </p:txBody>
      </p:sp>
      <p:sp>
        <p:nvSpPr>
          <p:cNvPr id="5" name="Footer Placeholder 4"/>
          <p:cNvSpPr>
            <a:spLocks noGrp="1"/>
          </p:cNvSpPr>
          <p:nvPr>
            <p:ph type="ftr" sz="quarter" idx="3"/>
          </p:nvPr>
        </p:nvSpPr>
        <p:spPr>
          <a:xfrm>
            <a:off x="33528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705600" y="6356352"/>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D6E5A2-EC83-451F-A719-9AC1370DD5CF}" type="slidenum">
              <a:rPr lang="en-US" smtClean="0">
                <a:solidFill>
                  <a:prstClr val="black">
                    <a:tint val="75000"/>
                  </a:prstClr>
                </a:solidFill>
              </a:rPr>
              <a:pPr/>
              <a:t>‹#›</a:t>
            </a:fld>
            <a:endParaRPr lang="en-US" dirty="0">
              <a:solidFill>
                <a:prstClr val="black">
                  <a:tint val="75000"/>
                </a:prstClr>
              </a:solidFill>
            </a:endParaRPr>
          </a:p>
        </p:txBody>
      </p:sp>
      <p:pic>
        <p:nvPicPr>
          <p:cNvPr id="8" name="Picture 7"/>
          <p:cNvPicPr>
            <a:picLocks noChangeAspect="1"/>
          </p:cNvPicPr>
          <p:nvPr/>
        </p:nvPicPr>
        <p:blipFill rotWithShape="1">
          <a:blip r:embed="rId16" cstate="email">
            <a:extLst>
              <a:ext uri="{28A0092B-C50C-407E-A947-70E740481C1C}">
                <a14:useLocalDpi xmlns:a14="http://schemas.microsoft.com/office/drawing/2010/main"/>
              </a:ext>
            </a:extLst>
          </a:blip>
          <a:srcRect/>
          <a:stretch/>
        </p:blipFill>
        <p:spPr>
          <a:xfrm>
            <a:off x="-152399" y="-109183"/>
            <a:ext cx="818707" cy="7083189"/>
          </a:xfrm>
          <a:prstGeom prst="rect">
            <a:avLst/>
          </a:prstGeom>
        </p:spPr>
      </p:pic>
    </p:spTree>
    <p:extLst>
      <p:ext uri="{BB962C8B-B14F-4D97-AF65-F5344CB8AC3E}">
        <p14:creationId xmlns:p14="http://schemas.microsoft.com/office/powerpoint/2010/main" val="39498640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slow">
    <p:wipe dir="d"/>
  </p:transition>
  <p:timing>
    <p:tnLst>
      <p:par>
        <p:cTn id="1" dur="indefinite" restart="never" nodeType="tmRoot"/>
      </p:par>
    </p:tnLst>
  </p:timing>
  <p:txStyles>
    <p:titleStyle>
      <a:lvl1pPr algn="l" defTabSz="914400" rtl="0" eaLnBrk="1" latinLnBrk="0" hangingPunct="1">
        <a:spcBef>
          <a:spcPct val="0"/>
        </a:spcBef>
        <a:buNone/>
        <a:defRPr lang="en-US" sz="4400" kern="1200" dirty="0" smtClean="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6.png"/><Relationship Id="rId5" Type="http://schemas.openxmlformats.org/officeDocument/2006/relationships/notesSlide" Target="../notesSlides/notesSlide1.xml"/><Relationship Id="rId4"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emf"/><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hyperlink" Target="https://www.youtube.com/watch?v=KM-xZYZXElk" TargetMode="Externa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4000502" y="1828800"/>
            <a:ext cx="4025601" cy="762000"/>
          </a:xfrm>
        </p:spPr>
        <p:txBody>
          <a:bodyPr>
            <a:normAutofit fontScale="90000"/>
          </a:bodyPr>
          <a:lstStyle/>
          <a:p>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CSC432 </a:t>
            </a:r>
            <a:r>
              <a:rPr lang="en-US" sz="4000"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 </a:t>
            </a:r>
            <a:r>
              <a:rPr lang="en-US" sz="4000" dirty="0" smtClean="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rPr>
              <a:t>information Security </a:t>
            </a:r>
            <a:endParaRPr lang="en-US" sz="4000" dirty="0">
              <a:solidFill>
                <a:srgbClr val="0070C0"/>
              </a:solidFill>
              <a:effectLst>
                <a:outerShdw blurRad="38100" dist="38100" dir="2700000" algn="tl">
                  <a:srgbClr val="000000">
                    <a:alpha val="43137"/>
                  </a:srgbClr>
                </a:outerShdw>
              </a:effectLst>
              <a:latin typeface="Segoe UI" panose="020B0502040204020203" pitchFamily="34" charset="0"/>
              <a:cs typeface="Segoe UI" panose="020B0502040204020203" pitchFamily="34" charset="0"/>
            </a:endParaRPr>
          </a:p>
        </p:txBody>
      </p:sp>
      <p:sp>
        <p:nvSpPr>
          <p:cNvPr id="3" name="Subtitle 2"/>
          <p:cNvSpPr>
            <a:spLocks noGrp="1"/>
          </p:cNvSpPr>
          <p:nvPr>
            <p:ph type="subTitle" idx="1"/>
            <p:custDataLst>
              <p:tags r:id="rId3"/>
            </p:custDataLst>
          </p:nvPr>
        </p:nvSpPr>
        <p:spPr>
          <a:xfrm>
            <a:off x="5715001" y="4419600"/>
            <a:ext cx="2836446" cy="533400"/>
          </a:xfrm>
        </p:spPr>
        <p:txBody>
          <a:bodyPr>
            <a:normAutofit/>
          </a:bodyPr>
          <a:lstStyle/>
          <a:p>
            <a:r>
              <a:rPr lang="en-US" sz="2400" b="1" dirty="0" smtClean="0">
                <a:solidFill>
                  <a:srgbClr val="0070C0"/>
                </a:solidFill>
                <a:latin typeface="+mn-lt"/>
              </a:rPr>
              <a:t>Dr. Adnan Ahmad</a:t>
            </a:r>
            <a:endParaRPr lang="en-US" sz="2400" b="1" dirty="0">
              <a:solidFill>
                <a:srgbClr val="0070C0"/>
              </a:solidFill>
              <a:latin typeface="+mn-lt"/>
            </a:endParaRPr>
          </a:p>
        </p:txBody>
      </p:sp>
      <p:pic>
        <p:nvPicPr>
          <p:cNvPr id="7" name="Picture 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507457" y="1500195"/>
            <a:ext cx="1607344" cy="1419225"/>
          </a:xfrm>
          <a:prstGeom prst="rect">
            <a:avLst/>
          </a:prstGeom>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21957" y="304803"/>
            <a:ext cx="1607344" cy="1419225"/>
          </a:xfrm>
          <a:prstGeom prst="rect">
            <a:avLst/>
          </a:prstGeom>
        </p:spPr>
      </p:pic>
    </p:spTree>
    <p:custDataLst>
      <p:tags r:id="rId1"/>
    </p:custDataLst>
    <p:extLst>
      <p:ext uri="{BB962C8B-B14F-4D97-AF65-F5344CB8AC3E}">
        <p14:creationId xmlns:p14="http://schemas.microsoft.com/office/powerpoint/2010/main" val="418417720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
                                        <p:tgtEl>
                                          <p:spTgt spid="7"/>
                                        </p:tgtEl>
                                      </p:cBhvr>
                                    </p:animEffect>
                                  </p:childTnLst>
                                </p:cTn>
                              </p:par>
                            </p:childTnLst>
                          </p:cTn>
                        </p:par>
                        <p:par>
                          <p:cTn id="8" fill="hold">
                            <p:stCondLst>
                              <p:cond delay="600"/>
                            </p:stCondLst>
                            <p:childTnLst>
                              <p:par>
                                <p:cTn id="9" presetID="43" presetClass="path" presetSubtype="0" decel="50000" fill="hold" nodeType="afterEffect">
                                  <p:stCondLst>
                                    <p:cond delay="0"/>
                                  </p:stCondLst>
                                  <p:childTnLst>
                                    <p:animMotion origin="layout" path="M 6.25E-7 -0.00092 C 0.04036 -0.00092 0.40469 -0.00185 0.52695 -0.00254 C 0.64909 -0.00301 0.79466 0.00232 0.73294 -0.00509 C 0.67591 -0.03379 0.74687 0.03912 0.74687 -0.00023 " pathEditMode="relative" rAng="0" ptsTypes="AAAA">
                                      <p:cBhvr>
                                        <p:cTn id="10" dur="1500" fill="hold"/>
                                        <p:tgtEl>
                                          <p:spTgt spid="7"/>
                                        </p:tgtEl>
                                        <p:attrNameLst>
                                          <p:attrName>ppt_x</p:attrName>
                                          <p:attrName>ppt_y</p:attrName>
                                        </p:attrNameLst>
                                      </p:cBhvr>
                                      <p:rCtr x="37383" y="93"/>
                                    </p:animMotion>
                                  </p:childTnLst>
                                </p:cTn>
                              </p:par>
                              <p:par>
                                <p:cTn id="11" presetID="22" presetClass="entr" presetSubtype="8"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left)">
                                      <p:cBhvr>
                                        <p:cTn id="13" dur="1100"/>
                                        <p:tgtEl>
                                          <p:spTgt spid="2"/>
                                        </p:tgtEl>
                                      </p:cBhvr>
                                    </p:animEffect>
                                  </p:childTnLst>
                                </p:cTn>
                              </p:par>
                              <p:par>
                                <p:cTn id="14" presetID="1" presetClass="entr" presetSubtype="0" fill="hold" nodeType="withEffect">
                                  <p:stCondLst>
                                    <p:cond delay="1000"/>
                                  </p:stCondLst>
                                  <p:childTnLst>
                                    <p:set>
                                      <p:cBhvr>
                                        <p:cTn id="15" dur="1" fill="hold">
                                          <p:stCondLst>
                                            <p:cond delay="0"/>
                                          </p:stCondLst>
                                        </p:cTn>
                                        <p:tgtEl>
                                          <p:spTgt spid="8"/>
                                        </p:tgtEl>
                                        <p:attrNameLst>
                                          <p:attrName>style.visibility</p:attrName>
                                        </p:attrNameLst>
                                      </p:cBhvr>
                                      <p:to>
                                        <p:strVal val="visible"/>
                                      </p:to>
                                    </p:set>
                                  </p:childTnLst>
                                </p:cTn>
                              </p:par>
                              <p:par>
                                <p:cTn id="16" presetID="26" presetClass="emph" presetSubtype="0" fill="hold" nodeType="withEffect">
                                  <p:stCondLst>
                                    <p:cond delay="1000"/>
                                  </p:stCondLst>
                                  <p:childTnLst>
                                    <p:animEffect transition="out" filter="fade">
                                      <p:cBhvr>
                                        <p:cTn id="17" dur="500" tmFilter="0, 0; .2, .5; .8, .5; 1, 0"/>
                                        <p:tgtEl>
                                          <p:spTgt spid="8"/>
                                        </p:tgtEl>
                                      </p:cBhvr>
                                    </p:animEffect>
                                    <p:animScale>
                                      <p:cBhvr>
                                        <p:cTn id="18" dur="250" autoRev="1" fill="hold"/>
                                        <p:tgtEl>
                                          <p:spTgt spid="8"/>
                                        </p:tgtEl>
                                      </p:cBhvr>
                                      <p:by x="105000" y="105000"/>
                                    </p:animScale>
                                  </p:childTnLst>
                                </p:cTn>
                              </p:par>
                              <p:par>
                                <p:cTn id="19" presetID="26" presetClass="emph" presetSubtype="0" fill="hold" nodeType="withEffect">
                                  <p:stCondLst>
                                    <p:cond delay="1200"/>
                                  </p:stCondLst>
                                  <p:childTnLst>
                                    <p:animEffect transition="out" filter="fade">
                                      <p:cBhvr>
                                        <p:cTn id="20" dur="500" tmFilter="0, 0; .2, .5; .8, .5; 1, 0"/>
                                        <p:tgtEl>
                                          <p:spTgt spid="8"/>
                                        </p:tgtEl>
                                      </p:cBhvr>
                                    </p:animEffect>
                                    <p:animScale>
                                      <p:cBhvr>
                                        <p:cTn id="21" dur="250" autoRev="1" fill="hold"/>
                                        <p:tgtEl>
                                          <p:spTgt spid="8"/>
                                        </p:tgtEl>
                                      </p:cBhvr>
                                      <p:by x="105000" y="105000"/>
                                    </p:animScale>
                                  </p:childTnLst>
                                </p:cTn>
                              </p:par>
                            </p:childTnLst>
                          </p:cTn>
                        </p:par>
                        <p:par>
                          <p:cTn id="22" fill="hold">
                            <p:stCondLst>
                              <p:cond delay="2300"/>
                            </p:stCondLst>
                            <p:childTnLst>
                              <p:par>
                                <p:cTn id="23" presetID="14" presetClass="entr" presetSubtype="10" fill="hold" nodeType="after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randombar(horizontal)">
                                      <p:cBhvr>
                                        <p:cTn id="25"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71650" y="3048004"/>
            <a:ext cx="6057900" cy="1362075"/>
          </a:xfrm>
        </p:spPr>
        <p:txBody>
          <a:bodyPr anchor="ctr">
            <a:normAutofit/>
          </a:bodyPr>
          <a:lstStyle/>
          <a:p>
            <a:r>
              <a:rPr lang="en-US" dirty="0" smtClean="0"/>
              <a:t>Stream Ciphers and RC4</a:t>
            </a:r>
            <a:endParaRPr lang="en-US" dirty="0"/>
          </a:p>
        </p:txBody>
      </p:sp>
    </p:spTree>
    <p:extLst>
      <p:ext uri="{BB962C8B-B14F-4D97-AF65-F5344CB8AC3E}">
        <p14:creationId xmlns:p14="http://schemas.microsoft.com/office/powerpoint/2010/main" val="2730616475"/>
      </p:ext>
    </p:extLst>
  </p:cSld>
  <p:clrMapOvr>
    <a:masterClrMapping/>
  </p:clrMapOvr>
  <p:transition spd="slow">
    <p:wipe dir="d"/>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Modern Ciphers</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a:t>Stream </a:t>
            </a:r>
            <a:r>
              <a:rPr lang="en-US" b="1" u="sng" dirty="0" smtClean="0"/>
              <a:t>Ciphers</a:t>
            </a:r>
          </a:p>
          <a:p>
            <a:r>
              <a:rPr lang="en-US" dirty="0" smtClean="0"/>
              <a:t>Encrypts </a:t>
            </a:r>
            <a:r>
              <a:rPr lang="en-US" dirty="0"/>
              <a:t>a digital data stream one bit or one byte at a time</a:t>
            </a:r>
          </a:p>
          <a:p>
            <a:r>
              <a:rPr lang="en-US" dirty="0"/>
              <a:t>One time pad is </a:t>
            </a:r>
            <a:r>
              <a:rPr lang="en-US" dirty="0" smtClean="0"/>
              <a:t>an example</a:t>
            </a:r>
            <a:r>
              <a:rPr lang="en-US" dirty="0"/>
              <a:t>; but practical limitations</a:t>
            </a:r>
          </a:p>
          <a:p>
            <a:r>
              <a:rPr lang="en-US" dirty="0"/>
              <a:t>Typical approach for stream cipher:</a:t>
            </a:r>
          </a:p>
          <a:p>
            <a:pPr lvl="1"/>
            <a:r>
              <a:rPr lang="en-US" dirty="0"/>
              <a:t>Key </a:t>
            </a:r>
            <a:r>
              <a:rPr lang="en-US" dirty="0" smtClean="0"/>
              <a:t>(k) </a:t>
            </a:r>
            <a:r>
              <a:rPr lang="en-US" dirty="0"/>
              <a:t>used as input to bit-stream generator algorithm</a:t>
            </a:r>
          </a:p>
          <a:p>
            <a:pPr lvl="1"/>
            <a:r>
              <a:rPr lang="en-US" dirty="0"/>
              <a:t>Algorithm generates cryptographic bit stream (</a:t>
            </a:r>
            <a:r>
              <a:rPr lang="en-US" dirty="0" err="1" smtClean="0"/>
              <a:t>k</a:t>
            </a:r>
            <a:r>
              <a:rPr lang="en-US" baseline="-25000" dirty="0" err="1" smtClean="0"/>
              <a:t>i</a:t>
            </a:r>
            <a:r>
              <a:rPr lang="en-US" dirty="0" smtClean="0"/>
              <a:t>) </a:t>
            </a:r>
            <a:r>
              <a:rPr lang="en-US" dirty="0"/>
              <a:t>used to encrypt plaintext</a:t>
            </a:r>
          </a:p>
          <a:p>
            <a:pPr lvl="1"/>
            <a:r>
              <a:rPr lang="en-US" dirty="0"/>
              <a:t>Users share a key; use it to generate </a:t>
            </a:r>
            <a:r>
              <a:rPr lang="en-US" dirty="0" smtClean="0"/>
              <a:t>key-stream</a:t>
            </a:r>
            <a:endParaRPr lang="en-US" dirty="0"/>
          </a:p>
        </p:txBody>
      </p:sp>
    </p:spTree>
    <p:extLst>
      <p:ext uri="{BB962C8B-B14F-4D97-AF65-F5344CB8AC3E}">
        <p14:creationId xmlns:p14="http://schemas.microsoft.com/office/powerpoint/2010/main" val="310031329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smtClean="0">
                <a:latin typeface="Calibri" pitchFamily="34" charset="0"/>
                <a:ea typeface="ＭＳ Ｐゴシック" pitchFamily="34" charset="-128"/>
              </a:rPr>
              <a:t>Example </a:t>
            </a:r>
          </a:p>
        </p:txBody>
      </p:sp>
      <p:sp>
        <p:nvSpPr>
          <p:cNvPr id="17411" name="Content Placeholder 2"/>
          <p:cNvSpPr>
            <a:spLocks noGrp="1"/>
          </p:cNvSpPr>
          <p:nvPr>
            <p:ph sz="quarter" idx="1"/>
          </p:nvPr>
        </p:nvSpPr>
        <p:spPr>
          <a:xfrm>
            <a:off x="457200" y="1219200"/>
            <a:ext cx="8229600" cy="4937125"/>
          </a:xfrm>
        </p:spPr>
        <p:txBody>
          <a:bodyPr/>
          <a:lstStyle/>
          <a:p>
            <a:r>
              <a:rPr lang="en-US" b="1" dirty="0" smtClean="0">
                <a:latin typeface="Calibri" pitchFamily="34" charset="0"/>
                <a:ea typeface="ＭＳ Ｐゴシック" pitchFamily="34" charset="-128"/>
                <a:sym typeface="Symbol" pitchFamily="18" charset="2"/>
              </a:rPr>
              <a:t>Encryption:</a:t>
            </a:r>
          </a:p>
          <a:p>
            <a:pPr lvl="1"/>
            <a:r>
              <a:rPr lang="en-US" dirty="0" smtClean="0">
                <a:latin typeface="Calibri" pitchFamily="34" charset="0"/>
                <a:ea typeface="ＭＳ Ｐゴシック" pitchFamily="34" charset="-128"/>
                <a:sym typeface="Symbol" pitchFamily="18" charset="2"/>
              </a:rPr>
              <a:t>   1001001 1000110	plaintext</a:t>
            </a:r>
          </a:p>
          <a:p>
            <a:pPr lvl="1"/>
            <a:r>
              <a:rPr lang="en-US" dirty="0" smtClean="0">
                <a:latin typeface="Calibri" pitchFamily="34" charset="0"/>
                <a:ea typeface="ＭＳ Ｐゴシック" pitchFamily="34" charset="-128"/>
                <a:sym typeface="Symbol" pitchFamily="18" charset="2"/>
              </a:rPr>
              <a:t>   1010110 0110001	key</a:t>
            </a:r>
          </a:p>
          <a:p>
            <a:pPr lvl="1"/>
            <a:r>
              <a:rPr lang="en-US" dirty="0" smtClean="0">
                <a:latin typeface="Calibri" pitchFamily="34" charset="0"/>
                <a:ea typeface="ＭＳ Ｐゴシック" pitchFamily="34" charset="-128"/>
                <a:sym typeface="Symbol" pitchFamily="18" charset="2"/>
              </a:rPr>
              <a:t>    0011111 1110110	</a:t>
            </a:r>
            <a:r>
              <a:rPr lang="en-US" dirty="0" err="1" smtClean="0">
                <a:latin typeface="Calibri" pitchFamily="34" charset="0"/>
                <a:ea typeface="ＭＳ Ｐゴシック" pitchFamily="34" charset="-128"/>
                <a:sym typeface="Symbol" pitchFamily="18" charset="2"/>
              </a:rPr>
              <a:t>ciphertext</a:t>
            </a:r>
            <a:r>
              <a:rPr lang="en-US" dirty="0" smtClean="0">
                <a:latin typeface="Calibri" pitchFamily="34" charset="0"/>
                <a:ea typeface="ＭＳ Ｐゴシック" pitchFamily="34" charset="-128"/>
                <a:sym typeface="Symbol" pitchFamily="18" charset="2"/>
              </a:rPr>
              <a:t>	</a:t>
            </a:r>
            <a:endParaRPr lang="en-US" dirty="0" smtClean="0">
              <a:latin typeface="Calibri" pitchFamily="34" charset="0"/>
              <a:ea typeface="ＭＳ Ｐゴシック" pitchFamily="34" charset="-128"/>
              <a:cs typeface="Times New Roman" pitchFamily="18" charset="0"/>
              <a:sym typeface="Symbol" pitchFamily="18" charset="2"/>
            </a:endParaRPr>
          </a:p>
          <a:p>
            <a:endParaRPr lang="en-US" dirty="0" smtClean="0">
              <a:latin typeface="Calibri" pitchFamily="34" charset="0"/>
              <a:ea typeface="ＭＳ Ｐゴシック" pitchFamily="34" charset="-128"/>
              <a:cs typeface="Times New Roman" pitchFamily="18" charset="0"/>
              <a:sym typeface="Symbol" pitchFamily="18" charset="2"/>
            </a:endParaRPr>
          </a:p>
          <a:p>
            <a:r>
              <a:rPr lang="en-US" b="1" dirty="0" smtClean="0">
                <a:latin typeface="Calibri" pitchFamily="34" charset="0"/>
                <a:ea typeface="ＭＳ Ｐゴシック" pitchFamily="34" charset="-128"/>
                <a:sym typeface="Symbol" pitchFamily="18" charset="2"/>
              </a:rPr>
              <a:t>Decryption:</a:t>
            </a:r>
          </a:p>
          <a:p>
            <a:pPr lvl="1"/>
            <a:r>
              <a:rPr lang="en-US" dirty="0" smtClean="0">
                <a:latin typeface="Calibri" pitchFamily="34" charset="0"/>
                <a:ea typeface="ＭＳ Ｐゴシック" pitchFamily="34" charset="-128"/>
                <a:sym typeface="Symbol" pitchFamily="18" charset="2"/>
              </a:rPr>
              <a:t>   0011111 1110110 	</a:t>
            </a:r>
            <a:r>
              <a:rPr lang="en-US" dirty="0" err="1" smtClean="0">
                <a:latin typeface="Calibri" pitchFamily="34" charset="0"/>
                <a:ea typeface="ＭＳ Ｐゴシック" pitchFamily="34" charset="-128"/>
                <a:sym typeface="Symbol" pitchFamily="18" charset="2"/>
              </a:rPr>
              <a:t>ciphertext</a:t>
            </a:r>
            <a:endParaRPr lang="en-US" dirty="0" smtClean="0">
              <a:latin typeface="Calibri" pitchFamily="34" charset="0"/>
              <a:ea typeface="ＭＳ Ｐゴシック" pitchFamily="34" charset="-128"/>
              <a:sym typeface="Symbol" pitchFamily="18" charset="2"/>
            </a:endParaRPr>
          </a:p>
          <a:p>
            <a:pPr lvl="1"/>
            <a:r>
              <a:rPr lang="en-US" dirty="0" smtClean="0">
                <a:latin typeface="Calibri" pitchFamily="34" charset="0"/>
                <a:ea typeface="ＭＳ Ｐゴシック" pitchFamily="34" charset="-128"/>
                <a:sym typeface="Symbol" pitchFamily="18" charset="2"/>
              </a:rPr>
              <a:t>   1010110 0110001	key</a:t>
            </a:r>
          </a:p>
          <a:p>
            <a:pPr lvl="1"/>
            <a:r>
              <a:rPr lang="en-US" dirty="0" smtClean="0">
                <a:latin typeface="Calibri" pitchFamily="34" charset="0"/>
                <a:ea typeface="ＭＳ Ｐゴシック" pitchFamily="34" charset="-128"/>
                <a:sym typeface="Symbol" pitchFamily="18" charset="2"/>
              </a:rPr>
              <a:t>   1001001 1000110 	plaintext</a:t>
            </a:r>
          </a:p>
          <a:p>
            <a:endParaRPr lang="en-US" dirty="0" smtClean="0">
              <a:latin typeface="Calibri" pitchFamily="34" charset="0"/>
              <a:ea typeface="ＭＳ Ｐゴシック" pitchFamily="34" charset="-128"/>
            </a:endParaRPr>
          </a:p>
        </p:txBody>
      </p:sp>
    </p:spTree>
    <p:extLst>
      <p:ext uri="{BB962C8B-B14F-4D97-AF65-F5344CB8AC3E}">
        <p14:creationId xmlns:p14="http://schemas.microsoft.com/office/powerpoint/2010/main" val="23521131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Modern Ciphers</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a:t>Stream Ciphers</a:t>
            </a:r>
          </a:p>
          <a:p>
            <a:pPr marL="0" indent="0">
              <a:buNone/>
            </a:pPr>
            <a:endParaRPr lang="en-US" dirty="0"/>
          </a:p>
        </p:txBody>
      </p:sp>
      <p:pic>
        <p:nvPicPr>
          <p:cNvPr id="4" name="Picture 3"/>
          <p:cNvPicPr>
            <a:picLocks noChangeAspect="1"/>
          </p:cNvPicPr>
          <p:nvPr/>
        </p:nvPicPr>
        <p:blipFill>
          <a:blip r:embed="rId2"/>
          <a:stretch>
            <a:fillRect/>
          </a:stretch>
        </p:blipFill>
        <p:spPr>
          <a:xfrm>
            <a:off x="842883" y="2057400"/>
            <a:ext cx="7843917" cy="3962400"/>
          </a:xfrm>
          <a:prstGeom prst="rect">
            <a:avLst/>
          </a:prstGeom>
        </p:spPr>
      </p:pic>
    </p:spTree>
    <p:extLst>
      <p:ext uri="{BB962C8B-B14F-4D97-AF65-F5344CB8AC3E}">
        <p14:creationId xmlns:p14="http://schemas.microsoft.com/office/powerpoint/2010/main" val="39855471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AU" smtClean="0">
                <a:latin typeface="Calibri" pitchFamily="34" charset="0"/>
                <a:ea typeface="ＭＳ Ｐゴシック" pitchFamily="34" charset="-128"/>
              </a:rPr>
              <a:t>Random Numbers</a:t>
            </a:r>
            <a:endParaRPr lang="en-US" smtClean="0">
              <a:latin typeface="Calibri" pitchFamily="34" charset="0"/>
              <a:ea typeface="ＭＳ Ｐゴシック" pitchFamily="34" charset="-128"/>
            </a:endParaRPr>
          </a:p>
        </p:txBody>
      </p:sp>
      <p:sp>
        <p:nvSpPr>
          <p:cNvPr id="20483" name="Content Placeholder 2"/>
          <p:cNvSpPr>
            <a:spLocks noGrp="1"/>
          </p:cNvSpPr>
          <p:nvPr>
            <p:ph sz="quarter" idx="1"/>
          </p:nvPr>
        </p:nvSpPr>
        <p:spPr>
          <a:xfrm>
            <a:off x="457200" y="1219200"/>
            <a:ext cx="8229600" cy="4937125"/>
          </a:xfrm>
        </p:spPr>
        <p:txBody>
          <a:bodyPr/>
          <a:lstStyle/>
          <a:p>
            <a:r>
              <a:rPr lang="en-US" smtClean="0">
                <a:latin typeface="Calibri" pitchFamily="34" charset="0"/>
                <a:ea typeface="ＭＳ Ｐゴシック" pitchFamily="34" charset="-128"/>
              </a:rPr>
              <a:t>M</a:t>
            </a:r>
            <a:r>
              <a:rPr lang="en-AU" sz="2800" smtClean="0">
                <a:latin typeface="Calibri" pitchFamily="34" charset="0"/>
                <a:ea typeface="ＭＳ Ｐゴシック" pitchFamily="34" charset="-128"/>
              </a:rPr>
              <a:t>any uses of </a:t>
            </a:r>
            <a:r>
              <a:rPr lang="en-AU" sz="2800" b="1" smtClean="0">
                <a:latin typeface="Calibri" pitchFamily="34" charset="0"/>
                <a:ea typeface="ＭＳ Ｐゴシック" pitchFamily="34" charset="-128"/>
              </a:rPr>
              <a:t>random numbers</a:t>
            </a:r>
            <a:r>
              <a:rPr lang="en-AU" sz="2800" smtClean="0">
                <a:latin typeface="Calibri" pitchFamily="34" charset="0"/>
                <a:ea typeface="ＭＳ Ｐゴシック" pitchFamily="34" charset="-128"/>
              </a:rPr>
              <a:t> in cryptography </a:t>
            </a:r>
          </a:p>
          <a:p>
            <a:pPr lvl="1" eaLnBrk="1" hangingPunct="1">
              <a:buFont typeface="Wingdings" pitchFamily="2" charset="2"/>
              <a:buChar char="l"/>
            </a:pPr>
            <a:r>
              <a:rPr lang="en-AU" sz="2400" smtClean="0">
                <a:latin typeface="Calibri" pitchFamily="34" charset="0"/>
                <a:ea typeface="ＭＳ Ｐゴシック" pitchFamily="34" charset="-128"/>
              </a:rPr>
              <a:t>Nonce as Initialize Vector</a:t>
            </a:r>
          </a:p>
          <a:p>
            <a:pPr lvl="1" eaLnBrk="1" hangingPunct="1">
              <a:buFont typeface="Wingdings" pitchFamily="2" charset="2"/>
              <a:buChar char="l"/>
            </a:pPr>
            <a:r>
              <a:rPr lang="en-AU" sz="2400" smtClean="0">
                <a:latin typeface="Calibri" pitchFamily="34" charset="0"/>
                <a:ea typeface="ＭＳ Ｐゴシック" pitchFamily="34" charset="-128"/>
              </a:rPr>
              <a:t>Session keys</a:t>
            </a:r>
          </a:p>
          <a:p>
            <a:pPr lvl="1" eaLnBrk="1" hangingPunct="1">
              <a:buFont typeface="Wingdings" pitchFamily="2" charset="2"/>
              <a:buChar char="l"/>
            </a:pPr>
            <a:r>
              <a:rPr lang="en-AU" sz="2400" smtClean="0">
                <a:latin typeface="Calibri" pitchFamily="34" charset="0"/>
                <a:ea typeface="ＭＳ Ｐゴシック" pitchFamily="34" charset="-128"/>
              </a:rPr>
              <a:t>Public key generation</a:t>
            </a:r>
          </a:p>
          <a:p>
            <a:pPr lvl="1" eaLnBrk="1" hangingPunct="1">
              <a:buFont typeface="Wingdings" pitchFamily="2" charset="2"/>
              <a:buChar char="l"/>
            </a:pPr>
            <a:r>
              <a:rPr lang="en-AU" sz="2400" smtClean="0">
                <a:latin typeface="Calibri" pitchFamily="34" charset="0"/>
                <a:ea typeface="ＭＳ Ｐゴシック" pitchFamily="34" charset="-128"/>
              </a:rPr>
              <a:t>Keystream for a one-time pad</a:t>
            </a:r>
            <a:endParaRPr lang="en-AU" sz="2800" smtClean="0">
              <a:latin typeface="Calibri" pitchFamily="34" charset="0"/>
              <a:ea typeface="ＭＳ Ｐゴシック" pitchFamily="34" charset="-128"/>
            </a:endParaRPr>
          </a:p>
          <a:p>
            <a:r>
              <a:rPr lang="en-AU" sz="2800" smtClean="0">
                <a:latin typeface="Calibri" pitchFamily="34" charset="0"/>
                <a:ea typeface="ＭＳ Ｐゴシック" pitchFamily="34" charset="-128"/>
              </a:rPr>
              <a:t>In all cases its critical that these values be </a:t>
            </a:r>
          </a:p>
          <a:p>
            <a:pPr lvl="1" eaLnBrk="1" hangingPunct="1">
              <a:buFont typeface="Wingdings" pitchFamily="2" charset="2"/>
              <a:buChar char="l"/>
            </a:pPr>
            <a:r>
              <a:rPr lang="en-AU" sz="2400" smtClean="0">
                <a:latin typeface="Calibri" pitchFamily="34" charset="0"/>
                <a:ea typeface="ＭＳ Ｐゴシック" pitchFamily="34" charset="-128"/>
              </a:rPr>
              <a:t>statistically random, uniform distribution, independent</a:t>
            </a:r>
          </a:p>
          <a:p>
            <a:pPr lvl="1" eaLnBrk="1" hangingPunct="1">
              <a:buFont typeface="Wingdings" pitchFamily="2" charset="2"/>
              <a:buChar char="l"/>
            </a:pPr>
            <a:r>
              <a:rPr lang="en-AU" sz="2400" smtClean="0">
                <a:latin typeface="Calibri" pitchFamily="34" charset="0"/>
                <a:ea typeface="ＭＳ Ｐゴシック" pitchFamily="34" charset="-128"/>
              </a:rPr>
              <a:t>unpredictability of future values from </a:t>
            </a:r>
            <a:r>
              <a:rPr lang="en-US" sz="2400" smtClean="0">
                <a:latin typeface="Calibri" pitchFamily="34" charset="0"/>
                <a:ea typeface="ＭＳ Ｐゴシック" pitchFamily="34" charset="-128"/>
              </a:rPr>
              <a:t>previous values</a:t>
            </a:r>
            <a:endParaRPr lang="en-AU" sz="2800" smtClean="0">
              <a:latin typeface="Calibri" pitchFamily="34" charset="0"/>
              <a:ea typeface="ＭＳ Ｐゴシック" pitchFamily="34" charset="-128"/>
            </a:endParaRPr>
          </a:p>
          <a:p>
            <a:r>
              <a:rPr lang="en-US" sz="2800" smtClean="0">
                <a:latin typeface="Calibri" pitchFamily="34" charset="0"/>
                <a:ea typeface="ＭＳ Ｐゴシック" pitchFamily="34" charset="-128"/>
              </a:rPr>
              <a:t>Care needed with generated random numbers</a:t>
            </a:r>
          </a:p>
        </p:txBody>
      </p:sp>
    </p:spTree>
    <p:extLst>
      <p:ext uri="{BB962C8B-B14F-4D97-AF65-F5344CB8AC3E}">
        <p14:creationId xmlns:p14="http://schemas.microsoft.com/office/powerpoint/2010/main" val="7075630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normAutofit fontScale="90000"/>
          </a:bodyPr>
          <a:lstStyle/>
          <a:p>
            <a:r>
              <a:rPr lang="en-AU" smtClean="0">
                <a:latin typeface="Calibri" pitchFamily="34" charset="0"/>
                <a:ea typeface="ＭＳ Ｐゴシック" pitchFamily="34" charset="-128"/>
              </a:rPr>
              <a:t>Pseudorandom Number Generators (PRNGs)</a:t>
            </a:r>
            <a:endParaRPr lang="en-US" smtClean="0">
              <a:latin typeface="Calibri" pitchFamily="34" charset="0"/>
              <a:ea typeface="ＭＳ Ｐゴシック" pitchFamily="34" charset="-128"/>
            </a:endParaRPr>
          </a:p>
        </p:txBody>
      </p:sp>
      <p:sp>
        <p:nvSpPr>
          <p:cNvPr id="23555" name="Content Placeholder 2"/>
          <p:cNvSpPr>
            <a:spLocks noGrp="1"/>
          </p:cNvSpPr>
          <p:nvPr>
            <p:ph sz="quarter" idx="1"/>
          </p:nvPr>
        </p:nvSpPr>
        <p:spPr>
          <a:xfrm>
            <a:off x="457200" y="1219200"/>
            <a:ext cx="8229600" cy="4937125"/>
          </a:xfrm>
        </p:spPr>
        <p:txBody>
          <a:bodyPr/>
          <a:lstStyle/>
          <a:p>
            <a:r>
              <a:rPr lang="en-US" smtClean="0">
                <a:latin typeface="Calibri" pitchFamily="34" charset="0"/>
                <a:ea typeface="ＭＳ Ｐゴシック" pitchFamily="34" charset="-128"/>
              </a:rPr>
              <a:t>Often use deterministic algorithmic techniques to create “random numbers”</a:t>
            </a:r>
          </a:p>
          <a:p>
            <a:pPr lvl="1" eaLnBrk="1" hangingPunct="1">
              <a:buFont typeface="Wingdings" pitchFamily="2" charset="2"/>
              <a:buChar char="l"/>
            </a:pPr>
            <a:r>
              <a:rPr lang="en-US" smtClean="0">
                <a:latin typeface="Calibri" pitchFamily="34" charset="0"/>
                <a:ea typeface="ＭＳ Ｐゴシック" pitchFamily="34" charset="-128"/>
              </a:rPr>
              <a:t>although are not truly random</a:t>
            </a:r>
          </a:p>
          <a:p>
            <a:pPr lvl="1" eaLnBrk="1" hangingPunct="1">
              <a:buFont typeface="Wingdings" pitchFamily="2" charset="2"/>
              <a:buChar char="l"/>
            </a:pPr>
            <a:r>
              <a:rPr lang="en-US" smtClean="0">
                <a:latin typeface="Calibri" pitchFamily="34" charset="0"/>
                <a:ea typeface="ＭＳ Ｐゴシック" pitchFamily="34" charset="-128"/>
              </a:rPr>
              <a:t>can pass many tests of “randomness”</a:t>
            </a:r>
          </a:p>
          <a:p>
            <a:endParaRPr lang="en-US" smtClean="0">
              <a:latin typeface="Calibri" pitchFamily="34" charset="0"/>
              <a:ea typeface="ＭＳ Ｐゴシック" pitchFamily="34" charset="-128"/>
            </a:endParaRPr>
          </a:p>
          <a:p>
            <a:r>
              <a:rPr lang="en-US" smtClean="0">
                <a:latin typeface="Calibri" pitchFamily="34" charset="0"/>
                <a:ea typeface="ＭＳ Ｐゴシック" pitchFamily="34" charset="-128"/>
              </a:rPr>
              <a:t>Known as “Pseudorandom Numbers”</a:t>
            </a:r>
          </a:p>
          <a:p>
            <a:r>
              <a:rPr lang="en-US" smtClean="0">
                <a:latin typeface="Calibri" pitchFamily="34" charset="0"/>
                <a:ea typeface="ＭＳ Ｐゴシック" pitchFamily="34" charset="-128"/>
              </a:rPr>
              <a:t>Created by “</a:t>
            </a:r>
            <a:r>
              <a:rPr lang="en-AU" sz="2800" smtClean="0">
                <a:latin typeface="Calibri" pitchFamily="34" charset="0"/>
                <a:ea typeface="ＭＳ Ｐゴシック" pitchFamily="34" charset="-128"/>
              </a:rPr>
              <a:t>Pseudorandom Number Generators (PRNGs)”</a:t>
            </a:r>
          </a:p>
          <a:p>
            <a:pPr eaLnBrk="1" hangingPunct="1">
              <a:buFont typeface="Wingdings" pitchFamily="2" charset="2"/>
              <a:buChar char="Ø"/>
            </a:pPr>
            <a:endParaRPr lang="en-AU" sz="2800" smtClean="0">
              <a:latin typeface="Calibri" pitchFamily="34" charset="0"/>
              <a:ea typeface="ＭＳ Ｐゴシック" pitchFamily="34" charset="-128"/>
            </a:endParaRPr>
          </a:p>
          <a:p>
            <a:endParaRPr lang="en-US" smtClean="0">
              <a:latin typeface="Calibri" pitchFamily="34" charset="0"/>
              <a:ea typeface="ＭＳ Ｐゴシック" pitchFamily="34" charset="-128"/>
            </a:endParaRPr>
          </a:p>
        </p:txBody>
      </p:sp>
    </p:spTree>
    <p:extLst>
      <p:ext uri="{BB962C8B-B14F-4D97-AF65-F5344CB8AC3E}">
        <p14:creationId xmlns:p14="http://schemas.microsoft.com/office/powerpoint/2010/main" val="36692079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277813"/>
            <a:ext cx="8229600" cy="865187"/>
          </a:xfrm>
        </p:spPr>
        <p:txBody>
          <a:bodyPr>
            <a:normAutofit fontScale="90000"/>
          </a:bodyPr>
          <a:lstStyle/>
          <a:p>
            <a:pPr eaLnBrk="1" hangingPunct="1"/>
            <a:r>
              <a:rPr lang="en-AU" smtClean="0">
                <a:latin typeface="Calibri" pitchFamily="34" charset="0"/>
                <a:ea typeface="ＭＳ Ｐゴシック" pitchFamily="34" charset="-128"/>
              </a:rPr>
              <a:t>Random &amp; Pseudorandom Number Generators</a:t>
            </a:r>
            <a:endParaRPr lang="en-US" smtClean="0">
              <a:latin typeface="Calibri" pitchFamily="34" charset="0"/>
              <a:ea typeface="ＭＳ Ｐゴシック" pitchFamily="34" charset="-128"/>
            </a:endParaRPr>
          </a:p>
        </p:txBody>
      </p:sp>
      <p:pic>
        <p:nvPicPr>
          <p:cNvPr id="24579"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28322" y="1219200"/>
            <a:ext cx="8087078" cy="4191000"/>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745644" y="5574268"/>
            <a:ext cx="4054956" cy="369332"/>
          </a:xfrm>
          <a:prstGeom prst="rect">
            <a:avLst/>
          </a:prstGeom>
        </p:spPr>
        <p:txBody>
          <a:bodyPr wrap="none">
            <a:spAutoFit/>
          </a:bodyPr>
          <a:lstStyle/>
          <a:p>
            <a:r>
              <a:rPr lang="en-US" dirty="0" smtClean="0">
                <a:ea typeface="ＭＳ Ｐゴシック" pitchFamily="34" charset="-128"/>
              </a:rPr>
              <a:t>True Random Number Generator (TRNG) </a:t>
            </a:r>
            <a:endParaRPr lang="en-US" dirty="0"/>
          </a:p>
        </p:txBody>
      </p:sp>
      <p:sp>
        <p:nvSpPr>
          <p:cNvPr id="3" name="Rectangle 2"/>
          <p:cNvSpPr/>
          <p:nvPr/>
        </p:nvSpPr>
        <p:spPr>
          <a:xfrm>
            <a:off x="762000" y="5943600"/>
            <a:ext cx="4292235" cy="369332"/>
          </a:xfrm>
          <a:prstGeom prst="rect">
            <a:avLst/>
          </a:prstGeom>
        </p:spPr>
        <p:txBody>
          <a:bodyPr wrap="square">
            <a:spAutoFit/>
          </a:bodyPr>
          <a:lstStyle/>
          <a:p>
            <a:r>
              <a:rPr lang="en-US" dirty="0" smtClean="0">
                <a:ea typeface="ＭＳ Ｐゴシック" pitchFamily="34" charset="-128"/>
              </a:rPr>
              <a:t>Pseudorandom Number Generator (PRNG)</a:t>
            </a:r>
            <a:endParaRPr lang="en-US" dirty="0"/>
          </a:p>
        </p:txBody>
      </p:sp>
      <p:sp>
        <p:nvSpPr>
          <p:cNvPr id="4" name="Rectangle 3"/>
          <p:cNvSpPr/>
          <p:nvPr/>
        </p:nvSpPr>
        <p:spPr>
          <a:xfrm>
            <a:off x="762000" y="6336268"/>
            <a:ext cx="3157083" cy="369332"/>
          </a:xfrm>
          <a:prstGeom prst="rect">
            <a:avLst/>
          </a:prstGeom>
        </p:spPr>
        <p:txBody>
          <a:bodyPr wrap="none">
            <a:spAutoFit/>
          </a:bodyPr>
          <a:lstStyle/>
          <a:p>
            <a:r>
              <a:rPr lang="en-US" dirty="0">
                <a:ea typeface="ＭＳ Ｐゴシック" pitchFamily="34" charset="-128"/>
              </a:rPr>
              <a:t>Pseudorandom </a:t>
            </a:r>
            <a:r>
              <a:rPr lang="en-US" dirty="0" smtClean="0">
                <a:ea typeface="ＭＳ Ｐゴシック" pitchFamily="34" charset="-128"/>
              </a:rPr>
              <a:t>Function (</a:t>
            </a:r>
            <a:r>
              <a:rPr lang="en-US" dirty="0">
                <a:ea typeface="ＭＳ Ｐゴシック" pitchFamily="34" charset="-128"/>
              </a:rPr>
              <a:t>PRF</a:t>
            </a:r>
            <a:r>
              <a:rPr lang="en-US" dirty="0" smtClean="0">
                <a:ea typeface="ＭＳ Ｐゴシック" pitchFamily="34" charset="-128"/>
              </a:rPr>
              <a:t>) </a:t>
            </a:r>
            <a:endParaRPr lang="en-US" dirty="0"/>
          </a:p>
        </p:txBody>
      </p:sp>
    </p:spTree>
    <p:extLst>
      <p:ext uri="{BB962C8B-B14F-4D97-AF65-F5344CB8AC3E}">
        <p14:creationId xmlns:p14="http://schemas.microsoft.com/office/powerpoint/2010/main" val="7748691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Origins of </a:t>
            </a:r>
            <a:r>
              <a:rPr lang="en-US" dirty="0" err="1" smtClean="0"/>
              <a:t>Rivest</a:t>
            </a:r>
            <a:r>
              <a:rPr lang="en-US" dirty="0" smtClean="0"/>
              <a:t> Cipher</a:t>
            </a:r>
            <a:endParaRPr lang="en-US" dirty="0"/>
          </a:p>
        </p:txBody>
      </p:sp>
      <p:sp>
        <p:nvSpPr>
          <p:cNvPr id="5" name="Content Placeholder 4"/>
          <p:cNvSpPr>
            <a:spLocks noGrp="1"/>
          </p:cNvSpPr>
          <p:nvPr>
            <p:ph idx="1"/>
          </p:nvPr>
        </p:nvSpPr>
        <p:spPr/>
        <p:txBody>
          <a:bodyPr>
            <a:normAutofit/>
          </a:bodyPr>
          <a:lstStyle/>
          <a:p>
            <a:r>
              <a:rPr lang="en-US" dirty="0"/>
              <a:t>A </a:t>
            </a:r>
            <a:r>
              <a:rPr lang="en-US" dirty="0" smtClean="0"/>
              <a:t>symmetric </a:t>
            </a:r>
            <a:r>
              <a:rPr lang="en-US" dirty="0"/>
              <a:t>key stream cipher designed in 1987 by Ron </a:t>
            </a:r>
            <a:r>
              <a:rPr lang="en-US" dirty="0" err="1" smtClean="0"/>
              <a:t>Rivest</a:t>
            </a:r>
            <a:endParaRPr lang="en-US" dirty="0"/>
          </a:p>
          <a:p>
            <a:r>
              <a:rPr lang="en-US" dirty="0"/>
              <a:t>It was kept as a trade secret by RSA Security</a:t>
            </a:r>
          </a:p>
          <a:p>
            <a:r>
              <a:rPr lang="en-US" dirty="0"/>
              <a:t>In September 1994, the RC4 algorithm was anonymously posted on the </a:t>
            </a:r>
            <a:r>
              <a:rPr lang="en-US" dirty="0" smtClean="0"/>
              <a:t>Internet</a:t>
            </a:r>
          </a:p>
          <a:p>
            <a:r>
              <a:rPr lang="en-US" dirty="0" smtClean="0"/>
              <a:t>Variable </a:t>
            </a:r>
            <a:r>
              <a:rPr lang="en-US" dirty="0"/>
              <a:t>key-size stream cipher with byte-oriented operations</a:t>
            </a:r>
          </a:p>
          <a:p>
            <a:pPr lvl="1"/>
            <a:r>
              <a:rPr lang="en-US" dirty="0"/>
              <a:t>variable size key: 1 to 256 bytes (8 to 2048 bits)</a:t>
            </a:r>
          </a:p>
          <a:p>
            <a:r>
              <a:rPr lang="en-US" dirty="0"/>
              <a:t>Currently used with a key of 128 bits</a:t>
            </a:r>
            <a:endParaRPr lang="en-US" dirty="0" smtClean="0"/>
          </a:p>
          <a:p>
            <a:r>
              <a:rPr lang="en-US" dirty="0"/>
              <a:t>Used in secure web browsing </a:t>
            </a:r>
            <a:r>
              <a:rPr lang="en-US" dirty="0" smtClean="0"/>
              <a:t>(SSL/TLS) and </a:t>
            </a:r>
            <a:r>
              <a:rPr lang="en-US" dirty="0"/>
              <a:t>wireless </a:t>
            </a:r>
            <a:r>
              <a:rPr lang="en-US" dirty="0" smtClean="0"/>
              <a:t>LANs (WEP)</a:t>
            </a:r>
          </a:p>
          <a:p>
            <a:r>
              <a:rPr lang="en-US" dirty="0" smtClean="0"/>
              <a:t>Simple </a:t>
            </a:r>
            <a:r>
              <a:rPr lang="en-US" dirty="0"/>
              <a:t>and efficient </a:t>
            </a:r>
            <a:r>
              <a:rPr lang="en-US" dirty="0" smtClean="0"/>
              <a:t>implementation</a:t>
            </a:r>
          </a:p>
        </p:txBody>
      </p:sp>
    </p:spTree>
    <p:extLst>
      <p:ext uri="{BB962C8B-B14F-4D97-AF65-F5344CB8AC3E}">
        <p14:creationId xmlns:p14="http://schemas.microsoft.com/office/powerpoint/2010/main" val="13873969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smtClean="0"/>
              <a:t>The RC4 Algorithm</a:t>
            </a:r>
          </a:p>
          <a:p>
            <a:pPr marL="0" indent="0">
              <a:buNone/>
            </a:pPr>
            <a:r>
              <a:rPr lang="en-US" u="sng" dirty="0" smtClean="0"/>
              <a:t>Parameters and Variables</a:t>
            </a:r>
            <a:endParaRPr lang="en-US" sz="2800" u="sng" dirty="0" smtClean="0"/>
          </a:p>
          <a:p>
            <a:r>
              <a:rPr lang="en-US" sz="2800" dirty="0" smtClean="0"/>
              <a:t>Variable </a:t>
            </a:r>
            <a:r>
              <a:rPr lang="en-US" sz="2800" dirty="0"/>
              <a:t>length key, </a:t>
            </a:r>
            <a:r>
              <a:rPr lang="en-US" sz="2800" i="1" dirty="0"/>
              <a:t>K</a:t>
            </a:r>
            <a:r>
              <a:rPr lang="en-US" sz="2800" dirty="0"/>
              <a:t>, from 1 to 256 Bytes</a:t>
            </a:r>
          </a:p>
          <a:p>
            <a:endParaRPr lang="en-US" sz="2800" dirty="0" smtClean="0"/>
          </a:p>
          <a:p>
            <a:r>
              <a:rPr lang="en-US" sz="2800" dirty="0" smtClean="0"/>
              <a:t>State </a:t>
            </a:r>
            <a:r>
              <a:rPr lang="en-US" sz="2800" dirty="0"/>
              <a:t>vector, </a:t>
            </a:r>
            <a:r>
              <a:rPr lang="en-US" sz="2800" i="1" dirty="0"/>
              <a:t>S</a:t>
            </a:r>
            <a:r>
              <a:rPr lang="en-US" sz="2800" dirty="0"/>
              <a:t>, 256 </a:t>
            </a:r>
            <a:r>
              <a:rPr lang="en-US" sz="2800" dirty="0" smtClean="0"/>
              <a:t>Bytes</a:t>
            </a:r>
          </a:p>
          <a:p>
            <a:pPr lvl="1"/>
            <a:r>
              <a:rPr lang="en-US" sz="2400" dirty="0"/>
              <a:t>S contains a permutation of all 8-bit numbers from 0 through 255</a:t>
            </a:r>
          </a:p>
          <a:p>
            <a:endParaRPr lang="en-US" sz="2800" dirty="0" smtClean="0"/>
          </a:p>
          <a:p>
            <a:r>
              <a:rPr lang="en-US" sz="2800" dirty="0" smtClean="0"/>
              <a:t>Temporary </a:t>
            </a:r>
            <a:r>
              <a:rPr lang="en-US" sz="2800" dirty="0"/>
              <a:t>vector, </a:t>
            </a:r>
            <a:r>
              <a:rPr lang="en-US" sz="2800" i="1" dirty="0"/>
              <a:t>T</a:t>
            </a:r>
            <a:r>
              <a:rPr lang="en-US" sz="2800" dirty="0"/>
              <a:t>, 256 Bytes</a:t>
            </a:r>
          </a:p>
          <a:p>
            <a:endParaRPr lang="en-US" sz="2800" dirty="0" smtClean="0"/>
          </a:p>
          <a:p>
            <a:r>
              <a:rPr lang="en-US" sz="2800" dirty="0" smtClean="0"/>
              <a:t>A </a:t>
            </a:r>
            <a:r>
              <a:rPr lang="en-US" sz="2800" dirty="0"/>
              <a:t>byte from </a:t>
            </a:r>
            <a:r>
              <a:rPr lang="en-US" sz="2800" dirty="0" err="1"/>
              <a:t>keystream</a:t>
            </a:r>
            <a:r>
              <a:rPr lang="en-US" sz="2800" dirty="0"/>
              <a:t>, </a:t>
            </a:r>
            <a:r>
              <a:rPr lang="en-US" sz="2800" i="1" dirty="0"/>
              <a:t>k</a:t>
            </a:r>
            <a:r>
              <a:rPr lang="en-US" sz="2800" dirty="0"/>
              <a:t>, generated from </a:t>
            </a:r>
            <a:r>
              <a:rPr lang="en-US" sz="2800" i="1" dirty="0" smtClean="0"/>
              <a:t>S</a:t>
            </a:r>
            <a:endParaRPr lang="en-US" i="1" dirty="0"/>
          </a:p>
        </p:txBody>
      </p:sp>
    </p:spTree>
    <p:extLst>
      <p:ext uri="{BB962C8B-B14F-4D97-AF65-F5344CB8AC3E}">
        <p14:creationId xmlns:p14="http://schemas.microsoft.com/office/powerpoint/2010/main" val="35785862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smtClean="0"/>
              <a:t>The RC4 Algorithm</a:t>
            </a:r>
          </a:p>
          <a:p>
            <a:pPr marL="0" indent="0">
              <a:buNone/>
            </a:pPr>
            <a:r>
              <a:rPr lang="en-US" u="sng" dirty="0" smtClean="0"/>
              <a:t>Steps</a:t>
            </a:r>
            <a:endParaRPr lang="en-US" u="sng" dirty="0"/>
          </a:p>
          <a:p>
            <a:r>
              <a:rPr lang="en-US" sz="2800" dirty="0" smtClean="0"/>
              <a:t>Initialize </a:t>
            </a:r>
            <a:r>
              <a:rPr lang="en-US" sz="2800" i="1" dirty="0"/>
              <a:t>S</a:t>
            </a:r>
            <a:r>
              <a:rPr lang="en-US" sz="2800" dirty="0"/>
              <a:t> to values 0 to 255; </a:t>
            </a:r>
            <a:r>
              <a:rPr lang="en-US" sz="2800" dirty="0" smtClean="0"/>
              <a:t>initialize </a:t>
            </a:r>
            <a:r>
              <a:rPr lang="en-US" sz="2800" i="1" dirty="0" smtClean="0"/>
              <a:t>T</a:t>
            </a:r>
            <a:r>
              <a:rPr lang="en-US" sz="2800" dirty="0" smtClean="0"/>
              <a:t> </a:t>
            </a:r>
            <a:r>
              <a:rPr lang="en-US" sz="2800" dirty="0"/>
              <a:t>with repeating values of key, </a:t>
            </a:r>
            <a:r>
              <a:rPr lang="en-US" sz="2800" i="1" dirty="0" smtClean="0"/>
              <a:t>K</a:t>
            </a:r>
            <a:endParaRPr lang="en-US" sz="2800" i="1" dirty="0"/>
          </a:p>
          <a:p>
            <a:endParaRPr lang="en-US" sz="2800" dirty="0" smtClean="0"/>
          </a:p>
          <a:p>
            <a:r>
              <a:rPr lang="en-US" sz="2800" dirty="0" smtClean="0"/>
              <a:t>Use </a:t>
            </a:r>
            <a:r>
              <a:rPr lang="en-US" sz="2800" i="1" dirty="0"/>
              <a:t>T</a:t>
            </a:r>
            <a:r>
              <a:rPr lang="en-US" sz="2800" dirty="0"/>
              <a:t> to create initial permutation of </a:t>
            </a:r>
            <a:r>
              <a:rPr lang="en-US" sz="2800" i="1" dirty="0" smtClean="0"/>
              <a:t>S</a:t>
            </a:r>
          </a:p>
          <a:p>
            <a:pPr lvl="1"/>
            <a:r>
              <a:rPr lang="en-US" i="1" dirty="0" smtClean="0"/>
              <a:t>Key Scheduling Algorithm (</a:t>
            </a:r>
            <a:r>
              <a:rPr lang="en-US" b="1" i="1" dirty="0" smtClean="0"/>
              <a:t>KSA</a:t>
            </a:r>
            <a:r>
              <a:rPr lang="en-US" i="1" dirty="0" smtClean="0"/>
              <a:t>)</a:t>
            </a:r>
            <a:endParaRPr lang="en-US" sz="2800" dirty="0" smtClean="0"/>
          </a:p>
          <a:p>
            <a:r>
              <a:rPr lang="en-US" sz="2800" dirty="0" smtClean="0"/>
              <a:t>Permute </a:t>
            </a:r>
            <a:r>
              <a:rPr lang="en-US" sz="2800" i="1" dirty="0"/>
              <a:t>S</a:t>
            </a:r>
            <a:r>
              <a:rPr lang="en-US" sz="2800" dirty="0"/>
              <a:t> and generate </a:t>
            </a:r>
            <a:r>
              <a:rPr lang="en-US" sz="2800" dirty="0" smtClean="0"/>
              <a:t>key stream, </a:t>
            </a:r>
            <a:r>
              <a:rPr lang="en-US" sz="2800" i="1" dirty="0"/>
              <a:t>k</a:t>
            </a:r>
            <a:r>
              <a:rPr lang="en-US" sz="2800" dirty="0"/>
              <a:t> from </a:t>
            </a:r>
            <a:r>
              <a:rPr lang="en-US" sz="2800" i="1" dirty="0" smtClean="0"/>
              <a:t>S</a:t>
            </a:r>
          </a:p>
          <a:p>
            <a:pPr lvl="1"/>
            <a:r>
              <a:rPr lang="en-US" i="1" dirty="0"/>
              <a:t>Pseudo Random Number </a:t>
            </a:r>
            <a:r>
              <a:rPr lang="en-US" i="1" dirty="0" smtClean="0"/>
              <a:t>Generation (</a:t>
            </a:r>
            <a:r>
              <a:rPr lang="en-US" b="1" i="1" dirty="0" smtClean="0"/>
              <a:t>PRGA</a:t>
            </a:r>
            <a:r>
              <a:rPr lang="en-US" i="1" dirty="0" smtClean="0"/>
              <a:t>)</a:t>
            </a:r>
            <a:endParaRPr lang="en-US" i="1" dirty="0"/>
          </a:p>
          <a:p>
            <a:endParaRPr lang="en-US" sz="2800" dirty="0" smtClean="0"/>
          </a:p>
          <a:p>
            <a:r>
              <a:rPr lang="en-US" sz="2800" dirty="0" smtClean="0"/>
              <a:t>Encrypt </a:t>
            </a:r>
            <a:r>
              <a:rPr lang="en-US" sz="2800" dirty="0"/>
              <a:t>a byte of plaintext, </a:t>
            </a:r>
            <a:r>
              <a:rPr lang="en-US" sz="2800" i="1" dirty="0"/>
              <a:t>p</a:t>
            </a:r>
            <a:r>
              <a:rPr lang="en-US" sz="2800" dirty="0"/>
              <a:t>, by XOR with </a:t>
            </a:r>
            <a:r>
              <a:rPr lang="en-US" sz="2800" i="1" dirty="0"/>
              <a:t>k</a:t>
            </a:r>
            <a:endParaRPr lang="en-US" i="1" dirty="0" smtClean="0"/>
          </a:p>
        </p:txBody>
      </p:sp>
    </p:spTree>
    <p:extLst>
      <p:ext uri="{BB962C8B-B14F-4D97-AF65-F5344CB8AC3E}">
        <p14:creationId xmlns:p14="http://schemas.microsoft.com/office/powerpoint/2010/main" val="15434956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smtClean="0"/>
              <a:t>The RC4 Algorithm</a:t>
            </a:r>
          </a:p>
          <a:p>
            <a:pPr marL="0" indent="0">
              <a:buNone/>
            </a:pPr>
            <a:r>
              <a:rPr lang="en-US" dirty="0" smtClean="0"/>
              <a:t>Initial State of </a:t>
            </a:r>
            <a:r>
              <a:rPr lang="en-US" i="1" dirty="0" smtClean="0"/>
              <a:t>S</a:t>
            </a:r>
            <a:r>
              <a:rPr lang="en-US" dirty="0" smtClean="0"/>
              <a:t> and </a:t>
            </a:r>
            <a:r>
              <a:rPr lang="en-US" i="1" dirty="0" smtClean="0"/>
              <a:t>T</a:t>
            </a:r>
            <a:endParaRPr lang="en-US" sz="2800" i="1" dirty="0" smtClean="0"/>
          </a:p>
          <a:p>
            <a:pPr marL="457200" lvl="1" indent="0">
              <a:buNone/>
            </a:pPr>
            <a:endParaRPr lang="en-US" sz="2800" i="1" dirty="0"/>
          </a:p>
          <a:p>
            <a:pPr marL="457200" lvl="1" indent="0">
              <a:buNone/>
            </a:pPr>
            <a:endParaRPr lang="en-US" sz="2800" i="1" dirty="0" smtClean="0"/>
          </a:p>
          <a:p>
            <a:pPr marL="457200" lvl="1" indent="0">
              <a:buNone/>
            </a:pPr>
            <a:endParaRPr lang="en-US" sz="2800" i="1" dirty="0"/>
          </a:p>
          <a:p>
            <a:pPr marL="457200" lvl="1" indent="0">
              <a:buNone/>
            </a:pPr>
            <a:endParaRPr lang="en-US" sz="2800" i="1" dirty="0" smtClean="0"/>
          </a:p>
          <a:p>
            <a:pPr marL="457200" lvl="1" indent="0">
              <a:buNone/>
            </a:pPr>
            <a:endParaRPr lang="en-US" sz="2800" i="1" dirty="0"/>
          </a:p>
          <a:p>
            <a:pPr marL="457200" lvl="1" indent="0">
              <a:buNone/>
            </a:pPr>
            <a:endParaRPr lang="en-US" sz="2800" i="1" dirty="0" smtClean="0"/>
          </a:p>
          <a:p>
            <a:pPr marL="457200" lvl="1" indent="0">
              <a:buNone/>
            </a:pPr>
            <a:endParaRPr lang="en-US" sz="2800" i="1" dirty="0"/>
          </a:p>
          <a:p>
            <a:pPr marL="457200" lvl="1" indent="0">
              <a:buNone/>
            </a:pPr>
            <a:endParaRPr lang="en-US" sz="800" dirty="0" smtClean="0"/>
          </a:p>
        </p:txBody>
      </p:sp>
      <p:pic>
        <p:nvPicPr>
          <p:cNvPr id="3" name="Picture 2"/>
          <p:cNvPicPr>
            <a:picLocks noChangeAspect="1"/>
          </p:cNvPicPr>
          <p:nvPr/>
        </p:nvPicPr>
        <p:blipFill>
          <a:blip r:embed="rId2"/>
          <a:stretch>
            <a:fillRect/>
          </a:stretch>
        </p:blipFill>
        <p:spPr>
          <a:xfrm>
            <a:off x="609600" y="2265242"/>
            <a:ext cx="8300113" cy="2840158"/>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5105400"/>
            <a:ext cx="3273425" cy="151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25809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smtClean="0"/>
              <a:t>KSA</a:t>
            </a:r>
          </a:p>
          <a:p>
            <a:pPr marL="0" indent="0">
              <a:buNone/>
            </a:pPr>
            <a:r>
              <a:rPr lang="en-US" dirty="0"/>
              <a:t>Initial Permutation of </a:t>
            </a:r>
            <a:r>
              <a:rPr lang="en-US" i="1" dirty="0" smtClean="0"/>
              <a:t>S</a:t>
            </a:r>
            <a:r>
              <a:rPr lang="en-US" dirty="0" smtClean="0"/>
              <a:t> (also known as </a:t>
            </a:r>
            <a:r>
              <a:rPr lang="en-US" u="sng" dirty="0" smtClean="0"/>
              <a:t>Key Scheduling Algorithm</a:t>
            </a:r>
            <a:r>
              <a:rPr lang="en-US" dirty="0" smtClean="0"/>
              <a:t>)</a:t>
            </a:r>
            <a:endParaRPr lang="en-US" sz="2800" dirty="0" smtClean="0"/>
          </a:p>
          <a:p>
            <a:pPr marL="457200" lvl="1" indent="0">
              <a:buNone/>
            </a:pPr>
            <a:endParaRPr lang="en-US" sz="800" dirty="0" smtClean="0"/>
          </a:p>
        </p:txBody>
      </p:sp>
      <p:pic>
        <p:nvPicPr>
          <p:cNvPr id="4" name="Picture 3"/>
          <p:cNvPicPr>
            <a:picLocks noChangeAspect="1"/>
          </p:cNvPicPr>
          <p:nvPr/>
        </p:nvPicPr>
        <p:blipFill>
          <a:blip r:embed="rId2"/>
          <a:stretch>
            <a:fillRect/>
          </a:stretch>
        </p:blipFill>
        <p:spPr>
          <a:xfrm>
            <a:off x="623863" y="2667000"/>
            <a:ext cx="8385912" cy="2317031"/>
          </a:xfrm>
          <a:prstGeom prst="rect">
            <a:avLst/>
          </a:prstGeom>
        </p:spPr>
      </p:pic>
      <p:sp>
        <p:nvSpPr>
          <p:cNvPr id="3" name="Rectangle 2"/>
          <p:cNvSpPr/>
          <p:nvPr/>
        </p:nvSpPr>
        <p:spPr>
          <a:xfrm>
            <a:off x="4816819" y="5127009"/>
            <a:ext cx="3962400" cy="1569660"/>
          </a:xfrm>
          <a:prstGeom prst="rect">
            <a:avLst/>
          </a:prstGeom>
        </p:spPr>
        <p:txBody>
          <a:bodyPr wrap="square">
            <a:spAutoFit/>
          </a:bodyPr>
          <a:lstStyle/>
          <a:p>
            <a:pPr lvl="1"/>
            <a:r>
              <a:rPr lang="pl-PL" sz="2400" i="1" dirty="0"/>
              <a:t>j = 0;</a:t>
            </a:r>
          </a:p>
          <a:p>
            <a:pPr lvl="1"/>
            <a:r>
              <a:rPr lang="pl-PL" sz="2400" i="1" dirty="0"/>
              <a:t>for i = 0 to 255 do</a:t>
            </a:r>
          </a:p>
          <a:p>
            <a:pPr lvl="1"/>
            <a:r>
              <a:rPr lang="pl-PL" sz="2400" i="1" dirty="0"/>
              <a:t>j = (j + S[i] + T[i]) mod 256;</a:t>
            </a:r>
          </a:p>
          <a:p>
            <a:pPr lvl="1"/>
            <a:r>
              <a:rPr lang="pl-PL" sz="2400" i="1" dirty="0"/>
              <a:t>Swap (S[i], S[j]);</a:t>
            </a:r>
            <a:endParaRPr lang="en-US" i="1" dirty="0"/>
          </a:p>
        </p:txBody>
      </p:sp>
    </p:spTree>
    <p:extLst>
      <p:ext uri="{BB962C8B-B14F-4D97-AF65-F5344CB8AC3E}">
        <p14:creationId xmlns:p14="http://schemas.microsoft.com/office/powerpoint/2010/main" val="242247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a:xfrm>
            <a:off x="609600" y="1169009"/>
            <a:ext cx="8382000" cy="3631591"/>
          </a:xfrm>
        </p:spPr>
        <p:txBody>
          <a:bodyPr>
            <a:normAutofit/>
          </a:bodyPr>
          <a:lstStyle/>
          <a:p>
            <a:pPr marL="0" indent="0">
              <a:buNone/>
            </a:pPr>
            <a:r>
              <a:rPr lang="en-US" b="1" u="sng" dirty="0" smtClean="0"/>
              <a:t>PRNG</a:t>
            </a:r>
          </a:p>
          <a:p>
            <a:pPr marL="457200" lvl="1" indent="0">
              <a:buNone/>
            </a:pPr>
            <a:endParaRPr lang="en-US" sz="2400" i="1" dirty="0"/>
          </a:p>
        </p:txBody>
      </p:sp>
      <p:pic>
        <p:nvPicPr>
          <p:cNvPr id="4" name="Picture 3"/>
          <p:cNvPicPr>
            <a:picLocks noChangeAspect="1"/>
          </p:cNvPicPr>
          <p:nvPr/>
        </p:nvPicPr>
        <p:blipFill>
          <a:blip r:embed="rId2"/>
          <a:stretch>
            <a:fillRect/>
          </a:stretch>
        </p:blipFill>
        <p:spPr>
          <a:xfrm>
            <a:off x="76200" y="1752600"/>
            <a:ext cx="9067800" cy="2590800"/>
          </a:xfrm>
          <a:prstGeom prst="rect">
            <a:avLst/>
          </a:prstGeom>
        </p:spPr>
      </p:pic>
      <p:sp>
        <p:nvSpPr>
          <p:cNvPr id="3" name="Rectangle 2"/>
          <p:cNvSpPr/>
          <p:nvPr/>
        </p:nvSpPr>
        <p:spPr>
          <a:xfrm>
            <a:off x="4495800" y="4549676"/>
            <a:ext cx="4572000" cy="2554545"/>
          </a:xfrm>
          <a:prstGeom prst="rect">
            <a:avLst/>
          </a:prstGeom>
        </p:spPr>
        <p:txBody>
          <a:bodyPr>
            <a:spAutoFit/>
          </a:bodyPr>
          <a:lstStyle/>
          <a:p>
            <a:pPr lvl="1"/>
            <a:r>
              <a:rPr lang="pl-PL" sz="2000" i="1" dirty="0"/>
              <a:t>i, j = 0;</a:t>
            </a:r>
          </a:p>
          <a:p>
            <a:pPr lvl="1"/>
            <a:r>
              <a:rPr lang="pl-PL" sz="2000" i="1" dirty="0"/>
              <a:t>while (true)</a:t>
            </a:r>
          </a:p>
          <a:p>
            <a:pPr lvl="1"/>
            <a:r>
              <a:rPr lang="pl-PL" sz="2000" i="1" dirty="0"/>
              <a:t>i = (i + 1) mod 256;</a:t>
            </a:r>
          </a:p>
          <a:p>
            <a:pPr lvl="1"/>
            <a:r>
              <a:rPr lang="pl-PL" sz="2000" i="1" dirty="0"/>
              <a:t>j = (</a:t>
            </a:r>
            <a:r>
              <a:rPr lang="en-US" sz="2000" i="1" dirty="0"/>
              <a:t>j</a:t>
            </a:r>
            <a:r>
              <a:rPr lang="pl-PL" sz="2000" i="1" dirty="0"/>
              <a:t> + S[i]) mod 256;</a:t>
            </a:r>
          </a:p>
          <a:p>
            <a:pPr lvl="1"/>
            <a:r>
              <a:rPr lang="pl-PL" sz="2000" i="1" dirty="0" smtClean="0"/>
              <a:t>t </a:t>
            </a:r>
            <a:r>
              <a:rPr lang="pl-PL" sz="2000" i="1" dirty="0"/>
              <a:t>= (S[i] + S[j]) mod 256;</a:t>
            </a:r>
          </a:p>
          <a:p>
            <a:pPr lvl="1"/>
            <a:r>
              <a:rPr lang="pl-PL" sz="2000" i="1" dirty="0"/>
              <a:t>k = S[t</a:t>
            </a:r>
            <a:r>
              <a:rPr lang="pl-PL" sz="2000" i="1" dirty="0" smtClean="0"/>
              <a:t>];</a:t>
            </a:r>
            <a:endParaRPr lang="en-US" sz="2000" i="1" dirty="0" smtClean="0"/>
          </a:p>
          <a:p>
            <a:pPr lvl="1"/>
            <a:r>
              <a:rPr lang="pl-PL" sz="2000" i="1" dirty="0"/>
              <a:t>Swap (S[i], S[j]);</a:t>
            </a:r>
          </a:p>
          <a:p>
            <a:pPr lvl="1"/>
            <a:endParaRPr lang="en-US" sz="2000" i="1" dirty="0"/>
          </a:p>
        </p:txBody>
      </p:sp>
    </p:spTree>
    <p:extLst>
      <p:ext uri="{BB962C8B-B14F-4D97-AF65-F5344CB8AC3E}">
        <p14:creationId xmlns:p14="http://schemas.microsoft.com/office/powerpoint/2010/main" val="3136627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p:cNvSpPr>
            <a:spLocks noGrp="1"/>
          </p:cNvSpPr>
          <p:nvPr>
            <p:ph sz="quarter" idx="1"/>
          </p:nvPr>
        </p:nvSpPr>
        <p:spPr>
          <a:xfrm>
            <a:off x="457200" y="1600200"/>
            <a:ext cx="8229600" cy="914400"/>
          </a:xfrm>
        </p:spPr>
        <p:txBody>
          <a:bodyPr/>
          <a:lstStyle/>
          <a:p>
            <a:pPr eaLnBrk="1" hangingPunct="1"/>
            <a:endParaRPr lang="en-US" smtClean="0">
              <a:latin typeface="Calibri" pitchFamily="34" charset="0"/>
              <a:ea typeface="ＭＳ Ｐゴシック" pitchFamily="34" charset="-128"/>
            </a:endParaRPr>
          </a:p>
        </p:txBody>
      </p:sp>
      <p:pic>
        <p:nvPicPr>
          <p:cNvPr id="4608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2615"/>
          </a:xfrm>
          <a:prstGeom prst="rect">
            <a:avLst/>
          </a:prstGeom>
          <a:noFill/>
          <a:ln>
            <a:noFill/>
          </a:ln>
          <a:extLst>
            <a:ext uri="{909E8E84-426E-40DD-AFC4-6F175D3DCCD1}">
              <a14:hiddenFill xmlns:a14="http://schemas.microsoft.com/office/drawing/2010/main">
                <a:solidFill>
                  <a:srgbClr val="FFFFFF">
                    <a:alpha val="70000"/>
                  </a:srgbClr>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22234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smtClean="0"/>
              <a:t>The RC4 Algorithm</a:t>
            </a:r>
          </a:p>
          <a:p>
            <a:pPr marL="0" indent="0">
              <a:buNone/>
            </a:pPr>
            <a:r>
              <a:rPr lang="en-US" dirty="0"/>
              <a:t>Stream </a:t>
            </a:r>
            <a:r>
              <a:rPr lang="en-US" dirty="0" smtClean="0"/>
              <a:t>Generation Demonstration</a:t>
            </a:r>
          </a:p>
          <a:p>
            <a:pPr marL="0" indent="0">
              <a:buNone/>
            </a:pPr>
            <a:endParaRPr lang="en-US" sz="2800" i="1" dirty="0"/>
          </a:p>
          <a:p>
            <a:pPr marL="0" indent="0">
              <a:buNone/>
            </a:pPr>
            <a:r>
              <a:rPr lang="en-US" i="1" dirty="0" smtClean="0"/>
              <a:t>To </a:t>
            </a:r>
            <a:r>
              <a:rPr lang="en-US" i="1" dirty="0"/>
              <a:t>encrypt: C = </a:t>
            </a:r>
            <a:r>
              <a:rPr lang="en-US" i="1" dirty="0" smtClean="0"/>
              <a:t>P </a:t>
            </a:r>
            <a:r>
              <a:rPr lang="en-US" i="1" dirty="0"/>
              <a:t>XOR k</a:t>
            </a:r>
          </a:p>
          <a:p>
            <a:pPr marL="0" indent="0">
              <a:buNone/>
            </a:pPr>
            <a:endParaRPr lang="en-US" i="1" dirty="0" smtClean="0"/>
          </a:p>
          <a:p>
            <a:pPr marL="0" indent="0">
              <a:buNone/>
            </a:pPr>
            <a:r>
              <a:rPr lang="en-US" i="1" dirty="0" smtClean="0"/>
              <a:t>To </a:t>
            </a:r>
            <a:r>
              <a:rPr lang="en-US" i="1" dirty="0"/>
              <a:t>decrypt: P</a:t>
            </a:r>
            <a:r>
              <a:rPr lang="en-US" i="1" dirty="0" smtClean="0"/>
              <a:t> </a:t>
            </a:r>
            <a:r>
              <a:rPr lang="en-US" i="1" dirty="0"/>
              <a:t>= C XOR </a:t>
            </a:r>
            <a:r>
              <a:rPr lang="en-US" i="1" dirty="0" smtClean="0"/>
              <a:t>k</a:t>
            </a:r>
          </a:p>
          <a:p>
            <a:pPr marL="0" indent="0">
              <a:buNone/>
            </a:pPr>
            <a:endParaRPr lang="en-US" i="1" dirty="0" smtClean="0">
              <a:hlinkClick r:id="rId2"/>
            </a:endParaRPr>
          </a:p>
          <a:p>
            <a:pPr marL="0" indent="0">
              <a:buNone/>
            </a:pPr>
            <a:r>
              <a:rPr lang="en-US" i="1" dirty="0" smtClean="0">
                <a:hlinkClick r:id="rId2"/>
              </a:rPr>
              <a:t>https</a:t>
            </a:r>
            <a:r>
              <a:rPr lang="en-US" i="1" dirty="0">
                <a:hlinkClick r:id="rId2"/>
              </a:rPr>
              <a:t>://</a:t>
            </a:r>
            <a:r>
              <a:rPr lang="en-US" i="1" dirty="0" smtClean="0">
                <a:hlinkClick r:id="rId2"/>
              </a:rPr>
              <a:t>www.youtube.com/watch?v=KM-xZYZXElk</a:t>
            </a:r>
            <a:r>
              <a:rPr lang="en-US" i="1" dirty="0" smtClean="0"/>
              <a:t> </a:t>
            </a:r>
          </a:p>
          <a:p>
            <a:pPr marL="457200" lvl="1" indent="0">
              <a:buNone/>
            </a:pPr>
            <a:endParaRPr lang="en-US" sz="800" dirty="0" smtClean="0"/>
          </a:p>
        </p:txBody>
      </p:sp>
    </p:spTree>
    <p:extLst>
      <p:ext uri="{BB962C8B-B14F-4D97-AF65-F5344CB8AC3E}">
        <p14:creationId xmlns:p14="http://schemas.microsoft.com/office/powerpoint/2010/main" val="33755891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b="1" u="sng" dirty="0" smtClean="0"/>
              <a:t>The RC4 Algorithm</a:t>
            </a:r>
            <a:endParaRPr lang="en-US" sz="800" dirty="0"/>
          </a:p>
          <a:p>
            <a:pPr marL="0" lvl="0" indent="0">
              <a:buNone/>
            </a:pPr>
            <a:endParaRPr lang="en-US" dirty="0" smtClean="0"/>
          </a:p>
          <a:p>
            <a:pPr marL="0" lvl="0" indent="0">
              <a:buNone/>
            </a:pPr>
            <a:r>
              <a:rPr lang="en-US" dirty="0" smtClean="0"/>
              <a:t>Some example</a:t>
            </a:r>
          </a:p>
          <a:p>
            <a:pPr marL="0" lvl="0" indent="0">
              <a:buNone/>
            </a:pPr>
            <a:r>
              <a:rPr lang="en-US" dirty="0" smtClean="0"/>
              <a:t>Using each array of size 8, generate the RC4 bit stream using the key </a:t>
            </a:r>
            <a:r>
              <a:rPr lang="en-US" smtClean="0"/>
              <a:t>“Security”.</a:t>
            </a:r>
          </a:p>
          <a:p>
            <a:pPr marL="0" lvl="0" indent="0">
              <a:buNone/>
            </a:pPr>
            <a:endParaRPr lang="en-US" dirty="0"/>
          </a:p>
          <a:p>
            <a:pPr marL="0" indent="0">
              <a:buNone/>
            </a:pPr>
            <a:endParaRPr lang="en-US" sz="1800" b="1" u="sng" dirty="0" smtClean="0"/>
          </a:p>
        </p:txBody>
      </p:sp>
    </p:spTree>
    <p:extLst>
      <p:ext uri="{BB962C8B-B14F-4D97-AF65-F5344CB8AC3E}">
        <p14:creationId xmlns:p14="http://schemas.microsoft.com/office/powerpoint/2010/main" val="26682830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u="sng" dirty="0" smtClean="0"/>
              <a:t>Strengths</a:t>
            </a:r>
            <a:endParaRPr lang="en-US" u="sng" dirty="0"/>
          </a:p>
          <a:p>
            <a:r>
              <a:rPr lang="en-US" dirty="0"/>
              <a:t>Difficulty of knowing the state</a:t>
            </a:r>
          </a:p>
          <a:p>
            <a:r>
              <a:rPr lang="en-US" dirty="0"/>
              <a:t>Difficulty of knowing which location in the state table is used to select each value in the sequence</a:t>
            </a:r>
          </a:p>
          <a:p>
            <a:r>
              <a:rPr lang="en-US" dirty="0"/>
              <a:t>Encryption in software is about 10 times faster than </a:t>
            </a:r>
            <a:r>
              <a:rPr lang="en-US" dirty="0" smtClean="0"/>
              <a:t>DES</a:t>
            </a:r>
            <a:endParaRPr lang="en-US" dirty="0"/>
          </a:p>
        </p:txBody>
      </p:sp>
    </p:spTree>
    <p:extLst>
      <p:ext uri="{BB962C8B-B14F-4D97-AF65-F5344CB8AC3E}">
        <p14:creationId xmlns:p14="http://schemas.microsoft.com/office/powerpoint/2010/main" val="28771557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RC4</a:t>
            </a:r>
            <a:endParaRPr lang="en-US" dirty="0"/>
          </a:p>
        </p:txBody>
      </p:sp>
      <p:sp>
        <p:nvSpPr>
          <p:cNvPr id="5" name="Content Placeholder 4"/>
          <p:cNvSpPr>
            <a:spLocks noGrp="1"/>
          </p:cNvSpPr>
          <p:nvPr>
            <p:ph idx="1"/>
          </p:nvPr>
        </p:nvSpPr>
        <p:spPr/>
        <p:txBody>
          <a:bodyPr>
            <a:normAutofit/>
          </a:bodyPr>
          <a:lstStyle/>
          <a:p>
            <a:pPr marL="0" indent="0">
              <a:buNone/>
            </a:pPr>
            <a:r>
              <a:rPr lang="en-US" u="sng" dirty="0" smtClean="0"/>
              <a:t>Weaknesses</a:t>
            </a:r>
            <a:endParaRPr lang="en-US" u="sng" dirty="0"/>
          </a:p>
          <a:p>
            <a:r>
              <a:rPr lang="en-US" dirty="0"/>
              <a:t>Vulnerable to analytic attacks to the state table</a:t>
            </a:r>
          </a:p>
          <a:p>
            <a:r>
              <a:rPr lang="en-US" dirty="0"/>
              <a:t>Theoretical attacks performed on the RC4 algorithm; one of the best known has been developed by </a:t>
            </a:r>
            <a:r>
              <a:rPr lang="en-US" dirty="0" err="1"/>
              <a:t>Fhlurer</a:t>
            </a:r>
            <a:r>
              <a:rPr lang="en-US" dirty="0"/>
              <a:t>, Martin and Shamir</a:t>
            </a:r>
          </a:p>
          <a:p>
            <a:r>
              <a:rPr lang="en-US" dirty="0"/>
              <a:t>There are some weak keys, so the initial 512 bytes of output is dropped in order to defeat weak key attacks and other attacks related to key schedule</a:t>
            </a:r>
          </a:p>
          <a:p>
            <a:endParaRPr lang="en-US" dirty="0" smtClean="0"/>
          </a:p>
          <a:p>
            <a:endParaRPr lang="en-US" dirty="0"/>
          </a:p>
          <a:p>
            <a:r>
              <a:rPr lang="en-US" dirty="0" smtClean="0"/>
              <a:t>None </a:t>
            </a:r>
            <a:r>
              <a:rPr lang="en-US" dirty="0"/>
              <a:t>of these approaches is practical against RC4 with </a:t>
            </a:r>
            <a:r>
              <a:rPr lang="en-US" dirty="0" smtClean="0"/>
              <a:t>a reasonable </a:t>
            </a:r>
            <a:r>
              <a:rPr lang="en-US" dirty="0"/>
              <a:t>key length, such as 128 </a:t>
            </a:r>
            <a:r>
              <a:rPr lang="en-US" dirty="0" smtClean="0"/>
              <a:t>bits</a:t>
            </a:r>
            <a:endParaRPr lang="en-US" dirty="0"/>
          </a:p>
          <a:p>
            <a:endParaRPr lang="en-US" dirty="0"/>
          </a:p>
        </p:txBody>
      </p:sp>
    </p:spTree>
    <p:extLst>
      <p:ext uri="{BB962C8B-B14F-4D97-AF65-F5344CB8AC3E}">
        <p14:creationId xmlns:p14="http://schemas.microsoft.com/office/powerpoint/2010/main" val="4061759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Block vs Steam Ciphers</a:t>
            </a:r>
            <a:endParaRPr lang="en-US" dirty="0"/>
          </a:p>
        </p:txBody>
      </p:sp>
      <p:sp>
        <p:nvSpPr>
          <p:cNvPr id="5" name="Content Placeholder 4"/>
          <p:cNvSpPr>
            <a:spLocks noGrp="1"/>
          </p:cNvSpPr>
          <p:nvPr>
            <p:ph idx="1"/>
          </p:nvPr>
        </p:nvSpPr>
        <p:spPr/>
        <p:txBody>
          <a:bodyPr>
            <a:normAutofit/>
          </a:bodyPr>
          <a:lstStyle/>
          <a:p>
            <a:r>
              <a:rPr lang="en-US" dirty="0" smtClean="0"/>
              <a:t>With </a:t>
            </a:r>
            <a:r>
              <a:rPr lang="en-US" dirty="0"/>
              <a:t>a properly designed PRNG, a stream cipher can be as secure as block cipher of comparable key length</a:t>
            </a:r>
          </a:p>
          <a:p>
            <a:r>
              <a:rPr lang="en-US" dirty="0"/>
              <a:t>Stream ciphers are almost always faster and use far less code than block ciphers</a:t>
            </a:r>
          </a:p>
          <a:p>
            <a:r>
              <a:rPr lang="en-US" dirty="0"/>
              <a:t>Block ciphers can reuse keys</a:t>
            </a:r>
          </a:p>
          <a:p>
            <a:r>
              <a:rPr lang="en-US" dirty="0"/>
              <a:t>However, if two plaintexts are encrypted with the </a:t>
            </a:r>
            <a:r>
              <a:rPr lang="en-US" dirty="0" smtClean="0"/>
              <a:t>same key </a:t>
            </a:r>
            <a:r>
              <a:rPr lang="en-US" dirty="0"/>
              <a:t>using a stream cipher, then cryptanalysis is often quite </a:t>
            </a:r>
            <a:r>
              <a:rPr lang="en-US" dirty="0" smtClean="0"/>
              <a:t>simple</a:t>
            </a:r>
          </a:p>
          <a:p>
            <a:pPr lvl="1"/>
            <a:r>
              <a:rPr lang="en-US" dirty="0" smtClean="0"/>
              <a:t>If </a:t>
            </a:r>
            <a:r>
              <a:rPr lang="en-US" dirty="0"/>
              <a:t>the </a:t>
            </a:r>
            <a:r>
              <a:rPr lang="en-US" dirty="0" smtClean="0"/>
              <a:t>two </a:t>
            </a:r>
            <a:r>
              <a:rPr lang="en-US" dirty="0" err="1" smtClean="0"/>
              <a:t>ciphertext</a:t>
            </a:r>
            <a:r>
              <a:rPr lang="en-US" dirty="0" smtClean="0"/>
              <a:t> </a:t>
            </a:r>
            <a:r>
              <a:rPr lang="en-US" dirty="0"/>
              <a:t>streams are </a:t>
            </a:r>
            <a:r>
              <a:rPr lang="en-US" dirty="0" err="1"/>
              <a:t>XORed</a:t>
            </a:r>
            <a:r>
              <a:rPr lang="en-US" dirty="0"/>
              <a:t> together, the result is the XOR of the original </a:t>
            </a:r>
            <a:r>
              <a:rPr lang="en-US" dirty="0" smtClean="0"/>
              <a:t>plaintexts</a:t>
            </a:r>
          </a:p>
          <a:p>
            <a:pPr lvl="1"/>
            <a:r>
              <a:rPr lang="en-US" dirty="0" smtClean="0"/>
              <a:t>If the plaintexts </a:t>
            </a:r>
            <a:r>
              <a:rPr lang="en-US" dirty="0"/>
              <a:t>are text strings, credit card numbers, or other byte streams with known properties, </a:t>
            </a:r>
            <a:r>
              <a:rPr lang="en-US" dirty="0" smtClean="0"/>
              <a:t>then cryptanalysis becomes more easy</a:t>
            </a:r>
            <a:endParaRPr lang="en-US" dirty="0"/>
          </a:p>
          <a:p>
            <a:endParaRPr lang="en-US" dirty="0"/>
          </a:p>
          <a:p>
            <a:endParaRPr lang="en-US" dirty="0"/>
          </a:p>
        </p:txBody>
      </p:sp>
    </p:spTree>
    <p:extLst>
      <p:ext uri="{BB962C8B-B14F-4D97-AF65-F5344CB8AC3E}">
        <p14:creationId xmlns:p14="http://schemas.microsoft.com/office/powerpoint/2010/main" val="17259407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Block vs Steam Ciphers</a:t>
            </a:r>
          </a:p>
        </p:txBody>
      </p:sp>
      <p:sp>
        <p:nvSpPr>
          <p:cNvPr id="5" name="Content Placeholder 4"/>
          <p:cNvSpPr>
            <a:spLocks noGrp="1"/>
          </p:cNvSpPr>
          <p:nvPr>
            <p:ph idx="1"/>
          </p:nvPr>
        </p:nvSpPr>
        <p:spPr/>
        <p:txBody>
          <a:bodyPr>
            <a:normAutofit/>
          </a:bodyPr>
          <a:lstStyle/>
          <a:p>
            <a:r>
              <a:rPr lang="en-US" dirty="0"/>
              <a:t>For applications that require encryption/decryption of a stream of data, such as over a </a:t>
            </a:r>
            <a:r>
              <a:rPr lang="en-US" dirty="0" smtClean="0"/>
              <a:t>data communications </a:t>
            </a:r>
            <a:r>
              <a:rPr lang="en-US" dirty="0"/>
              <a:t>channel or a browser/Web link, a stream cipher might be the better </a:t>
            </a:r>
            <a:r>
              <a:rPr lang="en-US" dirty="0" smtClean="0"/>
              <a:t>alternative</a:t>
            </a:r>
            <a:endParaRPr lang="en-US" dirty="0"/>
          </a:p>
          <a:p>
            <a:r>
              <a:rPr lang="en-US" dirty="0"/>
              <a:t>For applications that deal with blocks of data, such as file transfer, e-mail, and database, block ciphers may be more </a:t>
            </a:r>
            <a:r>
              <a:rPr lang="en-US" dirty="0" smtClean="0"/>
              <a:t>appropriate</a:t>
            </a:r>
          </a:p>
          <a:p>
            <a:endParaRPr lang="en-US" dirty="0"/>
          </a:p>
          <a:p>
            <a:r>
              <a:rPr lang="en-US" dirty="0" smtClean="0"/>
              <a:t>However</a:t>
            </a:r>
            <a:r>
              <a:rPr lang="en-US" dirty="0"/>
              <a:t>, either type of cipher can be used in virtually </a:t>
            </a:r>
            <a:r>
              <a:rPr lang="en-US" dirty="0" smtClean="0"/>
              <a:t>any application</a:t>
            </a:r>
            <a:endParaRPr lang="en-US" dirty="0"/>
          </a:p>
        </p:txBody>
      </p:sp>
    </p:spTree>
    <p:extLst>
      <p:ext uri="{BB962C8B-B14F-4D97-AF65-F5344CB8AC3E}">
        <p14:creationId xmlns:p14="http://schemas.microsoft.com/office/powerpoint/2010/main" val="5914971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lstStyle/>
          <a:p>
            <a:pPr eaLnBrk="1" hangingPunct="1"/>
            <a:r>
              <a:rPr lang="en-US" smtClean="0">
                <a:latin typeface="Calibri" pitchFamily="34" charset="0"/>
                <a:ea typeface="ＭＳ Ｐゴシック" pitchFamily="34" charset="-128"/>
                <a:cs typeface="Arial" pitchFamily="34" charset="0"/>
              </a:rPr>
              <a:t>RC4 and WEP</a:t>
            </a:r>
          </a:p>
        </p:txBody>
      </p:sp>
      <p:sp>
        <p:nvSpPr>
          <p:cNvPr id="50179" name="Slide Number Placeholder 3"/>
          <p:cNvSpPr>
            <a:spLocks noGrp="1"/>
          </p:cNvSpPr>
          <p:nvPr>
            <p:ph type="sldNum" sz="quarter" idx="4294967295"/>
          </p:nvPr>
        </p:nvSpPr>
        <p:spPr bwMode="auto">
          <a:xfrm>
            <a:off x="612775" y="6356350"/>
            <a:ext cx="1981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4FF70029-4709-48C1-B5C4-A1F933645A38}" type="slidenum">
              <a:rPr lang="en-US" sz="1400">
                <a:solidFill>
                  <a:schemeClr val="tx2"/>
                </a:solidFill>
              </a:rPr>
              <a:pPr eaLnBrk="1" hangingPunct="1"/>
              <a:t>22</a:t>
            </a:fld>
            <a:endParaRPr lang="en-US" sz="1400">
              <a:solidFill>
                <a:schemeClr val="tx2"/>
              </a:solidFill>
            </a:endParaRPr>
          </a:p>
        </p:txBody>
      </p:sp>
      <p:sp>
        <p:nvSpPr>
          <p:cNvPr id="50180" name="Content Placeholder 2"/>
          <p:cNvSpPr>
            <a:spLocks noGrp="1"/>
          </p:cNvSpPr>
          <p:nvPr>
            <p:ph sz="quarter" idx="1"/>
          </p:nvPr>
        </p:nvSpPr>
        <p:spPr>
          <a:xfrm>
            <a:off x="457200" y="1600200"/>
            <a:ext cx="8229600" cy="3505200"/>
          </a:xfrm>
        </p:spPr>
        <p:txBody>
          <a:bodyPr>
            <a:normAutofit lnSpcReduction="10000"/>
          </a:bodyPr>
          <a:lstStyle/>
          <a:p>
            <a:pPr eaLnBrk="1" hangingPunct="1">
              <a:lnSpc>
                <a:spcPct val="120000"/>
              </a:lnSpc>
            </a:pPr>
            <a:r>
              <a:rPr lang="en-US" sz="2500" smtClean="0">
                <a:latin typeface="Calibri" pitchFamily="34" charset="0"/>
                <a:ea typeface="ＭＳ Ｐゴシック" pitchFamily="34" charset="-128"/>
                <a:cs typeface="Arial" pitchFamily="34" charset="0"/>
              </a:rPr>
              <a:t>WEP is a protocol using RC4 to encrypt packets for transmission over IEEE 802.11 wireless LAN.  </a:t>
            </a:r>
          </a:p>
          <a:p>
            <a:pPr eaLnBrk="1" hangingPunct="1">
              <a:lnSpc>
                <a:spcPct val="120000"/>
              </a:lnSpc>
            </a:pPr>
            <a:r>
              <a:rPr lang="en-US" sz="2500" smtClean="0">
                <a:latin typeface="Calibri" pitchFamily="34" charset="0"/>
                <a:ea typeface="ＭＳ Ｐゴシック" pitchFamily="34" charset="-128"/>
                <a:cs typeface="Arial" pitchFamily="34" charset="0"/>
              </a:rPr>
              <a:t>WEP requires each packet to be encrypted with a separate RC4 key. </a:t>
            </a:r>
          </a:p>
          <a:p>
            <a:pPr eaLnBrk="1" hangingPunct="1">
              <a:lnSpc>
                <a:spcPct val="120000"/>
              </a:lnSpc>
            </a:pPr>
            <a:r>
              <a:rPr lang="en-US" sz="2500" smtClean="0">
                <a:latin typeface="Calibri" pitchFamily="34" charset="0"/>
                <a:ea typeface="ＭＳ Ｐゴシック" pitchFamily="34" charset="-128"/>
                <a:cs typeface="Arial" pitchFamily="34" charset="0"/>
              </a:rPr>
              <a:t>The RC4 key for each packet is a concatenation of a 24-bit IV (initialization vector) and a 40 or 104-bit long-term key. </a:t>
            </a:r>
          </a:p>
        </p:txBody>
      </p:sp>
      <p:sp>
        <p:nvSpPr>
          <p:cNvPr id="5" name="Rectangle 4"/>
          <p:cNvSpPr/>
          <p:nvPr/>
        </p:nvSpPr>
        <p:spPr>
          <a:xfrm>
            <a:off x="2438400" y="5334000"/>
            <a:ext cx="5867400" cy="60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dirty="0" err="1">
                <a:solidFill>
                  <a:srgbClr val="FFFFFF"/>
                </a:solidFill>
                <a:latin typeface="Calibri"/>
                <a:cs typeface="Arial" charset="0"/>
              </a:rPr>
              <a:t>l</a:t>
            </a:r>
            <a:endParaRPr lang="en-US" sz="1800" dirty="0">
              <a:solidFill>
                <a:srgbClr val="FFFFFF"/>
              </a:solidFill>
              <a:latin typeface="Calibri"/>
              <a:cs typeface="Arial" charset="0"/>
            </a:endParaRPr>
          </a:p>
        </p:txBody>
      </p:sp>
      <p:sp>
        <p:nvSpPr>
          <p:cNvPr id="50182" name="TextBox 5"/>
          <p:cNvSpPr txBox="1">
            <a:spLocks noChangeArrowheads="1"/>
          </p:cNvSpPr>
          <p:nvPr/>
        </p:nvSpPr>
        <p:spPr bwMode="auto">
          <a:xfrm>
            <a:off x="838200" y="5334000"/>
            <a:ext cx="74676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3200">
                <a:latin typeface="Calibri" pitchFamily="34" charset="0"/>
              </a:rPr>
              <a:t>RC4 key:  </a:t>
            </a:r>
            <a:r>
              <a:rPr lang="en-US" sz="2800">
                <a:latin typeface="Calibri" pitchFamily="34" charset="0"/>
              </a:rPr>
              <a:t> IV (24)   Long-term key (40 or 104 bits)</a:t>
            </a:r>
          </a:p>
        </p:txBody>
      </p:sp>
      <p:cxnSp>
        <p:nvCxnSpPr>
          <p:cNvPr id="8" name="Straight Connector 7"/>
          <p:cNvCxnSpPr/>
          <p:nvPr/>
        </p:nvCxnSpPr>
        <p:spPr>
          <a:xfrm rot="5400000">
            <a:off x="3277394" y="5638006"/>
            <a:ext cx="609600" cy="1588"/>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912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pPr eaLnBrk="1" hangingPunct="1"/>
            <a:r>
              <a:rPr lang="en-US" smtClean="0">
                <a:latin typeface="Calibri" pitchFamily="34" charset="0"/>
                <a:ea typeface="ＭＳ Ｐゴシック" pitchFamily="34" charset="-128"/>
                <a:cs typeface="Arial" pitchFamily="34" charset="0"/>
              </a:rPr>
              <a:t>802.11 frames using WEP</a:t>
            </a:r>
          </a:p>
        </p:txBody>
      </p:sp>
      <p:sp>
        <p:nvSpPr>
          <p:cNvPr id="52227" name="Slide Number Placeholder 3"/>
          <p:cNvSpPr>
            <a:spLocks noGrp="1"/>
          </p:cNvSpPr>
          <p:nvPr>
            <p:ph type="sldNum" sz="quarter" idx="4294967295"/>
          </p:nvPr>
        </p:nvSpPr>
        <p:spPr bwMode="auto">
          <a:xfrm>
            <a:off x="612775" y="6356350"/>
            <a:ext cx="19812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fld id="{E4CD45A6-72C3-4D01-B2B8-05BCD9839BB7}" type="slidenum">
              <a:rPr lang="en-US" sz="1400">
                <a:solidFill>
                  <a:schemeClr val="tx2"/>
                </a:solidFill>
              </a:rPr>
              <a:pPr eaLnBrk="1" hangingPunct="1"/>
              <a:t>23</a:t>
            </a:fld>
            <a:endParaRPr lang="en-US" sz="1400">
              <a:solidFill>
                <a:schemeClr val="tx2"/>
              </a:solidFill>
            </a:endParaRPr>
          </a:p>
        </p:txBody>
      </p:sp>
      <p:sp>
        <p:nvSpPr>
          <p:cNvPr id="9" name="Rectangle 8"/>
          <p:cNvSpPr/>
          <p:nvPr/>
        </p:nvSpPr>
        <p:spPr>
          <a:xfrm>
            <a:off x="762000" y="1905000"/>
            <a:ext cx="7086600" cy="609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sz="1800" dirty="0" err="1">
                <a:solidFill>
                  <a:srgbClr val="FFFFFF"/>
                </a:solidFill>
                <a:latin typeface="Calibri"/>
                <a:cs typeface="Calibri"/>
              </a:rPr>
              <a:t>l</a:t>
            </a:r>
            <a:endParaRPr lang="en-US" sz="1800" dirty="0">
              <a:solidFill>
                <a:srgbClr val="FFFFFF"/>
              </a:solidFill>
              <a:latin typeface="Calibri"/>
              <a:cs typeface="Calibri"/>
            </a:endParaRPr>
          </a:p>
        </p:txBody>
      </p:sp>
      <p:sp>
        <p:nvSpPr>
          <p:cNvPr id="52229" name="TextBox 9"/>
          <p:cNvSpPr txBox="1">
            <a:spLocks noChangeArrowheads="1"/>
          </p:cNvSpPr>
          <p:nvPr/>
        </p:nvSpPr>
        <p:spPr bwMode="auto">
          <a:xfrm>
            <a:off x="838200" y="1981200"/>
            <a:ext cx="5772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sz="2800">
                <a:latin typeface="Calibri" pitchFamily="34" charset="0"/>
              </a:rPr>
              <a:t>Header   IV            Packet        ICV     FCS</a:t>
            </a:r>
          </a:p>
        </p:txBody>
      </p:sp>
      <p:cxnSp>
        <p:nvCxnSpPr>
          <p:cNvPr id="12" name="Straight Connector 11"/>
          <p:cNvCxnSpPr/>
          <p:nvPr/>
        </p:nvCxnSpPr>
        <p:spPr>
          <a:xfrm rot="5400000">
            <a:off x="1828801" y="2209800"/>
            <a:ext cx="609600" cy="3175"/>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rot="5400000">
            <a:off x="2743994" y="2209006"/>
            <a:ext cx="609600" cy="1588"/>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5400000">
            <a:off x="5334794" y="2209006"/>
            <a:ext cx="609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 name="Left Brace 14"/>
          <p:cNvSpPr/>
          <p:nvPr/>
        </p:nvSpPr>
        <p:spPr>
          <a:xfrm>
            <a:off x="4724400" y="6324600"/>
            <a:ext cx="228600" cy="762000"/>
          </a:xfrm>
          <a:prstGeom prst="leftBrace">
            <a:avLst/>
          </a:prstGeom>
          <a:scene3d>
            <a:camera prst="orthographicFront">
              <a:rot lat="0" lon="5400000" rev="0"/>
            </a:camera>
            <a:lightRig rig="threePt" dir="t"/>
          </a:scene3d>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800" dirty="0">
              <a:latin typeface="Calibri"/>
            </a:endParaRPr>
          </a:p>
        </p:txBody>
      </p:sp>
      <p:sp>
        <p:nvSpPr>
          <p:cNvPr id="16" name="Left Brace 15"/>
          <p:cNvSpPr/>
          <p:nvPr/>
        </p:nvSpPr>
        <p:spPr>
          <a:xfrm rot="16200000">
            <a:off x="4724400" y="838200"/>
            <a:ext cx="228600" cy="3581400"/>
          </a:xfrm>
          <a:prstGeom prst="leftBrace">
            <a:avLst/>
          </a:prstGeom>
          <a:ln w="19050">
            <a:solidFill>
              <a:srgbClr val="FF0066"/>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sz="1800" dirty="0">
              <a:latin typeface="Calibri"/>
              <a:cs typeface="Calibri"/>
            </a:endParaRPr>
          </a:p>
        </p:txBody>
      </p:sp>
      <p:sp>
        <p:nvSpPr>
          <p:cNvPr id="52235" name="TextBox 16"/>
          <p:cNvSpPr txBox="1">
            <a:spLocks noChangeArrowheads="1"/>
          </p:cNvSpPr>
          <p:nvPr/>
        </p:nvSpPr>
        <p:spPr bwMode="auto">
          <a:xfrm>
            <a:off x="3886200" y="2743200"/>
            <a:ext cx="1752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r>
              <a:rPr lang="en-US">
                <a:solidFill>
                  <a:srgbClr val="FF0000"/>
                </a:solidFill>
                <a:latin typeface="Calibri" pitchFamily="34" charset="0"/>
              </a:rPr>
              <a:t>encrypted</a:t>
            </a:r>
          </a:p>
        </p:txBody>
      </p:sp>
      <p:cxnSp>
        <p:nvCxnSpPr>
          <p:cNvPr id="19" name="Straight Connector 18"/>
          <p:cNvCxnSpPr/>
          <p:nvPr/>
        </p:nvCxnSpPr>
        <p:spPr>
          <a:xfrm rot="5400000">
            <a:off x="6325394" y="2209006"/>
            <a:ext cx="609600" cy="158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2237" name="TextBox 16"/>
          <p:cNvSpPr txBox="1">
            <a:spLocks noChangeArrowheads="1"/>
          </p:cNvSpPr>
          <p:nvPr/>
        </p:nvSpPr>
        <p:spPr bwMode="auto">
          <a:xfrm>
            <a:off x="990600" y="3962400"/>
            <a:ext cx="74041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itchFamily="34" charset="0"/>
                <a:ea typeface="ＭＳ Ｐゴシック" pitchFamily="34" charset="-128"/>
              </a:defRPr>
            </a:lvl1pPr>
            <a:lvl2pPr marL="37931725" indent="-37474525" eaLnBrk="0" hangingPunct="0">
              <a:defRPr sz="2400">
                <a:solidFill>
                  <a:schemeClr val="tx1"/>
                </a:solidFill>
                <a:latin typeface="Arial" pitchFamily="34" charset="0"/>
                <a:ea typeface="ＭＳ Ｐゴシック" pitchFamily="34" charset="-128"/>
              </a:defRPr>
            </a:lvl2pPr>
            <a:lvl3pPr eaLnBrk="0" hangingPunct="0">
              <a:defRPr sz="2400">
                <a:solidFill>
                  <a:schemeClr val="tx1"/>
                </a:solidFill>
                <a:latin typeface="Arial" pitchFamily="34" charset="0"/>
                <a:ea typeface="ＭＳ Ｐゴシック" pitchFamily="34" charset="-128"/>
              </a:defRPr>
            </a:lvl3pPr>
            <a:lvl4pPr eaLnBrk="0" hangingPunct="0">
              <a:defRPr sz="2400">
                <a:solidFill>
                  <a:schemeClr val="tx1"/>
                </a:solidFill>
                <a:latin typeface="Arial" pitchFamily="34" charset="0"/>
                <a:ea typeface="ＭＳ Ｐゴシック" pitchFamily="34" charset="-128"/>
              </a:defRPr>
            </a:lvl4pPr>
            <a:lvl5pPr eaLnBrk="0" hangingPunct="0">
              <a:defRPr sz="2400">
                <a:solidFill>
                  <a:schemeClr val="tx1"/>
                </a:solidFill>
                <a:latin typeface="Arial" pitchFamily="34" charset="0"/>
                <a:ea typeface="ＭＳ Ｐゴシック" pitchFamily="34" charset="-128"/>
              </a:defRPr>
            </a:lvl5pPr>
            <a:lvl6pPr marL="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9144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1371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18288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buFont typeface="Arial" pitchFamily="34" charset="0"/>
              <a:buChar char="•"/>
            </a:pPr>
            <a:r>
              <a:rPr lang="en-US" sz="2800">
                <a:latin typeface="Calibri" pitchFamily="34" charset="0"/>
              </a:rPr>
              <a:t>  ICV: integrity check value (for data integrity)</a:t>
            </a:r>
          </a:p>
          <a:p>
            <a:pPr eaLnBrk="1" hangingPunct="1">
              <a:buFont typeface="Arial" pitchFamily="34" charset="0"/>
              <a:buChar char="•"/>
            </a:pPr>
            <a:r>
              <a:rPr lang="en-US" sz="2800">
                <a:latin typeface="Calibri" pitchFamily="34" charset="0"/>
              </a:rPr>
              <a:t>  FCS: frame check sequence (for error detection)</a:t>
            </a:r>
          </a:p>
          <a:p>
            <a:pPr eaLnBrk="1" hangingPunct="1">
              <a:buFont typeface="Arial" pitchFamily="34" charset="0"/>
              <a:buChar char="•"/>
            </a:pPr>
            <a:r>
              <a:rPr lang="en-US" sz="2800">
                <a:latin typeface="Calibri" pitchFamily="34" charset="0"/>
              </a:rPr>
              <a:t>  Both use CRC32</a:t>
            </a:r>
          </a:p>
        </p:txBody>
      </p:sp>
    </p:spTree>
    <p:extLst>
      <p:ext uri="{BB962C8B-B14F-4D97-AF65-F5344CB8AC3E}">
        <p14:creationId xmlns:p14="http://schemas.microsoft.com/office/powerpoint/2010/main" val="19923487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p:txBody>
          <a:bodyPr/>
          <a:lstStyle/>
          <a:p>
            <a:r>
              <a:rPr lang="en-US" smtClean="0">
                <a:latin typeface="Calibri" pitchFamily="34" charset="0"/>
                <a:ea typeface="ＭＳ Ｐゴシック" pitchFamily="34" charset="-128"/>
              </a:rPr>
              <a:t>WEP Vulnerability</a:t>
            </a:r>
          </a:p>
        </p:txBody>
      </p:sp>
      <p:sp>
        <p:nvSpPr>
          <p:cNvPr id="54275" name="Content Placeholder 2"/>
          <p:cNvSpPr>
            <a:spLocks noGrp="1"/>
          </p:cNvSpPr>
          <p:nvPr>
            <p:ph sz="quarter" idx="1"/>
          </p:nvPr>
        </p:nvSpPr>
        <p:spPr>
          <a:xfrm>
            <a:off x="457200" y="1219200"/>
            <a:ext cx="8229600" cy="4937125"/>
          </a:xfrm>
        </p:spPr>
        <p:txBody>
          <a:bodyPr>
            <a:normAutofit/>
          </a:bodyPr>
          <a:lstStyle/>
          <a:p>
            <a:pPr eaLnBrk="1" hangingPunct="1">
              <a:lnSpc>
                <a:spcPct val="90000"/>
              </a:lnSpc>
            </a:pPr>
            <a:r>
              <a:rPr lang="en-US" sz="2800" dirty="0" smtClean="0">
                <a:latin typeface="Calibri" pitchFamily="34" charset="0"/>
                <a:ea typeface="ＭＳ Ｐゴシック" pitchFamily="34" charset="-128"/>
              </a:rPr>
              <a:t>WEP  protocol  has several flaws but not the RC4 itself</a:t>
            </a:r>
          </a:p>
          <a:p>
            <a:pPr lvl="1" eaLnBrk="1" hangingPunct="1">
              <a:lnSpc>
                <a:spcPct val="90000"/>
              </a:lnSpc>
            </a:pPr>
            <a:r>
              <a:rPr lang="en-US" sz="2400" b="1" dirty="0" smtClean="0">
                <a:latin typeface="Calibri" pitchFamily="34" charset="0"/>
                <a:ea typeface="ＭＳ Ｐゴシック" pitchFamily="34" charset="-128"/>
              </a:rPr>
              <a:t>Short IV length</a:t>
            </a:r>
          </a:p>
          <a:p>
            <a:pPr lvl="2" eaLnBrk="1" hangingPunct="1">
              <a:lnSpc>
                <a:spcPct val="90000"/>
              </a:lnSpc>
            </a:pPr>
            <a:r>
              <a:rPr lang="en-US" sz="2000" dirty="0" smtClean="0">
                <a:latin typeface="Calibri" pitchFamily="34" charset="0"/>
                <a:ea typeface="ＭＳ Ｐゴシック" pitchFamily="34" charset="-128"/>
              </a:rPr>
              <a:t> 24 bits IV not sufficient</a:t>
            </a:r>
          </a:p>
          <a:p>
            <a:pPr lvl="1" eaLnBrk="1" hangingPunct="1">
              <a:lnSpc>
                <a:spcPct val="90000"/>
              </a:lnSpc>
            </a:pPr>
            <a:r>
              <a:rPr lang="en-US" sz="2400" b="1" dirty="0" smtClean="0">
                <a:latin typeface="Calibri" pitchFamily="34" charset="0"/>
                <a:ea typeface="ＭＳ Ｐゴシック" pitchFamily="34" charset="-128"/>
              </a:rPr>
              <a:t>Clear text IV as part of the key </a:t>
            </a:r>
          </a:p>
          <a:p>
            <a:pPr lvl="2" eaLnBrk="1" hangingPunct="1">
              <a:lnSpc>
                <a:spcPct val="90000"/>
              </a:lnSpc>
            </a:pPr>
            <a:r>
              <a:rPr lang="en-US" sz="2000" dirty="0" smtClean="0">
                <a:latin typeface="Calibri" pitchFamily="34" charset="0"/>
                <a:ea typeface="ＭＳ Ｐゴシック" pitchFamily="34" charset="-128"/>
              </a:rPr>
              <a:t>24 bits of every key in </a:t>
            </a:r>
            <a:r>
              <a:rPr lang="en-US" sz="2000" dirty="0" err="1" smtClean="0">
                <a:latin typeface="Calibri" pitchFamily="34" charset="0"/>
                <a:ea typeface="ＭＳ Ｐゴシック" pitchFamily="34" charset="-128"/>
              </a:rPr>
              <a:t>cleartext</a:t>
            </a:r>
            <a:r>
              <a:rPr lang="en-US" sz="2000" dirty="0" smtClean="0">
                <a:latin typeface="Calibri" pitchFamily="34" charset="0"/>
                <a:ea typeface="ＭＳ Ｐゴシック" pitchFamily="34" charset="-128"/>
              </a:rPr>
              <a:t>  </a:t>
            </a:r>
          </a:p>
          <a:p>
            <a:pPr lvl="2" eaLnBrk="1" hangingPunct="1">
              <a:lnSpc>
                <a:spcPct val="90000"/>
              </a:lnSpc>
            </a:pPr>
            <a:r>
              <a:rPr lang="en-US" sz="2000" dirty="0" smtClean="0">
                <a:latin typeface="Calibri" pitchFamily="34" charset="0"/>
                <a:ea typeface="ＭＳ Ｐゴシック" pitchFamily="34" charset="-128"/>
              </a:rPr>
              <a:t>Collect and analyze IVs to extract the WEP key</a:t>
            </a:r>
          </a:p>
          <a:p>
            <a:pPr lvl="1" eaLnBrk="1" hangingPunct="1">
              <a:lnSpc>
                <a:spcPct val="90000"/>
              </a:lnSpc>
            </a:pPr>
            <a:r>
              <a:rPr lang="en-US" sz="2400" b="1" dirty="0" smtClean="0">
                <a:latin typeface="Calibri" pitchFamily="34" charset="0"/>
                <a:ea typeface="ＭＳ Ｐゴシック" pitchFamily="34" charset="-128"/>
              </a:rPr>
              <a:t>Weak IVs </a:t>
            </a:r>
          </a:p>
          <a:p>
            <a:pPr lvl="2" eaLnBrk="1" hangingPunct="1">
              <a:lnSpc>
                <a:spcPct val="90000"/>
              </a:lnSpc>
            </a:pPr>
            <a:r>
              <a:rPr lang="en-US" sz="2000" dirty="0" smtClean="0">
                <a:latin typeface="Calibri" pitchFamily="34" charset="0"/>
                <a:ea typeface="ＭＳ Ｐゴシック" pitchFamily="34" charset="-128"/>
              </a:rPr>
              <a:t>Some generated IVs do not provide enough randomness </a:t>
            </a:r>
          </a:p>
          <a:p>
            <a:pPr lvl="2" eaLnBrk="1" hangingPunct="1">
              <a:lnSpc>
                <a:spcPct val="90000"/>
              </a:lnSpc>
            </a:pPr>
            <a:r>
              <a:rPr lang="en-US" sz="2000" dirty="0" smtClean="0">
                <a:latin typeface="Calibri" pitchFamily="34" charset="0"/>
                <a:ea typeface="ＭＳ Ｐゴシック" pitchFamily="34" charset="-128"/>
              </a:rPr>
              <a:t>Can be used to extract the key</a:t>
            </a:r>
          </a:p>
          <a:p>
            <a:pPr eaLnBrk="1" hangingPunct="1">
              <a:lnSpc>
                <a:spcPct val="90000"/>
              </a:lnSpc>
            </a:pPr>
            <a:endParaRPr lang="en-US" sz="2800" dirty="0" smtClean="0">
              <a:latin typeface="Calibri" pitchFamily="34" charset="0"/>
              <a:ea typeface="ＭＳ Ｐゴシック" pitchFamily="34" charset="-128"/>
            </a:endParaRPr>
          </a:p>
          <a:p>
            <a:endParaRPr lang="en-US" sz="2800" dirty="0" smtClean="0">
              <a:latin typeface="Calibri" pitchFamily="34" charset="0"/>
              <a:ea typeface="ＭＳ Ｐゴシック" pitchFamily="34" charset="-128"/>
            </a:endParaRPr>
          </a:p>
        </p:txBody>
      </p:sp>
    </p:spTree>
    <p:extLst>
      <p:ext uri="{BB962C8B-B14F-4D97-AF65-F5344CB8AC3E}">
        <p14:creationId xmlns:p14="http://schemas.microsoft.com/office/powerpoint/2010/main" val="32615681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Grp="1" noChangeArrowheads="1"/>
          </p:cNvSpPr>
          <p:nvPr>
            <p:ph type="title"/>
            <p:custDataLst>
              <p:tags r:id="rId2"/>
            </p:custDataLst>
          </p:nvPr>
        </p:nvSpPr>
        <p:spPr/>
        <p:txBody>
          <a:bodyPr/>
          <a:lstStyle/>
          <a:p>
            <a:pPr>
              <a:defRPr/>
            </a:pPr>
            <a:r>
              <a:rPr lang="en-US" dirty="0" smtClean="0">
                <a:solidFill>
                  <a:srgbClr val="0070C0"/>
                </a:solidFill>
              </a:rPr>
              <a:t>THANKS</a:t>
            </a:r>
          </a:p>
        </p:txBody>
      </p:sp>
    </p:spTree>
    <p:custDataLst>
      <p:tags r:id="rId1"/>
    </p:custDataLst>
    <p:extLst>
      <p:ext uri="{BB962C8B-B14F-4D97-AF65-F5344CB8AC3E}">
        <p14:creationId xmlns:p14="http://schemas.microsoft.com/office/powerpoint/2010/main" val="33041128"/>
      </p:ext>
    </p:extLst>
  </p:cSld>
  <p:clrMapOvr>
    <a:masterClrMapping/>
  </p:clrMapOvr>
  <p:transition>
    <p:fade/>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yI2DOt6RzRcU51QxdhNewL"/>
</p:tagLst>
</file>

<file path=ppt/tags/tag2.xml><?xml version="1.0" encoding="utf-8"?>
<p:tagLst xmlns:a="http://schemas.openxmlformats.org/drawingml/2006/main" xmlns:r="http://schemas.openxmlformats.org/officeDocument/2006/relationships" xmlns:p="http://schemas.openxmlformats.org/presentationml/2006/main">
  <p:tag name="DVSHAPEID" val="HAGzTPKJNXuuOK4v20iPS7"/>
</p:tagLst>
</file>

<file path=ppt/tags/tag3.xml><?xml version="1.0" encoding="utf-8"?>
<p:tagLst xmlns:a="http://schemas.openxmlformats.org/drawingml/2006/main" xmlns:r="http://schemas.openxmlformats.org/officeDocument/2006/relationships" xmlns:p="http://schemas.openxmlformats.org/presentationml/2006/main">
  <p:tag name="DVSHAPEID" val="0uhWvCQomImT50qU5y4Znw"/>
</p:tagLst>
</file>

<file path=ppt/tags/tag4.xml><?xml version="1.0" encoding="utf-8"?>
<p:tagLst xmlns:a="http://schemas.openxmlformats.org/drawingml/2006/main" xmlns:r="http://schemas.openxmlformats.org/officeDocument/2006/relationships" xmlns:p="http://schemas.openxmlformats.org/presentationml/2006/main">
  <p:tag name="DVSECTIONID" val="c48BxRTjzwKhAarpC8SPOi"/>
</p:tagLst>
</file>

<file path=ppt/tags/tag5.xml><?xml version="1.0" encoding="utf-8"?>
<p:tagLst xmlns:a="http://schemas.openxmlformats.org/drawingml/2006/main" xmlns:r="http://schemas.openxmlformats.org/officeDocument/2006/relationships" xmlns:p="http://schemas.openxmlformats.org/presentationml/2006/main">
  <p:tag name="DVSHAPEID" val="GFUQynbDZ7CnnKAa7cx9M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raining">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258</TotalTime>
  <Words>1201</Words>
  <Application>Microsoft Office PowerPoint</Application>
  <PresentationFormat>On-screen Show (4:3)</PresentationFormat>
  <Paragraphs>183</Paragraphs>
  <Slides>25</Slides>
  <Notes>7</Notes>
  <HiddenSlides>0</HiddenSlides>
  <MMClips>0</MMClips>
  <ScaleCrop>false</ScaleCrop>
  <HeadingPairs>
    <vt:vector size="4" baseType="variant">
      <vt:variant>
        <vt:lpstr>Theme</vt:lpstr>
      </vt:variant>
      <vt:variant>
        <vt:i4>2</vt:i4>
      </vt:variant>
      <vt:variant>
        <vt:lpstr>Slide Titles</vt:lpstr>
      </vt:variant>
      <vt:variant>
        <vt:i4>25</vt:i4>
      </vt:variant>
    </vt:vector>
  </HeadingPairs>
  <TitlesOfParts>
    <vt:vector size="27" baseType="lpstr">
      <vt:lpstr>Office Theme</vt:lpstr>
      <vt:lpstr>Training</vt:lpstr>
      <vt:lpstr>CSC432 – information Security </vt:lpstr>
      <vt:lpstr>Stream Ciphers and RC4</vt:lpstr>
      <vt:lpstr>Modern Ciphers</vt:lpstr>
      <vt:lpstr>Example </vt:lpstr>
      <vt:lpstr>Modern Ciphers</vt:lpstr>
      <vt:lpstr>Random Numbers</vt:lpstr>
      <vt:lpstr>Pseudorandom Number Generators (PRNGs)</vt:lpstr>
      <vt:lpstr>Random &amp; Pseudorandom Number Generators</vt:lpstr>
      <vt:lpstr>Origins of Rivest Cipher</vt:lpstr>
      <vt:lpstr>RC4</vt:lpstr>
      <vt:lpstr>RC4</vt:lpstr>
      <vt:lpstr>RC4</vt:lpstr>
      <vt:lpstr>RC4</vt:lpstr>
      <vt:lpstr>RC4</vt:lpstr>
      <vt:lpstr>PowerPoint Presentation</vt:lpstr>
      <vt:lpstr>RC4</vt:lpstr>
      <vt:lpstr>RC4</vt:lpstr>
      <vt:lpstr>RC4</vt:lpstr>
      <vt:lpstr>RC4</vt:lpstr>
      <vt:lpstr>Block vs Steam Ciphers</vt:lpstr>
      <vt:lpstr>Block vs Steam Ciphers</vt:lpstr>
      <vt:lpstr>RC4 and WEP</vt:lpstr>
      <vt:lpstr>802.11 frames using WEP</vt:lpstr>
      <vt:lpstr>WEP Vulnerability</vt:lpstr>
      <vt:lpstr>THANKS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CSC332 – Data Security  and Encryption</dc:title>
  <dc:creator>Dr. Ahmad</dc:creator>
  <cp:lastModifiedBy>Adnan</cp:lastModifiedBy>
  <cp:revision>48</cp:revision>
  <dcterms:created xsi:type="dcterms:W3CDTF">2006-08-16T00:00:00Z</dcterms:created>
  <dcterms:modified xsi:type="dcterms:W3CDTF">2022-09-20T07:56:46Z</dcterms:modified>
</cp:coreProperties>
</file>