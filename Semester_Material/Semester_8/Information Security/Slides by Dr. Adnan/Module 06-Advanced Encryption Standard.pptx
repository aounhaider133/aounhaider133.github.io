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9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6" r:id="rId15"/>
    <p:sldId id="268" r:id="rId16"/>
    <p:sldId id="287" r:id="rId17"/>
    <p:sldId id="269" r:id="rId18"/>
    <p:sldId id="292" r:id="rId19"/>
    <p:sldId id="293" r:id="rId20"/>
    <p:sldId id="288" r:id="rId21"/>
    <p:sldId id="271" r:id="rId22"/>
    <p:sldId id="272" r:id="rId23"/>
    <p:sldId id="290" r:id="rId24"/>
    <p:sldId id="273" r:id="rId25"/>
    <p:sldId id="274" r:id="rId26"/>
    <p:sldId id="275" r:id="rId27"/>
    <p:sldId id="289" r:id="rId28"/>
    <p:sldId id="276" r:id="rId29"/>
    <p:sldId id="277" r:id="rId30"/>
    <p:sldId id="278" r:id="rId31"/>
    <p:sldId id="291" r:id="rId32"/>
    <p:sldId id="279" r:id="rId33"/>
    <p:sldId id="280" r:id="rId34"/>
    <p:sldId id="295" r:id="rId35"/>
    <p:sldId id="281" r:id="rId36"/>
    <p:sldId id="282" r:id="rId37"/>
    <p:sldId id="283" r:id="rId38"/>
    <p:sldId id="284" r:id="rId39"/>
    <p:sldId id="28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BCE22-4CF0-4B98-BB0A-CD3DB735A6CD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DF198-ADD1-47F6-AA60-95122B0F2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Microsoft </a:t>
            </a:r>
            <a:r>
              <a:rPr lang="en-US" b="1" dirty="0">
                <a:solidFill>
                  <a:prstClr val="black"/>
                </a:solidFill>
              </a:rPr>
              <a:t>Engineering Excellence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129743764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6</a:t>
            </a:r>
          </a:p>
        </p:txBody>
      </p:sp>
    </p:spTree>
    <p:extLst>
      <p:ext uri="{BB962C8B-B14F-4D97-AF65-F5344CB8AC3E}">
        <p14:creationId xmlns:p14="http://schemas.microsoft.com/office/powerpoint/2010/main" val="179112144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016166"/>
      </p:ext>
    </p:extLst>
  </p:cSld>
  <p:clrMapOvr>
    <a:masterClrMapping/>
  </p:clrMapOvr>
  <p:transition spd="slow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17328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04003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675242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47657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096232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368044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34348"/>
      </p:ext>
    </p:extLst>
  </p:cSld>
  <p:clrMapOvr>
    <a:masterClrMapping/>
  </p:clrMapOvr>
  <p:transition spd="slow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520103"/>
      </p:ext>
    </p:extLst>
  </p:cSld>
  <p:clrMapOvr>
    <a:masterClrMapping/>
  </p:clrMapOvr>
  <p:transition spd="slow"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8712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5/18/2023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angelfire.com/biz7/atleast/mix_columns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en.wikipedia.org/wiki/Rijndael_MixColumns" TargetMode="External"/><Relationship Id="rId4" Type="http://schemas.openxmlformats.org/officeDocument/2006/relationships/hyperlink" Target="https://www.google.com/url?sa=t&amp;rct=j&amp;q=&amp;esrc=s&amp;source=web&amp;cd=6&amp;cad=rja&amp;uact=8&amp;ved=0ahUKEwjH98ukgq_aAhXMM48KHbCuCy4QFghpMAU&amp;url=http://www.infosecwriters.com/text_resources/pdf/AESbyExample.pdf&amp;usg=AOvVaw1SUxotNIx5hYPg8m6SQsO9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rreducible_polynomia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hyperlink" Target="http://www.formaestudio.com/rijndaelinspector/archivos/Rijndael_Animation_v4_eng.swf" TargetMode="Externa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engineering.purdue.edu/kak/compsec/NewLectures/Lecture8.pdf" TargetMode="Externa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CSC432 – information Security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n-lt"/>
              </a:rPr>
              <a:t>Dr. Adnan Ahmad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41772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4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/>
              <a:t>Advanced Encryption Standard</a:t>
            </a:r>
          </a:p>
        </p:txBody>
      </p:sp>
    </p:spTree>
    <p:extLst>
      <p:ext uri="{BB962C8B-B14F-4D97-AF65-F5344CB8AC3E}">
        <p14:creationId xmlns:p14="http://schemas.microsoft.com/office/powerpoint/2010/main" val="411416783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Origins of AES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Because of the exhaustive key search and theoretical attacks to break it, clearly a replacement for DES was needed</a:t>
            </a:r>
          </a:p>
          <a:p>
            <a:pPr lvl="1"/>
            <a:r>
              <a:rPr lang="en-US" dirty="0"/>
              <a:t>Triple-DES can be used but it is slow and has small blocks</a:t>
            </a:r>
          </a:p>
          <a:p>
            <a:endParaRPr lang="en-US" dirty="0"/>
          </a:p>
          <a:p>
            <a:r>
              <a:rPr lang="en-US" dirty="0"/>
              <a:t>NIST issued call for ciphers in 1997, 22 submissions, 15 candidates accepted in Jun 1998 </a:t>
            </a:r>
          </a:p>
          <a:p>
            <a:r>
              <a:rPr lang="en-US" dirty="0"/>
              <a:t>5 were shortlisted in Aug 1999, MARS, RC6, </a:t>
            </a:r>
            <a:r>
              <a:rPr lang="en-US" dirty="0" err="1"/>
              <a:t>Rijndael</a:t>
            </a:r>
            <a:r>
              <a:rPr lang="en-US" dirty="0"/>
              <a:t>, Serpent, </a:t>
            </a:r>
            <a:r>
              <a:rPr lang="en-US" dirty="0" err="1"/>
              <a:t>Twofish</a:t>
            </a:r>
            <a:endParaRPr lang="en-US" dirty="0"/>
          </a:p>
          <a:p>
            <a:r>
              <a:rPr lang="en-US" b="1" dirty="0"/>
              <a:t>Winner: </a:t>
            </a:r>
            <a:r>
              <a:rPr lang="en-US" b="1" dirty="0" err="1"/>
              <a:t>Rijndael</a:t>
            </a:r>
            <a:r>
              <a:rPr lang="en-US" b="1" dirty="0"/>
              <a:t>,</a:t>
            </a:r>
            <a:r>
              <a:rPr lang="en-US" dirty="0"/>
              <a:t> two Belgian cryptographers Joan </a:t>
            </a:r>
            <a:r>
              <a:rPr lang="en-US" dirty="0" err="1"/>
              <a:t>Daemen</a:t>
            </a:r>
            <a:r>
              <a:rPr lang="en-US" dirty="0"/>
              <a:t> and Vincent </a:t>
            </a:r>
            <a:r>
              <a:rPr lang="en-US" dirty="0" err="1"/>
              <a:t>Rijmen</a:t>
            </a:r>
            <a:endParaRPr lang="en-US" dirty="0"/>
          </a:p>
          <a:p>
            <a:r>
              <a:rPr lang="en-US" dirty="0"/>
              <a:t>A slight variation of the </a:t>
            </a:r>
            <a:r>
              <a:rPr lang="en-US" dirty="0" err="1"/>
              <a:t>Rijndael</a:t>
            </a:r>
            <a:r>
              <a:rPr lang="en-US" dirty="0"/>
              <a:t> cipher was selected as AES in Oct 2000</a:t>
            </a:r>
          </a:p>
          <a:p>
            <a:r>
              <a:rPr lang="en-US" dirty="0"/>
              <a:t>Published by NIST as FIPS PUB 197 standard in Nov 2001</a:t>
            </a:r>
          </a:p>
        </p:txBody>
      </p:sp>
    </p:spTree>
    <p:extLst>
      <p:ext uri="{BB962C8B-B14F-4D97-AF65-F5344CB8AC3E}">
        <p14:creationId xmlns:p14="http://schemas.microsoft.com/office/powerpoint/2010/main" val="35070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Rijndael</a:t>
            </a:r>
            <a:r>
              <a:rPr lang="en-US" dirty="0"/>
              <a:t> Cipher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an iterative cipher (operates on entire data block in every round) rather than </a:t>
            </a:r>
            <a:r>
              <a:rPr lang="en-US" dirty="0" err="1"/>
              <a:t>feistel</a:t>
            </a:r>
            <a:r>
              <a:rPr lang="en-US" dirty="0"/>
              <a:t> (operate on halves at a time)</a:t>
            </a:r>
          </a:p>
          <a:p>
            <a:r>
              <a:rPr lang="en-US" dirty="0"/>
              <a:t>It was designed to have characteristics of:</a:t>
            </a:r>
          </a:p>
          <a:p>
            <a:pPr lvl="1"/>
            <a:r>
              <a:rPr lang="en-US" dirty="0"/>
              <a:t>Resistance against all known attacks</a:t>
            </a:r>
          </a:p>
          <a:p>
            <a:pPr lvl="1"/>
            <a:r>
              <a:rPr lang="en-US" dirty="0"/>
              <a:t>Speed and code compactness on a wide range of platforms</a:t>
            </a:r>
          </a:p>
          <a:p>
            <a:pPr lvl="1"/>
            <a:r>
              <a:rPr lang="en-US" dirty="0"/>
              <a:t>Design simplicity</a:t>
            </a:r>
          </a:p>
          <a:p>
            <a:endParaRPr lang="en-US" dirty="0"/>
          </a:p>
          <a:p>
            <a:r>
              <a:rPr lang="en-US" dirty="0" err="1"/>
              <a:t>Rijndael</a:t>
            </a:r>
            <a:r>
              <a:rPr lang="en-US" dirty="0"/>
              <a:t> allows many block sizes and key sizes</a:t>
            </a:r>
          </a:p>
        </p:txBody>
      </p:sp>
    </p:spTree>
    <p:extLst>
      <p:ext uri="{BB962C8B-B14F-4D97-AF65-F5344CB8AC3E}">
        <p14:creationId xmlns:p14="http://schemas.microsoft.com/office/powerpoint/2010/main" val="320963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AES is a block cipher with a block length of 128 bits</a:t>
            </a:r>
          </a:p>
          <a:p>
            <a:r>
              <a:rPr lang="en-US" dirty="0"/>
              <a:t>Allows for three different key lengths: 128, 192, or 256 bits</a:t>
            </a:r>
          </a:p>
          <a:p>
            <a:r>
              <a:rPr lang="en-US" dirty="0"/>
              <a:t>Encryption consists of 10 rounds of processing for 128-bit keys, 12 rounds for 192-bit keys, and 14 rounds for 256-bit keys</a:t>
            </a:r>
          </a:p>
          <a:p>
            <a:pPr marL="349250" lvl="1" indent="0">
              <a:buNone/>
            </a:pPr>
            <a:endParaRPr lang="en-US" dirty="0"/>
          </a:p>
          <a:p>
            <a:pPr marL="349250" lvl="1" indent="0">
              <a:buNone/>
            </a:pPr>
            <a:r>
              <a:rPr lang="en-US" dirty="0"/>
              <a:t>Nr (number of rounds) = 6 + max{</a:t>
            </a:r>
            <a:r>
              <a:rPr lang="en-US" dirty="0" err="1"/>
              <a:t>Nb</a:t>
            </a:r>
            <a:r>
              <a:rPr lang="en-US" dirty="0"/>
              <a:t>, </a:t>
            </a:r>
            <a:r>
              <a:rPr lang="en-US" dirty="0" err="1"/>
              <a:t>Nk</a:t>
            </a:r>
            <a:r>
              <a:rPr lang="en-US" dirty="0"/>
              <a:t>}</a:t>
            </a:r>
          </a:p>
          <a:p>
            <a:pPr marL="349250" lvl="1" indent="0">
              <a:buNone/>
            </a:pPr>
            <a:r>
              <a:rPr lang="en-US" dirty="0" err="1"/>
              <a:t>Nb</a:t>
            </a:r>
            <a:r>
              <a:rPr lang="en-US" dirty="0"/>
              <a:t> = 32-bit words in the block 	</a:t>
            </a:r>
            <a:r>
              <a:rPr lang="en-US" dirty="0" err="1"/>
              <a:t>Nk</a:t>
            </a:r>
            <a:r>
              <a:rPr lang="en-US" dirty="0"/>
              <a:t> = 32-bit words in key</a:t>
            </a:r>
          </a:p>
          <a:p>
            <a:pPr marL="349250" lvl="1" indent="0">
              <a:buNone/>
            </a:pPr>
            <a:endParaRPr lang="en-US" dirty="0"/>
          </a:p>
          <a:p>
            <a:pPr marL="349250" lvl="1" indent="0">
              <a:buNone/>
            </a:pPr>
            <a:r>
              <a:rPr lang="en-US" dirty="0"/>
              <a:t>For AES-128 with 128-bit key: </a:t>
            </a:r>
            <a:r>
              <a:rPr lang="en-US" dirty="0" err="1"/>
              <a:t>Nb</a:t>
            </a:r>
            <a:r>
              <a:rPr lang="en-US" dirty="0"/>
              <a:t> = 4, </a:t>
            </a:r>
            <a:r>
              <a:rPr lang="en-US" dirty="0" err="1"/>
              <a:t>Nk</a:t>
            </a:r>
            <a:r>
              <a:rPr lang="en-US" dirty="0"/>
              <a:t> = 4, Nr = 10</a:t>
            </a:r>
          </a:p>
          <a:p>
            <a:pPr marL="349250" lvl="1" indent="0">
              <a:buNone/>
            </a:pPr>
            <a:endParaRPr lang="en-US" dirty="0"/>
          </a:p>
          <a:p>
            <a:pPr marL="349250" lvl="1" indent="0">
              <a:buNone/>
            </a:pPr>
            <a:r>
              <a:rPr lang="en-US" dirty="0"/>
              <a:t>Matrix = 4 rows × </a:t>
            </a:r>
            <a:r>
              <a:rPr lang="en-US" dirty="0" err="1"/>
              <a:t>Nb</a:t>
            </a:r>
            <a:r>
              <a:rPr lang="en-US" dirty="0"/>
              <a:t> columns</a:t>
            </a:r>
          </a:p>
        </p:txBody>
      </p:sp>
    </p:spTree>
    <p:extLst>
      <p:ext uri="{BB962C8B-B14F-4D97-AF65-F5344CB8AC3E}">
        <p14:creationId xmlns:p14="http://schemas.microsoft.com/office/powerpoint/2010/main" val="335692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 for the last round, all other rounds are identical</a:t>
            </a:r>
          </a:p>
          <a:p>
            <a:r>
              <a:rPr lang="en-US" dirty="0"/>
              <a:t>Each round of processing includes </a:t>
            </a:r>
          </a:p>
          <a:p>
            <a:pPr lvl="1"/>
            <a:r>
              <a:rPr lang="en-US" dirty="0"/>
              <a:t>one single-byte based </a:t>
            </a:r>
            <a:r>
              <a:rPr lang="en-US" u="sng" dirty="0"/>
              <a:t>substitution step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 row-wise </a:t>
            </a:r>
            <a:r>
              <a:rPr lang="en-US" u="sng" dirty="0"/>
              <a:t>permutation step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 column-wise </a:t>
            </a:r>
            <a:r>
              <a:rPr lang="en-US" u="sng" dirty="0"/>
              <a:t>mixing step</a:t>
            </a:r>
            <a:r>
              <a:rPr lang="en-US" dirty="0"/>
              <a:t>, and </a:t>
            </a:r>
          </a:p>
          <a:p>
            <a:pPr lvl="1"/>
            <a:r>
              <a:rPr lang="en-US" dirty="0"/>
              <a:t>the </a:t>
            </a:r>
            <a:r>
              <a:rPr lang="en-US" u="sng" dirty="0"/>
              <a:t>addition of the round key</a:t>
            </a:r>
          </a:p>
          <a:p>
            <a:endParaRPr lang="en-US" dirty="0"/>
          </a:p>
          <a:p>
            <a:r>
              <a:rPr lang="en-US" dirty="0"/>
              <a:t>The order in which these four steps are executed is different for encryption and decryption</a:t>
            </a:r>
          </a:p>
          <a:p>
            <a:r>
              <a:rPr lang="en-US" dirty="0"/>
              <a:t>So, unlike DES, the decryption algorithm differs substantially from the encryption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3293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input to the AES is a single 128-bit block, consisting of a 4×4 matrix of bytes, arranged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4 × 4 matrix of bytes is referred to as the </a:t>
            </a:r>
            <a:r>
              <a:rPr lang="en-US" b="1" dirty="0"/>
              <a:t>state array</a:t>
            </a:r>
          </a:p>
          <a:p>
            <a:r>
              <a:rPr lang="en-US" dirty="0"/>
              <a:t>Each column of the state array is a </a:t>
            </a:r>
            <a:r>
              <a:rPr lang="en-US" b="1" dirty="0"/>
              <a:t>word</a:t>
            </a:r>
            <a:r>
              <a:rPr lang="en-US" dirty="0"/>
              <a:t>, as is each row</a:t>
            </a:r>
          </a:p>
          <a:p>
            <a:pPr lvl="1"/>
            <a:r>
              <a:rPr lang="en-US" dirty="0"/>
              <a:t>A word consists of four bytes, that is 32 bits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1" y="2395073"/>
            <a:ext cx="2511147" cy="141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3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128-bit key is also arranged in the form of matrix of 4 × 4 bytes</a:t>
            </a:r>
          </a:p>
          <a:p>
            <a:pPr lvl="1"/>
            <a:r>
              <a:rPr lang="en-US" dirty="0"/>
              <a:t>As with the input block, the first word from the key fills the first column of the matrix, and so on</a:t>
            </a:r>
          </a:p>
          <a:p>
            <a:endParaRPr lang="en-US" u="sng" dirty="0"/>
          </a:p>
          <a:p>
            <a:r>
              <a:rPr lang="en-US" u="sng" dirty="0"/>
              <a:t>Four column words of the key matrix are expanded into a schedule of </a:t>
            </a:r>
            <a:r>
              <a:rPr lang="en-US" b="1" u="sng" dirty="0"/>
              <a:t>44 words</a:t>
            </a:r>
          </a:p>
        </p:txBody>
      </p:sp>
    </p:spTree>
    <p:extLst>
      <p:ext uri="{BB962C8B-B14F-4D97-AF65-F5344CB8AC3E}">
        <p14:creationId xmlns:p14="http://schemas.microsoft.com/office/powerpoint/2010/main" val="183033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AES Encryption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68" y="1240030"/>
            <a:ext cx="2766732" cy="55417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20321" y="1867357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input state array is </a:t>
            </a:r>
            <a:r>
              <a:rPr lang="en-US" sz="1600" dirty="0" err="1">
                <a:solidFill>
                  <a:prstClr val="black"/>
                </a:solidFill>
              </a:rPr>
              <a:t>XORed</a:t>
            </a:r>
            <a:r>
              <a:rPr lang="en-US" sz="1600" dirty="0">
                <a:solidFill>
                  <a:prstClr val="black"/>
                </a:solidFill>
              </a:rPr>
              <a:t> with the first four words of the key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0321" y="3276603"/>
            <a:ext cx="2228850" cy="1117905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prstClr val="black"/>
                </a:solidFill>
              </a:rPr>
              <a:t>1) Substitute bytes</a:t>
            </a:r>
          </a:p>
          <a:p>
            <a:r>
              <a:rPr lang="en-US" sz="1600" dirty="0">
                <a:solidFill>
                  <a:prstClr val="black"/>
                </a:solidFill>
              </a:rPr>
              <a:t>2) Shift rows</a:t>
            </a:r>
          </a:p>
          <a:p>
            <a:r>
              <a:rPr lang="en-US" sz="1600" dirty="0">
                <a:solidFill>
                  <a:prstClr val="black"/>
                </a:solidFill>
              </a:rPr>
              <a:t>3) Mix columns</a:t>
            </a:r>
          </a:p>
          <a:p>
            <a:r>
              <a:rPr lang="en-US" sz="1600" dirty="0">
                <a:solidFill>
                  <a:prstClr val="black"/>
                </a:solidFill>
              </a:rPr>
              <a:t>4) Add round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0321" y="5092853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last round for encryption does not involve the “Mix columns” step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3449170" y="1867360"/>
            <a:ext cx="1522880" cy="190043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49170" y="2133603"/>
            <a:ext cx="1522880" cy="648157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449170" y="2755752"/>
            <a:ext cx="1522880" cy="520851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449170" y="3319628"/>
            <a:ext cx="1522880" cy="1074879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3449170" y="5092853"/>
            <a:ext cx="1522880" cy="364862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449170" y="5849919"/>
            <a:ext cx="1522880" cy="157334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98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Substitute Bytes</a:t>
            </a:r>
          </a:p>
          <a:p>
            <a:r>
              <a:rPr lang="en-US" dirty="0"/>
              <a:t>Byte-by-byte substitution</a:t>
            </a:r>
          </a:p>
          <a:p>
            <a:r>
              <a:rPr lang="en-US" dirty="0"/>
              <a:t>Size of the lookup table is 16 × 16 (S-Box)</a:t>
            </a:r>
          </a:p>
          <a:p>
            <a:r>
              <a:rPr lang="en-US" dirty="0"/>
              <a:t>To find the substitute byte for a given input byte;</a:t>
            </a:r>
          </a:p>
          <a:p>
            <a:pPr lvl="1"/>
            <a:r>
              <a:rPr lang="en-US" dirty="0"/>
              <a:t>Divide the input byte into two 4-bit patterns, 0-15 (0 through F)</a:t>
            </a:r>
          </a:p>
          <a:p>
            <a:pPr lvl="1"/>
            <a:r>
              <a:rPr lang="en-US" dirty="0"/>
              <a:t>One of the hex values is used as a row index and the other as a column index for reaching into the 16×16 lookup table</a:t>
            </a:r>
          </a:p>
          <a:p>
            <a:endParaRPr lang="en-US" dirty="0"/>
          </a:p>
          <a:p>
            <a:r>
              <a:rPr lang="en-US" dirty="0"/>
              <a:t>Substitution byte (for each input byte) is found by using the same lookup table</a:t>
            </a:r>
          </a:p>
        </p:txBody>
      </p:sp>
    </p:spTree>
    <p:extLst>
      <p:ext uri="{BB962C8B-B14F-4D97-AF65-F5344CB8AC3E}">
        <p14:creationId xmlns:p14="http://schemas.microsoft.com/office/powerpoint/2010/main" val="367889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Substitute Bytes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0300" y="2133600"/>
            <a:ext cx="4816738" cy="3647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89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Substitute Bytes</a:t>
            </a:r>
          </a:p>
          <a:p>
            <a:endParaRPr 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651" y="1647517"/>
            <a:ext cx="4157774" cy="4579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4414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AES Encryption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68" y="1240030"/>
            <a:ext cx="2766732" cy="55417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20321" y="1867357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input state array is </a:t>
            </a:r>
            <a:r>
              <a:rPr lang="en-US" sz="1600" dirty="0" err="1">
                <a:solidFill>
                  <a:prstClr val="black"/>
                </a:solidFill>
              </a:rPr>
              <a:t>XORed</a:t>
            </a:r>
            <a:r>
              <a:rPr lang="en-US" sz="1600" dirty="0">
                <a:solidFill>
                  <a:prstClr val="black"/>
                </a:solidFill>
              </a:rPr>
              <a:t> with the first four words of the key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0321" y="3276603"/>
            <a:ext cx="2228850" cy="1117905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prstClr val="black"/>
                </a:solidFill>
              </a:rPr>
              <a:t>1) Substitute bytes</a:t>
            </a:r>
          </a:p>
          <a:p>
            <a:r>
              <a:rPr lang="en-US" sz="1600" dirty="0">
                <a:solidFill>
                  <a:prstClr val="black"/>
                </a:solidFill>
              </a:rPr>
              <a:t>2) Shift rows</a:t>
            </a:r>
          </a:p>
          <a:p>
            <a:r>
              <a:rPr lang="en-US" sz="1600" dirty="0">
                <a:solidFill>
                  <a:prstClr val="black"/>
                </a:solidFill>
              </a:rPr>
              <a:t>3) Mix columns</a:t>
            </a:r>
          </a:p>
          <a:p>
            <a:r>
              <a:rPr lang="en-US" sz="1600" dirty="0">
                <a:solidFill>
                  <a:prstClr val="black"/>
                </a:solidFill>
              </a:rPr>
              <a:t>4) Add round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0321" y="5092853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last round for encryption does not involve the “Mix columns” step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3449170" y="1867360"/>
            <a:ext cx="1522880" cy="190043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49170" y="2133603"/>
            <a:ext cx="1522880" cy="648157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449170" y="2755752"/>
            <a:ext cx="1522880" cy="520851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449170" y="3319628"/>
            <a:ext cx="1522880" cy="1074879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3449170" y="5092853"/>
            <a:ext cx="1522880" cy="364862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449170" y="5849919"/>
            <a:ext cx="1522880" cy="157334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30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Shift Rows</a:t>
            </a:r>
          </a:p>
          <a:p>
            <a:r>
              <a:rPr lang="en-US" dirty="0"/>
              <a:t>Rotation or transformation consists of;</a:t>
            </a:r>
          </a:p>
          <a:p>
            <a:pPr lvl="1"/>
            <a:r>
              <a:rPr lang="en-US" sz="2400" dirty="0"/>
              <a:t>not shifting the first row of the state array at all</a:t>
            </a:r>
          </a:p>
          <a:p>
            <a:pPr lvl="1"/>
            <a:r>
              <a:rPr lang="en-US" sz="2400" dirty="0"/>
              <a:t>circularly shifting the second row by one byte to the left</a:t>
            </a:r>
          </a:p>
          <a:p>
            <a:pPr lvl="1"/>
            <a:r>
              <a:rPr lang="en-US" sz="2400" dirty="0"/>
              <a:t>circularly shifting the third row by two bytes to the left</a:t>
            </a:r>
          </a:p>
          <a:p>
            <a:pPr lvl="1"/>
            <a:r>
              <a:rPr lang="en-US" sz="2400" dirty="0"/>
              <a:t>circularly shifting the last row by three bytes to the left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0738" y="4744418"/>
            <a:ext cx="5097462" cy="2113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539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AES Encryption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68" y="1240030"/>
            <a:ext cx="2766732" cy="55417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20321" y="1867357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input state array is </a:t>
            </a:r>
            <a:r>
              <a:rPr lang="en-US" sz="1600" dirty="0" err="1">
                <a:solidFill>
                  <a:prstClr val="black"/>
                </a:solidFill>
              </a:rPr>
              <a:t>XORed</a:t>
            </a:r>
            <a:r>
              <a:rPr lang="en-US" sz="1600" dirty="0">
                <a:solidFill>
                  <a:prstClr val="black"/>
                </a:solidFill>
              </a:rPr>
              <a:t> with the first four words of the key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0321" y="3276603"/>
            <a:ext cx="2228850" cy="1117905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prstClr val="black"/>
                </a:solidFill>
              </a:rPr>
              <a:t>1) Substitute bytes</a:t>
            </a:r>
          </a:p>
          <a:p>
            <a:r>
              <a:rPr lang="en-US" sz="1600" dirty="0">
                <a:solidFill>
                  <a:prstClr val="black"/>
                </a:solidFill>
              </a:rPr>
              <a:t>2) Shift rows</a:t>
            </a:r>
          </a:p>
          <a:p>
            <a:r>
              <a:rPr lang="en-US" sz="1600" dirty="0">
                <a:solidFill>
                  <a:prstClr val="black"/>
                </a:solidFill>
              </a:rPr>
              <a:t>3) Mix columns</a:t>
            </a:r>
          </a:p>
          <a:p>
            <a:r>
              <a:rPr lang="en-US" sz="1600" dirty="0">
                <a:solidFill>
                  <a:prstClr val="black"/>
                </a:solidFill>
              </a:rPr>
              <a:t>4) Add round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0321" y="5092853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last round for encryption does not involve the “Mix columns” step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3449170" y="1867360"/>
            <a:ext cx="1522880" cy="190043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49170" y="2133603"/>
            <a:ext cx="1522880" cy="648157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449170" y="2755752"/>
            <a:ext cx="1522880" cy="520851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449170" y="3319628"/>
            <a:ext cx="1522880" cy="1074879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3449170" y="5092853"/>
            <a:ext cx="1522880" cy="364862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449170" y="5849919"/>
            <a:ext cx="1522880" cy="157334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93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Mix Columns</a:t>
            </a:r>
          </a:p>
          <a:p>
            <a:r>
              <a:rPr lang="en-US" sz="2000" dirty="0"/>
              <a:t>Each column is processed separately</a:t>
            </a:r>
            <a:endParaRPr lang="en-US" sz="1800" dirty="0"/>
          </a:p>
          <a:p>
            <a:r>
              <a:rPr lang="en-US" sz="2000" dirty="0"/>
              <a:t>Each byte is replaced by a value dependent on all 4 bytes</a:t>
            </a:r>
          </a:p>
          <a:p>
            <a:r>
              <a:rPr lang="en-US" sz="2000" dirty="0"/>
              <a:t>Effectively a matrix multiplication (Hill Cipher)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198" y="2819400"/>
            <a:ext cx="6955802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569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Mix Columns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4267200"/>
            <a:ext cx="662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http://www.angelfire.com/biz7/atleast/mix_columns.pdf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143000"/>
            <a:ext cx="5660402" cy="285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741528" y="4724400"/>
            <a:ext cx="82716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https://www.google.com/url?sa=t&amp;rct=j&amp;q=&amp;esrc=s&amp;source=web&amp;cd=6&amp;cad=rja&amp;uact=8&amp;ved=0ahUKEwjH98ukgq_aAhXMM48KHbCuCy4QFghpMAU&amp;url=http%3A%2F%2Fwww.infosecwriters.com%2Ftext_resources%2Fpdf%2FAESbyExample.pdf&amp;usg=AOvVaw1SUxotNIx5hYPg8m6SQsO9</a:t>
            </a:r>
            <a:endParaRPr lang="en-GB" dirty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791570" y="6019800"/>
            <a:ext cx="7361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https://en.wikipedia.org/wiki/Rijndael_MixColumns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279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073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Mix Columns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143000"/>
            <a:ext cx="4669802" cy="235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4"/>
          <p:cNvSpPr txBox="1">
            <a:spLocks/>
          </p:cNvSpPr>
          <p:nvPr/>
        </p:nvSpPr>
        <p:spPr>
          <a:xfrm>
            <a:off x="762000" y="3581400"/>
            <a:ext cx="8382000" cy="3276601"/>
          </a:xfrm>
          <a:prstGeom prst="rect">
            <a:avLst/>
          </a:prstGeom>
        </p:spPr>
        <p:txBody>
          <a:bodyPr vert="horz" lIns="91440" tIns="91440" rIns="365760" bIns="91440" rtlCol="0">
            <a:normAutofit/>
          </a:bodyPr>
          <a:lstStyle>
            <a:lvl1pPr marL="457200" indent="-457200" algn="just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q"/>
              <a:defRPr sz="2400" kern="1200">
                <a:solidFill>
                  <a:srgbClr val="0070C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806450" indent="-349250" algn="just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q"/>
              <a:defRPr sz="2000" kern="1200">
                <a:solidFill>
                  <a:srgbClr val="0070C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263650" indent="-349250" algn="just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800" kern="1200">
                <a:solidFill>
                  <a:srgbClr val="0070C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720850" indent="-349250" algn="just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600" kern="1200">
                <a:solidFill>
                  <a:srgbClr val="0070C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400" kern="1200">
                <a:solidFill>
                  <a:srgbClr val="0070C0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2 multiplication:</a:t>
            </a:r>
          </a:p>
          <a:p>
            <a:pPr lvl="1"/>
            <a:r>
              <a:rPr lang="en-US" sz="1400" dirty="0"/>
              <a:t>Shift left by one bit</a:t>
            </a:r>
          </a:p>
          <a:p>
            <a:pPr lvl="1"/>
            <a:r>
              <a:rPr lang="en-US" sz="1400" dirty="0"/>
              <a:t>XOR with 1B (Irreducible polynomial)</a:t>
            </a:r>
          </a:p>
          <a:p>
            <a:endParaRPr lang="en-US" sz="1800" dirty="0"/>
          </a:p>
          <a:p>
            <a:r>
              <a:rPr lang="en-US" sz="1800" dirty="0"/>
              <a:t>For 3 multiplication:</a:t>
            </a:r>
          </a:p>
          <a:p>
            <a:pPr lvl="1"/>
            <a:r>
              <a:rPr lang="en-US" sz="1400" dirty="0"/>
              <a:t>Shift left by one bit</a:t>
            </a:r>
          </a:p>
          <a:p>
            <a:pPr lvl="1"/>
            <a:r>
              <a:rPr lang="en-US" sz="1400" dirty="0"/>
              <a:t>XOR with 1B</a:t>
            </a:r>
          </a:p>
          <a:p>
            <a:pPr lvl="1"/>
            <a:r>
              <a:rPr lang="en-US" sz="1400" dirty="0"/>
              <a:t>XOR with the original number (x)</a:t>
            </a:r>
          </a:p>
          <a:p>
            <a:endParaRPr lang="en-US" sz="1800" dirty="0"/>
          </a:p>
          <a:p>
            <a:r>
              <a:rPr lang="en-US" sz="1800" dirty="0">
                <a:hlinkClick r:id="rId3"/>
              </a:rPr>
              <a:t>https://en.wikipedia.org/wiki/Irreducible_polynomial</a:t>
            </a:r>
            <a:r>
              <a:rPr lang="en-US" sz="1800" dirty="0"/>
              <a:t>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403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AES Encryption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68" y="1240030"/>
            <a:ext cx="2766732" cy="55417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20321" y="1867357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input state array is </a:t>
            </a:r>
            <a:r>
              <a:rPr lang="en-US" sz="1600" dirty="0" err="1">
                <a:solidFill>
                  <a:prstClr val="black"/>
                </a:solidFill>
              </a:rPr>
              <a:t>XORed</a:t>
            </a:r>
            <a:r>
              <a:rPr lang="en-US" sz="1600" dirty="0">
                <a:solidFill>
                  <a:prstClr val="black"/>
                </a:solidFill>
              </a:rPr>
              <a:t> with the first four words of the key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0321" y="3276603"/>
            <a:ext cx="2228850" cy="1117905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prstClr val="black"/>
                </a:solidFill>
              </a:rPr>
              <a:t>1) Substitute bytes</a:t>
            </a:r>
          </a:p>
          <a:p>
            <a:r>
              <a:rPr lang="en-US" sz="1600" dirty="0">
                <a:solidFill>
                  <a:prstClr val="black"/>
                </a:solidFill>
              </a:rPr>
              <a:t>2) Shift rows</a:t>
            </a:r>
          </a:p>
          <a:p>
            <a:r>
              <a:rPr lang="en-US" sz="1600" dirty="0">
                <a:solidFill>
                  <a:prstClr val="black"/>
                </a:solidFill>
              </a:rPr>
              <a:t>3) Mix columns</a:t>
            </a:r>
          </a:p>
          <a:p>
            <a:r>
              <a:rPr lang="en-US" sz="1600" dirty="0">
                <a:solidFill>
                  <a:prstClr val="black"/>
                </a:solidFill>
              </a:rPr>
              <a:t>4) Add round key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0321" y="5092853"/>
            <a:ext cx="2228850" cy="914400"/>
          </a:xfrm>
          <a:prstGeom prst="rect">
            <a:avLst/>
          </a:prstGeom>
          <a:solidFill>
            <a:srgbClr val="C9E4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The last round for encryption does not involve the “Mix columns” step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3449170" y="1867360"/>
            <a:ext cx="1522880" cy="190043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449170" y="2133603"/>
            <a:ext cx="1522880" cy="648157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449170" y="2755752"/>
            <a:ext cx="1522880" cy="520851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449170" y="3319628"/>
            <a:ext cx="1522880" cy="1074879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3449170" y="5092853"/>
            <a:ext cx="1522880" cy="364862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449170" y="5849919"/>
            <a:ext cx="1522880" cy="157334"/>
          </a:xfrm>
          <a:prstGeom prst="lin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68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128 bits of the state array are bitwise </a:t>
            </a:r>
            <a:r>
              <a:rPr lang="en-US" dirty="0" err="1"/>
              <a:t>XORed</a:t>
            </a:r>
            <a:r>
              <a:rPr lang="en-US" dirty="0"/>
              <a:t> with the 128 bits of the round key</a:t>
            </a:r>
          </a:p>
          <a:p>
            <a:r>
              <a:rPr lang="en-US" u="sng" dirty="0"/>
              <a:t>AES Key Expansion algorithm</a:t>
            </a:r>
            <a:r>
              <a:rPr lang="en-US" dirty="0"/>
              <a:t> is used to derive the 128-bit round key from the original 128-bit encryption key</a:t>
            </a:r>
          </a:p>
          <a:p>
            <a:r>
              <a:rPr lang="en-US" dirty="0"/>
              <a:t>The algorithm first arranges the 16 bytes of the encryption key in the form of a 4 × 4 array of bytes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1" y="4419600"/>
            <a:ext cx="193880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6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First four bytes of the encryption key constitute the word w0, the next four bytes the word w1, and so on</a:t>
            </a:r>
          </a:p>
          <a:p>
            <a:r>
              <a:rPr lang="en-US" dirty="0"/>
              <a:t>The algorithm subsequently expands the words [w0, w1, w2, w3] into a 44 word key schedule that can be labeled w0, w1, w2, w3, ...., w43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429000"/>
            <a:ext cx="2406782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128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endParaRPr lang="en-US" dirty="0"/>
          </a:p>
          <a:p>
            <a:r>
              <a:rPr lang="en-US" dirty="0"/>
              <a:t>Words [w0, w1, w2, w3] are bitwise </a:t>
            </a:r>
            <a:r>
              <a:rPr lang="en-US" dirty="0" err="1"/>
              <a:t>XORed</a:t>
            </a:r>
            <a:r>
              <a:rPr lang="en-US" dirty="0"/>
              <a:t> with the input block before the round-based processing begins</a:t>
            </a:r>
          </a:p>
          <a:p>
            <a:endParaRPr lang="en-US" dirty="0"/>
          </a:p>
          <a:p>
            <a:r>
              <a:rPr lang="en-US" dirty="0"/>
              <a:t>The remaining 40 words are used four words at a time in each of the 10 rounds</a:t>
            </a:r>
          </a:p>
        </p:txBody>
      </p:sp>
    </p:spTree>
    <p:extLst>
      <p:ext uri="{BB962C8B-B14F-4D97-AF65-F5344CB8AC3E}">
        <p14:creationId xmlns:p14="http://schemas.microsoft.com/office/powerpoint/2010/main" val="9889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Now comes the interesting part;</a:t>
            </a:r>
          </a:p>
          <a:p>
            <a:endParaRPr lang="en-US" u="sng" dirty="0"/>
          </a:p>
          <a:p>
            <a:r>
              <a:rPr lang="en-US" u="sng" dirty="0"/>
              <a:t>How does the Key Expansion Algorithm expand four words w0, w1, w2, w3 into the 44 words w0, w1, w2, w3, w4, w5, ...., w43 ?</a:t>
            </a:r>
          </a:p>
        </p:txBody>
      </p:sp>
    </p:spTree>
    <p:extLst>
      <p:ext uri="{BB962C8B-B14F-4D97-AF65-F5344CB8AC3E}">
        <p14:creationId xmlns:p14="http://schemas.microsoft.com/office/powerpoint/2010/main" val="153851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Key expansion takes place on a four-word to four-word basis</a:t>
            </a:r>
          </a:p>
          <a:p>
            <a:r>
              <a:rPr lang="en-US" dirty="0"/>
              <a:t>Each grouping of four words decides what the next grouping of four words will be</a:t>
            </a:r>
          </a:p>
        </p:txBody>
      </p:sp>
    </p:spTree>
    <p:extLst>
      <p:ext uri="{BB962C8B-B14F-4D97-AF65-F5344CB8AC3E}">
        <p14:creationId xmlns:p14="http://schemas.microsoft.com/office/powerpoint/2010/main" val="322860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endParaRPr lang="en-US" dirty="0"/>
          </a:p>
          <a:p>
            <a:r>
              <a:rPr lang="en-US" dirty="0"/>
              <a:t>Let’s say that we have the four words of the round key for the </a:t>
            </a:r>
            <a:r>
              <a:rPr lang="en-US" dirty="0" err="1"/>
              <a:t>ith</a:t>
            </a:r>
            <a:r>
              <a:rPr lang="en-US" dirty="0"/>
              <a:t> round;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w</a:t>
            </a:r>
            <a:r>
              <a:rPr lang="en-US" baseline="-25000" dirty="0"/>
              <a:t>i+1</a:t>
            </a:r>
            <a:r>
              <a:rPr lang="en-US" dirty="0"/>
              <a:t> w</a:t>
            </a:r>
            <a:r>
              <a:rPr lang="en-US" baseline="-25000" dirty="0"/>
              <a:t>i+2</a:t>
            </a:r>
            <a:r>
              <a:rPr lang="en-US" dirty="0"/>
              <a:t> w</a:t>
            </a:r>
            <a:r>
              <a:rPr lang="en-US" baseline="-25000" dirty="0"/>
              <a:t>i+3</a:t>
            </a:r>
          </a:p>
          <a:p>
            <a:pPr lvl="1"/>
            <a:r>
              <a:rPr lang="en-US" dirty="0"/>
              <a:t>For these to serve as the round key for the </a:t>
            </a:r>
            <a:r>
              <a:rPr lang="en-US" dirty="0" err="1"/>
              <a:t>ith</a:t>
            </a:r>
            <a:r>
              <a:rPr lang="en-US" dirty="0"/>
              <a:t> round, it must be a multiple of 4</a:t>
            </a:r>
          </a:p>
          <a:p>
            <a:endParaRPr lang="en-US" dirty="0"/>
          </a:p>
          <a:p>
            <a:r>
              <a:rPr lang="en-US" dirty="0"/>
              <a:t>For example, [w4, w5, w6, w7] is the round key for round 1, [w8, w9, w10, w11] round key for round 2, and so on</a:t>
            </a:r>
          </a:p>
        </p:txBody>
      </p:sp>
    </p:spTree>
    <p:extLst>
      <p:ext uri="{BB962C8B-B14F-4D97-AF65-F5344CB8AC3E}">
        <p14:creationId xmlns:p14="http://schemas.microsoft.com/office/powerpoint/2010/main" val="133537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95" y="1230923"/>
            <a:ext cx="7519305" cy="53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1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Now (for example) we need to determine the words [w</a:t>
            </a:r>
            <a:r>
              <a:rPr lang="en-US" baseline="-25000" dirty="0"/>
              <a:t>4</a:t>
            </a:r>
            <a:r>
              <a:rPr lang="en-US" dirty="0"/>
              <a:t> w</a:t>
            </a:r>
            <a:r>
              <a:rPr lang="en-US" baseline="-25000" dirty="0"/>
              <a:t>5</a:t>
            </a:r>
            <a:r>
              <a:rPr lang="en-US" dirty="0"/>
              <a:t> w</a:t>
            </a:r>
            <a:r>
              <a:rPr lang="en-US" baseline="-25000" dirty="0"/>
              <a:t>6</a:t>
            </a:r>
            <a:r>
              <a:rPr lang="en-US" dirty="0"/>
              <a:t> w</a:t>
            </a:r>
            <a:r>
              <a:rPr lang="en-US" baseline="-25000" dirty="0"/>
              <a:t>7</a:t>
            </a:r>
            <a:r>
              <a:rPr lang="en-US" dirty="0"/>
              <a:t>] from the words [w</a:t>
            </a:r>
            <a:r>
              <a:rPr lang="en-US" baseline="-25000" dirty="0"/>
              <a:t>0</a:t>
            </a:r>
            <a:r>
              <a:rPr lang="en-US" dirty="0"/>
              <a:t> w</a:t>
            </a:r>
            <a:r>
              <a:rPr lang="en-US" baseline="-25000" dirty="0"/>
              <a:t>1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w</a:t>
            </a:r>
            <a:r>
              <a:rPr lang="en-US" baseline="-25000" dirty="0"/>
              <a:t>3</a:t>
            </a:r>
            <a:r>
              <a:rPr lang="en-US" dirty="0"/>
              <a:t>]</a:t>
            </a:r>
          </a:p>
          <a:p>
            <a:r>
              <a:rPr lang="en-US" dirty="0"/>
              <a:t>We have</a:t>
            </a:r>
          </a:p>
          <a:p>
            <a:pPr marL="1263650" lvl="3" indent="0">
              <a:buNone/>
            </a:pPr>
            <a:r>
              <a:rPr lang="en-US" sz="2400" dirty="0"/>
              <a:t>w</a:t>
            </a:r>
            <a:r>
              <a:rPr lang="en-US" sz="2400" baseline="-25000" dirty="0"/>
              <a:t>5</a:t>
            </a:r>
            <a:r>
              <a:rPr lang="en-US" sz="2400" dirty="0"/>
              <a:t> = w</a:t>
            </a:r>
            <a:r>
              <a:rPr lang="en-US" sz="2400" baseline="-25000" dirty="0"/>
              <a:t>4</a:t>
            </a:r>
            <a:r>
              <a:rPr lang="en-US" sz="2400" dirty="0"/>
              <a:t> ⊗ w</a:t>
            </a:r>
            <a:r>
              <a:rPr lang="en-US" sz="2400" baseline="-25000" dirty="0"/>
              <a:t>1</a:t>
            </a:r>
          </a:p>
          <a:p>
            <a:pPr marL="1263650" lvl="3" indent="0">
              <a:buNone/>
            </a:pPr>
            <a:r>
              <a:rPr lang="en-US" sz="2400" dirty="0"/>
              <a:t>w</a:t>
            </a:r>
            <a:r>
              <a:rPr lang="en-US" sz="2400" baseline="-25000" dirty="0"/>
              <a:t>6</a:t>
            </a:r>
            <a:r>
              <a:rPr lang="en-US" sz="2400" dirty="0"/>
              <a:t> = w</a:t>
            </a:r>
            <a:r>
              <a:rPr lang="en-US" sz="2400" baseline="-25000" dirty="0"/>
              <a:t>5</a:t>
            </a:r>
            <a:r>
              <a:rPr lang="en-US" sz="2400" dirty="0"/>
              <a:t> ⊗ w</a:t>
            </a:r>
            <a:r>
              <a:rPr lang="en-US" sz="2400" baseline="-25000" dirty="0"/>
              <a:t>2</a:t>
            </a:r>
          </a:p>
          <a:p>
            <a:pPr marL="1263650" lvl="3" indent="0">
              <a:buNone/>
            </a:pPr>
            <a:r>
              <a:rPr lang="en-US" sz="2400" dirty="0"/>
              <a:t>w</a:t>
            </a:r>
            <a:r>
              <a:rPr lang="en-US" sz="2400" baseline="-25000" dirty="0"/>
              <a:t>7</a:t>
            </a:r>
            <a:r>
              <a:rPr lang="en-US" sz="2400" dirty="0"/>
              <a:t> = w</a:t>
            </a:r>
            <a:r>
              <a:rPr lang="en-US" sz="2400" baseline="-25000" dirty="0"/>
              <a:t>6</a:t>
            </a:r>
            <a:r>
              <a:rPr lang="en-US" sz="2400" dirty="0"/>
              <a:t> ⊗ w</a:t>
            </a:r>
            <a:r>
              <a:rPr lang="en-US" sz="2400" baseline="-25000" dirty="0"/>
              <a:t>3</a:t>
            </a:r>
          </a:p>
          <a:p>
            <a:endParaRPr lang="en-US" dirty="0"/>
          </a:p>
          <a:p>
            <a:r>
              <a:rPr lang="en-US" dirty="0"/>
              <a:t>Note that except for the first word in a new 4-word grouping, each word is an XOR of the previous word and the corresponding word in the previous 4-word grouping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398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So now we need to figure out w4 (or the beginning word of each 4-word grouping in the key expansion)</a:t>
            </a:r>
          </a:p>
          <a:p>
            <a:r>
              <a:rPr lang="en-US" dirty="0"/>
              <a:t>It is obtained by:</a:t>
            </a:r>
          </a:p>
          <a:p>
            <a:pPr marL="806450" lvl="2" indent="0">
              <a:buNone/>
            </a:pPr>
            <a:r>
              <a:rPr lang="en-US" sz="2400" dirty="0"/>
              <a:t>w</a:t>
            </a:r>
            <a:r>
              <a:rPr lang="en-US" sz="2400" baseline="-25000" dirty="0"/>
              <a:t>4</a:t>
            </a:r>
            <a:r>
              <a:rPr lang="en-US" sz="2400" dirty="0"/>
              <a:t> = w</a:t>
            </a:r>
            <a:r>
              <a:rPr lang="en-US" sz="2400" baseline="-25000" dirty="0"/>
              <a:t>0</a:t>
            </a:r>
            <a:r>
              <a:rPr lang="en-US" sz="2400" dirty="0"/>
              <a:t> ⊗ g(w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That is, </a:t>
            </a:r>
            <a:r>
              <a:rPr lang="en-US" dirty="0" err="1"/>
              <a:t>XORing</a:t>
            </a:r>
            <a:r>
              <a:rPr lang="en-US" dirty="0"/>
              <a:t> the first word of the last grouping with what is returned by applying a function g() to the last word of the previous 4-word grouping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72613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The function g() consists of the following three steps: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Perform a </a:t>
            </a:r>
            <a:r>
              <a:rPr lang="en-US"/>
              <a:t>one-byte upwards circular </a:t>
            </a:r>
            <a:r>
              <a:rPr lang="en-US" dirty="0"/>
              <a:t>rotation on the argument 4-byte word</a:t>
            </a:r>
          </a:p>
          <a:p>
            <a:pPr>
              <a:buFont typeface="+mj-lt"/>
              <a:buAutoNum type="arabicPeriod"/>
            </a:pPr>
            <a:r>
              <a:rPr lang="en-US" dirty="0"/>
              <a:t>Perform a byte substitution for each byte of the word returned by the previous step by using the same 16 × 16 lookup table as used in the </a:t>
            </a:r>
            <a:r>
              <a:rPr lang="en-US" u="sng" dirty="0" err="1"/>
              <a:t>SubBytes</a:t>
            </a:r>
            <a:r>
              <a:rPr lang="en-US" dirty="0"/>
              <a:t> step of the encryption rounds</a:t>
            </a:r>
          </a:p>
          <a:p>
            <a:pPr>
              <a:buFont typeface="+mj-lt"/>
              <a:buAutoNum type="arabicPeriod"/>
            </a:pPr>
            <a:r>
              <a:rPr lang="en-US" dirty="0"/>
              <a:t>XOR the bytes obtained from the previous step with what is known as a round constant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83930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pic>
        <p:nvPicPr>
          <p:cNvPr id="2050" name="Picture 2" descr="https://jonathanganyer.files.wordpress.com/2016/01/g-function.png?w=591&amp;h=44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629400" cy="500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11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The round constant is a word whose three rightmost bytes are always zero</a:t>
            </a:r>
          </a:p>
          <a:p>
            <a:r>
              <a:rPr lang="en-US" dirty="0"/>
              <a:t>Therefore, </a:t>
            </a:r>
            <a:r>
              <a:rPr lang="en-US" dirty="0" err="1"/>
              <a:t>XORing</a:t>
            </a:r>
            <a:r>
              <a:rPr lang="en-US" dirty="0"/>
              <a:t> with the round constant amounts to </a:t>
            </a:r>
            <a:r>
              <a:rPr lang="en-US" dirty="0" err="1"/>
              <a:t>XORing</a:t>
            </a:r>
            <a:r>
              <a:rPr lang="en-US" dirty="0"/>
              <a:t> with just its leftmost byte</a:t>
            </a:r>
          </a:p>
          <a:p>
            <a:r>
              <a:rPr lang="en-US" dirty="0"/>
              <a:t>The round constant for the </a:t>
            </a:r>
            <a:r>
              <a:rPr lang="en-US" dirty="0" err="1"/>
              <a:t>ith</a:t>
            </a:r>
            <a:r>
              <a:rPr lang="en-US" dirty="0"/>
              <a:t> round is denoted </a:t>
            </a:r>
            <a:r>
              <a:rPr lang="en-US" dirty="0" err="1"/>
              <a:t>Rcon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1263650" lvl="3" indent="0">
              <a:buNone/>
            </a:pPr>
            <a:r>
              <a:rPr lang="en-US" sz="2400" dirty="0" err="1"/>
              <a:t>Rcon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 (RC[</a:t>
            </a:r>
            <a:r>
              <a:rPr lang="en-US" sz="2400" dirty="0" err="1"/>
              <a:t>i</a:t>
            </a:r>
            <a:r>
              <a:rPr lang="en-US" sz="2400" dirty="0"/>
              <a:t>], 0, 0, 0)</a:t>
            </a:r>
            <a:endParaRPr lang="en-US" dirty="0"/>
          </a:p>
          <a:p>
            <a:r>
              <a:rPr lang="en-US" dirty="0"/>
              <a:t>The only non-zero byte in the round constants, RC[</a:t>
            </a:r>
            <a:r>
              <a:rPr lang="en-US" dirty="0" err="1"/>
              <a:t>i</a:t>
            </a:r>
            <a:r>
              <a:rPr lang="en-US" dirty="0"/>
              <a:t>], obeys the following recursion;</a:t>
            </a:r>
          </a:p>
          <a:p>
            <a:pPr marL="1263650" lvl="3" indent="0">
              <a:buNone/>
            </a:pPr>
            <a:r>
              <a:rPr lang="en-US" sz="2400" dirty="0"/>
              <a:t>RC[1] = 1</a:t>
            </a:r>
          </a:p>
          <a:p>
            <a:pPr marL="1263650" lvl="3" indent="0">
              <a:buNone/>
            </a:pPr>
            <a:r>
              <a:rPr lang="en-US" sz="2400" dirty="0"/>
              <a:t>RC[j] = 2 × RC[j − 1]</a:t>
            </a:r>
          </a:p>
          <a:p>
            <a:pPr marL="1263650" lvl="3" indent="0">
              <a:buNone/>
            </a:pPr>
            <a:endParaRPr lang="en-US" sz="2400" dirty="0"/>
          </a:p>
          <a:p>
            <a:pPr marL="349250" lvl="1" indent="0">
              <a:buNone/>
            </a:pPr>
            <a:endParaRPr lang="en-US" baseline="-25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196105"/>
              </p:ext>
            </p:extLst>
          </p:nvPr>
        </p:nvGraphicFramePr>
        <p:xfrm>
          <a:off x="1981200" y="6096000"/>
          <a:ext cx="3810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4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Lets see an example;</a:t>
            </a:r>
          </a:p>
          <a:p>
            <a:r>
              <a:rPr lang="en-US" dirty="0"/>
              <a:t>The 4th column (w3) of the previous round key is rotated such that each element is moved up one row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put this result through a Sub Box, which replaces each 8 bits of the matrix with a corresponding 8-bit value from S-Box</a:t>
            </a:r>
          </a:p>
          <a:p>
            <a:endParaRPr lang="en-US" dirty="0"/>
          </a:p>
          <a:p>
            <a:endParaRPr lang="en-US" baseline="-25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630" y="2812050"/>
            <a:ext cx="2064071" cy="1302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984" y="5219484"/>
            <a:ext cx="1032035" cy="125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2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Substitute Bytes</a:t>
            </a:r>
          </a:p>
          <a:p>
            <a:endParaRPr 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651" y="1647517"/>
            <a:ext cx="4157774" cy="4579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135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To generate the first column (w4) of the key, this result is XOR-</a:t>
            </a:r>
            <a:r>
              <a:rPr lang="en-US" dirty="0" err="1"/>
              <a:t>ed</a:t>
            </a:r>
            <a:r>
              <a:rPr lang="en-US" dirty="0"/>
              <a:t> with the first column of the key (w0) as well as a constant (</a:t>
            </a:r>
            <a:r>
              <a:rPr lang="en-US" dirty="0" err="1"/>
              <a:t>Rcon</a:t>
            </a:r>
            <a:r>
              <a:rPr lang="en-US" dirty="0"/>
              <a:t>) which is dependent on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Values of </a:t>
            </a:r>
            <a:r>
              <a:rPr lang="en-US" dirty="0" err="1"/>
              <a:t>Rcon</a:t>
            </a:r>
            <a:r>
              <a:rPr lang="en-US" dirty="0"/>
              <a:t> based on </a:t>
            </a:r>
            <a:r>
              <a:rPr lang="en-US" dirty="0" err="1"/>
              <a:t>i</a:t>
            </a:r>
            <a:endParaRPr lang="en-US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584" y="3080662"/>
            <a:ext cx="2878835" cy="13389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70164"/>
          <a:stretch/>
        </p:blipFill>
        <p:spPr>
          <a:xfrm>
            <a:off x="3143250" y="5715004"/>
            <a:ext cx="2884998" cy="38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1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Key Expansion</a:t>
            </a:r>
          </a:p>
          <a:p>
            <a:r>
              <a:rPr lang="en-US" dirty="0"/>
              <a:t>The second column (w5) is generated by </a:t>
            </a:r>
            <a:r>
              <a:rPr lang="en-US" dirty="0" err="1"/>
              <a:t>XORing</a:t>
            </a:r>
            <a:r>
              <a:rPr lang="en-US" dirty="0"/>
              <a:t> the 1st column (w4) of the key with the second column (w1) of the previous round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continues for the other two columns in order to generate the entire round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aseline="-25000">
                <a:hlinkClick r:id="rId2"/>
              </a:rPr>
              <a:t>http</a:t>
            </a:r>
            <a:r>
              <a:rPr lang="en-US" baseline="-25000" dirty="0">
                <a:hlinkClick r:id="rId2"/>
              </a:rPr>
              <a:t>://www.formaestudio.com/rijndaelinspector/archivos/Rijndael_Animation_v4_eng.swf</a:t>
            </a:r>
            <a:endParaRPr lang="en-US" baseline="-25000" dirty="0"/>
          </a:p>
          <a:p>
            <a:endParaRPr lang="en-US" baseline="-25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422" y="4572000"/>
            <a:ext cx="1749229" cy="12756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811" y="4591791"/>
            <a:ext cx="1194989" cy="12756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529" y="2514600"/>
            <a:ext cx="2064071" cy="127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9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What makes AES a strong cipher</a:t>
            </a:r>
          </a:p>
          <a:p>
            <a:r>
              <a:rPr lang="en-US" dirty="0"/>
              <a:t>Round constant is for the purpose of destroying any symmetries that may have been introduced by other steps in the key expansion algorithm</a:t>
            </a:r>
          </a:p>
          <a:p>
            <a:r>
              <a:rPr lang="en-US" dirty="0"/>
              <a:t>Note that if you change one bit of the encryption key, it will affect the round key for several rounds</a:t>
            </a:r>
          </a:p>
          <a:p>
            <a:r>
              <a:rPr lang="en-US" dirty="0"/>
              <a:t>AES was published with a probability that </a:t>
            </a:r>
            <a:r>
              <a:rPr lang="en-US" u="sng" dirty="0"/>
              <a:t>it will stay secure for at least 20 years</a:t>
            </a:r>
          </a:p>
          <a:p>
            <a:r>
              <a:rPr lang="en-US" dirty="0"/>
              <a:t>With 128 bit, (2</a:t>
            </a:r>
            <a:r>
              <a:rPr lang="en-US" baseline="30000" dirty="0"/>
              <a:t>128</a:t>
            </a:r>
            <a:r>
              <a:rPr lang="en-US" dirty="0"/>
              <a:t> = 3.4 x 10</a:t>
            </a:r>
            <a:r>
              <a:rPr lang="en-US" baseline="30000" dirty="0"/>
              <a:t>38</a:t>
            </a:r>
            <a:r>
              <a:rPr lang="en-US" dirty="0"/>
              <a:t>) possible keys, a computer that tries 2</a:t>
            </a:r>
            <a:r>
              <a:rPr lang="en-US" baseline="30000" dirty="0"/>
              <a:t>55</a:t>
            </a:r>
            <a:r>
              <a:rPr lang="en-US" dirty="0"/>
              <a:t> keys per second needs 149 billion years to break AES</a:t>
            </a:r>
          </a:p>
          <a:p>
            <a:pPr marL="0" indent="0">
              <a:buNone/>
            </a:pPr>
            <a:endParaRPr lang="en-US" sz="1600" dirty="0">
              <a:hlinkClick r:id="rId2"/>
            </a:endParaRPr>
          </a:p>
          <a:p>
            <a:pPr marL="0" indent="0">
              <a:buNone/>
            </a:pPr>
            <a:endParaRPr lang="en-US" sz="1600" dirty="0">
              <a:hlinkClick r:id="rId2"/>
            </a:endParaRP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https://engineering.purdue.edu/kak/compsec/NewLectures/Lecture8.pdf</a:t>
            </a:r>
            <a:r>
              <a:rPr lang="en-US" sz="1600" dirty="0"/>
              <a:t> 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72788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AES vs DES</a:t>
            </a:r>
          </a:p>
          <a:p>
            <a:r>
              <a:rPr lang="en-US" dirty="0"/>
              <a:t>AES Key expansion algorithm ensures that AES has no weak keys</a:t>
            </a:r>
          </a:p>
          <a:p>
            <a:pPr lvl="1"/>
            <a:r>
              <a:rPr lang="en-US" dirty="0"/>
              <a:t>A weak key reduces the security of a cipher in a predictable manner</a:t>
            </a:r>
          </a:p>
          <a:p>
            <a:pPr lvl="1"/>
            <a:r>
              <a:rPr lang="en-US" dirty="0"/>
              <a:t>For example, DES is known to have weak keys (alternating ones and </a:t>
            </a:r>
            <a:r>
              <a:rPr lang="en-US" dirty="0" err="1"/>
              <a:t>zeros</a:t>
            </a:r>
            <a:r>
              <a:rPr lang="en-US" dirty="0"/>
              <a:t>), that produce identical round keys for each of the 16 rounds</a:t>
            </a:r>
          </a:p>
          <a:p>
            <a:r>
              <a:rPr lang="en-US" dirty="0"/>
              <a:t>A weak key causes all round keys to become identical, which, in turn, causes the encryption to become self-inverting</a:t>
            </a:r>
          </a:p>
          <a:p>
            <a:pPr lvl="1"/>
            <a:r>
              <a:rPr lang="en-US" dirty="0"/>
              <a:t>That is, plain text encrypted and then encrypted again will lead back to the same plain text</a:t>
            </a:r>
          </a:p>
          <a:p>
            <a:r>
              <a:rPr lang="en-US" dirty="0"/>
              <a:t>Since the small number of weak keys of DES are easily recognized, it is not considered to be a problem with that cipher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90765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91812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2127</Words>
  <Application>Microsoft Office PowerPoint</Application>
  <PresentationFormat>On-screen Show (4:3)</PresentationFormat>
  <Paragraphs>257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Georgia</vt:lpstr>
      <vt:lpstr>Segoe UI</vt:lpstr>
      <vt:lpstr>Wingdings</vt:lpstr>
      <vt:lpstr>Office Theme</vt:lpstr>
      <vt:lpstr>Training</vt:lpstr>
      <vt:lpstr>CSC432 – information Security </vt:lpstr>
      <vt:lpstr>Advanced Encryption Standard</vt:lpstr>
      <vt:lpstr>Origins of AES</vt:lpstr>
      <vt:lpstr>Rijndael Cipher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Advanced Encryption Standard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Dr. Adnan</cp:lastModifiedBy>
  <cp:revision>42</cp:revision>
  <dcterms:created xsi:type="dcterms:W3CDTF">2006-08-16T00:00:00Z</dcterms:created>
  <dcterms:modified xsi:type="dcterms:W3CDTF">2023-05-18T10:39:26Z</dcterms:modified>
</cp:coreProperties>
</file>