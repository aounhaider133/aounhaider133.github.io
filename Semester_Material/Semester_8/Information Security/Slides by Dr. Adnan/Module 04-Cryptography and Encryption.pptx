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303" r:id="rId31"/>
    <p:sldId id="284" r:id="rId32"/>
    <p:sldId id="305" r:id="rId33"/>
    <p:sldId id="301" r:id="rId34"/>
    <p:sldId id="285" r:id="rId35"/>
    <p:sldId id="286" r:id="rId36"/>
    <p:sldId id="287" r:id="rId37"/>
    <p:sldId id="302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85" autoAdjust="0"/>
    <p:restoredTop sz="91815" autoAdjust="0"/>
  </p:normalViewPr>
  <p:slideViewPr>
    <p:cSldViewPr>
      <p:cViewPr>
        <p:scale>
          <a:sx n="70" d="100"/>
          <a:sy n="70" d="100"/>
        </p:scale>
        <p:origin x="-153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7F48B-F5ED-4E71-8978-C55970EC2F69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26F5B-B7B8-4809-93D1-806E9A941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9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2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1BBE10-DA82-4B89-A9D0-B48EB606E957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858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</a:t>
            </a:r>
            <a:r>
              <a:rPr lang="en-US" b="1" dirty="0" smtClean="0">
                <a:solidFill>
                  <a:prstClr val="black"/>
                </a:solidFill>
              </a:rPr>
              <a:t>Engineering Excellence</a:t>
            </a:r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100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1" y="228600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1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98866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4800600" y="959825"/>
            <a:ext cx="35052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Module # 4</a:t>
            </a:r>
            <a:endParaRPr 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55644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2"/>
            <a:ext cx="8382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48640" y="990600"/>
            <a:ext cx="768096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1" y="0"/>
            <a:ext cx="1449845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6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58620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581708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6187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462896"/>
      </p:ext>
    </p:extLst>
  </p:cSld>
  <p:clrMapOvr>
    <a:masterClrMapping/>
  </p:clrMapOvr>
  <p:transition spd="slow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063190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40"/>
            <a:ext cx="5867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187025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64875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11853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2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2"/>
            <a:ext cx="28956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2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38694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9223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2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399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1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crypto-flash.tripod.com/transpositionFlash.htm" TargetMode="Externa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eople.cs.umass.edu/~verts/cmpsci145/SimpleSteganography/SimpleSteganography.html" TargetMode="Externa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crypto-flash.tripod.com/caesarFlash.htm" TargetMode="Externa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sewLHTAms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uKhvu2tPy8" TargetMode="Externa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000502" y="1828800"/>
            <a:ext cx="4025601" cy="762000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CSC432 </a:t>
            </a:r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information Security </a:t>
            </a: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715001" y="4419600"/>
            <a:ext cx="2836446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+mn-lt"/>
              </a:rPr>
              <a:t>Dr. Adnan Ahmad</a:t>
            </a:r>
            <a:endParaRPr lang="en-US" sz="24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457" y="1500195"/>
            <a:ext cx="1607344" cy="1419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957" y="304803"/>
            <a:ext cx="1607344" cy="14192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9197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43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00092 C 0.04036 -0.00092 0.40469 -0.00185 0.52695 -0.00254 C 0.64909 -0.00301 0.79466 0.00232 0.73294 -0.00509 C 0.67591 -0.03379 0.74687 0.03912 0.74687 -0.00023 " pathEditMode="relative" rAng="0" ptsTypes="AA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83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650" y="3048004"/>
            <a:ext cx="6057900" cy="1362075"/>
          </a:xfrm>
        </p:spPr>
        <p:txBody>
          <a:bodyPr anchor="ctr">
            <a:normAutofit/>
          </a:bodyPr>
          <a:lstStyle/>
          <a:p>
            <a:r>
              <a:rPr lang="en-US" dirty="0"/>
              <a:t>Cryptography and Encryption</a:t>
            </a:r>
          </a:p>
        </p:txBody>
      </p:sp>
    </p:spTree>
    <p:extLst>
      <p:ext uri="{BB962C8B-B14F-4D97-AF65-F5344CB8AC3E}">
        <p14:creationId xmlns:p14="http://schemas.microsoft.com/office/powerpoint/2010/main" val="300245549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word Cryptography comes from the Greek words, “Crypt” means (</a:t>
            </a:r>
            <a:r>
              <a:rPr lang="en-US" u="sng" dirty="0"/>
              <a:t>hidden or secret</a:t>
            </a:r>
            <a:r>
              <a:rPr lang="en-US" dirty="0"/>
              <a:t>) and “</a:t>
            </a:r>
            <a:r>
              <a:rPr lang="en-US" dirty="0" err="1"/>
              <a:t>Graphy</a:t>
            </a:r>
            <a:r>
              <a:rPr lang="en-US" dirty="0"/>
              <a:t>” means (</a:t>
            </a:r>
            <a:r>
              <a:rPr lang="en-US" u="sng" dirty="0"/>
              <a:t>writing</a:t>
            </a:r>
            <a:r>
              <a:rPr lang="en-US" dirty="0"/>
              <a:t>)</a:t>
            </a:r>
          </a:p>
          <a:p>
            <a:r>
              <a:rPr lang="en-US" dirty="0"/>
              <a:t>So, cryptography is the art of secret writing</a:t>
            </a:r>
          </a:p>
          <a:p>
            <a:r>
              <a:rPr lang="en-US" dirty="0"/>
              <a:t>The basic service provided by cryptography is the ability to send information between participants in a way that prevents others from reading it</a:t>
            </a:r>
            <a:endParaRPr lang="en-US" b="1" dirty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420078" y="4228575"/>
            <a:ext cx="3770584" cy="584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  <a:latin typeface="Comic Sans MS" pitchFamily="66" charset="0"/>
              </a:rPr>
              <a:t>Secure Channel for message transfer</a:t>
            </a:r>
          </a:p>
          <a:p>
            <a:pPr algn="ctr"/>
            <a:r>
              <a:rPr lang="en-US" sz="1600" dirty="0" smtClean="0">
                <a:solidFill>
                  <a:srgbClr val="FF0000"/>
                </a:solidFill>
                <a:latin typeface="Comic Sans MS" pitchFamily="66" charset="0"/>
              </a:rPr>
              <a:t>between Alice and Bob </a:t>
            </a:r>
            <a:endParaRPr lang="en-US" sz="16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1943100" y="4902203"/>
            <a:ext cx="1044178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2057400" y="5075207"/>
            <a:ext cx="10534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prstClr val="white"/>
                </a:solidFill>
                <a:latin typeface="Comic Sans MS" pitchFamily="66" charset="0"/>
              </a:rPr>
              <a:t>Sender</a:t>
            </a:r>
            <a:endParaRPr lang="en-US" sz="2000" dirty="0">
              <a:solidFill>
                <a:prstClr val="white"/>
              </a:solidFill>
              <a:latin typeface="Comic Sans MS" pitchFamily="66" charset="0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5710238" y="4900615"/>
            <a:ext cx="1033463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5770195" y="5075207"/>
            <a:ext cx="12218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prstClr val="white"/>
                </a:solidFill>
                <a:latin typeface="Comic Sans MS" pitchFamily="66" charset="0"/>
              </a:rPr>
              <a:t>Receiver</a:t>
            </a:r>
            <a:endParaRPr lang="en-US" sz="2000" dirty="0">
              <a:solidFill>
                <a:prstClr val="white"/>
              </a:solidFill>
              <a:latin typeface="Comic Sans MS" pitchFamily="66" charset="0"/>
            </a:endParaRPr>
          </a:p>
        </p:txBody>
      </p:sp>
      <p:sp>
        <p:nvSpPr>
          <p:cNvPr id="16" name="Line 27"/>
          <p:cNvSpPr>
            <a:spLocks noChangeShapeType="1"/>
          </p:cNvSpPr>
          <p:nvPr/>
        </p:nvSpPr>
        <p:spPr bwMode="auto">
          <a:xfrm>
            <a:off x="1371600" y="5340350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Line 28"/>
          <p:cNvSpPr>
            <a:spLocks noChangeShapeType="1"/>
          </p:cNvSpPr>
          <p:nvPr/>
        </p:nvSpPr>
        <p:spPr bwMode="auto">
          <a:xfrm>
            <a:off x="5029202" y="5705475"/>
            <a:ext cx="50601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9" r="20649" b="71229"/>
          <a:stretch/>
        </p:blipFill>
        <p:spPr>
          <a:xfrm>
            <a:off x="1680210" y="4038603"/>
            <a:ext cx="548640" cy="82616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7" r="19138" b="73891"/>
          <a:stretch/>
        </p:blipFill>
        <p:spPr>
          <a:xfrm>
            <a:off x="6467000" y="3962403"/>
            <a:ext cx="548640" cy="9060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04589" y="5181603"/>
            <a:ext cx="2695194" cy="293717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4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/>
      <p:bldP spid="12" grpId="0" animBg="1"/>
      <p:bldP spid="13" grpId="0"/>
      <p:bldP spid="16" grpId="0" animBg="1"/>
      <p:bldP spid="17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Alternatively, Encryption is the actual process of transforming information into an illegible format</a:t>
            </a:r>
          </a:p>
          <a:p>
            <a:r>
              <a:rPr lang="en-US" dirty="0"/>
              <a:t>Encryption basically is some process or algorithm to make information hidden or secret</a:t>
            </a:r>
          </a:p>
          <a:p>
            <a:r>
              <a:rPr lang="en-US" dirty="0"/>
              <a:t>To make that process useful, you need some code to make information </a:t>
            </a:r>
            <a:r>
              <a:rPr lang="en-US" dirty="0" smtClean="0"/>
              <a:t>accessible again</a:t>
            </a:r>
            <a:endParaRPr lang="en-US" dirty="0"/>
          </a:p>
          <a:p>
            <a:r>
              <a:rPr lang="en-US" dirty="0"/>
              <a:t>Modern day encryption uses different types of algorithms to achieve results that vary in complexity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860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message in its original form is known as </a:t>
            </a:r>
            <a:r>
              <a:rPr lang="en-US" b="1" u="sng" dirty="0"/>
              <a:t>plaintext</a:t>
            </a:r>
            <a:r>
              <a:rPr lang="en-US" dirty="0"/>
              <a:t> or </a:t>
            </a:r>
            <a:r>
              <a:rPr lang="en-US" dirty="0" err="1"/>
              <a:t>cleartext</a:t>
            </a:r>
            <a:endParaRPr lang="en-US" dirty="0"/>
          </a:p>
          <a:p>
            <a:r>
              <a:rPr lang="en-US" dirty="0"/>
              <a:t>The mangled information is known as </a:t>
            </a:r>
            <a:r>
              <a:rPr lang="en-US" b="1" u="sng" dirty="0" err="1"/>
              <a:t>ciphertext</a:t>
            </a:r>
            <a:endParaRPr lang="en-US" b="1" u="sng" dirty="0"/>
          </a:p>
          <a:p>
            <a:r>
              <a:rPr lang="en-US" b="1" dirty="0"/>
              <a:t>Encryption</a:t>
            </a:r>
            <a:r>
              <a:rPr lang="en-US" dirty="0"/>
              <a:t> is a process by which a message (called </a:t>
            </a:r>
            <a:r>
              <a:rPr lang="en-US" u="sng" dirty="0"/>
              <a:t>plaintext</a:t>
            </a:r>
            <a:r>
              <a:rPr lang="en-US" dirty="0"/>
              <a:t>) is transformed into another message (called </a:t>
            </a:r>
            <a:r>
              <a:rPr lang="en-US" u="sng" dirty="0" err="1"/>
              <a:t>ciphertext</a:t>
            </a:r>
            <a:r>
              <a:rPr lang="en-US" dirty="0"/>
              <a:t>) using a </a:t>
            </a:r>
            <a:r>
              <a:rPr lang="en-US" u="sng" dirty="0"/>
              <a:t>mathematical function</a:t>
            </a:r>
            <a:r>
              <a:rPr lang="en-US" dirty="0"/>
              <a:t> and a special encryption password (called a </a:t>
            </a:r>
            <a:r>
              <a:rPr lang="en-US" u="sng" dirty="0"/>
              <a:t>key</a:t>
            </a:r>
            <a:r>
              <a:rPr lang="en-US" dirty="0"/>
              <a:t>)</a:t>
            </a:r>
          </a:p>
          <a:p>
            <a:r>
              <a:rPr lang="en-US" dirty="0"/>
              <a:t>The reverse of encryption is called </a:t>
            </a:r>
            <a:r>
              <a:rPr lang="en-US" b="1" dirty="0"/>
              <a:t>decryption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716" y="4635740"/>
            <a:ext cx="4228571" cy="191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3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Cryptographic systems</a:t>
            </a:r>
            <a:r>
              <a:rPr lang="en-US" dirty="0"/>
              <a:t> tend to involve both an algorithm and a secret value (means they use encryption/decryption)</a:t>
            </a:r>
          </a:p>
          <a:p>
            <a:endParaRPr lang="en-US" dirty="0" smtClean="0"/>
          </a:p>
          <a:p>
            <a:r>
              <a:rPr lang="en-US" dirty="0" smtClean="0"/>
              <a:t>While </a:t>
            </a:r>
            <a:r>
              <a:rPr lang="en-US" b="1" dirty="0"/>
              <a:t>cryptographers</a:t>
            </a:r>
            <a:r>
              <a:rPr lang="en-US" dirty="0"/>
              <a:t> invent clever secret codes, </a:t>
            </a:r>
            <a:r>
              <a:rPr lang="en-US" b="1" dirty="0"/>
              <a:t>cryptanalysts</a:t>
            </a:r>
            <a:r>
              <a:rPr lang="en-US" dirty="0"/>
              <a:t> attempt to break these codes</a:t>
            </a:r>
          </a:p>
          <a:p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two disciplines constantly try to keep ahead of each other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952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Cryptographic algorithms involve substituting one thing for another, in many possible ways</a:t>
            </a:r>
          </a:p>
          <a:p>
            <a:r>
              <a:rPr lang="en-US" dirty="0" smtClean="0"/>
              <a:t>A </a:t>
            </a:r>
            <a:r>
              <a:rPr lang="en-US" dirty="0"/>
              <a:t>cipher is an algorithm for performing encryption or decryption — a series of well-defined steps that can be followed as a procedure</a:t>
            </a:r>
          </a:p>
          <a:p>
            <a:endParaRPr lang="en-US" dirty="0"/>
          </a:p>
          <a:p>
            <a:r>
              <a:rPr lang="en-US" dirty="0"/>
              <a:t>Example: Transposition cipher</a:t>
            </a:r>
          </a:p>
          <a:p>
            <a:pPr lvl="1"/>
            <a:r>
              <a:rPr lang="en-US" dirty="0"/>
              <a:t>Rearranges the characters in the plaintext</a:t>
            </a:r>
          </a:p>
          <a:p>
            <a:endParaRPr lang="en-US" dirty="0" smtClean="0"/>
          </a:p>
          <a:p>
            <a:r>
              <a:rPr lang="en-US" dirty="0" smtClean="0"/>
              <a:t>Example: Caesar cipher</a:t>
            </a:r>
          </a:p>
          <a:p>
            <a:pPr lvl="1"/>
            <a:r>
              <a:rPr lang="en-US" dirty="0" smtClean="0"/>
              <a:t>substitute </a:t>
            </a:r>
            <a:r>
              <a:rPr lang="en-US" dirty="0"/>
              <a:t>each letter by the letter that appears k letters later in the alphabet; while producing what looks like </a:t>
            </a:r>
            <a:r>
              <a:rPr lang="en-US" dirty="0" smtClean="0"/>
              <a:t>gibberish</a:t>
            </a:r>
          </a:p>
          <a:p>
            <a:pPr lvl="1"/>
            <a:r>
              <a:rPr lang="en-US" dirty="0" smtClean="0"/>
              <a:t>there </a:t>
            </a:r>
            <a:r>
              <a:rPr lang="en-US" dirty="0"/>
              <a:t>are only 25 possible keys </a:t>
            </a:r>
            <a:r>
              <a:rPr lang="en-US" dirty="0" smtClean="0"/>
              <a:t>available</a:t>
            </a:r>
          </a:p>
        </p:txBody>
      </p:sp>
    </p:spTree>
    <p:extLst>
      <p:ext uri="{BB962C8B-B14F-4D97-AF65-F5344CB8AC3E}">
        <p14:creationId xmlns:p14="http://schemas.microsoft.com/office/powerpoint/2010/main" val="146206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Transposition cipher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Plain text is HELLOWORLD</a:t>
            </a:r>
          </a:p>
          <a:p>
            <a:pPr lvl="1"/>
            <a:r>
              <a:rPr lang="en-US" dirty="0" smtClean="0"/>
              <a:t>HLOOL</a:t>
            </a:r>
          </a:p>
          <a:p>
            <a:pPr lvl="1"/>
            <a:r>
              <a:rPr lang="en-US" dirty="0" smtClean="0"/>
              <a:t>ELWRD </a:t>
            </a:r>
            <a:endParaRPr lang="en-US" dirty="0"/>
          </a:p>
          <a:p>
            <a:pPr lvl="1"/>
            <a:r>
              <a:rPr lang="en-US" dirty="0" smtClean="0"/>
              <a:t>And then combining it to form the cipher text HLOOLELWRD</a:t>
            </a:r>
          </a:p>
          <a:p>
            <a:endParaRPr lang="en-US" dirty="0"/>
          </a:p>
          <a:p>
            <a:r>
              <a:rPr lang="en-US" dirty="0" smtClean="0"/>
              <a:t>The attacker requires to rearrange the letters</a:t>
            </a:r>
          </a:p>
          <a:p>
            <a:pPr lvl="1"/>
            <a:r>
              <a:rPr lang="en-US" dirty="0" smtClean="0"/>
              <a:t>Called anagramming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crypto-flash.tripod.com/transpositionFlash.htm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54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Q:  How hard is it to break these simple ciphers?</a:t>
            </a:r>
          </a:p>
          <a:p>
            <a:pPr marL="0" indent="0">
              <a:buNone/>
            </a:pPr>
            <a:r>
              <a:rPr lang="en-US" dirty="0" smtClean="0"/>
              <a:t>Objective is to </a:t>
            </a:r>
            <a:r>
              <a:rPr lang="en-US" dirty="0"/>
              <a:t>recover key not just </a:t>
            </a:r>
            <a:r>
              <a:rPr lang="en-US" dirty="0" smtClean="0"/>
              <a:t>message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Brute </a:t>
            </a:r>
            <a:r>
              <a:rPr lang="en-US" b="1" dirty="0" smtClean="0"/>
              <a:t>force attack (attempt </a:t>
            </a:r>
            <a:r>
              <a:rPr lang="en-US" b="1" dirty="0"/>
              <a:t>all </a:t>
            </a:r>
            <a:r>
              <a:rPr lang="en-US" b="1" dirty="0" smtClean="0"/>
              <a:t>possibilities)</a:t>
            </a:r>
            <a:endParaRPr lang="en-US" b="1" dirty="0"/>
          </a:p>
          <a:p>
            <a:r>
              <a:rPr lang="en-US" dirty="0"/>
              <a:t>Simple with the Caesar cipher, but gets quite difficult with </a:t>
            </a:r>
            <a:r>
              <a:rPr lang="en-US" dirty="0" err="1"/>
              <a:t>monoalphabetic</a:t>
            </a:r>
            <a:r>
              <a:rPr lang="en-US" dirty="0"/>
              <a:t> or polyalphabetic </a:t>
            </a:r>
            <a:r>
              <a:rPr lang="en-US" dirty="0" smtClean="0"/>
              <a:t>ciphers</a:t>
            </a:r>
          </a:p>
          <a:p>
            <a:endParaRPr lang="en-US" dirty="0" smtClean="0"/>
          </a:p>
          <a:p>
            <a:r>
              <a:rPr lang="en-US" b="1" dirty="0" smtClean="0"/>
              <a:t>Cryptanalytic </a:t>
            </a:r>
            <a:r>
              <a:rPr lang="en-US" b="1" dirty="0"/>
              <a:t>attack</a:t>
            </a:r>
          </a:p>
          <a:p>
            <a:r>
              <a:rPr lang="en-US" u="sng" dirty="0" err="1"/>
              <a:t>Ciphertext</a:t>
            </a:r>
            <a:r>
              <a:rPr lang="en-US" u="sng" dirty="0"/>
              <a:t>-only attack</a:t>
            </a:r>
            <a:r>
              <a:rPr lang="en-US" dirty="0"/>
              <a:t>:  use statistics and other information to decrypt intercepted </a:t>
            </a:r>
            <a:r>
              <a:rPr lang="en-US" dirty="0" err="1"/>
              <a:t>ciphertext</a:t>
            </a:r>
            <a:endParaRPr lang="en-US" dirty="0"/>
          </a:p>
          <a:p>
            <a:pPr lvl="1"/>
            <a:r>
              <a:rPr lang="en-US" dirty="0"/>
              <a:t>For example, simple statistics on letter placement and occurrence in English makes further decryption simpler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9137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 smtClean="0"/>
              <a:t>Known-plaintext </a:t>
            </a:r>
            <a:r>
              <a:rPr lang="en-US" u="sng" dirty="0"/>
              <a:t>attack</a:t>
            </a:r>
            <a:r>
              <a:rPr lang="en-US" dirty="0"/>
              <a:t>: if some of the plaintext is known, one could uncover some of the plaintext-</a:t>
            </a:r>
            <a:r>
              <a:rPr lang="en-US" dirty="0" err="1"/>
              <a:t>ciphertext</a:t>
            </a:r>
            <a:r>
              <a:rPr lang="en-US" dirty="0"/>
              <a:t> mappings, making decryption easier</a:t>
            </a:r>
          </a:p>
          <a:p>
            <a:pPr lvl="1"/>
            <a:r>
              <a:rPr lang="en-US" dirty="0"/>
              <a:t>For example, if we knew </a:t>
            </a:r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lice</a:t>
            </a:r>
            <a:r>
              <a:rPr lang="en-US" dirty="0"/>
              <a:t>” was in the message, we get some of the mappings right away without much difficulty</a:t>
            </a:r>
          </a:p>
          <a:p>
            <a:endParaRPr lang="en-US" dirty="0" smtClean="0"/>
          </a:p>
          <a:p>
            <a:r>
              <a:rPr lang="en-US" u="sng" dirty="0" smtClean="0"/>
              <a:t>Chosen-plaintext </a:t>
            </a:r>
            <a:r>
              <a:rPr lang="en-US" u="sng" dirty="0"/>
              <a:t>attack</a:t>
            </a:r>
            <a:r>
              <a:rPr lang="en-US" dirty="0"/>
              <a:t>: the intruder can choose the plaintext (to be encrypted) message and receive the </a:t>
            </a:r>
            <a:r>
              <a:rPr lang="en-US" dirty="0" smtClean="0"/>
              <a:t>(corresponding) </a:t>
            </a:r>
            <a:r>
              <a:rPr lang="en-US" dirty="0" err="1" smtClean="0"/>
              <a:t>ciphertext</a:t>
            </a:r>
            <a:r>
              <a:rPr lang="en-US" dirty="0" smtClean="0"/>
              <a:t> form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3857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An encryption </a:t>
            </a:r>
            <a:r>
              <a:rPr lang="en-US" dirty="0" smtClean="0">
                <a:ea typeface="ＭＳ Ｐゴシック" panose="020B0600070205080204" pitchFamily="34" charset="-128"/>
              </a:rPr>
              <a:t>scheme is </a:t>
            </a:r>
            <a:r>
              <a:rPr lang="en-US" dirty="0">
                <a:ea typeface="ＭＳ Ｐゴシック" panose="020B0600070205080204" pitchFamily="34" charset="-128"/>
              </a:rPr>
              <a:t>computationally secure if</a:t>
            </a:r>
          </a:p>
          <a:p>
            <a:pPr lvl="1"/>
            <a:r>
              <a:rPr lang="en-US" sz="2400" dirty="0">
                <a:ea typeface="ＭＳ Ｐゴシック" panose="020B0600070205080204" pitchFamily="34" charset="-128"/>
              </a:rPr>
              <a:t>The cost of breaking the cipher exceeds the value of information</a:t>
            </a:r>
          </a:p>
          <a:p>
            <a:pPr lvl="1"/>
            <a:r>
              <a:rPr lang="en-US" sz="2400" dirty="0">
                <a:ea typeface="ＭＳ Ｐゴシック" panose="020B0600070205080204" pitchFamily="34" charset="-128"/>
              </a:rPr>
              <a:t>The time required to break the cipher exceeds the lifetime of </a:t>
            </a:r>
            <a:r>
              <a:rPr lang="en-US" sz="2400" dirty="0" smtClean="0">
                <a:ea typeface="ＭＳ Ｐゴシック" panose="020B0600070205080204" pitchFamily="34" charset="-128"/>
              </a:rPr>
              <a:t>information</a:t>
            </a:r>
          </a:p>
          <a:p>
            <a:pPr lvl="1"/>
            <a:endParaRPr lang="en-US" altLang="zh-TW" sz="2400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zh-TW" sz="2800" dirty="0" smtClean="0">
              <a:ea typeface="ＭＳ Ｐゴシック" panose="020B0600070205080204" pitchFamily="34" charset="-128"/>
            </a:endParaRPr>
          </a:p>
          <a:p>
            <a:pPr marL="0" indent="0" algn="ctr">
              <a:buNone/>
            </a:pPr>
            <a:r>
              <a:rPr lang="en-US" altLang="zh-TW" sz="2800" dirty="0" smtClean="0">
                <a:ea typeface="ＭＳ Ｐゴシック" panose="020B0600070205080204" pitchFamily="34" charset="-128"/>
              </a:rPr>
              <a:t>Unconditionally secure - Provably secure - Computationally </a:t>
            </a:r>
            <a:r>
              <a:rPr lang="en-US" altLang="zh-TW" sz="2800" dirty="0">
                <a:ea typeface="ＭＳ Ｐゴシック" panose="020B0600070205080204" pitchFamily="34" charset="-128"/>
              </a:rPr>
              <a:t>secure</a:t>
            </a:r>
            <a:endParaRPr lang="en-AU" altLang="zh-TW" sz="2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211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Cryptography </a:t>
            </a:r>
            <a:r>
              <a:rPr lang="en-US" dirty="0" smtClean="0">
                <a:ea typeface="ＭＳ Ｐゴシック" panose="020B0600070205080204" pitchFamily="34" charset="-128"/>
              </a:rPr>
              <a:t>vs Steganography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ea typeface="ＭＳ Ｐゴシック" panose="020B0600070205080204" pitchFamily="34" charset="-128"/>
              </a:rPr>
              <a:t>Cryptography</a:t>
            </a:r>
            <a:r>
              <a:rPr lang="en-US" dirty="0">
                <a:ea typeface="ＭＳ Ｐゴシック" panose="020B0600070205080204" pitchFamily="34" charset="-128"/>
              </a:rPr>
              <a:t> is the practice of ‘scrambling’ messages so that even if detected, they are very difficult to </a:t>
            </a:r>
            <a:r>
              <a:rPr lang="en-US" dirty="0" smtClean="0">
                <a:ea typeface="ＭＳ Ｐゴシック" panose="020B0600070205080204" pitchFamily="34" charset="-128"/>
              </a:rPr>
              <a:t>decipher</a:t>
            </a:r>
          </a:p>
          <a:p>
            <a:r>
              <a:rPr lang="en-US" u="sng" dirty="0" smtClean="0">
                <a:ea typeface="ＭＳ Ｐゴシック" panose="020B0600070205080204" pitchFamily="34" charset="-128"/>
              </a:rPr>
              <a:t>Steganography</a:t>
            </a:r>
            <a:r>
              <a:rPr lang="en-US" dirty="0">
                <a:ea typeface="ＭＳ Ｐゴシック" panose="020B0600070205080204" pitchFamily="34" charset="-128"/>
              </a:rPr>
              <a:t> (means concealed writing) is to conceal the message such that the very existence of the hidden is ‘camouflaged</a:t>
            </a:r>
            <a:r>
              <a:rPr lang="en-US" dirty="0" smtClean="0">
                <a:ea typeface="ＭＳ Ｐゴシック" panose="020B0600070205080204" pitchFamily="34" charset="-128"/>
              </a:rPr>
              <a:t>’</a:t>
            </a: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r>
              <a:rPr lang="en-US" altLang="zh-TW" dirty="0" smtClean="0">
                <a:ea typeface="ＭＳ Ｐゴシック" panose="020B0600070205080204" pitchFamily="34" charset="-128"/>
              </a:rPr>
              <a:t>Steganography is data </a:t>
            </a:r>
            <a:r>
              <a:rPr lang="en-US" altLang="zh-TW" dirty="0">
                <a:ea typeface="ＭＳ Ｐゴシック" panose="020B0600070205080204" pitchFamily="34" charset="-128"/>
              </a:rPr>
              <a:t>inside </a:t>
            </a:r>
            <a:r>
              <a:rPr lang="en-US" altLang="zh-TW" dirty="0" smtClean="0">
                <a:ea typeface="ＭＳ Ｐゴシック" panose="020B0600070205080204" pitchFamily="34" charset="-128"/>
              </a:rPr>
              <a:t>data</a:t>
            </a:r>
          </a:p>
          <a:p>
            <a:r>
              <a:rPr lang="en-US" altLang="zh-TW" dirty="0" smtClean="0">
                <a:ea typeface="ＭＳ Ｐゴシック" panose="020B0600070205080204" pitchFamily="34" charset="-128"/>
              </a:rPr>
              <a:t>It </a:t>
            </a:r>
            <a:r>
              <a:rPr lang="en-US" altLang="zh-TW" dirty="0">
                <a:ea typeface="ＭＳ Ｐゴシック" panose="020B0600070205080204" pitchFamily="34" charset="-128"/>
              </a:rPr>
              <a:t>is mostly used to hide text inside pictures or sound files (digital watermarking)</a:t>
            </a:r>
            <a:endParaRPr lang="en-AU" altLang="zh-TW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978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ea typeface="ＭＳ Ｐゴシック" panose="020B0600070205080204" pitchFamily="34" charset="-128"/>
              </a:rPr>
              <a:t>Steganography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 example of the message containing cipher text by a German spy in WWII</a:t>
            </a:r>
          </a:p>
          <a:p>
            <a:endParaRPr lang="en-US" dirty="0"/>
          </a:p>
          <a:p>
            <a:r>
              <a:rPr lang="en-US" dirty="0" smtClean="0"/>
              <a:t>“Apparently neutral’s protest is thoroughly discounted and ignored. </a:t>
            </a:r>
            <a:r>
              <a:rPr lang="en-US" dirty="0" err="1" smtClean="0"/>
              <a:t>Isman</a:t>
            </a:r>
            <a:r>
              <a:rPr lang="en-US" dirty="0" smtClean="0"/>
              <a:t> hard hit. Blockade issue affects pretext for embargo on by products, ejecting </a:t>
            </a:r>
            <a:r>
              <a:rPr lang="en-US" dirty="0" err="1" smtClean="0"/>
              <a:t>suets</a:t>
            </a:r>
            <a:r>
              <a:rPr lang="en-US" dirty="0" smtClean="0"/>
              <a:t> and vegetable oils.”</a:t>
            </a:r>
          </a:p>
          <a:p>
            <a:endParaRPr lang="en-US" dirty="0" smtClean="0"/>
          </a:p>
          <a:p>
            <a:r>
              <a:rPr lang="en-US" dirty="0" smtClean="0"/>
              <a:t>Taking the second letter in each word, the following message emerges</a:t>
            </a:r>
          </a:p>
          <a:p>
            <a:endParaRPr lang="en-US" dirty="0"/>
          </a:p>
          <a:p>
            <a:r>
              <a:rPr lang="en-US" dirty="0" smtClean="0"/>
              <a:t>Pershing sails from NY June 1.</a:t>
            </a:r>
          </a:p>
          <a:p>
            <a:r>
              <a:rPr lang="en-US" dirty="0">
                <a:hlinkClick r:id="rId2"/>
              </a:rPr>
              <a:t>https://people.cs.umass.edu/~</a:t>
            </a:r>
            <a:r>
              <a:rPr lang="en-US" dirty="0" smtClean="0">
                <a:hlinkClick r:id="rId2"/>
              </a:rPr>
              <a:t>verts/cmpsci145/SimpleSteganography/SimpleSteganography.html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57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Cryptography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Symmetric key cryptography</a:t>
            </a:r>
            <a:r>
              <a:rPr lang="en-US" dirty="0"/>
              <a:t>: encryption and decryption keys are identical, so the key must be kept secret</a:t>
            </a:r>
          </a:p>
          <a:p>
            <a:r>
              <a:rPr lang="en-US" dirty="0"/>
              <a:t>This approach is also called secret/private key cryptography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Asymmetric key cryptography</a:t>
            </a:r>
            <a:r>
              <a:rPr lang="en-US" dirty="0"/>
              <a:t>: different keys for encryption and decryption (one public, the other private)</a:t>
            </a:r>
          </a:p>
          <a:p>
            <a:r>
              <a:rPr lang="en-US" dirty="0"/>
              <a:t>This approach is also called </a:t>
            </a:r>
            <a:r>
              <a:rPr lang="en-US" dirty="0" smtClean="0"/>
              <a:t>two key/public </a:t>
            </a:r>
            <a:r>
              <a:rPr lang="en-US" dirty="0"/>
              <a:t>key cryptography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413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Symmetric Key Cryptography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Same key decrypts and encrypts information</a:t>
            </a:r>
          </a:p>
          <a:p>
            <a:r>
              <a:rPr lang="en-US" dirty="0"/>
              <a:t>The encryption functions used need not be secret, but the keys used must be secret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sz="2400" u="sng" dirty="0"/>
              <a:t>ROT13</a:t>
            </a:r>
            <a:r>
              <a:rPr lang="en-US" sz="2400" dirty="0"/>
              <a:t>: Very simple rotation algorithm</a:t>
            </a:r>
          </a:p>
          <a:p>
            <a:pPr lvl="1"/>
            <a:r>
              <a:rPr lang="en-US" sz="2400" b="1" u="sng" dirty="0"/>
              <a:t>Caesar cipher</a:t>
            </a:r>
            <a:r>
              <a:rPr lang="en-US" sz="2400" b="1" dirty="0"/>
              <a:t>: Another (better) rotation algorithm</a:t>
            </a:r>
          </a:p>
          <a:p>
            <a:pPr lvl="1"/>
            <a:r>
              <a:rPr lang="en-US" sz="2400" u="sng" dirty="0"/>
              <a:t>Crypt</a:t>
            </a:r>
            <a:r>
              <a:rPr lang="en-US" sz="2400" dirty="0"/>
              <a:t>: Original Unix encryption program</a:t>
            </a:r>
          </a:p>
          <a:p>
            <a:pPr lvl="1"/>
            <a:r>
              <a:rPr lang="en-US" sz="2400" b="1" u="sng" dirty="0"/>
              <a:t>DES</a:t>
            </a:r>
            <a:r>
              <a:rPr lang="en-US" sz="2400" b="1" dirty="0"/>
              <a:t>: Data Encryption Standard</a:t>
            </a:r>
          </a:p>
          <a:p>
            <a:pPr lvl="1"/>
            <a:r>
              <a:rPr lang="en-US" sz="2400" b="1" u="sng" dirty="0"/>
              <a:t>AES</a:t>
            </a:r>
            <a:r>
              <a:rPr lang="en-US" sz="2400" b="1" dirty="0"/>
              <a:t>: Advanced Encryption </a:t>
            </a:r>
            <a:r>
              <a:rPr lang="en-US" sz="2400" b="1" dirty="0" smtClean="0"/>
              <a:t>Standard</a:t>
            </a:r>
          </a:p>
          <a:p>
            <a:pPr lvl="1"/>
            <a:r>
              <a:rPr lang="en-US" sz="2400" b="1" u="sng" dirty="0" smtClean="0"/>
              <a:t>IDEA</a:t>
            </a:r>
            <a:r>
              <a:rPr lang="en-US" sz="2400" b="1" dirty="0" smtClean="0"/>
              <a:t>: </a:t>
            </a:r>
            <a:r>
              <a:rPr lang="en-US" sz="2400" b="1" dirty="0"/>
              <a:t>International Data Encryption Algorithm</a:t>
            </a:r>
          </a:p>
          <a:p>
            <a:pPr lvl="1"/>
            <a:r>
              <a:rPr lang="en-US" sz="2400" u="sng" dirty="0"/>
              <a:t>Skipjack</a:t>
            </a:r>
            <a:r>
              <a:rPr lang="en-US" sz="2400" dirty="0"/>
              <a:t>: U.S. National Security Agency developed algorithm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8842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Key 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Bob and Alice share the same (symmetric) key: K</a:t>
            </a:r>
            <a:r>
              <a:rPr lang="en-US" baseline="-25000" dirty="0"/>
              <a:t>A-B</a:t>
            </a:r>
          </a:p>
          <a:p>
            <a:r>
              <a:rPr lang="en-US" dirty="0"/>
              <a:t>For example, the key is knowing substitution pattern in a </a:t>
            </a:r>
            <a:r>
              <a:rPr lang="en-US" dirty="0" smtClean="0"/>
              <a:t>cipher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240067" y="2643188"/>
            <a:ext cx="1154483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plaintext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764757" y="2624138"/>
            <a:ext cx="1213794" cy="3385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Comic Sans MS" pitchFamily="66" charset="0"/>
              </a:rPr>
              <a:t>ciphertext</a:t>
            </a:r>
            <a:endParaRPr lang="en-US" sz="16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2540793" y="1727201"/>
            <a:ext cx="744140" cy="582612"/>
            <a:chOff x="1388" y="1036"/>
            <a:chExt cx="625" cy="367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88" y="1036"/>
              <a:ext cx="274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Comic Sans MS" pitchFamily="66" charset="0"/>
                </a:rPr>
                <a:t>K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474" y="1151"/>
              <a:ext cx="53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  <a:latin typeface="Comic Sans MS" pitchFamily="66" charset="0"/>
                </a:rPr>
                <a:t>A-B</a:t>
              </a:r>
              <a:endParaRPr lang="en-US" sz="2000">
                <a:solidFill>
                  <a:srgbClr val="FF0000"/>
                </a:solidFill>
              </a:endParaRPr>
            </a:p>
          </p:txBody>
        </p:sp>
      </p:grp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2396730" y="2584453"/>
            <a:ext cx="1044178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2390775" y="2593976"/>
            <a:ext cx="10695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encryption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algorithm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197079" y="2582865"/>
            <a:ext cx="1033463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5179219" y="2606676"/>
            <a:ext cx="11336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decryption 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algorithm</a:t>
            </a:r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3543300" y="3040066"/>
            <a:ext cx="1577340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 flipH="1">
            <a:off x="2689624" y="2205040"/>
            <a:ext cx="1190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Line 27"/>
          <p:cNvSpPr>
            <a:spLocks noChangeShapeType="1"/>
          </p:cNvSpPr>
          <p:nvPr/>
        </p:nvSpPr>
        <p:spPr bwMode="auto">
          <a:xfrm>
            <a:off x="1838325" y="3022600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Line 28"/>
          <p:cNvSpPr>
            <a:spLocks noChangeShapeType="1"/>
          </p:cNvSpPr>
          <p:nvPr/>
        </p:nvSpPr>
        <p:spPr bwMode="auto">
          <a:xfrm>
            <a:off x="6282930" y="3019425"/>
            <a:ext cx="50601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20" name="Picture 29" descr="BS00768_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793207" y="1651000"/>
            <a:ext cx="348854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33"/>
          <p:cNvGrpSpPr>
            <a:grpSpLocks/>
          </p:cNvGrpSpPr>
          <p:nvPr/>
        </p:nvGrpSpPr>
        <p:grpSpPr bwMode="auto">
          <a:xfrm>
            <a:off x="5392341" y="1676401"/>
            <a:ext cx="744140" cy="582612"/>
            <a:chOff x="1388" y="1036"/>
            <a:chExt cx="625" cy="367"/>
          </a:xfrm>
        </p:grpSpPr>
        <p:sp>
          <p:nvSpPr>
            <p:cNvPr id="22" name="Text Box 34"/>
            <p:cNvSpPr txBox="1">
              <a:spLocks noChangeArrowheads="1"/>
            </p:cNvSpPr>
            <p:nvPr/>
          </p:nvSpPr>
          <p:spPr bwMode="auto">
            <a:xfrm>
              <a:off x="1388" y="1036"/>
              <a:ext cx="274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Comic Sans MS" pitchFamily="66" charset="0"/>
                </a:rPr>
                <a:t>K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3" name="Text Box 35"/>
            <p:cNvSpPr txBox="1">
              <a:spLocks noChangeArrowheads="1"/>
            </p:cNvSpPr>
            <p:nvPr/>
          </p:nvSpPr>
          <p:spPr bwMode="auto">
            <a:xfrm>
              <a:off x="1474" y="1151"/>
              <a:ext cx="53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  <a:latin typeface="Comic Sans MS" pitchFamily="66" charset="0"/>
                </a:rPr>
                <a:t>A-B</a:t>
              </a:r>
              <a:endParaRPr lang="en-US" sz="2000">
                <a:solidFill>
                  <a:srgbClr val="FF0000"/>
                </a:solidFill>
              </a:endParaRPr>
            </a:p>
          </p:txBody>
        </p:sp>
      </p:grpSp>
      <p:sp>
        <p:nvSpPr>
          <p:cNvPr id="24" name="Line 36"/>
          <p:cNvSpPr>
            <a:spLocks noChangeShapeType="1"/>
          </p:cNvSpPr>
          <p:nvPr/>
        </p:nvSpPr>
        <p:spPr bwMode="auto">
          <a:xfrm flipH="1">
            <a:off x="5541170" y="2154240"/>
            <a:ext cx="1191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25" name="Picture 37" descr="BS00768_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644755" y="1600200"/>
            <a:ext cx="348853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 Box 38"/>
          <p:cNvSpPr txBox="1">
            <a:spLocks noChangeArrowheads="1"/>
          </p:cNvSpPr>
          <p:nvPr/>
        </p:nvSpPr>
        <p:spPr bwMode="auto">
          <a:xfrm>
            <a:off x="1200151" y="2654301"/>
            <a:ext cx="12570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plaintext</a:t>
            </a:r>
          </a:p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message, m</a:t>
            </a:r>
          </a:p>
        </p:txBody>
      </p:sp>
      <p:sp>
        <p:nvSpPr>
          <p:cNvPr id="27" name="Text Box 40"/>
          <p:cNvSpPr txBox="1">
            <a:spLocks noChangeArrowheads="1"/>
          </p:cNvSpPr>
          <p:nvPr/>
        </p:nvSpPr>
        <p:spPr bwMode="auto">
          <a:xfrm>
            <a:off x="3914776" y="3160713"/>
            <a:ext cx="10374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mic Sans MS" pitchFamily="66" charset="0"/>
              </a:rPr>
              <a:t>K    (m)</a:t>
            </a:r>
          </a:p>
        </p:txBody>
      </p:sp>
      <p:sp>
        <p:nvSpPr>
          <p:cNvPr id="28" name="Text Box 41"/>
          <p:cNvSpPr txBox="1">
            <a:spLocks noChangeArrowheads="1"/>
          </p:cNvSpPr>
          <p:nvPr/>
        </p:nvSpPr>
        <p:spPr bwMode="auto">
          <a:xfrm>
            <a:off x="4021932" y="3352800"/>
            <a:ext cx="55015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Comic Sans MS" pitchFamily="66" charset="0"/>
              </a:rPr>
              <a:t>A-B</a:t>
            </a:r>
          </a:p>
        </p:txBody>
      </p:sp>
      <p:grpSp>
        <p:nvGrpSpPr>
          <p:cNvPr id="29" name="Group 49"/>
          <p:cNvGrpSpPr>
            <a:grpSpLocks/>
          </p:cNvGrpSpPr>
          <p:nvPr/>
        </p:nvGrpSpPr>
        <p:grpSpPr bwMode="auto">
          <a:xfrm>
            <a:off x="6376988" y="3127381"/>
            <a:ext cx="2349103" cy="576263"/>
            <a:chOff x="1671" y="2511"/>
            <a:chExt cx="1973" cy="363"/>
          </a:xfrm>
        </p:grpSpPr>
        <p:grpSp>
          <p:nvGrpSpPr>
            <p:cNvPr id="30" name="Group 48"/>
            <p:cNvGrpSpPr>
              <a:grpSpLocks/>
            </p:cNvGrpSpPr>
            <p:nvPr/>
          </p:nvGrpSpPr>
          <p:grpSpPr bwMode="auto">
            <a:xfrm>
              <a:off x="2411" y="2528"/>
              <a:ext cx="871" cy="334"/>
              <a:chOff x="3490" y="2427"/>
              <a:chExt cx="871" cy="334"/>
            </a:xfrm>
          </p:grpSpPr>
          <p:sp>
            <p:nvSpPr>
              <p:cNvPr id="33" name="Text Box 43"/>
              <p:cNvSpPr txBox="1">
                <a:spLocks noChangeArrowheads="1"/>
              </p:cNvSpPr>
              <p:nvPr/>
            </p:nvSpPr>
            <p:spPr bwMode="auto">
              <a:xfrm>
                <a:off x="3490" y="2427"/>
                <a:ext cx="87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  <a:latin typeface="Comic Sans MS" pitchFamily="66" charset="0"/>
                  </a:rPr>
                  <a:t>K    (m)</a:t>
                </a:r>
              </a:p>
            </p:txBody>
          </p:sp>
          <p:sp>
            <p:nvSpPr>
              <p:cNvPr id="34" name="Text Box 44"/>
              <p:cNvSpPr txBox="1">
                <a:spLocks noChangeArrowheads="1"/>
              </p:cNvSpPr>
              <p:nvPr/>
            </p:nvSpPr>
            <p:spPr bwMode="auto">
              <a:xfrm>
                <a:off x="3562" y="2548"/>
                <a:ext cx="46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0000"/>
                    </a:solidFill>
                    <a:latin typeface="Comic Sans MS" pitchFamily="66" charset="0"/>
                  </a:rPr>
                  <a:t>A-B</a:t>
                </a:r>
              </a:p>
            </p:txBody>
          </p:sp>
        </p:grpSp>
        <p:sp>
          <p:nvSpPr>
            <p:cNvPr id="31" name="Text Box 45"/>
            <p:cNvSpPr txBox="1">
              <a:spLocks noChangeArrowheads="1"/>
            </p:cNvSpPr>
            <p:nvPr/>
          </p:nvSpPr>
          <p:spPr bwMode="auto">
            <a:xfrm>
              <a:off x="1671" y="2511"/>
              <a:ext cx="197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  <a:latin typeface="Comic Sans MS" pitchFamily="66" charset="0"/>
                </a:rPr>
                <a:t>m = K     </a:t>
              </a:r>
              <a:r>
                <a:rPr lang="en-US">
                  <a:solidFill>
                    <a:srgbClr val="FF0000"/>
                  </a:solidFill>
                  <a:latin typeface="Comic Sans MS" pitchFamily="66" charset="0"/>
                </a:rPr>
                <a:t>(</a:t>
              </a:r>
              <a:r>
                <a:rPr lang="en-US" sz="2000">
                  <a:solidFill>
                    <a:srgbClr val="FF0000"/>
                  </a:solidFill>
                  <a:latin typeface="Comic Sans MS" pitchFamily="66" charset="0"/>
                </a:rPr>
                <a:t>        </a:t>
              </a:r>
              <a:r>
                <a:rPr lang="en-US">
                  <a:solidFill>
                    <a:srgbClr val="FF0000"/>
                  </a:solidFill>
                  <a:latin typeface="Comic Sans MS" pitchFamily="66" charset="0"/>
                </a:rPr>
                <a:t>    )</a:t>
              </a:r>
              <a:r>
                <a:rPr lang="en-US" sz="2000">
                  <a:solidFill>
                    <a:srgbClr val="FF0000"/>
                  </a:solidFill>
                  <a:latin typeface="Comic Sans MS" pitchFamily="66" charset="0"/>
                </a:rPr>
                <a:t> </a:t>
              </a:r>
            </a:p>
          </p:txBody>
        </p:sp>
        <p:sp>
          <p:nvSpPr>
            <p:cNvPr id="32" name="Text Box 46"/>
            <p:cNvSpPr txBox="1">
              <a:spLocks noChangeArrowheads="1"/>
            </p:cNvSpPr>
            <p:nvPr/>
          </p:nvSpPr>
          <p:spPr bwMode="auto">
            <a:xfrm>
              <a:off x="2077" y="2661"/>
              <a:ext cx="46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A-B</a:t>
              </a:r>
            </a:p>
          </p:txBody>
        </p:sp>
      </p:grpSp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9" r="20649" b="71229"/>
          <a:stretch/>
        </p:blipFill>
        <p:spPr>
          <a:xfrm>
            <a:off x="1680210" y="1764636"/>
            <a:ext cx="548640" cy="82616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7" r="19138" b="73891"/>
          <a:stretch/>
        </p:blipFill>
        <p:spPr>
          <a:xfrm>
            <a:off x="6467000" y="1686293"/>
            <a:ext cx="548640" cy="90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Key 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Key Issues in Symmetric Key Cryptography</a:t>
            </a:r>
          </a:p>
          <a:p>
            <a:endParaRPr lang="en-US" dirty="0"/>
          </a:p>
          <a:p>
            <a:r>
              <a:rPr lang="en-US" dirty="0"/>
              <a:t>Question: How do Bob and Alice agree on key value?  What if Bob and Alice have never “met” before?</a:t>
            </a:r>
          </a:p>
          <a:p>
            <a:r>
              <a:rPr lang="en-US" dirty="0"/>
              <a:t>Even Better Question: How is the agreed upon key distributed to both Bob and Alice in a secure fashion?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8781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Asymmetric Key Cryptography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Radically different </a:t>
            </a:r>
            <a:r>
              <a:rPr lang="en-US" dirty="0" smtClean="0"/>
              <a:t>approach (two different keys)</a:t>
            </a:r>
            <a:endParaRPr lang="en-US" dirty="0"/>
          </a:p>
          <a:p>
            <a:r>
              <a:rPr lang="en-US" dirty="0"/>
              <a:t>Sender and receiver do not share secret key</a:t>
            </a:r>
          </a:p>
          <a:p>
            <a:r>
              <a:rPr lang="en-US" dirty="0"/>
              <a:t>Public encryption </a:t>
            </a:r>
            <a:r>
              <a:rPr lang="en-US" dirty="0" smtClean="0"/>
              <a:t>key </a:t>
            </a:r>
            <a:r>
              <a:rPr lang="en-US" dirty="0"/>
              <a:t>known to all</a:t>
            </a:r>
          </a:p>
          <a:p>
            <a:r>
              <a:rPr lang="en-US" dirty="0"/>
              <a:t>Private decryption key known only by the owner</a:t>
            </a:r>
          </a:p>
          <a:p>
            <a:endParaRPr lang="en-US" dirty="0"/>
          </a:p>
          <a:p>
            <a:r>
              <a:rPr lang="en-US" dirty="0" smtClean="0"/>
              <a:t>Examples</a:t>
            </a:r>
            <a:endParaRPr lang="en-US" dirty="0"/>
          </a:p>
          <a:p>
            <a:pPr lvl="1"/>
            <a:r>
              <a:rPr lang="en-US" sz="2400" b="1" u="sng" dirty="0" err="1"/>
              <a:t>Diffie</a:t>
            </a:r>
            <a:r>
              <a:rPr lang="en-US" sz="2400" b="1" u="sng" dirty="0"/>
              <a:t>-Hellman</a:t>
            </a:r>
            <a:r>
              <a:rPr lang="en-US" sz="2400" b="1" dirty="0"/>
              <a:t>: the first public key approach proposed</a:t>
            </a:r>
          </a:p>
          <a:p>
            <a:pPr lvl="1"/>
            <a:r>
              <a:rPr lang="en-US" sz="2400" b="1" u="sng" dirty="0"/>
              <a:t>RSA</a:t>
            </a:r>
            <a:r>
              <a:rPr lang="en-US" sz="2400" b="1" dirty="0"/>
              <a:t>: the best known public key system, developed by </a:t>
            </a:r>
            <a:r>
              <a:rPr lang="en-US" sz="2400" b="1" dirty="0" err="1"/>
              <a:t>Rivest</a:t>
            </a:r>
            <a:r>
              <a:rPr lang="en-US" sz="2400" b="1" dirty="0"/>
              <a:t>, Shamir, and </a:t>
            </a:r>
            <a:r>
              <a:rPr lang="en-US" sz="2400" b="1" dirty="0" err="1"/>
              <a:t>Adleman</a:t>
            </a:r>
            <a:endParaRPr lang="en-US" sz="2400" b="1" dirty="0"/>
          </a:p>
          <a:p>
            <a:pPr lvl="1"/>
            <a:r>
              <a:rPr lang="en-US" sz="2400" u="sng" dirty="0"/>
              <a:t>DSA</a:t>
            </a:r>
            <a:r>
              <a:rPr lang="en-US" sz="2400" dirty="0"/>
              <a:t>: Digital Signature Algorithm, developed by the U.S. National Security Agency (NSA)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45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Asymmetric Key Cryptography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Keys are generated in pairs</a:t>
            </a:r>
          </a:p>
          <a:p>
            <a:r>
              <a:rPr lang="en-US" dirty="0"/>
              <a:t>Public key is publicly registered so everyone knows it, and private one is kept secret by the owner</a:t>
            </a:r>
          </a:p>
          <a:p>
            <a:r>
              <a:rPr lang="en-US" dirty="0"/>
              <a:t>Each key can decrypt what the other encrypts, but not what it encrypts itself (that why asymmetric)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Important properties of key generation</a:t>
            </a:r>
            <a:r>
              <a:rPr lang="en-US" dirty="0"/>
              <a:t>:</a:t>
            </a:r>
          </a:p>
          <a:p>
            <a:r>
              <a:rPr lang="en-US" dirty="0"/>
              <a:t>There is a one-to-one correspondence in the generated key pairs – if one key can decrypt a message, it must have been encrypted by the other</a:t>
            </a:r>
          </a:p>
          <a:p>
            <a:r>
              <a:rPr lang="en-US" dirty="0"/>
              <a:t>It must be extremely difficult, if not impossible, to deduce the private key when given a public key</a:t>
            </a:r>
          </a:p>
        </p:txBody>
      </p:sp>
    </p:spTree>
    <p:extLst>
      <p:ext uri="{BB962C8B-B14F-4D97-AF65-F5344CB8AC3E}">
        <p14:creationId xmlns:p14="http://schemas.microsoft.com/office/powerpoint/2010/main" val="360180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Asymmetric </a:t>
            </a:r>
            <a:r>
              <a:rPr lang="en-US" dirty="0"/>
              <a:t>Key 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9" r="20649" b="71229"/>
          <a:stretch/>
        </p:blipFill>
        <p:spPr>
          <a:xfrm>
            <a:off x="2712244" y="3013905"/>
            <a:ext cx="548640" cy="82616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7" r="19138" b="73891"/>
          <a:stretch/>
        </p:blipFill>
        <p:spPr>
          <a:xfrm>
            <a:off x="5332809" y="2927354"/>
            <a:ext cx="548640" cy="906053"/>
          </a:xfrm>
          <a:prstGeom prst="rect">
            <a:avLst/>
          </a:prstGeom>
        </p:spPr>
      </p:pic>
      <p:sp>
        <p:nvSpPr>
          <p:cNvPr id="37" name="Text Box 6"/>
          <p:cNvSpPr txBox="1">
            <a:spLocks noChangeArrowheads="1"/>
          </p:cNvSpPr>
          <p:nvPr/>
        </p:nvSpPr>
        <p:spPr bwMode="auto">
          <a:xfrm>
            <a:off x="1485900" y="3943351"/>
            <a:ext cx="1257075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plaintext</a:t>
            </a:r>
          </a:p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message, m</a:t>
            </a: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3829050" y="3946526"/>
            <a:ext cx="1213794" cy="3385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Comic Sans MS" pitchFamily="66" charset="0"/>
              </a:rPr>
              <a:t>ciphertext</a:t>
            </a:r>
            <a:endParaRPr lang="en-US" sz="16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2712245" y="3892553"/>
            <a:ext cx="1044178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2706290" y="3902076"/>
            <a:ext cx="10695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encryption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algorithm</a:t>
            </a:r>
          </a:p>
        </p:txBody>
      </p:sp>
      <p:sp>
        <p:nvSpPr>
          <p:cNvPr id="42" name="Rectangle 16"/>
          <p:cNvSpPr>
            <a:spLocks noChangeArrowheads="1"/>
          </p:cNvSpPr>
          <p:nvPr/>
        </p:nvSpPr>
        <p:spPr bwMode="auto">
          <a:xfrm>
            <a:off x="5128022" y="3905253"/>
            <a:ext cx="1033463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3" name="Text Box 17"/>
          <p:cNvSpPr txBox="1">
            <a:spLocks noChangeArrowheads="1"/>
          </p:cNvSpPr>
          <p:nvPr/>
        </p:nvSpPr>
        <p:spPr bwMode="auto">
          <a:xfrm>
            <a:off x="5110163" y="3929064"/>
            <a:ext cx="11336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decryption 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algorithm</a:t>
            </a: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 flipV="1">
            <a:off x="3777854" y="4300538"/>
            <a:ext cx="1357313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5" name="Text Box 24"/>
          <p:cNvSpPr txBox="1">
            <a:spLocks noChangeArrowheads="1"/>
          </p:cNvSpPr>
          <p:nvPr/>
        </p:nvSpPr>
        <p:spPr bwMode="auto">
          <a:xfrm>
            <a:off x="5985273" y="1808164"/>
            <a:ext cx="1321594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Bob’s </a:t>
            </a:r>
            <a:r>
              <a:rPr lang="en-US" sz="1600" u="sng" dirty="0">
                <a:solidFill>
                  <a:prstClr val="black"/>
                </a:solidFill>
                <a:latin typeface="Comic Sans MS" pitchFamily="66" charset="0"/>
              </a:rPr>
              <a:t>public</a:t>
            </a:r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 </a:t>
            </a:r>
          </a:p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key </a:t>
            </a:r>
          </a:p>
        </p:txBody>
      </p:sp>
      <p:sp>
        <p:nvSpPr>
          <p:cNvPr id="47" name="Line 29"/>
          <p:cNvSpPr>
            <a:spLocks noChangeShapeType="1"/>
          </p:cNvSpPr>
          <p:nvPr/>
        </p:nvSpPr>
        <p:spPr bwMode="auto">
          <a:xfrm>
            <a:off x="2153840" y="4330700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>
            <a:off x="6192440" y="4286250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49" name="Picture 35" descr="BS00768_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267326" y="1951038"/>
            <a:ext cx="344090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 Box 37"/>
          <p:cNvSpPr txBox="1">
            <a:spLocks noChangeArrowheads="1"/>
          </p:cNvSpPr>
          <p:nvPr/>
        </p:nvSpPr>
        <p:spPr bwMode="auto">
          <a:xfrm>
            <a:off x="6236495" y="3941764"/>
            <a:ext cx="10470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plaintext</a:t>
            </a:r>
          </a:p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message</a:t>
            </a:r>
          </a:p>
        </p:txBody>
      </p:sp>
      <p:grpSp>
        <p:nvGrpSpPr>
          <p:cNvPr id="51" name="Group 41"/>
          <p:cNvGrpSpPr>
            <a:grpSpLocks/>
          </p:cNvGrpSpPr>
          <p:nvPr/>
        </p:nvGrpSpPr>
        <p:grpSpPr bwMode="auto">
          <a:xfrm>
            <a:off x="4095753" y="4273553"/>
            <a:ext cx="813198" cy="617538"/>
            <a:chOff x="2351" y="2077"/>
            <a:chExt cx="683" cy="389"/>
          </a:xfrm>
        </p:grpSpPr>
        <p:sp>
          <p:nvSpPr>
            <p:cNvPr id="52" name="Text Box 38"/>
            <p:cNvSpPr txBox="1">
              <a:spLocks noChangeArrowheads="1"/>
            </p:cNvSpPr>
            <p:nvPr/>
          </p:nvSpPr>
          <p:spPr bwMode="auto">
            <a:xfrm>
              <a:off x="2351" y="2132"/>
              <a:ext cx="68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mic Sans MS" pitchFamily="66" charset="0"/>
                </a:rPr>
                <a:t>K  (m)</a:t>
              </a:r>
            </a:p>
          </p:txBody>
        </p:sp>
        <p:sp>
          <p:nvSpPr>
            <p:cNvPr id="53" name="Text Box 39"/>
            <p:cNvSpPr txBox="1">
              <a:spLocks noChangeArrowheads="1"/>
            </p:cNvSpPr>
            <p:nvPr/>
          </p:nvSpPr>
          <p:spPr bwMode="auto">
            <a:xfrm>
              <a:off x="2466" y="2253"/>
              <a:ext cx="26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Comic Sans MS" pitchFamily="66" charset="0"/>
                </a:rPr>
                <a:t>B</a:t>
              </a:r>
            </a:p>
          </p:txBody>
        </p:sp>
        <p:sp>
          <p:nvSpPr>
            <p:cNvPr id="54" name="Text Box 40"/>
            <p:cNvSpPr txBox="1">
              <a:spLocks noChangeArrowheads="1"/>
            </p:cNvSpPr>
            <p:nvPr/>
          </p:nvSpPr>
          <p:spPr bwMode="auto">
            <a:xfrm>
              <a:off x="2475" y="2077"/>
              <a:ext cx="23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+</a:t>
              </a:r>
            </a:p>
          </p:txBody>
        </p:sp>
      </p:grpSp>
      <p:sp>
        <p:nvSpPr>
          <p:cNvPr id="55" name="Text Box 43"/>
          <p:cNvSpPr txBox="1">
            <a:spLocks noChangeArrowheads="1"/>
          </p:cNvSpPr>
          <p:nvPr/>
        </p:nvSpPr>
        <p:spPr bwMode="auto">
          <a:xfrm>
            <a:off x="5643563" y="1868488"/>
            <a:ext cx="4187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K </a:t>
            </a:r>
          </a:p>
        </p:txBody>
      </p:sp>
      <p:sp>
        <p:nvSpPr>
          <p:cNvPr id="56" name="Text Box 44"/>
          <p:cNvSpPr txBox="1">
            <a:spLocks noChangeArrowheads="1"/>
          </p:cNvSpPr>
          <p:nvPr/>
        </p:nvSpPr>
        <p:spPr bwMode="auto">
          <a:xfrm>
            <a:off x="5751909" y="2047875"/>
            <a:ext cx="3145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Comic Sans MS" pitchFamily="66" charset="0"/>
              </a:rPr>
              <a:t>B</a:t>
            </a:r>
          </a:p>
        </p:txBody>
      </p:sp>
      <p:sp>
        <p:nvSpPr>
          <p:cNvPr id="57" name="Text Box 45"/>
          <p:cNvSpPr txBox="1">
            <a:spLocks noChangeArrowheads="1"/>
          </p:cNvSpPr>
          <p:nvPr/>
        </p:nvSpPr>
        <p:spPr bwMode="auto">
          <a:xfrm>
            <a:off x="5762626" y="1768475"/>
            <a:ext cx="28405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Comic Sans MS" pitchFamily="66" charset="0"/>
              </a:rPr>
              <a:t>+</a:t>
            </a:r>
          </a:p>
        </p:txBody>
      </p:sp>
      <p:sp>
        <p:nvSpPr>
          <p:cNvPr id="58" name="Text Box 50"/>
          <p:cNvSpPr txBox="1">
            <a:spLocks noChangeArrowheads="1"/>
          </p:cNvSpPr>
          <p:nvPr/>
        </p:nvSpPr>
        <p:spPr bwMode="auto">
          <a:xfrm>
            <a:off x="5982890" y="2486026"/>
            <a:ext cx="1637109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Bob’s </a:t>
            </a:r>
            <a:r>
              <a:rPr lang="en-US" sz="1600" u="sng" dirty="0">
                <a:solidFill>
                  <a:prstClr val="black"/>
                </a:solidFill>
                <a:latin typeface="Comic Sans MS" pitchFamily="66" charset="0"/>
              </a:rPr>
              <a:t>private</a:t>
            </a:r>
          </a:p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key </a:t>
            </a:r>
          </a:p>
        </p:txBody>
      </p:sp>
      <p:pic>
        <p:nvPicPr>
          <p:cNvPr id="59" name="Picture 51" descr="BS00768_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264944" y="2624138"/>
            <a:ext cx="407194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 Box 53"/>
          <p:cNvSpPr txBox="1">
            <a:spLocks noChangeArrowheads="1"/>
          </p:cNvSpPr>
          <p:nvPr/>
        </p:nvSpPr>
        <p:spPr bwMode="auto">
          <a:xfrm>
            <a:off x="5650707" y="2559051"/>
            <a:ext cx="4187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K </a:t>
            </a:r>
          </a:p>
        </p:txBody>
      </p:sp>
      <p:sp>
        <p:nvSpPr>
          <p:cNvPr id="61" name="Text Box 54"/>
          <p:cNvSpPr txBox="1">
            <a:spLocks noChangeArrowheads="1"/>
          </p:cNvSpPr>
          <p:nvPr/>
        </p:nvSpPr>
        <p:spPr bwMode="auto">
          <a:xfrm>
            <a:off x="5806677" y="2751138"/>
            <a:ext cx="3145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Comic Sans MS" pitchFamily="66" charset="0"/>
              </a:rPr>
              <a:t>B</a:t>
            </a:r>
          </a:p>
        </p:txBody>
      </p:sp>
      <p:sp>
        <p:nvSpPr>
          <p:cNvPr id="62" name="Text Box 55"/>
          <p:cNvSpPr txBox="1">
            <a:spLocks noChangeArrowheads="1"/>
          </p:cNvSpPr>
          <p:nvPr/>
        </p:nvSpPr>
        <p:spPr bwMode="auto">
          <a:xfrm>
            <a:off x="5822157" y="2471738"/>
            <a:ext cx="269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Comic Sans MS" pitchFamily="66" charset="0"/>
              </a:rPr>
              <a:t>-</a:t>
            </a:r>
          </a:p>
        </p:txBody>
      </p:sp>
      <p:grpSp>
        <p:nvGrpSpPr>
          <p:cNvPr id="63" name="Group 63"/>
          <p:cNvGrpSpPr>
            <a:grpSpLocks/>
          </p:cNvGrpSpPr>
          <p:nvPr/>
        </p:nvGrpSpPr>
        <p:grpSpPr bwMode="auto">
          <a:xfrm>
            <a:off x="6260305" y="4470404"/>
            <a:ext cx="1513285" cy="636588"/>
            <a:chOff x="2413" y="3394"/>
            <a:chExt cx="1271" cy="401"/>
          </a:xfrm>
        </p:grpSpPr>
        <p:sp>
          <p:nvSpPr>
            <p:cNvPr id="64" name="Text Box 57"/>
            <p:cNvSpPr txBox="1">
              <a:spLocks noChangeArrowheads="1"/>
            </p:cNvSpPr>
            <p:nvPr/>
          </p:nvSpPr>
          <p:spPr bwMode="auto">
            <a:xfrm>
              <a:off x="2413" y="3434"/>
              <a:ext cx="127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Comic Sans MS" pitchFamily="66" charset="0"/>
                </a:rPr>
                <a:t>m = K  </a:t>
              </a:r>
              <a:r>
                <a:rPr lang="en-US" sz="1400" dirty="0">
                  <a:solidFill>
                    <a:srgbClr val="FF0000"/>
                  </a:solidFill>
                  <a:latin typeface="Comic Sans MS" pitchFamily="66" charset="0"/>
                </a:rPr>
                <a:t>(</a:t>
              </a:r>
              <a:r>
                <a:rPr lang="en-US" sz="1600" dirty="0">
                  <a:solidFill>
                    <a:srgbClr val="FF0000"/>
                  </a:solidFill>
                  <a:latin typeface="Comic Sans MS" pitchFamily="66" charset="0"/>
                </a:rPr>
                <a:t>K  (m)</a:t>
              </a:r>
              <a:r>
                <a:rPr lang="en-US" sz="1400" dirty="0">
                  <a:solidFill>
                    <a:srgbClr val="FF0000"/>
                  </a:solidFill>
                  <a:latin typeface="Comic Sans MS" pitchFamily="66" charset="0"/>
                </a:rPr>
                <a:t>)</a:t>
              </a:r>
            </a:p>
          </p:txBody>
        </p:sp>
        <p:sp>
          <p:nvSpPr>
            <p:cNvPr id="65" name="Text Box 58"/>
            <p:cNvSpPr txBox="1">
              <a:spLocks noChangeArrowheads="1"/>
            </p:cNvSpPr>
            <p:nvPr/>
          </p:nvSpPr>
          <p:spPr bwMode="auto">
            <a:xfrm>
              <a:off x="3093" y="3582"/>
              <a:ext cx="26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B</a:t>
              </a:r>
            </a:p>
          </p:txBody>
        </p:sp>
        <p:sp>
          <p:nvSpPr>
            <p:cNvPr id="66" name="Text Box 59"/>
            <p:cNvSpPr txBox="1">
              <a:spLocks noChangeArrowheads="1"/>
            </p:cNvSpPr>
            <p:nvPr/>
          </p:nvSpPr>
          <p:spPr bwMode="auto">
            <a:xfrm>
              <a:off x="3099" y="3400"/>
              <a:ext cx="23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+</a:t>
              </a:r>
            </a:p>
          </p:txBody>
        </p:sp>
        <p:sp>
          <p:nvSpPr>
            <p:cNvPr id="67" name="Text Box 61"/>
            <p:cNvSpPr txBox="1">
              <a:spLocks noChangeArrowheads="1"/>
            </p:cNvSpPr>
            <p:nvPr/>
          </p:nvSpPr>
          <p:spPr bwMode="auto">
            <a:xfrm>
              <a:off x="2832" y="3570"/>
              <a:ext cx="26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B</a:t>
              </a:r>
            </a:p>
          </p:txBody>
        </p:sp>
        <p:sp>
          <p:nvSpPr>
            <p:cNvPr id="68" name="Text Box 62"/>
            <p:cNvSpPr txBox="1">
              <a:spLocks noChangeArrowheads="1"/>
            </p:cNvSpPr>
            <p:nvPr/>
          </p:nvSpPr>
          <p:spPr bwMode="auto">
            <a:xfrm>
              <a:off x="2851" y="3394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</a:p>
          </p:txBody>
        </p:sp>
      </p:grpSp>
      <p:sp>
        <p:nvSpPr>
          <p:cNvPr id="69" name="Freeform 65"/>
          <p:cNvSpPr>
            <a:spLocks/>
          </p:cNvSpPr>
          <p:nvPr/>
        </p:nvSpPr>
        <p:spPr bwMode="auto">
          <a:xfrm>
            <a:off x="3381376" y="2084391"/>
            <a:ext cx="1795463" cy="1754187"/>
          </a:xfrm>
          <a:custGeom>
            <a:avLst/>
            <a:gdLst>
              <a:gd name="T0" fmla="*/ 1508 w 1508"/>
              <a:gd name="T1" fmla="*/ 0 h 1105"/>
              <a:gd name="T2" fmla="*/ 0 w 1508"/>
              <a:gd name="T3" fmla="*/ 0 h 1105"/>
              <a:gd name="T4" fmla="*/ 5 w 1508"/>
              <a:gd name="T5" fmla="*/ 1105 h 1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8" h="1105">
                <a:moveTo>
                  <a:pt x="1508" y="0"/>
                </a:moveTo>
                <a:lnTo>
                  <a:pt x="0" y="0"/>
                </a:lnTo>
                <a:lnTo>
                  <a:pt x="5" y="110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0" name="Freeform 66"/>
          <p:cNvSpPr>
            <a:spLocks/>
          </p:cNvSpPr>
          <p:nvPr/>
        </p:nvSpPr>
        <p:spPr bwMode="auto">
          <a:xfrm>
            <a:off x="5214938" y="2757491"/>
            <a:ext cx="247650" cy="1074737"/>
          </a:xfrm>
          <a:custGeom>
            <a:avLst/>
            <a:gdLst>
              <a:gd name="T0" fmla="*/ 184 w 184"/>
              <a:gd name="T1" fmla="*/ 0 h 1113"/>
              <a:gd name="T2" fmla="*/ 0 w 184"/>
              <a:gd name="T3" fmla="*/ 8 h 1113"/>
              <a:gd name="T4" fmla="*/ 5 w 184"/>
              <a:gd name="T5" fmla="*/ 1113 h 1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4" h="1113">
                <a:moveTo>
                  <a:pt x="184" y="0"/>
                </a:moveTo>
                <a:lnTo>
                  <a:pt x="0" y="8"/>
                </a:lnTo>
                <a:lnTo>
                  <a:pt x="5" y="1113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71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Asymmetric </a:t>
            </a:r>
            <a:r>
              <a:rPr lang="en-US" dirty="0"/>
              <a:t>Key Cryptography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9" r="20649" b="71229"/>
          <a:stretch/>
        </p:blipFill>
        <p:spPr>
          <a:xfrm>
            <a:off x="2712244" y="3012313"/>
            <a:ext cx="548640" cy="82616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7" r="19138" b="73891"/>
          <a:stretch/>
        </p:blipFill>
        <p:spPr>
          <a:xfrm>
            <a:off x="5332809" y="2925762"/>
            <a:ext cx="548640" cy="906053"/>
          </a:xfrm>
          <a:prstGeom prst="rect">
            <a:avLst/>
          </a:prstGeom>
        </p:spPr>
      </p:pic>
      <p:sp>
        <p:nvSpPr>
          <p:cNvPr id="37" name="Text Box 6"/>
          <p:cNvSpPr txBox="1">
            <a:spLocks noChangeArrowheads="1"/>
          </p:cNvSpPr>
          <p:nvPr/>
        </p:nvSpPr>
        <p:spPr bwMode="auto">
          <a:xfrm>
            <a:off x="1485900" y="3941759"/>
            <a:ext cx="1257075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plaintext</a:t>
            </a:r>
          </a:p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message, m</a:t>
            </a: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3829050" y="3944934"/>
            <a:ext cx="134203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mic Sans MS" pitchFamily="66" charset="0"/>
              </a:rPr>
              <a:t>ciphertext</a:t>
            </a:r>
            <a:endParaRPr lang="en-US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2712245" y="3890961"/>
            <a:ext cx="1044178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2706290" y="3900484"/>
            <a:ext cx="10695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encryption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algorithm</a:t>
            </a:r>
          </a:p>
        </p:txBody>
      </p:sp>
      <p:sp>
        <p:nvSpPr>
          <p:cNvPr id="42" name="Rectangle 16"/>
          <p:cNvSpPr>
            <a:spLocks noChangeArrowheads="1"/>
          </p:cNvSpPr>
          <p:nvPr/>
        </p:nvSpPr>
        <p:spPr bwMode="auto">
          <a:xfrm>
            <a:off x="5128022" y="3903661"/>
            <a:ext cx="1033463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3" name="Text Box 17"/>
          <p:cNvSpPr txBox="1">
            <a:spLocks noChangeArrowheads="1"/>
          </p:cNvSpPr>
          <p:nvPr/>
        </p:nvSpPr>
        <p:spPr bwMode="auto">
          <a:xfrm>
            <a:off x="5110163" y="3927472"/>
            <a:ext cx="11336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decryption 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algorithm</a:t>
            </a: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 flipV="1">
            <a:off x="3777854" y="4298946"/>
            <a:ext cx="1357313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" name="Line 29"/>
          <p:cNvSpPr>
            <a:spLocks noChangeShapeType="1"/>
          </p:cNvSpPr>
          <p:nvPr/>
        </p:nvSpPr>
        <p:spPr bwMode="auto">
          <a:xfrm>
            <a:off x="2153840" y="4329108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>
            <a:off x="6192440" y="4284658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49" name="Picture 35" descr="BS00768_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267326" y="1949449"/>
            <a:ext cx="344090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 Box 37"/>
          <p:cNvSpPr txBox="1">
            <a:spLocks noChangeArrowheads="1"/>
          </p:cNvSpPr>
          <p:nvPr/>
        </p:nvSpPr>
        <p:spPr bwMode="auto">
          <a:xfrm>
            <a:off x="6236495" y="3940172"/>
            <a:ext cx="10470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plaintext</a:t>
            </a:r>
          </a:p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message</a:t>
            </a:r>
          </a:p>
        </p:txBody>
      </p:sp>
      <p:grpSp>
        <p:nvGrpSpPr>
          <p:cNvPr id="51" name="Group 41"/>
          <p:cNvGrpSpPr>
            <a:grpSpLocks/>
          </p:cNvGrpSpPr>
          <p:nvPr/>
        </p:nvGrpSpPr>
        <p:grpSpPr bwMode="auto">
          <a:xfrm>
            <a:off x="4095753" y="4271961"/>
            <a:ext cx="883445" cy="617538"/>
            <a:chOff x="2351" y="2077"/>
            <a:chExt cx="742" cy="389"/>
          </a:xfrm>
        </p:grpSpPr>
        <p:sp>
          <p:nvSpPr>
            <p:cNvPr id="52" name="Text Box 38"/>
            <p:cNvSpPr txBox="1">
              <a:spLocks noChangeArrowheads="1"/>
            </p:cNvSpPr>
            <p:nvPr/>
          </p:nvSpPr>
          <p:spPr bwMode="auto">
            <a:xfrm>
              <a:off x="2351" y="2132"/>
              <a:ext cx="74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Comic Sans MS" pitchFamily="66" charset="0"/>
                </a:rPr>
                <a:t>K </a:t>
              </a:r>
              <a:r>
                <a:rPr lang="en-US" sz="2000" dirty="0" smtClean="0">
                  <a:solidFill>
                    <a:srgbClr val="FF0000"/>
                  </a:solidFill>
                  <a:latin typeface="Comic Sans MS" pitchFamily="66" charset="0"/>
                </a:rPr>
                <a:t> (</a:t>
              </a:r>
              <a:r>
                <a:rPr lang="en-US" sz="2000" dirty="0">
                  <a:solidFill>
                    <a:srgbClr val="FF0000"/>
                  </a:solidFill>
                  <a:latin typeface="Comic Sans MS" pitchFamily="66" charset="0"/>
                </a:rPr>
                <a:t>m)</a:t>
              </a:r>
            </a:p>
          </p:txBody>
        </p:sp>
        <p:sp>
          <p:nvSpPr>
            <p:cNvPr id="53" name="Text Box 39"/>
            <p:cNvSpPr txBox="1">
              <a:spLocks noChangeArrowheads="1"/>
            </p:cNvSpPr>
            <p:nvPr/>
          </p:nvSpPr>
          <p:spPr bwMode="auto">
            <a:xfrm>
              <a:off x="2466" y="2253"/>
              <a:ext cx="2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54" name="Text Box 40"/>
            <p:cNvSpPr txBox="1">
              <a:spLocks noChangeArrowheads="1"/>
            </p:cNvSpPr>
            <p:nvPr/>
          </p:nvSpPr>
          <p:spPr bwMode="auto">
            <a:xfrm>
              <a:off x="2475" y="2077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  <a:endParaRPr lang="en-US" sz="1600" dirty="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</p:grpSp>
      <p:sp>
        <p:nvSpPr>
          <p:cNvPr id="55" name="Text Box 43"/>
          <p:cNvSpPr txBox="1">
            <a:spLocks noChangeArrowheads="1"/>
          </p:cNvSpPr>
          <p:nvPr/>
        </p:nvSpPr>
        <p:spPr bwMode="auto">
          <a:xfrm>
            <a:off x="5643563" y="1866897"/>
            <a:ext cx="4187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K </a:t>
            </a:r>
          </a:p>
        </p:txBody>
      </p:sp>
      <p:sp>
        <p:nvSpPr>
          <p:cNvPr id="56" name="Text Box 44"/>
          <p:cNvSpPr txBox="1">
            <a:spLocks noChangeArrowheads="1"/>
          </p:cNvSpPr>
          <p:nvPr/>
        </p:nvSpPr>
        <p:spPr bwMode="auto">
          <a:xfrm>
            <a:off x="5751909" y="2046283"/>
            <a:ext cx="3353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A</a:t>
            </a:r>
          </a:p>
        </p:txBody>
      </p:sp>
      <p:sp>
        <p:nvSpPr>
          <p:cNvPr id="57" name="Text Box 45"/>
          <p:cNvSpPr txBox="1">
            <a:spLocks noChangeArrowheads="1"/>
          </p:cNvSpPr>
          <p:nvPr/>
        </p:nvSpPr>
        <p:spPr bwMode="auto">
          <a:xfrm>
            <a:off x="5762625" y="1766883"/>
            <a:ext cx="269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-</a:t>
            </a:r>
          </a:p>
        </p:txBody>
      </p:sp>
      <p:pic>
        <p:nvPicPr>
          <p:cNvPr id="59" name="Picture 51" descr="BS00768_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264944" y="2622546"/>
            <a:ext cx="407194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 Box 53"/>
          <p:cNvSpPr txBox="1">
            <a:spLocks noChangeArrowheads="1"/>
          </p:cNvSpPr>
          <p:nvPr/>
        </p:nvSpPr>
        <p:spPr bwMode="auto">
          <a:xfrm>
            <a:off x="5650707" y="2557459"/>
            <a:ext cx="4187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K </a:t>
            </a:r>
          </a:p>
        </p:txBody>
      </p:sp>
      <p:sp>
        <p:nvSpPr>
          <p:cNvPr id="61" name="Text Box 54"/>
          <p:cNvSpPr txBox="1">
            <a:spLocks noChangeArrowheads="1"/>
          </p:cNvSpPr>
          <p:nvPr/>
        </p:nvSpPr>
        <p:spPr bwMode="auto">
          <a:xfrm>
            <a:off x="5806678" y="2749546"/>
            <a:ext cx="3353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mic Sans MS" pitchFamily="66" charset="0"/>
              </a:rPr>
              <a:t>A</a:t>
            </a:r>
            <a:endParaRPr lang="en-US" sz="16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62" name="Text Box 55"/>
          <p:cNvSpPr txBox="1">
            <a:spLocks noChangeArrowheads="1"/>
          </p:cNvSpPr>
          <p:nvPr/>
        </p:nvSpPr>
        <p:spPr bwMode="auto">
          <a:xfrm>
            <a:off x="5822156" y="2470146"/>
            <a:ext cx="28405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mic Sans MS" pitchFamily="66" charset="0"/>
              </a:rPr>
              <a:t>+</a:t>
            </a:r>
            <a:endParaRPr lang="en-US" sz="16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grpSp>
        <p:nvGrpSpPr>
          <p:cNvPr id="63" name="Group 63"/>
          <p:cNvGrpSpPr>
            <a:grpSpLocks/>
          </p:cNvGrpSpPr>
          <p:nvPr/>
        </p:nvGrpSpPr>
        <p:grpSpPr bwMode="auto">
          <a:xfrm>
            <a:off x="6260305" y="4468812"/>
            <a:ext cx="1513285" cy="636588"/>
            <a:chOff x="2413" y="3394"/>
            <a:chExt cx="1271" cy="401"/>
          </a:xfrm>
        </p:grpSpPr>
        <p:sp>
          <p:nvSpPr>
            <p:cNvPr id="64" name="Text Box 57"/>
            <p:cNvSpPr txBox="1">
              <a:spLocks noChangeArrowheads="1"/>
            </p:cNvSpPr>
            <p:nvPr/>
          </p:nvSpPr>
          <p:spPr bwMode="auto">
            <a:xfrm>
              <a:off x="2413" y="3434"/>
              <a:ext cx="127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Comic Sans MS" pitchFamily="66" charset="0"/>
                </a:rPr>
                <a:t>m = K  </a:t>
              </a:r>
              <a:r>
                <a:rPr lang="en-US" sz="1400" dirty="0">
                  <a:solidFill>
                    <a:srgbClr val="FF0000"/>
                  </a:solidFill>
                  <a:latin typeface="Comic Sans MS" pitchFamily="66" charset="0"/>
                </a:rPr>
                <a:t>(</a:t>
              </a:r>
              <a:r>
                <a:rPr lang="en-US" sz="1600" dirty="0">
                  <a:solidFill>
                    <a:srgbClr val="FF0000"/>
                  </a:solidFill>
                  <a:latin typeface="Comic Sans MS" pitchFamily="66" charset="0"/>
                </a:rPr>
                <a:t>K  (m)</a:t>
              </a:r>
              <a:r>
                <a:rPr lang="en-US" sz="1400" dirty="0">
                  <a:solidFill>
                    <a:srgbClr val="FF0000"/>
                  </a:solidFill>
                  <a:latin typeface="Comic Sans MS" pitchFamily="66" charset="0"/>
                </a:rPr>
                <a:t>)</a:t>
              </a:r>
            </a:p>
          </p:txBody>
        </p:sp>
        <p:sp>
          <p:nvSpPr>
            <p:cNvPr id="65" name="Text Box 58"/>
            <p:cNvSpPr txBox="1">
              <a:spLocks noChangeArrowheads="1"/>
            </p:cNvSpPr>
            <p:nvPr/>
          </p:nvSpPr>
          <p:spPr bwMode="auto">
            <a:xfrm>
              <a:off x="3093" y="3582"/>
              <a:ext cx="2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srgbClr val="FF0000"/>
                  </a:solidFill>
                  <a:latin typeface="Comic Sans MS" pitchFamily="66" charset="0"/>
                </a:rPr>
                <a:t>A</a:t>
              </a:r>
              <a:endParaRPr lang="en-US" sz="1600" dirty="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66" name="Text Box 59"/>
            <p:cNvSpPr txBox="1">
              <a:spLocks noChangeArrowheads="1"/>
            </p:cNvSpPr>
            <p:nvPr/>
          </p:nvSpPr>
          <p:spPr bwMode="auto">
            <a:xfrm>
              <a:off x="3099" y="3400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</a:p>
          </p:txBody>
        </p:sp>
        <p:sp>
          <p:nvSpPr>
            <p:cNvPr id="67" name="Text Box 61"/>
            <p:cNvSpPr txBox="1">
              <a:spLocks noChangeArrowheads="1"/>
            </p:cNvSpPr>
            <p:nvPr/>
          </p:nvSpPr>
          <p:spPr bwMode="auto">
            <a:xfrm>
              <a:off x="2832" y="3570"/>
              <a:ext cx="2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srgbClr val="FF0000"/>
                  </a:solidFill>
                  <a:latin typeface="Comic Sans MS" pitchFamily="66" charset="0"/>
                </a:rPr>
                <a:t>A</a:t>
              </a:r>
              <a:endParaRPr lang="en-US" sz="1600" dirty="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68" name="Text Box 62"/>
            <p:cNvSpPr txBox="1">
              <a:spLocks noChangeArrowheads="1"/>
            </p:cNvSpPr>
            <p:nvPr/>
          </p:nvSpPr>
          <p:spPr bwMode="auto">
            <a:xfrm>
              <a:off x="2851" y="3394"/>
              <a:ext cx="23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srgbClr val="FF0000"/>
                  </a:solidFill>
                  <a:latin typeface="Comic Sans MS" pitchFamily="66" charset="0"/>
                </a:rPr>
                <a:t>+</a:t>
              </a:r>
              <a:endParaRPr lang="en-US" sz="1600" dirty="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</p:grpSp>
      <p:sp>
        <p:nvSpPr>
          <p:cNvPr id="69" name="Freeform 65"/>
          <p:cNvSpPr>
            <a:spLocks/>
          </p:cNvSpPr>
          <p:nvPr/>
        </p:nvSpPr>
        <p:spPr bwMode="auto">
          <a:xfrm>
            <a:off x="3381376" y="2082799"/>
            <a:ext cx="1795463" cy="1754187"/>
          </a:xfrm>
          <a:custGeom>
            <a:avLst/>
            <a:gdLst>
              <a:gd name="T0" fmla="*/ 1508 w 1508"/>
              <a:gd name="T1" fmla="*/ 0 h 1105"/>
              <a:gd name="T2" fmla="*/ 0 w 1508"/>
              <a:gd name="T3" fmla="*/ 0 h 1105"/>
              <a:gd name="T4" fmla="*/ 5 w 1508"/>
              <a:gd name="T5" fmla="*/ 1105 h 1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8" h="1105">
                <a:moveTo>
                  <a:pt x="1508" y="0"/>
                </a:moveTo>
                <a:lnTo>
                  <a:pt x="0" y="0"/>
                </a:lnTo>
                <a:lnTo>
                  <a:pt x="5" y="110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0" name="Freeform 66"/>
          <p:cNvSpPr>
            <a:spLocks/>
          </p:cNvSpPr>
          <p:nvPr/>
        </p:nvSpPr>
        <p:spPr bwMode="auto">
          <a:xfrm>
            <a:off x="5214938" y="2755899"/>
            <a:ext cx="247650" cy="1074737"/>
          </a:xfrm>
          <a:custGeom>
            <a:avLst/>
            <a:gdLst>
              <a:gd name="T0" fmla="*/ 184 w 184"/>
              <a:gd name="T1" fmla="*/ 0 h 1113"/>
              <a:gd name="T2" fmla="*/ 0 w 184"/>
              <a:gd name="T3" fmla="*/ 8 h 1113"/>
              <a:gd name="T4" fmla="*/ 5 w 184"/>
              <a:gd name="T5" fmla="*/ 1113 h 1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4" h="1113">
                <a:moveTo>
                  <a:pt x="184" y="0"/>
                </a:moveTo>
                <a:lnTo>
                  <a:pt x="0" y="8"/>
                </a:lnTo>
                <a:lnTo>
                  <a:pt x="5" y="1113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1" name="Text Box 11"/>
          <p:cNvSpPr txBox="1">
            <a:spLocks noChangeArrowheads="1"/>
          </p:cNvSpPr>
          <p:nvPr/>
        </p:nvSpPr>
        <p:spPr bwMode="auto">
          <a:xfrm>
            <a:off x="6060282" y="1803397"/>
            <a:ext cx="1788318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Comic Sans MS" pitchFamily="66" charset="0"/>
              </a:rPr>
              <a:t>Alice’s </a:t>
            </a:r>
            <a:r>
              <a:rPr lang="en-US" sz="1400" u="sng" dirty="0">
                <a:solidFill>
                  <a:prstClr val="black"/>
                </a:solidFill>
                <a:latin typeface="Comic Sans MS" pitchFamily="66" charset="0"/>
              </a:rPr>
              <a:t>private</a:t>
            </a:r>
            <a:r>
              <a:rPr lang="en-US" sz="1400" dirty="0">
                <a:solidFill>
                  <a:prstClr val="black"/>
                </a:solidFill>
                <a:latin typeface="Comic Sans MS" pitchFamily="66" charset="0"/>
              </a:rPr>
              <a:t> </a:t>
            </a:r>
          </a:p>
          <a:p>
            <a:r>
              <a:rPr lang="en-US" sz="1400" dirty="0">
                <a:solidFill>
                  <a:prstClr val="black"/>
                </a:solidFill>
                <a:latin typeface="Comic Sans MS" pitchFamily="66" charset="0"/>
              </a:rPr>
              <a:t>key </a:t>
            </a:r>
          </a:p>
        </p:txBody>
      </p:sp>
      <p:sp>
        <p:nvSpPr>
          <p:cNvPr id="72" name="Text Box 24"/>
          <p:cNvSpPr txBox="1">
            <a:spLocks noChangeArrowheads="1"/>
          </p:cNvSpPr>
          <p:nvPr/>
        </p:nvSpPr>
        <p:spPr bwMode="auto">
          <a:xfrm>
            <a:off x="6057900" y="2481259"/>
            <a:ext cx="17907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Comic Sans MS" pitchFamily="66" charset="0"/>
              </a:rPr>
              <a:t>Alice’s </a:t>
            </a:r>
            <a:r>
              <a:rPr lang="en-US" sz="1400" u="sng" dirty="0">
                <a:solidFill>
                  <a:prstClr val="black"/>
                </a:solidFill>
                <a:latin typeface="Comic Sans MS" pitchFamily="66" charset="0"/>
              </a:rPr>
              <a:t>public</a:t>
            </a:r>
          </a:p>
          <a:p>
            <a:r>
              <a:rPr lang="en-US" sz="1400" dirty="0">
                <a:solidFill>
                  <a:prstClr val="black"/>
                </a:solidFill>
                <a:latin typeface="Comic Sans MS" pitchFamily="66" charset="0"/>
              </a:rPr>
              <a:t>key </a:t>
            </a:r>
          </a:p>
        </p:txBody>
      </p:sp>
    </p:spTree>
    <p:extLst>
      <p:ext uri="{BB962C8B-B14F-4D97-AF65-F5344CB8AC3E}">
        <p14:creationId xmlns:p14="http://schemas.microsoft.com/office/powerpoint/2010/main" val="408788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Asymmetric Key Cryptography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property will be very useful later: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K </a:t>
            </a:r>
            <a:r>
              <a:rPr lang="en-US" baseline="-25000" dirty="0"/>
              <a:t>B</a:t>
            </a:r>
            <a:r>
              <a:rPr lang="en-US" baseline="30000" dirty="0"/>
              <a:t>−</a:t>
            </a:r>
            <a:r>
              <a:rPr lang="en-US" dirty="0"/>
              <a:t> (K </a:t>
            </a:r>
            <a:r>
              <a:rPr lang="en-US" baseline="-25000" dirty="0"/>
              <a:t>B</a:t>
            </a:r>
            <a:r>
              <a:rPr lang="en-US" baseline="30000" dirty="0"/>
              <a:t>+</a:t>
            </a:r>
            <a:r>
              <a:rPr lang="en-US" dirty="0"/>
              <a:t> (m))  =  m = K </a:t>
            </a:r>
            <a:r>
              <a:rPr lang="en-US" baseline="-25000" dirty="0"/>
              <a:t>A</a:t>
            </a:r>
            <a:r>
              <a:rPr lang="en-US" baseline="30000" dirty="0"/>
              <a:t>+</a:t>
            </a:r>
            <a:r>
              <a:rPr lang="en-US" dirty="0"/>
              <a:t> (K </a:t>
            </a:r>
            <a:r>
              <a:rPr lang="en-US" baseline="-25000" dirty="0"/>
              <a:t>A</a:t>
            </a:r>
            <a:r>
              <a:rPr lang="en-US" dirty="0"/>
              <a:t> </a:t>
            </a:r>
            <a:r>
              <a:rPr lang="en-US" baseline="30000" dirty="0"/>
              <a:t>−</a:t>
            </a:r>
            <a:r>
              <a:rPr lang="en-US" dirty="0"/>
              <a:t> (m))  </a:t>
            </a:r>
          </a:p>
          <a:p>
            <a:endParaRPr lang="en-US" dirty="0"/>
          </a:p>
          <a:p>
            <a:r>
              <a:rPr lang="en-US" dirty="0"/>
              <a:t>use private key first, followed by public key</a:t>
            </a:r>
          </a:p>
          <a:p>
            <a:r>
              <a:rPr lang="en-US" dirty="0"/>
              <a:t>use public key first, followed by private key</a:t>
            </a:r>
          </a:p>
          <a:p>
            <a:endParaRPr lang="en-US" dirty="0"/>
          </a:p>
          <a:p>
            <a:r>
              <a:rPr lang="en-US" dirty="0"/>
              <a:t>Result is the same</a:t>
            </a:r>
          </a:p>
        </p:txBody>
      </p:sp>
    </p:spTree>
    <p:extLst>
      <p:ext uri="{BB962C8B-B14F-4D97-AF65-F5344CB8AC3E}">
        <p14:creationId xmlns:p14="http://schemas.microsoft.com/office/powerpoint/2010/main" val="13007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Cryptography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Transmitting over an insecure channel</a:t>
            </a:r>
          </a:p>
          <a:p>
            <a:r>
              <a:rPr lang="en-US" dirty="0"/>
              <a:t>Secure storage on insecure </a:t>
            </a:r>
            <a:r>
              <a:rPr lang="en-US" dirty="0" smtClean="0"/>
              <a:t>media</a:t>
            </a:r>
          </a:p>
          <a:p>
            <a:endParaRPr lang="en-US" dirty="0" smtClean="0"/>
          </a:p>
          <a:p>
            <a:r>
              <a:rPr lang="en-US" dirty="0" smtClean="0"/>
              <a:t>Everything </a:t>
            </a:r>
            <a:r>
              <a:rPr lang="en-US" dirty="0"/>
              <a:t>that SKC does can be done by </a:t>
            </a:r>
            <a:r>
              <a:rPr lang="en-US" dirty="0" smtClean="0"/>
              <a:t>PKC and Digital Signatures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Cryptography Terms Summary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u="sng" dirty="0"/>
              <a:t>P</a:t>
            </a:r>
            <a:r>
              <a:rPr lang="en-US" u="sng" dirty="0" smtClean="0"/>
              <a:t>laintext</a:t>
            </a:r>
            <a:r>
              <a:rPr lang="en-US" dirty="0" smtClean="0"/>
              <a:t> </a:t>
            </a:r>
            <a:r>
              <a:rPr lang="en-US" dirty="0"/>
              <a:t>- original message </a:t>
            </a:r>
          </a:p>
          <a:p>
            <a:r>
              <a:rPr lang="en-US" u="sng" dirty="0" err="1" smtClean="0"/>
              <a:t>Ciphertext</a:t>
            </a:r>
            <a:r>
              <a:rPr lang="en-US" dirty="0" smtClean="0"/>
              <a:t> </a:t>
            </a:r>
            <a:r>
              <a:rPr lang="en-US" dirty="0"/>
              <a:t>- coded message </a:t>
            </a:r>
          </a:p>
          <a:p>
            <a:r>
              <a:rPr lang="en-US" u="sng" dirty="0" smtClean="0"/>
              <a:t>Cipher</a:t>
            </a:r>
            <a:r>
              <a:rPr lang="en-US" dirty="0" smtClean="0"/>
              <a:t> </a:t>
            </a:r>
            <a:r>
              <a:rPr lang="en-US" dirty="0"/>
              <a:t>- algorithm for transforming plaintext to </a:t>
            </a:r>
            <a:r>
              <a:rPr lang="en-US" dirty="0" err="1"/>
              <a:t>ciphertext</a:t>
            </a:r>
            <a:r>
              <a:rPr lang="en-US" dirty="0"/>
              <a:t> </a:t>
            </a:r>
          </a:p>
          <a:p>
            <a:r>
              <a:rPr lang="en-US" u="sng" dirty="0" smtClean="0"/>
              <a:t>Key</a:t>
            </a:r>
            <a:r>
              <a:rPr lang="en-US" dirty="0" smtClean="0"/>
              <a:t> </a:t>
            </a:r>
            <a:r>
              <a:rPr lang="en-US" dirty="0"/>
              <a:t>- info used in cipher known only to sender/receiver </a:t>
            </a:r>
          </a:p>
          <a:p>
            <a:r>
              <a:rPr lang="en-US" u="sng" dirty="0" smtClean="0"/>
              <a:t>Encipher</a:t>
            </a:r>
            <a:r>
              <a:rPr lang="en-US" dirty="0" smtClean="0"/>
              <a:t> </a:t>
            </a:r>
            <a:r>
              <a:rPr lang="en-US" dirty="0"/>
              <a:t>(encrypt) - converting plaintext to </a:t>
            </a:r>
            <a:r>
              <a:rPr lang="en-US" dirty="0" err="1"/>
              <a:t>ciphertext</a:t>
            </a:r>
            <a:r>
              <a:rPr lang="en-US" dirty="0"/>
              <a:t> </a:t>
            </a:r>
          </a:p>
          <a:p>
            <a:r>
              <a:rPr lang="en-US" u="sng" dirty="0" smtClean="0"/>
              <a:t>Decipher</a:t>
            </a:r>
            <a:r>
              <a:rPr lang="en-US" dirty="0" smtClean="0"/>
              <a:t> </a:t>
            </a:r>
            <a:r>
              <a:rPr lang="en-US" dirty="0"/>
              <a:t>(decrypt) - recovering plaintext from </a:t>
            </a:r>
            <a:r>
              <a:rPr lang="en-US" dirty="0" err="1"/>
              <a:t>ciphertext</a:t>
            </a:r>
            <a:endParaRPr lang="en-US" dirty="0"/>
          </a:p>
          <a:p>
            <a:r>
              <a:rPr lang="en-US" u="sng" dirty="0" smtClean="0"/>
              <a:t>Cryptography</a:t>
            </a:r>
            <a:r>
              <a:rPr lang="en-US" dirty="0" smtClean="0"/>
              <a:t> </a:t>
            </a:r>
            <a:r>
              <a:rPr lang="en-US" dirty="0"/>
              <a:t>- study of encryption principles/methods</a:t>
            </a:r>
          </a:p>
          <a:p>
            <a:r>
              <a:rPr lang="en-US" u="sng" dirty="0" smtClean="0"/>
              <a:t>Cryptanalysis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/>
              <a:t>codebreaking</a:t>
            </a:r>
            <a:r>
              <a:rPr lang="en-US" dirty="0"/>
              <a:t>) - study of principles/ methods of deciphering </a:t>
            </a:r>
            <a:r>
              <a:rPr lang="en-US" dirty="0" err="1"/>
              <a:t>ciphertext</a:t>
            </a:r>
            <a:r>
              <a:rPr lang="en-US" dirty="0"/>
              <a:t> without knowing key</a:t>
            </a:r>
          </a:p>
          <a:p>
            <a:r>
              <a:rPr lang="en-US" u="sng" dirty="0" smtClean="0"/>
              <a:t>Cryptology</a:t>
            </a:r>
            <a:r>
              <a:rPr lang="en-US" dirty="0" smtClean="0"/>
              <a:t> </a:t>
            </a:r>
            <a:r>
              <a:rPr lang="en-US" dirty="0"/>
              <a:t>- field of both cryptography and cryptanalysis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243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Classical </a:t>
            </a:r>
            <a:r>
              <a:rPr lang="en-US" b="1" dirty="0"/>
              <a:t>Ciphers</a:t>
            </a:r>
          </a:p>
          <a:p>
            <a:pPr lvl="1"/>
            <a:r>
              <a:rPr lang="en-US" sz="2400" dirty="0"/>
              <a:t>Transposition Cipher</a:t>
            </a:r>
          </a:p>
          <a:p>
            <a:pPr lvl="1"/>
            <a:r>
              <a:rPr lang="en-US" sz="2400" dirty="0"/>
              <a:t>Substitution Cipher</a:t>
            </a:r>
          </a:p>
          <a:p>
            <a:pPr lvl="2"/>
            <a:r>
              <a:rPr lang="en-US" sz="2000" dirty="0" err="1"/>
              <a:t>Monoalphabetic</a:t>
            </a:r>
            <a:endParaRPr lang="en-US" sz="2000" dirty="0"/>
          </a:p>
          <a:p>
            <a:pPr lvl="2"/>
            <a:r>
              <a:rPr lang="en-US" sz="2000" dirty="0"/>
              <a:t>Polyalphabetic</a:t>
            </a:r>
          </a:p>
          <a:p>
            <a:endParaRPr lang="en-US" dirty="0"/>
          </a:p>
          <a:p>
            <a:r>
              <a:rPr lang="en-US" b="1" dirty="0"/>
              <a:t>Modern Cipher</a:t>
            </a:r>
          </a:p>
          <a:p>
            <a:pPr lvl="1"/>
            <a:r>
              <a:rPr lang="en-US" sz="2400" dirty="0"/>
              <a:t>Asymmetric</a:t>
            </a:r>
          </a:p>
          <a:p>
            <a:pPr lvl="1"/>
            <a:r>
              <a:rPr lang="en-US" sz="2400" dirty="0"/>
              <a:t>Symmetric</a:t>
            </a:r>
          </a:p>
          <a:p>
            <a:pPr lvl="2"/>
            <a:r>
              <a:rPr lang="en-US" sz="2000" dirty="0"/>
              <a:t>Block </a:t>
            </a:r>
          </a:p>
          <a:p>
            <a:pPr lvl="2"/>
            <a:r>
              <a:rPr lang="en-US" sz="2000" dirty="0"/>
              <a:t>Stream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5129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Transposition</a:t>
            </a:r>
            <a:r>
              <a:rPr lang="en-US" dirty="0" smtClean="0"/>
              <a:t>: </a:t>
            </a:r>
            <a:r>
              <a:rPr lang="en-US" dirty="0"/>
              <a:t>rearrange bits or characters in the </a:t>
            </a:r>
            <a:r>
              <a:rPr lang="en-US" dirty="0" smtClean="0"/>
              <a:t>data (permutation)</a:t>
            </a:r>
            <a:endParaRPr lang="en-US" dirty="0"/>
          </a:p>
          <a:p>
            <a:r>
              <a:rPr lang="en-US" b="1" dirty="0" smtClean="0"/>
              <a:t>Substitution</a:t>
            </a:r>
            <a:r>
              <a:rPr lang="en-US" dirty="0" smtClean="0"/>
              <a:t>: </a:t>
            </a:r>
            <a:r>
              <a:rPr lang="en-US" dirty="0"/>
              <a:t>replace bits, characters, or blocks of characters with substitutes</a:t>
            </a:r>
          </a:p>
          <a:p>
            <a:pPr lvl="1"/>
            <a:r>
              <a:rPr lang="en-US" sz="2400" b="1" dirty="0" err="1" smtClean="0"/>
              <a:t>Monoalphabetic</a:t>
            </a:r>
            <a:r>
              <a:rPr lang="en-US" sz="2400" dirty="0"/>
              <a:t>: A single alphabet is used to encrypt the entire plaintext message</a:t>
            </a:r>
          </a:p>
          <a:p>
            <a:pPr lvl="1"/>
            <a:r>
              <a:rPr lang="en-US" sz="2400" b="1" dirty="0" smtClean="0"/>
              <a:t>Polyalphabetic</a:t>
            </a:r>
            <a:r>
              <a:rPr lang="en-US" sz="2400" dirty="0"/>
              <a:t>: A more complex substitution that uses a different alphabet to encrypt each bit, character, or character block of a plaintext message</a:t>
            </a:r>
            <a:endParaRPr lang="en-US" dirty="0"/>
          </a:p>
          <a:p>
            <a:r>
              <a:rPr lang="en-US" dirty="0" smtClean="0"/>
              <a:t>A </a:t>
            </a:r>
            <a:r>
              <a:rPr lang="en-US" b="1" dirty="0"/>
              <a:t>block cipher</a:t>
            </a:r>
            <a:r>
              <a:rPr lang="en-US" dirty="0"/>
              <a:t> is one that breaks a message up into chunks and combines a key with each chunk </a:t>
            </a:r>
          </a:p>
          <a:p>
            <a:r>
              <a:rPr lang="en-US" dirty="0"/>
              <a:t>A </a:t>
            </a:r>
            <a:r>
              <a:rPr lang="en-US" b="1" dirty="0"/>
              <a:t>stream cipher</a:t>
            </a:r>
            <a:r>
              <a:rPr lang="en-US" dirty="0"/>
              <a:t> is one that applies a key to each bit, one at a time</a:t>
            </a:r>
          </a:p>
        </p:txBody>
      </p:sp>
    </p:spTree>
    <p:extLst>
      <p:ext uri="{BB962C8B-B14F-4D97-AF65-F5344CB8AC3E}">
        <p14:creationId xmlns:p14="http://schemas.microsoft.com/office/powerpoint/2010/main" val="210486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Caesar Cipher</a:t>
            </a:r>
          </a:p>
          <a:p>
            <a:r>
              <a:rPr lang="en-US" dirty="0" smtClean="0"/>
              <a:t>One </a:t>
            </a:r>
            <a:r>
              <a:rPr lang="en-US" dirty="0"/>
              <a:t>of the simplest examples of a cipher is the Caesar cipher</a:t>
            </a:r>
          </a:p>
          <a:p>
            <a:r>
              <a:rPr lang="en-US" dirty="0"/>
              <a:t>It is a type of </a:t>
            </a:r>
            <a:r>
              <a:rPr lang="en-US" u="sng" dirty="0"/>
              <a:t>substitution cipher</a:t>
            </a:r>
            <a:r>
              <a:rPr lang="en-US" dirty="0"/>
              <a:t> in which each letter in the plaintext is replaced by a letter some fixed number of positions down the </a:t>
            </a:r>
            <a:r>
              <a:rPr lang="en-US" dirty="0" smtClean="0"/>
              <a:t>alphabet</a:t>
            </a:r>
          </a:p>
          <a:p>
            <a:r>
              <a:rPr lang="en-US" dirty="0"/>
              <a:t>For example, with a shift of 3, ‘A’ would be replaced by ‘D’, ‘B’ would become ‘E’, and so on</a:t>
            </a:r>
          </a:p>
          <a:p>
            <a:pPr marL="0" indent="0">
              <a:buNone/>
            </a:pPr>
            <a:r>
              <a:rPr lang="en-US" dirty="0"/>
              <a:t>Plaintext: the quick brown fox jumps over the lazy dog</a:t>
            </a:r>
          </a:p>
          <a:p>
            <a:pPr marL="0" indent="0">
              <a:buNone/>
            </a:pPr>
            <a:r>
              <a:rPr lang="en-US" dirty="0" err="1"/>
              <a:t>Ciphertext</a:t>
            </a:r>
            <a:r>
              <a:rPr lang="en-US" dirty="0"/>
              <a:t>: WKH TXLFN EURZQ IRA MXPSV RYHU WKH ODCB GRJ</a:t>
            </a:r>
          </a:p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crypto-flash.tripod.com/caesarFlash.htm</a:t>
            </a:r>
            <a:r>
              <a:rPr lang="en-US" dirty="0" smtClean="0"/>
              <a:t>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0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err="1"/>
              <a:t>Vigenère</a:t>
            </a:r>
            <a:r>
              <a:rPr lang="en-US" b="1" u="sng" dirty="0"/>
              <a:t> Cipher</a:t>
            </a:r>
          </a:p>
          <a:p>
            <a:endParaRPr lang="en-US" dirty="0"/>
          </a:p>
          <a:p>
            <a:r>
              <a:rPr lang="en-US" dirty="0"/>
              <a:t>The most common </a:t>
            </a:r>
            <a:r>
              <a:rPr lang="en-US" u="sng" dirty="0" smtClean="0"/>
              <a:t>polyalphabetic cipher</a:t>
            </a:r>
          </a:p>
          <a:p>
            <a:r>
              <a:rPr lang="en-US" dirty="0" err="1" smtClean="0"/>
              <a:t>Vigenère</a:t>
            </a:r>
            <a:r>
              <a:rPr lang="en-US" dirty="0" smtClean="0"/>
              <a:t> </a:t>
            </a:r>
            <a:r>
              <a:rPr lang="en-US" dirty="0"/>
              <a:t>cipher starts with a 26 x 26 matrix of alphabets in sequence</a:t>
            </a:r>
          </a:p>
          <a:p>
            <a:r>
              <a:rPr lang="en-US" dirty="0"/>
              <a:t>First </a:t>
            </a:r>
            <a:r>
              <a:rPr lang="en-US" dirty="0" smtClean="0"/>
              <a:t>row/column </a:t>
            </a:r>
            <a:r>
              <a:rPr lang="en-US" dirty="0"/>
              <a:t>starts with ‘A’, second </a:t>
            </a:r>
            <a:r>
              <a:rPr lang="en-US" dirty="0" smtClean="0"/>
              <a:t>row/column </a:t>
            </a:r>
            <a:r>
              <a:rPr lang="en-US" dirty="0"/>
              <a:t>starts with ‘B’,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It requires a keyword that the sender and receiver know ahead of time</a:t>
            </a:r>
          </a:p>
          <a:p>
            <a:r>
              <a:rPr lang="en-US" dirty="0"/>
              <a:t>Each character of the message is combined with the characters of the keyword to find the </a:t>
            </a:r>
            <a:r>
              <a:rPr lang="en-US" dirty="0" err="1"/>
              <a:t>ciphertext</a:t>
            </a:r>
            <a:r>
              <a:rPr lang="en-US" dirty="0"/>
              <a:t> character</a:t>
            </a:r>
          </a:p>
        </p:txBody>
      </p:sp>
    </p:spTree>
    <p:extLst>
      <p:ext uri="{BB962C8B-B14F-4D97-AF65-F5344CB8AC3E}">
        <p14:creationId xmlns:p14="http://schemas.microsoft.com/office/powerpoint/2010/main" val="312789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ages.mtu.edu/~shene/NSF-4/Tutorial/VIG/FIG-VIG-Tab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76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/>
              <a:t>Vigenère</a:t>
            </a:r>
            <a:r>
              <a:rPr lang="en-US" u="sng" dirty="0"/>
              <a:t> </a:t>
            </a:r>
            <a:r>
              <a:rPr lang="en-US" u="sng" dirty="0" smtClean="0"/>
              <a:t>Cipher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3581400"/>
            <a:ext cx="3429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Message = SEE  ME  IN  MALL</a:t>
            </a:r>
          </a:p>
          <a:p>
            <a:r>
              <a:rPr lang="pt-BR" sz="2000" dirty="0"/>
              <a:t>Keyword = INFOSEC</a:t>
            </a:r>
          </a:p>
          <a:p>
            <a:r>
              <a:rPr lang="pt-BR" sz="2000" u="sng" dirty="0"/>
              <a:t>Encryption</a:t>
            </a:r>
            <a:r>
              <a:rPr lang="pt-BR" sz="2000" dirty="0"/>
              <a:t>					</a:t>
            </a:r>
            <a:endParaRPr lang="pt-BR" sz="2000" u="sng" dirty="0"/>
          </a:p>
          <a:p>
            <a:r>
              <a:rPr lang="pt-BR" sz="2000" dirty="0"/>
              <a:t>          S E E M E  I N M A L L</a:t>
            </a:r>
          </a:p>
          <a:p>
            <a:r>
              <a:rPr lang="pt-BR" sz="2000" dirty="0"/>
              <a:t>          I N F O S  E C  I  N F O</a:t>
            </a:r>
          </a:p>
          <a:p>
            <a:r>
              <a:rPr lang="pt-BR" sz="2000" dirty="0"/>
              <a:t>       -----------------------------</a:t>
            </a:r>
          </a:p>
          <a:p>
            <a:r>
              <a:rPr lang="pt-BR" sz="2000" dirty="0"/>
              <a:t>         A R J A W M P U N Q Z</a:t>
            </a:r>
          </a:p>
        </p:txBody>
      </p:sp>
      <p:pic>
        <p:nvPicPr>
          <p:cNvPr id="1026" name="Picture 2" descr="http://pages.mtu.edu/~shene/NSF-4/Tutorial/VIG/FIG-VIG-Tab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028" y="1295400"/>
            <a:ext cx="5192972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68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 smtClean="0"/>
              <a:t>Classwork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1802791"/>
          </a:xfrm>
        </p:spPr>
        <p:txBody>
          <a:bodyPr/>
          <a:lstStyle/>
          <a:p>
            <a:r>
              <a:rPr lang="en-US" dirty="0" smtClean="0"/>
              <a:t>Encrypt the plaintext </a:t>
            </a:r>
          </a:p>
          <a:p>
            <a:pPr lvl="1"/>
            <a:r>
              <a:rPr lang="en-US" dirty="0" smtClean="0"/>
              <a:t>"</a:t>
            </a:r>
            <a:r>
              <a:rPr lang="en-US" dirty="0"/>
              <a:t>a simple example" </a:t>
            </a:r>
            <a:endParaRPr lang="en-US" dirty="0" smtClean="0"/>
          </a:p>
          <a:p>
            <a:r>
              <a:rPr lang="en-US" dirty="0" smtClean="0"/>
              <a:t>using </a:t>
            </a:r>
            <a:r>
              <a:rPr lang="en-US" dirty="0"/>
              <a:t>the keyword </a:t>
            </a:r>
            <a:endParaRPr lang="en-US" dirty="0" smtClean="0"/>
          </a:p>
          <a:p>
            <a:pPr lvl="1"/>
            <a:r>
              <a:rPr lang="en-US" i="1" dirty="0" smtClean="0"/>
              <a:t>“</a:t>
            </a:r>
            <a:r>
              <a:rPr lang="en-US" i="1" dirty="0" err="1" smtClean="0"/>
              <a:t>battista</a:t>
            </a:r>
            <a:r>
              <a:rPr lang="en-US" dirty="0" smtClean="0"/>
              <a:t>.“</a:t>
            </a:r>
          </a:p>
          <a:p>
            <a:pPr lvl="1"/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AutoShape 2" descr="http://crypto.interactive-maths.com/uploads/1/1/3/4/11345755/6806178_orig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http://crypto.interactive-maths.com/uploads/1/1/3/4/11345755/6806178_orig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4" name="Picture 6" descr="http://crypto.interactive-maths.com/uploads/1/1/3/4/11345755/6806178_ori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6" y="3505199"/>
            <a:ext cx="8356600" cy="10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32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/>
              <a:t>Vigenère</a:t>
            </a:r>
            <a:r>
              <a:rPr lang="en-US" u="sng" dirty="0"/>
              <a:t> </a:t>
            </a:r>
            <a:r>
              <a:rPr lang="en-US" u="sng" dirty="0" smtClean="0"/>
              <a:t>Cipher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761142"/>
              </p:ext>
            </p:extLst>
          </p:nvPr>
        </p:nvGraphicFramePr>
        <p:xfrm>
          <a:off x="1371600" y="2214880"/>
          <a:ext cx="7010400" cy="4109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</a:tblGrid>
              <a:tr h="5137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  <a:tr h="5137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</a:t>
                      </a:r>
                      <a:endParaRPr lang="en-US" dirty="0"/>
                    </a:p>
                  </a:txBody>
                  <a:tcPr/>
                </a:tc>
              </a:tr>
              <a:tr h="51371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137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</a:tr>
              <a:tr h="5137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51371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137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137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5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 err="1"/>
              <a:t>Vigenère</a:t>
            </a:r>
            <a:r>
              <a:rPr lang="en-US" u="sng" dirty="0"/>
              <a:t> </a:t>
            </a:r>
            <a:r>
              <a:rPr lang="en-US" u="sng" dirty="0" smtClean="0"/>
              <a:t>Cipher Example</a:t>
            </a:r>
            <a:endParaRPr lang="en-US" dirty="0"/>
          </a:p>
          <a:p>
            <a:endParaRPr lang="pt-BR" dirty="0"/>
          </a:p>
          <a:p>
            <a:r>
              <a:rPr lang="pt-BR" dirty="0" smtClean="0"/>
              <a:t>Message </a:t>
            </a:r>
            <a:r>
              <a:rPr lang="pt-BR" dirty="0"/>
              <a:t>= SEE  ME  IN  MALL</a:t>
            </a:r>
          </a:p>
          <a:p>
            <a:r>
              <a:rPr lang="pt-BR" dirty="0" smtClean="0"/>
              <a:t>Keyword = INFOSEC</a:t>
            </a:r>
            <a:endParaRPr lang="pt-BR" dirty="0"/>
          </a:p>
          <a:p>
            <a:pPr marL="0" indent="0">
              <a:buNone/>
            </a:pPr>
            <a:r>
              <a:rPr lang="pt-BR" u="sng" dirty="0" smtClean="0"/>
              <a:t>Encryption</a:t>
            </a:r>
            <a:r>
              <a:rPr lang="pt-BR" dirty="0" smtClean="0"/>
              <a:t>					     </a:t>
            </a:r>
            <a:r>
              <a:rPr lang="pt-BR" u="sng" dirty="0" smtClean="0"/>
              <a:t>Decryption</a:t>
            </a:r>
            <a:endParaRPr lang="pt-BR" u="sng" dirty="0"/>
          </a:p>
          <a:p>
            <a:pPr marL="0" indent="0">
              <a:buNone/>
            </a:pPr>
            <a:r>
              <a:rPr lang="pt-BR" dirty="0"/>
              <a:t>          S E E M E </a:t>
            </a:r>
            <a:r>
              <a:rPr lang="pt-BR" dirty="0" smtClean="0"/>
              <a:t> I </a:t>
            </a:r>
            <a:r>
              <a:rPr lang="pt-BR" dirty="0"/>
              <a:t>N M A L L</a:t>
            </a:r>
          </a:p>
          <a:p>
            <a:pPr marL="0" indent="0">
              <a:buNone/>
            </a:pPr>
            <a:r>
              <a:rPr lang="pt-BR" dirty="0"/>
              <a:t>          I N F </a:t>
            </a:r>
            <a:r>
              <a:rPr lang="pt-BR" dirty="0" smtClean="0"/>
              <a:t>O </a:t>
            </a:r>
            <a:r>
              <a:rPr lang="pt-BR" dirty="0"/>
              <a:t>S  E C </a:t>
            </a:r>
            <a:r>
              <a:rPr lang="pt-BR" dirty="0" smtClean="0"/>
              <a:t> I  </a:t>
            </a:r>
            <a:r>
              <a:rPr lang="pt-BR" dirty="0"/>
              <a:t>N F O</a:t>
            </a:r>
          </a:p>
          <a:p>
            <a:pPr marL="0" indent="0">
              <a:buNone/>
            </a:pPr>
            <a:r>
              <a:rPr lang="pt-BR" dirty="0"/>
              <a:t>       </a:t>
            </a:r>
            <a:r>
              <a:rPr lang="pt-BR" dirty="0" smtClean="0"/>
              <a:t>-----------------------------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    A R J A W M P U N Q </a:t>
            </a:r>
            <a:r>
              <a:rPr lang="pt-BR" dirty="0" smtClean="0"/>
              <a:t>Z</a:t>
            </a:r>
          </a:p>
          <a:p>
            <a:endParaRPr lang="en-US" dirty="0" smtClean="0"/>
          </a:p>
          <a:p>
            <a:r>
              <a:rPr lang="en-US" dirty="0" smtClean="0"/>
              <a:t>As its polyalphabetic, same </a:t>
            </a:r>
            <a:r>
              <a:rPr lang="en-US" dirty="0"/>
              <a:t>plaintext character is substituted by different </a:t>
            </a:r>
            <a:r>
              <a:rPr lang="en-US" dirty="0" err="1" smtClean="0"/>
              <a:t>ciphertext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www.youtube.com/watch?v=LsewLHTAmsA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876800" y="3429000"/>
            <a:ext cx="4252010" cy="22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20000"/>
              </a:spcBef>
            </a:pPr>
            <a:r>
              <a:rPr lang="pt-BR" sz="2400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 </a:t>
            </a:r>
            <a:r>
              <a:rPr lang="pt-BR" sz="24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J  A W M P U N Q Z</a:t>
            </a:r>
          </a:p>
          <a:p>
            <a:pPr algn="just">
              <a:spcBef>
                <a:spcPct val="20000"/>
              </a:spcBef>
            </a:pPr>
            <a:r>
              <a:rPr lang="pt-BR" sz="2400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  </a:t>
            </a:r>
            <a:r>
              <a:rPr lang="pt-BR" sz="24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 F O  S  E  C  I N  F O</a:t>
            </a:r>
          </a:p>
          <a:p>
            <a:pPr algn="just">
              <a:spcBef>
                <a:spcPct val="20000"/>
              </a:spcBef>
            </a:pPr>
            <a:r>
              <a:rPr lang="pt-BR" sz="2400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------------------------------</a:t>
            </a:r>
          </a:p>
          <a:p>
            <a:pPr algn="just">
              <a:spcBef>
                <a:spcPct val="20000"/>
              </a:spcBef>
            </a:pPr>
            <a:r>
              <a:rPr lang="pt-BR" sz="2400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 E E M  E  I  N  M A L L</a:t>
            </a:r>
          </a:p>
          <a:p>
            <a:pPr algn="just">
              <a:spcBef>
                <a:spcPct val="20000"/>
              </a:spcBef>
            </a:pPr>
            <a:endParaRPr lang="en-US" sz="2400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81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err="1" smtClean="0"/>
              <a:t>Playfair</a:t>
            </a:r>
            <a:r>
              <a:rPr lang="en-US" b="1" u="sng" dirty="0" smtClean="0"/>
              <a:t> </a:t>
            </a:r>
            <a:r>
              <a:rPr lang="en-US" b="1" u="sng" dirty="0"/>
              <a:t>Cipher</a:t>
            </a:r>
          </a:p>
          <a:p>
            <a:endParaRPr lang="en-US" dirty="0"/>
          </a:p>
          <a:p>
            <a:r>
              <a:rPr lang="en-US" dirty="0"/>
              <a:t>The best known multiple-letter </a:t>
            </a:r>
            <a:r>
              <a:rPr lang="en-US" dirty="0" smtClean="0"/>
              <a:t>cipher (</a:t>
            </a:r>
            <a:r>
              <a:rPr lang="en-US" u="sng" dirty="0"/>
              <a:t>polyalphabetic</a:t>
            </a:r>
            <a:r>
              <a:rPr lang="en-US" dirty="0" smtClean="0"/>
              <a:t>), </a:t>
            </a:r>
            <a:r>
              <a:rPr lang="en-US" dirty="0"/>
              <a:t>which treats </a:t>
            </a:r>
            <a:r>
              <a:rPr lang="en-US" dirty="0" err="1"/>
              <a:t>digrams</a:t>
            </a:r>
            <a:r>
              <a:rPr lang="en-US" dirty="0"/>
              <a:t> in the plaintext as single units</a:t>
            </a:r>
          </a:p>
          <a:p>
            <a:r>
              <a:rPr lang="en-US" dirty="0"/>
              <a:t>It is based on a 5x5 matrix of letters constructed using a keyword</a:t>
            </a:r>
          </a:p>
          <a:p>
            <a:r>
              <a:rPr lang="en-US" dirty="0"/>
              <a:t>Suppose we have a keyword “monarchy”</a:t>
            </a:r>
          </a:p>
          <a:p>
            <a:r>
              <a:rPr lang="en-US" dirty="0"/>
              <a:t>The matrix is constructed by filling in the letter of the keyword (minus duplicate) from left to right and from top to bottom in alphabetic order</a:t>
            </a:r>
          </a:p>
          <a:p>
            <a:r>
              <a:rPr lang="en-US" dirty="0"/>
              <a:t>The letter I and J count as one letter (as we have max 25 spaces available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24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 smtClean="0"/>
              <a:t>Playfair</a:t>
            </a:r>
            <a:r>
              <a:rPr lang="en-US" u="sng" dirty="0" smtClean="0"/>
              <a:t> Cipher Matrix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Keyword  = “</a:t>
            </a:r>
            <a:r>
              <a:rPr lang="en-US" dirty="0"/>
              <a:t>monarchy”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551997"/>
              </p:ext>
            </p:extLst>
          </p:nvPr>
        </p:nvGraphicFramePr>
        <p:xfrm>
          <a:off x="2628900" y="3200400"/>
          <a:ext cx="45720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m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o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n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h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y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f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g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i/j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l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u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v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w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x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z</a:t>
                      </a:r>
                      <a:endPara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76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 smtClean="0"/>
              <a:t>Playfair</a:t>
            </a:r>
            <a:r>
              <a:rPr lang="en-US" u="sng" dirty="0" smtClean="0"/>
              <a:t> Cipher Matrix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Plaintext is encrypted two letters at a time, according to the following </a:t>
            </a:r>
            <a:r>
              <a:rPr lang="en-US" dirty="0" smtClean="0"/>
              <a:t>rules</a:t>
            </a:r>
            <a:endParaRPr lang="en-US" u="sng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If in same column</a:t>
            </a:r>
          </a:p>
          <a:p>
            <a:pPr lvl="1"/>
            <a:r>
              <a:rPr lang="en-US" dirty="0" smtClean="0"/>
              <a:t>Move each letter down one</a:t>
            </a:r>
          </a:p>
          <a:p>
            <a:r>
              <a:rPr lang="en-US" dirty="0" smtClean="0"/>
              <a:t>If in same row</a:t>
            </a:r>
          </a:p>
          <a:p>
            <a:pPr lvl="1"/>
            <a:r>
              <a:rPr lang="en-US" dirty="0" smtClean="0"/>
              <a:t>Move each letter right one</a:t>
            </a:r>
          </a:p>
          <a:p>
            <a:r>
              <a:rPr lang="en-US" dirty="0" smtClean="0"/>
              <a:t>If form a rectangle</a:t>
            </a:r>
          </a:p>
          <a:p>
            <a:pPr lvl="1"/>
            <a:r>
              <a:rPr lang="en-US" dirty="0" smtClean="0"/>
              <a:t>Swap with the ends of the rectangle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737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/>
              <a:t>Playfair</a:t>
            </a:r>
            <a:r>
              <a:rPr lang="en-US" u="sng" dirty="0"/>
              <a:t> Cipher </a:t>
            </a:r>
            <a:r>
              <a:rPr lang="en-US" u="sng" dirty="0" smtClean="0"/>
              <a:t>Example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Repeating plaintext letters that would fall in the same pair are separated with a filler letter, such as x, so that ‘balloon’ would be treated as ‘</a:t>
            </a:r>
            <a:r>
              <a:rPr lang="en-US" dirty="0" err="1"/>
              <a:t>ba</a:t>
            </a:r>
            <a:r>
              <a:rPr lang="en-US" dirty="0"/>
              <a:t> lx lo on’</a:t>
            </a:r>
          </a:p>
          <a:p>
            <a:endParaRPr lang="en-US" dirty="0" smtClean="0"/>
          </a:p>
          <a:p>
            <a:r>
              <a:rPr lang="en-US" dirty="0" smtClean="0"/>
              <a:t>AR becomes RM</a:t>
            </a:r>
          </a:p>
          <a:p>
            <a:r>
              <a:rPr lang="en-US" dirty="0" smtClean="0"/>
              <a:t>CE becomes EL</a:t>
            </a:r>
          </a:p>
          <a:p>
            <a:r>
              <a:rPr lang="en-US" dirty="0" smtClean="0"/>
              <a:t>HS </a:t>
            </a:r>
            <a:r>
              <a:rPr lang="en-US" dirty="0"/>
              <a:t>becomes BP </a:t>
            </a:r>
            <a:endParaRPr lang="en-US" dirty="0" smtClean="0"/>
          </a:p>
          <a:p>
            <a:r>
              <a:rPr lang="en-US" dirty="0" smtClean="0"/>
              <a:t>EA </a:t>
            </a:r>
            <a:r>
              <a:rPr lang="en-US" dirty="0"/>
              <a:t>becomes IM (or </a:t>
            </a:r>
            <a:r>
              <a:rPr lang="en-US" dirty="0" smtClean="0"/>
              <a:t>JM)</a:t>
            </a:r>
          </a:p>
          <a:p>
            <a:r>
              <a:rPr lang="en-US" dirty="0" smtClean="0"/>
              <a:t>Balloon becomes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9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 err="1"/>
              <a:t>Playfair</a:t>
            </a:r>
            <a:r>
              <a:rPr lang="en-US" u="sng" dirty="0"/>
              <a:t> Cipher Example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Plaintext: see me tomorrow</a:t>
            </a:r>
          </a:p>
          <a:p>
            <a:pPr marL="0" indent="0">
              <a:buNone/>
            </a:pPr>
            <a:r>
              <a:rPr lang="en-US" dirty="0"/>
              <a:t>                         se </a:t>
            </a:r>
            <a:r>
              <a:rPr lang="en-US" dirty="0" err="1"/>
              <a:t>em</a:t>
            </a:r>
            <a:r>
              <a:rPr lang="en-US" dirty="0"/>
              <a:t> et </a:t>
            </a:r>
            <a:r>
              <a:rPr lang="en-US" dirty="0" smtClean="0"/>
              <a:t> om </a:t>
            </a:r>
            <a:r>
              <a:rPr lang="en-US" dirty="0"/>
              <a:t>or  </a:t>
            </a:r>
            <a:r>
              <a:rPr lang="en-US" dirty="0" err="1"/>
              <a:t>ro</a:t>
            </a:r>
            <a:r>
              <a:rPr lang="en-US" dirty="0"/>
              <a:t>  </a:t>
            </a:r>
            <a:r>
              <a:rPr lang="en-US" dirty="0" err="1"/>
              <a:t>wx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Ciphertext</a:t>
            </a:r>
            <a:r>
              <a:rPr lang="en-US" dirty="0"/>
              <a:t>:      </a:t>
            </a:r>
            <a:r>
              <a:rPr lang="en-US" dirty="0" smtClean="0"/>
              <a:t>  li   </a:t>
            </a:r>
            <a:r>
              <a:rPr lang="en-US" dirty="0" err="1"/>
              <a:t>lc</a:t>
            </a:r>
            <a:r>
              <a:rPr lang="en-US" dirty="0"/>
              <a:t>   kl </a:t>
            </a:r>
            <a:r>
              <a:rPr lang="en-US" dirty="0" smtClean="0"/>
              <a:t> no  nm </a:t>
            </a:r>
            <a:r>
              <a:rPr lang="en-US" dirty="0" err="1"/>
              <a:t>mn</a:t>
            </a:r>
            <a:r>
              <a:rPr lang="en-US" dirty="0"/>
              <a:t> </a:t>
            </a:r>
            <a:r>
              <a:rPr lang="en-US" dirty="0" err="1" smtClean="0"/>
              <a:t>xz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Decryption is just the reverse of encryption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www.youtube.com/watch?v=quKhvu2tPy8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68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Affine Cipher</a:t>
            </a:r>
            <a:endParaRPr lang="en-US" b="1" u="sng" dirty="0"/>
          </a:p>
          <a:p>
            <a:endParaRPr lang="en-US" dirty="0"/>
          </a:p>
          <a:p>
            <a:r>
              <a:rPr lang="en-US" dirty="0"/>
              <a:t>The affine cipher is a </a:t>
            </a:r>
            <a:r>
              <a:rPr lang="en-US" dirty="0" err="1"/>
              <a:t>monoalphabetic</a:t>
            </a:r>
            <a:r>
              <a:rPr lang="en-US" dirty="0"/>
              <a:t> substitution cipher</a:t>
            </a:r>
          </a:p>
          <a:p>
            <a:r>
              <a:rPr lang="en-US" dirty="0"/>
              <a:t>The encryption/decryption process is substantially </a:t>
            </a:r>
            <a:r>
              <a:rPr lang="en-US" dirty="0" smtClean="0"/>
              <a:t>mathematical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Step one: Substitute each letter in your plaintext message with a number (range 0 to m-1)</a:t>
            </a:r>
          </a:p>
        </p:txBody>
      </p:sp>
      <p:pic>
        <p:nvPicPr>
          <p:cNvPr id="1028" name="Picture 4" descr="Pi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420" y="5734049"/>
            <a:ext cx="6903032" cy="66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87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Affine Cipher Example</a:t>
            </a:r>
            <a:endParaRPr lang="en-US" u="sng" dirty="0"/>
          </a:p>
          <a:p>
            <a:endParaRPr lang="en-US" dirty="0"/>
          </a:p>
          <a:p>
            <a:r>
              <a:rPr lang="en-US" dirty="0"/>
              <a:t>Create a permutation of the alphabet by replacing each a with the result of a simple equation:</a:t>
            </a:r>
          </a:p>
          <a:p>
            <a:r>
              <a:rPr lang="da-DK" dirty="0"/>
              <a:t>E(x) = (ax + b) mod m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 is 26 in this case as total number of alphabets in English language</a:t>
            </a:r>
            <a:endParaRPr lang="en-US" dirty="0"/>
          </a:p>
          <a:p>
            <a:r>
              <a:rPr lang="en-US" dirty="0" smtClean="0"/>
              <a:t>a </a:t>
            </a:r>
            <a:r>
              <a:rPr lang="en-US" dirty="0"/>
              <a:t>is relatively prime to 26 (or the length of whatever alphabet you're using), and </a:t>
            </a:r>
            <a:r>
              <a:rPr lang="en-US" dirty="0" smtClean="0"/>
              <a:t>b </a:t>
            </a:r>
            <a:r>
              <a:rPr lang="en-US" dirty="0"/>
              <a:t>is an arbitrary integer of your </a:t>
            </a:r>
            <a:r>
              <a:rPr lang="en-US" dirty="0" smtClean="0"/>
              <a:t>choice</a:t>
            </a:r>
          </a:p>
          <a:p>
            <a:r>
              <a:rPr lang="en-US" dirty="0" smtClean="0"/>
              <a:t>a </a:t>
            </a:r>
            <a:r>
              <a:rPr lang="en-US" dirty="0"/>
              <a:t>and </a:t>
            </a:r>
            <a:r>
              <a:rPr lang="en-US" dirty="0" smtClean="0"/>
              <a:t>b </a:t>
            </a:r>
            <a:r>
              <a:rPr lang="en-US" dirty="0"/>
              <a:t>need to be known to </a:t>
            </a:r>
            <a:r>
              <a:rPr lang="en-US" dirty="0" smtClean="0"/>
              <a:t>decrypt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Affine Cipher Example</a:t>
            </a:r>
            <a:endParaRPr lang="en-US" u="sng" dirty="0"/>
          </a:p>
          <a:p>
            <a:endParaRPr lang="en-US" dirty="0"/>
          </a:p>
          <a:p>
            <a:r>
              <a:rPr lang="en-US" dirty="0" smtClean="0"/>
              <a:t>lets </a:t>
            </a:r>
            <a:r>
              <a:rPr lang="en-US" dirty="0"/>
              <a:t>encrypt the plaintext "affine cipher", using the key a = 5, b =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588589"/>
              </p:ext>
            </p:extLst>
          </p:nvPr>
        </p:nvGraphicFramePr>
        <p:xfrm>
          <a:off x="1200151" y="3352800"/>
          <a:ext cx="731324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6164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Plaintext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err="1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err="1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x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0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15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17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5x+8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33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33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73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83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43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93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(5x+8) mod 26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22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18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22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17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15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err="1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Ciphertext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78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 smtClean="0"/>
              <a:t>Affine Cipher Example</a:t>
            </a:r>
            <a:endParaRPr lang="en-US" u="sng" dirty="0"/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dirty="0" smtClean="0"/>
              <a:t>decryption, </a:t>
            </a:r>
            <a:r>
              <a:rPr lang="en-US" dirty="0"/>
              <a:t>we must perform the opposite (or inverse) functions on the </a:t>
            </a:r>
            <a:r>
              <a:rPr lang="en-US" dirty="0" err="1"/>
              <a:t>ciphertext</a:t>
            </a:r>
            <a:r>
              <a:rPr lang="en-US" dirty="0"/>
              <a:t> to retrieve the </a:t>
            </a:r>
            <a:r>
              <a:rPr lang="en-US" dirty="0" smtClean="0"/>
              <a:t>plaintext, using the following equation;</a:t>
            </a:r>
            <a:endParaRPr lang="en-US" dirty="0"/>
          </a:p>
          <a:p>
            <a:r>
              <a:rPr lang="da-DK" dirty="0"/>
              <a:t>D(x) = c(x - b) mod m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 </a:t>
            </a:r>
            <a:r>
              <a:rPr lang="en-US" dirty="0"/>
              <a:t>is the modular multiplicative inverse of </a:t>
            </a:r>
            <a:r>
              <a:rPr lang="en-US" dirty="0" smtClean="0"/>
              <a:t>a i.e., a*c </a:t>
            </a:r>
            <a:r>
              <a:rPr lang="en-US" dirty="0"/>
              <a:t>= 1 mod m</a:t>
            </a:r>
          </a:p>
          <a:p>
            <a:r>
              <a:rPr lang="en-US" dirty="0" smtClean="0"/>
              <a:t>We know </a:t>
            </a:r>
            <a:r>
              <a:rPr lang="en-US" smtClean="0"/>
              <a:t>that, a </a:t>
            </a:r>
            <a:r>
              <a:rPr lang="en-US" dirty="0"/>
              <a:t>= 5, b = 8</a:t>
            </a:r>
          </a:p>
          <a:p>
            <a:r>
              <a:rPr lang="en-US" dirty="0"/>
              <a:t>The first step here is to find the inverse of a, which in this case is 21</a:t>
            </a:r>
          </a:p>
          <a:p>
            <a:r>
              <a:rPr lang="en-US" dirty="0"/>
              <a:t>(since 21 x 5 = 105 = 1 mod 26, as 26 x 4 = 104, and 105 - 104 = 1)</a:t>
            </a:r>
          </a:p>
        </p:txBody>
      </p:sp>
    </p:spTree>
    <p:extLst>
      <p:ext uri="{BB962C8B-B14F-4D97-AF65-F5344CB8AC3E}">
        <p14:creationId xmlns:p14="http://schemas.microsoft.com/office/powerpoint/2010/main" val="355658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Affine Cipher Example</a:t>
            </a:r>
            <a:endParaRPr lang="en-US" u="sng" dirty="0"/>
          </a:p>
          <a:p>
            <a:endParaRPr lang="en-US" dirty="0"/>
          </a:p>
          <a:p>
            <a:r>
              <a:rPr lang="en-US" dirty="0" smtClean="0"/>
              <a:t>lets do decryption of the </a:t>
            </a:r>
            <a:r>
              <a:rPr lang="en-US" dirty="0" err="1" smtClean="0"/>
              <a:t>ciphertext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494951"/>
              </p:ext>
            </p:extLst>
          </p:nvPr>
        </p:nvGraphicFramePr>
        <p:xfrm>
          <a:off x="762000" y="3352800"/>
          <a:ext cx="8229599" cy="255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5734"/>
                <a:gridCol w="393934"/>
                <a:gridCol w="709081"/>
                <a:gridCol w="551507"/>
                <a:gridCol w="551507"/>
                <a:gridCol w="551507"/>
                <a:gridCol w="704012"/>
                <a:gridCol w="513086"/>
                <a:gridCol w="437424"/>
                <a:gridCol w="641608"/>
                <a:gridCol w="533400"/>
                <a:gridCol w="533400"/>
                <a:gridCol w="5333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Ciphertext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y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22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18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22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17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15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21(y-8)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0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(-1+ 26)*</a:t>
                      </a:r>
                      <a:b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21=</a:t>
                      </a:r>
                      <a:b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525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525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294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273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(-6+ 26)*</a:t>
                      </a:r>
                      <a:b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21=</a:t>
                      </a:r>
                      <a:b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420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210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294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(-</a:t>
                      </a:r>
                      <a:r>
                        <a:rPr lang="en-US" sz="1600" kern="120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3+</a:t>
                      </a:r>
                      <a:br>
                        <a:rPr lang="en-US" sz="1600" kern="120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en-US" sz="1600" kern="120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26)*</a:t>
                      </a:r>
                      <a:br>
                        <a:rPr lang="en-US" sz="1600" kern="120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en-US" sz="1600" kern="120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21=</a:t>
                      </a:r>
                      <a:br>
                        <a:rPr lang="en-US" sz="1600" kern="120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en-US" sz="1600" kern="120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483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189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420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147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21(y-8) mod 26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0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15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17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Plaintext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</a:t>
                      </a:r>
                      <a:endParaRPr lang="en-US" sz="16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91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Affine Cipher Example</a:t>
            </a:r>
            <a:endParaRPr lang="en-US" u="sng" dirty="0"/>
          </a:p>
          <a:p>
            <a:endParaRPr lang="en-US" dirty="0"/>
          </a:p>
          <a:p>
            <a:r>
              <a:rPr lang="en-US" dirty="0" smtClean="0"/>
              <a:t>Encrypt ‘network security’ with a=5, b=6</a:t>
            </a:r>
            <a:endParaRPr lang="en-US" dirty="0"/>
          </a:p>
          <a:p>
            <a:r>
              <a:rPr lang="en-US" dirty="0" err="1"/>
              <a:t>taxmyne</a:t>
            </a:r>
            <a:r>
              <a:rPr lang="en-US" dirty="0"/>
              <a:t> </a:t>
            </a:r>
            <a:r>
              <a:rPr lang="en-US" dirty="0" err="1" smtClean="0"/>
              <a:t>saqcnuxw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85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Rail Fence </a:t>
            </a:r>
            <a:r>
              <a:rPr lang="en-US" b="1" u="sng" dirty="0" smtClean="0"/>
              <a:t>Cipher</a:t>
            </a:r>
            <a:endParaRPr lang="en-US" b="1" u="sng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u="sng" dirty="0"/>
              <a:t>transposition cipher</a:t>
            </a:r>
            <a:r>
              <a:rPr lang="en-US" dirty="0"/>
              <a:t> that gets its name from the way in which it is encoded</a:t>
            </a:r>
          </a:p>
          <a:p>
            <a:r>
              <a:rPr lang="en-US" dirty="0"/>
              <a:t>Plaintext is written downwards on successive "rails" of an imaginary </a:t>
            </a:r>
            <a:r>
              <a:rPr lang="en-US" dirty="0" smtClean="0"/>
              <a:t>fence, </a:t>
            </a:r>
            <a:r>
              <a:rPr lang="en-US" dirty="0"/>
              <a:t>then moving up when we get to the bottom</a:t>
            </a:r>
          </a:p>
          <a:p>
            <a:r>
              <a:rPr lang="en-US" dirty="0" smtClean="0"/>
              <a:t>Encrypted message (</a:t>
            </a:r>
            <a:r>
              <a:rPr lang="en-US" dirty="0" err="1" smtClean="0"/>
              <a:t>cipertext</a:t>
            </a:r>
            <a:r>
              <a:rPr lang="en-US" dirty="0" smtClean="0"/>
              <a:t>) </a:t>
            </a:r>
            <a:r>
              <a:rPr lang="en-US" dirty="0"/>
              <a:t>is then read off in </a:t>
            </a:r>
            <a:r>
              <a:rPr lang="en-US" dirty="0" smtClean="0"/>
              <a:t>rows</a:t>
            </a:r>
          </a:p>
        </p:txBody>
      </p:sp>
    </p:spTree>
    <p:extLst>
      <p:ext uri="{BB962C8B-B14F-4D97-AF65-F5344CB8AC3E}">
        <p14:creationId xmlns:p14="http://schemas.microsoft.com/office/powerpoint/2010/main" val="404451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Rail Fence </a:t>
            </a:r>
            <a:r>
              <a:rPr lang="en-US" u="sng" dirty="0" smtClean="0"/>
              <a:t>Cipher Example</a:t>
            </a:r>
            <a:endParaRPr lang="en-US" u="sng" dirty="0"/>
          </a:p>
          <a:p>
            <a:endParaRPr lang="en-US" dirty="0"/>
          </a:p>
          <a:p>
            <a:r>
              <a:rPr lang="en-US" dirty="0" smtClean="0"/>
              <a:t>Using </a:t>
            </a:r>
            <a:r>
              <a:rPr lang="en-US" dirty="0"/>
              <a:t>three "rails" and a </a:t>
            </a:r>
            <a:r>
              <a:rPr lang="en-US" dirty="0" smtClean="0"/>
              <a:t>plaintext </a:t>
            </a:r>
            <a:r>
              <a:rPr lang="en-US" dirty="0"/>
              <a:t>'WE ARE </a:t>
            </a:r>
            <a:r>
              <a:rPr lang="en-US" dirty="0" smtClean="0"/>
              <a:t> DISCOVERED</a:t>
            </a:r>
            <a:r>
              <a:rPr lang="en-US" dirty="0"/>
              <a:t>. FLEE AT </a:t>
            </a:r>
            <a:r>
              <a:rPr lang="en-US" dirty="0" smtClean="0"/>
              <a:t>ONCE‘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Ciphertext</a:t>
            </a:r>
            <a:r>
              <a:rPr lang="en-US" dirty="0" smtClean="0"/>
              <a:t> = WECRL </a:t>
            </a:r>
            <a:r>
              <a:rPr lang="en-US" dirty="0"/>
              <a:t>TEERD SOEEF EAOCA </a:t>
            </a:r>
            <a:r>
              <a:rPr lang="en-US" dirty="0" smtClean="0"/>
              <a:t>IVDEN</a:t>
            </a:r>
          </a:p>
          <a:p>
            <a:endParaRPr lang="en-US" dirty="0"/>
          </a:p>
          <a:p>
            <a:r>
              <a:rPr lang="en-US" dirty="0"/>
              <a:t>Decryption is just the reverse of encryption</a:t>
            </a:r>
            <a:endParaRPr lang="en-US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593232"/>
              </p:ext>
            </p:extLst>
          </p:nvPr>
        </p:nvGraphicFramePr>
        <p:xfrm>
          <a:off x="1257300" y="2819400"/>
          <a:ext cx="60960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L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O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O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rgbClr val="0070C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68580" marR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71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One-time Pad</a:t>
            </a:r>
          </a:p>
          <a:p>
            <a:endParaRPr lang="en-US" dirty="0"/>
          </a:p>
          <a:p>
            <a:r>
              <a:rPr lang="en-US" dirty="0"/>
              <a:t>Use a random key that is as long as the message so that the key need not be repeated</a:t>
            </a:r>
          </a:p>
          <a:p>
            <a:r>
              <a:rPr lang="en-US" dirty="0"/>
              <a:t>The key is used to encrypt and decrypt a single message, and then is discarded</a:t>
            </a:r>
          </a:p>
          <a:p>
            <a:r>
              <a:rPr lang="en-US" dirty="0"/>
              <a:t>Perfectly </a:t>
            </a:r>
            <a:r>
              <a:rPr lang="en-US" dirty="0" smtClean="0"/>
              <a:t>secure, unbreakable (if used correctly) because </a:t>
            </a:r>
            <a:r>
              <a:rPr lang="en-US" dirty="0"/>
              <a:t>it  produces random output (from the random key) that bears no statistical relationship to the plaintext</a:t>
            </a:r>
          </a:p>
          <a:p>
            <a:endParaRPr lang="en-US" dirty="0"/>
          </a:p>
          <a:p>
            <a:r>
              <a:rPr lang="en-US" dirty="0"/>
              <a:t>Drawbacks: large quantities of random keys needed, key distribution and protection (both sender and receiver)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2601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Ciphers and Their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One-time </a:t>
            </a:r>
            <a:r>
              <a:rPr lang="en-US" u="sng" dirty="0" smtClean="0"/>
              <a:t>Pad Example</a:t>
            </a:r>
            <a:endParaRPr lang="en-US" u="sng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plaintext:         SECRETMESSAGE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one-time pad: CIJTHUUHMLFRU</a:t>
            </a:r>
          </a:p>
          <a:p>
            <a:pPr marL="0" indent="0">
              <a:buNone/>
            </a:pPr>
            <a:r>
              <a:rPr lang="en-US" dirty="0" err="1" smtClean="0"/>
              <a:t>ciphertext</a:t>
            </a:r>
            <a:r>
              <a:rPr lang="en-US" dirty="0" smtClean="0"/>
              <a:t>:       UMLKLNGLEDFXY</a:t>
            </a:r>
          </a:p>
        </p:txBody>
      </p:sp>
    </p:spTree>
    <p:extLst>
      <p:ext uri="{BB962C8B-B14F-4D97-AF65-F5344CB8AC3E}">
        <p14:creationId xmlns:p14="http://schemas.microsoft.com/office/powerpoint/2010/main" val="112056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0070C0"/>
                </a:solidFill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46793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2777</Words>
  <Application>Microsoft Office PowerPoint</Application>
  <PresentationFormat>On-screen Show (4:3)</PresentationFormat>
  <Paragraphs>721</Paragraphs>
  <Slides>49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1" baseType="lpstr">
      <vt:lpstr>Office Theme</vt:lpstr>
      <vt:lpstr>Training</vt:lpstr>
      <vt:lpstr>CSC432 – information Security </vt:lpstr>
      <vt:lpstr>Cryptography and Encryption</vt:lpstr>
      <vt:lpstr>Cryptography</vt:lpstr>
      <vt:lpstr>Encryption</vt:lpstr>
      <vt:lpstr>Encryption</vt:lpstr>
      <vt:lpstr>Cryptography</vt:lpstr>
      <vt:lpstr>Cryptography</vt:lpstr>
      <vt:lpstr>Example: Transposition cipher</vt:lpstr>
      <vt:lpstr>Cryptography</vt:lpstr>
      <vt:lpstr>Cryptography</vt:lpstr>
      <vt:lpstr>Cryptography</vt:lpstr>
      <vt:lpstr>Cryptography vs Steganography</vt:lpstr>
      <vt:lpstr>Steganography example</vt:lpstr>
      <vt:lpstr>Types of Cryptography</vt:lpstr>
      <vt:lpstr>Symmetric Key Cryptography</vt:lpstr>
      <vt:lpstr>Symmetric Key Cryptography</vt:lpstr>
      <vt:lpstr>Symmetric Key Cryptography</vt:lpstr>
      <vt:lpstr>Asymmetric Key Cryptography</vt:lpstr>
      <vt:lpstr>Asymmetric Key Cryptography</vt:lpstr>
      <vt:lpstr>Asymmetric Key Cryptography</vt:lpstr>
      <vt:lpstr>Asymmetric Key Cryptography</vt:lpstr>
      <vt:lpstr>Asymmetric Key Cryptography</vt:lpstr>
      <vt:lpstr>Applications of Cryptography</vt:lpstr>
      <vt:lpstr>Cryptography Terms Summary</vt:lpstr>
      <vt:lpstr>Ciphers and Their Types</vt:lpstr>
      <vt:lpstr>Ciphers and Their Types</vt:lpstr>
      <vt:lpstr>Ciphers and Their Types</vt:lpstr>
      <vt:lpstr>Ciphers and Their Types</vt:lpstr>
      <vt:lpstr>PowerPoint Presentation</vt:lpstr>
      <vt:lpstr>Ciphers and Their Types</vt:lpstr>
      <vt:lpstr>Classwork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Ciphers and Their Types</vt:lpstr>
      <vt:lpstr>THANKS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CSC332 – Data Security  and Encryption</dc:title>
  <dc:creator>Dr. Ahmad</dc:creator>
  <cp:lastModifiedBy>Adnan</cp:lastModifiedBy>
  <cp:revision>72</cp:revision>
  <dcterms:created xsi:type="dcterms:W3CDTF">2006-08-16T00:00:00Z</dcterms:created>
  <dcterms:modified xsi:type="dcterms:W3CDTF">2022-09-20T07:54:40Z</dcterms:modified>
</cp:coreProperties>
</file>