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12" r:id="rId4"/>
    <p:sldId id="313" r:id="rId5"/>
    <p:sldId id="314" r:id="rId6"/>
    <p:sldId id="259" r:id="rId7"/>
    <p:sldId id="317" r:id="rId8"/>
    <p:sldId id="318" r:id="rId9"/>
    <p:sldId id="315" r:id="rId10"/>
    <p:sldId id="405" r:id="rId11"/>
    <p:sldId id="406" r:id="rId12"/>
    <p:sldId id="404" r:id="rId13"/>
    <p:sldId id="316" r:id="rId14"/>
    <p:sldId id="319" r:id="rId15"/>
    <p:sldId id="325" r:id="rId16"/>
    <p:sldId id="329" r:id="rId17"/>
    <p:sldId id="326" r:id="rId18"/>
    <p:sldId id="327" r:id="rId19"/>
    <p:sldId id="328" r:id="rId20"/>
    <p:sldId id="330" r:id="rId21"/>
    <p:sldId id="321" r:id="rId22"/>
    <p:sldId id="322" r:id="rId23"/>
    <p:sldId id="323" r:id="rId24"/>
    <p:sldId id="331" r:id="rId25"/>
    <p:sldId id="332" r:id="rId26"/>
    <p:sldId id="333" r:id="rId27"/>
    <p:sldId id="324" r:id="rId28"/>
    <p:sldId id="334" r:id="rId29"/>
    <p:sldId id="335" r:id="rId30"/>
    <p:sldId id="336" r:id="rId31"/>
    <p:sldId id="340" r:id="rId32"/>
    <p:sldId id="339" r:id="rId33"/>
    <p:sldId id="337" r:id="rId34"/>
    <p:sldId id="338" r:id="rId35"/>
    <p:sldId id="341" r:id="rId36"/>
    <p:sldId id="342" r:id="rId37"/>
    <p:sldId id="343" r:id="rId38"/>
    <p:sldId id="344" r:id="rId39"/>
    <p:sldId id="345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2" r:id="rId55"/>
    <p:sldId id="363" r:id="rId56"/>
    <p:sldId id="364" r:id="rId57"/>
    <p:sldId id="365" r:id="rId58"/>
    <p:sldId id="366" r:id="rId59"/>
    <p:sldId id="367" r:id="rId60"/>
    <p:sldId id="368" r:id="rId61"/>
    <p:sldId id="369" r:id="rId62"/>
    <p:sldId id="370" r:id="rId63"/>
    <p:sldId id="371" r:id="rId64"/>
    <p:sldId id="320" r:id="rId65"/>
    <p:sldId id="372" r:id="rId66"/>
    <p:sldId id="374" r:id="rId67"/>
    <p:sldId id="375" r:id="rId68"/>
    <p:sldId id="376" r:id="rId69"/>
    <p:sldId id="377" r:id="rId70"/>
    <p:sldId id="378" r:id="rId71"/>
    <p:sldId id="379" r:id="rId72"/>
    <p:sldId id="380" r:id="rId73"/>
    <p:sldId id="381" r:id="rId74"/>
    <p:sldId id="382" r:id="rId75"/>
    <p:sldId id="383" r:id="rId76"/>
    <p:sldId id="385" r:id="rId77"/>
    <p:sldId id="384" r:id="rId78"/>
    <p:sldId id="386" r:id="rId79"/>
    <p:sldId id="387" r:id="rId80"/>
    <p:sldId id="260" r:id="rId81"/>
    <p:sldId id="403" r:id="rId82"/>
    <p:sldId id="388" r:id="rId83"/>
    <p:sldId id="389" r:id="rId84"/>
    <p:sldId id="390" r:id="rId85"/>
    <p:sldId id="391" r:id="rId86"/>
    <p:sldId id="392" r:id="rId87"/>
    <p:sldId id="393" r:id="rId88"/>
    <p:sldId id="395" r:id="rId89"/>
    <p:sldId id="397" r:id="rId90"/>
    <p:sldId id="398" r:id="rId91"/>
    <p:sldId id="399" r:id="rId92"/>
    <p:sldId id="400" r:id="rId93"/>
    <p:sldId id="401" r:id="rId94"/>
    <p:sldId id="402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688" autoAdjust="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/>
    </p:cSldViewPr>
  </p:slideViewPr>
  <p:outlineViewPr>
    <p:cViewPr>
      <p:scale>
        <a:sx n="100" d="100"/>
        <a:sy n="100" d="100"/>
      </p:scale>
      <p:origin x="0" y="-29988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7" Type="http://schemas.openxmlformats.org/officeDocument/2006/relationships/slide" Target="slides/slide13.xml"/><Relationship Id="rId2" Type="http://schemas.openxmlformats.org/officeDocument/2006/relationships/slide" Target="slides/slide8.xml"/><Relationship Id="rId1" Type="http://schemas.openxmlformats.org/officeDocument/2006/relationships/slide" Target="slides/slide7.xml"/><Relationship Id="rId6" Type="http://schemas.openxmlformats.org/officeDocument/2006/relationships/slide" Target="slides/slide12.xml"/><Relationship Id="rId5" Type="http://schemas.openxmlformats.org/officeDocument/2006/relationships/slide" Target="slides/slide11.xml"/><Relationship Id="rId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19FA3A8-D1B3-41D5-A8D2-2DA6E782F06E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9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9ACD-A83F-4330-841C-8F57A1D815E4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87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4323-AB61-4C9C-89A1-3446CCCA273A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9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1CD5-A4F3-461A-B661-68F8558B5406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5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C05-F0A5-4E7D-BBF9-CEC962FE8498}" type="datetime1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E31B-C69A-42FD-BBB3-47935776A9BF}" type="datetime1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7492-0605-4DB8-8C4A-635DDEA75183}" type="datetime1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5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7762E-77BB-44CC-A2D2-EC0FA5CF096B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2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C7C-98AA-4983-8ED7-732DF8CB8BFD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227A-E0A0-41D2-8192-1640ABD6DE7C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8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0586-70BE-4823-8B2B-709EAA954935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25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44B751-1CA6-409F-8B0F-94C00B1FE05C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2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CSE455 - Software Testing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1273139" cy="146304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running the software on a computer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an executable test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fed to the test driver before execution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needs a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 framework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component testing like JUnit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black-box, white-box, and experience-based techniques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 is to check if requirements are fulfilled and failures found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9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DT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that requirements are met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any deviation among requirements and implementation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as little effort as possible to test as many requirements and identify as many failures as possible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1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DT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5425" indent="-22542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test conditions and preconditions, and objective you wish to achieve</a:t>
            </a:r>
          </a:p>
          <a:p>
            <a:pPr marL="225425" indent="-22542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Specify individual test cases</a:t>
            </a:r>
          </a:p>
          <a:p>
            <a:pPr marL="225425" indent="-22542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test execution schedule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formality of the process depends on the maturity of development and test processes, time constraints and skills of the team members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between individual requirements and their corresponding test cases enables us to analyze the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changes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requirements on the testing process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new test cases, discarding redundant test cases, modifying existing test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6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DT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must be defined and documented before test is executed. Violation of this guideline results in an incorrect test result might be interpreted as fault-free, thus allowing a system failure to go unnoticed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Execution Schedule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 test cases thematically according to their objectives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priorities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Technical/Logical dependencies between tests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of test cases to individual testers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3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 framework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testing non-standalone components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environment for dynamic testing is created by emulating the context of the unit under test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 of the unit test consist of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Driver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Caller of the unit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Stubs – Emulation of all the units called by the unit under test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form an executable test setup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under test must be tested in isolation to accurately identify defects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surrounding environment is emulated to avoid side effects and external influences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8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457"/>
            <a:ext cx="10397265" cy="685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1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6" y="366285"/>
            <a:ext cx="10726647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8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observation and control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control (POC)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where you give input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place in the system where the tester provides input or initiates an action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where you control the software behavior by simulating a user or external system</a:t>
            </a:r>
          </a:p>
          <a:p>
            <a:pPr algn="just"/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 a username and password into a login form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field is a point of control because you are sending data to the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8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observation and control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observation (POO)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where you check output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place where you observe the system’s output	or reaction to the input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where you check if the result is correct</a:t>
            </a:r>
          </a:p>
          <a:p>
            <a:pPr algn="just"/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submitting the login form, the system displays a welcome message or an error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output screen is a point of observation because you observe the result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22" y="762000"/>
            <a:ext cx="10488231" cy="5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5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 framework cont..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Driver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Calls the unit under test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input values and checks the actual result against expected output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main routine in this isolated environment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self-contained, with no reliance on external input files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capable of checking return values, internal variables, memory issues (leaks, allocation, deallocation), checks for file status (open/closed) and release other unused resources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Stubs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any unit called by the unit under test (test object)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Minimal implementation:</a:t>
            </a:r>
          </a:p>
          <a:p>
            <a:pPr lvl="2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Print/log a message to confirm invocation</a:t>
            </a:r>
          </a:p>
          <a:p>
            <a:pPr lvl="2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precomputed/dummy values to allow the test to proceed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5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 framework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test object must have its own dedicated test driver and stub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shared test driver across multiple units is discouraged due to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complexity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coupling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of side effects from future changes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Drivers and stubs are not discarded after initial test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are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across the lifecycle of the unit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Reused in regression testing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upon code changes, new faults discovered and platform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9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are derived from specification due to the lack of knowledge about inner working of code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specification-based or behavior-based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techniques that define test cases before coding (such as test-first/test-driven development) are by black box techniques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observation for a black-box test is outside the test object and you need no knowledge of inner structure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 solely on the test object’s input and output 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1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values in the input domain of the program and there are a large number of paths in a program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Partitioning the input into finite number of subdomains and assigning a distinct program path to each of the input subdomains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domain of entire program which is divided into five subdomains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 D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Part of program that specifies which code to execute for each subdomain is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classifier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Program does different computations for different subsets of its input domain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 can be represented by set of predicates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5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 testing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domain is defined, from a geometric perspective, by a set of constraints called boundary inequalities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Closed boundary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If points on the boundary are included in the domain like P2 in above example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boundary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If points on the boundary do not belong to the domain like P1 in the above example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Equality symbol in a relational operator determines whether or not a boundary is closed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Closed domain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boundaries are closed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domain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Some of the boundaries are open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226" y="2726128"/>
            <a:ext cx="4048690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9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8" y="679753"/>
            <a:ext cx="11744830" cy="539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7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predicates, identify and plot each domain: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P1:          x + y &gt; 5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P2:          d &gt;= c + 2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96" y="2977087"/>
            <a:ext cx="5459790" cy="308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5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609" y="391503"/>
            <a:ext cx="6075992" cy="62163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69" y="3329552"/>
            <a:ext cx="5009535" cy="19500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028" y="827316"/>
            <a:ext cx="4288971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ur-PK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98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828800"/>
            <a:ext cx="9720073" cy="402336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three domains 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all those points lying on the indicated straight line.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maximum X and Y span of all the three domains are [−5, 5] and [−5, 5], respectively, give concrete values of test points for domain D3.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56" y="3328416"/>
            <a:ext cx="4180015" cy="325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2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partitioning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partitioning is a black-box testing technique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split into partitions or classes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partition represents a set of values that should be treated the same by the system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 should also applied on output instead of input only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requirements makes boundary of partition unclear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&lt;= 20 or price &lt; 20)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number of test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 closure error – placing (‘&gt;=‘ instead of ‘&gt;’)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one representative value from each class is assumed sufficient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 of partitions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 Equivalence Partition (vEP)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Invalid Equivalence Partition (iEP)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partitioning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655" y="1741715"/>
            <a:ext cx="9720073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the manufacturer to give its dealers various discounts. The corresponding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below $15,000 there is no discount. For prices up to $20,000, a discount of 5%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appropriate. If the price is below $25,000, a 7% discount is possible. If the price is above $25,000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discount of 8.5% is to be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applied. Four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partitions containing valid input values (vEP) can easily be derived for calculating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discount.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 equivalence partition (vEP)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053" y="4143327"/>
            <a:ext cx="8783276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5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 partitioning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999" y="2002972"/>
            <a:ext cx="9720073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Invalid equivalence partitions (iEP)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052" y="2560039"/>
            <a:ext cx="8764223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999" y="2002972"/>
            <a:ext cx="9720073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software system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income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based on adjusted gross income (AGI) according to the following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AGI is between $1 and $29,500, the tax due is 22% of AGI.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AGI is between $29,501 and $58,500, the tax due is 27% of AGI.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AGI is between $58,501 and $100 billion, the tax due is 36% of AGI.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9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998" y="2002972"/>
            <a:ext cx="10481201" cy="446773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input conditions: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1: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 ≤ AGI ≤ $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29,500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  $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29,501 ≤ AGI ≤ $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58,500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  $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58,501 ≤ AGI ≤ $100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 we consider condition 1 to derive two ECs: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EC1: $1≤ AGI ≤ $29,500; valid input.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AGI &lt; 1; invalid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Then, we consider condition 2 to derive on EC: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$29,501 ≤ AGI ≤ $58,500; valid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consider condition 3 to derive two ECs: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EC4: $58,501 ≤ AGI ≤ $100 billion; valid input.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AGI &gt; $100 billion; invalid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998" y="2002972"/>
            <a:ext cx="10481201" cy="4467732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exit criteria can be defined by the relationship between number of tested values and the total number of equivalence partitions: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 coverage = (Number of tested EPs / total number of EPs) x 100%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15 test cases are executed on 18 partitions, coverage will be: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 coverage = (15/18) x 100% = 83.33%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0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value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BVA complements equivalence partitioning by focusing on values at the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(boundaries) of valid and invalid input ranges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bugs tend to cluster at boundaries due to off-by-one errors or incorrect comparison operators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BVA is only applicable when the input data can be ordered (numerically or logically)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boundary, three values are tested: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exact boundary value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value just inside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value just outside</a:t>
            </a:r>
          </a:p>
          <a:p>
            <a:pPr algn="just"/>
            <a:r>
              <a:rPr lang="en-US" dirty="0"/>
              <a:t>−10.0 ≤ X ≤ 10.0 = {−9.9 −10.0,−10.1}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/>
              <a:t> {9.9,10.0,10.1}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4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the five ECs identified in our previous example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tax based on AGI. The BVA technique results in test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follows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EC. The redundant data points may be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eliminated.</a:t>
            </a:r>
          </a:p>
          <a:p>
            <a:pPr algn="just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EC1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$1≤ AGI ≤ $29,500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would result in values of $1, $0, $–1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$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1.50 and $29,499.50, $29,500, $29,500.50.</a:t>
            </a:r>
          </a:p>
          <a:p>
            <a:pPr algn="just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EC2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AGI &lt;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would result in values of $1, $0, $–1, $–100 billion.</a:t>
            </a:r>
          </a:p>
          <a:p>
            <a:pPr algn="just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EC3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$29,501 ≤ AGI ≤ $58,500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would result in values of $29,500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$29,500.50, $29,501, $58,499, $58,500, $58,500.50, $58,501.</a:t>
            </a:r>
          </a:p>
          <a:p>
            <a:pPr algn="just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EC4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$58,501 ≤ AGI ≤$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 billion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would result in values of $58,500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$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58,500.50, $58,501, $100 billion, $101 billion.</a:t>
            </a:r>
          </a:p>
          <a:p>
            <a:pPr algn="just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EC5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AGI &gt; $100 billion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would result in $100 billion, $101 billion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$10000 billion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exit criteria can be defined by the relationship between number of tested values and the total number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= (Number of tested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total number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100%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15 test cases are executed on 18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coverage will be: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= (15/18) x 100% = 83.33%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8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testing technique which focuses 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behavior of the system as it moves from one state to another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history of system inputs and actions, not just current input data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system has finite number of states and output depends on prior events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state machine has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 number of states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Events/inputs that trigger transitions between states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 tied to transitions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behavior (same input each time, same output)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Guard conditions are useful when multiple transitions are possible from a state, guard conditions define which one to take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5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testing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criteria can be identified based on the available resources whether all states are required to test or only subset of critical state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N-switch coverage measures depth of test sequences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0-switch – one transition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1-switch – two transitions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2-switch – three transitions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testing loops/cycles in state machines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testing can be used to test GUIs where each mask/dialog will be a state and user interaction (click, input) will be an event or transition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5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vehicle support over-the-air (OTA) software updates, which can only occur when engine is off.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 OFF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Default idle state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 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Active driving state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State during OTA update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enters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 OFF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state if battery is sufficient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shuts down if the battery is depleted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2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544" y="390618"/>
            <a:ext cx="8512629" cy="5607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6314" y="5997802"/>
            <a:ext cx="426309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 for a vehicle software update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54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38757" y="5495690"/>
            <a:ext cx="482055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table for a vehicle software update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81" y="1850573"/>
            <a:ext cx="9923302" cy="340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table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combinations of input conditions and their effects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 and BVA only focuses on individual input instead of combination of input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table can be drawn directly or with the help of cause and effect diagram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 left – Conditions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 right – All combinations of conditions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left – Actions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right – which actions occur for each combination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decision table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all conditions and actions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combinations of conditions (2n for n conditions)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what actions follow each combination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 redundant columns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decision table for the given scenario: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offer for a limited period is aimed at increasing vehicle sales. All standard models receive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8% discount and all special editions (for which no optional extras are available) a 10% discount.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three extras are selected for a standard model, these receive an additional 15% discount.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receive no additional base discount and no extra discount for additional extras.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0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it a standard model?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it a special edition?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more than 3 extras selected?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8% discount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10% discount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15% discount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discount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7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92" y="2385051"/>
            <a:ext cx="6573167" cy="1286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392" y="4169124"/>
            <a:ext cx="6611273" cy="2438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7097" y="1962370"/>
            <a:ext cx="680186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decision table showing all combinations of conditions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7097" y="3737588"/>
            <a:ext cx="417518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table including “don’t care” cases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7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24128" y="2352874"/>
            <a:ext cx="1075704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can now be consolidated. Test cases 1-4 are identical and can be treated as one, as can test cases 7 and 8.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the following decision table with 4 columns for 4 test cases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517" y="3267247"/>
            <a:ext cx="7875537" cy="293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0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table using cause-effect graphing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cause-effect graph is a formal language into which a natural-language specification is translated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create cause effect graph, follow the steps: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 down the specification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causes and effects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Boolean graph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constraints (optional)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decision table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test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5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356" y="2275114"/>
            <a:ext cx="9720073" cy="402336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(a → b):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= 1, then b = 1; else b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= 1, then b = 0; else b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any input is 1, output 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all inputs are 1, output is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254" y="449346"/>
            <a:ext cx="6420746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1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cause-effect graph for the given scenario: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in column 1 must be an ‘‘A’’ or a ‘‘B.’’ The character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2 must be a digit. In this situation, the file update is made.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character is incorrect, message X12 is issued. If the second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a digit, message X13 is issued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8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1—character in column 1 is ‘‘A’’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2—character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column 1 is ‘‘B’’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3—character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column 2 is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70—update made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71—message X12 is issued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72—message X13 is issued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60" y="2084832"/>
            <a:ext cx="5742606" cy="380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8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ithdrawing cash from an ATM scenario and draw cause-effect diagram and decision table: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customer’s card is valid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PIN is entered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of three PIN input attempts is allowed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Money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available (in the account and in the ATM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possible (re)actions of the ATM are as follows: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card is rejected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is asked to re-enter the PIN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is confiscated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is asked to enter a different sum of money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Money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paid out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691" y="204180"/>
            <a:ext cx="6643309" cy="626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909" y="1960501"/>
            <a:ext cx="8754697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7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possible combination of values for every pair of input variables is covered by at least one test case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every possible pair of input parameter values at least once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bugs are caused by the interaction of two parameters rather than all of them together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3x3 Boolean input (A, B, C), there are 8 total combinations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pairwise testing, only 4 combinations might suffice if each pair (A-B, B-C, A-C) covers all 2x2 value combinations</a:t>
            </a:r>
          </a:p>
          <a:p>
            <a:pPr marL="0" indent="0" algn="just">
              <a:buNone/>
            </a:pP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 array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Every pair occurs same number of times (large)</a:t>
            </a:r>
          </a:p>
          <a:p>
            <a:pPr marL="0" indent="0" algn="just">
              <a:buNone/>
            </a:pP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Covering array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every pair occurs at least once (small)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2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N-wise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of pair-wise: test combinations of n parameters at a time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testing all 3-way combinations (n=3) would cover failures that occur due to interactions between three parameters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pairwise testing is to identify failures that occur due to the interaction of pairs of parameters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Inputs: 10 models, 5 engines, 10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rims × 2 tire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types, 10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 × 3 paint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effects, 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150,000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possible variants would take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 days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testing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0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N-wise testing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of n increases number of test cases that have to be designed and executed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achieve 100% coverage, all test cases have to be executed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value of n is very high, achieving 100% coverage involves a lot of effort and often is not a practical solution</a:t>
            </a:r>
          </a:p>
          <a:p>
            <a:pPr marL="0" indent="0" algn="just">
              <a:buNone/>
            </a:pP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n by 1 once a failure has been discovered and remedied, and to repeat the process until no more failures occur on the next level 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system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has three input variables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X,Y,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Let the notation D(w) denote the set of values for an arbitrary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‘w’.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three given variables X, Y,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their value sets are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follows: 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D(X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)={True, False}, D(Y) ={0,5},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D(Z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={Q,R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384" y="178207"/>
            <a:ext cx="2103632" cy="18482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738" y="3937768"/>
            <a:ext cx="5162852" cy="2257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6686" y="6181927"/>
            <a:ext cx="31149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test cases for system S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7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any two columns at random and find all pairs (not all combinations of 1’s and 2’s). This is an example of L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array. The 4 indicates 4 rows (runs), 2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3 columns (factors), number of possible values in a column (level)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 arrays are denoted by </a:t>
            </a:r>
            <a:r>
              <a:rPr lang="en-US" dirty="0"/>
              <a:t>L</a:t>
            </a:r>
            <a:r>
              <a:rPr lang="en-US" sz="1400" dirty="0"/>
              <a:t>Runs</a:t>
            </a:r>
            <a:r>
              <a:rPr lang="en-US" dirty="0"/>
              <a:t> (Levels</a:t>
            </a:r>
            <a:r>
              <a:rPr lang="en-US" baseline="30000" dirty="0"/>
              <a:t>Factors</a:t>
            </a:r>
            <a:r>
              <a:rPr lang="en-US" dirty="0"/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384" y="178207"/>
            <a:ext cx="2103632" cy="18482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8200" y="6171912"/>
            <a:ext cx="23519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orthogonal array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852" y="3875706"/>
            <a:ext cx="3322622" cy="22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website that is viewed on a number of browsers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various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plug-ins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operating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(OSs) and through different connections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in Table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shows the variables and their values that 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elements of the orthogonal array. We need to test the system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combinations of the input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32543" y="6141196"/>
            <a:ext cx="499373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Various values that need to be tested in combination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977" y="4131679"/>
            <a:ext cx="6673337" cy="19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0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43" y="1760261"/>
            <a:ext cx="3766457" cy="4549099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6672072" cy="40233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and values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the array: The factor 1 to Browser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factor 2 to Plug-in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factor 3 to OS, and the factor 4 to Connection. Let 1 = Netscape, 2 = 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3 = Mozilla in the Browser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column. In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Plug-in column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= Real player and      3 = Media player. Let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1=Windows, 2=Linux,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and3=Macintosh in the OS column. Let 1 = LAN, 2 = PPP, and 3 = ISDN in the Connection column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92143" y="1760261"/>
            <a:ext cx="1143000" cy="3245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61897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54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16051" y="2372024"/>
            <a:ext cx="10623585" cy="5878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top of the Plug-in column and cycle through the possible values when filling in the left-over levels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2143" y="1760261"/>
            <a:ext cx="1143000" cy="3245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1" y="3198277"/>
            <a:ext cx="5468113" cy="32484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41" y="3198277"/>
            <a:ext cx="5449060" cy="31532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91301" y="3124159"/>
            <a:ext cx="1178215" cy="333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/>
          </a:p>
        </p:txBody>
      </p:sp>
      <p:sp>
        <p:nvSpPr>
          <p:cNvPr id="12" name="Rectangle 11"/>
          <p:cNvSpPr/>
          <p:nvPr/>
        </p:nvSpPr>
        <p:spPr>
          <a:xfrm>
            <a:off x="6289384" y="3079065"/>
            <a:ext cx="1178215" cy="333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/>
          </a:p>
        </p:txBody>
      </p:sp>
      <p:sp>
        <p:nvSpPr>
          <p:cNvPr id="6" name="Right Arrow 5"/>
          <p:cNvSpPr/>
          <p:nvPr/>
        </p:nvSpPr>
        <p:spPr>
          <a:xfrm>
            <a:off x="6008914" y="4774884"/>
            <a:ext cx="402772" cy="28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70598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describe interactions between a user (or external system) and the system under test (SUT)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identifying and documenting system requirements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illustrated using use case diagrams, which depict typical user/system interaction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system testing, acceptance testing and occasionally for integration testing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includes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Preconditions – must be true before execution (e.g. customer must logged in)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 conditions – outcomes after use case runs (e.g. order placed)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represents normal behavior and alternatives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testing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checking typical user scenarios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verify that the system behaves correctly under normal conditions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should cover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main flows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alternatives (e.g. ‘extend’ paths)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design requires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 and preconditions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 marL="173736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and post conditions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Exit criteria is that every use case must be covered by at least one or more test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0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testing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734" y="2777461"/>
            <a:ext cx="5730780" cy="3786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4128" y="1961204"/>
            <a:ext cx="1038357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configure a vehicle, a customer has to select a vehicle type. Once this has happened, there are three alternative ways to proceed. The customer can select a special edition, optional extras, or neither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these.</a:t>
            </a:r>
            <a:endParaRPr lang="ur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1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black box testing techniques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7663" indent="-347663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 Testing</a:t>
            </a:r>
          </a:p>
          <a:p>
            <a:pPr marL="347663" indent="-347663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Testing</a:t>
            </a:r>
          </a:p>
          <a:p>
            <a:pPr marL="347663" indent="-347663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Smoke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8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system accepts valid input formats and rejects incorrect ones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formally defined syntax rules (grammar rules, data formats)</a:t>
            </a:r>
          </a:p>
          <a:p>
            <a:pPr marL="0" indent="0" algn="just">
              <a:buNone/>
            </a:pP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whether a form rejects improperly formatted email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5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 system reliability using randomly chosen inputs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values are selected (ideally with a statistical distribution like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find unexpected system behavior under varied input conditions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3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smoke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Quickly checks if the system’s core functions work and it doesn’t crash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Runs a basic set of tests, often automated and reused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early, especially after builds/updates, to decide if deeper testing is worth proceeding with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Named after the idea that if it “doesn’t go up in smoke”, it might be usable!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5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on Black box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user-facing functionality</a:t>
            </a:r>
          </a:p>
          <a:p>
            <a:pPr marL="0" indent="0" algn="just"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the system behaves as expected in common usage scenarios</a:t>
            </a:r>
          </a:p>
          <a:p>
            <a:pPr marL="0" indent="0" algn="just"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 for system and acceptance testing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6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on Black box testing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 the requirements themselves are wrong, black-box testing won’t catch it</a:t>
            </a:r>
          </a:p>
          <a:p>
            <a:pPr marL="0" indent="0" algn="just">
              <a:buNone/>
            </a:pPr>
            <a:r>
              <a:rPr lang="en-US" sz="4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tests based on incorrect assumptions</a:t>
            </a:r>
          </a:p>
          <a:p>
            <a:pPr marL="0" indent="0" algn="just">
              <a:buNone/>
            </a:pPr>
            <a:r>
              <a:rPr lang="en-US" sz="4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verifies what’s explicitly stated, not what might be unintentionally present</a:t>
            </a:r>
          </a:p>
          <a:p>
            <a:pPr marL="0" indent="0" algn="just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checks functional correctness, no internal structure or code quality </a:t>
            </a:r>
          </a:p>
          <a:p>
            <a:pPr marL="0" indent="0" algn="just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assess how well code is written – just it works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2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structure and behavior within the test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structured-based testing or code-related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 of observation (PoC) lies within the test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can be derived from the structure of the application’s code or specification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to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a specified degree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coverage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i.e. 80% of the statements in the test object need to be covered by test cases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every individual statement in code runs at least once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3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differentiate between different types of white-box test techniques: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Testing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Testing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Testing</a:t>
            </a:r>
          </a:p>
          <a:p>
            <a:pPr marL="411480" lvl="2" indent="-22860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testing</a:t>
            </a:r>
          </a:p>
          <a:p>
            <a:pPr marL="411480" lvl="2" indent="-22860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combination testing</a:t>
            </a:r>
          </a:p>
          <a:p>
            <a:pPr marL="411480" lvl="2" indent="-228600" algn="just"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condition decision coverage testing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 Testing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2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testing technique that focuses on executing each individual statement in the program at least once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ensure that all code lines are tested and checked for correctness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graph is created from code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 – statements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Edges – control flow (path between statements)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Unconditional statements are grouped into a single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0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887" y="0"/>
            <a:ext cx="6735113" cy="68280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2256" y="2318658"/>
            <a:ext cx="4310743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is based on a simple piece of code that contains just two IF-statements and a single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case has to traverse all the edges in the following order: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 b, f, g, h, d, e</a:t>
            </a:r>
            <a:endParaRPr lang="ur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4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testing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criteria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 type of test can be clearly defined using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formula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coverage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executed statements / total number of statements)×100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C0 Coverage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considered a basic/weak form of code coverage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Testers aim for 100%, but in practice, some unreachable code may make this impossible without excessive effort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4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each possible decision outcome (True/False) in code is tested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decision (IF, CASE, loop) creates branches (edges in control flow)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Tests must cover all edges (all possible decision outcomes)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Coverage =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(Tested Decision Outcomes / Total Decision Outcomes) x 100%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C1 coverage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testing detects missing logic in IF/ELSE branches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for identifying logic errors than C0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more test cases than statement testing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9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7663" indent="-347663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Testing</a:t>
            </a:r>
          </a:p>
          <a:p>
            <a:pPr marL="347663" indent="-347663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Combination Testing</a:t>
            </a:r>
          </a:p>
          <a:p>
            <a:pPr marL="347663" indent="-347663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Condition Decision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6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each atomic condition (e.g. x &gt; 3, not x &gt; 3 OR y &lt; 5) for both true and false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guarantee different outcomes of the full decision and hence weaker than decision testing</a:t>
            </a:r>
          </a:p>
          <a:p>
            <a:pPr algn="just"/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3 OR y &lt;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x = 6, y = 8 → T OR F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x = 2, y = 3 → F OR T → 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result in T, so we don't know if a bug would affect the overall logic.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3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combination testing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all combinations of conditions in a decision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Subsumes statement and decision testing. Ensures all logical combinations are exercised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Downside – exponential growth 2n combinations for n conditions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all combinations may be realizable due to logical constraints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6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condition combination testing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&lt; 5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(unrealizable):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3 ≤ x AND x &lt; 5, you can’t test (F, F) since a number can't be both &lt; 3 and ≥ 5.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(realizable)</a:t>
            </a: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 (T), y = 3 (T), x &gt; 3 OR y &lt; 5 (T)</a:t>
            </a: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 (T), y = 8 (F), x &gt; 3 OR y &lt; 5 (T)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2 (F), y = 3 (T), x &gt; 3 OR y &lt; 5 (T)</a:t>
            </a:r>
          </a:p>
          <a:p>
            <a:pPr algn="just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 (F), y = 8 (F), x &gt; 3 OR y &lt; 5 (F)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condition decision coverage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condition, ensure that changing its value alone causes a change in the overall decision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Tests only combinations that matter (affect the outcome)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than full combination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for compound decisions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3 OR y &lt; 5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6, y = 8 → T OR F →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2, y = 3 → F OR T →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2, y = 8 → F OR F → F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9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all possible execution paths through a program are tested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more rigorous than statement or branch testing because it covers all combinations of branches and loops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statement or branch testing, loops might be executed once or not at all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 testing forces you to test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 not taken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 taken once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 taken multiple times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crucial because bugs often appears under repeated execution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0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971" y="200062"/>
            <a:ext cx="11255829" cy="6657938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ouble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calculate_price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(double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baseprice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double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specialprice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double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extraprice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extras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double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addon_discount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result;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(extras ≥ 3)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addon_discount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(extras ≥ 5)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addon_discount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15;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addon_discount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(discount 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addon_discount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addon_discount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discount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/100.0 * (100-discount) +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specialprice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/100.0 * (100-addon_discount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result;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6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543" y="1"/>
            <a:ext cx="7108372" cy="68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6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 testing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1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(10000.00,2000.00,1000.00,3,0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(abs (price-12900.00) &lt; 0.01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2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(25500.00,3450.00,6000.00,6,0);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(abs (price-34050.00) &lt; 0.01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test cases cause the following paths through the graph to be executed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a, b, c, j, 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algn="just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a, b, c, j, 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test cases only execute two out of six possible decision outcomes, thus achieving 33% decision coverage (and 6/14,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coverage)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2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 testing cont..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3227" y="1937893"/>
            <a:ext cx="10405002" cy="492010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coverage, following test cases are specified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03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(10000.00,2000.00,1000.00,0,10);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(abs (price-12000.00) &lt; 0.01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04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calculate_price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(25500.00,3450.00,6000.00,6,15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(abs (price-30225.00) &lt; 0.01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cause the following paths through the graph to be executed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03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a, d, g, 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k, l, </a:t>
            </a:r>
          </a:p>
          <a:p>
            <a:pPr algn="just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04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a, b, c, j, k, l,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test cases also execute the edges d, g, 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k, and l, and thus increase coverage to 5/6 decision outcomes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branch coverage of 12/14 = 86%). In this case, edges e and f are not executed.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5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based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the know-how and experience of testers, developers, users and other stakeholders to design test cases, test conditions and test data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coverage is difficult to ascertain and therefore cannot be effectively used as an exit criteria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used in conjunction with black and white box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0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test case derivation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83229"/>
            <a:ext cx="10057529" cy="476794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non-methodical approach to test case design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tester’s intuition, experience and knowledge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referred to as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guessing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are designed based 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Past experience with defects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of common developer mistakes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 into system weaknesses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formal rules or steps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 guesses where error might be based 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Past issues in similar systems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misused functionalities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Helpful when documentation is limited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list based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past bugs, failures, and edge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regularly with new experiences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repeated bugs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better test cases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Remind the tester to cover all aspects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many checklists are tested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checklists to derive test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maintain checklists overtime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3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no proper documentation and more time available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predefined plan, tests evolve as knowledge grows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test object and their tasks and functions are ‘explored’ before deciding which elements to test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virtual model of the system is built in the tester’s mind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unexpected behavior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Drives new tests based on earlier results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 primary (formal) testing technique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VSR-II testers used the knowledge from testing older versions (VSR-I)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based exploratory testing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time-boxing (e.g. 90 minutes per session)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session has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goal (called a ‘Test Charter’)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 scope and focus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finding recorded in session sheets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charter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answer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are we testing?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we testing?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are we testing?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problems are we looking for?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1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testing techniques exist – which one to use and when?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techniques are better suited for specific test levels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better to combine techniques for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coverage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time and budget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vary from informal to formal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5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technique depends on</a:t>
            </a:r>
          </a:p>
          <a:p>
            <a:pPr marL="119063" indent="2286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needs</a:t>
            </a:r>
          </a:p>
          <a:p>
            <a:pPr marL="119063" indent="2286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skills</a:t>
            </a:r>
          </a:p>
          <a:p>
            <a:pPr marL="119063" indent="2286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Regulations</a:t>
            </a:r>
          </a:p>
          <a:p>
            <a:pPr marL="119063" indent="2286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budget</a:t>
            </a:r>
          </a:p>
          <a:p>
            <a:pPr marL="119063" indent="2286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</a:t>
            </a:r>
          </a:p>
          <a:p>
            <a:pPr marL="119063" indent="2286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Type of test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level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black-box and white box techniques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level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use-case or state-transition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non-functional tests like usability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Complexity of the system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logic: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decision testing is enough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logic: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compound condition testing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complexity – more thorough technique required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1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Adherence to standards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 mandate specific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 safety-critical or regulated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includes coverage requirements (e.g., 100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%)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Customer or contractual requirements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may demand: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techniques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test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smoother acceptance testing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5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Testing objectives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include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techniques that align with specific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Risk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components need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Lower-risk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possibly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3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Planned software usage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web form = light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power control system = intensive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risk guides the depth and variety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Available documentation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specs: Can automate test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No/poor docs: Use exploratory testing to learn &amp;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4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Available tools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help with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tool-supported techniques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Knowledge and skills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techniques the team is skilled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not, provide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testers may prefer exploratory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5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 Types of expected faults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Anticipate error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Range errors → Use boundary value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technique to likely fault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 Development model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Agile: Needs frequent, automated tests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V-model: Predefined levels → apply specific techniques at each level.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8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right testing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 Time and budget constraints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Pick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can save time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4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functionality is of central importance to any software system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thorough testing of the test object’s functionality needs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 exist in testing different aspects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equivalence partitioning and boundary value to derive test cases is recommended for every test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dependencies between input values need to be tested, use decision tables to document the dependencies and derive appropriate test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 system testing level, use cases can be used as a basis for deriving test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White-box techniques are best applied to low-level tests, while black-box techniques can be applied on all levels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8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5326</TotalTime>
  <Words>5905</Words>
  <Application>Microsoft Office PowerPoint</Application>
  <PresentationFormat>Widescreen</PresentationFormat>
  <Paragraphs>699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1" baseType="lpstr">
      <vt:lpstr>Arial</vt:lpstr>
      <vt:lpstr>Times New Roman</vt:lpstr>
      <vt:lpstr>Tw Cen MT</vt:lpstr>
      <vt:lpstr>Tw Cen MT Condensed</vt:lpstr>
      <vt:lpstr>Wingdings</vt:lpstr>
      <vt:lpstr>Wingdings 3</vt:lpstr>
      <vt:lpstr>Integral</vt:lpstr>
      <vt:lpstr>CSE455 - Software Testing</vt:lpstr>
      <vt:lpstr>Dynamic testing</vt:lpstr>
      <vt:lpstr>Purpose of DT</vt:lpstr>
      <vt:lpstr>Steps in DT</vt:lpstr>
      <vt:lpstr>Steps in DT cont..</vt:lpstr>
      <vt:lpstr>Unit test framework</vt:lpstr>
      <vt:lpstr>PowerPoint Presentation</vt:lpstr>
      <vt:lpstr>PowerPoint Presentation</vt:lpstr>
      <vt:lpstr>Point of observation and control</vt:lpstr>
      <vt:lpstr>Point of observation and control</vt:lpstr>
      <vt:lpstr>PowerPoint Presentation</vt:lpstr>
      <vt:lpstr>Unit test framework cont..</vt:lpstr>
      <vt:lpstr>Unit test framework cont..</vt:lpstr>
      <vt:lpstr>Black box testing</vt:lpstr>
      <vt:lpstr>Domain testing</vt:lpstr>
      <vt:lpstr>Domain testing cont..</vt:lpstr>
      <vt:lpstr>PowerPoint Presentation</vt:lpstr>
      <vt:lpstr>practice</vt:lpstr>
      <vt:lpstr>PowerPoint Presentation</vt:lpstr>
      <vt:lpstr>practice</vt:lpstr>
      <vt:lpstr>Equivalence partitioning</vt:lpstr>
      <vt:lpstr>Equivalence partitioning</vt:lpstr>
      <vt:lpstr>Equivalence partitioning</vt:lpstr>
      <vt:lpstr>practice</vt:lpstr>
      <vt:lpstr>Solution</vt:lpstr>
      <vt:lpstr>Coverage</vt:lpstr>
      <vt:lpstr>Boundary value analysis</vt:lpstr>
      <vt:lpstr>Example</vt:lpstr>
      <vt:lpstr>Coverage</vt:lpstr>
      <vt:lpstr>State transition testing</vt:lpstr>
      <vt:lpstr>State transition testing Cont..</vt:lpstr>
      <vt:lpstr>Example</vt:lpstr>
      <vt:lpstr>PowerPoint Presentation</vt:lpstr>
      <vt:lpstr>PowerPoint Presentation</vt:lpstr>
      <vt:lpstr>Decision table testing</vt:lpstr>
      <vt:lpstr>Example</vt:lpstr>
      <vt:lpstr>Solution</vt:lpstr>
      <vt:lpstr>Solution cont..</vt:lpstr>
      <vt:lpstr>Solution cont..</vt:lpstr>
      <vt:lpstr>Decision table using cause-effect graphing</vt:lpstr>
      <vt:lpstr>PowerPoint Presentation</vt:lpstr>
      <vt:lpstr>Example</vt:lpstr>
      <vt:lpstr>Solution</vt:lpstr>
      <vt:lpstr>Example</vt:lpstr>
      <vt:lpstr>solution</vt:lpstr>
      <vt:lpstr>solution</vt:lpstr>
      <vt:lpstr>Pairwise testing</vt:lpstr>
      <vt:lpstr>N-wise testing</vt:lpstr>
      <vt:lpstr>N-wise testing Cont..</vt:lpstr>
      <vt:lpstr>Example</vt:lpstr>
      <vt:lpstr>Example cont..</vt:lpstr>
      <vt:lpstr>Example</vt:lpstr>
      <vt:lpstr>Solution</vt:lpstr>
      <vt:lpstr>Solution cont..</vt:lpstr>
      <vt:lpstr>Use case testing</vt:lpstr>
      <vt:lpstr>Use case testing Cont..</vt:lpstr>
      <vt:lpstr>Use case testing Cont..</vt:lpstr>
      <vt:lpstr>Other black box testing techniques</vt:lpstr>
      <vt:lpstr>Syntax Testing</vt:lpstr>
      <vt:lpstr>Random Testing</vt:lpstr>
      <vt:lpstr>smoke Testing</vt:lpstr>
      <vt:lpstr>More on Black box testing</vt:lpstr>
      <vt:lpstr>More on Black box testing</vt:lpstr>
      <vt:lpstr>White box testing</vt:lpstr>
      <vt:lpstr>White box testing cont..</vt:lpstr>
      <vt:lpstr>Statement testing</vt:lpstr>
      <vt:lpstr>PowerPoint Presentation</vt:lpstr>
      <vt:lpstr>Statement testing cont..</vt:lpstr>
      <vt:lpstr>Decision testing</vt:lpstr>
      <vt:lpstr>condition testing</vt:lpstr>
      <vt:lpstr>Branch condition testing</vt:lpstr>
      <vt:lpstr>Branch condition combination testing</vt:lpstr>
      <vt:lpstr>Branch condition combination testing</vt:lpstr>
      <vt:lpstr>Modified condition decision coverage</vt:lpstr>
      <vt:lpstr>Path testing</vt:lpstr>
      <vt:lpstr>PowerPoint Presentation</vt:lpstr>
      <vt:lpstr>PowerPoint Presentation</vt:lpstr>
      <vt:lpstr>Path testing cont..</vt:lpstr>
      <vt:lpstr>Path testing cont..</vt:lpstr>
      <vt:lpstr>Experience based testing</vt:lpstr>
      <vt:lpstr>Intuitive test case derivation</vt:lpstr>
      <vt:lpstr>Check list based testing</vt:lpstr>
      <vt:lpstr>exploratory testing</vt:lpstr>
      <vt:lpstr>Session based exploratory testing</vt:lpstr>
      <vt:lpstr>Choosing right testing technique</vt:lpstr>
      <vt:lpstr>Choosing right testing technique</vt:lpstr>
      <vt:lpstr>Choosing right testing technique</vt:lpstr>
      <vt:lpstr>Choosing right testing technique</vt:lpstr>
      <vt:lpstr>Choosing right testing technique</vt:lpstr>
      <vt:lpstr>Choosing right testing technique</vt:lpstr>
      <vt:lpstr>Choosing right testing technique</vt:lpstr>
      <vt:lpstr>Choosing right testing technique</vt:lpstr>
      <vt:lpstr>Choosing right testing technique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CSE455 - Software Testing</dc:title>
  <dc:creator>aounhaidersandhu@gmail.com</dc:creator>
  <cp:lastModifiedBy>aounhaidersandhu@gmail.com</cp:lastModifiedBy>
  <cp:revision>250</cp:revision>
  <dcterms:created xsi:type="dcterms:W3CDTF">2025-02-15T17:37:41Z</dcterms:created>
  <dcterms:modified xsi:type="dcterms:W3CDTF">2025-05-14T18:08:07Z</dcterms:modified>
</cp:coreProperties>
</file>