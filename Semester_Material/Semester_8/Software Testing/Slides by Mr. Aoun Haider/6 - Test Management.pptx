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7" r:id="rId68"/>
    <p:sldId id="376" r:id="rId69"/>
    <p:sldId id="378" r:id="rId70"/>
    <p:sldId id="379" r:id="rId71"/>
    <p:sldId id="380" r:id="rId72"/>
    <p:sldId id="381" r:id="rId73"/>
    <p:sldId id="382" r:id="rId74"/>
    <p:sldId id="390" r:id="rId75"/>
    <p:sldId id="383" r:id="rId76"/>
    <p:sldId id="384" r:id="rId77"/>
    <p:sldId id="385" r:id="rId78"/>
    <p:sldId id="386" r:id="rId79"/>
    <p:sldId id="387" r:id="rId80"/>
    <p:sldId id="388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688" autoAdjust="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outlineViewPr>
    <p:cViewPr>
      <p:scale>
        <a:sx n="100" d="100"/>
        <a:sy n="100" d="100"/>
      </p:scale>
      <p:origin x="0" y="-299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19FA3A8-D1B3-41D5-A8D2-2DA6E782F06E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9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9ACD-A83F-4330-841C-8F57A1D815E4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87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4323-AB61-4C9C-89A1-3446CCCA273A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9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1CD5-A4F3-461A-B661-68F8558B5406}" type="datetime1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5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C05-F0A5-4E7D-BBF9-CEC962FE8498}" type="datetime1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E31B-C69A-42FD-BBB3-47935776A9BF}" type="datetime1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7492-0605-4DB8-8C4A-635DDEA75183}" type="datetime1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5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7762E-77BB-44CC-A2D2-EC0FA5CF096B}" type="datetime1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C7C-98AA-4983-8ED7-732DF8CB8BFD}" type="datetime1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227A-E0A0-41D2-8192-1640ABD6DE7C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0586-70BE-4823-8B2B-709EAA954935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25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44B751-1CA6-409F-8B0F-94C00B1FE05C}" type="datetime1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2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CSE455 - Software Testing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1273139" cy="146304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Organization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Strategies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Planning, Control and Monitoring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Standards and Norms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needed throughout a software product’s life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quality, testing should be well-coordinated with development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beneficial and efficient to have separate development and testing teams organized independently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testing cont..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Unbiased perspective – Testers see things differently from developers</a:t>
            </a:r>
          </a:p>
          <a:p>
            <a:pPr algn="just"/>
            <a:r>
              <a:rPr 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More defects found – Independent view helps catch missed errors</a:t>
            </a:r>
          </a:p>
          <a:p>
            <a:pPr algn="just"/>
            <a:r>
              <a:rPr 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Critical thinking – Testers challenge assumptions made in code or specifications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Poor communication – If teams are too separate, it can hurt collaboration</a:t>
            </a:r>
          </a:p>
          <a:p>
            <a:pPr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knowledge – Testers may not fully understand the product</a:t>
            </a:r>
          </a:p>
          <a:p>
            <a:pPr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developer responsibility – Developers may rely too much on testers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0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independent testing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esting Teams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Specialists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Service Providers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independent testing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Testing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test each other’s code (not their own)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techniques like buddy or pair testing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Testing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Testers are part of the team but only focus on testing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who are assigned for this role perform all testing activities within the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independent testing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Testing Teams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teams led by test leaders (test manager)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include experts from other departments when needed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Specialists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 in specific aspect of testing (e.g. security, reliability)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project with coaching, automation and training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Service Providers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Outside companies handle some or all testing tasks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insourced (in-house) or outsourced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5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each testing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– model 1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testers if available – model 2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components to be integrated are developed by same team – model 1 or 2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different teams – model 3, 4, 5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complete independence from developers – model 3, 4, 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5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each testing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Development model</a:t>
            </a:r>
          </a:p>
          <a:p>
            <a:pPr lvl="1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V-model projects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strict separation of development and test – model 3-5</a:t>
            </a:r>
          </a:p>
          <a:p>
            <a:pPr lvl="1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projects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Teams work closely – model 1, 2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model 3-5 can also benefit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Specialists support automation and CI/CD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2, 5 can manage automated tests efficiently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3, 5 scale well for large teams or projects</a:t>
            </a:r>
          </a:p>
          <a:p>
            <a:pPr lvl="2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4, 5 provide test coaching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7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roles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 professional testing needs staff with experience in testing, and technical fields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roles involved</a:t>
            </a:r>
          </a:p>
          <a:p>
            <a:pPr marL="347663" lvl="1" indent="-219075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Manager</a:t>
            </a:r>
          </a:p>
          <a:p>
            <a:pPr marL="347663" lvl="1" indent="-219075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 – often split into test analyst, test administrator, </a:t>
            </a:r>
          </a:p>
          <a:p>
            <a:pPr marL="347663" lvl="1" indent="-219075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Multidisciplinary IT Specialists</a:t>
            </a:r>
          </a:p>
          <a:p>
            <a:pPr marL="347663" lvl="1" indent="-219075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Testing Service Providers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2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manager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 and lead all testing activities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Draft test strategies and policies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Build, support, and coach test teams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 with project/product manager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 resources (budget, staff, tools, environment)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0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manager cont..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Level Contributions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test plans, schedules, and status reports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Oversee test case design, automation and execution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defect/configuration management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and evaluate test metrics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 software testing, QA, project and HR management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test management training</a:t>
            </a:r>
          </a:p>
          <a:p>
            <a:pPr marL="174625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performing or supporting testing activities (could be developer, business analyst, domain expert etc.)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test plans and cases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test data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manual and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testing tools and run automated tests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results and report defects</a:t>
            </a:r>
          </a:p>
          <a:p>
            <a:pPr marL="174625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89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 cont..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 needed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IT knowledge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Domain/application expertise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Familiarity with test tools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Certified Tester qualification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Teamwork, diplomacy, assertiveness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Creativity, precision, quick learner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 and problem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8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Multidisciplinary teams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testing requires specific technical or domain expertise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specialists are database designers, network engineers, industry/domain experts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diverse team is complex and requires strong leadership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3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testing service providers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when in-house team lacks time, tools or expertise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setup of optimized test environments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Experienced testers with ready-to-use skills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fill specific role gaps efficiently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specialized or large-scale testing efforts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planning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a complex process that needs detailed planning on both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level – Long-term goals and directions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level – Execution and day-to-day tasks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 is the test manager’s responsibility and starts with aligning the project with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Company’s testing policy or strategy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Project-specific objectives, constraints, risks, and quality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3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Test planning tasks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test object(s)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what will be tested (modules, components, systems)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exclusions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Draft the test objectives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what you’re testing for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criteria per test object and for the overall system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 the testing process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 the company process to the project needs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test levels and how they integrate with other project activities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3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Test planning tasks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testing methods and techniques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suitable testing techniques (manual, automated, etc.)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 necessary training for tools/techniques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test automation options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Specify required infrastructure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required environment and tools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 existing resources and what needed to be acquired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tool and infrastructure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1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Test planning tasks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test metrics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metrics to monitor and control the test process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how and when to react to results</a:t>
            </a: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reporting system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what documents/reports to generate (e.g. test logs, defect reports)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responsibilities for reporting and documentation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templates and tool configurations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0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Test planning tasks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 costing and testing effort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total effort and resource needs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and secure the budget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Revise cost estimates as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4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the testing strategy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of strategic planning is the test strategy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documented in the overall test plan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include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chosen method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to alternative approaches in case of changes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 29119 can be used as a structural reference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may be</a:t>
            </a:r>
          </a:p>
          <a:p>
            <a:pPr lvl="1"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master test plan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(applies broadly)</a:t>
            </a:r>
          </a:p>
          <a:p>
            <a:pPr lvl="1"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level test plan (applies to one test level)</a:t>
            </a:r>
          </a:p>
          <a:p>
            <a:pPr lvl="1"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 strategy (e.g. for usability or performance)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0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the testing strategy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 involves research, discussion, and negotiation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updated as the project progresses and: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evolve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Risks are reassessed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insights are gained from executed tests or pilot feedback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measures may be reduced or dropped based on risk analysis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strategic and operational test planning are continuous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manager must: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Stay critical and flexible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revise plans as the context changes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7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 strategy is crucial as it affects how effective and efficient testing process is under project constraints and minimizes the project risks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core influence: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freedom</a:t>
            </a:r>
          </a:p>
          <a:p>
            <a:pPr lvl="1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knowledge about the project/product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 (based on decision making freedom)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Preventative Approach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Testers involved from the beginning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design of strategy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design reviews, early test specification, static analysis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issues early which results in lower cost, higher quality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safety-critical systems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6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 (based on decision making freedom)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Approach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Testers involved late in the project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must adapt to current state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exploratory testing, on-the-fly design and execution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defect density and limited prevention risk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6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 (based on decision making freedom)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“Start early, Stay involved”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preventative strategy is always recommended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analysis proves</a:t>
            </a:r>
          </a:p>
          <a:p>
            <a:pPr marL="516636" lvl="1" indent="-342900"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testing </a:t>
            </a:r>
            <a:r>
              <a:rPr lang="ur-PK" sz="2400" dirty="0"/>
              <a:t>→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cost savings</a:t>
            </a:r>
          </a:p>
          <a:p>
            <a:pPr marL="516636" lvl="1" indent="-342900"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 testing </a:t>
            </a:r>
            <a:r>
              <a:rPr lang="ur-PK" sz="2400" dirty="0"/>
              <a:t>→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costly fixes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4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 (based on experience)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Approach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metrics, models, and systematic analysis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when accurate data is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testing strategy (based on experience)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Approach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based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expert judgements, rules of thumb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when:</a:t>
            </a:r>
          </a:p>
          <a:p>
            <a:pPr marL="459486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is unavailable</a:t>
            </a:r>
          </a:p>
          <a:p>
            <a:pPr marL="459486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is too complex</a:t>
            </a:r>
          </a:p>
          <a:p>
            <a:pPr marL="459486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Time/resources are limited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4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strategies often mix analytical, heuristic, preventive, and reactive elements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combinations:</a:t>
            </a:r>
          </a:p>
          <a:p>
            <a:pPr marL="459486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based + Exploratory</a:t>
            </a:r>
          </a:p>
          <a:p>
            <a:pPr marL="459486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Cost-driven + Automated reuse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1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based testing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cost efficiency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 simple, broad test instead of in-depth, expensive test cases unless justified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projects with tight budget and timelines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based testing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 risk areas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project/product risks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where implicit or likelihood of failure is highest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mission-critical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2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based testing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models to guide test creation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state machines, fault distribution models, or usage frequency as input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systems requiring systematic coverage 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or process oriented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Meet external/internal compliance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industry standards (e.g. ISO, IEEE), company policies, legal regulations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regulated industries (e.g. finance, healthcare, aviation)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7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Directive (consultative)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Rely on expert judgement and stakeholder input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advice, instincts or experience of domain experts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guided by external stakeholders or consultants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new technologies, unknown domains or startups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Methodical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structured, predefined test conditions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list of common defects, quality attributes, UX/UI or brand standards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UX-driven, QA-mandated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Reuse based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existing assets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test, scripts, environment from previous projects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Setup testing quickly and programmatically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iterative development or product family testing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 based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prior knowledge to guide testing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 to defect lists, know failure modes, risk logs and quality priorities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organizations with a strong testing 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3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testing strategies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averse approach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 existing functionality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automated regression suites, old test cases and data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 test repetition</a:t>
            </a:r>
          </a:p>
          <a:p>
            <a:pPr marL="403225" indent="-2286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large, evolving codebases with frequent 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6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testing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helps prioritize test objectives, techniques, and test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Risk = (Expected Loss) x (Probability of occurrence)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Consequence and cost of product failure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Likelihood of failure based on product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risk estimation, precise definition of loss and probability is rare; use estimated values or ranges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types are classified into</a:t>
            </a:r>
          </a:p>
          <a:p>
            <a:pPr marL="459486" lvl="1" indent="-28575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</a:t>
            </a:r>
          </a:p>
          <a:p>
            <a:pPr marL="459486" lvl="1" indent="-28575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4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Risks that threaten the success or continuation of a project</a:t>
            </a:r>
          </a:p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Supplier issues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Contract breaches, delays, legal issues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Organizational issues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Resource shortage, Training failure, Poor communication, Political conflict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 weakness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Inefficient defect/configuration management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6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Technical issues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Poor/late requirement changes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Unskilled use of new technologies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Defective interim deliverables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Testing environment delays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2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risks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Risks associated with quality and functionality of the deliverable product</a:t>
            </a:r>
          </a:p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doesn’t work or fulfill its purpose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faulty features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or usability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lacks scalability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(e.g. from migration)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causes physical harm or safety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6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approach by project management to reduce or eliminate risk</a:t>
            </a:r>
          </a:p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457200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– Identify potential risks</a:t>
            </a:r>
          </a:p>
          <a:p>
            <a:pPr marL="457200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– Rank based on impact and likelihood</a:t>
            </a:r>
          </a:p>
          <a:p>
            <a:pPr marL="457200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– Define countermeasures</a:t>
            </a:r>
          </a:p>
          <a:p>
            <a:pPr marL="457200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Planning – Prepare for high impact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9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as a risk reducer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provides insights into real-world issues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uncertainty and helps discover hidden risks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confirm that corrective actions are effective</a:t>
            </a:r>
          </a:p>
          <a:p>
            <a:pPr marL="0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cannot prevent project risks (e.g. sick leave) but can mitigate product related consequences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based testing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proactive testing strategy that combats product risks early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approach includes:</a:t>
            </a:r>
          </a:p>
          <a:p>
            <a:pPr marL="459486" lvl="1" indent="-28575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techniques, levels, and types of tests based on risk</a:t>
            </a:r>
          </a:p>
          <a:p>
            <a:pPr marL="459486" lvl="1" indent="-28575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extent of testing (test cases, variants)</a:t>
            </a:r>
          </a:p>
          <a:p>
            <a:pPr marL="459486" lvl="1" indent="-28575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Prioritizing test cases based on risk analysis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evaluation must consider end-user perspective and usage scenarios, also align with insights from stakeholders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inexperienced team members to reduce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high risk components first; Identify major issues early to avoid delays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 equal testing of critical and non-critical features:</a:t>
            </a:r>
          </a:p>
          <a:p>
            <a:pPr marL="459486" lvl="1" indent="-285750"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resource waste</a:t>
            </a:r>
          </a:p>
          <a:p>
            <a:pPr marL="459486" lvl="1" indent="-285750"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adequate focus on important areas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1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effort and cost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cost impacts test planning and strategy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cost is driven by effort, objectives, and associated risks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 of this process is budget estimation and alignment with test goals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cost should reflect:</a:t>
            </a:r>
          </a:p>
          <a:p>
            <a:pPr marL="459486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objectives</a:t>
            </a:r>
          </a:p>
          <a:p>
            <a:pPr marL="459486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risk level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low risk components, extent of testing (number of test cases) can be reduced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high risk components, more rigorous and costly testing is required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testing effort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process maturity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 frequency and complexity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process maturity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pressure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stability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and testability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quality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size and complexity</a:t>
            </a:r>
          </a:p>
          <a:p>
            <a:pPr marL="403225" indent="-284163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 complexity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3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influencing factors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infrastructure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 and environment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processes and techniques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and co-workers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with tools, domains, products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and communication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objectives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egulatory compliance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strategy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levels and techniques, scheduling and iterations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1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testing effort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testing techniques are mutually interdependent, hard to quantify factors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projects</a:t>
            </a:r>
            <a:r>
              <a:rPr lang="ur-PK" sz="2000" dirty="0" smtClean="0"/>
              <a:t>→ 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as a whole; large projects</a:t>
            </a:r>
            <a:r>
              <a:rPr lang="ur-PK" sz="2000" dirty="0"/>
              <a:t> →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per level/iteration</a:t>
            </a: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effort = 25-50% of total development effort</a:t>
            </a:r>
          </a:p>
          <a:p>
            <a:pPr marL="119062" indent="0" algn="just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techniques: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 based estimation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Task by task breakdown by experienced testers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Tends to be overly optimistic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 based estimation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Based on previous similar projects or key performance metrics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More realistic and data-driven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of testing vs cost of defect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testing is reduced: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undetected defects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 risk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total cost per release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testing is increased a lot:</a:t>
            </a:r>
          </a:p>
          <a:p>
            <a:pPr marL="461962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of higher cost or budget overrun</a:t>
            </a:r>
          </a:p>
          <a:p>
            <a:pPr marL="119062" indent="0" algn="just">
              <a:buNone/>
            </a:pPr>
            <a:r>
              <a:rPr lang="en-US" sz="20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 of thumb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risk based testing to put resources on high risk components and reduce testing effort on low risk components</a:t>
            </a:r>
          </a:p>
          <a:p>
            <a:pPr marL="119062" indent="0" algn="just">
              <a:buNone/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Reducing testing effort can ship product with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undiscovered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defects, which can lead towards indirect cost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of flawed product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cost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losses due to incorrect results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damage, personal injury</a:t>
            </a:r>
          </a:p>
          <a:p>
            <a:pPr marL="119062" indent="0" algn="just">
              <a:buNone/>
            </a:pP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cost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dissatisfaction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Legal penalties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Brand/image damage</a:t>
            </a:r>
          </a:p>
          <a:p>
            <a:pPr marL="119062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1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correction cost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correction requires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fixing time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releases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Retraining users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risk analysis, estimate cost probability and impact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depends on product type, industry, number/severity of defects, number of installations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Defects in early phases causes cascading effects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 detection requires rework across phases and results in slower delivery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5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management cycle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Define the testing strategy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Plan test execution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Initiate and monitor test execution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Evaluate and report test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914" y="1736332"/>
            <a:ext cx="4660016" cy="457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0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planning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high-level strategy into actionable test cases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a test execution schedule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consider current software status, test results, and available resources</a:t>
            </a:r>
          </a:p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influencing factors: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stage – If features are missing or changed, test plan need updates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test results – New defects results in new confirmation tests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– Limited staff/time/tools may require cutting or prioritizing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7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planning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the test sequence: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execution planning also involves establishing or optimizing the sequence in which the planned tests are to be executed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sequencing test cases, there must be a balance between test design, test automation, initial execution, regression testing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newly created system tests manually first before automating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6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planning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prioritization: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resources are constrained, focus on high-priority test cases</a:t>
            </a: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criteria: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 frequency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More frequent -&gt; higher chance of failure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 risk defects or failures with customer impact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visibility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Issues easily noticed by user should be tested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importance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features &gt; optional features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qualities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performance, security etc.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critical or failure prone modules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complex code is more error prone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 Effect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Components needing major rework should be tested 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8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planning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Entry criteria: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“Definition of Ready”</a:t>
            </a:r>
            <a:endParaRPr lang="en-US" sz="2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available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tools, test data and test object are ready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too early increases cost and risk</a:t>
            </a:r>
          </a:p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Exit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“Definition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Done”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planned tests executed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coverage (test/requirement/code) achieved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product quality met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Acceptable residual risk threshold not exceeded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exit criteria for vsr-ii system testing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VSR-II test cases are assigned one of three priorities:</a:t>
            </a:r>
          </a:p>
          <a:p>
            <a:pPr marL="119062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priorities, the test plan lists the following test case-based exit criteria for system testing VSR-II:</a:t>
            </a:r>
          </a:p>
          <a:p>
            <a:pPr marL="576262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Priority 1 test cases have run without failure</a:t>
            </a:r>
          </a:p>
          <a:p>
            <a:pPr marL="576262" indent="-4572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60% of Priority 2 test cases have run without failure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these exit criteria are fulfilled, test manager decides whether to deliver the test object.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646" y="2677779"/>
            <a:ext cx="4696480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1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Control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Corrective actions taken to ensure test activities proceed as planned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implementation of test plan and test execution schedule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lanned activities:</a:t>
            </a:r>
          </a:p>
          <a:p>
            <a:pPr marL="578548" lvl="1" indent="-28575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 test tasks to team members</a:t>
            </a:r>
          </a:p>
          <a:p>
            <a:pPr marL="578548" lvl="1" indent="-285750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timely start and completion of these tasks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changes or issues: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Quickly reallocate resources (e.g. staff, tools) to address test backlogs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Improvise solutions when necessary, without waiting for next test 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Control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corrective measures: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initiated fixes are effective (e.g. whether an unmet exit criteria how now been met)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deviations: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 discrepancies from test plan promptly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 extra test cycles if critical issues arise – though this may delay release and time to market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clearly:</a:t>
            </a:r>
          </a:p>
          <a:p>
            <a:pPr marL="578548" lvl="1" indent="-285750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issues beyond the test team’s control to relevant stakeholders</a:t>
            </a:r>
          </a:p>
          <a:p>
            <a:pPr marL="578548" lvl="1" indent="-285750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test cases are dropped (e.g. due to time constraint), document increased risk and include it in test summary report</a:t>
            </a:r>
          </a:p>
          <a:p>
            <a:pPr marL="578548" lvl="1" indent="-285750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project leaders are informed of any risk-arising issues promptly and clearly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4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Cycle monitoring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gathering data and feedback related to all testing activities to track progress and ensure objectives are being met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testing is progressing as planned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if exit criteria are fulfilled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information may include product risk coverage, requirement fulfillment, acceptance criteria completion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can be done manually or automatically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 defined in the test plan are used to:</a:t>
            </a:r>
          </a:p>
          <a:p>
            <a:pPr marL="578548" lvl="1" indent="-285750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testing progress</a:t>
            </a:r>
          </a:p>
          <a:p>
            <a:pPr marL="578548" lvl="1" indent="-285750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alignment with the test execution schedule and budget</a:t>
            </a:r>
          </a:p>
          <a:p>
            <a:pPr marL="578548" lvl="1" indent="-285750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effectiveness of test techniques and strategies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the test manager to make informed decisions and apply corrective actions if necessary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Reports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 and communicate the current state of testing to project managers and other stakeholders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are typically created: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an iteration/test cycle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completion of a specific testing activity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Interim reports can be issued in response to unexpected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Reports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Report: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9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Progress Report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current state of testing in the latest iteration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Brief and iteration specific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test results, progress updates</a:t>
            </a:r>
          </a:p>
          <a:p>
            <a:pPr marL="119062" indent="0" algn="just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9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 Report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Covers all completed test activities across iterations leading up to a release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basis for product release decisions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test manager’s evaluation of whether product can be released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6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recording, communicating, managing defects, faults, and issues found during testing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creation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starts when a failure or defect is found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(e.g. during testing or user report)</a:t>
            </a: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logging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report is structured with consistent information</a:t>
            </a: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responsibility is defined (e.g. who handles it and when)</a:t>
            </a:r>
          </a:p>
          <a:p>
            <a:pPr marL="119062" indent="0" algn="just">
              <a:buNone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resolution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monitored until the defect is fixed or closed</a:t>
            </a:r>
          </a:p>
          <a:p>
            <a:pPr marL="119062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(developer, tester, designer, etc.) must follow the defined process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defect report when a new failure is detected, user reports an issue, a developer finds a fault</a:t>
            </a:r>
          </a:p>
          <a:p>
            <a:pPr marL="119062" indent="0" algn="just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4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each test run, generate a test log that records: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case/step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Expected behavior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Actual behavior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Any deviation between the two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evaluate whether a defect exists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7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52" y="1774128"/>
            <a:ext cx="8945223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1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603296"/>
              </p:ext>
            </p:extLst>
          </p:nvPr>
        </p:nvGraphicFramePr>
        <p:xfrm>
          <a:off x="1023938" y="2286000"/>
          <a:ext cx="9720262" cy="1849120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6270171">
                  <a:extLst>
                    <a:ext uri="{9D8B030D-6E8A-4147-A177-3AD203B41FA5}">
                      <a16:colId xmlns:a16="http://schemas.microsoft.com/office/drawing/2014/main" val="1917764059"/>
                    </a:ext>
                  </a:extLst>
                </a:gridCol>
                <a:gridCol w="3450091">
                  <a:extLst>
                    <a:ext uri="{9D8B030D-6E8A-4147-A177-3AD203B41FA5}">
                      <a16:colId xmlns:a16="http://schemas.microsoft.com/office/drawing/2014/main" val="2773734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7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exists; test correctly fails (defect found)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78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exist; test doesn't catch it (missed defect)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3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fault; test fails wrongly (e.g. bad test case)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fault;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 passes as expected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</a:t>
                      </a:r>
                      <a:endParaRPr lang="ur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1191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25966" y="4572000"/>
            <a:ext cx="6795450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– create or update the defect report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– identify the actual source (e.g. test script, environment)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defects – update the existing report with new insights</a:t>
            </a:r>
          </a:p>
        </p:txBody>
      </p:sp>
    </p:spTree>
    <p:extLst>
      <p:ext uri="{BB962C8B-B14F-4D97-AF65-F5344CB8AC3E}">
        <p14:creationId xmlns:p14="http://schemas.microsoft.com/office/powerpoint/2010/main" val="27078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part of the defect management process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Logged in a defect database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Covers issues like functional defects, requirement errors, documentation faults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communicated clearly among team members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try to analyze or solve the defect – that’s the developer’s job to which defect report will be forwarded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should focus on what happened (effect), where it happened (context), how it affects the systems/user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 must be brief, precise and reproducible (developer should be able to recreate the issue quickly)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4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a project-wide standard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with consistency across other reports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VSR-II reused a proven template from their earlier project which saved a lot of time defining the format for new project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should be adapted to: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size and complexity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life cycle model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 and structure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Criticality of the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1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 template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35" y="1797397"/>
            <a:ext cx="7529336" cy="45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6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defect management tools which helps in: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Auto-generating defect numbers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authors automatically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the workflow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role based access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should all necessary information required for: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reproduction of the issue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localization of faults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process status and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9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defect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defect correction efficiently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attention on what most affects the users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all issues are equal</a:t>
            </a:r>
          </a:p>
          <a:p>
            <a:pPr marL="578548" lvl="1" indent="-285750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crash </a:t>
            </a:r>
            <a:r>
              <a:rPr lang="ur-PK" sz="1900" dirty="0"/>
              <a:t>→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critical</a:t>
            </a:r>
          </a:p>
          <a:p>
            <a:pPr marL="578548" lvl="1" indent="-285750"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 misalignment </a:t>
            </a:r>
            <a:r>
              <a:rPr lang="ur-PK" sz="1900" dirty="0"/>
              <a:t>→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minor</a:t>
            </a:r>
            <a:endParaRPr lang="en-US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“How bad is it?”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impact on product use</a:t>
            </a:r>
          </a:p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1 – critical failure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2 – Major impact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3 – Minor inconvenience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9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defect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“How urgent is it?”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order of correction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on: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other tests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 effort/time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Release deadlines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 ensures that: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Fixes truly resolves the problem</a:t>
            </a:r>
          </a:p>
          <a:p>
            <a:pPr marL="578548" lvl="1" indent="-28575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regression or new issues created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defect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requires end-to-end monitoring of defect analysis and correction process, from discovery and registration to the finished solution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is tracked using “status” attribute and rules which determine which changes of status are possible and/or permissible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status from which a defect passes according to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status model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Defects are found by tester and provided title and description in defect report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 manager assigned the defect to the relevant developer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Test manager rejected the defect because it was favoring change in requirements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 identifies causes of defects, estimation correction effort, and so on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 identify exact part where changes are requires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6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defect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 performs the correction; new defects can also result after change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 passes the corrected defect to tester for again testing (confirmation testing)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If the confirmation testing performed by tester verified the test (expected = actual)</a:t>
            </a:r>
          </a:p>
          <a:p>
            <a:pPr marL="119062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If the confirmation testing performed by tester wasn’t successful; further analysis is required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testers can set status to “done”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fix causes new issues </a:t>
            </a:r>
            <a:r>
              <a:rPr lang="ur-PK" sz="2000" dirty="0" smtClean="0"/>
              <a:t> →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defect report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can be made by individuals (small teams) or by committees (large teams)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 control board (CCB) approves or rejects defect fixes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9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861" y="269724"/>
            <a:ext cx="4722225" cy="59158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39343" y="6185593"/>
            <a:ext cx="2563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 Defect status model</a:t>
            </a:r>
            <a:endParaRPr lang="ur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31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Fault correction priority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55" y="2337539"/>
            <a:ext cx="8497222" cy="290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9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reporting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database is used for quality assessment, adapting test plans, release decisions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are number of defects, correction status and trends (defect rate is flattening)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trends reveal area needing more tests, weak test coverage, requirement issues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defect’s trend analysis helps improving existing processes, VSR-II system has extended its exit criteria by adding further three more criteria: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class 1 defects are “done”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“patch” priority defects are “done”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“new” defects per week is stagnating or decreasing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0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all components of a software system work together correctly, especially in large projects where multiple teams are involved and components exist in different versions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caused by poor CM: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overwrite each other’s work due to unmanaged file access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difficulties from unclear component version compatibility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correction and regression testing become harder due to lack of version traceability</a:t>
            </a:r>
          </a:p>
          <a:p>
            <a:pPr marL="635698" lvl="1" indent="-342900"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between test results due to unclear test object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3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for effect CM in testing: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Treat test objects, test cases, and test data as configuration item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version control with change documentation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 defect reports to affected configuration items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audits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completeness and correctness of configurations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 ensures both development/testing and user environment use valid, consistent configuration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 plans should be project-specific</a:t>
            </a:r>
          </a:p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[IEEE 828] is a standard for configuration management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and norms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software development and testing adhere to recognized quality and regulatory requirements</a:t>
            </a:r>
          </a:p>
          <a:p>
            <a:pPr marL="119062" indent="0" algn="just">
              <a:buNone/>
            </a:pP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standards:</a:t>
            </a:r>
          </a:p>
          <a:p>
            <a:pPr marL="635698" lvl="1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standards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Internal guidelines (e.g. quality manuals, coding rules)</a:t>
            </a:r>
          </a:p>
          <a:p>
            <a:pPr marL="635698" lvl="1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Proven, non-standardized techniques</a:t>
            </a:r>
          </a:p>
          <a:p>
            <a:pPr marL="635698" lvl="1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management standards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[ISO 9000] focusing on process requirements</a:t>
            </a:r>
          </a:p>
          <a:p>
            <a:pPr marL="635698" lvl="1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specific standards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[EN 60601] for medical devices</a:t>
            </a:r>
          </a:p>
          <a:p>
            <a:pPr marL="635698" lvl="1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standards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[ISO 29119] most relevant, outlines professional software testing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2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testing activities should remain separate with regard to staff and organization. The clearer this distinction, the more effective testing will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tasks and roles need to be assigned to people with appropriate specialist skills. As well as technical skills, testers should have comprehensive soft skills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well as overall strategic test planning, a test manager’s tasks also include operational planning, monitoring, and control for each individual test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cycles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manager describes the testing strategy (objectives, tasks, tools, and so on) in the test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testing strategy has to strike the best possible compromise between the cost of testing, the available resources, and the potential costs of insufficient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are prioritized to ensure that less important tests are discarded in the case of a lack of appropriate testing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“Risk” is one of the best criteria to use to prioritize tests. Risk-based testing uses information about identified risks to plan and control all aspects of the testing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exit criteria provide an objective way to judge when testing is complete. A lack of clear exit criteria increases the risk of testing being terminated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randomly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defect and configuration management processes form the bedrock of an efficient testing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119062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reports have to be recorded using a unified, project-wide template and must be tracked through all stages of the subsequent analysis and correction processes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3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14795</TotalTime>
  <Words>4579</Words>
  <Application>Microsoft Office PowerPoint</Application>
  <PresentationFormat>Widescreen</PresentationFormat>
  <Paragraphs>709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Times New Roman</vt:lpstr>
      <vt:lpstr>Tw Cen MT</vt:lpstr>
      <vt:lpstr>Tw Cen MT Condensed</vt:lpstr>
      <vt:lpstr>Wingdings</vt:lpstr>
      <vt:lpstr>Wingdings 3</vt:lpstr>
      <vt:lpstr>Integral</vt:lpstr>
      <vt:lpstr>CSE455 - Software Testing</vt:lpstr>
      <vt:lpstr>Outline</vt:lpstr>
      <vt:lpstr>Independent testing</vt:lpstr>
      <vt:lpstr>Independent testing cont..</vt:lpstr>
      <vt:lpstr>Models of independent testing</vt:lpstr>
      <vt:lpstr>Models of independent testing</vt:lpstr>
      <vt:lpstr>Models of independent testing</vt:lpstr>
      <vt:lpstr>When to use each testing model</vt:lpstr>
      <vt:lpstr>When to use each testing model</vt:lpstr>
      <vt:lpstr>Testing roles</vt:lpstr>
      <vt:lpstr>Test manager</vt:lpstr>
      <vt:lpstr>Test manager cont..</vt:lpstr>
      <vt:lpstr>Tester</vt:lpstr>
      <vt:lpstr>Tester cont..</vt:lpstr>
      <vt:lpstr>Multidisciplinary teams</vt:lpstr>
      <vt:lpstr>External testing service providers</vt:lpstr>
      <vt:lpstr>Test planning</vt:lpstr>
      <vt:lpstr>Strategic Test planning tasks</vt:lpstr>
      <vt:lpstr>Strategic Test planning tasks</vt:lpstr>
      <vt:lpstr>Strategic Test planning tasks</vt:lpstr>
      <vt:lpstr>Strategic Test planning tasks</vt:lpstr>
      <vt:lpstr>Outcome: the testing strategy</vt:lpstr>
      <vt:lpstr>Outcome: the testing strategy</vt:lpstr>
      <vt:lpstr>Selecting a testing strategy</vt:lpstr>
      <vt:lpstr>Selecting a testing strategy (based on decision making freedom)</vt:lpstr>
      <vt:lpstr>Selecting a testing strategy (based on decision making freedom)</vt:lpstr>
      <vt:lpstr>Selecting a testing strategy (based on decision making freedom)</vt:lpstr>
      <vt:lpstr>Selecting a testing strategy (based on experience)</vt:lpstr>
      <vt:lpstr>Selecting a testing strategy (based on experience)</vt:lpstr>
      <vt:lpstr>Concrete testing strategies</vt:lpstr>
      <vt:lpstr>Concrete testing strategies</vt:lpstr>
      <vt:lpstr>Concrete testing strategies</vt:lpstr>
      <vt:lpstr>Concrete testing strategies</vt:lpstr>
      <vt:lpstr>Concrete testing strategies</vt:lpstr>
      <vt:lpstr>Concrete testing strategies</vt:lpstr>
      <vt:lpstr>Risk and testing</vt:lpstr>
      <vt:lpstr>Project risks</vt:lpstr>
      <vt:lpstr>Project risks</vt:lpstr>
      <vt:lpstr>product risks</vt:lpstr>
      <vt:lpstr>Risk management</vt:lpstr>
      <vt:lpstr>Testing as a risk reducer</vt:lpstr>
      <vt:lpstr>Risk based testing</vt:lpstr>
      <vt:lpstr>Testing effort and cost</vt:lpstr>
      <vt:lpstr>Key factors influencing testing effort</vt:lpstr>
      <vt:lpstr>Additional influencing factors</vt:lpstr>
      <vt:lpstr>Estimating testing effort</vt:lpstr>
      <vt:lpstr>Cost of testing vs cost of defect</vt:lpstr>
      <vt:lpstr>Cost of flawed product</vt:lpstr>
      <vt:lpstr>Defect correction cost</vt:lpstr>
      <vt:lpstr>Test management cycle</vt:lpstr>
      <vt:lpstr>Test execution planning</vt:lpstr>
      <vt:lpstr>Test execution planning</vt:lpstr>
      <vt:lpstr>Test execution planning</vt:lpstr>
      <vt:lpstr>Test execution planning</vt:lpstr>
      <vt:lpstr>Case study: exit criteria for vsr-ii system testing</vt:lpstr>
      <vt:lpstr>Test Control</vt:lpstr>
      <vt:lpstr>Test Control</vt:lpstr>
      <vt:lpstr>Test Cycle monitoring</vt:lpstr>
      <vt:lpstr>Test Reports</vt:lpstr>
      <vt:lpstr>Test Reports</vt:lpstr>
      <vt:lpstr>Defect management</vt:lpstr>
      <vt:lpstr>Defect management</vt:lpstr>
      <vt:lpstr>Defect management</vt:lpstr>
      <vt:lpstr>Defect management</vt:lpstr>
      <vt:lpstr>Defect report</vt:lpstr>
      <vt:lpstr>Defect report</vt:lpstr>
      <vt:lpstr>Defect report template</vt:lpstr>
      <vt:lpstr>Defect report</vt:lpstr>
      <vt:lpstr>Classifying defect</vt:lpstr>
      <vt:lpstr>Classifying defect</vt:lpstr>
      <vt:lpstr>Classifying defect</vt:lpstr>
      <vt:lpstr>Classifying defect</vt:lpstr>
      <vt:lpstr>PowerPoint Presentation</vt:lpstr>
      <vt:lpstr>Fault correction priority</vt:lpstr>
      <vt:lpstr>Evaluation and reporting</vt:lpstr>
      <vt:lpstr>Configuration management</vt:lpstr>
      <vt:lpstr>Configuration management</vt:lpstr>
      <vt:lpstr>Standards and norms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CSE455 - Software Testing</dc:title>
  <dc:creator>aounhaidersandhu@gmail.com</dc:creator>
  <cp:lastModifiedBy>aounhaidersandhu@gmail.com</cp:lastModifiedBy>
  <cp:revision>421</cp:revision>
  <dcterms:created xsi:type="dcterms:W3CDTF">2025-02-15T17:37:41Z</dcterms:created>
  <dcterms:modified xsi:type="dcterms:W3CDTF">2025-06-08T13:31:37Z</dcterms:modified>
</cp:coreProperties>
</file>