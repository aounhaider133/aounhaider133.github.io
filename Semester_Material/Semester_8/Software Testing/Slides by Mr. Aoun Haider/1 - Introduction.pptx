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7"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5" r:id="rId14"/>
    <p:sldId id="268" r:id="rId15"/>
    <p:sldId id="269" r:id="rId16"/>
    <p:sldId id="270" r:id="rId17"/>
    <p:sldId id="271" r:id="rId18"/>
    <p:sldId id="272" r:id="rId19"/>
    <p:sldId id="273" r:id="rId20"/>
    <p:sldId id="274"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0" d="100"/>
          <a:sy n="90" d="100"/>
        </p:scale>
        <p:origin x="5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831F96-6684-4EAA-8062-9F110E7FB10A}" type="datetimeFigureOut">
              <a:rPr lang="en-US" smtClean="0"/>
              <a:t>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715207-DA1E-4F5E-9579-B0616A4AFA26}" type="slidenum">
              <a:rPr lang="en-US" smtClean="0"/>
              <a:t>‹#›</a:t>
            </a:fld>
            <a:endParaRPr lang="en-US"/>
          </a:p>
        </p:txBody>
      </p:sp>
    </p:spTree>
    <p:extLst>
      <p:ext uri="{BB962C8B-B14F-4D97-AF65-F5344CB8AC3E}">
        <p14:creationId xmlns:p14="http://schemas.microsoft.com/office/powerpoint/2010/main" val="1840883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919FA3A8-D1B3-41D5-A8D2-2DA6E782F06E}" type="datetime1">
              <a:rPr lang="en-US" smtClean="0"/>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4866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C2F9ACD-A83F-4330-841C-8F57A1D815E4}" type="datetime1">
              <a:rPr lang="en-US" smtClean="0"/>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105677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7174323-AB61-4C9C-89A1-3446CCCA273A}" type="datetime1">
              <a:rPr lang="en-US" smtClean="0"/>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7161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4F1CD5-A4F3-461A-B661-68F8558B5406}" type="datetime1">
              <a:rPr lang="en-US" smtClean="0"/>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810158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C19C05-F0A5-4E7D-BBF9-CEC962FE8498}" type="datetime1">
              <a:rPr lang="en-US" smtClean="0"/>
              <a:t>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4104803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85AE31B-C69A-42FD-BBB3-47935776A9BF}" type="datetime1">
              <a:rPr lang="en-US" smtClean="0"/>
              <a:t>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2087459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37492-0605-4DB8-8C4A-635DDEA75183}" type="datetime1">
              <a:rPr lang="en-US" smtClean="0"/>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4182930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C77762E-77BB-44CC-A2D2-EC0FA5CF096B}" type="datetime1">
              <a:rPr lang="en-US" smtClean="0"/>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1597374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2BB4C7C-98AA-4983-8ED7-732DF8CB8BFD}" type="datetime1">
              <a:rPr lang="en-US" smtClean="0"/>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E5490-7C78-454F-98DE-D1826F8CB87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4030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8F227A-E0A0-41D2-8192-1640ABD6DE7C}" type="datetime1">
              <a:rPr lang="en-US" smtClean="0"/>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762535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14B0586-70BE-4823-8B2B-709EAA954935}" type="datetime1">
              <a:rPr lang="en-US" smtClean="0"/>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9605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744B751-1CA6-409F-8B0F-94C00B1FE05C}" type="datetime1">
              <a:rPr lang="en-US" smtClean="0"/>
              <a:t>2/24/2025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EFE5490-7C78-454F-98DE-D1826F8CB872}"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46742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vsr.testbench.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anose="02020603050405020304" pitchFamily="18" charset="0"/>
                <a:cs typeface="Times New Roman" panose="02020603050405020304" pitchFamily="18" charset="0"/>
              </a:rPr>
              <a:t>CSE455 - Software Testing</a:t>
            </a:r>
            <a:endParaRPr lang="en-US"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Chapter 1</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2746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Course outline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Introduction</a:t>
            </a:r>
          </a:p>
          <a:p>
            <a:r>
              <a:rPr lang="en-US" dirty="0" smtClean="0">
                <a:latin typeface="Times New Roman" panose="02020603050405020304" pitchFamily="18" charset="0"/>
                <a:cs typeface="Times New Roman" panose="02020603050405020304" pitchFamily="18" charset="0"/>
              </a:rPr>
              <a:t>Software testing basics</a:t>
            </a:r>
          </a:p>
          <a:p>
            <a:r>
              <a:rPr lang="en-US" dirty="0" smtClean="0">
                <a:latin typeface="Times New Roman" panose="02020603050405020304" pitchFamily="18" charset="0"/>
                <a:cs typeface="Times New Roman" panose="02020603050405020304" pitchFamily="18" charset="0"/>
              </a:rPr>
              <a:t>Testing throughout the software development life cycle</a:t>
            </a:r>
          </a:p>
          <a:p>
            <a:r>
              <a:rPr lang="en-US" dirty="0" smtClean="0">
                <a:latin typeface="Times New Roman" panose="02020603050405020304" pitchFamily="18" charset="0"/>
                <a:cs typeface="Times New Roman" panose="02020603050405020304" pitchFamily="18" charset="0"/>
              </a:rPr>
              <a:t>Static Testing</a:t>
            </a:r>
          </a:p>
          <a:p>
            <a:r>
              <a:rPr lang="en-US" dirty="0" smtClean="0">
                <a:latin typeface="Times New Roman" panose="02020603050405020304" pitchFamily="18" charset="0"/>
                <a:cs typeface="Times New Roman" panose="02020603050405020304" pitchFamily="18" charset="0"/>
              </a:rPr>
              <a:t>Dynamic Testing</a:t>
            </a:r>
          </a:p>
          <a:p>
            <a:r>
              <a:rPr lang="en-US" dirty="0" smtClean="0">
                <a:latin typeface="Times New Roman" panose="02020603050405020304" pitchFamily="18" charset="0"/>
                <a:cs typeface="Times New Roman" panose="02020603050405020304" pitchFamily="18" charset="0"/>
              </a:rPr>
              <a:t>Test Management</a:t>
            </a:r>
          </a:p>
          <a:p>
            <a:r>
              <a:rPr lang="en-US" dirty="0" smtClean="0">
                <a:latin typeface="Times New Roman" panose="02020603050405020304" pitchFamily="18" charset="0"/>
                <a:cs typeface="Times New Roman" panose="02020603050405020304" pitchFamily="18" charset="0"/>
              </a:rPr>
              <a:t>Testing tools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a:t>
            </a:fld>
            <a:endParaRPr lang="en-US"/>
          </a:p>
        </p:txBody>
      </p:sp>
    </p:spTree>
    <p:extLst>
      <p:ext uri="{BB962C8B-B14F-4D97-AF65-F5344CB8AC3E}">
        <p14:creationId xmlns:p14="http://schemas.microsoft.com/office/powerpoint/2010/main" val="2451449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latin typeface="Times New Roman" panose="02020603050405020304" pitchFamily="18" charset="0"/>
                <a:cs typeface="Times New Roman" panose="02020603050405020304" pitchFamily="18" charset="0"/>
              </a:rPr>
              <a:t>High dependency on software system</a:t>
            </a:r>
            <a:endParaRPr lang="en-US"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Software is everywhere! Nowadays there are virtually no devices, machines, or systems that are not partially or entirely controlled by software.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a:t>
            </a:fld>
            <a:endParaRPr lang="en-US"/>
          </a:p>
        </p:txBody>
      </p:sp>
    </p:spTree>
    <p:extLst>
      <p:ext uri="{BB962C8B-B14F-4D97-AF65-F5344CB8AC3E}">
        <p14:creationId xmlns:p14="http://schemas.microsoft.com/office/powerpoint/2010/main" val="2065449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latin typeface="Times New Roman" panose="02020603050405020304" pitchFamily="18" charset="0"/>
                <a:cs typeface="Times New Roman" panose="02020603050405020304" pitchFamily="18" charset="0"/>
              </a:rPr>
              <a:t>High dependency on software system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Software is everywhere! Nowadays there are virtually no devices, machines, or systems that are not partially or entirely controlled by software.</a:t>
            </a:r>
          </a:p>
          <a:p>
            <a:pPr algn="just"/>
            <a:r>
              <a:rPr lang="en-US" dirty="0" smtClean="0">
                <a:latin typeface="Times New Roman" panose="02020603050405020304" pitchFamily="18" charset="0"/>
                <a:cs typeface="Times New Roman" panose="02020603050405020304" pitchFamily="18" charset="0"/>
              </a:rPr>
              <a:t>Software and software quality therefore not only govern how large parts of our lives function, they are also increasingly important factors in our everyday safety.</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4</a:t>
            </a:fld>
            <a:endParaRPr lang="en-US"/>
          </a:p>
        </p:txBody>
      </p:sp>
    </p:spTree>
    <p:extLst>
      <p:ext uri="{BB962C8B-B14F-4D97-AF65-F5344CB8AC3E}">
        <p14:creationId xmlns:p14="http://schemas.microsoft.com/office/powerpoint/2010/main" val="3386616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latin typeface="Times New Roman" panose="02020603050405020304" pitchFamily="18" charset="0"/>
                <a:cs typeface="Times New Roman" panose="02020603050405020304" pitchFamily="18" charset="0"/>
              </a:rPr>
              <a:t>High dependency on software system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Software is everywhere! Nowadays there are virtually no devices, machines, or systems that are not partially or entirely controlled by software.</a:t>
            </a:r>
          </a:p>
          <a:p>
            <a:pPr algn="just"/>
            <a:r>
              <a:rPr lang="en-US" dirty="0" smtClean="0">
                <a:latin typeface="Times New Roman" panose="02020603050405020304" pitchFamily="18" charset="0"/>
                <a:cs typeface="Times New Roman" panose="02020603050405020304" pitchFamily="18" charset="0"/>
              </a:rPr>
              <a:t>Software and software quality therefore not only govern how large parts of our lives function, they are also increasingly important factors in our everyday safety.</a:t>
            </a:r>
          </a:p>
          <a:p>
            <a:pPr algn="just"/>
            <a:r>
              <a:rPr lang="en-US" dirty="0" smtClean="0">
                <a:latin typeface="Times New Roman" panose="02020603050405020304" pitchFamily="18" charset="0"/>
                <a:cs typeface="Times New Roman" panose="02020603050405020304" pitchFamily="18" charset="0"/>
              </a:rPr>
              <a:t>Smooth functioning of countless companies relies on reliability of software systems.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5</a:t>
            </a:fld>
            <a:endParaRPr lang="en-US"/>
          </a:p>
        </p:txBody>
      </p:sp>
    </p:spTree>
    <p:extLst>
      <p:ext uri="{BB962C8B-B14F-4D97-AF65-F5344CB8AC3E}">
        <p14:creationId xmlns:p14="http://schemas.microsoft.com/office/powerpoint/2010/main" val="3777444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Importance of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Quality is crucial factor for the success of product</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6</a:t>
            </a:fld>
            <a:endParaRPr lang="en-US"/>
          </a:p>
        </p:txBody>
      </p:sp>
    </p:spTree>
    <p:extLst>
      <p:ext uri="{BB962C8B-B14F-4D97-AF65-F5344CB8AC3E}">
        <p14:creationId xmlns:p14="http://schemas.microsoft.com/office/powerpoint/2010/main" val="3532845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Importance of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Quality is crucial factor for the success of product</a:t>
            </a:r>
          </a:p>
          <a:p>
            <a:r>
              <a:rPr lang="en-US" dirty="0" smtClean="0">
                <a:latin typeface="Times New Roman" panose="02020603050405020304" pitchFamily="18" charset="0"/>
                <a:cs typeface="Times New Roman" panose="02020603050405020304" pitchFamily="18" charset="0"/>
              </a:rPr>
              <a:t>Introduction of software evaluation and testing procedures are required</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7</a:t>
            </a:fld>
            <a:endParaRPr lang="en-US"/>
          </a:p>
        </p:txBody>
      </p:sp>
    </p:spTree>
    <p:extLst>
      <p:ext uri="{BB962C8B-B14F-4D97-AF65-F5344CB8AC3E}">
        <p14:creationId xmlns:p14="http://schemas.microsoft.com/office/powerpoint/2010/main" val="3858539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Importance of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Quality is crucial factor for the success of product</a:t>
            </a:r>
          </a:p>
          <a:p>
            <a:r>
              <a:rPr lang="en-US" dirty="0" smtClean="0">
                <a:latin typeface="Times New Roman" panose="02020603050405020304" pitchFamily="18" charset="0"/>
                <a:cs typeface="Times New Roman" panose="02020603050405020304" pitchFamily="18" charset="0"/>
              </a:rPr>
              <a:t>Introduction of software evaluation and testing procedures are required</a:t>
            </a:r>
          </a:p>
          <a:p>
            <a:r>
              <a:rPr lang="en-US" dirty="0" smtClean="0">
                <a:latin typeface="Times New Roman" panose="02020603050405020304" pitchFamily="18" charset="0"/>
                <a:cs typeface="Times New Roman" panose="02020603050405020304" pitchFamily="18" charset="0"/>
              </a:rPr>
              <a:t>Improve overall software quality</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8</a:t>
            </a:fld>
            <a:endParaRPr lang="en-US"/>
          </a:p>
        </p:txBody>
      </p:sp>
    </p:spTree>
    <p:extLst>
      <p:ext uri="{BB962C8B-B14F-4D97-AF65-F5344CB8AC3E}">
        <p14:creationId xmlns:p14="http://schemas.microsoft.com/office/powerpoint/2010/main" val="1323211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Certifications in Software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ISTQB (International Software Testing Qualifications Board) coordinates qualification activities in individual countries and ensures the global consistency and comparability of the syllabi and exam papers</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9</a:t>
            </a:fld>
            <a:endParaRPr lang="en-US"/>
          </a:p>
        </p:txBody>
      </p:sp>
    </p:spTree>
    <p:extLst>
      <p:ext uri="{BB962C8B-B14F-4D97-AF65-F5344CB8AC3E}">
        <p14:creationId xmlns:p14="http://schemas.microsoft.com/office/powerpoint/2010/main" val="138604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Certifications in Software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ISTQB (International Software Testing Qualifications Board) coordinates qualification activities in individual countries and ensures the global consistency and comparability of the syllabi and exam papers</a:t>
            </a:r>
          </a:p>
          <a:p>
            <a:pPr algn="just"/>
            <a:r>
              <a:rPr lang="en-US" i="1" dirty="0" smtClean="0">
                <a:latin typeface="Times New Roman" panose="02020603050405020304" pitchFamily="18" charset="0"/>
                <a:cs typeface="Times New Roman" panose="02020603050405020304" pitchFamily="18" charset="0"/>
              </a:rPr>
              <a:t>National Testing Boards</a:t>
            </a:r>
            <a:r>
              <a:rPr lang="en-US" dirty="0" smtClean="0">
                <a:latin typeface="Times New Roman" panose="02020603050405020304" pitchFamily="18" charset="0"/>
                <a:cs typeface="Times New Roman" panose="02020603050405020304" pitchFamily="18" charset="0"/>
              </a:rPr>
              <a:t> are responsible for publishing and maintaining local content as well as the organization and supervision of exams</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10</a:t>
            </a:fld>
            <a:endParaRPr lang="en-US"/>
          </a:p>
        </p:txBody>
      </p:sp>
    </p:spTree>
    <p:extLst>
      <p:ext uri="{BB962C8B-B14F-4D97-AF65-F5344CB8AC3E}">
        <p14:creationId xmlns:p14="http://schemas.microsoft.com/office/powerpoint/2010/main" val="3879759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Certifications in Software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ISTQB (International Software Testing Qualifications Board) coordinates qualification activities in individual countries and ensures the global consistency and comparability of the syllabi and exam papers</a:t>
            </a:r>
          </a:p>
          <a:p>
            <a:pPr algn="just"/>
            <a:r>
              <a:rPr lang="en-US" i="1" dirty="0" smtClean="0">
                <a:latin typeface="Times New Roman" panose="02020603050405020304" pitchFamily="18" charset="0"/>
                <a:cs typeface="Times New Roman" panose="02020603050405020304" pitchFamily="18" charset="0"/>
              </a:rPr>
              <a:t>National Testing Boards</a:t>
            </a:r>
            <a:r>
              <a:rPr lang="en-US" dirty="0" smtClean="0">
                <a:latin typeface="Times New Roman" panose="02020603050405020304" pitchFamily="18" charset="0"/>
                <a:cs typeface="Times New Roman" panose="02020603050405020304" pitchFamily="18" charset="0"/>
              </a:rPr>
              <a:t> are responsible for publishing and maintaining local content as well as the organization and supervision of exams</a:t>
            </a:r>
          </a:p>
          <a:p>
            <a:pPr algn="just"/>
            <a:r>
              <a:rPr lang="en-US" dirty="0" smtClean="0">
                <a:latin typeface="Times New Roman" panose="02020603050405020304" pitchFamily="18" charset="0"/>
                <a:cs typeface="Times New Roman" panose="02020603050405020304" pitchFamily="18" charset="0"/>
              </a:rPr>
              <a:t>Basics of Software Testing are covered in </a:t>
            </a:r>
            <a:r>
              <a:rPr lang="en-US" i="1" dirty="0" smtClean="0">
                <a:latin typeface="Times New Roman" panose="02020603050405020304" pitchFamily="18" charset="0"/>
                <a:cs typeface="Times New Roman" panose="02020603050405020304" pitchFamily="18" charset="0"/>
              </a:rPr>
              <a:t>Foundation Level</a:t>
            </a:r>
            <a:r>
              <a:rPr lang="en-US" dirty="0" smtClean="0">
                <a:latin typeface="Times New Roman" panose="02020603050405020304" pitchFamily="18" charset="0"/>
                <a:cs typeface="Times New Roman" panose="02020603050405020304" pitchFamily="18" charset="0"/>
              </a:rPr>
              <a:t>, you can further move to </a:t>
            </a:r>
            <a:r>
              <a:rPr lang="en-US" i="1" dirty="0" smtClean="0">
                <a:latin typeface="Times New Roman" panose="02020603050405020304" pitchFamily="18" charset="0"/>
                <a:cs typeface="Times New Roman" panose="02020603050405020304" pitchFamily="18" charset="0"/>
              </a:rPr>
              <a:t>Advance Level</a:t>
            </a:r>
            <a:r>
              <a:rPr lang="en-US" dirty="0" smtClean="0">
                <a:latin typeface="Times New Roman" panose="02020603050405020304" pitchFamily="18" charset="0"/>
                <a:cs typeface="Times New Roman" panose="02020603050405020304" pitchFamily="18" charset="0"/>
              </a:rPr>
              <a:t> exam, which offers deep understanding of evaluation and testing techniques. The </a:t>
            </a:r>
            <a:r>
              <a:rPr lang="en-US" i="1" dirty="0" smtClean="0">
                <a:latin typeface="Times New Roman" panose="02020603050405020304" pitchFamily="18" charset="0"/>
                <a:cs typeface="Times New Roman" panose="02020603050405020304" pitchFamily="18" charset="0"/>
              </a:rPr>
              <a:t>Expert Level</a:t>
            </a:r>
            <a:r>
              <a:rPr lang="en-US" dirty="0" smtClean="0">
                <a:latin typeface="Times New Roman" panose="02020603050405020304" pitchFamily="18" charset="0"/>
                <a:cs typeface="Times New Roman" panose="02020603050405020304" pitchFamily="18" charset="0"/>
              </a:rPr>
              <a:t> certificate is aimed at experienced software testing professionals.</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11</a:t>
            </a:fld>
            <a:endParaRPr lang="en-US"/>
          </a:p>
        </p:txBody>
      </p:sp>
    </p:spTree>
    <p:extLst>
      <p:ext uri="{BB962C8B-B14F-4D97-AF65-F5344CB8AC3E}">
        <p14:creationId xmlns:p14="http://schemas.microsoft.com/office/powerpoint/2010/main" val="1180495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Case Study: </a:t>
            </a:r>
            <a:r>
              <a:rPr lang="en-US" dirty="0" err="1" smtClean="0">
                <a:latin typeface="Times New Roman" panose="02020603050405020304" pitchFamily="18" charset="0"/>
                <a:cs typeface="Times New Roman" panose="02020603050405020304" pitchFamily="18" charset="0"/>
              </a:rPr>
              <a:t>VirtualShowRoom</a:t>
            </a:r>
            <a:r>
              <a:rPr lang="en-US" dirty="0" smtClean="0">
                <a:latin typeface="Times New Roman" panose="02020603050405020304" pitchFamily="18" charset="0"/>
                <a:cs typeface="Times New Roman" panose="02020603050405020304" pitchFamily="18" charset="0"/>
              </a:rPr>
              <a:t> VSR-II</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Electronic sales system managed by a car manufacturer</a:t>
            </a:r>
          </a:p>
          <a:p>
            <a:pPr algn="just"/>
            <a:r>
              <a:rPr lang="en-US" dirty="0" smtClean="0">
                <a:latin typeface="Times New Roman" panose="02020603050405020304" pitchFamily="18" charset="0"/>
                <a:cs typeface="Times New Roman" panose="02020603050405020304" pitchFamily="18" charset="0"/>
              </a:rPr>
              <a:t>Five modules</a:t>
            </a:r>
          </a:p>
          <a:p>
            <a:pPr algn="just"/>
            <a:r>
              <a:rPr lang="en-US" b="1" i="1" dirty="0" err="1" smtClean="0">
                <a:latin typeface="Times New Roman" panose="02020603050405020304" pitchFamily="18" charset="0"/>
                <a:cs typeface="Times New Roman" panose="02020603050405020304" pitchFamily="18" charset="0"/>
              </a:rPr>
              <a:t>DreamCar</a:t>
            </a:r>
            <a:r>
              <a:rPr lang="en-US" b="1" i="1"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Customers can configure their vehicle ( model, color, extras, and so on) and calculate price</a:t>
            </a:r>
          </a:p>
          <a:p>
            <a:pPr algn="just"/>
            <a:r>
              <a:rPr lang="en-US" b="1" i="1" dirty="0" err="1" smtClean="0">
                <a:latin typeface="Times New Roman" panose="02020603050405020304" pitchFamily="18" charset="0"/>
                <a:cs typeface="Times New Roman" panose="02020603050405020304" pitchFamily="18" charset="0"/>
              </a:rPr>
              <a:t>EasyFinance</a:t>
            </a:r>
            <a:r>
              <a:rPr lang="en-US" b="1" i="1"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for optimal financing</a:t>
            </a:r>
          </a:p>
          <a:p>
            <a:pPr algn="just"/>
            <a:r>
              <a:rPr lang="en-US" b="1" i="1" dirty="0" err="1" smtClean="0">
                <a:latin typeface="Times New Roman" panose="02020603050405020304" pitchFamily="18" charset="0"/>
                <a:cs typeface="Times New Roman" panose="02020603050405020304" pitchFamily="18" charset="0"/>
              </a:rPr>
              <a:t>JustInTime</a:t>
            </a:r>
            <a:r>
              <a:rPr lang="en-US" b="1" i="1"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to order the vehicle</a:t>
            </a:r>
          </a:p>
          <a:p>
            <a:pPr algn="just"/>
            <a:r>
              <a:rPr lang="en-US" b="1" i="1" dirty="0" err="1" smtClean="0">
                <a:latin typeface="Times New Roman" panose="02020603050405020304" pitchFamily="18" charset="0"/>
                <a:cs typeface="Times New Roman" panose="02020603050405020304" pitchFamily="18" charset="0"/>
              </a:rPr>
              <a:t>NoRisk</a:t>
            </a:r>
            <a:r>
              <a:rPr lang="en-US" b="1" i="1"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Select insurance</a:t>
            </a:r>
          </a:p>
          <a:p>
            <a:pPr algn="just"/>
            <a:r>
              <a:rPr lang="en-US" b="1" i="1" dirty="0" err="1" smtClean="0">
                <a:latin typeface="Times New Roman" panose="02020603050405020304" pitchFamily="18" charset="0"/>
                <a:cs typeface="Times New Roman" panose="02020603050405020304" pitchFamily="18" charset="0"/>
              </a:rPr>
              <a:t>FactBook</a:t>
            </a:r>
            <a:r>
              <a:rPr lang="en-US" b="1" i="1"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manages all customer and contract data</a:t>
            </a:r>
          </a:p>
          <a:p>
            <a:pPr algn="just"/>
            <a:endParaRPr lang="en-US" dirty="0" smtClean="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12</a:t>
            </a:fld>
            <a:endParaRPr lang="en-US"/>
          </a:p>
        </p:txBody>
      </p:sp>
    </p:spTree>
    <p:extLst>
      <p:ext uri="{BB962C8B-B14F-4D97-AF65-F5344CB8AC3E}">
        <p14:creationId xmlns:p14="http://schemas.microsoft.com/office/powerpoint/2010/main" val="1901205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77763" y="226902"/>
            <a:ext cx="8164064" cy="6011114"/>
          </a:xfrm>
          <a:prstGeom prst="rect">
            <a:avLst/>
          </a:prstGeom>
        </p:spPr>
      </p:pic>
      <p:sp>
        <p:nvSpPr>
          <p:cNvPr id="7" name="Slide Number Placeholder 6"/>
          <p:cNvSpPr>
            <a:spLocks noGrp="1"/>
          </p:cNvSpPr>
          <p:nvPr>
            <p:ph type="sldNum" sz="quarter" idx="12"/>
          </p:nvPr>
        </p:nvSpPr>
        <p:spPr/>
        <p:txBody>
          <a:bodyPr/>
          <a:lstStyle/>
          <a:p>
            <a:fld id="{FEFE5490-7C78-454F-98DE-D1826F8CB872}" type="slidenum">
              <a:rPr lang="en-US" smtClean="0"/>
              <a:t>13</a:t>
            </a:fld>
            <a:endParaRPr lang="en-US"/>
          </a:p>
        </p:txBody>
      </p:sp>
    </p:spTree>
    <p:extLst>
      <p:ext uri="{BB962C8B-B14F-4D97-AF65-F5344CB8AC3E}">
        <p14:creationId xmlns:p14="http://schemas.microsoft.com/office/powerpoint/2010/main" val="2574741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manufacturer’s sales and marketing department has decided to update the system and has defined the following objectives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14</a:t>
            </a:fld>
            <a:endParaRPr lang="en-US"/>
          </a:p>
        </p:txBody>
      </p:sp>
    </p:spTree>
    <p:extLst>
      <p:ext uri="{BB962C8B-B14F-4D97-AF65-F5344CB8AC3E}">
        <p14:creationId xmlns:p14="http://schemas.microsoft.com/office/powerpoint/2010/main" val="1368079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manufacturer’s sales and marketing department has decided to update the system and has defined the following objectives</a:t>
            </a:r>
          </a:p>
          <a:p>
            <a:r>
              <a:rPr lang="en-US" dirty="0" smtClean="0">
                <a:latin typeface="Times New Roman" panose="02020603050405020304" pitchFamily="18" charset="0"/>
                <a:cs typeface="Times New Roman" panose="02020603050405020304" pitchFamily="18" charset="0"/>
              </a:rPr>
              <a:t>VSR is a traditional client-server system. The new VSR-II will be web based and will be accessible on all types of devices</a:t>
            </a:r>
          </a:p>
          <a:p>
            <a:r>
              <a:rPr lang="en-US" dirty="0" smtClean="0">
                <a:latin typeface="Times New Roman" panose="02020603050405020304" pitchFamily="18" charset="0"/>
                <a:cs typeface="Times New Roman" panose="02020603050405020304" pitchFamily="18" charset="0"/>
              </a:rPr>
              <a:t>The </a:t>
            </a:r>
            <a:r>
              <a:rPr lang="en-US" i="1" dirty="0" err="1" smtClean="0">
                <a:latin typeface="Times New Roman" panose="02020603050405020304" pitchFamily="18" charset="0"/>
                <a:cs typeface="Times New Roman" panose="02020603050405020304" pitchFamily="18" charset="0"/>
              </a:rPr>
              <a:t>DreamCar</a:t>
            </a:r>
            <a:r>
              <a:rPr lang="en-US" dirty="0" smtClean="0">
                <a:latin typeface="Times New Roman" panose="02020603050405020304" pitchFamily="18" charset="0"/>
                <a:cs typeface="Times New Roman" panose="02020603050405020304" pitchFamily="18" charset="0"/>
              </a:rPr>
              <a:t>, </a:t>
            </a:r>
            <a:r>
              <a:rPr lang="en-US" i="1" dirty="0" err="1" smtClean="0">
                <a:latin typeface="Times New Roman" panose="02020603050405020304" pitchFamily="18" charset="0"/>
                <a:cs typeface="Times New Roman" panose="02020603050405020304" pitchFamily="18" charset="0"/>
              </a:rPr>
              <a:t>EasyFinance</a:t>
            </a:r>
            <a:r>
              <a:rPr lang="en-US" dirty="0" smtClean="0">
                <a:latin typeface="Times New Roman" panose="02020603050405020304" pitchFamily="18" charset="0"/>
                <a:cs typeface="Times New Roman" panose="02020603050405020304" pitchFamily="18" charset="0"/>
              </a:rPr>
              <a:t>, </a:t>
            </a:r>
            <a:r>
              <a:rPr lang="en-US" i="1" dirty="0" err="1" smtClean="0">
                <a:latin typeface="Times New Roman" panose="02020603050405020304" pitchFamily="18" charset="0"/>
                <a:cs typeface="Times New Roman" panose="02020603050405020304" pitchFamily="18" charset="0"/>
              </a:rPr>
              <a:t>FactBook</a:t>
            </a:r>
            <a:r>
              <a:rPr lang="en-US" dirty="0" smtClean="0">
                <a:latin typeface="Times New Roman" panose="02020603050405020304" pitchFamily="18" charset="0"/>
                <a:cs typeface="Times New Roman" panose="02020603050405020304" pitchFamily="18" charset="0"/>
              </a:rPr>
              <a:t>, </a:t>
            </a:r>
            <a:r>
              <a:rPr lang="en-US" i="1" dirty="0" err="1" smtClean="0">
                <a:latin typeface="Times New Roman" panose="02020603050405020304" pitchFamily="18" charset="0"/>
                <a:cs typeface="Times New Roman" panose="02020603050405020304" pitchFamily="18" charset="0"/>
              </a:rPr>
              <a:t>JustInTime</a:t>
            </a:r>
            <a:r>
              <a:rPr lang="en-US" dirty="0" smtClean="0">
                <a:latin typeface="Times New Roman" panose="02020603050405020304" pitchFamily="18" charset="0"/>
                <a:cs typeface="Times New Roman" panose="02020603050405020304" pitchFamily="18" charset="0"/>
              </a:rPr>
              <a:t>, and </a:t>
            </a:r>
            <a:r>
              <a:rPr lang="en-US" i="1" dirty="0" err="1" smtClean="0">
                <a:latin typeface="Times New Roman" panose="02020603050405020304" pitchFamily="18" charset="0"/>
                <a:cs typeface="Times New Roman" panose="02020603050405020304" pitchFamily="18" charset="0"/>
              </a:rPr>
              <a:t>NoRisk</a:t>
            </a:r>
            <a:r>
              <a:rPr lang="en-US" dirty="0" smtClean="0">
                <a:latin typeface="Times New Roman" panose="02020603050405020304" pitchFamily="18" charset="0"/>
                <a:cs typeface="Times New Roman" panose="02020603050405020304" pitchFamily="18" charset="0"/>
              </a:rPr>
              <a:t> modules will be ported to the new technology</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15</a:t>
            </a:fld>
            <a:endParaRPr lang="en-US"/>
          </a:p>
        </p:txBody>
      </p:sp>
    </p:spTree>
    <p:extLst>
      <p:ext uri="{BB962C8B-B14F-4D97-AF65-F5344CB8AC3E}">
        <p14:creationId xmlns:p14="http://schemas.microsoft.com/office/powerpoint/2010/main" val="305612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The new </a:t>
            </a:r>
            <a:r>
              <a:rPr lang="en-US" i="1" dirty="0" err="1" smtClean="0">
                <a:latin typeface="Times New Roman" panose="02020603050405020304" pitchFamily="18" charset="0"/>
                <a:cs typeface="Times New Roman" panose="02020603050405020304" pitchFamily="18" charset="0"/>
              </a:rPr>
              <a:t>ConnectedCar</a:t>
            </a:r>
            <a:r>
              <a:rPr lang="en-US" dirty="0" smtClean="0">
                <a:latin typeface="Times New Roman" panose="02020603050405020304" pitchFamily="18" charset="0"/>
                <a:cs typeface="Times New Roman" panose="02020603050405020304" pitchFamily="18" charset="0"/>
              </a:rPr>
              <a:t> module is to be integrated into the system. This module collects and manages status data for all vehicles sold, and communicates data relating to scheduled maintenance and repairs to the driver as well as to the dealership and/or service partner.</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16</a:t>
            </a:fld>
            <a:endParaRPr lang="en-US"/>
          </a:p>
        </p:txBody>
      </p:sp>
    </p:spTree>
    <p:extLst>
      <p:ext uri="{BB962C8B-B14F-4D97-AF65-F5344CB8AC3E}">
        <p14:creationId xmlns:p14="http://schemas.microsoft.com/office/powerpoint/2010/main" val="3595924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The new </a:t>
            </a:r>
            <a:r>
              <a:rPr lang="en-US" i="1" dirty="0" err="1" smtClean="0">
                <a:latin typeface="Times New Roman" panose="02020603050405020304" pitchFamily="18" charset="0"/>
                <a:cs typeface="Times New Roman" panose="02020603050405020304" pitchFamily="18" charset="0"/>
              </a:rPr>
              <a:t>ConnectedCar</a:t>
            </a:r>
            <a:r>
              <a:rPr lang="en-US" dirty="0" smtClean="0">
                <a:latin typeface="Times New Roman" panose="02020603050405020304" pitchFamily="18" charset="0"/>
                <a:cs typeface="Times New Roman" panose="02020603050405020304" pitchFamily="18" charset="0"/>
              </a:rPr>
              <a:t> module is to be integrated into the system. This module collects and manages status data for all vehicles sold, and communicates data relating to scheduled maintenance and repairs to the driver as well as to the dealership and/or service partner.</a:t>
            </a:r>
          </a:p>
          <a:p>
            <a:pPr algn="just"/>
            <a:r>
              <a:rPr lang="en-US" dirty="0" smtClean="0">
                <a:latin typeface="Times New Roman" panose="02020603050405020304" pitchFamily="18" charset="0"/>
                <a:cs typeface="Times New Roman" panose="02020603050405020304" pitchFamily="18" charset="0"/>
              </a:rPr>
              <a:t>Each of the five existing modules will be ported and developed by a dedicated team. An additional team will develop the new </a:t>
            </a:r>
            <a:r>
              <a:rPr lang="en-US" i="1" dirty="0" err="1" smtClean="0">
                <a:latin typeface="Times New Roman" panose="02020603050405020304" pitchFamily="18" charset="0"/>
                <a:cs typeface="Times New Roman" panose="02020603050405020304" pitchFamily="18" charset="0"/>
              </a:rPr>
              <a:t>ConnectedCar</a:t>
            </a:r>
            <a:r>
              <a:rPr lang="en-US" dirty="0" smtClean="0">
                <a:latin typeface="Times New Roman" panose="02020603050405020304" pitchFamily="18" charset="0"/>
                <a:cs typeface="Times New Roman" panose="02020603050405020304" pitchFamily="18" charset="0"/>
              </a:rPr>
              <a:t> module. The project employs a total of 60 developers and other specialists from internal company departments as well as a number of external software companies.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17</a:t>
            </a:fld>
            <a:endParaRPr lang="en-US"/>
          </a:p>
        </p:txBody>
      </p:sp>
    </p:spTree>
    <p:extLst>
      <p:ext uri="{BB962C8B-B14F-4D97-AF65-F5344CB8AC3E}">
        <p14:creationId xmlns:p14="http://schemas.microsoft.com/office/powerpoint/2010/main" val="509500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The teams will work using the </a:t>
            </a:r>
            <a:r>
              <a:rPr lang="en-US" i="1" dirty="0" smtClean="0">
                <a:latin typeface="Times New Roman" panose="02020603050405020304" pitchFamily="18" charset="0"/>
                <a:cs typeface="Times New Roman" panose="02020603050405020304" pitchFamily="18" charset="0"/>
              </a:rPr>
              <a:t>Scrum</a:t>
            </a:r>
            <a:r>
              <a:rPr lang="en-US" dirty="0" smtClean="0">
                <a:latin typeface="Times New Roman" panose="02020603050405020304" pitchFamily="18" charset="0"/>
                <a:cs typeface="Times New Roman" panose="02020603050405020304" pitchFamily="18" charset="0"/>
              </a:rPr>
              <a:t> principles of agile development. This agile approach requires each module to be tested during each iteration. The system is to be delivered incrementally.</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18</a:t>
            </a:fld>
            <a:endParaRPr lang="en-US"/>
          </a:p>
        </p:txBody>
      </p:sp>
    </p:spTree>
    <p:extLst>
      <p:ext uri="{BB962C8B-B14F-4D97-AF65-F5344CB8AC3E}">
        <p14:creationId xmlns:p14="http://schemas.microsoft.com/office/powerpoint/2010/main" val="3253597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The teams will work using the </a:t>
            </a:r>
            <a:r>
              <a:rPr lang="en-US" i="1" dirty="0" smtClean="0">
                <a:latin typeface="Times New Roman" panose="02020603050405020304" pitchFamily="18" charset="0"/>
                <a:cs typeface="Times New Roman" panose="02020603050405020304" pitchFamily="18" charset="0"/>
              </a:rPr>
              <a:t>Scrum</a:t>
            </a:r>
            <a:r>
              <a:rPr lang="en-US" dirty="0" smtClean="0">
                <a:latin typeface="Times New Roman" panose="02020603050405020304" pitchFamily="18" charset="0"/>
                <a:cs typeface="Times New Roman" panose="02020603050405020304" pitchFamily="18" charset="0"/>
              </a:rPr>
              <a:t> principles of agile development. This agile approach requires each module to be tested during each iteration. The system is to be delivered incrementally.</a:t>
            </a:r>
          </a:p>
          <a:p>
            <a:pPr algn="just"/>
            <a:r>
              <a:rPr lang="en-US" dirty="0" smtClean="0">
                <a:latin typeface="Times New Roman" panose="02020603050405020304" pitchFamily="18" charset="0"/>
                <a:cs typeface="Times New Roman" panose="02020603050405020304" pitchFamily="18" charset="0"/>
              </a:rPr>
              <a:t>In order to avoid complex repeat data comparisons between the old and new systems, </a:t>
            </a:r>
            <a:r>
              <a:rPr lang="en-US" i="1" dirty="0" smtClean="0">
                <a:latin typeface="Times New Roman" panose="02020603050405020304" pitchFamily="18" charset="0"/>
                <a:cs typeface="Times New Roman" panose="02020603050405020304" pitchFamily="18" charset="0"/>
              </a:rPr>
              <a:t>VSR-II</a:t>
            </a:r>
            <a:r>
              <a:rPr lang="en-US" dirty="0" smtClean="0">
                <a:latin typeface="Times New Roman" panose="02020603050405020304" pitchFamily="18" charset="0"/>
                <a:cs typeface="Times New Roman" panose="02020603050405020304" pitchFamily="18" charset="0"/>
              </a:rPr>
              <a:t> will only go live once it is able to duplicate the functionality provided by the original </a:t>
            </a:r>
            <a:r>
              <a:rPr lang="en-US" i="1" dirty="0" smtClean="0">
                <a:latin typeface="Times New Roman" panose="02020603050405020304" pitchFamily="18" charset="0"/>
                <a:cs typeface="Times New Roman" panose="02020603050405020304" pitchFamily="18" charset="0"/>
              </a:rPr>
              <a:t>VSR</a:t>
            </a:r>
            <a:r>
              <a:rPr lang="en-US" dirty="0" smtClean="0">
                <a:latin typeface="Times New Roman" panose="02020603050405020304" pitchFamily="18" charset="0"/>
                <a:cs typeface="Times New Roman" panose="02020603050405020304" pitchFamily="18" charset="0"/>
              </a:rPr>
              <a:t> system</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19</a:t>
            </a:fld>
            <a:endParaRPr lang="en-US"/>
          </a:p>
        </p:txBody>
      </p:sp>
    </p:spTree>
    <p:extLst>
      <p:ext uri="{BB962C8B-B14F-4D97-AF65-F5344CB8AC3E}">
        <p14:creationId xmlns:p14="http://schemas.microsoft.com/office/powerpoint/2010/main" val="1574565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514350" indent="-514350" algn="just">
              <a:buAutoNum type="arabicPeriod"/>
            </a:pPr>
            <a:r>
              <a:rPr lang="en-US" dirty="0" smtClean="0">
                <a:latin typeface="Times New Roman" panose="02020603050405020304" pitchFamily="18" charset="0"/>
                <a:cs typeface="Times New Roman" panose="02020603050405020304" pitchFamily="18" charset="0"/>
              </a:rPr>
              <a:t>Visit </a:t>
            </a:r>
            <a:r>
              <a:rPr lang="en-US" dirty="0" smtClean="0">
                <a:latin typeface="Times New Roman" panose="02020603050405020304" pitchFamily="18" charset="0"/>
                <a:cs typeface="Times New Roman" panose="02020603050405020304" pitchFamily="18" charset="0"/>
                <a:hlinkClick r:id="rId2"/>
              </a:rPr>
              <a:t>http://vsr.testbench.com/</a:t>
            </a:r>
            <a:endParaRPr lang="en-US" dirty="0">
              <a:latin typeface="Times New Roman" panose="02020603050405020304" pitchFamily="18" charset="0"/>
              <a:cs typeface="Times New Roman" panose="02020603050405020304" pitchFamily="18" charset="0"/>
            </a:endParaRPr>
          </a:p>
          <a:p>
            <a:pPr marL="514350" indent="-514350" algn="just">
              <a:buAutoNum type="arabicPeriod"/>
            </a:pPr>
            <a:r>
              <a:rPr lang="en-US" dirty="0" smtClean="0">
                <a:latin typeface="Times New Roman" panose="02020603050405020304" pitchFamily="18" charset="0"/>
                <a:cs typeface="Times New Roman" panose="02020603050405020304" pitchFamily="18" charset="0"/>
              </a:rPr>
              <a:t>Create your personal VSR-II training workspace</a:t>
            </a:r>
          </a:p>
          <a:p>
            <a:pPr marL="514350" indent="-514350" algn="just">
              <a:buAutoNum type="arabicPeriod"/>
            </a:pPr>
            <a:r>
              <a:rPr lang="en-US" dirty="0" smtClean="0">
                <a:latin typeface="Times New Roman" panose="02020603050405020304" pitchFamily="18" charset="0"/>
                <a:cs typeface="Times New Roman" panose="02020603050405020304" pitchFamily="18" charset="0"/>
              </a:rPr>
              <a:t>Log into your VSR-II workspace and start</a:t>
            </a:r>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EFE5490-7C78-454F-98DE-D1826F8CB872}" type="slidenum">
              <a:rPr lang="en-US" smtClean="0"/>
              <a:t>20</a:t>
            </a:fld>
            <a:endParaRPr lang="en-US"/>
          </a:p>
        </p:txBody>
      </p:sp>
      <p:pic>
        <p:nvPicPr>
          <p:cNvPr id="4" name="Picture 3"/>
          <p:cNvPicPr>
            <a:picLocks noChangeAspect="1"/>
          </p:cNvPicPr>
          <p:nvPr/>
        </p:nvPicPr>
        <p:blipFill>
          <a:blip r:embed="rId3"/>
          <a:stretch>
            <a:fillRect/>
          </a:stretch>
        </p:blipFill>
        <p:spPr>
          <a:xfrm>
            <a:off x="2456121" y="3669926"/>
            <a:ext cx="6630030" cy="3188074"/>
          </a:xfrm>
          <a:prstGeom prst="rect">
            <a:avLst/>
          </a:prstGeom>
        </p:spPr>
      </p:pic>
    </p:spTree>
    <p:extLst>
      <p:ext uri="{BB962C8B-B14F-4D97-AF65-F5344CB8AC3E}">
        <p14:creationId xmlns:p14="http://schemas.microsoft.com/office/powerpoint/2010/main" val="3433322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Testing ensures software reliability and quality</a:t>
            </a: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Different certifications at 3 stages are available</a:t>
            </a: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VSR is a suitable platform for software testing</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21</a:t>
            </a:fld>
            <a:endParaRPr lang="en-US"/>
          </a:p>
        </p:txBody>
      </p:sp>
    </p:spTree>
    <p:extLst>
      <p:ext uri="{BB962C8B-B14F-4D97-AF65-F5344CB8AC3E}">
        <p14:creationId xmlns:p14="http://schemas.microsoft.com/office/powerpoint/2010/main" val="39812874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45</TotalTime>
  <Words>872</Words>
  <Application>Microsoft Office PowerPoint</Application>
  <PresentationFormat>Widescreen</PresentationFormat>
  <Paragraphs>89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Times New Roman</vt:lpstr>
      <vt:lpstr>Tw Cen MT</vt:lpstr>
      <vt:lpstr>Tw Cen MT Condensed</vt:lpstr>
      <vt:lpstr>Wingdings 3</vt:lpstr>
      <vt:lpstr>Integral</vt:lpstr>
      <vt:lpstr>CSE455 - Software Testing</vt:lpstr>
      <vt:lpstr>Course outline</vt:lpstr>
      <vt:lpstr>High dependency on software system</vt:lpstr>
      <vt:lpstr>High dependency on software system</vt:lpstr>
      <vt:lpstr>High dependency on software system</vt:lpstr>
      <vt:lpstr>Importance of Testing</vt:lpstr>
      <vt:lpstr>Importance of Testing</vt:lpstr>
      <vt:lpstr>Importance of Testing</vt:lpstr>
      <vt:lpstr>Certifications in Software Testing</vt:lpstr>
      <vt:lpstr>Certifications in Software Testing</vt:lpstr>
      <vt:lpstr>Certifications in Software Testing</vt:lpstr>
      <vt:lpstr>Case Study: VirtualShowRoom VSR-II</vt:lpstr>
      <vt:lpstr>PowerPoint Presentation</vt:lpstr>
      <vt:lpstr>Cont.</vt:lpstr>
      <vt:lpstr>Cont.</vt:lpstr>
      <vt:lpstr>Cont.</vt:lpstr>
      <vt:lpstr>Cont.</vt:lpstr>
      <vt:lpstr>Cont.</vt:lpstr>
      <vt:lpstr>Cont.</vt:lpstr>
      <vt:lpstr>Cont.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CSE455 - Software Testing</dc:title>
  <dc:creator>aounhaidersandhu@gmail.com</dc:creator>
  <cp:lastModifiedBy>aounhaidersandhu@gmail.com</cp:lastModifiedBy>
  <cp:revision>7</cp:revision>
  <dcterms:created xsi:type="dcterms:W3CDTF">2025-02-15T16:49:33Z</dcterms:created>
  <dcterms:modified xsi:type="dcterms:W3CDTF">2025-02-24T07:20:40Z</dcterms:modified>
</cp:coreProperties>
</file>