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 id="263" r:id="rId8"/>
    <p:sldId id="266" r:id="rId9"/>
    <p:sldId id="264" r:id="rId10"/>
    <p:sldId id="265"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3" r:id="rId27"/>
    <p:sldId id="282" r:id="rId28"/>
    <p:sldId id="284" r:id="rId29"/>
    <p:sldId id="314" r:id="rId30"/>
    <p:sldId id="315" r:id="rId31"/>
    <p:sldId id="316" r:id="rId32"/>
    <p:sldId id="285" r:id="rId33"/>
    <p:sldId id="326" r:id="rId34"/>
    <p:sldId id="327" r:id="rId35"/>
    <p:sldId id="317" r:id="rId36"/>
    <p:sldId id="318" r:id="rId37"/>
    <p:sldId id="319" r:id="rId38"/>
    <p:sldId id="321" r:id="rId39"/>
    <p:sldId id="322" r:id="rId40"/>
    <p:sldId id="323" r:id="rId41"/>
    <p:sldId id="324" r:id="rId42"/>
    <p:sldId id="325" r:id="rId43"/>
    <p:sldId id="320" r:id="rId44"/>
    <p:sldId id="286" r:id="rId45"/>
    <p:sldId id="287" r:id="rId46"/>
    <p:sldId id="288" r:id="rId47"/>
    <p:sldId id="289" r:id="rId48"/>
    <p:sldId id="328" r:id="rId49"/>
    <p:sldId id="329" r:id="rId50"/>
    <p:sldId id="290" r:id="rId51"/>
    <p:sldId id="330" r:id="rId52"/>
    <p:sldId id="291" r:id="rId53"/>
    <p:sldId id="292" r:id="rId54"/>
    <p:sldId id="293" r:id="rId55"/>
    <p:sldId id="294" r:id="rId56"/>
    <p:sldId id="295" r:id="rId57"/>
    <p:sldId id="296" r:id="rId58"/>
    <p:sldId id="297" r:id="rId59"/>
    <p:sldId id="298" r:id="rId60"/>
    <p:sldId id="299" r:id="rId61"/>
    <p:sldId id="300" r:id="rId62"/>
    <p:sldId id="301" r:id="rId63"/>
    <p:sldId id="302" r:id="rId64"/>
    <p:sldId id="303" r:id="rId65"/>
    <p:sldId id="304" r:id="rId66"/>
    <p:sldId id="305" r:id="rId67"/>
    <p:sldId id="306" r:id="rId68"/>
    <p:sldId id="307" r:id="rId69"/>
    <p:sldId id="308" r:id="rId70"/>
    <p:sldId id="309" r:id="rId71"/>
    <p:sldId id="310" r:id="rId72"/>
    <p:sldId id="311" r:id="rId73"/>
    <p:sldId id="312" r:id="rId74"/>
    <p:sldId id="313" r:id="rId7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86" d="100"/>
          <a:sy n="86" d="100"/>
        </p:scale>
        <p:origin x="65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919FA3A8-D1B3-41D5-A8D2-2DA6E782F06E}" type="datetime1">
              <a:rPr lang="en-US" smtClean="0"/>
              <a:t>4/13/2025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E5490-7C78-454F-98DE-D1826F8CB872}"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18955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C2F9ACD-A83F-4330-841C-8F57A1D815E4}" type="datetime1">
              <a:rPr lang="en-US" smtClean="0"/>
              <a:t>4/13/2025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E5490-7C78-454F-98DE-D1826F8CB872}" type="slidenum">
              <a:rPr lang="en-US" smtClean="0"/>
              <a:t>‹#›</a:t>
            </a:fld>
            <a:endParaRPr lang="en-US"/>
          </a:p>
        </p:txBody>
      </p:sp>
    </p:spTree>
    <p:extLst>
      <p:ext uri="{BB962C8B-B14F-4D97-AF65-F5344CB8AC3E}">
        <p14:creationId xmlns:p14="http://schemas.microsoft.com/office/powerpoint/2010/main" val="163808701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smtClean="0"/>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7174323-AB61-4C9C-89A1-3446CCCA273A}" type="datetime1">
              <a:rPr lang="en-US" smtClean="0"/>
              <a:t>4/13/2025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E5490-7C78-454F-98DE-D1826F8CB872}"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99958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54F1CD5-A4F3-461A-B661-68F8558B5406}" type="datetime1">
              <a:rPr lang="en-US" smtClean="0"/>
              <a:t>4/13/2025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FE5490-7C78-454F-98DE-D1826F8CB872}" type="slidenum">
              <a:rPr lang="en-US" smtClean="0"/>
              <a:t>‹#›</a:t>
            </a:fld>
            <a:endParaRPr lang="en-US"/>
          </a:p>
        </p:txBody>
      </p:sp>
    </p:spTree>
    <p:extLst>
      <p:ext uri="{BB962C8B-B14F-4D97-AF65-F5344CB8AC3E}">
        <p14:creationId xmlns:p14="http://schemas.microsoft.com/office/powerpoint/2010/main" val="626956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smtClean="0"/>
              <a:t>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CC19C05-F0A5-4E7D-BBF9-CEC962FE8498}" type="datetime1">
              <a:rPr lang="en-US" smtClean="0"/>
              <a:t>4/13/2025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EFE5490-7C78-454F-98DE-D1826F8CB872}" type="slidenum">
              <a:rPr lang="en-US" smtClean="0"/>
              <a:t>‹#›</a:t>
            </a:fld>
            <a:endParaRPr lang="en-US"/>
          </a:p>
        </p:txBody>
      </p:sp>
    </p:spTree>
    <p:extLst>
      <p:ext uri="{BB962C8B-B14F-4D97-AF65-F5344CB8AC3E}">
        <p14:creationId xmlns:p14="http://schemas.microsoft.com/office/powerpoint/2010/main" val="2702572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85AE31B-C69A-42FD-BBB3-47935776A9BF}" type="datetime1">
              <a:rPr lang="en-US" smtClean="0"/>
              <a:t>4/13/2025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EFE5490-7C78-454F-98DE-D1826F8CB872}" type="slidenum">
              <a:rPr lang="en-US" smtClean="0"/>
              <a:t>‹#›</a:t>
            </a:fld>
            <a:endParaRPr lang="en-US"/>
          </a:p>
        </p:txBody>
      </p:sp>
    </p:spTree>
    <p:extLst>
      <p:ext uri="{BB962C8B-B14F-4D97-AF65-F5344CB8AC3E}">
        <p14:creationId xmlns:p14="http://schemas.microsoft.com/office/powerpoint/2010/main" val="30546770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637492-0605-4DB8-8C4A-635DDEA75183}" type="datetime1">
              <a:rPr lang="en-US" smtClean="0"/>
              <a:t>4/13/2025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EFE5490-7C78-454F-98DE-D1826F8CB872}" type="slidenum">
              <a:rPr lang="en-US" smtClean="0"/>
              <a:t>‹#›</a:t>
            </a:fld>
            <a:endParaRPr lang="en-US"/>
          </a:p>
        </p:txBody>
      </p:sp>
    </p:spTree>
    <p:extLst>
      <p:ext uri="{BB962C8B-B14F-4D97-AF65-F5344CB8AC3E}">
        <p14:creationId xmlns:p14="http://schemas.microsoft.com/office/powerpoint/2010/main" val="2581951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smtClean="0"/>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5C77762E-77BB-44CC-A2D2-EC0FA5CF096B}" type="datetime1">
              <a:rPr lang="en-US" smtClean="0"/>
              <a:t>4/13/2025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FE5490-7C78-454F-98DE-D1826F8CB872}" type="slidenum">
              <a:rPr lang="en-US" smtClean="0"/>
              <a:t>‹#›</a:t>
            </a:fld>
            <a:endParaRPr lang="en-US"/>
          </a:p>
        </p:txBody>
      </p:sp>
    </p:spTree>
    <p:extLst>
      <p:ext uri="{BB962C8B-B14F-4D97-AF65-F5344CB8AC3E}">
        <p14:creationId xmlns:p14="http://schemas.microsoft.com/office/powerpoint/2010/main" val="1880023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2BB4C7C-98AA-4983-8ED7-732DF8CB8BFD}" type="datetime1">
              <a:rPr lang="en-US" smtClean="0"/>
              <a:t>4/13/2025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FE5490-7C78-454F-98DE-D1826F8CB872}"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0224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18F227A-E0A0-41D2-8192-1640ABD6DE7C}" type="datetime1">
              <a:rPr lang="en-US" smtClean="0"/>
              <a:t>4/13/2025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E5490-7C78-454F-98DE-D1826F8CB872}" type="slidenum">
              <a:rPr lang="en-US" smtClean="0"/>
              <a:t>‹#›</a:t>
            </a:fld>
            <a:endParaRPr lang="en-US"/>
          </a:p>
        </p:txBody>
      </p:sp>
    </p:spTree>
    <p:extLst>
      <p:ext uri="{BB962C8B-B14F-4D97-AF65-F5344CB8AC3E}">
        <p14:creationId xmlns:p14="http://schemas.microsoft.com/office/powerpoint/2010/main" val="37006865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14B0586-70BE-4823-8B2B-709EAA954935}" type="datetime1">
              <a:rPr lang="en-US" smtClean="0"/>
              <a:t>4/13/2025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E5490-7C78-454F-98DE-D1826F8CB872}"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12544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C744B751-1CA6-409F-8B0F-94C00B1FE05C}" type="datetime1">
              <a:rPr lang="en-US" smtClean="0"/>
              <a:t>4/13/2025</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FEFE5490-7C78-454F-98DE-D1826F8CB872}"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96273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latin typeface="Times New Roman" panose="02020603050405020304" pitchFamily="18" charset="0"/>
                <a:cs typeface="Times New Roman" panose="02020603050405020304" pitchFamily="18" charset="0"/>
              </a:rPr>
              <a:t>CSE455 - Software Testing</a:t>
            </a:r>
            <a:endParaRPr lang="en-US"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lstStyle/>
          <a:p>
            <a:r>
              <a:rPr lang="en-US" dirty="0" smtClean="0">
                <a:latin typeface="Times New Roman" panose="02020603050405020304" pitchFamily="18" charset="0"/>
                <a:cs typeface="Times New Roman" panose="02020603050405020304" pitchFamily="18" charset="0"/>
              </a:rPr>
              <a:t>Chapter 3</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129466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Process models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smtClean="0">
                <a:latin typeface="Times New Roman" panose="02020603050405020304" pitchFamily="18" charset="0"/>
                <a:cs typeface="Times New Roman" panose="02020603050405020304" pitchFamily="18" charset="0"/>
              </a:rPr>
              <a:t>Most software development projects are executed along lines of SDLC model that is chosen in advance</a:t>
            </a:r>
          </a:p>
          <a:p>
            <a:pPr algn="just"/>
            <a:r>
              <a:rPr lang="en-US" dirty="0" smtClean="0">
                <a:latin typeface="Times New Roman" panose="02020603050405020304" pitchFamily="18" charset="0"/>
                <a:cs typeface="Times New Roman" panose="02020603050405020304" pitchFamily="18" charset="0"/>
              </a:rPr>
              <a:t>Divides </a:t>
            </a:r>
            <a:r>
              <a:rPr lang="en-US" dirty="0">
                <a:latin typeface="Times New Roman" panose="02020603050405020304" pitchFamily="18" charset="0"/>
                <a:cs typeface="Times New Roman" panose="02020603050405020304" pitchFamily="18" charset="0"/>
              </a:rPr>
              <a:t>a project into separate sections, phases, or iterations and arranges the resulting tasks and activities in a corresponding logical </a:t>
            </a:r>
            <a:r>
              <a:rPr lang="en-US" dirty="0" smtClean="0">
                <a:latin typeface="Times New Roman" panose="02020603050405020304" pitchFamily="18" charset="0"/>
                <a:cs typeface="Times New Roman" panose="02020603050405020304" pitchFamily="18" charset="0"/>
              </a:rPr>
              <a:t>order</a:t>
            </a:r>
          </a:p>
          <a:p>
            <a:pPr algn="just"/>
            <a:r>
              <a:rPr lang="en-US" dirty="0" smtClean="0">
                <a:latin typeface="Times New Roman" panose="02020603050405020304" pitchFamily="18" charset="0"/>
                <a:cs typeface="Times New Roman" panose="02020603050405020304" pitchFamily="18" charset="0"/>
              </a:rPr>
              <a:t>Model usually describe the: Roles that each task is assigned, project’s participants responsible for each task</a:t>
            </a:r>
          </a:p>
          <a:p>
            <a:pPr algn="just"/>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2</a:t>
            </a:fld>
            <a:endParaRPr lang="en-US"/>
          </a:p>
        </p:txBody>
      </p:sp>
    </p:spTree>
    <p:extLst>
      <p:ext uri="{BB962C8B-B14F-4D97-AF65-F5344CB8AC3E}">
        <p14:creationId xmlns:p14="http://schemas.microsoft.com/office/powerpoint/2010/main" val="87109090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Types of models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smtClean="0">
                <a:latin typeface="Times New Roman" panose="02020603050405020304" pitchFamily="18" charset="0"/>
                <a:cs typeface="Times New Roman" panose="02020603050405020304" pitchFamily="18" charset="0"/>
              </a:rPr>
              <a:t>Sequential development models</a:t>
            </a:r>
          </a:p>
          <a:p>
            <a:pPr algn="just"/>
            <a:r>
              <a:rPr lang="en-US" dirty="0" smtClean="0">
                <a:latin typeface="Times New Roman" panose="02020603050405020304" pitchFamily="18" charset="0"/>
                <a:cs typeface="Times New Roman" panose="02020603050405020304" pitchFamily="18" charset="0"/>
              </a:rPr>
              <a:t>Iterative and Incremental development models</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3</a:t>
            </a:fld>
            <a:endParaRPr lang="en-US"/>
          </a:p>
        </p:txBody>
      </p:sp>
    </p:spTree>
    <p:extLst>
      <p:ext uri="{BB962C8B-B14F-4D97-AF65-F5344CB8AC3E}">
        <p14:creationId xmlns:p14="http://schemas.microsoft.com/office/powerpoint/2010/main" val="426182423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Waterfall model</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Each development phase can only begin once the previous phase has been </a:t>
            </a:r>
            <a:r>
              <a:rPr lang="en-US" dirty="0" smtClean="0">
                <a:latin typeface="Times New Roman" panose="02020603050405020304" pitchFamily="18" charset="0"/>
                <a:cs typeface="Times New Roman" panose="02020603050405020304" pitchFamily="18" charset="0"/>
              </a:rPr>
              <a:t>completed</a:t>
            </a:r>
          </a:p>
          <a:p>
            <a:pPr algn="just"/>
            <a:r>
              <a:rPr lang="en-US" i="1" dirty="0" smtClean="0">
                <a:solidFill>
                  <a:srgbClr val="FF0000"/>
                </a:solidFill>
                <a:latin typeface="Times New Roman" panose="02020603050405020304" pitchFamily="18" charset="0"/>
                <a:cs typeface="Times New Roman" panose="02020603050405020304" pitchFamily="18" charset="0"/>
              </a:rPr>
              <a:t>Drawback:</a:t>
            </a:r>
            <a:r>
              <a:rPr lang="en-US" dirty="0" smtClean="0">
                <a:latin typeface="Times New Roman" panose="02020603050405020304" pitchFamily="18" charset="0"/>
                <a:cs typeface="Times New Roman" panose="02020603050405020304" pitchFamily="18" charset="0"/>
              </a:rPr>
              <a:t> It </a:t>
            </a:r>
            <a:r>
              <a:rPr lang="en-US" dirty="0">
                <a:latin typeface="Times New Roman" panose="02020603050405020304" pitchFamily="18" charset="0"/>
                <a:cs typeface="Times New Roman" panose="02020603050405020304" pitchFamily="18" charset="0"/>
              </a:rPr>
              <a:t>bundles testing as a single activity at the end of the </a:t>
            </a:r>
            <a:r>
              <a:rPr lang="en-US" dirty="0" smtClean="0">
                <a:latin typeface="Times New Roman" panose="02020603050405020304" pitchFamily="18" charset="0"/>
                <a:cs typeface="Times New Roman" panose="02020603050405020304" pitchFamily="18" charset="0"/>
              </a:rPr>
              <a:t>project</a:t>
            </a:r>
          </a:p>
          <a:p>
            <a:pPr algn="just"/>
            <a:r>
              <a:rPr lang="en-US" dirty="0" smtClean="0">
                <a:latin typeface="Times New Roman" panose="02020603050405020304" pitchFamily="18" charset="0"/>
                <a:cs typeface="Times New Roman" panose="02020603050405020304" pitchFamily="18" charset="0"/>
              </a:rPr>
              <a:t>It means testing </a:t>
            </a:r>
            <a:r>
              <a:rPr lang="en-US" dirty="0">
                <a:latin typeface="Times New Roman" panose="02020603050405020304" pitchFamily="18" charset="0"/>
                <a:cs typeface="Times New Roman" panose="02020603050405020304" pitchFamily="18" charset="0"/>
              </a:rPr>
              <a:t>only takes place once all other development activities have been completed, and is thus seen as a kind of “final check” akin to inspecting goods that leave a </a:t>
            </a:r>
            <a:r>
              <a:rPr lang="en-US" dirty="0" smtClean="0">
                <a:latin typeface="Times New Roman" panose="02020603050405020304" pitchFamily="18" charset="0"/>
                <a:cs typeface="Times New Roman" panose="02020603050405020304" pitchFamily="18" charset="0"/>
              </a:rPr>
              <a:t>factory</a:t>
            </a:r>
          </a:p>
          <a:p>
            <a:pPr algn="just"/>
            <a:r>
              <a:rPr lang="en-US" dirty="0">
                <a:latin typeface="Times New Roman" panose="02020603050405020304" pitchFamily="18" charset="0"/>
                <a:cs typeface="Times New Roman" panose="02020603050405020304" pitchFamily="18" charset="0"/>
              </a:rPr>
              <a:t>In this case, testing is not seen as an activity that takes place throughout the development process</a:t>
            </a:r>
          </a:p>
        </p:txBody>
      </p:sp>
      <p:sp>
        <p:nvSpPr>
          <p:cNvPr id="4" name="Slide Number Placeholder 3"/>
          <p:cNvSpPr>
            <a:spLocks noGrp="1"/>
          </p:cNvSpPr>
          <p:nvPr>
            <p:ph type="sldNum" sz="quarter" idx="12"/>
          </p:nvPr>
        </p:nvSpPr>
        <p:spPr/>
        <p:txBody>
          <a:bodyPr/>
          <a:lstStyle/>
          <a:p>
            <a:fld id="{FEFE5490-7C78-454F-98DE-D1826F8CB872}" type="slidenum">
              <a:rPr lang="en-US" smtClean="0"/>
              <a:t>4</a:t>
            </a:fld>
            <a:endParaRPr lang="en-US"/>
          </a:p>
        </p:txBody>
      </p:sp>
    </p:spTree>
    <p:extLst>
      <p:ext uri="{BB962C8B-B14F-4D97-AF65-F5344CB8AC3E}">
        <p14:creationId xmlns:p14="http://schemas.microsoft.com/office/powerpoint/2010/main" val="15092252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V-model</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smtClean="0">
                <a:latin typeface="Times New Roman" panose="02020603050405020304" pitchFamily="18" charset="0"/>
                <a:cs typeface="Times New Roman" panose="02020603050405020304" pitchFamily="18" charset="0"/>
              </a:rPr>
              <a:t>Development </a:t>
            </a:r>
            <a:r>
              <a:rPr lang="en-US" dirty="0">
                <a:latin typeface="Times New Roman" panose="02020603050405020304" pitchFamily="18" charset="0"/>
                <a:cs typeface="Times New Roman" panose="02020603050405020304" pitchFamily="18" charset="0"/>
              </a:rPr>
              <a:t>and testing are corresponding activities of equal </a:t>
            </a:r>
            <a:r>
              <a:rPr lang="en-US" dirty="0" smtClean="0">
                <a:latin typeface="Times New Roman" panose="02020603050405020304" pitchFamily="18" charset="0"/>
                <a:cs typeface="Times New Roman" panose="02020603050405020304" pitchFamily="18" charset="0"/>
              </a:rPr>
              <a:t>value</a:t>
            </a:r>
          </a:p>
          <a:p>
            <a:pPr algn="just"/>
            <a:r>
              <a:rPr lang="en-US" b="1" dirty="0">
                <a:latin typeface="Times New Roman" panose="02020603050405020304" pitchFamily="18" charset="0"/>
                <a:cs typeface="Times New Roman" panose="02020603050405020304" pitchFamily="18" charset="0"/>
              </a:rPr>
              <a:t>Definition of requirements:</a:t>
            </a:r>
            <a:r>
              <a:rPr lang="en-US" dirty="0">
                <a:latin typeface="Times New Roman" panose="02020603050405020304" pitchFamily="18" charset="0"/>
                <a:cs typeface="Times New Roman" panose="02020603050405020304" pitchFamily="18" charset="0"/>
              </a:rPr>
              <a:t> This is where the customer and end-user requirements are collected, specified, and approved. The purpose and proposed features of the system are now </a:t>
            </a:r>
            <a:r>
              <a:rPr lang="en-US" dirty="0" smtClean="0">
                <a:latin typeface="Times New Roman" panose="02020603050405020304" pitchFamily="18" charset="0"/>
                <a:cs typeface="Times New Roman" panose="02020603050405020304" pitchFamily="18" charset="0"/>
              </a:rPr>
              <a:t>stipulated</a:t>
            </a:r>
          </a:p>
          <a:p>
            <a:pPr algn="just"/>
            <a:r>
              <a:rPr lang="en-US" b="1" dirty="0">
                <a:latin typeface="Times New Roman" panose="02020603050405020304" pitchFamily="18" charset="0"/>
                <a:cs typeface="Times New Roman" panose="02020603050405020304" pitchFamily="18" charset="0"/>
              </a:rPr>
              <a:t>Functional design:</a:t>
            </a:r>
            <a:r>
              <a:rPr lang="en-US" dirty="0">
                <a:latin typeface="Times New Roman" panose="02020603050405020304" pitchFamily="18" charset="0"/>
                <a:cs typeface="Times New Roman" panose="02020603050405020304" pitchFamily="18" charset="0"/>
              </a:rPr>
              <a:t> The requirements are mapped to specific features and dialog </a:t>
            </a:r>
            <a:r>
              <a:rPr lang="en-US" dirty="0" smtClean="0">
                <a:latin typeface="Times New Roman" panose="02020603050405020304" pitchFamily="18" charset="0"/>
                <a:cs typeface="Times New Roman" panose="02020603050405020304" pitchFamily="18" charset="0"/>
              </a:rPr>
              <a:t>flows</a:t>
            </a:r>
            <a:endParaRPr lang="en-US" dirty="0" smtClean="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Technical </a:t>
            </a:r>
            <a:r>
              <a:rPr lang="en-US" b="1" dirty="0" smtClean="0">
                <a:latin typeface="Times New Roman" panose="02020603050405020304" pitchFamily="18" charset="0"/>
                <a:cs typeface="Times New Roman" panose="02020603050405020304" pitchFamily="18" charset="0"/>
              </a:rPr>
              <a:t>design:</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functional design is mapped to a technical design that includes definition of the required interfaces to the outside world, and divides the system into easily manageable components that can be developed </a:t>
            </a:r>
            <a:r>
              <a:rPr lang="en-US" dirty="0" smtClean="0">
                <a:latin typeface="Times New Roman" panose="02020603050405020304" pitchFamily="18" charset="0"/>
                <a:cs typeface="Times New Roman" panose="02020603050405020304" pitchFamily="18" charset="0"/>
              </a:rPr>
              <a:t>independently</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5</a:t>
            </a:fld>
            <a:endParaRPr lang="en-US"/>
          </a:p>
        </p:txBody>
      </p:sp>
    </p:spTree>
    <p:extLst>
      <p:ext uri="{BB962C8B-B14F-4D97-AF65-F5344CB8AC3E}">
        <p14:creationId xmlns:p14="http://schemas.microsoft.com/office/powerpoint/2010/main" val="319426258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V-model cont..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b="1" dirty="0">
                <a:latin typeface="Times New Roman" panose="02020603050405020304" pitchFamily="18" charset="0"/>
                <a:cs typeface="Times New Roman" panose="02020603050405020304" pitchFamily="18" charset="0"/>
              </a:rPr>
              <a:t>Component </a:t>
            </a:r>
            <a:r>
              <a:rPr lang="en-US" b="1" dirty="0" smtClean="0">
                <a:latin typeface="Times New Roman" panose="02020603050405020304" pitchFamily="18" charset="0"/>
                <a:cs typeface="Times New Roman" panose="02020603050405020304" pitchFamily="18" charset="0"/>
              </a:rPr>
              <a:t>specification:</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task, behavior, internal construction, and interfaces to other components are defined for each </a:t>
            </a:r>
            <a:r>
              <a:rPr lang="en-US" dirty="0" smtClean="0">
                <a:latin typeface="Times New Roman" panose="02020603050405020304" pitchFamily="18" charset="0"/>
                <a:cs typeface="Times New Roman" panose="02020603050405020304" pitchFamily="18" charset="0"/>
              </a:rPr>
              <a:t>component</a:t>
            </a:r>
            <a:endParaRPr lang="en-US" dirty="0" smtClean="0">
              <a:latin typeface="Times New Roman" panose="02020603050405020304" pitchFamily="18" charset="0"/>
              <a:cs typeface="Times New Roman" panose="02020603050405020304" pitchFamily="18" charset="0"/>
            </a:endParaRPr>
          </a:p>
          <a:p>
            <a:pPr algn="just"/>
            <a:r>
              <a:rPr lang="en-US" b="1" dirty="0" smtClean="0">
                <a:latin typeface="Times New Roman" panose="02020603050405020304" pitchFamily="18" charset="0"/>
                <a:cs typeface="Times New Roman" panose="02020603050405020304" pitchFamily="18" charset="0"/>
              </a:rPr>
              <a:t>Programming:</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Each specified component is programmed (i.e., implemented as a module, unit, class etc.) using a specific programming </a:t>
            </a:r>
            <a:r>
              <a:rPr lang="en-US" dirty="0" smtClean="0">
                <a:latin typeface="Times New Roman" panose="02020603050405020304" pitchFamily="18" charset="0"/>
                <a:cs typeface="Times New Roman" panose="02020603050405020304" pitchFamily="18" charset="0"/>
              </a:rPr>
              <a:t>language</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6</a:t>
            </a:fld>
            <a:endParaRPr lang="en-US"/>
          </a:p>
        </p:txBody>
      </p:sp>
    </p:spTree>
    <p:extLst>
      <p:ext uri="{BB962C8B-B14F-4D97-AF65-F5344CB8AC3E}">
        <p14:creationId xmlns:p14="http://schemas.microsoft.com/office/powerpoint/2010/main" val="189992978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V-model Testing levels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b="1" dirty="0">
                <a:latin typeface="Times New Roman" panose="02020603050405020304" pitchFamily="18" charset="0"/>
                <a:cs typeface="Times New Roman" panose="02020603050405020304" pitchFamily="18" charset="0"/>
              </a:rPr>
              <a:t>Component tests</a:t>
            </a:r>
            <a:r>
              <a:rPr lang="en-US" dirty="0">
                <a:latin typeface="Times New Roman" panose="02020603050405020304" pitchFamily="18" charset="0"/>
                <a:cs typeface="Times New Roman" panose="02020603050405020304" pitchFamily="18" charset="0"/>
              </a:rPr>
              <a:t> ensure that each individual component fulfills its specified </a:t>
            </a:r>
            <a:r>
              <a:rPr lang="en-US" dirty="0" smtClean="0">
                <a:latin typeface="Times New Roman" panose="02020603050405020304" pitchFamily="18" charset="0"/>
                <a:cs typeface="Times New Roman" panose="02020603050405020304" pitchFamily="18" charset="0"/>
              </a:rPr>
              <a:t>requirements</a:t>
            </a:r>
            <a:endParaRPr lang="en-US" dirty="0" smtClean="0">
              <a:latin typeface="Times New Roman" panose="02020603050405020304" pitchFamily="18" charset="0"/>
              <a:cs typeface="Times New Roman" panose="02020603050405020304" pitchFamily="18" charset="0"/>
            </a:endParaRPr>
          </a:p>
          <a:p>
            <a:pPr algn="just"/>
            <a:r>
              <a:rPr lang="en-US" b="1" dirty="0" smtClean="0">
                <a:latin typeface="Times New Roman" panose="02020603050405020304" pitchFamily="18" charset="0"/>
                <a:cs typeface="Times New Roman" panose="02020603050405020304" pitchFamily="18" charset="0"/>
              </a:rPr>
              <a:t>Integration </a:t>
            </a:r>
            <a:r>
              <a:rPr lang="en-US" b="1" dirty="0">
                <a:latin typeface="Times New Roman" panose="02020603050405020304" pitchFamily="18" charset="0"/>
                <a:cs typeface="Times New Roman" panose="02020603050405020304" pitchFamily="18" charset="0"/>
              </a:rPr>
              <a:t>tests</a:t>
            </a:r>
            <a:r>
              <a:rPr lang="en-US" dirty="0">
                <a:latin typeface="Times New Roman" panose="02020603050405020304" pitchFamily="18" charset="0"/>
                <a:cs typeface="Times New Roman" panose="02020603050405020304" pitchFamily="18" charset="0"/>
              </a:rPr>
              <a:t> ensure that groups of components interact as specified by the technical </a:t>
            </a:r>
            <a:r>
              <a:rPr lang="en-US" dirty="0" smtClean="0">
                <a:latin typeface="Times New Roman" panose="02020603050405020304" pitchFamily="18" charset="0"/>
                <a:cs typeface="Times New Roman" panose="02020603050405020304" pitchFamily="18" charset="0"/>
              </a:rPr>
              <a:t>design</a:t>
            </a:r>
            <a:endParaRPr lang="en-US" dirty="0" smtClean="0">
              <a:latin typeface="Times New Roman" panose="02020603050405020304" pitchFamily="18" charset="0"/>
              <a:cs typeface="Times New Roman" panose="02020603050405020304" pitchFamily="18" charset="0"/>
            </a:endParaRPr>
          </a:p>
          <a:p>
            <a:pPr algn="just"/>
            <a:r>
              <a:rPr lang="en-US" b="1" dirty="0" smtClean="0">
                <a:latin typeface="Times New Roman" panose="02020603050405020304" pitchFamily="18" charset="0"/>
                <a:cs typeface="Times New Roman" panose="02020603050405020304" pitchFamily="18" charset="0"/>
              </a:rPr>
              <a:t>System </a:t>
            </a:r>
            <a:r>
              <a:rPr lang="en-US" b="1" dirty="0">
                <a:latin typeface="Times New Roman" panose="02020603050405020304" pitchFamily="18" charset="0"/>
                <a:cs typeface="Times New Roman" panose="02020603050405020304" pitchFamily="18" charset="0"/>
              </a:rPr>
              <a:t>tests</a:t>
            </a:r>
            <a:r>
              <a:rPr lang="en-US" dirty="0">
                <a:latin typeface="Times New Roman" panose="02020603050405020304" pitchFamily="18" charset="0"/>
                <a:cs typeface="Times New Roman" panose="02020603050405020304" pitchFamily="18" charset="0"/>
              </a:rPr>
              <a:t> ensure that the system as a whole functions according to its specified </a:t>
            </a:r>
            <a:r>
              <a:rPr lang="en-US" dirty="0" smtClean="0">
                <a:latin typeface="Times New Roman" panose="02020603050405020304" pitchFamily="18" charset="0"/>
                <a:cs typeface="Times New Roman" panose="02020603050405020304" pitchFamily="18" charset="0"/>
              </a:rPr>
              <a:t>requirements</a:t>
            </a:r>
            <a:endParaRPr lang="en-US" dirty="0" smtClean="0">
              <a:latin typeface="Times New Roman" panose="02020603050405020304" pitchFamily="18" charset="0"/>
              <a:cs typeface="Times New Roman" panose="02020603050405020304" pitchFamily="18" charset="0"/>
            </a:endParaRPr>
          </a:p>
          <a:p>
            <a:pPr algn="just"/>
            <a:r>
              <a:rPr lang="en-US" b="1" dirty="0" smtClean="0">
                <a:latin typeface="Times New Roman" panose="02020603050405020304" pitchFamily="18" charset="0"/>
                <a:cs typeface="Times New Roman" panose="02020603050405020304" pitchFamily="18" charset="0"/>
              </a:rPr>
              <a:t>Acceptance </a:t>
            </a:r>
            <a:r>
              <a:rPr lang="en-US" b="1" dirty="0">
                <a:latin typeface="Times New Roman" panose="02020603050405020304" pitchFamily="18" charset="0"/>
                <a:cs typeface="Times New Roman" panose="02020603050405020304" pitchFamily="18" charset="0"/>
              </a:rPr>
              <a:t>test</a:t>
            </a:r>
            <a:r>
              <a:rPr lang="en-US" dirty="0">
                <a:latin typeface="Times New Roman" panose="02020603050405020304" pitchFamily="18" charset="0"/>
                <a:cs typeface="Times New Roman" panose="02020603050405020304" pitchFamily="18" charset="0"/>
              </a:rPr>
              <a:t> checks that the system as a whole adheres to the contractually agreed customer and end-user </a:t>
            </a:r>
            <a:r>
              <a:rPr lang="en-US" dirty="0" smtClean="0">
                <a:latin typeface="Times New Roman" panose="02020603050405020304" pitchFamily="18" charset="0"/>
                <a:cs typeface="Times New Roman" panose="02020603050405020304" pitchFamily="18" charset="0"/>
              </a:rPr>
              <a:t>criteria</a:t>
            </a:r>
          </a:p>
        </p:txBody>
      </p:sp>
      <p:sp>
        <p:nvSpPr>
          <p:cNvPr id="4" name="Slide Number Placeholder 3"/>
          <p:cNvSpPr>
            <a:spLocks noGrp="1"/>
          </p:cNvSpPr>
          <p:nvPr>
            <p:ph type="sldNum" sz="quarter" idx="12"/>
          </p:nvPr>
        </p:nvSpPr>
        <p:spPr/>
        <p:txBody>
          <a:bodyPr/>
          <a:lstStyle/>
          <a:p>
            <a:fld id="{FEFE5490-7C78-454F-98DE-D1826F8CB872}" type="slidenum">
              <a:rPr lang="en-US" smtClean="0"/>
              <a:t>7</a:t>
            </a:fld>
            <a:endParaRPr lang="en-US"/>
          </a:p>
        </p:txBody>
      </p:sp>
    </p:spTree>
    <p:extLst>
      <p:ext uri="{BB962C8B-B14F-4D97-AF65-F5344CB8AC3E}">
        <p14:creationId xmlns:p14="http://schemas.microsoft.com/office/powerpoint/2010/main" val="38931475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Cont..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dirty="0" smtClean="0">
                <a:latin typeface="Times New Roman" panose="02020603050405020304" pitchFamily="18" charset="0"/>
                <a:cs typeface="Times New Roman" panose="02020603050405020304" pitchFamily="18" charset="0"/>
              </a:rPr>
              <a:t>Each </a:t>
            </a:r>
            <a:r>
              <a:rPr lang="en-US" dirty="0">
                <a:latin typeface="Times New Roman" panose="02020603050405020304" pitchFamily="18" charset="0"/>
                <a:cs typeface="Times New Roman" panose="02020603050405020304" pitchFamily="18" charset="0"/>
              </a:rPr>
              <a:t>test level checks the </a:t>
            </a:r>
            <a:r>
              <a:rPr lang="en-US" dirty="0" smtClean="0">
                <a:latin typeface="Times New Roman" panose="02020603050405020304" pitchFamily="18" charset="0"/>
                <a:cs typeface="Times New Roman" panose="02020603050405020304" pitchFamily="18" charset="0"/>
              </a:rPr>
              <a:t>product at </a:t>
            </a:r>
            <a:r>
              <a:rPr lang="en-US" dirty="0">
                <a:latin typeface="Times New Roman" panose="02020603050405020304" pitchFamily="18" charset="0"/>
                <a:cs typeface="Times New Roman" panose="02020603050405020304" pitchFamily="18" charset="0"/>
              </a:rPr>
              <a:t>a different level of abstraction and follows different testing objectives, involve different testing techniques, different testing tools, and specialized </a:t>
            </a:r>
            <a:r>
              <a:rPr lang="en-US" dirty="0" smtClean="0">
                <a:latin typeface="Times New Roman" panose="02020603050405020304" pitchFamily="18" charset="0"/>
                <a:cs typeface="Times New Roman" panose="02020603050405020304" pitchFamily="18" charset="0"/>
              </a:rPr>
              <a:t>personnel</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Each level is </a:t>
            </a:r>
            <a:r>
              <a:rPr lang="en-US" dirty="0" smtClean="0">
                <a:latin typeface="Times New Roman" panose="02020603050405020304" pitchFamily="18" charset="0"/>
                <a:cs typeface="Times New Roman" panose="02020603050405020304" pitchFamily="18" charset="0"/>
              </a:rPr>
              <a:t>tested </a:t>
            </a:r>
            <a:r>
              <a:rPr lang="en-US" dirty="0" smtClean="0">
                <a:latin typeface="Times New Roman" panose="02020603050405020304" pitchFamily="18" charset="0"/>
                <a:cs typeface="Times New Roman" panose="02020603050405020304" pitchFamily="18" charset="0"/>
              </a:rPr>
              <a:t>against its corresponding development level</a:t>
            </a:r>
          </a:p>
          <a:p>
            <a:pPr algn="just"/>
            <a:r>
              <a:rPr lang="en-US" dirty="0" smtClean="0">
                <a:latin typeface="Times New Roman" panose="02020603050405020304" pitchFamily="18" charset="0"/>
                <a:cs typeface="Times New Roman" panose="02020603050405020304" pitchFamily="18" charset="0"/>
              </a:rPr>
              <a:t>Testing </a:t>
            </a:r>
            <a:r>
              <a:rPr lang="en-US" dirty="0">
                <a:latin typeface="Times New Roman" panose="02020603050405020304" pitchFamily="18" charset="0"/>
                <a:cs typeface="Times New Roman" panose="02020603050405020304" pitchFamily="18" charset="0"/>
              </a:rPr>
              <a:t>begins late in the development process, following implementation. This is wrong</a:t>
            </a:r>
            <a:r>
              <a:rPr lang="en-US" dirty="0" smtClean="0">
                <a:latin typeface="Times New Roman" panose="02020603050405020304" pitchFamily="18" charset="0"/>
                <a:cs typeface="Times New Roman" panose="02020603050405020304" pitchFamily="18" charset="0"/>
              </a:rPr>
              <a:t>!</a:t>
            </a:r>
          </a:p>
          <a:p>
            <a:pPr algn="just"/>
            <a:r>
              <a:rPr lang="en-US" dirty="0" smtClean="0">
                <a:latin typeface="Times New Roman" panose="02020603050405020304" pitchFamily="18" charset="0"/>
                <a:cs typeface="Times New Roman" panose="02020603050405020304" pitchFamily="18" charset="0"/>
              </a:rPr>
              <a:t>Testing must </a:t>
            </a:r>
            <a:r>
              <a:rPr lang="en-US" dirty="0">
                <a:latin typeface="Times New Roman" panose="02020603050405020304" pitchFamily="18" charset="0"/>
                <a:cs typeface="Times New Roman" panose="02020603050405020304" pitchFamily="18" charset="0"/>
              </a:rPr>
              <a:t>begin within the corresponding development step</a:t>
            </a:r>
            <a:endParaRPr lang="en-US" dirty="0" smtClean="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8</a:t>
            </a:fld>
            <a:endParaRPr lang="en-US"/>
          </a:p>
        </p:txBody>
      </p:sp>
    </p:spTree>
    <p:extLst>
      <p:ext uri="{BB962C8B-B14F-4D97-AF65-F5344CB8AC3E}">
        <p14:creationId xmlns:p14="http://schemas.microsoft.com/office/powerpoint/2010/main" val="244416153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EFE5490-7C78-454F-98DE-D1826F8CB872}" type="slidenum">
              <a:rPr lang="en-US" smtClean="0"/>
              <a:t>9</a:t>
            </a:fld>
            <a:endParaRPr lang="en-US"/>
          </a:p>
        </p:txBody>
      </p:sp>
      <p:pic>
        <p:nvPicPr>
          <p:cNvPr id="5" name="Picture 4"/>
          <p:cNvPicPr>
            <a:picLocks noChangeAspect="1"/>
          </p:cNvPicPr>
          <p:nvPr/>
        </p:nvPicPr>
        <p:blipFill>
          <a:blip r:embed="rId2"/>
          <a:stretch>
            <a:fillRect/>
          </a:stretch>
        </p:blipFill>
        <p:spPr>
          <a:xfrm>
            <a:off x="2037783" y="704470"/>
            <a:ext cx="8116433" cy="5449060"/>
          </a:xfrm>
          <a:prstGeom prst="rect">
            <a:avLst/>
          </a:prstGeom>
        </p:spPr>
      </p:pic>
    </p:spTree>
    <p:extLst>
      <p:ext uri="{BB962C8B-B14F-4D97-AF65-F5344CB8AC3E}">
        <p14:creationId xmlns:p14="http://schemas.microsoft.com/office/powerpoint/2010/main" val="22562976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Practice</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Component tests focused on verification or validation??</a:t>
            </a:r>
          </a:p>
          <a:p>
            <a:r>
              <a:rPr lang="en-US" dirty="0" smtClean="0">
                <a:latin typeface="Times New Roman" panose="02020603050405020304" pitchFamily="18" charset="0"/>
                <a:cs typeface="Times New Roman" panose="02020603050405020304" pitchFamily="18" charset="0"/>
              </a:rPr>
              <a:t>Acceptance </a:t>
            </a:r>
            <a:r>
              <a:rPr lang="en-US" dirty="0">
                <a:latin typeface="Times New Roman" panose="02020603050405020304" pitchFamily="18" charset="0"/>
                <a:cs typeface="Times New Roman" panose="02020603050405020304" pitchFamily="18" charset="0"/>
              </a:rPr>
              <a:t>tests focused on verification or </a:t>
            </a:r>
            <a:r>
              <a:rPr lang="en-US" dirty="0" smtClean="0">
                <a:latin typeface="Times New Roman" panose="02020603050405020304" pitchFamily="18" charset="0"/>
                <a:cs typeface="Times New Roman" panose="02020603050405020304" pitchFamily="18" charset="0"/>
              </a:rPr>
              <a:t>validation??</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10</a:t>
            </a:fld>
            <a:endParaRPr lang="en-US"/>
          </a:p>
        </p:txBody>
      </p:sp>
    </p:spTree>
    <p:extLst>
      <p:ext uri="{BB962C8B-B14F-4D97-AF65-F5344CB8AC3E}">
        <p14:creationId xmlns:p14="http://schemas.microsoft.com/office/powerpoint/2010/main" val="10394940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Iterative development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smtClean="0">
                <a:latin typeface="Times New Roman" panose="02020603050405020304" pitchFamily="18" charset="0"/>
                <a:cs typeface="Times New Roman" panose="02020603050405020304" pitchFamily="18" charset="0"/>
              </a:rPr>
              <a:t>Use </a:t>
            </a:r>
            <a:r>
              <a:rPr lang="en-US" dirty="0">
                <a:latin typeface="Times New Roman" panose="02020603050405020304" pitchFamily="18" charset="0"/>
                <a:cs typeface="Times New Roman" panose="02020603050405020304" pitchFamily="18" charset="0"/>
              </a:rPr>
              <a:t>the experience from previous development stages with real-world and customer feedback from earlier system versions to improve the product in future </a:t>
            </a:r>
            <a:r>
              <a:rPr lang="en-US" dirty="0" smtClean="0">
                <a:latin typeface="Times New Roman" panose="02020603050405020304" pitchFamily="18" charset="0"/>
                <a:cs typeface="Times New Roman" panose="02020603050405020304" pitchFamily="18" charset="0"/>
              </a:rPr>
              <a:t>iterations</a:t>
            </a:r>
          </a:p>
          <a:p>
            <a:pPr algn="just"/>
            <a:r>
              <a:rPr lang="en-US" dirty="0" smtClean="0">
                <a:latin typeface="Times New Roman" panose="02020603050405020304" pitchFamily="18" charset="0"/>
                <a:cs typeface="Times New Roman" panose="02020603050405020304" pitchFamily="18" charset="0"/>
              </a:rPr>
              <a:t>Improve </a:t>
            </a:r>
            <a:r>
              <a:rPr lang="en-US" dirty="0">
                <a:latin typeface="Times New Roman" panose="02020603050405020304" pitchFamily="18" charset="0"/>
                <a:cs typeface="Times New Roman" panose="02020603050405020304" pitchFamily="18" charset="0"/>
              </a:rPr>
              <a:t>the product step by step in order to meet customer </a:t>
            </a:r>
            <a:r>
              <a:rPr lang="en-US" dirty="0" smtClean="0">
                <a:latin typeface="Times New Roman" panose="02020603050405020304" pitchFamily="18" charset="0"/>
                <a:cs typeface="Times New Roman" panose="02020603050405020304" pitchFamily="18" charset="0"/>
              </a:rPr>
              <a:t>expectations</a:t>
            </a:r>
          </a:p>
          <a:p>
            <a:pPr algn="just"/>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11</a:t>
            </a:fld>
            <a:endParaRPr lang="en-US"/>
          </a:p>
        </p:txBody>
      </p:sp>
    </p:spTree>
    <p:extLst>
      <p:ext uri="{BB962C8B-B14F-4D97-AF65-F5344CB8AC3E}">
        <p14:creationId xmlns:p14="http://schemas.microsoft.com/office/powerpoint/2010/main" val="19548008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lstStyle/>
          <a:p>
            <a:r>
              <a:rPr lang="en-US" dirty="0" smtClean="0">
                <a:latin typeface="Times New Roman" panose="02020603050405020304" pitchFamily="18" charset="0"/>
                <a:cs typeface="Times New Roman" panose="02020603050405020304" pitchFamily="18" charset="0"/>
              </a:rPr>
              <a:t>Incremental development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smtClean="0">
                <a:latin typeface="Times New Roman" panose="02020603050405020304" pitchFamily="18" charset="0"/>
                <a:cs typeface="Times New Roman" panose="02020603050405020304" pitchFamily="18" charset="0"/>
              </a:rPr>
              <a:t>Develop </a:t>
            </a:r>
            <a:r>
              <a:rPr lang="en-US" dirty="0">
                <a:latin typeface="Times New Roman" panose="02020603050405020304" pitchFamily="18" charset="0"/>
                <a:cs typeface="Times New Roman" panose="02020603050405020304" pitchFamily="18" charset="0"/>
              </a:rPr>
              <a:t>a product in preplanned </a:t>
            </a:r>
            <a:r>
              <a:rPr lang="en-US" dirty="0" smtClean="0">
                <a:latin typeface="Times New Roman" panose="02020603050405020304" pitchFamily="18" charset="0"/>
                <a:cs typeface="Times New Roman" panose="02020603050405020304" pitchFamily="18" charset="0"/>
              </a:rPr>
              <a:t>stages</a:t>
            </a:r>
          </a:p>
          <a:p>
            <a:pPr algn="just"/>
            <a:r>
              <a:rPr lang="en-US" dirty="0" smtClean="0">
                <a:latin typeface="Times New Roman" panose="02020603050405020304" pitchFamily="18" charset="0"/>
                <a:cs typeface="Times New Roman" panose="02020603050405020304" pitchFamily="18" charset="0"/>
              </a:rPr>
              <a:t>Each </a:t>
            </a:r>
            <a:r>
              <a:rPr lang="en-US" dirty="0">
                <a:latin typeface="Times New Roman" panose="02020603050405020304" pitchFamily="18" charset="0"/>
                <a:cs typeface="Times New Roman" panose="02020603050405020304" pitchFamily="18" charset="0"/>
              </a:rPr>
              <a:t>completed stage offering a more full-featured version (increment</a:t>
            </a:r>
            <a:r>
              <a:rPr lang="en-US" dirty="0" smtClean="0">
                <a:latin typeface="Times New Roman" panose="02020603050405020304" pitchFamily="18" charset="0"/>
                <a:cs typeface="Times New Roman" panose="02020603050405020304" pitchFamily="18" charset="0"/>
              </a:rPr>
              <a:t>)</a:t>
            </a:r>
          </a:p>
          <a:p>
            <a:pPr algn="just"/>
            <a:r>
              <a:rPr lang="en-US" i="1" dirty="0">
                <a:latin typeface="Times New Roman" panose="02020603050405020304" pitchFamily="18" charset="0"/>
                <a:cs typeface="Times New Roman" panose="02020603050405020304" pitchFamily="18" charset="0"/>
              </a:rPr>
              <a:t>Increments can vary greatly in size</a:t>
            </a:r>
            <a:r>
              <a:rPr lang="en-US" dirty="0">
                <a:latin typeface="Times New Roman" panose="02020603050405020304" pitchFamily="18" charset="0"/>
                <a:cs typeface="Times New Roman" panose="02020603050405020304" pitchFamily="18" charset="0"/>
              </a:rPr>
              <a:t> - for example from changing a simple web page layout to adding a complete new module with additional </a:t>
            </a:r>
            <a:r>
              <a:rPr lang="en-US" dirty="0" smtClean="0">
                <a:latin typeface="Times New Roman" panose="02020603050405020304" pitchFamily="18" charset="0"/>
                <a:cs typeface="Times New Roman" panose="02020603050405020304" pitchFamily="18" charset="0"/>
              </a:rPr>
              <a:t>functionality</a:t>
            </a:r>
          </a:p>
          <a:p>
            <a:pPr algn="just"/>
            <a:r>
              <a:rPr lang="en-US" dirty="0" smtClean="0">
                <a:latin typeface="Times New Roman" panose="02020603050405020304" pitchFamily="18" charset="0"/>
                <a:cs typeface="Times New Roman" panose="02020603050405020304" pitchFamily="18" charset="0"/>
              </a:rPr>
              <a:t>Objective is to </a:t>
            </a:r>
            <a:r>
              <a:rPr lang="en-US" i="1" u="sng" dirty="0">
                <a:latin typeface="Times New Roman" panose="02020603050405020304" pitchFamily="18" charset="0"/>
                <a:cs typeface="Times New Roman" panose="02020603050405020304" pitchFamily="18" charset="0"/>
              </a:rPr>
              <a:t>minimize time to market</a:t>
            </a:r>
            <a:r>
              <a:rPr lang="en-US" dirty="0">
                <a:latin typeface="Times New Roman" panose="02020603050405020304" pitchFamily="18" charset="0"/>
                <a:cs typeface="Times New Roman" panose="02020603050405020304" pitchFamily="18" charset="0"/>
              </a:rPr>
              <a:t> - to release a simple product </a:t>
            </a:r>
            <a:r>
              <a:rPr lang="en-US" dirty="0" smtClean="0">
                <a:latin typeface="Times New Roman" panose="02020603050405020304" pitchFamily="18" charset="0"/>
                <a:cs typeface="Times New Roman" panose="02020603050405020304" pitchFamily="18" charset="0"/>
              </a:rPr>
              <a:t>version to </a:t>
            </a:r>
            <a:r>
              <a:rPr lang="en-US" dirty="0">
                <a:latin typeface="Times New Roman" panose="02020603050405020304" pitchFamily="18" charset="0"/>
                <a:cs typeface="Times New Roman" panose="02020603050405020304" pitchFamily="18" charset="0"/>
              </a:rPr>
              <a:t>provide the customer as quickly as possible with a working version of the product or </a:t>
            </a:r>
            <a:r>
              <a:rPr lang="en-US" dirty="0" smtClean="0">
                <a:latin typeface="Times New Roman" panose="02020603050405020304" pitchFamily="18" charset="0"/>
                <a:cs typeface="Times New Roman" panose="02020603050405020304" pitchFamily="18" charset="0"/>
              </a:rPr>
              <a:t>feature</a:t>
            </a:r>
          </a:p>
          <a:p>
            <a:pPr algn="just"/>
            <a:r>
              <a:rPr lang="en-US" dirty="0" smtClean="0">
                <a:latin typeface="Times New Roman" panose="02020603050405020304" pitchFamily="18" charset="0"/>
                <a:cs typeface="Times New Roman" panose="02020603050405020304" pitchFamily="18" charset="0"/>
              </a:rPr>
              <a:t>Further enhancements will be then offered </a:t>
            </a:r>
            <a:r>
              <a:rPr lang="en-US" dirty="0" smtClean="0">
                <a:latin typeface="Times New Roman" panose="02020603050405020304" pitchFamily="18" charset="0"/>
                <a:cs typeface="Times New Roman" panose="02020603050405020304" pitchFamily="18" charset="0"/>
              </a:rPr>
              <a:t>continually</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12</a:t>
            </a:fld>
            <a:endParaRPr lang="en-US"/>
          </a:p>
        </p:txBody>
      </p:sp>
    </p:spTree>
    <p:extLst>
      <p:ext uri="{BB962C8B-B14F-4D97-AF65-F5344CB8AC3E}">
        <p14:creationId xmlns:p14="http://schemas.microsoft.com/office/powerpoint/2010/main" val="6134751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Iterative Incremental development</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smtClean="0">
                <a:latin typeface="Times New Roman" panose="02020603050405020304" pitchFamily="18" charset="0"/>
                <a:cs typeface="Times New Roman" panose="02020603050405020304" pitchFamily="18" charset="0"/>
              </a:rPr>
              <a:t>Reduces </a:t>
            </a:r>
            <a:r>
              <a:rPr lang="en-US" dirty="0">
                <a:latin typeface="Times New Roman" panose="02020603050405020304" pitchFamily="18" charset="0"/>
                <a:cs typeface="Times New Roman" panose="02020603050405020304" pitchFamily="18" charset="0"/>
              </a:rPr>
              <a:t>the risk of developing a system that doesn’t meet the customer’s </a:t>
            </a:r>
            <a:r>
              <a:rPr lang="en-US" dirty="0" smtClean="0">
                <a:latin typeface="Times New Roman" panose="02020603050405020304" pitchFamily="18" charset="0"/>
                <a:cs typeface="Times New Roman" panose="02020603050405020304" pitchFamily="18" charset="0"/>
              </a:rPr>
              <a:t>expectations</a:t>
            </a:r>
          </a:p>
          <a:p>
            <a:pPr algn="just"/>
            <a:r>
              <a:rPr lang="en-US" dirty="0" smtClean="0">
                <a:latin typeface="Times New Roman" panose="02020603050405020304" pitchFamily="18" charset="0"/>
                <a:cs typeface="Times New Roman" panose="02020603050405020304" pitchFamily="18" charset="0"/>
              </a:rPr>
              <a:t>Examples – Spiral model, Rapid Application Development (RAD), Relational Unified Process (RUP)</a:t>
            </a:r>
          </a:p>
          <a:p>
            <a:pPr algn="just"/>
            <a:r>
              <a:rPr lang="en-US" dirty="0">
                <a:latin typeface="Times New Roman" panose="02020603050405020304" pitchFamily="18" charset="0"/>
                <a:cs typeface="Times New Roman" panose="02020603050405020304" pitchFamily="18" charset="0"/>
              </a:rPr>
              <a:t>All forms of agile software development are iterative-incremental development </a:t>
            </a:r>
            <a:r>
              <a:rPr lang="en-US" dirty="0" smtClean="0">
                <a:latin typeface="Times New Roman" panose="02020603050405020304" pitchFamily="18" charset="0"/>
                <a:cs typeface="Times New Roman" panose="02020603050405020304" pitchFamily="18" charset="0"/>
              </a:rPr>
              <a:t>models – Extreme Programming (XP), Kanban, Scrum</a:t>
            </a:r>
          </a:p>
          <a:p>
            <a:pPr algn="just"/>
            <a:r>
              <a:rPr lang="en-US" dirty="0" smtClean="0">
                <a:latin typeface="Times New Roman" panose="02020603050405020304" pitchFamily="18" charset="0"/>
                <a:cs typeface="Times New Roman" panose="02020603050405020304" pitchFamily="18" charset="0"/>
              </a:rPr>
              <a:t>Pace </a:t>
            </a:r>
            <a:r>
              <a:rPr lang="en-US" dirty="0">
                <a:latin typeface="Times New Roman" panose="02020603050405020304" pitchFamily="18" charset="0"/>
                <a:cs typeface="Times New Roman" panose="02020603050405020304" pitchFamily="18" charset="0"/>
              </a:rPr>
              <a:t>at which new increments/releases are created varies from model to model</a:t>
            </a:r>
            <a:endParaRPr lang="en-US" dirty="0" smtClean="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13</a:t>
            </a:fld>
            <a:endParaRPr lang="en-US"/>
          </a:p>
        </p:txBody>
      </p:sp>
    </p:spTree>
    <p:extLst>
      <p:ext uri="{BB962C8B-B14F-4D97-AF65-F5344CB8AC3E}">
        <p14:creationId xmlns:p14="http://schemas.microsoft.com/office/powerpoint/2010/main" val="37820622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Cont..</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Each increment also requires new test cases that cover any additional </a:t>
            </a:r>
            <a:r>
              <a:rPr lang="en-US" dirty="0" smtClean="0">
                <a:latin typeface="Times New Roman" panose="02020603050405020304" pitchFamily="18" charset="0"/>
                <a:cs typeface="Times New Roman" panose="02020603050405020304" pitchFamily="18" charset="0"/>
              </a:rPr>
              <a:t>functionality</a:t>
            </a:r>
          </a:p>
          <a:p>
            <a:pPr algn="just"/>
            <a:r>
              <a:rPr lang="en-US" dirty="0" smtClean="0">
                <a:latin typeface="Times New Roman" panose="02020603050405020304" pitchFamily="18" charset="0"/>
                <a:cs typeface="Times New Roman" panose="02020603050405020304" pitchFamily="18" charset="0"/>
              </a:rPr>
              <a:t>Number </a:t>
            </a:r>
            <a:r>
              <a:rPr lang="en-US" dirty="0">
                <a:latin typeface="Times New Roman" panose="02020603050405020304" pitchFamily="18" charset="0"/>
                <a:cs typeface="Times New Roman" panose="02020603050405020304" pitchFamily="18" charset="0"/>
              </a:rPr>
              <a:t>of test cases you need to maintain and execute (on each release) increases over </a:t>
            </a:r>
            <a:r>
              <a:rPr lang="en-US" dirty="0" smtClean="0">
                <a:latin typeface="Times New Roman" panose="02020603050405020304" pitchFamily="18" charset="0"/>
                <a:cs typeface="Times New Roman" panose="02020603050405020304" pitchFamily="18" charset="0"/>
              </a:rPr>
              <a:t>time</a:t>
            </a:r>
          </a:p>
          <a:p>
            <a:pPr algn="just"/>
            <a:r>
              <a:rPr lang="en-US" dirty="0" smtClean="0">
                <a:latin typeface="Times New Roman" panose="02020603050405020304" pitchFamily="18" charset="0"/>
                <a:cs typeface="Times New Roman" panose="02020603050405020304" pitchFamily="18" charset="0"/>
              </a:rPr>
              <a:t>Test </a:t>
            </a:r>
            <a:r>
              <a:rPr lang="en-US" dirty="0">
                <a:latin typeface="Times New Roman" panose="02020603050405020304" pitchFamily="18" charset="0"/>
                <a:cs typeface="Times New Roman" panose="02020603050405020304" pitchFamily="18" charset="0"/>
              </a:rPr>
              <a:t>automation is an important tool when adapting your testing to agile development</a:t>
            </a:r>
            <a:endParaRPr lang="en-US" dirty="0" smtClean="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14</a:t>
            </a:fld>
            <a:endParaRPr lang="en-US"/>
          </a:p>
        </p:txBody>
      </p:sp>
    </p:spTree>
    <p:extLst>
      <p:ext uri="{BB962C8B-B14F-4D97-AF65-F5344CB8AC3E}">
        <p14:creationId xmlns:p14="http://schemas.microsoft.com/office/powerpoint/2010/main" val="3051437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CI/CD</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b="1" dirty="0" smtClean="0">
                <a:latin typeface="Times New Roman" panose="02020603050405020304" pitchFamily="18" charset="0"/>
                <a:cs typeface="Times New Roman" panose="02020603050405020304" pitchFamily="18" charset="0"/>
              </a:rPr>
              <a:t>Continuous Integration (CI)</a:t>
            </a:r>
            <a:r>
              <a:rPr lang="en-US" dirty="0" smtClean="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When a component is modified, it is integrated into the previous complete build, followed by a fresh automated test </a:t>
            </a:r>
            <a:r>
              <a:rPr lang="en-US" dirty="0" smtClean="0">
                <a:latin typeface="Times New Roman" panose="02020603050405020304" pitchFamily="18" charset="0"/>
                <a:cs typeface="Times New Roman" panose="02020603050405020304" pitchFamily="18" charset="0"/>
              </a:rPr>
              <a:t>run</a:t>
            </a:r>
          </a:p>
          <a:p>
            <a:pPr algn="just"/>
            <a:r>
              <a:rPr lang="en-US" b="1" dirty="0">
                <a:latin typeface="Times New Roman" panose="02020603050405020304" pitchFamily="18" charset="0"/>
                <a:cs typeface="Times New Roman" panose="02020603050405020304" pitchFamily="18" charset="0"/>
              </a:rPr>
              <a:t>Continuous </a:t>
            </a:r>
            <a:r>
              <a:rPr lang="en-US" b="1" dirty="0" smtClean="0">
                <a:latin typeface="Times New Roman" panose="02020603050405020304" pitchFamily="18" charset="0"/>
                <a:cs typeface="Times New Roman" panose="02020603050405020304" pitchFamily="18" charset="0"/>
              </a:rPr>
              <a:t>Deployment (CD)</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If the test run (during CI) is fault-free, the tested system is automatically copied to the production environment and installed there and thus deployed in a ready-to-run </a:t>
            </a:r>
            <a:r>
              <a:rPr lang="en-US" dirty="0" smtClean="0">
                <a:latin typeface="Times New Roman" panose="02020603050405020304" pitchFamily="18" charset="0"/>
                <a:cs typeface="Times New Roman" panose="02020603050405020304" pitchFamily="18" charset="0"/>
              </a:rPr>
              <a:t>state</a:t>
            </a:r>
          </a:p>
          <a:p>
            <a:pPr algn="just"/>
            <a:r>
              <a:rPr lang="en-US" dirty="0" smtClean="0">
                <a:latin typeface="Times New Roman" panose="02020603050405020304" pitchFamily="18" charset="0"/>
                <a:cs typeface="Times New Roman" panose="02020603050405020304" pitchFamily="18" charset="0"/>
              </a:rPr>
              <a:t>Continuous Integration + Continuous Deployment = Continuous Delivery</a:t>
            </a:r>
          </a:p>
        </p:txBody>
      </p:sp>
      <p:sp>
        <p:nvSpPr>
          <p:cNvPr id="4" name="Slide Number Placeholder 3"/>
          <p:cNvSpPr>
            <a:spLocks noGrp="1"/>
          </p:cNvSpPr>
          <p:nvPr>
            <p:ph type="sldNum" sz="quarter" idx="12"/>
          </p:nvPr>
        </p:nvSpPr>
        <p:spPr/>
        <p:txBody>
          <a:bodyPr/>
          <a:lstStyle/>
          <a:p>
            <a:fld id="{FEFE5490-7C78-454F-98DE-D1826F8CB872}" type="slidenum">
              <a:rPr lang="en-US" smtClean="0"/>
              <a:t>15</a:t>
            </a:fld>
            <a:endParaRPr lang="en-US"/>
          </a:p>
        </p:txBody>
      </p:sp>
    </p:spTree>
    <p:extLst>
      <p:ext uri="{BB962C8B-B14F-4D97-AF65-F5344CB8AC3E}">
        <p14:creationId xmlns:p14="http://schemas.microsoft.com/office/powerpoint/2010/main" val="12241681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Software development in project and product context</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10000"/>
          </a:bodyPr>
          <a:lstStyle/>
          <a:p>
            <a:pPr algn="just"/>
            <a:r>
              <a:rPr lang="en-US" dirty="0" smtClean="0">
                <a:latin typeface="Times New Roman" panose="02020603050405020304" pitchFamily="18" charset="0"/>
                <a:cs typeface="Times New Roman" panose="02020603050405020304" pitchFamily="18" charset="0"/>
              </a:rPr>
              <a:t>Appropriateness </a:t>
            </a:r>
            <a:r>
              <a:rPr lang="en-US" dirty="0">
                <a:latin typeface="Times New Roman" panose="02020603050405020304" pitchFamily="18" charset="0"/>
                <a:cs typeface="Times New Roman" panose="02020603050405020304" pitchFamily="18" charset="0"/>
              </a:rPr>
              <a:t>of a particular lifecycle model for the development of a specific product also depends on the contexts within which it is developed and </a:t>
            </a:r>
            <a:r>
              <a:rPr lang="en-US" dirty="0" smtClean="0">
                <a:latin typeface="Times New Roman" panose="02020603050405020304" pitchFamily="18" charset="0"/>
                <a:cs typeface="Times New Roman" panose="02020603050405020304" pitchFamily="18" charset="0"/>
              </a:rPr>
              <a:t>used</a:t>
            </a:r>
          </a:p>
          <a:p>
            <a:pPr algn="just"/>
            <a:r>
              <a:rPr lang="en-US" dirty="0" smtClean="0">
                <a:latin typeface="Times New Roman" panose="02020603050405020304" pitchFamily="18" charset="0"/>
                <a:cs typeface="Times New Roman" panose="02020603050405020304" pitchFamily="18" charset="0"/>
              </a:rPr>
              <a:t>The following project and product based factors play a role in deciding which model to use:</a:t>
            </a:r>
          </a:p>
          <a:p>
            <a:pPr marL="401638" indent="-290513" algn="just">
              <a:buFont typeface="Courier New" panose="02070309020205020404" pitchFamily="49" charset="0"/>
              <a:buChar char="o"/>
            </a:pPr>
            <a:r>
              <a:rPr lang="en-US" dirty="0" smtClean="0">
                <a:latin typeface="Times New Roman" panose="02020603050405020304" pitchFamily="18" charset="0"/>
                <a:cs typeface="Times New Roman" panose="02020603050405020304" pitchFamily="18" charset="0"/>
              </a:rPr>
              <a:t>The company’s business priorities, project objectives, risk profile (time-to-market)</a:t>
            </a:r>
          </a:p>
          <a:p>
            <a:pPr marL="401638" indent="-290513" algn="just">
              <a:buFont typeface="Courier New" panose="02070309020205020404" pitchFamily="49" charset="0"/>
              <a:buChar char="o"/>
            </a:pPr>
            <a:r>
              <a:rPr lang="en-US" dirty="0" smtClean="0">
                <a:latin typeface="Times New Roman" panose="02020603050405020304" pitchFamily="18" charset="0"/>
                <a:cs typeface="Times New Roman" panose="02020603050405020304" pitchFamily="18" charset="0"/>
              </a:rPr>
              <a:t>Type of product – small project has less demanding development process as compare to large scale system</a:t>
            </a:r>
          </a:p>
          <a:p>
            <a:pPr marL="401638" indent="-290513" algn="just">
              <a:buFont typeface="Courier New" panose="02070309020205020404" pitchFamily="49" charset="0"/>
              <a:buChar char="o"/>
            </a:pPr>
            <a:r>
              <a:rPr lang="en-US" dirty="0" smtClean="0">
                <a:latin typeface="Times New Roman" panose="02020603050405020304" pitchFamily="18" charset="0"/>
                <a:cs typeface="Times New Roman" panose="02020603050405020304" pitchFamily="18" charset="0"/>
              </a:rPr>
              <a:t>Market conditions and technical conditions in which product is used</a:t>
            </a:r>
          </a:p>
          <a:p>
            <a:pPr marL="401638" indent="-290513" algn="just">
              <a:buFont typeface="Courier New" panose="02070309020205020404" pitchFamily="49" charset="0"/>
              <a:buChar char="o"/>
            </a:pPr>
            <a:r>
              <a:rPr lang="en-US" dirty="0" smtClean="0">
                <a:latin typeface="Times New Roman" panose="02020603050405020304" pitchFamily="18" charset="0"/>
                <a:cs typeface="Times New Roman" panose="02020603050405020304" pitchFamily="18" charset="0"/>
              </a:rPr>
              <a:t>Identified product risk – The safety aspect involved in designing and implementing a vehicle braking system</a:t>
            </a:r>
          </a:p>
          <a:p>
            <a:pPr marL="401638" indent="-290513" algn="just">
              <a:buFont typeface="Courier New" panose="02070309020205020404" pitchFamily="49" charset="0"/>
              <a:buChar char="o"/>
            </a:pPr>
            <a:r>
              <a:rPr lang="en-US" dirty="0" smtClean="0">
                <a:latin typeface="Times New Roman" panose="02020603050405020304" pitchFamily="18" charset="0"/>
                <a:cs typeface="Times New Roman" panose="02020603050405020304" pitchFamily="18" charset="0"/>
              </a:rPr>
              <a:t>Organization and cultural aspects – Difficulties generated by communication within international teams can make iterative or agile development more difficult</a:t>
            </a:r>
          </a:p>
        </p:txBody>
      </p:sp>
      <p:sp>
        <p:nvSpPr>
          <p:cNvPr id="4" name="Slide Number Placeholder 3"/>
          <p:cNvSpPr>
            <a:spLocks noGrp="1"/>
          </p:cNvSpPr>
          <p:nvPr>
            <p:ph type="sldNum" sz="quarter" idx="12"/>
          </p:nvPr>
        </p:nvSpPr>
        <p:spPr/>
        <p:txBody>
          <a:bodyPr/>
          <a:lstStyle/>
          <a:p>
            <a:fld id="{FEFE5490-7C78-454F-98DE-D1826F8CB872}" type="slidenum">
              <a:rPr lang="en-US" smtClean="0"/>
              <a:t>16</a:t>
            </a:fld>
            <a:endParaRPr lang="en-US"/>
          </a:p>
        </p:txBody>
      </p:sp>
    </p:spTree>
    <p:extLst>
      <p:ext uri="{BB962C8B-B14F-4D97-AF65-F5344CB8AC3E}">
        <p14:creationId xmlns:p14="http://schemas.microsoft.com/office/powerpoint/2010/main" val="20828665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tailoring</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dirty="0" smtClean="0">
                <a:latin typeface="Times New Roman" panose="02020603050405020304" pitchFamily="18" charset="0"/>
                <a:cs typeface="Times New Roman" panose="02020603050405020304" pitchFamily="18" charset="0"/>
              </a:rPr>
              <a:t>Development </a:t>
            </a:r>
            <a:r>
              <a:rPr lang="en-US" dirty="0">
                <a:latin typeface="Times New Roman" panose="02020603050405020304" pitchFamily="18" charset="0"/>
                <a:cs typeface="Times New Roman" panose="02020603050405020304" pitchFamily="18" charset="0"/>
              </a:rPr>
              <a:t>model </a:t>
            </a:r>
            <a:r>
              <a:rPr lang="en-US" dirty="0" smtClean="0">
                <a:latin typeface="Times New Roman" panose="02020603050405020304" pitchFamily="18" charset="0"/>
                <a:cs typeface="Times New Roman" panose="02020603050405020304" pitchFamily="18" charset="0"/>
              </a:rPr>
              <a:t>be </a:t>
            </a:r>
            <a:r>
              <a:rPr lang="en-US" dirty="0">
                <a:latin typeface="Times New Roman" panose="02020603050405020304" pitchFamily="18" charset="0"/>
                <a:cs typeface="Times New Roman" panose="02020603050405020304" pitchFamily="18" charset="0"/>
              </a:rPr>
              <a:t>adapted and customized for use within a specific </a:t>
            </a:r>
            <a:r>
              <a:rPr lang="en-US" dirty="0" smtClean="0">
                <a:latin typeface="Times New Roman" panose="02020603050405020304" pitchFamily="18" charset="0"/>
                <a:cs typeface="Times New Roman" panose="02020603050405020304" pitchFamily="18" charset="0"/>
              </a:rPr>
              <a:t>project</a:t>
            </a:r>
            <a:endParaRPr lang="en-US" dirty="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Integrating </a:t>
            </a:r>
            <a:r>
              <a:rPr lang="en-US" dirty="0">
                <a:latin typeface="Times New Roman" panose="02020603050405020304" pitchFamily="18" charset="0"/>
                <a:cs typeface="Times New Roman" panose="02020603050405020304" pitchFamily="18" charset="0"/>
              </a:rPr>
              <a:t>off-the-shelf commercial software into a larger system, interoperability tests at the integration testing stage</a:t>
            </a:r>
            <a:endParaRPr lang="en-US" dirty="0" smtClean="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17</a:t>
            </a:fld>
            <a:endParaRPr lang="en-US"/>
          </a:p>
        </p:txBody>
      </p:sp>
    </p:spTree>
    <p:extLst>
      <p:ext uri="{BB962C8B-B14F-4D97-AF65-F5344CB8AC3E}">
        <p14:creationId xmlns:p14="http://schemas.microsoft.com/office/powerpoint/2010/main" val="41748208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Attributes of good testing</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dirty="0" smtClean="0">
                <a:latin typeface="Times New Roman" panose="02020603050405020304" pitchFamily="18" charset="0"/>
                <a:cs typeface="Times New Roman" panose="02020603050405020304" pitchFamily="18" charset="0"/>
              </a:rPr>
              <a:t>Testing activities are included as early as possible in the lifecycle</a:t>
            </a:r>
          </a:p>
          <a:p>
            <a:pPr algn="just"/>
            <a:r>
              <a:rPr lang="en-US" dirty="0" smtClean="0">
                <a:latin typeface="Times New Roman" panose="02020603050405020304" pitchFamily="18" charset="0"/>
                <a:cs typeface="Times New Roman" panose="02020603050405020304" pitchFamily="18" charset="0"/>
              </a:rPr>
              <a:t>For every development activity, a corresponding test activity is planned and executed</a:t>
            </a:r>
          </a:p>
          <a:p>
            <a:pPr algn="just"/>
            <a:r>
              <a:rPr lang="en-US" dirty="0" smtClean="0">
                <a:latin typeface="Times New Roman" panose="02020603050405020304" pitchFamily="18" charset="0"/>
                <a:cs typeface="Times New Roman" panose="02020603050405020304" pitchFamily="18" charset="0"/>
              </a:rPr>
              <a:t>Testers should participate early and continuously in this refinement process</a:t>
            </a:r>
          </a:p>
        </p:txBody>
      </p:sp>
      <p:sp>
        <p:nvSpPr>
          <p:cNvPr id="4" name="Slide Number Placeholder 3"/>
          <p:cNvSpPr>
            <a:spLocks noGrp="1"/>
          </p:cNvSpPr>
          <p:nvPr>
            <p:ph type="sldNum" sz="quarter" idx="12"/>
          </p:nvPr>
        </p:nvSpPr>
        <p:spPr/>
        <p:txBody>
          <a:bodyPr/>
          <a:lstStyle/>
          <a:p>
            <a:fld id="{FEFE5490-7C78-454F-98DE-D1826F8CB872}" type="slidenum">
              <a:rPr lang="en-US" smtClean="0"/>
              <a:t>18</a:t>
            </a:fld>
            <a:endParaRPr lang="en-US"/>
          </a:p>
        </p:txBody>
      </p:sp>
    </p:spTree>
    <p:extLst>
      <p:ext uri="{BB962C8B-B14F-4D97-AF65-F5344CB8AC3E}">
        <p14:creationId xmlns:p14="http://schemas.microsoft.com/office/powerpoint/2010/main" val="8232204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Testing levels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During testing, a system has to be examined and tested on each level of its architecture, from the most elementary component right up to the complete, integrated system</a:t>
            </a:r>
            <a:endParaRPr lang="en-US" dirty="0" smtClean="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19</a:t>
            </a:fld>
            <a:endParaRPr lang="en-US"/>
          </a:p>
        </p:txBody>
      </p:sp>
    </p:spTree>
    <p:extLst>
      <p:ext uri="{BB962C8B-B14F-4D97-AF65-F5344CB8AC3E}">
        <p14:creationId xmlns:p14="http://schemas.microsoft.com/office/powerpoint/2010/main" val="11717684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Component testing</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pPr algn="just"/>
            <a:r>
              <a:rPr lang="en-US" dirty="0" smtClean="0">
                <a:latin typeface="Times New Roman" panose="02020603050405020304" pitchFamily="18" charset="0"/>
                <a:cs typeface="Times New Roman" panose="02020603050405020304" pitchFamily="18" charset="0"/>
              </a:rPr>
              <a:t>Checking </a:t>
            </a:r>
            <a:r>
              <a:rPr lang="en-US" dirty="0">
                <a:latin typeface="Times New Roman" panose="02020603050405020304" pitchFamily="18" charset="0"/>
                <a:cs typeface="Times New Roman" panose="02020603050405020304" pitchFamily="18" charset="0"/>
              </a:rPr>
              <a:t>the lowest-level components in a system’s </a:t>
            </a:r>
            <a:r>
              <a:rPr lang="en-US" dirty="0" smtClean="0">
                <a:latin typeface="Times New Roman" panose="02020603050405020304" pitchFamily="18" charset="0"/>
                <a:cs typeface="Times New Roman" panose="02020603050405020304" pitchFamily="18" charset="0"/>
              </a:rPr>
              <a:t>architecture</a:t>
            </a:r>
          </a:p>
          <a:p>
            <a:pPr algn="just"/>
            <a:r>
              <a:rPr lang="en-US" dirty="0" smtClean="0">
                <a:latin typeface="Times New Roman" panose="02020603050405020304" pitchFamily="18" charset="0"/>
                <a:cs typeface="Times New Roman" panose="02020603050405020304" pitchFamily="18" charset="0"/>
              </a:rPr>
              <a:t>Alternative names for component are unit, module, class and corresponding tests are unit test, module test and class test respectively</a:t>
            </a:r>
          </a:p>
          <a:p>
            <a:pPr algn="just"/>
            <a:r>
              <a:rPr lang="en-US" dirty="0">
                <a:latin typeface="Times New Roman" panose="02020603050405020304" pitchFamily="18" charset="0"/>
                <a:cs typeface="Times New Roman" panose="02020603050405020304" pitchFamily="18" charset="0"/>
              </a:rPr>
              <a:t>Tests only a single component in isolation</a:t>
            </a:r>
          </a:p>
          <a:p>
            <a:pPr algn="just"/>
            <a:r>
              <a:rPr lang="en-US" dirty="0">
                <a:latin typeface="Times New Roman" panose="02020603050405020304" pitchFamily="18" charset="0"/>
                <a:cs typeface="Times New Roman" panose="02020603050405020304" pitchFamily="18" charset="0"/>
              </a:rPr>
              <a:t>Narrowly focused scope</a:t>
            </a:r>
          </a:p>
          <a:p>
            <a:pPr algn="just"/>
            <a:r>
              <a:rPr lang="en-US" dirty="0">
                <a:latin typeface="Times New Roman" panose="02020603050405020304" pitchFamily="18" charset="0"/>
                <a:cs typeface="Times New Roman" panose="02020603050405020304" pitchFamily="18" charset="0"/>
              </a:rPr>
              <a:t>Checks only internal functionality of component in question not its interaction with components external to </a:t>
            </a:r>
            <a:r>
              <a:rPr lang="en-US" dirty="0" smtClean="0">
                <a:latin typeface="Times New Roman" panose="02020603050405020304" pitchFamily="18" charset="0"/>
                <a:cs typeface="Times New Roman" panose="02020603050405020304" pitchFamily="18" charset="0"/>
              </a:rPr>
              <a:t>it</a:t>
            </a:r>
          </a:p>
          <a:p>
            <a:pPr algn="just"/>
            <a:r>
              <a:rPr lang="en-US" i="1" dirty="0" smtClean="0">
                <a:latin typeface="Times New Roman" panose="02020603050405020304" pitchFamily="18" charset="0"/>
                <a:cs typeface="Times New Roman" panose="02020603050405020304" pitchFamily="18" charset="0"/>
              </a:rPr>
              <a:t>Test basis</a:t>
            </a:r>
            <a:r>
              <a:rPr lang="en-US" dirty="0" smtClean="0">
                <a:latin typeface="Times New Roman" panose="02020603050405020304" pitchFamily="18" charset="0"/>
                <a:cs typeface="Times New Roman" panose="02020603050405020304" pitchFamily="18" charset="0"/>
              </a:rPr>
              <a:t> – component specific requirements, component’s design</a:t>
            </a:r>
          </a:p>
          <a:p>
            <a:pPr algn="just"/>
            <a:r>
              <a:rPr lang="en-US" i="1" dirty="0" smtClean="0">
                <a:latin typeface="Times New Roman" panose="02020603050405020304" pitchFamily="18" charset="0"/>
                <a:cs typeface="Times New Roman" panose="02020603050405020304" pitchFamily="18" charset="0"/>
              </a:rPr>
              <a:t>Test object(s)</a:t>
            </a:r>
            <a:r>
              <a:rPr lang="en-US" dirty="0" smtClean="0">
                <a:latin typeface="Times New Roman" panose="02020603050405020304" pitchFamily="18" charset="0"/>
                <a:cs typeface="Times New Roman" panose="02020603050405020304" pitchFamily="18" charset="0"/>
              </a:rPr>
              <a:t> – modules, units, classes, shell scripts, database scripts, data conversion and migration procedure, database content, configuration files</a:t>
            </a:r>
          </a:p>
        </p:txBody>
      </p:sp>
      <p:sp>
        <p:nvSpPr>
          <p:cNvPr id="4" name="Slide Number Placeholder 3"/>
          <p:cNvSpPr>
            <a:spLocks noGrp="1"/>
          </p:cNvSpPr>
          <p:nvPr>
            <p:ph type="sldNum" sz="quarter" idx="12"/>
          </p:nvPr>
        </p:nvSpPr>
        <p:spPr/>
        <p:txBody>
          <a:bodyPr/>
          <a:lstStyle/>
          <a:p>
            <a:fld id="{FEFE5490-7C78-454F-98DE-D1826F8CB872}" type="slidenum">
              <a:rPr lang="en-US" smtClean="0"/>
              <a:t>20</a:t>
            </a:fld>
            <a:endParaRPr lang="en-US"/>
          </a:p>
        </p:txBody>
      </p:sp>
    </p:spTree>
    <p:extLst>
      <p:ext uri="{BB962C8B-B14F-4D97-AF65-F5344CB8AC3E}">
        <p14:creationId xmlns:p14="http://schemas.microsoft.com/office/powerpoint/2010/main" val="23426359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Cont..</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b="1" dirty="0" smtClean="0">
                <a:latin typeface="Times New Roman" panose="02020603050405020304" pitchFamily="18" charset="0"/>
                <a:cs typeface="Times New Roman" panose="02020603050405020304" pitchFamily="18" charset="0"/>
              </a:rPr>
              <a:t>Test Environment</a:t>
            </a:r>
            <a:r>
              <a:rPr lang="en-US" dirty="0" smtClean="0">
                <a:latin typeface="Times New Roman" panose="02020603050405020304" pitchFamily="18" charset="0"/>
                <a:cs typeface="Times New Roman" panose="02020603050405020304" pitchFamily="18" charset="0"/>
              </a:rPr>
              <a:t> – module is called by passing required test data</a:t>
            </a:r>
          </a:p>
          <a:p>
            <a:pPr algn="just"/>
            <a:r>
              <a:rPr lang="en-US" b="1" dirty="0" smtClean="0">
                <a:latin typeface="Times New Roman" panose="02020603050405020304" pitchFamily="18" charset="0"/>
                <a:cs typeface="Times New Roman" panose="02020603050405020304" pitchFamily="18" charset="0"/>
              </a:rPr>
              <a:t>Test Driver</a:t>
            </a:r>
            <a:r>
              <a:rPr lang="en-US" dirty="0" smtClean="0">
                <a:latin typeface="Times New Roman" panose="02020603050405020304" pitchFamily="18" charset="0"/>
                <a:cs typeface="Times New Roman" panose="02020603050405020304" pitchFamily="18" charset="0"/>
              </a:rPr>
              <a:t> – Make call to required method, log test data and its corresponding result with timestamp</a:t>
            </a:r>
          </a:p>
          <a:p>
            <a:pPr algn="just"/>
            <a:r>
              <a:rPr lang="en-US" b="1" dirty="0" smtClean="0">
                <a:latin typeface="Times New Roman" panose="02020603050405020304" pitchFamily="18" charset="0"/>
                <a:cs typeface="Times New Roman" panose="02020603050405020304" pitchFamily="18" charset="0"/>
              </a:rPr>
              <a:t>Developer tests</a:t>
            </a:r>
            <a:r>
              <a:rPr lang="en-US" dirty="0" smtClean="0">
                <a:latin typeface="Times New Roman" panose="02020603050405020304" pitchFamily="18" charset="0"/>
                <a:cs typeface="Times New Roman" panose="02020603050405020304" pitchFamily="18" charset="0"/>
              </a:rPr>
              <a:t> – Component tests are usually prepared by developer of that component due to familiarity with constraints and acceptance criteria</a:t>
            </a:r>
          </a:p>
          <a:p>
            <a:pPr algn="just"/>
            <a:r>
              <a:rPr lang="en-US" b="1" dirty="0" smtClean="0">
                <a:latin typeface="Times New Roman" panose="02020603050405020304" pitchFamily="18" charset="0"/>
                <a:cs typeface="Times New Roman" panose="02020603050405020304" pitchFamily="18" charset="0"/>
              </a:rPr>
              <a:t>Functional tests</a:t>
            </a:r>
            <a:r>
              <a:rPr lang="en-US" dirty="0" smtClean="0">
                <a:latin typeface="Times New Roman" panose="02020603050405020304" pitchFamily="18" charset="0"/>
                <a:cs typeface="Times New Roman" panose="02020603050405020304" pitchFamily="18" charset="0"/>
              </a:rPr>
              <a:t> - Checking </a:t>
            </a:r>
            <a:r>
              <a:rPr lang="en-US" dirty="0">
                <a:latin typeface="Times New Roman" panose="02020603050405020304" pitchFamily="18" charset="0"/>
                <a:cs typeface="Times New Roman" panose="02020603050405020304" pitchFamily="18" charset="0"/>
              </a:rPr>
              <a:t>that the test object fully and correctly implements the functionality defined in its </a:t>
            </a:r>
            <a:r>
              <a:rPr lang="en-US" dirty="0" smtClean="0">
                <a:latin typeface="Times New Roman" panose="02020603050405020304" pitchFamily="18" charset="0"/>
                <a:cs typeface="Times New Roman" panose="02020603050405020304" pitchFamily="18" charset="0"/>
              </a:rPr>
              <a:t>specifications</a:t>
            </a:r>
          </a:p>
        </p:txBody>
      </p:sp>
      <p:sp>
        <p:nvSpPr>
          <p:cNvPr id="4" name="Slide Number Placeholder 3"/>
          <p:cNvSpPr>
            <a:spLocks noGrp="1"/>
          </p:cNvSpPr>
          <p:nvPr>
            <p:ph type="sldNum" sz="quarter" idx="12"/>
          </p:nvPr>
        </p:nvSpPr>
        <p:spPr/>
        <p:txBody>
          <a:bodyPr/>
          <a:lstStyle/>
          <a:p>
            <a:fld id="{FEFE5490-7C78-454F-98DE-D1826F8CB872}" type="slidenum">
              <a:rPr lang="en-US" smtClean="0"/>
              <a:t>21</a:t>
            </a:fld>
            <a:endParaRPr lang="en-US"/>
          </a:p>
        </p:txBody>
      </p:sp>
    </p:spTree>
    <p:extLst>
      <p:ext uri="{BB962C8B-B14F-4D97-AF65-F5344CB8AC3E}">
        <p14:creationId xmlns:p14="http://schemas.microsoft.com/office/powerpoint/2010/main" val="40654036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Cont..</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a:bodyPr>
          <a:lstStyle/>
          <a:p>
            <a:pPr algn="just"/>
            <a:r>
              <a:rPr lang="en-US" b="1" dirty="0">
                <a:latin typeface="Times New Roman" panose="02020603050405020304" pitchFamily="18" charset="0"/>
                <a:cs typeface="Times New Roman" panose="02020603050405020304" pitchFamily="18" charset="0"/>
              </a:rPr>
              <a:t>Negative </a:t>
            </a:r>
            <a:r>
              <a:rPr lang="en-US" b="1" dirty="0" smtClean="0">
                <a:latin typeface="Times New Roman" panose="02020603050405020304" pitchFamily="18" charset="0"/>
                <a:cs typeface="Times New Roman" panose="02020603050405020304" pitchFamily="18" charset="0"/>
              </a:rPr>
              <a:t>test</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Serves </a:t>
            </a:r>
            <a:r>
              <a:rPr lang="en-US" dirty="0">
                <a:latin typeface="Times New Roman" panose="02020603050405020304" pitchFamily="18" charset="0"/>
                <a:cs typeface="Times New Roman" panose="02020603050405020304" pitchFamily="18" charset="0"/>
              </a:rPr>
              <a:t>the component under test with invalid input data instead of valid data and assume that the component will produce suitable exception handling as output</a:t>
            </a:r>
            <a:r>
              <a:rPr lang="en-US" dirty="0" smtClean="0">
                <a:latin typeface="Times New Roman" panose="02020603050405020304" pitchFamily="18" charset="0"/>
                <a:cs typeface="Times New Roman" panose="02020603050405020304" pitchFamily="18" charset="0"/>
              </a:rPr>
              <a:t>. Robustness comes at a price</a:t>
            </a:r>
          </a:p>
          <a:p>
            <a:pPr algn="just"/>
            <a:r>
              <a:rPr lang="en-US" b="1" dirty="0">
                <a:latin typeface="Times New Roman" panose="02020603050405020304" pitchFamily="18" charset="0"/>
                <a:cs typeface="Times New Roman" panose="02020603050405020304" pitchFamily="18" charset="0"/>
              </a:rPr>
              <a:t>Efficiency </a:t>
            </a:r>
            <a:r>
              <a:rPr lang="en-US" b="1" dirty="0" smtClean="0">
                <a:latin typeface="Times New Roman" panose="02020603050405020304" pitchFamily="18" charset="0"/>
                <a:cs typeface="Times New Roman" panose="02020603050405020304" pitchFamily="18" charset="0"/>
              </a:rPr>
              <a:t>test</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How </a:t>
            </a:r>
            <a:r>
              <a:rPr lang="en-US" dirty="0">
                <a:latin typeface="Times New Roman" panose="02020603050405020304" pitchFamily="18" charset="0"/>
                <a:cs typeface="Times New Roman" panose="02020603050405020304" pitchFamily="18" charset="0"/>
              </a:rPr>
              <a:t>economically a component interacts with the available computing resources. This includes aspects such as memory use, processor use, or the time required to execute functions or </a:t>
            </a:r>
            <a:r>
              <a:rPr lang="en-US" dirty="0" smtClean="0">
                <a:latin typeface="Times New Roman" panose="02020603050405020304" pitchFamily="18" charset="0"/>
                <a:cs typeface="Times New Roman" panose="02020603050405020304" pitchFamily="18" charset="0"/>
              </a:rPr>
              <a:t>algorithms</a:t>
            </a:r>
          </a:p>
          <a:p>
            <a:pPr algn="just"/>
            <a:r>
              <a:rPr lang="en-US" b="1" dirty="0" smtClean="0">
                <a:latin typeface="Times New Roman" panose="02020603050405020304" pitchFamily="18" charset="0"/>
                <a:cs typeface="Times New Roman" panose="02020603050405020304" pitchFamily="18" charset="0"/>
              </a:rPr>
              <a:t>Maintainability test</a:t>
            </a:r>
            <a:r>
              <a:rPr lang="en-US" dirty="0" smtClean="0">
                <a:latin typeface="Times New Roman" panose="02020603050405020304" pitchFamily="18" charset="0"/>
                <a:cs typeface="Times New Roman" panose="02020603050405020304" pitchFamily="18" charset="0"/>
              </a:rPr>
              <a:t> – How easy it is to enhance or extend a program. The main aspects to be tested are code structure, modularity, code commenting, comprehensibility and up-to-</a:t>
            </a:r>
            <a:r>
              <a:rPr lang="en-US" dirty="0" err="1" smtClean="0">
                <a:latin typeface="Times New Roman" panose="02020603050405020304" pitchFamily="18" charset="0"/>
                <a:cs typeface="Times New Roman" panose="02020603050405020304" pitchFamily="18" charset="0"/>
              </a:rPr>
              <a:t>dateness</a:t>
            </a:r>
            <a:r>
              <a:rPr lang="en-US" dirty="0" smtClean="0">
                <a:latin typeface="Times New Roman" panose="02020603050405020304" pitchFamily="18" charset="0"/>
                <a:cs typeface="Times New Roman" panose="02020603050405020304" pitchFamily="18" charset="0"/>
              </a:rPr>
              <a:t> of the documentation an so on. Only static testing can verify this test </a:t>
            </a:r>
            <a:r>
              <a:rPr lang="en-US" dirty="0" smtClean="0">
                <a:latin typeface="Times New Roman" panose="02020603050405020304" pitchFamily="18" charset="0"/>
                <a:cs typeface="Times New Roman" panose="02020603050405020304" pitchFamily="18" charset="0"/>
              </a:rPr>
              <a:t>properly</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In order to check the completeness and correctness of the implementation, the component is subjected to a series of test cases, with each covering a specific combination of input and output data</a:t>
            </a:r>
          </a:p>
        </p:txBody>
      </p:sp>
      <p:sp>
        <p:nvSpPr>
          <p:cNvPr id="4" name="Slide Number Placeholder 3"/>
          <p:cNvSpPr>
            <a:spLocks noGrp="1"/>
          </p:cNvSpPr>
          <p:nvPr>
            <p:ph type="sldNum" sz="quarter" idx="12"/>
          </p:nvPr>
        </p:nvSpPr>
        <p:spPr/>
        <p:txBody>
          <a:bodyPr/>
          <a:lstStyle/>
          <a:p>
            <a:fld id="{FEFE5490-7C78-454F-98DE-D1826F8CB872}" type="slidenum">
              <a:rPr lang="en-US" smtClean="0"/>
              <a:t>22</a:t>
            </a:fld>
            <a:endParaRPr lang="en-US"/>
          </a:p>
        </p:txBody>
      </p:sp>
    </p:spTree>
    <p:extLst>
      <p:ext uri="{BB962C8B-B14F-4D97-AF65-F5344CB8AC3E}">
        <p14:creationId xmlns:p14="http://schemas.microsoft.com/office/powerpoint/2010/main" val="328286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Test first approach</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dirty="0" smtClean="0">
                <a:latin typeface="Times New Roman" panose="02020603050405020304" pitchFamily="18" charset="0"/>
                <a:cs typeface="Times New Roman" panose="02020603050405020304" pitchFamily="18" charset="0"/>
              </a:rPr>
              <a:t>First </a:t>
            </a:r>
            <a:r>
              <a:rPr lang="en-US" dirty="0">
                <a:latin typeface="Times New Roman" panose="02020603050405020304" pitchFamily="18" charset="0"/>
                <a:cs typeface="Times New Roman" panose="02020603050405020304" pitchFamily="18" charset="0"/>
              </a:rPr>
              <a:t>design and automate your test cases and to program the code which implements the component as a second </a:t>
            </a:r>
            <a:r>
              <a:rPr lang="en-US" dirty="0" smtClean="0">
                <a:latin typeface="Times New Roman" panose="02020603050405020304" pitchFamily="18" charset="0"/>
                <a:cs typeface="Times New Roman" panose="02020603050405020304" pitchFamily="18" charset="0"/>
              </a:rPr>
              <a:t>step</a:t>
            </a:r>
          </a:p>
          <a:p>
            <a:pPr algn="just"/>
            <a:r>
              <a:rPr lang="en-US" dirty="0" smtClean="0">
                <a:latin typeface="Times New Roman" panose="02020603050405020304" pitchFamily="18" charset="0"/>
                <a:cs typeface="Times New Roman" panose="02020603050405020304" pitchFamily="18" charset="0"/>
              </a:rPr>
              <a:t>Test </a:t>
            </a:r>
            <a:r>
              <a:rPr lang="en-US" dirty="0">
                <a:latin typeface="Times New Roman" panose="02020603050405020304" pitchFamily="18" charset="0"/>
                <a:cs typeface="Times New Roman" panose="02020603050405020304" pitchFamily="18" charset="0"/>
              </a:rPr>
              <a:t>your code with the test cases you have already designed, and you then extend and improve your product code in small steps, repeating until the code fulfills your tests - </a:t>
            </a:r>
            <a:r>
              <a:rPr lang="en-US" i="1" dirty="0" smtClean="0">
                <a:latin typeface="Times New Roman" panose="02020603050405020304" pitchFamily="18" charset="0"/>
                <a:cs typeface="Times New Roman" panose="02020603050405020304" pitchFamily="18" charset="0"/>
              </a:rPr>
              <a:t>Test-driven </a:t>
            </a:r>
            <a:r>
              <a:rPr lang="en-US" i="1" dirty="0">
                <a:latin typeface="Times New Roman" panose="02020603050405020304" pitchFamily="18" charset="0"/>
                <a:cs typeface="Times New Roman" panose="02020603050405020304" pitchFamily="18" charset="0"/>
              </a:rPr>
              <a:t>development</a:t>
            </a:r>
          </a:p>
        </p:txBody>
      </p:sp>
      <p:sp>
        <p:nvSpPr>
          <p:cNvPr id="4" name="Slide Number Placeholder 3"/>
          <p:cNvSpPr>
            <a:spLocks noGrp="1"/>
          </p:cNvSpPr>
          <p:nvPr>
            <p:ph type="sldNum" sz="quarter" idx="12"/>
          </p:nvPr>
        </p:nvSpPr>
        <p:spPr/>
        <p:txBody>
          <a:bodyPr/>
          <a:lstStyle/>
          <a:p>
            <a:fld id="{FEFE5490-7C78-454F-98DE-D1826F8CB872}" type="slidenum">
              <a:rPr lang="en-US" smtClean="0"/>
              <a:t>23</a:t>
            </a:fld>
            <a:endParaRPr lang="en-US"/>
          </a:p>
        </p:txBody>
      </p:sp>
    </p:spTree>
    <p:extLst>
      <p:ext uri="{BB962C8B-B14F-4D97-AF65-F5344CB8AC3E}">
        <p14:creationId xmlns:p14="http://schemas.microsoft.com/office/powerpoint/2010/main" val="11638698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Integration testing</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dirty="0" smtClean="0">
                <a:latin typeface="Times New Roman" panose="02020603050405020304" pitchFamily="18" charset="0"/>
                <a:cs typeface="Times New Roman" panose="02020603050405020304" pitchFamily="18" charset="0"/>
              </a:rPr>
              <a:t>Assumes that </a:t>
            </a:r>
            <a:r>
              <a:rPr lang="en-US" dirty="0">
                <a:latin typeface="Times New Roman" panose="02020603050405020304" pitchFamily="18" charset="0"/>
                <a:cs typeface="Times New Roman" panose="02020603050405020304" pitchFamily="18" charset="0"/>
              </a:rPr>
              <a:t>the test objects handed over to this level are already component tested and that any component-internal defects have been corrected as far as </a:t>
            </a:r>
            <a:r>
              <a:rPr lang="en-US" dirty="0" smtClean="0">
                <a:latin typeface="Times New Roman" panose="02020603050405020304" pitchFamily="18" charset="0"/>
                <a:cs typeface="Times New Roman" panose="02020603050405020304" pitchFamily="18" charset="0"/>
              </a:rPr>
              <a:t>possible</a:t>
            </a:r>
          </a:p>
          <a:p>
            <a:pPr algn="just"/>
            <a:r>
              <a:rPr lang="en-US" dirty="0">
                <a:latin typeface="Times New Roman" panose="02020603050405020304" pitchFamily="18" charset="0"/>
                <a:cs typeface="Times New Roman" panose="02020603050405020304" pitchFamily="18" charset="0"/>
              </a:rPr>
              <a:t>Developers, testers, and specialized integration teams then assemble groups of these components into larger </a:t>
            </a:r>
            <a:r>
              <a:rPr lang="en-US" dirty="0" smtClean="0">
                <a:latin typeface="Times New Roman" panose="02020603050405020304" pitchFamily="18" charset="0"/>
                <a:cs typeface="Times New Roman" panose="02020603050405020304" pitchFamily="18" charset="0"/>
              </a:rPr>
              <a:t>units</a:t>
            </a:r>
          </a:p>
          <a:p>
            <a:pPr algn="just"/>
            <a:r>
              <a:rPr lang="en-US" dirty="0" smtClean="0">
                <a:latin typeface="Times New Roman" panose="02020603050405020304" pitchFamily="18" charset="0"/>
                <a:cs typeface="Times New Roman" panose="02020603050405020304" pitchFamily="18" charset="0"/>
              </a:rPr>
              <a:t>Designed </a:t>
            </a:r>
            <a:r>
              <a:rPr lang="en-US" dirty="0">
                <a:latin typeface="Times New Roman" panose="02020603050405020304" pitchFamily="18" charset="0"/>
                <a:cs typeface="Times New Roman" panose="02020603050405020304" pitchFamily="18" charset="0"/>
              </a:rPr>
              <a:t>to find faults in the interfaces and the interaction between the integrated components</a:t>
            </a:r>
            <a:endParaRPr lang="en-US" i="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24</a:t>
            </a:fld>
            <a:endParaRPr lang="en-US"/>
          </a:p>
        </p:txBody>
      </p:sp>
    </p:spTree>
    <p:extLst>
      <p:ext uri="{BB962C8B-B14F-4D97-AF65-F5344CB8AC3E}">
        <p14:creationId xmlns:p14="http://schemas.microsoft.com/office/powerpoint/2010/main" val="18401836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Cont..</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dirty="0" smtClean="0">
                <a:latin typeface="Times New Roman" panose="02020603050405020304" pitchFamily="18" charset="0"/>
                <a:cs typeface="Times New Roman" panose="02020603050405020304" pitchFamily="18" charset="0"/>
              </a:rPr>
              <a:t>Test basis – software architecture and design documents, interface specifications, workflow and sequence diagrams, use case diagrams</a:t>
            </a:r>
          </a:p>
          <a:p>
            <a:pPr algn="just"/>
            <a:r>
              <a:rPr lang="en-US" dirty="0" smtClean="0">
                <a:latin typeface="Times New Roman" panose="02020603050405020304" pitchFamily="18" charset="0"/>
                <a:cs typeface="Times New Roman" panose="02020603050405020304" pitchFamily="18" charset="0"/>
              </a:rPr>
              <a:t>Software </a:t>
            </a:r>
            <a:r>
              <a:rPr lang="en-US" dirty="0">
                <a:latin typeface="Times New Roman" panose="02020603050405020304" pitchFamily="18" charset="0"/>
                <a:cs typeface="Times New Roman" panose="02020603050405020304" pitchFamily="18" charset="0"/>
              </a:rPr>
              <a:t>systems are nowadays rarely built from scratch, but are instead the result of the extension, modification, or combination of existing systems. Component testing doesn’t usually include these kinds of existing or standardized objects, whereas integration testing has to cover these components and their interaction with other parts of the </a:t>
            </a:r>
            <a:r>
              <a:rPr lang="en-US" dirty="0" smtClean="0">
                <a:latin typeface="Times New Roman" panose="02020603050405020304" pitchFamily="18" charset="0"/>
                <a:cs typeface="Times New Roman" panose="02020603050405020304" pitchFamily="18" charset="0"/>
              </a:rPr>
              <a:t>system</a:t>
            </a:r>
          </a:p>
          <a:p>
            <a:pPr algn="just"/>
            <a:r>
              <a:rPr lang="en-US" dirty="0" smtClean="0">
                <a:latin typeface="Times New Roman" panose="02020603050405020304" pitchFamily="18" charset="0"/>
                <a:cs typeface="Times New Roman" panose="02020603050405020304" pitchFamily="18" charset="0"/>
              </a:rPr>
              <a:t>Integration testing often uses monitors – a </a:t>
            </a:r>
            <a:r>
              <a:rPr lang="en-US" dirty="0">
                <a:latin typeface="Times New Roman" panose="02020603050405020304" pitchFamily="18" charset="0"/>
                <a:cs typeface="Times New Roman" panose="02020603050405020304" pitchFamily="18" charset="0"/>
              </a:rPr>
              <a:t>program that keeps a check on the movement of data between components and logs what it sees</a:t>
            </a:r>
          </a:p>
        </p:txBody>
      </p:sp>
      <p:sp>
        <p:nvSpPr>
          <p:cNvPr id="4" name="Slide Number Placeholder 3"/>
          <p:cNvSpPr>
            <a:spLocks noGrp="1"/>
          </p:cNvSpPr>
          <p:nvPr>
            <p:ph type="sldNum" sz="quarter" idx="12"/>
          </p:nvPr>
        </p:nvSpPr>
        <p:spPr/>
        <p:txBody>
          <a:bodyPr/>
          <a:lstStyle/>
          <a:p>
            <a:fld id="{FEFE5490-7C78-454F-98DE-D1826F8CB872}" type="slidenum">
              <a:rPr lang="en-US" smtClean="0"/>
              <a:t>25</a:t>
            </a:fld>
            <a:endParaRPr lang="en-US"/>
          </a:p>
        </p:txBody>
      </p:sp>
    </p:spTree>
    <p:extLst>
      <p:ext uri="{BB962C8B-B14F-4D97-AF65-F5344CB8AC3E}">
        <p14:creationId xmlns:p14="http://schemas.microsoft.com/office/powerpoint/2010/main" val="42121204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Cont..</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dirty="0" smtClean="0">
                <a:latin typeface="Times New Roman" panose="02020603050405020304" pitchFamily="18" charset="0"/>
                <a:cs typeface="Times New Roman" panose="02020603050405020304" pitchFamily="18" charset="0"/>
              </a:rPr>
              <a:t>Objective is to detect interface faults between components</a:t>
            </a:r>
          </a:p>
          <a:p>
            <a:pPr algn="just"/>
            <a:r>
              <a:rPr lang="en-US" dirty="0" smtClean="0">
                <a:latin typeface="Times New Roman" panose="02020603050405020304" pitchFamily="18" charset="0"/>
                <a:cs typeface="Times New Roman" panose="02020603050405020304" pitchFamily="18" charset="0"/>
              </a:rPr>
              <a:t>Interface mismatches, missing files, or incorrect component divisions can cause build failures</a:t>
            </a:r>
          </a:p>
          <a:p>
            <a:pPr algn="just"/>
            <a:r>
              <a:rPr lang="en-US" dirty="0" smtClean="0">
                <a:latin typeface="Times New Roman" panose="02020603050405020304" pitchFamily="18" charset="0"/>
                <a:cs typeface="Times New Roman" panose="02020603050405020304" pitchFamily="18" charset="0"/>
              </a:rPr>
              <a:t>Incorrect or </a:t>
            </a:r>
            <a:r>
              <a:rPr lang="en-US" dirty="0" err="1" smtClean="0">
                <a:latin typeface="Times New Roman" panose="02020603050405020304" pitchFamily="18" charset="0"/>
                <a:cs typeface="Times New Roman" panose="02020603050405020304" pitchFamily="18" charset="0"/>
              </a:rPr>
              <a:t>unprocessable</a:t>
            </a:r>
            <a:r>
              <a:rPr lang="en-US" dirty="0" smtClean="0">
                <a:latin typeface="Times New Roman" panose="02020603050405020304" pitchFamily="18" charset="0"/>
                <a:cs typeface="Times New Roman" panose="02020603050405020304" pitchFamily="18" charset="0"/>
              </a:rPr>
              <a:t> data causes crashes</a:t>
            </a:r>
          </a:p>
          <a:p>
            <a:pPr algn="just"/>
            <a:r>
              <a:rPr lang="en-US" dirty="0" smtClean="0">
                <a:latin typeface="Times New Roman" panose="02020603050405020304" pitchFamily="18" charset="0"/>
                <a:cs typeface="Times New Roman" panose="02020603050405020304" pitchFamily="18" charset="0"/>
              </a:rPr>
              <a:t>Misinterpreted data leads to unexpected behavior</a:t>
            </a:r>
          </a:p>
          <a:p>
            <a:pPr algn="just"/>
            <a:r>
              <a:rPr lang="en-US" dirty="0" smtClean="0">
                <a:latin typeface="Times New Roman" panose="02020603050405020304" pitchFamily="18" charset="0"/>
                <a:cs typeface="Times New Roman" panose="02020603050405020304" pitchFamily="18" charset="0"/>
              </a:rPr>
              <a:t>Timing issues affects performance and stability</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26</a:t>
            </a:fld>
            <a:endParaRPr lang="en-US"/>
          </a:p>
        </p:txBody>
      </p:sp>
    </p:spTree>
    <p:extLst>
      <p:ext uri="{BB962C8B-B14F-4D97-AF65-F5344CB8AC3E}">
        <p14:creationId xmlns:p14="http://schemas.microsoft.com/office/powerpoint/2010/main" val="3939288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Cont..</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dirty="0" smtClean="0">
                <a:latin typeface="Times New Roman" panose="02020603050405020304" pitchFamily="18" charset="0"/>
                <a:cs typeface="Times New Roman" panose="02020603050405020304" pitchFamily="18" charset="0"/>
              </a:rPr>
              <a:t>Skipping component testing and directly moving towards integration testing has certain drawbacks:</a:t>
            </a:r>
          </a:p>
          <a:p>
            <a:pPr algn="just"/>
            <a:r>
              <a:rPr lang="en-US" dirty="0" smtClean="0">
                <a:latin typeface="Times New Roman" panose="02020603050405020304" pitchFamily="18" charset="0"/>
                <a:cs typeface="Times New Roman" panose="02020603050405020304" pitchFamily="18" charset="0"/>
              </a:rPr>
              <a:t>Many failures stems from individual components</a:t>
            </a:r>
          </a:p>
          <a:p>
            <a:pPr algn="just"/>
            <a:r>
              <a:rPr lang="en-US" dirty="0" smtClean="0">
                <a:latin typeface="Times New Roman" panose="02020603050405020304" pitchFamily="18" charset="0"/>
                <a:cs typeface="Times New Roman" panose="02020603050405020304" pitchFamily="18" charset="0"/>
              </a:rPr>
              <a:t>Lack of direct access makes finding issues harder</a:t>
            </a:r>
          </a:p>
          <a:p>
            <a:pPr algn="just"/>
            <a:r>
              <a:rPr lang="en-US" dirty="0" smtClean="0">
                <a:latin typeface="Times New Roman" panose="02020603050405020304" pitchFamily="18" charset="0"/>
                <a:cs typeface="Times New Roman" panose="02020603050405020304" pitchFamily="18" charset="0"/>
              </a:rPr>
              <a:t>Some bugs remain undetected without isolated testing</a:t>
            </a:r>
          </a:p>
          <a:p>
            <a:pPr algn="just"/>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27</a:t>
            </a:fld>
            <a:endParaRPr lang="en-US"/>
          </a:p>
        </p:txBody>
      </p:sp>
    </p:spTree>
    <p:extLst>
      <p:ext uri="{BB962C8B-B14F-4D97-AF65-F5344CB8AC3E}">
        <p14:creationId xmlns:p14="http://schemas.microsoft.com/office/powerpoint/2010/main" val="12642764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Top down integration</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dirty="0" smtClean="0">
                <a:latin typeface="Times New Roman" panose="02020603050405020304" pitchFamily="18" charset="0"/>
                <a:cs typeface="Times New Roman" panose="02020603050405020304" pitchFamily="18" charset="0"/>
              </a:rPr>
              <a:t>Starts with the main component (call others but isn’t called itself)</a:t>
            </a:r>
          </a:p>
          <a:p>
            <a:pPr algn="just"/>
            <a:r>
              <a:rPr lang="en-US" dirty="0" smtClean="0">
                <a:latin typeface="Times New Roman" panose="02020603050405020304" pitchFamily="18" charset="0"/>
                <a:cs typeface="Times New Roman" panose="02020603050405020304" pitchFamily="18" charset="0"/>
              </a:rPr>
              <a:t>Uses stubs to replace missing components</a:t>
            </a:r>
          </a:p>
          <a:p>
            <a:pPr algn="just"/>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28</a:t>
            </a:fld>
            <a:endParaRPr lang="en-US"/>
          </a:p>
        </p:txBody>
      </p:sp>
    </p:spTree>
    <p:extLst>
      <p:ext uri="{BB962C8B-B14F-4D97-AF65-F5344CB8AC3E}">
        <p14:creationId xmlns:p14="http://schemas.microsoft.com/office/powerpoint/2010/main" val="34486579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EFE5490-7C78-454F-98DE-D1826F8CB872}" type="slidenum">
              <a:rPr lang="en-US" smtClean="0"/>
              <a:t>29</a:t>
            </a:fld>
            <a:endParaRPr lang="en-US"/>
          </a:p>
        </p:txBody>
      </p:sp>
      <p:pic>
        <p:nvPicPr>
          <p:cNvPr id="5" name="Picture 4"/>
          <p:cNvPicPr>
            <a:picLocks noChangeAspect="1"/>
          </p:cNvPicPr>
          <p:nvPr/>
        </p:nvPicPr>
        <p:blipFill>
          <a:blip r:embed="rId2"/>
          <a:stretch>
            <a:fillRect/>
          </a:stretch>
        </p:blipFill>
        <p:spPr>
          <a:xfrm>
            <a:off x="237844" y="186978"/>
            <a:ext cx="11738566" cy="6420886"/>
          </a:xfrm>
          <a:prstGeom prst="rect">
            <a:avLst/>
          </a:prstGeom>
        </p:spPr>
      </p:pic>
    </p:spTree>
    <p:extLst>
      <p:ext uri="{BB962C8B-B14F-4D97-AF65-F5344CB8AC3E}">
        <p14:creationId xmlns:p14="http://schemas.microsoft.com/office/powerpoint/2010/main" val="14790887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latin typeface="Times New Roman" panose="02020603050405020304" pitchFamily="18" charset="0"/>
                <a:cs typeface="Times New Roman" panose="02020603050405020304" pitchFamily="18" charset="0"/>
              </a:rPr>
              <a:t>Order of testing interfaces for the example Horizontally Covered </a:t>
            </a:r>
          </a:p>
        </p:txBody>
      </p:sp>
      <p:sp>
        <p:nvSpPr>
          <p:cNvPr id="3" name="Content Placeholder 2"/>
          <p:cNvSpPr>
            <a:spLocks noGrp="1"/>
          </p:cNvSpPr>
          <p:nvPr>
            <p:ph idx="1"/>
          </p:nvPr>
        </p:nvSpPr>
        <p:spPr/>
        <p:txBody>
          <a:bodyPr>
            <a:normAutofit lnSpcReduction="10000"/>
          </a:bodyPr>
          <a:lstStyle/>
          <a:p>
            <a:pPr marL="290513" indent="-290513">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Stage 1:</a:t>
            </a:r>
            <a:r>
              <a:rPr lang="en-US" dirty="0">
                <a:latin typeface="Times New Roman" panose="02020603050405020304" pitchFamily="18" charset="0"/>
                <a:cs typeface="Times New Roman" panose="02020603050405020304" pitchFamily="18" charset="0"/>
              </a:rPr>
              <a:t> Unit tests of module </a:t>
            </a:r>
            <a:r>
              <a:rPr lang="en-US" dirty="0" smtClean="0">
                <a:latin typeface="Times New Roman" panose="02020603050405020304" pitchFamily="18" charset="0"/>
                <a:cs typeface="Times New Roman" panose="02020603050405020304" pitchFamily="18" charset="0"/>
              </a:rPr>
              <a:t>11</a:t>
            </a:r>
          </a:p>
          <a:p>
            <a:pPr marL="290513" indent="-290513">
              <a:buFont typeface="Wingdings" panose="05000000000000000000" pitchFamily="2" charset="2"/>
              <a:buChar char="§"/>
            </a:pPr>
            <a:r>
              <a:rPr lang="en-US" b="1" dirty="0" smtClean="0">
                <a:latin typeface="Times New Roman" panose="02020603050405020304" pitchFamily="18" charset="0"/>
                <a:cs typeface="Times New Roman" panose="02020603050405020304" pitchFamily="18" charset="0"/>
              </a:rPr>
              <a:t>Stage </a:t>
            </a:r>
            <a:r>
              <a:rPr lang="en-US" b="1"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Integration test A of module 11 integrated with modules 9 and 10, developed in the current </a:t>
            </a:r>
            <a:r>
              <a:rPr lang="en-US" dirty="0" smtClean="0">
                <a:latin typeface="Times New Roman" panose="02020603050405020304" pitchFamily="18" charset="0"/>
                <a:cs typeface="Times New Roman" panose="02020603050405020304" pitchFamily="18" charset="0"/>
              </a:rPr>
              <a:t>stage</a:t>
            </a:r>
          </a:p>
          <a:p>
            <a:pPr marL="290513" indent="-290513">
              <a:buFont typeface="Wingdings" panose="05000000000000000000" pitchFamily="2" charset="2"/>
              <a:buChar char="§"/>
            </a:pPr>
            <a:r>
              <a:rPr lang="en-US" b="1" dirty="0" smtClean="0">
                <a:latin typeface="Times New Roman" panose="02020603050405020304" pitchFamily="18" charset="0"/>
                <a:cs typeface="Times New Roman" panose="02020603050405020304" pitchFamily="18" charset="0"/>
              </a:rPr>
              <a:t>Stage </a:t>
            </a:r>
            <a:r>
              <a:rPr lang="en-US" b="1"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 Integration test B of A integrated with module 8, developed in the current </a:t>
            </a:r>
            <a:r>
              <a:rPr lang="en-US" dirty="0" smtClean="0">
                <a:latin typeface="Times New Roman" panose="02020603050405020304" pitchFamily="18" charset="0"/>
                <a:cs typeface="Times New Roman" panose="02020603050405020304" pitchFamily="18" charset="0"/>
              </a:rPr>
              <a:t>stage</a:t>
            </a:r>
          </a:p>
          <a:p>
            <a:pPr marL="290513" indent="-290513">
              <a:buFont typeface="Wingdings" panose="05000000000000000000" pitchFamily="2" charset="2"/>
              <a:buChar char="§"/>
            </a:pPr>
            <a:r>
              <a:rPr lang="en-US" b="1" dirty="0" smtClean="0">
                <a:latin typeface="Times New Roman" panose="02020603050405020304" pitchFamily="18" charset="0"/>
                <a:cs typeface="Times New Roman" panose="02020603050405020304" pitchFamily="18" charset="0"/>
              </a:rPr>
              <a:t>Stage </a:t>
            </a:r>
            <a:r>
              <a:rPr lang="en-US" b="1" dirty="0">
                <a:latin typeface="Times New Roman" panose="02020603050405020304" pitchFamily="18" charset="0"/>
                <a:cs typeface="Times New Roman" panose="02020603050405020304" pitchFamily="18" charset="0"/>
              </a:rPr>
              <a:t>4:</a:t>
            </a:r>
            <a:r>
              <a:rPr lang="en-US" dirty="0">
                <a:latin typeface="Times New Roman" panose="02020603050405020304" pitchFamily="18" charset="0"/>
                <a:cs typeface="Times New Roman" panose="02020603050405020304" pitchFamily="18" charset="0"/>
              </a:rPr>
              <a:t> Integration test C of B integrated with modules 6 and 7, developed in the current </a:t>
            </a:r>
            <a:r>
              <a:rPr lang="en-US" dirty="0" smtClean="0">
                <a:latin typeface="Times New Roman" panose="02020603050405020304" pitchFamily="18" charset="0"/>
                <a:cs typeface="Times New Roman" panose="02020603050405020304" pitchFamily="18" charset="0"/>
              </a:rPr>
              <a:t>stage</a:t>
            </a:r>
          </a:p>
          <a:p>
            <a:pPr marL="290513" indent="-290513">
              <a:buFont typeface="Wingdings" panose="05000000000000000000" pitchFamily="2" charset="2"/>
              <a:buChar char="§"/>
            </a:pPr>
            <a:r>
              <a:rPr lang="en-US" b="1" dirty="0" smtClean="0">
                <a:latin typeface="Times New Roman" panose="02020603050405020304" pitchFamily="18" charset="0"/>
                <a:cs typeface="Times New Roman" panose="02020603050405020304" pitchFamily="18" charset="0"/>
              </a:rPr>
              <a:t>Stage </a:t>
            </a:r>
            <a:r>
              <a:rPr lang="en-US" b="1" dirty="0">
                <a:latin typeface="Times New Roman" panose="02020603050405020304" pitchFamily="18" charset="0"/>
                <a:cs typeface="Times New Roman" panose="02020603050405020304" pitchFamily="18" charset="0"/>
              </a:rPr>
              <a:t>5:</a:t>
            </a:r>
            <a:r>
              <a:rPr lang="en-US" dirty="0">
                <a:latin typeface="Times New Roman" panose="02020603050405020304" pitchFamily="18" charset="0"/>
                <a:cs typeface="Times New Roman" panose="02020603050405020304" pitchFamily="18" charset="0"/>
              </a:rPr>
              <a:t> Integration test D of C integrated with modules 1 and 2, developed in the current </a:t>
            </a:r>
            <a:r>
              <a:rPr lang="en-US" dirty="0" smtClean="0">
                <a:latin typeface="Times New Roman" panose="02020603050405020304" pitchFamily="18" charset="0"/>
                <a:cs typeface="Times New Roman" panose="02020603050405020304" pitchFamily="18" charset="0"/>
              </a:rPr>
              <a:t>stage</a:t>
            </a:r>
          </a:p>
          <a:p>
            <a:pPr marL="290513" indent="-290513">
              <a:buFont typeface="Wingdings" panose="05000000000000000000" pitchFamily="2" charset="2"/>
              <a:buChar char="§"/>
            </a:pPr>
            <a:r>
              <a:rPr lang="en-US" b="1" dirty="0" smtClean="0">
                <a:latin typeface="Times New Roman" panose="02020603050405020304" pitchFamily="18" charset="0"/>
                <a:cs typeface="Times New Roman" panose="02020603050405020304" pitchFamily="18" charset="0"/>
              </a:rPr>
              <a:t>Stage </a:t>
            </a:r>
            <a:r>
              <a:rPr lang="en-US" b="1" dirty="0">
                <a:latin typeface="Times New Roman" panose="02020603050405020304" pitchFamily="18" charset="0"/>
                <a:cs typeface="Times New Roman" panose="02020603050405020304" pitchFamily="18" charset="0"/>
              </a:rPr>
              <a:t>6:</a:t>
            </a:r>
            <a:r>
              <a:rPr lang="en-US" dirty="0">
                <a:latin typeface="Times New Roman" panose="02020603050405020304" pitchFamily="18" charset="0"/>
                <a:cs typeface="Times New Roman" panose="02020603050405020304" pitchFamily="18" charset="0"/>
              </a:rPr>
              <a:t> System test of D integrated with modules 3, 4 and 5, developed in the current </a:t>
            </a:r>
            <a:r>
              <a:rPr lang="en-US" dirty="0" smtClean="0">
                <a:latin typeface="Times New Roman" panose="02020603050405020304" pitchFamily="18" charset="0"/>
                <a:cs typeface="Times New Roman" panose="02020603050405020304" pitchFamily="18" charset="0"/>
              </a:rPr>
              <a:t>stage</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30</a:t>
            </a:fld>
            <a:endParaRPr lang="en-US"/>
          </a:p>
        </p:txBody>
      </p:sp>
    </p:spTree>
    <p:extLst>
      <p:ext uri="{BB962C8B-B14F-4D97-AF65-F5344CB8AC3E}">
        <p14:creationId xmlns:p14="http://schemas.microsoft.com/office/powerpoint/2010/main" val="12704739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latin typeface="Times New Roman" panose="02020603050405020304" pitchFamily="18" charset="0"/>
                <a:cs typeface="Times New Roman" panose="02020603050405020304" pitchFamily="18" charset="0"/>
              </a:rPr>
              <a:t>Order of testing interfaces for the example </a:t>
            </a:r>
            <a:r>
              <a:rPr lang="en-US" sz="2800" dirty="0" smtClean="0">
                <a:latin typeface="Times New Roman" panose="02020603050405020304" pitchFamily="18" charset="0"/>
                <a:cs typeface="Times New Roman" panose="02020603050405020304" pitchFamily="18" charset="0"/>
              </a:rPr>
              <a:t>vertically </a:t>
            </a:r>
            <a:r>
              <a:rPr lang="en-US" sz="2800" dirty="0">
                <a:latin typeface="Times New Roman" panose="02020603050405020304" pitchFamily="18" charset="0"/>
                <a:cs typeface="Times New Roman" panose="02020603050405020304" pitchFamily="18" charset="0"/>
              </a:rPr>
              <a:t>Covered </a:t>
            </a:r>
          </a:p>
        </p:txBody>
      </p:sp>
      <p:sp>
        <p:nvSpPr>
          <p:cNvPr id="3" name="Content Placeholder 2"/>
          <p:cNvSpPr>
            <a:spLocks noGrp="1"/>
          </p:cNvSpPr>
          <p:nvPr>
            <p:ph idx="1"/>
          </p:nvPr>
        </p:nvSpPr>
        <p:spPr/>
        <p:txBody>
          <a:bodyPr>
            <a:normAutofit fontScale="92500"/>
          </a:bodyPr>
          <a:lstStyle/>
          <a:p>
            <a:pPr marL="290513" indent="-290513">
              <a:buFont typeface="Wingdings" panose="05000000000000000000" pitchFamily="2" charset="2"/>
              <a:buChar char="§"/>
            </a:pPr>
            <a:r>
              <a:rPr lang="en-US" b="1" dirty="0" smtClean="0">
                <a:latin typeface="Times New Roman" panose="02020603050405020304" pitchFamily="18" charset="0"/>
                <a:cs typeface="Times New Roman" panose="02020603050405020304" pitchFamily="18" charset="0"/>
              </a:rPr>
              <a:t>Stage </a:t>
            </a:r>
            <a:r>
              <a:rPr lang="en-US" b="1"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 Unit tests of module </a:t>
            </a:r>
            <a:r>
              <a:rPr lang="en-US" dirty="0" smtClean="0">
                <a:latin typeface="Times New Roman" panose="02020603050405020304" pitchFamily="18" charset="0"/>
                <a:cs typeface="Times New Roman" panose="02020603050405020304" pitchFamily="18" charset="0"/>
              </a:rPr>
              <a:t>11</a:t>
            </a:r>
            <a:endParaRPr lang="en-US" dirty="0" smtClean="0">
              <a:latin typeface="Times New Roman" panose="02020603050405020304" pitchFamily="18" charset="0"/>
              <a:cs typeface="Times New Roman" panose="02020603050405020304" pitchFamily="18" charset="0"/>
            </a:endParaRPr>
          </a:p>
          <a:p>
            <a:pPr marL="290513" indent="-290513">
              <a:buFont typeface="Wingdings" panose="05000000000000000000" pitchFamily="2" charset="2"/>
              <a:buChar char="§"/>
            </a:pPr>
            <a:r>
              <a:rPr lang="en-US" b="1" dirty="0" smtClean="0">
                <a:latin typeface="Times New Roman" panose="02020603050405020304" pitchFamily="18" charset="0"/>
                <a:cs typeface="Times New Roman" panose="02020603050405020304" pitchFamily="18" charset="0"/>
              </a:rPr>
              <a:t>Stage </a:t>
            </a:r>
            <a:r>
              <a:rPr lang="en-US" b="1"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Integration test A of the integration of module 11 with module 9, developed in the current </a:t>
            </a:r>
            <a:r>
              <a:rPr lang="en-US" dirty="0" smtClean="0">
                <a:latin typeface="Times New Roman" panose="02020603050405020304" pitchFamily="18" charset="0"/>
                <a:cs typeface="Times New Roman" panose="02020603050405020304" pitchFamily="18" charset="0"/>
              </a:rPr>
              <a:t>stage</a:t>
            </a:r>
            <a:endParaRPr lang="en-US" dirty="0" smtClean="0">
              <a:latin typeface="Times New Roman" panose="02020603050405020304" pitchFamily="18" charset="0"/>
              <a:cs typeface="Times New Roman" panose="02020603050405020304" pitchFamily="18" charset="0"/>
            </a:endParaRPr>
          </a:p>
          <a:p>
            <a:pPr marL="290513" indent="-290513">
              <a:buFont typeface="Wingdings" panose="05000000000000000000" pitchFamily="2" charset="2"/>
              <a:buChar char="§"/>
            </a:pPr>
            <a:r>
              <a:rPr lang="en-US" b="1" dirty="0" smtClean="0">
                <a:latin typeface="Times New Roman" panose="02020603050405020304" pitchFamily="18" charset="0"/>
                <a:cs typeface="Times New Roman" panose="02020603050405020304" pitchFamily="18" charset="0"/>
              </a:rPr>
              <a:t>Stage </a:t>
            </a:r>
            <a:r>
              <a:rPr lang="en-US" b="1"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 Integration test B of A with module 8, developed in the current </a:t>
            </a:r>
            <a:r>
              <a:rPr lang="en-US" dirty="0" smtClean="0">
                <a:latin typeface="Times New Roman" panose="02020603050405020304" pitchFamily="18" charset="0"/>
                <a:cs typeface="Times New Roman" panose="02020603050405020304" pitchFamily="18" charset="0"/>
              </a:rPr>
              <a:t>stage</a:t>
            </a:r>
            <a:endParaRPr lang="en-US" dirty="0" smtClean="0">
              <a:latin typeface="Times New Roman" panose="02020603050405020304" pitchFamily="18" charset="0"/>
              <a:cs typeface="Times New Roman" panose="02020603050405020304" pitchFamily="18" charset="0"/>
            </a:endParaRPr>
          </a:p>
          <a:p>
            <a:pPr marL="290513" indent="-290513">
              <a:buFont typeface="Wingdings" panose="05000000000000000000" pitchFamily="2" charset="2"/>
              <a:buChar char="§"/>
            </a:pPr>
            <a:r>
              <a:rPr lang="en-US" b="1" dirty="0" smtClean="0">
                <a:latin typeface="Times New Roman" panose="02020603050405020304" pitchFamily="18" charset="0"/>
                <a:cs typeface="Times New Roman" panose="02020603050405020304" pitchFamily="18" charset="0"/>
              </a:rPr>
              <a:t>Stage </a:t>
            </a:r>
            <a:r>
              <a:rPr lang="en-US" b="1" dirty="0">
                <a:latin typeface="Times New Roman" panose="02020603050405020304" pitchFamily="18" charset="0"/>
                <a:cs typeface="Times New Roman" panose="02020603050405020304" pitchFamily="18" charset="0"/>
              </a:rPr>
              <a:t>4:</a:t>
            </a:r>
            <a:r>
              <a:rPr lang="en-US" dirty="0">
                <a:latin typeface="Times New Roman" panose="02020603050405020304" pitchFamily="18" charset="0"/>
                <a:cs typeface="Times New Roman" panose="02020603050405020304" pitchFamily="18" charset="0"/>
              </a:rPr>
              <a:t> Integration test C of B with modules 1 and 2, developed in the current </a:t>
            </a:r>
            <a:r>
              <a:rPr lang="en-US" dirty="0" smtClean="0">
                <a:latin typeface="Times New Roman" panose="02020603050405020304" pitchFamily="18" charset="0"/>
                <a:cs typeface="Times New Roman" panose="02020603050405020304" pitchFamily="18" charset="0"/>
              </a:rPr>
              <a:t>stage</a:t>
            </a:r>
            <a:endParaRPr lang="en-US" dirty="0" smtClean="0">
              <a:latin typeface="Times New Roman" panose="02020603050405020304" pitchFamily="18" charset="0"/>
              <a:cs typeface="Times New Roman" panose="02020603050405020304" pitchFamily="18" charset="0"/>
            </a:endParaRPr>
          </a:p>
          <a:p>
            <a:pPr marL="290513" indent="-290513">
              <a:buFont typeface="Wingdings" panose="05000000000000000000" pitchFamily="2" charset="2"/>
              <a:buChar char="§"/>
            </a:pPr>
            <a:r>
              <a:rPr lang="en-US" b="1" dirty="0" smtClean="0">
                <a:latin typeface="Times New Roman" panose="02020603050405020304" pitchFamily="18" charset="0"/>
                <a:cs typeface="Times New Roman" panose="02020603050405020304" pitchFamily="18" charset="0"/>
              </a:rPr>
              <a:t>Stage </a:t>
            </a:r>
            <a:r>
              <a:rPr lang="en-US" b="1" dirty="0">
                <a:latin typeface="Times New Roman" panose="02020603050405020304" pitchFamily="18" charset="0"/>
                <a:cs typeface="Times New Roman" panose="02020603050405020304" pitchFamily="18" charset="0"/>
              </a:rPr>
              <a:t>5:</a:t>
            </a:r>
            <a:r>
              <a:rPr lang="en-US" dirty="0">
                <a:latin typeface="Times New Roman" panose="02020603050405020304" pitchFamily="18" charset="0"/>
                <a:cs typeface="Times New Roman" panose="02020603050405020304" pitchFamily="18" charset="0"/>
              </a:rPr>
              <a:t> Integration test D of C with module 10, developed in the current </a:t>
            </a:r>
            <a:r>
              <a:rPr lang="en-US" dirty="0" smtClean="0">
                <a:latin typeface="Times New Roman" panose="02020603050405020304" pitchFamily="18" charset="0"/>
                <a:cs typeface="Times New Roman" panose="02020603050405020304" pitchFamily="18" charset="0"/>
              </a:rPr>
              <a:t>stage</a:t>
            </a:r>
            <a:endParaRPr lang="en-US" dirty="0" smtClean="0">
              <a:latin typeface="Times New Roman" panose="02020603050405020304" pitchFamily="18" charset="0"/>
              <a:cs typeface="Times New Roman" panose="02020603050405020304" pitchFamily="18" charset="0"/>
            </a:endParaRPr>
          </a:p>
          <a:p>
            <a:pPr marL="290513" indent="-290513">
              <a:buFont typeface="Wingdings" panose="05000000000000000000" pitchFamily="2" charset="2"/>
              <a:buChar char="§"/>
            </a:pPr>
            <a:r>
              <a:rPr lang="en-US" b="1" dirty="0" smtClean="0">
                <a:latin typeface="Times New Roman" panose="02020603050405020304" pitchFamily="18" charset="0"/>
                <a:cs typeface="Times New Roman" panose="02020603050405020304" pitchFamily="18" charset="0"/>
              </a:rPr>
              <a:t>Stage </a:t>
            </a:r>
            <a:r>
              <a:rPr lang="en-US" b="1" dirty="0">
                <a:latin typeface="Times New Roman" panose="02020603050405020304" pitchFamily="18" charset="0"/>
                <a:cs typeface="Times New Roman" panose="02020603050405020304" pitchFamily="18" charset="0"/>
              </a:rPr>
              <a:t>6:</a:t>
            </a:r>
            <a:r>
              <a:rPr lang="en-US" dirty="0">
                <a:latin typeface="Times New Roman" panose="02020603050405020304" pitchFamily="18" charset="0"/>
                <a:cs typeface="Times New Roman" panose="02020603050405020304" pitchFamily="18" charset="0"/>
              </a:rPr>
              <a:t> Integration test E of integration D with modules 6 and 7, developed in the current </a:t>
            </a:r>
            <a:r>
              <a:rPr lang="en-US" dirty="0" smtClean="0">
                <a:latin typeface="Times New Roman" panose="02020603050405020304" pitchFamily="18" charset="0"/>
                <a:cs typeface="Times New Roman" panose="02020603050405020304" pitchFamily="18" charset="0"/>
              </a:rPr>
              <a:t>stage</a:t>
            </a:r>
            <a:endParaRPr lang="en-US" dirty="0" smtClean="0">
              <a:latin typeface="Times New Roman" panose="02020603050405020304" pitchFamily="18" charset="0"/>
              <a:cs typeface="Times New Roman" panose="02020603050405020304" pitchFamily="18" charset="0"/>
            </a:endParaRPr>
          </a:p>
          <a:p>
            <a:pPr marL="290513" indent="-290513">
              <a:buFont typeface="Wingdings" panose="05000000000000000000" pitchFamily="2" charset="2"/>
              <a:buChar char="§"/>
            </a:pPr>
            <a:r>
              <a:rPr lang="en-US" b="1" dirty="0" smtClean="0">
                <a:latin typeface="Times New Roman" panose="02020603050405020304" pitchFamily="18" charset="0"/>
                <a:cs typeface="Times New Roman" panose="02020603050405020304" pitchFamily="18" charset="0"/>
              </a:rPr>
              <a:t>Stage </a:t>
            </a:r>
            <a:r>
              <a:rPr lang="en-US" b="1" dirty="0">
                <a:latin typeface="Times New Roman" panose="02020603050405020304" pitchFamily="18" charset="0"/>
                <a:cs typeface="Times New Roman" panose="02020603050405020304" pitchFamily="18" charset="0"/>
              </a:rPr>
              <a:t>7:</a:t>
            </a:r>
            <a:r>
              <a:rPr lang="en-US" dirty="0">
                <a:latin typeface="Times New Roman" panose="02020603050405020304" pitchFamily="18" charset="0"/>
                <a:cs typeface="Times New Roman" panose="02020603050405020304" pitchFamily="18" charset="0"/>
              </a:rPr>
              <a:t> System test is performed after E has been integrated with modules 3, 4 and 5, developed in the current stage</a:t>
            </a:r>
          </a:p>
        </p:txBody>
      </p:sp>
      <p:sp>
        <p:nvSpPr>
          <p:cNvPr id="4" name="Slide Number Placeholder 3"/>
          <p:cNvSpPr>
            <a:spLocks noGrp="1"/>
          </p:cNvSpPr>
          <p:nvPr>
            <p:ph type="sldNum" sz="quarter" idx="12"/>
          </p:nvPr>
        </p:nvSpPr>
        <p:spPr/>
        <p:txBody>
          <a:bodyPr/>
          <a:lstStyle/>
          <a:p>
            <a:fld id="{FEFE5490-7C78-454F-98DE-D1826F8CB872}" type="slidenum">
              <a:rPr lang="en-US" smtClean="0"/>
              <a:t>31</a:t>
            </a:fld>
            <a:endParaRPr lang="en-US"/>
          </a:p>
        </p:txBody>
      </p:sp>
    </p:spTree>
    <p:extLst>
      <p:ext uri="{BB962C8B-B14F-4D97-AF65-F5344CB8AC3E}">
        <p14:creationId xmlns:p14="http://schemas.microsoft.com/office/powerpoint/2010/main" val="4935292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Bottom up integration</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dirty="0" smtClean="0">
                <a:latin typeface="Times New Roman" panose="02020603050405020304" pitchFamily="18" charset="0"/>
                <a:cs typeface="Times New Roman" panose="02020603050405020304" pitchFamily="18" charset="0"/>
              </a:rPr>
              <a:t>Starts with basic components, larger units are built gradually and tested</a:t>
            </a:r>
          </a:p>
          <a:p>
            <a:pPr algn="just"/>
            <a:r>
              <a:rPr lang="en-US" dirty="0" smtClean="0">
                <a:latin typeface="Times New Roman" panose="02020603050405020304" pitchFamily="18" charset="0"/>
                <a:cs typeface="Times New Roman" panose="02020603050405020304" pitchFamily="18" charset="0"/>
              </a:rPr>
              <a:t>Requires test drivers for high level components</a:t>
            </a:r>
          </a:p>
        </p:txBody>
      </p:sp>
      <p:sp>
        <p:nvSpPr>
          <p:cNvPr id="4" name="Slide Number Placeholder 3"/>
          <p:cNvSpPr>
            <a:spLocks noGrp="1"/>
          </p:cNvSpPr>
          <p:nvPr>
            <p:ph type="sldNum" sz="quarter" idx="12"/>
          </p:nvPr>
        </p:nvSpPr>
        <p:spPr/>
        <p:txBody>
          <a:bodyPr/>
          <a:lstStyle/>
          <a:p>
            <a:fld id="{FEFE5490-7C78-454F-98DE-D1826F8CB872}" type="slidenum">
              <a:rPr lang="en-US" smtClean="0"/>
              <a:t>32</a:t>
            </a:fld>
            <a:endParaRPr lang="en-US"/>
          </a:p>
        </p:txBody>
      </p:sp>
    </p:spTree>
    <p:extLst>
      <p:ext uri="{BB962C8B-B14F-4D97-AF65-F5344CB8AC3E}">
        <p14:creationId xmlns:p14="http://schemas.microsoft.com/office/powerpoint/2010/main" val="42510009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Bottom up integration cont..</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290513" indent="-290513"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Advantage of the bottom-up strategy is the relative ease of its performance, </a:t>
            </a:r>
            <a:r>
              <a:rPr lang="en-US" dirty="0" smtClean="0">
                <a:latin typeface="Times New Roman" panose="02020603050405020304" pitchFamily="18" charset="0"/>
                <a:cs typeface="Times New Roman" panose="02020603050405020304" pitchFamily="18" charset="0"/>
              </a:rPr>
              <a:t>whereas </a:t>
            </a:r>
            <a:r>
              <a:rPr lang="en-US" dirty="0">
                <a:latin typeface="Times New Roman" panose="02020603050405020304" pitchFamily="18" charset="0"/>
                <a:cs typeface="Times New Roman" panose="02020603050405020304" pitchFamily="18" charset="0"/>
              </a:rPr>
              <a:t>the main disadvantage is the lateness at which the program as a whole can </a:t>
            </a:r>
            <a:r>
              <a:rPr lang="en-US" dirty="0" smtClean="0">
                <a:latin typeface="Times New Roman" panose="02020603050405020304" pitchFamily="18" charset="0"/>
                <a:cs typeface="Times New Roman" panose="02020603050405020304" pitchFamily="18" charset="0"/>
              </a:rPr>
              <a:t>be </a:t>
            </a:r>
            <a:r>
              <a:rPr lang="en-US" dirty="0">
                <a:latin typeface="Times New Roman" panose="02020603050405020304" pitchFamily="18" charset="0"/>
                <a:cs typeface="Times New Roman" panose="02020603050405020304" pitchFamily="18" charset="0"/>
              </a:rPr>
              <a:t>observed (that is, at the stage following testing of the last module)</a:t>
            </a:r>
          </a:p>
          <a:p>
            <a:pPr marL="290513" indent="-290513"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main advantage of the top-down strategy is the possibilities it offers to </a:t>
            </a:r>
            <a:r>
              <a:rPr lang="en-US" dirty="0" smtClean="0">
                <a:latin typeface="Times New Roman" panose="02020603050405020304" pitchFamily="18" charset="0"/>
                <a:cs typeface="Times New Roman" panose="02020603050405020304" pitchFamily="18" charset="0"/>
              </a:rPr>
              <a:t>demonstrate </a:t>
            </a:r>
            <a:r>
              <a:rPr lang="en-US" dirty="0">
                <a:latin typeface="Times New Roman" panose="02020603050405020304" pitchFamily="18" charset="0"/>
                <a:cs typeface="Times New Roman" panose="02020603050405020304" pitchFamily="18" charset="0"/>
              </a:rPr>
              <a:t>the entire program functions shortly after activation of the upper-level </a:t>
            </a:r>
            <a:r>
              <a:rPr lang="en-US" dirty="0" smtClean="0">
                <a:latin typeface="Times New Roman" panose="02020603050405020304" pitchFamily="18" charset="0"/>
                <a:cs typeface="Times New Roman" panose="02020603050405020304" pitchFamily="18" charset="0"/>
              </a:rPr>
              <a:t>modules </a:t>
            </a:r>
            <a:r>
              <a:rPr lang="en-US" dirty="0">
                <a:latin typeface="Times New Roman" panose="02020603050405020304" pitchFamily="18" charset="0"/>
                <a:cs typeface="Times New Roman" panose="02020603050405020304" pitchFamily="18" charset="0"/>
              </a:rPr>
              <a:t>has been completed</a:t>
            </a:r>
          </a:p>
          <a:p>
            <a:pPr marL="290513" indent="-290513"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many cases, this characteristic allows for early identification of analysis and </a:t>
            </a:r>
            <a:r>
              <a:rPr lang="en-US" dirty="0" smtClean="0">
                <a:latin typeface="Times New Roman" panose="02020603050405020304" pitchFamily="18" charset="0"/>
                <a:cs typeface="Times New Roman" panose="02020603050405020304" pitchFamily="18" charset="0"/>
              </a:rPr>
              <a:t>design </a:t>
            </a:r>
            <a:r>
              <a:rPr lang="en-US" dirty="0">
                <a:latin typeface="Times New Roman" panose="02020603050405020304" pitchFamily="18" charset="0"/>
                <a:cs typeface="Times New Roman" panose="02020603050405020304" pitchFamily="18" charset="0"/>
              </a:rPr>
              <a:t>errors related to algorithms, functional requirements, and the </a:t>
            </a:r>
            <a:r>
              <a:rPr lang="en-US" dirty="0" smtClean="0">
                <a:latin typeface="Times New Roman" panose="02020603050405020304" pitchFamily="18" charset="0"/>
                <a:cs typeface="Times New Roman" panose="02020603050405020304" pitchFamily="18" charset="0"/>
              </a:rPr>
              <a:t>like</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33</a:t>
            </a:fld>
            <a:endParaRPr lang="en-US"/>
          </a:p>
        </p:txBody>
      </p:sp>
    </p:spTree>
    <p:extLst>
      <p:ext uri="{BB962C8B-B14F-4D97-AF65-F5344CB8AC3E}">
        <p14:creationId xmlns:p14="http://schemas.microsoft.com/office/powerpoint/2010/main" val="10178939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Bottom up integration cont..</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290513" indent="-290513"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 main disadvantage of top down strategy is the relative difficulty of preparing the </a:t>
            </a:r>
            <a:r>
              <a:rPr lang="en-US" dirty="0" smtClean="0">
                <a:latin typeface="Times New Roman" panose="02020603050405020304" pitchFamily="18" charset="0"/>
                <a:cs typeface="Times New Roman" panose="02020603050405020304" pitchFamily="18" charset="0"/>
              </a:rPr>
              <a:t>required </a:t>
            </a:r>
            <a:r>
              <a:rPr lang="en-US" dirty="0">
                <a:latin typeface="Times New Roman" panose="02020603050405020304" pitchFamily="18" charset="0"/>
                <a:cs typeface="Times New Roman" panose="02020603050405020304" pitchFamily="18" charset="0"/>
              </a:rPr>
              <a:t>stubs, which often require very complicated programming</a:t>
            </a:r>
          </a:p>
          <a:p>
            <a:pPr marL="290513" indent="-290513"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is relatively difficult to analyze the results of the tests</a:t>
            </a:r>
          </a:p>
          <a:p>
            <a:pPr marL="290513" indent="-290513"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Top </a:t>
            </a:r>
            <a:r>
              <a:rPr lang="en-US" dirty="0">
                <a:latin typeface="Times New Roman" panose="02020603050405020304" pitchFamily="18" charset="0"/>
                <a:cs typeface="Times New Roman" panose="02020603050405020304" pitchFamily="18" charset="0"/>
              </a:rPr>
              <a:t>down integration leaves utility modules until the end, so that problems with </a:t>
            </a:r>
            <a:r>
              <a:rPr lang="en-US" dirty="0" smtClean="0">
                <a:latin typeface="Times New Roman" panose="02020603050405020304" pitchFamily="18" charset="0"/>
                <a:cs typeface="Times New Roman" panose="02020603050405020304" pitchFamily="18" charset="0"/>
              </a:rPr>
              <a:t>these </a:t>
            </a:r>
            <a:r>
              <a:rPr lang="en-US" dirty="0">
                <a:latin typeface="Times New Roman" panose="02020603050405020304" pitchFamily="18" charset="0"/>
                <a:cs typeface="Times New Roman" panose="02020603050405020304" pitchFamily="18" charset="0"/>
              </a:rPr>
              <a:t>won't be detected early. If bottom-up integration is used then these might be </a:t>
            </a:r>
            <a:r>
              <a:rPr lang="en-US" dirty="0" smtClean="0">
                <a:latin typeface="Times New Roman" panose="02020603050405020304" pitchFamily="18" charset="0"/>
                <a:cs typeface="Times New Roman" panose="02020603050405020304" pitchFamily="18" charset="0"/>
              </a:rPr>
              <a:t>found </a:t>
            </a:r>
            <a:r>
              <a:rPr lang="en-US" dirty="0">
                <a:latin typeface="Times New Roman" panose="02020603050405020304" pitchFamily="18" charset="0"/>
                <a:cs typeface="Times New Roman" panose="02020603050405020304" pitchFamily="18" charset="0"/>
              </a:rPr>
              <a:t>soon after integration testing </a:t>
            </a:r>
            <a:r>
              <a:rPr lang="en-US" dirty="0" smtClean="0">
                <a:latin typeface="Times New Roman" panose="02020603050405020304" pitchFamily="18" charset="0"/>
                <a:cs typeface="Times New Roman" panose="02020603050405020304" pitchFamily="18" charset="0"/>
              </a:rPr>
              <a:t>begins</a:t>
            </a:r>
            <a:endParaRPr lang="en-US" dirty="0">
              <a:latin typeface="Times New Roman" panose="02020603050405020304" pitchFamily="18" charset="0"/>
              <a:cs typeface="Times New Roman" panose="02020603050405020304" pitchFamily="18" charset="0"/>
            </a:endParaRPr>
          </a:p>
          <a:p>
            <a:pPr marL="290513" indent="-290513"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Top </a:t>
            </a:r>
            <a:r>
              <a:rPr lang="en-US" dirty="0">
                <a:latin typeface="Times New Roman" panose="02020603050405020304" pitchFamily="18" charset="0"/>
                <a:cs typeface="Times New Roman" panose="02020603050405020304" pitchFamily="18" charset="0"/>
              </a:rPr>
              <a:t>down integration also has disadvantage when the lower layers are finally added </a:t>
            </a: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upper layers may need to be retested</a:t>
            </a:r>
          </a:p>
        </p:txBody>
      </p:sp>
      <p:sp>
        <p:nvSpPr>
          <p:cNvPr id="4" name="Slide Number Placeholder 3"/>
          <p:cNvSpPr>
            <a:spLocks noGrp="1"/>
          </p:cNvSpPr>
          <p:nvPr>
            <p:ph type="sldNum" sz="quarter" idx="12"/>
          </p:nvPr>
        </p:nvSpPr>
        <p:spPr/>
        <p:txBody>
          <a:bodyPr/>
          <a:lstStyle/>
          <a:p>
            <a:fld id="{FEFE5490-7C78-454F-98DE-D1826F8CB872}" type="slidenum">
              <a:rPr lang="en-US" smtClean="0"/>
              <a:t>34</a:t>
            </a:fld>
            <a:endParaRPr lang="en-US"/>
          </a:p>
        </p:txBody>
      </p:sp>
    </p:spTree>
    <p:extLst>
      <p:ext uri="{BB962C8B-B14F-4D97-AF65-F5344CB8AC3E}">
        <p14:creationId xmlns:p14="http://schemas.microsoft.com/office/powerpoint/2010/main" val="23656387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EFE5490-7C78-454F-98DE-D1826F8CB872}" type="slidenum">
              <a:rPr lang="en-US" smtClean="0"/>
              <a:t>35</a:t>
            </a:fld>
            <a:endParaRPr lang="en-US"/>
          </a:p>
        </p:txBody>
      </p:sp>
      <p:pic>
        <p:nvPicPr>
          <p:cNvPr id="5" name="Picture 4"/>
          <p:cNvPicPr>
            <a:picLocks noChangeAspect="1"/>
          </p:cNvPicPr>
          <p:nvPr/>
        </p:nvPicPr>
        <p:blipFill>
          <a:blip r:embed="rId2"/>
          <a:stretch>
            <a:fillRect/>
          </a:stretch>
        </p:blipFill>
        <p:spPr>
          <a:xfrm>
            <a:off x="101259" y="611042"/>
            <a:ext cx="12090741" cy="4964568"/>
          </a:xfrm>
          <a:prstGeom prst="rect">
            <a:avLst/>
          </a:prstGeom>
        </p:spPr>
      </p:pic>
    </p:spTree>
    <p:extLst>
      <p:ext uri="{BB962C8B-B14F-4D97-AF65-F5344CB8AC3E}">
        <p14:creationId xmlns:p14="http://schemas.microsoft.com/office/powerpoint/2010/main" val="4280560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Bottom up </a:t>
            </a:r>
            <a:r>
              <a:rPr lang="en-US" sz="3600" dirty="0" smtClean="0">
                <a:latin typeface="Times New Roman" panose="02020603050405020304" pitchFamily="18" charset="0"/>
                <a:cs typeface="Times New Roman" panose="02020603050405020304" pitchFamily="18" charset="0"/>
              </a:rPr>
              <a:t>integration cont..</a:t>
            </a:r>
            <a:endParaRPr lang="en-US" sz="3600" dirty="0"/>
          </a:p>
        </p:txBody>
      </p:sp>
      <p:sp>
        <p:nvSpPr>
          <p:cNvPr id="3" name="Content Placeholder 2"/>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Stage 1:</a:t>
            </a:r>
            <a:r>
              <a:rPr lang="en-US" dirty="0">
                <a:latin typeface="Times New Roman" panose="02020603050405020304" pitchFamily="18" charset="0"/>
                <a:cs typeface="Times New Roman" panose="02020603050405020304" pitchFamily="18" charset="0"/>
              </a:rPr>
              <a:t> Unit tests of modules 1 to </a:t>
            </a:r>
            <a:r>
              <a:rPr lang="en-US" dirty="0" smtClean="0">
                <a:latin typeface="Times New Roman" panose="02020603050405020304" pitchFamily="18" charset="0"/>
                <a:cs typeface="Times New Roman" panose="02020603050405020304" pitchFamily="18" charset="0"/>
              </a:rPr>
              <a:t>7</a:t>
            </a:r>
            <a:endParaRPr lang="en-US" dirty="0" smtClean="0">
              <a:latin typeface="Times New Roman" panose="02020603050405020304" pitchFamily="18" charset="0"/>
              <a:cs typeface="Times New Roman" panose="02020603050405020304" pitchFamily="18" charset="0"/>
            </a:endParaRPr>
          </a:p>
          <a:p>
            <a:r>
              <a:rPr lang="en-US" b="1" dirty="0" smtClean="0">
                <a:latin typeface="Times New Roman" panose="02020603050405020304" pitchFamily="18" charset="0"/>
                <a:cs typeface="Times New Roman" panose="02020603050405020304" pitchFamily="18" charset="0"/>
              </a:rPr>
              <a:t>Stage </a:t>
            </a:r>
            <a:r>
              <a:rPr lang="en-US" b="1"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Integration test A of modules 1 and 2, developed and tested in stage 1, and integrated with module 8, developed in the current </a:t>
            </a:r>
            <a:r>
              <a:rPr lang="en-US" dirty="0" smtClean="0">
                <a:latin typeface="Times New Roman" panose="02020603050405020304" pitchFamily="18" charset="0"/>
                <a:cs typeface="Times New Roman" panose="02020603050405020304" pitchFamily="18" charset="0"/>
              </a:rPr>
              <a:t>stage</a:t>
            </a:r>
            <a:endParaRPr lang="en-US" dirty="0" smtClean="0">
              <a:latin typeface="Times New Roman" panose="02020603050405020304" pitchFamily="18" charset="0"/>
              <a:cs typeface="Times New Roman" panose="02020603050405020304" pitchFamily="18" charset="0"/>
            </a:endParaRPr>
          </a:p>
          <a:p>
            <a:r>
              <a:rPr lang="en-US" b="1" dirty="0" smtClean="0">
                <a:latin typeface="Times New Roman" panose="02020603050405020304" pitchFamily="18" charset="0"/>
                <a:cs typeface="Times New Roman" panose="02020603050405020304" pitchFamily="18" charset="0"/>
              </a:rPr>
              <a:t>Stage </a:t>
            </a:r>
            <a:r>
              <a:rPr lang="en-US" b="1" dirty="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 Two separate integration tests, B, on modules 3, 4, 5 and 8, integrated with module 9, and C, for modules 6 and 7, integrated with module </a:t>
            </a:r>
            <a:r>
              <a:rPr lang="en-US" dirty="0" smtClean="0">
                <a:latin typeface="Times New Roman" panose="02020603050405020304" pitchFamily="18" charset="0"/>
                <a:cs typeface="Times New Roman" panose="02020603050405020304" pitchFamily="18" charset="0"/>
              </a:rPr>
              <a:t>10</a:t>
            </a:r>
            <a:endParaRPr lang="en-US" dirty="0" smtClean="0">
              <a:latin typeface="Times New Roman" panose="02020603050405020304" pitchFamily="18" charset="0"/>
              <a:cs typeface="Times New Roman" panose="02020603050405020304" pitchFamily="18" charset="0"/>
            </a:endParaRPr>
          </a:p>
          <a:p>
            <a:r>
              <a:rPr lang="en-US" b="1" dirty="0" smtClean="0">
                <a:latin typeface="Times New Roman" panose="02020603050405020304" pitchFamily="18" charset="0"/>
                <a:cs typeface="Times New Roman" panose="02020603050405020304" pitchFamily="18" charset="0"/>
              </a:rPr>
              <a:t>Stage </a:t>
            </a:r>
            <a:r>
              <a:rPr lang="en-US" b="1" dirty="0">
                <a:latin typeface="Times New Roman" panose="02020603050405020304" pitchFamily="18" charset="0"/>
                <a:cs typeface="Times New Roman" panose="02020603050405020304" pitchFamily="18" charset="0"/>
              </a:rPr>
              <a:t>4:</a:t>
            </a:r>
            <a:r>
              <a:rPr lang="en-US" dirty="0">
                <a:latin typeface="Times New Roman" panose="02020603050405020304" pitchFamily="18" charset="0"/>
                <a:cs typeface="Times New Roman" panose="02020603050405020304" pitchFamily="18" charset="0"/>
              </a:rPr>
              <a:t> System test is performed after B and C have been integrated with module 11, developed in the current stage</a:t>
            </a:r>
          </a:p>
        </p:txBody>
      </p:sp>
      <p:sp>
        <p:nvSpPr>
          <p:cNvPr id="4" name="Slide Number Placeholder 3"/>
          <p:cNvSpPr>
            <a:spLocks noGrp="1"/>
          </p:cNvSpPr>
          <p:nvPr>
            <p:ph type="sldNum" sz="quarter" idx="12"/>
          </p:nvPr>
        </p:nvSpPr>
        <p:spPr/>
        <p:txBody>
          <a:bodyPr/>
          <a:lstStyle/>
          <a:p>
            <a:fld id="{FEFE5490-7C78-454F-98DE-D1826F8CB872}" type="slidenum">
              <a:rPr lang="en-US" smtClean="0"/>
              <a:t>36</a:t>
            </a:fld>
            <a:endParaRPr lang="en-US"/>
          </a:p>
        </p:txBody>
      </p:sp>
    </p:spTree>
    <p:extLst>
      <p:ext uri="{BB962C8B-B14F-4D97-AF65-F5344CB8AC3E}">
        <p14:creationId xmlns:p14="http://schemas.microsoft.com/office/powerpoint/2010/main" val="9103601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latin typeface="Times New Roman" panose="02020603050405020304" pitchFamily="18" charset="0"/>
                <a:cs typeface="Times New Roman" panose="02020603050405020304" pitchFamily="18" charset="0"/>
              </a:rPr>
              <a:t>Bi-directional integration</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a:bodyPr>
          <a:lstStyle/>
          <a:p>
            <a:pPr algn="just"/>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is a combination of the top-down and bottom-up integration approaches used together to derive integration steps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A </a:t>
            </a:r>
            <a:r>
              <a:rPr lang="en-US" dirty="0">
                <a:latin typeface="Times New Roman" panose="02020603050405020304" pitchFamily="18" charset="0"/>
                <a:cs typeface="Times New Roman" panose="02020603050405020304" pitchFamily="18" charset="0"/>
              </a:rPr>
              <a:t>target layer is defined in the middle of the program and testing is carried out from the top and bottom layers to converge at this target </a:t>
            </a:r>
            <a:r>
              <a:rPr lang="en-US" dirty="0" smtClean="0">
                <a:latin typeface="Times New Roman" panose="02020603050405020304" pitchFamily="18" charset="0"/>
                <a:cs typeface="Times New Roman" panose="02020603050405020304" pitchFamily="18" charset="0"/>
              </a:rPr>
              <a:t>layer</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However</a:t>
            </a:r>
            <a:r>
              <a:rPr lang="en-US" dirty="0">
                <a:latin typeface="Times New Roman" panose="02020603050405020304" pitchFamily="18" charset="0"/>
                <a:cs typeface="Times New Roman" panose="02020603050405020304" pitchFamily="18" charset="0"/>
              </a:rPr>
              <a:t>, it can be more complex to plan and selecting the best target layer can be difficult.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is performed initially with the use of stubs and drivers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Stubs </a:t>
            </a:r>
            <a:r>
              <a:rPr lang="en-US" dirty="0">
                <a:latin typeface="Times New Roman" panose="02020603050405020304" pitchFamily="18" charset="0"/>
                <a:cs typeface="Times New Roman" panose="02020603050405020304" pitchFamily="18" charset="0"/>
              </a:rPr>
              <a:t>and drivers are software replacement simulators required for modules not available when performing a unit or integration test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Stubs </a:t>
            </a:r>
            <a:r>
              <a:rPr lang="en-US" dirty="0">
                <a:latin typeface="Times New Roman" panose="02020603050405020304" pitchFamily="18" charset="0"/>
                <a:cs typeface="Times New Roman" panose="02020603050405020304" pitchFamily="18" charset="0"/>
              </a:rPr>
              <a:t>provide down stream connectivity and stimulate the behavior of a missing </a:t>
            </a:r>
            <a:r>
              <a:rPr lang="en-US" dirty="0" smtClean="0">
                <a:latin typeface="Times New Roman" panose="02020603050405020304" pitchFamily="18" charset="0"/>
                <a:cs typeface="Times New Roman" panose="02020603050405020304" pitchFamily="18" charset="0"/>
              </a:rPr>
              <a:t>component</a:t>
            </a:r>
          </a:p>
          <a:p>
            <a:pPr algn="just"/>
            <a:r>
              <a:rPr lang="en-US" dirty="0" smtClean="0">
                <a:latin typeface="Times New Roman" panose="02020603050405020304" pitchFamily="18" charset="0"/>
                <a:cs typeface="Times New Roman" panose="02020603050405020304" pitchFamily="18" charset="0"/>
              </a:rPr>
              <a:t>Stubs </a:t>
            </a:r>
            <a:r>
              <a:rPr lang="en-US" dirty="0">
                <a:latin typeface="Times New Roman" panose="02020603050405020304" pitchFamily="18" charset="0"/>
                <a:cs typeface="Times New Roman" panose="02020603050405020304" pitchFamily="18" charset="0"/>
              </a:rPr>
              <a:t>are required for top down testing of incomplete systems</a:t>
            </a:r>
          </a:p>
        </p:txBody>
      </p:sp>
      <p:sp>
        <p:nvSpPr>
          <p:cNvPr id="4" name="Slide Number Placeholder 3"/>
          <p:cNvSpPr>
            <a:spLocks noGrp="1"/>
          </p:cNvSpPr>
          <p:nvPr>
            <p:ph type="sldNum" sz="quarter" idx="12"/>
          </p:nvPr>
        </p:nvSpPr>
        <p:spPr/>
        <p:txBody>
          <a:bodyPr/>
          <a:lstStyle/>
          <a:p>
            <a:fld id="{FEFE5490-7C78-454F-98DE-D1826F8CB872}" type="slidenum">
              <a:rPr lang="en-US" smtClean="0"/>
              <a:t>37</a:t>
            </a:fld>
            <a:endParaRPr lang="en-US"/>
          </a:p>
        </p:txBody>
      </p:sp>
    </p:spTree>
    <p:extLst>
      <p:ext uri="{BB962C8B-B14F-4D97-AF65-F5344CB8AC3E}">
        <p14:creationId xmlns:p14="http://schemas.microsoft.com/office/powerpoint/2010/main" val="21743255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latin typeface="Times New Roman" panose="02020603050405020304" pitchFamily="18" charset="0"/>
                <a:cs typeface="Times New Roman" panose="02020603050405020304" pitchFamily="18" charset="0"/>
              </a:rPr>
              <a:t>Bi-directional integration</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401638" indent="-333375"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Drivers </a:t>
            </a:r>
            <a:r>
              <a:rPr lang="en-US" dirty="0">
                <a:latin typeface="Times New Roman" panose="02020603050405020304" pitchFamily="18" charset="0"/>
                <a:cs typeface="Times New Roman" panose="02020603050405020304" pitchFamily="18" charset="0"/>
              </a:rPr>
              <a:t>are used to provide upstream </a:t>
            </a:r>
            <a:r>
              <a:rPr lang="en-US" dirty="0" smtClean="0">
                <a:latin typeface="Times New Roman" panose="02020603050405020304" pitchFamily="18" charset="0"/>
                <a:cs typeface="Times New Roman" panose="02020603050405020304" pitchFamily="18" charset="0"/>
              </a:rPr>
              <a:t>connectivity</a:t>
            </a:r>
            <a:endParaRPr lang="en-US" dirty="0">
              <a:latin typeface="Times New Roman" panose="02020603050405020304" pitchFamily="18" charset="0"/>
              <a:cs typeface="Times New Roman" panose="02020603050405020304" pitchFamily="18" charset="0"/>
            </a:endParaRPr>
          </a:p>
          <a:p>
            <a:pPr marL="401638" indent="-333375"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A </a:t>
            </a:r>
            <a:r>
              <a:rPr lang="en-US" dirty="0">
                <a:latin typeface="Times New Roman" panose="02020603050405020304" pitchFamily="18" charset="0"/>
                <a:cs typeface="Times New Roman" panose="02020603050405020304" pitchFamily="18" charset="0"/>
              </a:rPr>
              <a:t>driver is a substitute module but of the upper level module that activates </a:t>
            </a:r>
            <a:r>
              <a:rPr lang="en-US" dirty="0" smtClean="0">
                <a:latin typeface="Times New Roman" panose="02020603050405020304" pitchFamily="18" charset="0"/>
                <a:cs typeface="Times New Roman" panose="02020603050405020304" pitchFamily="18" charset="0"/>
              </a:rPr>
              <a:t>the module </a:t>
            </a:r>
            <a:r>
              <a:rPr lang="en-US" dirty="0">
                <a:latin typeface="Times New Roman" panose="02020603050405020304" pitchFamily="18" charset="0"/>
                <a:cs typeface="Times New Roman" panose="02020603050405020304" pitchFamily="18" charset="0"/>
              </a:rPr>
              <a:t>tested</a:t>
            </a:r>
          </a:p>
          <a:p>
            <a:pPr marL="401638" indent="-333375"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driver is passing the test data on to the tested module and accepting the results </a:t>
            </a:r>
            <a:r>
              <a:rPr lang="en-US" dirty="0" smtClean="0">
                <a:latin typeface="Times New Roman" panose="02020603050405020304" pitchFamily="18" charset="0"/>
                <a:cs typeface="Times New Roman" panose="02020603050405020304" pitchFamily="18" charset="0"/>
              </a:rPr>
              <a:t>calculated </a:t>
            </a:r>
            <a:r>
              <a:rPr lang="en-US" dirty="0">
                <a:latin typeface="Times New Roman" panose="02020603050405020304" pitchFamily="18" charset="0"/>
                <a:cs typeface="Times New Roman" panose="02020603050405020304" pitchFamily="18" charset="0"/>
              </a:rPr>
              <a:t>by it</a:t>
            </a:r>
          </a:p>
          <a:p>
            <a:pPr marL="401638" indent="-333375"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Required </a:t>
            </a:r>
            <a:r>
              <a:rPr lang="en-US" dirty="0">
                <a:latin typeface="Times New Roman" panose="02020603050405020304" pitchFamily="18" charset="0"/>
                <a:cs typeface="Times New Roman" panose="02020603050405020304" pitchFamily="18" charset="0"/>
              </a:rPr>
              <a:t>in bottom up testing until the upper level modules are developed</a:t>
            </a:r>
          </a:p>
        </p:txBody>
      </p:sp>
      <p:sp>
        <p:nvSpPr>
          <p:cNvPr id="4" name="Slide Number Placeholder 3"/>
          <p:cNvSpPr>
            <a:spLocks noGrp="1"/>
          </p:cNvSpPr>
          <p:nvPr>
            <p:ph type="sldNum" sz="quarter" idx="12"/>
          </p:nvPr>
        </p:nvSpPr>
        <p:spPr/>
        <p:txBody>
          <a:bodyPr/>
          <a:lstStyle/>
          <a:p>
            <a:fld id="{FEFE5490-7C78-454F-98DE-D1826F8CB872}" type="slidenum">
              <a:rPr lang="en-US" smtClean="0"/>
              <a:t>38</a:t>
            </a:fld>
            <a:endParaRPr lang="en-US"/>
          </a:p>
        </p:txBody>
      </p:sp>
    </p:spTree>
    <p:extLst>
      <p:ext uri="{BB962C8B-B14F-4D97-AF65-F5344CB8AC3E}">
        <p14:creationId xmlns:p14="http://schemas.microsoft.com/office/powerpoint/2010/main" val="25720562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Bi-directional integration</a:t>
            </a:r>
            <a:endParaRPr lang="en-US" sz="3600" dirty="0"/>
          </a:p>
        </p:txBody>
      </p:sp>
      <p:sp>
        <p:nvSpPr>
          <p:cNvPr id="3" name="Content Placeholder 2"/>
          <p:cNvSpPr>
            <a:spLocks noGrp="1"/>
          </p:cNvSpPr>
          <p:nvPr>
            <p:ph idx="1"/>
          </p:nvPr>
        </p:nvSpPr>
        <p:spPr/>
        <p:txBody>
          <a:bodyPr/>
          <a:lstStyle/>
          <a:p>
            <a:pPr marL="290513" indent="-290513">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At </a:t>
            </a:r>
            <a:r>
              <a:rPr lang="en-US" dirty="0">
                <a:latin typeface="Times New Roman" panose="02020603050405020304" pitchFamily="18" charset="0"/>
                <a:cs typeface="Times New Roman" panose="02020603050405020304" pitchFamily="18" charset="0"/>
              </a:rPr>
              <a:t>stage 2 lower level modules 1 and 2 </a:t>
            </a:r>
            <a:r>
              <a:rPr lang="en-US" dirty="0" smtClean="0">
                <a:latin typeface="Times New Roman" panose="02020603050405020304" pitchFamily="18" charset="0"/>
                <a:cs typeface="Times New Roman" panose="02020603050405020304" pitchFamily="18" charset="0"/>
              </a:rPr>
              <a:t>are </a:t>
            </a:r>
            <a:r>
              <a:rPr lang="en-US" dirty="0">
                <a:latin typeface="Times New Roman" panose="02020603050405020304" pitchFamily="18" charset="0"/>
                <a:cs typeface="Times New Roman" panose="02020603050405020304" pitchFamily="18" charset="0"/>
              </a:rPr>
              <a:t>available; they have been tested and </a:t>
            </a:r>
            <a:r>
              <a:rPr lang="en-US" dirty="0" smtClean="0">
                <a:latin typeface="Times New Roman" panose="02020603050405020304" pitchFamily="18" charset="0"/>
                <a:cs typeface="Times New Roman" panose="02020603050405020304" pitchFamily="18" charset="0"/>
              </a:rPr>
              <a:t>corrected </a:t>
            </a:r>
            <a:r>
              <a:rPr lang="en-US" dirty="0">
                <a:latin typeface="Times New Roman" panose="02020603050405020304" pitchFamily="18" charset="0"/>
                <a:cs typeface="Times New Roman" panose="02020603050405020304" pitchFamily="18" charset="0"/>
              </a:rPr>
              <a:t>at stage 1 of testing</a:t>
            </a:r>
          </a:p>
          <a:p>
            <a:pPr marL="290513" indent="-290513">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A </a:t>
            </a:r>
            <a:r>
              <a:rPr lang="en-US" dirty="0">
                <a:latin typeface="Times New Roman" panose="02020603050405020304" pitchFamily="18" charset="0"/>
                <a:cs typeface="Times New Roman" panose="02020603050405020304" pitchFamily="18" charset="0"/>
              </a:rPr>
              <a:t>driver is required to substitute for </a:t>
            </a:r>
            <a:r>
              <a:rPr lang="en-US" dirty="0" smtClean="0">
                <a:latin typeface="Times New Roman" panose="02020603050405020304" pitchFamily="18" charset="0"/>
                <a:cs typeface="Times New Roman" panose="02020603050405020304" pitchFamily="18" charset="0"/>
              </a:rPr>
              <a:t>upper </a:t>
            </a:r>
            <a:r>
              <a:rPr lang="en-US" dirty="0">
                <a:latin typeface="Times New Roman" panose="02020603050405020304" pitchFamily="18" charset="0"/>
                <a:cs typeface="Times New Roman" panose="02020603050405020304" pitchFamily="18" charset="0"/>
              </a:rPr>
              <a:t>level module 9, which has not </a:t>
            </a:r>
            <a:r>
              <a:rPr lang="en-US" dirty="0" smtClean="0">
                <a:latin typeface="Times New Roman" panose="02020603050405020304" pitchFamily="18" charset="0"/>
                <a:cs typeface="Times New Roman" panose="02020603050405020304" pitchFamily="18" charset="0"/>
              </a:rPr>
              <a:t>been completed</a:t>
            </a:r>
            <a:endParaRPr lang="en-US" dirty="0">
              <a:latin typeface="Times New Roman" panose="02020603050405020304" pitchFamily="18" charset="0"/>
              <a:cs typeface="Times New Roman" panose="02020603050405020304" pitchFamily="18" charset="0"/>
            </a:endParaRPr>
          </a:p>
          <a:p>
            <a:pPr marL="290513" indent="-290513">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39</a:t>
            </a:fld>
            <a:endParaRPr lang="en-US"/>
          </a:p>
        </p:txBody>
      </p:sp>
      <p:pic>
        <p:nvPicPr>
          <p:cNvPr id="6" name="Picture 5"/>
          <p:cNvPicPr>
            <a:picLocks noChangeAspect="1"/>
          </p:cNvPicPr>
          <p:nvPr/>
        </p:nvPicPr>
        <p:blipFill>
          <a:blip r:embed="rId2"/>
          <a:stretch>
            <a:fillRect/>
          </a:stretch>
        </p:blipFill>
        <p:spPr>
          <a:xfrm>
            <a:off x="3628458" y="3616597"/>
            <a:ext cx="4801270" cy="2991267"/>
          </a:xfrm>
          <a:prstGeom prst="rect">
            <a:avLst/>
          </a:prstGeom>
        </p:spPr>
      </p:pic>
    </p:spTree>
    <p:extLst>
      <p:ext uri="{BB962C8B-B14F-4D97-AF65-F5344CB8AC3E}">
        <p14:creationId xmlns:p14="http://schemas.microsoft.com/office/powerpoint/2010/main" val="15845220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Bi-directional integration</a:t>
            </a:r>
            <a:endParaRPr lang="en-US" sz="3600" dirty="0"/>
          </a:p>
        </p:txBody>
      </p:sp>
      <p:sp>
        <p:nvSpPr>
          <p:cNvPr id="3" name="Content Placeholder 2"/>
          <p:cNvSpPr>
            <a:spLocks noGrp="1"/>
          </p:cNvSpPr>
          <p:nvPr>
            <p:ph idx="1"/>
          </p:nvPr>
        </p:nvSpPr>
        <p:spPr/>
        <p:txBody>
          <a:bodyPr/>
          <a:lstStyle/>
          <a:p>
            <a:pPr marL="290513" indent="-290513">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After </a:t>
            </a:r>
            <a:r>
              <a:rPr lang="en-US" dirty="0">
                <a:latin typeface="Times New Roman" panose="02020603050405020304" pitchFamily="18" charset="0"/>
                <a:cs typeface="Times New Roman" panose="02020603050405020304" pitchFamily="18" charset="0"/>
              </a:rPr>
              <a:t>the functionality of these integrated components is tested, the drivers and </a:t>
            </a:r>
            <a:r>
              <a:rPr lang="en-US" dirty="0" smtClean="0">
                <a:latin typeface="Times New Roman" panose="02020603050405020304" pitchFamily="18" charset="0"/>
                <a:cs typeface="Times New Roman" panose="02020603050405020304" pitchFamily="18" charset="0"/>
              </a:rPr>
              <a:t>Stubs </a:t>
            </a:r>
            <a:r>
              <a:rPr lang="en-US" dirty="0">
                <a:latin typeface="Times New Roman" panose="02020603050405020304" pitchFamily="18" charset="0"/>
                <a:cs typeface="Times New Roman" panose="02020603050405020304" pitchFamily="18" charset="0"/>
              </a:rPr>
              <a:t>are discarded</a:t>
            </a:r>
          </a:p>
          <a:p>
            <a:pPr marL="290513" indent="-290513">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approach is also called </a:t>
            </a:r>
            <a:r>
              <a:rPr lang="en-US" i="1" dirty="0">
                <a:latin typeface="Times New Roman" panose="02020603050405020304" pitchFamily="18" charset="0"/>
                <a:cs typeface="Times New Roman" panose="02020603050405020304" pitchFamily="18" charset="0"/>
              </a:rPr>
              <a:t>sandwich </a:t>
            </a:r>
            <a:r>
              <a:rPr lang="en-US" i="1" dirty="0" smtClean="0">
                <a:latin typeface="Times New Roman" panose="02020603050405020304" pitchFamily="18" charset="0"/>
                <a:cs typeface="Times New Roman" panose="02020603050405020304" pitchFamily="18" charset="0"/>
              </a:rPr>
              <a:t>integration</a:t>
            </a:r>
            <a:endParaRPr lang="en-US" i="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40</a:t>
            </a:fld>
            <a:endParaRPr lang="en-US"/>
          </a:p>
        </p:txBody>
      </p:sp>
    </p:spTree>
    <p:extLst>
      <p:ext uri="{BB962C8B-B14F-4D97-AF65-F5344CB8AC3E}">
        <p14:creationId xmlns:p14="http://schemas.microsoft.com/office/powerpoint/2010/main" val="28683134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EFE5490-7C78-454F-98DE-D1826F8CB872}" type="slidenum">
              <a:rPr lang="en-US" smtClean="0"/>
              <a:t>41</a:t>
            </a:fld>
            <a:endParaRPr lang="en-US"/>
          </a:p>
        </p:txBody>
      </p:sp>
      <p:pic>
        <p:nvPicPr>
          <p:cNvPr id="5" name="Picture 4"/>
          <p:cNvPicPr>
            <a:picLocks noChangeAspect="1"/>
          </p:cNvPicPr>
          <p:nvPr/>
        </p:nvPicPr>
        <p:blipFill>
          <a:blip r:embed="rId2"/>
          <a:stretch>
            <a:fillRect/>
          </a:stretch>
        </p:blipFill>
        <p:spPr>
          <a:xfrm>
            <a:off x="0" y="530452"/>
            <a:ext cx="12191999" cy="5514863"/>
          </a:xfrm>
          <a:prstGeom prst="rect">
            <a:avLst/>
          </a:prstGeom>
        </p:spPr>
      </p:pic>
    </p:spTree>
    <p:extLst>
      <p:ext uri="{BB962C8B-B14F-4D97-AF65-F5344CB8AC3E}">
        <p14:creationId xmlns:p14="http://schemas.microsoft.com/office/powerpoint/2010/main" val="13650204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Steps for integration using sandwich testing</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049741284"/>
              </p:ext>
            </p:extLst>
          </p:nvPr>
        </p:nvGraphicFramePr>
        <p:xfrm>
          <a:off x="1023938" y="2286000"/>
          <a:ext cx="9720262" cy="1854200"/>
        </p:xfrm>
        <a:graphic>
          <a:graphicData uri="http://schemas.openxmlformats.org/drawingml/2006/table">
            <a:tbl>
              <a:tblPr firstRow="1" bandRow="1">
                <a:tableStyleId>{5C22544A-7EE6-4342-B048-85BDC9FD1C3A}</a:tableStyleId>
              </a:tblPr>
              <a:tblGrid>
                <a:gridCol w="4860131">
                  <a:extLst>
                    <a:ext uri="{9D8B030D-6E8A-4147-A177-3AD203B41FA5}">
                      <a16:colId xmlns:a16="http://schemas.microsoft.com/office/drawing/2014/main" val="3600160296"/>
                    </a:ext>
                  </a:extLst>
                </a:gridCol>
                <a:gridCol w="4860131">
                  <a:extLst>
                    <a:ext uri="{9D8B030D-6E8A-4147-A177-3AD203B41FA5}">
                      <a16:colId xmlns:a16="http://schemas.microsoft.com/office/drawing/2014/main" val="3500039724"/>
                    </a:ext>
                  </a:extLst>
                </a:gridCol>
              </a:tblGrid>
              <a:tr h="370840">
                <a:tc>
                  <a:txBody>
                    <a:bodyPr/>
                    <a:lstStyle/>
                    <a:p>
                      <a:r>
                        <a:rPr lang="en-US" dirty="0" smtClean="0">
                          <a:latin typeface="Times New Roman" panose="02020603050405020304" pitchFamily="18" charset="0"/>
                          <a:cs typeface="Times New Roman" panose="02020603050405020304" pitchFamily="18" charset="0"/>
                        </a:rPr>
                        <a:t>Step</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Interface Tested</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0640264"/>
                  </a:ext>
                </a:extLst>
              </a:tr>
              <a:tr h="370840">
                <a:tc>
                  <a:txBody>
                    <a:bodyPr/>
                    <a:lstStyle/>
                    <a:p>
                      <a:r>
                        <a:rPr lang="en-US" b="1" dirty="0" smtClean="0">
                          <a:latin typeface="Times New Roman" panose="02020603050405020304" pitchFamily="18" charset="0"/>
                          <a:cs typeface="Times New Roman" panose="02020603050405020304" pitchFamily="18" charset="0"/>
                        </a:rPr>
                        <a:t>1</a:t>
                      </a:r>
                      <a:endParaRPr lang="en-US" b="1"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2-6</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34349598"/>
                  </a:ext>
                </a:extLst>
              </a:tr>
              <a:tr h="370840">
                <a:tc>
                  <a:txBody>
                    <a:bodyPr/>
                    <a:lstStyle/>
                    <a:p>
                      <a:r>
                        <a:rPr lang="en-US" b="1" dirty="0" smtClean="0">
                          <a:latin typeface="Times New Roman" panose="02020603050405020304" pitchFamily="18" charset="0"/>
                          <a:cs typeface="Times New Roman" panose="02020603050405020304" pitchFamily="18" charset="0"/>
                        </a:rPr>
                        <a:t>2</a:t>
                      </a:r>
                      <a:endParaRPr lang="en-US" b="1"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3-4-7</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91244035"/>
                  </a:ext>
                </a:extLst>
              </a:tr>
              <a:tr h="370840">
                <a:tc>
                  <a:txBody>
                    <a:bodyPr/>
                    <a:lstStyle/>
                    <a:p>
                      <a:r>
                        <a:rPr lang="en-US" b="1" dirty="0" smtClean="0">
                          <a:latin typeface="Times New Roman" panose="02020603050405020304" pitchFamily="18" charset="0"/>
                          <a:cs typeface="Times New Roman" panose="02020603050405020304" pitchFamily="18" charset="0"/>
                        </a:rPr>
                        <a:t>3</a:t>
                      </a:r>
                      <a:endParaRPr lang="en-US" b="1"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5-8</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58947105"/>
                  </a:ext>
                </a:extLst>
              </a:tr>
              <a:tr h="370840">
                <a:tc>
                  <a:txBody>
                    <a:bodyPr/>
                    <a:lstStyle/>
                    <a:p>
                      <a:r>
                        <a:rPr lang="en-US" b="1" dirty="0" smtClean="0">
                          <a:latin typeface="Times New Roman" panose="02020603050405020304" pitchFamily="18" charset="0"/>
                          <a:cs typeface="Times New Roman" panose="02020603050405020304" pitchFamily="18" charset="0"/>
                        </a:rPr>
                        <a:t>4</a:t>
                      </a:r>
                      <a:endParaRPr lang="en-US" b="1"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(1-6-2)- (1-7-3-4)- (1-8-5) </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67360163"/>
                  </a:ext>
                </a:extLst>
              </a:tr>
            </a:tbl>
          </a:graphicData>
        </a:graphic>
      </p:graphicFrame>
      <p:sp>
        <p:nvSpPr>
          <p:cNvPr id="4" name="Slide Number Placeholder 3"/>
          <p:cNvSpPr>
            <a:spLocks noGrp="1"/>
          </p:cNvSpPr>
          <p:nvPr>
            <p:ph type="sldNum" sz="quarter" idx="12"/>
          </p:nvPr>
        </p:nvSpPr>
        <p:spPr/>
        <p:txBody>
          <a:bodyPr/>
          <a:lstStyle/>
          <a:p>
            <a:fld id="{FEFE5490-7C78-454F-98DE-D1826F8CB872}" type="slidenum">
              <a:rPr lang="en-US" smtClean="0"/>
              <a:t>42</a:t>
            </a:fld>
            <a:endParaRPr lang="en-US"/>
          </a:p>
        </p:txBody>
      </p:sp>
    </p:spTree>
    <p:extLst>
      <p:ext uri="{BB962C8B-B14F-4D97-AF65-F5344CB8AC3E}">
        <p14:creationId xmlns:p14="http://schemas.microsoft.com/office/powerpoint/2010/main" val="7004323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latin typeface="Times New Roman" panose="02020603050405020304" pitchFamily="18" charset="0"/>
                <a:cs typeface="Times New Roman" panose="02020603050405020304" pitchFamily="18" charset="0"/>
              </a:rPr>
              <a:t>Top down integration (Stage 3 of previous example)</a:t>
            </a:r>
            <a:endParaRPr lang="en-US" sz="2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Upper module 9 which activates module 8, is available; it has been tested and corrected at stage 2 of the </a:t>
            </a:r>
            <a:r>
              <a:rPr lang="en-US" dirty="0" smtClean="0">
                <a:latin typeface="Times New Roman" panose="02020603050405020304" pitchFamily="18" charset="0"/>
                <a:cs typeface="Times New Roman" panose="02020603050405020304" pitchFamily="18" charset="0"/>
              </a:rPr>
              <a:t>testing.</a:t>
            </a:r>
          </a:p>
          <a:p>
            <a:pPr algn="just"/>
            <a:r>
              <a:rPr lang="en-US" dirty="0" smtClean="0">
                <a:latin typeface="Times New Roman" panose="02020603050405020304" pitchFamily="18" charset="0"/>
                <a:cs typeface="Times New Roman" panose="02020603050405020304" pitchFamily="18" charset="0"/>
              </a:rPr>
              <a:t>Stubs </a:t>
            </a:r>
            <a:r>
              <a:rPr lang="en-US" dirty="0">
                <a:latin typeface="Times New Roman" panose="02020603050405020304" pitchFamily="18" charset="0"/>
                <a:cs typeface="Times New Roman" panose="02020603050405020304" pitchFamily="18" charset="0"/>
              </a:rPr>
              <a:t>are required to substitute for the subroutine level modules 1 and 2, which have not been completed</a:t>
            </a:r>
          </a:p>
        </p:txBody>
      </p:sp>
      <p:sp>
        <p:nvSpPr>
          <p:cNvPr id="4" name="Slide Number Placeholder 3"/>
          <p:cNvSpPr>
            <a:spLocks noGrp="1"/>
          </p:cNvSpPr>
          <p:nvPr>
            <p:ph type="sldNum" sz="quarter" idx="12"/>
          </p:nvPr>
        </p:nvSpPr>
        <p:spPr/>
        <p:txBody>
          <a:bodyPr/>
          <a:lstStyle/>
          <a:p>
            <a:fld id="{FEFE5490-7C78-454F-98DE-D1826F8CB872}" type="slidenum">
              <a:rPr lang="en-US" smtClean="0"/>
              <a:t>43</a:t>
            </a:fld>
            <a:endParaRPr lang="en-US"/>
          </a:p>
        </p:txBody>
      </p:sp>
      <p:pic>
        <p:nvPicPr>
          <p:cNvPr id="5" name="Picture 4"/>
          <p:cNvPicPr>
            <a:picLocks noChangeAspect="1"/>
          </p:cNvPicPr>
          <p:nvPr/>
        </p:nvPicPr>
        <p:blipFill>
          <a:blip r:embed="rId2"/>
          <a:stretch>
            <a:fillRect/>
          </a:stretch>
        </p:blipFill>
        <p:spPr>
          <a:xfrm>
            <a:off x="4147802" y="3600901"/>
            <a:ext cx="4126403" cy="3006963"/>
          </a:xfrm>
          <a:prstGeom prst="rect">
            <a:avLst/>
          </a:prstGeom>
        </p:spPr>
      </p:pic>
    </p:spTree>
    <p:extLst>
      <p:ext uri="{BB962C8B-B14F-4D97-AF65-F5344CB8AC3E}">
        <p14:creationId xmlns:p14="http://schemas.microsoft.com/office/powerpoint/2010/main" val="11186450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Ad hoc integration</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dirty="0" smtClean="0">
                <a:latin typeface="Times New Roman" panose="02020603050405020304" pitchFamily="18" charset="0"/>
                <a:cs typeface="Times New Roman" panose="02020603050405020304" pitchFamily="18" charset="0"/>
              </a:rPr>
              <a:t>Components are integrated randomly as they are completed</a:t>
            </a:r>
          </a:p>
          <a:p>
            <a:pPr algn="just"/>
            <a:r>
              <a:rPr lang="en-US" dirty="0" smtClean="0">
                <a:latin typeface="Times New Roman" panose="02020603050405020304" pitchFamily="18" charset="0"/>
                <a:cs typeface="Times New Roman" panose="02020603050405020304" pitchFamily="18" charset="0"/>
              </a:rPr>
              <a:t>Saves time by integrating components as early as possible</a:t>
            </a:r>
          </a:p>
          <a:p>
            <a:pPr algn="just"/>
            <a:r>
              <a:rPr lang="en-US" dirty="0" smtClean="0">
                <a:latin typeface="Times New Roman" panose="02020603050405020304" pitchFamily="18" charset="0"/>
                <a:cs typeface="Times New Roman" panose="02020603050405020304" pitchFamily="18" charset="0"/>
              </a:rPr>
              <a:t>Requires both stubs and drivers</a:t>
            </a:r>
          </a:p>
        </p:txBody>
      </p:sp>
      <p:sp>
        <p:nvSpPr>
          <p:cNvPr id="4" name="Slide Number Placeholder 3"/>
          <p:cNvSpPr>
            <a:spLocks noGrp="1"/>
          </p:cNvSpPr>
          <p:nvPr>
            <p:ph type="sldNum" sz="quarter" idx="12"/>
          </p:nvPr>
        </p:nvSpPr>
        <p:spPr/>
        <p:txBody>
          <a:bodyPr/>
          <a:lstStyle/>
          <a:p>
            <a:fld id="{FEFE5490-7C78-454F-98DE-D1826F8CB872}" type="slidenum">
              <a:rPr lang="en-US" smtClean="0"/>
              <a:t>44</a:t>
            </a:fld>
            <a:endParaRPr lang="en-US"/>
          </a:p>
        </p:txBody>
      </p:sp>
    </p:spTree>
    <p:extLst>
      <p:ext uri="{BB962C8B-B14F-4D97-AF65-F5344CB8AC3E}">
        <p14:creationId xmlns:p14="http://schemas.microsoft.com/office/powerpoint/2010/main" val="567912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backbone integration</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dirty="0" smtClean="0">
                <a:latin typeface="Times New Roman" panose="02020603050405020304" pitchFamily="18" charset="0"/>
                <a:cs typeface="Times New Roman" panose="02020603050405020304" pitchFamily="18" charset="0"/>
              </a:rPr>
              <a:t>A skeleton framework (backbone) is created and components are added progressively.</a:t>
            </a:r>
          </a:p>
          <a:p>
            <a:pPr algn="just"/>
            <a:r>
              <a:rPr lang="en-US" dirty="0" smtClean="0">
                <a:latin typeface="Times New Roman" panose="02020603050405020304" pitchFamily="18" charset="0"/>
                <a:cs typeface="Times New Roman" panose="02020603050405020304" pitchFamily="18" charset="0"/>
              </a:rPr>
              <a:t>Continuous Integration (CI) follows this approach by adding new tested components to existing ones</a:t>
            </a:r>
          </a:p>
          <a:p>
            <a:pPr algn="just"/>
            <a:r>
              <a:rPr lang="en-US" dirty="0" smtClean="0">
                <a:latin typeface="Times New Roman" panose="02020603050405020304" pitchFamily="18" charset="0"/>
                <a:cs typeface="Times New Roman" panose="02020603050405020304" pitchFamily="18" charset="0"/>
              </a:rPr>
              <a:t>Allows flexible integration in any way</a:t>
            </a:r>
          </a:p>
          <a:p>
            <a:pPr algn="just"/>
            <a:r>
              <a:rPr lang="en-US" dirty="0" smtClean="0">
                <a:latin typeface="Times New Roman" panose="02020603050405020304" pitchFamily="18" charset="0"/>
                <a:cs typeface="Times New Roman" panose="02020603050405020304" pitchFamily="18" charset="0"/>
              </a:rPr>
              <a:t>Requires effort to create and maintain a backbone</a:t>
            </a:r>
          </a:p>
        </p:txBody>
      </p:sp>
      <p:sp>
        <p:nvSpPr>
          <p:cNvPr id="4" name="Slide Number Placeholder 3"/>
          <p:cNvSpPr>
            <a:spLocks noGrp="1"/>
          </p:cNvSpPr>
          <p:nvPr>
            <p:ph type="sldNum" sz="quarter" idx="12"/>
          </p:nvPr>
        </p:nvSpPr>
        <p:spPr/>
        <p:txBody>
          <a:bodyPr/>
          <a:lstStyle/>
          <a:p>
            <a:fld id="{FEFE5490-7C78-454F-98DE-D1826F8CB872}" type="slidenum">
              <a:rPr lang="en-US" smtClean="0"/>
              <a:t>45</a:t>
            </a:fld>
            <a:endParaRPr lang="en-US"/>
          </a:p>
        </p:txBody>
      </p:sp>
    </p:spTree>
    <p:extLst>
      <p:ext uri="{BB962C8B-B14F-4D97-AF65-F5344CB8AC3E}">
        <p14:creationId xmlns:p14="http://schemas.microsoft.com/office/powerpoint/2010/main" val="23168671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Avoid big bang integration!!</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dirty="0" smtClean="0">
                <a:latin typeface="Times New Roman" panose="02020603050405020304" pitchFamily="18" charset="0"/>
                <a:cs typeface="Times New Roman" panose="02020603050405020304" pitchFamily="18" charset="0"/>
              </a:rPr>
              <a:t>All components are integrated at once without prior testing</a:t>
            </a:r>
          </a:p>
          <a:p>
            <a:pPr algn="just"/>
            <a:r>
              <a:rPr lang="en-US" dirty="0" smtClean="0">
                <a:latin typeface="Times New Roman" panose="02020603050405020304" pitchFamily="18" charset="0"/>
                <a:cs typeface="Times New Roman" panose="02020603050405020304" pitchFamily="18" charset="0"/>
              </a:rPr>
              <a:t>Multiple defects appear simultaneously</a:t>
            </a:r>
          </a:p>
          <a:p>
            <a:pPr algn="just"/>
            <a:r>
              <a:rPr lang="en-US" dirty="0" smtClean="0">
                <a:latin typeface="Times New Roman" panose="02020603050405020304" pitchFamily="18" charset="0"/>
                <a:cs typeface="Times New Roman" panose="02020603050405020304" pitchFamily="18" charset="0"/>
              </a:rPr>
              <a:t>No structured testing process</a:t>
            </a:r>
          </a:p>
          <a:p>
            <a:pPr algn="just"/>
            <a:r>
              <a:rPr lang="en-US" dirty="0" smtClean="0">
                <a:latin typeface="Times New Roman" panose="02020603050405020304" pitchFamily="18" charset="0"/>
                <a:cs typeface="Times New Roman" panose="02020603050405020304" pitchFamily="18" charset="0"/>
              </a:rPr>
              <a:t>Wastes valuable testing time while waiting for all components</a:t>
            </a:r>
          </a:p>
          <a:p>
            <a:pPr algn="just"/>
            <a:r>
              <a:rPr lang="en-US" dirty="0" smtClean="0">
                <a:latin typeface="Times New Roman" panose="02020603050405020304" pitchFamily="18" charset="0"/>
                <a:cs typeface="Times New Roman" panose="02020603050405020304" pitchFamily="18" charset="0"/>
              </a:rPr>
              <a:t>Difficult to identify and fix issues when everything breaks at once</a:t>
            </a:r>
          </a:p>
          <a:p>
            <a:pPr algn="just"/>
            <a:r>
              <a:rPr lang="en-US" dirty="0" smtClean="0">
                <a:latin typeface="Times New Roman" panose="02020603050405020304" pitchFamily="18" charset="0"/>
                <a:cs typeface="Times New Roman" panose="02020603050405020304" pitchFamily="18" charset="0"/>
              </a:rPr>
              <a:t>System may not run at all, causing major delays</a:t>
            </a:r>
          </a:p>
        </p:txBody>
      </p:sp>
      <p:sp>
        <p:nvSpPr>
          <p:cNvPr id="4" name="Slide Number Placeholder 3"/>
          <p:cNvSpPr>
            <a:spLocks noGrp="1"/>
          </p:cNvSpPr>
          <p:nvPr>
            <p:ph type="sldNum" sz="quarter" idx="12"/>
          </p:nvPr>
        </p:nvSpPr>
        <p:spPr/>
        <p:txBody>
          <a:bodyPr/>
          <a:lstStyle/>
          <a:p>
            <a:fld id="{FEFE5490-7C78-454F-98DE-D1826F8CB872}" type="slidenum">
              <a:rPr lang="en-US" smtClean="0"/>
              <a:t>46</a:t>
            </a:fld>
            <a:endParaRPr lang="en-US"/>
          </a:p>
        </p:txBody>
      </p:sp>
    </p:spTree>
    <p:extLst>
      <p:ext uri="{BB962C8B-B14F-4D97-AF65-F5344CB8AC3E}">
        <p14:creationId xmlns:p14="http://schemas.microsoft.com/office/powerpoint/2010/main" val="19815678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System testing</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Ensures the complete, integrated system meets specified </a:t>
            </a:r>
            <a:r>
              <a:rPr lang="en-US" dirty="0" smtClean="0">
                <a:latin typeface="Times New Roman" panose="02020603050405020304" pitchFamily="18" charset="0"/>
                <a:cs typeface="Times New Roman" panose="02020603050405020304" pitchFamily="18" charset="0"/>
              </a:rPr>
              <a:t>requirements</a:t>
            </a:r>
          </a:p>
          <a:p>
            <a:pPr algn="just"/>
            <a:r>
              <a:rPr lang="en-US" dirty="0" smtClean="0">
                <a:latin typeface="Times New Roman" panose="02020603050405020304" pitchFamily="18" charset="0"/>
                <a:cs typeface="Times New Roman" panose="02020603050405020304" pitchFamily="18" charset="0"/>
              </a:rPr>
              <a:t>Checks from customer and end-user perspectives</a:t>
            </a:r>
          </a:p>
          <a:p>
            <a:pPr algn="just"/>
            <a:r>
              <a:rPr lang="en-US" dirty="0" smtClean="0">
                <a:latin typeface="Times New Roman" panose="02020603050405020304" pitchFamily="18" charset="0"/>
                <a:cs typeface="Times New Roman" panose="02020603050405020304" pitchFamily="18" charset="0"/>
              </a:rPr>
              <a:t>Identifies </a:t>
            </a:r>
            <a:r>
              <a:rPr lang="en-US" dirty="0">
                <a:latin typeface="Times New Roman" panose="02020603050405020304" pitchFamily="18" charset="0"/>
                <a:cs typeface="Times New Roman" panose="02020603050405020304" pitchFamily="18" charset="0"/>
              </a:rPr>
              <a:t>issues that emerge only at the system </a:t>
            </a:r>
            <a:r>
              <a:rPr lang="en-US" dirty="0" smtClean="0">
                <a:latin typeface="Times New Roman" panose="02020603050405020304" pitchFamily="18" charset="0"/>
                <a:cs typeface="Times New Roman" panose="02020603050405020304" pitchFamily="18" charset="0"/>
              </a:rPr>
              <a:t>level</a:t>
            </a:r>
          </a:p>
          <a:p>
            <a:pPr algn="just"/>
            <a:r>
              <a:rPr lang="en-US" dirty="0">
                <a:latin typeface="Times New Roman" panose="02020603050405020304" pitchFamily="18" charset="0"/>
                <a:cs typeface="Times New Roman" panose="02020603050405020304" pitchFamily="18" charset="0"/>
              </a:rPr>
              <a:t>Avoid testing in production to prevent failures, crashes, and data </a:t>
            </a:r>
            <a:r>
              <a:rPr lang="en-US" dirty="0" smtClean="0">
                <a:latin typeface="Times New Roman" panose="02020603050405020304" pitchFamily="18" charset="0"/>
                <a:cs typeface="Times New Roman" panose="02020603050405020304" pitchFamily="18" charset="0"/>
              </a:rPr>
              <a:t>loss</a:t>
            </a:r>
          </a:p>
          <a:p>
            <a:pPr algn="just"/>
            <a:r>
              <a:rPr lang="en-US" dirty="0">
                <a:latin typeface="Times New Roman" panose="02020603050405020304" pitchFamily="18" charset="0"/>
                <a:cs typeface="Times New Roman" panose="02020603050405020304" pitchFamily="18" charset="0"/>
              </a:rPr>
              <a:t>Requires complex environment </a:t>
            </a:r>
            <a:r>
              <a:rPr lang="en-US" dirty="0" smtClean="0">
                <a:latin typeface="Times New Roman" panose="02020603050405020304" pitchFamily="18" charset="0"/>
                <a:cs typeface="Times New Roman" panose="02020603050405020304" pitchFamily="18" charset="0"/>
              </a:rPr>
              <a:t>setup</a:t>
            </a:r>
          </a:p>
          <a:p>
            <a:pPr algn="just"/>
            <a:r>
              <a:rPr lang="en-US" dirty="0" smtClean="0">
                <a:latin typeface="Times New Roman" panose="02020603050405020304" pitchFamily="18" charset="0"/>
                <a:cs typeface="Times New Roman" panose="02020603050405020304" pitchFamily="18" charset="0"/>
              </a:rPr>
              <a:t>Verify functional &amp; non-functional requirements</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Identify missing, inconsistent, or undocumented </a:t>
            </a:r>
            <a:r>
              <a:rPr lang="en-US" dirty="0" smtClean="0">
                <a:latin typeface="Times New Roman" panose="02020603050405020304" pitchFamily="18" charset="0"/>
                <a:cs typeface="Times New Roman" panose="02020603050405020304" pitchFamily="18" charset="0"/>
              </a:rPr>
              <a:t>requirements</a:t>
            </a:r>
          </a:p>
          <a:p>
            <a:pPr algn="just"/>
            <a:r>
              <a:rPr lang="en-US" dirty="0">
                <a:latin typeface="Times New Roman" panose="02020603050405020304" pitchFamily="18" charset="0"/>
                <a:cs typeface="Times New Roman" panose="02020603050405020304" pitchFamily="18" charset="0"/>
              </a:rPr>
              <a:t>Ensure database consistency, completeness, and </a:t>
            </a:r>
            <a:r>
              <a:rPr lang="en-US" dirty="0" smtClean="0">
                <a:latin typeface="Times New Roman" panose="02020603050405020304" pitchFamily="18" charset="0"/>
                <a:cs typeface="Times New Roman" panose="02020603050405020304" pitchFamily="18" charset="0"/>
              </a:rPr>
              <a:t>accuracy</a:t>
            </a:r>
          </a:p>
        </p:txBody>
      </p:sp>
      <p:sp>
        <p:nvSpPr>
          <p:cNvPr id="4" name="Slide Number Placeholder 3"/>
          <p:cNvSpPr>
            <a:spLocks noGrp="1"/>
          </p:cNvSpPr>
          <p:nvPr>
            <p:ph type="sldNum" sz="quarter" idx="12"/>
          </p:nvPr>
        </p:nvSpPr>
        <p:spPr/>
        <p:txBody>
          <a:bodyPr/>
          <a:lstStyle/>
          <a:p>
            <a:fld id="{FEFE5490-7C78-454F-98DE-D1826F8CB872}" type="slidenum">
              <a:rPr lang="en-US" smtClean="0"/>
              <a:t>47</a:t>
            </a:fld>
            <a:endParaRPr lang="en-US"/>
          </a:p>
        </p:txBody>
      </p:sp>
    </p:spTree>
    <p:extLst>
      <p:ext uri="{BB962C8B-B14F-4D97-AF65-F5344CB8AC3E}">
        <p14:creationId xmlns:p14="http://schemas.microsoft.com/office/powerpoint/2010/main" val="28853617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System testing cont..</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290513" indent="-2349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All the components of the system are integrated and tested as a single unit as per </a:t>
            </a:r>
            <a:r>
              <a:rPr lang="en-US" dirty="0" smtClean="0">
                <a:latin typeface="Times New Roman" panose="02020603050405020304" pitchFamily="18" charset="0"/>
                <a:cs typeface="Times New Roman" panose="02020603050405020304" pitchFamily="18" charset="0"/>
              </a:rPr>
              <a:t>SRS</a:t>
            </a:r>
            <a:endParaRPr lang="en-US" dirty="0">
              <a:latin typeface="Times New Roman" panose="02020603050405020304" pitchFamily="18" charset="0"/>
              <a:cs typeface="Times New Roman" panose="02020603050405020304" pitchFamily="18" charset="0"/>
            </a:endParaRPr>
          </a:p>
          <a:p>
            <a:pPr marL="290513" indent="-234950"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System </a:t>
            </a:r>
            <a:r>
              <a:rPr lang="en-US" dirty="0">
                <a:latin typeface="Times New Roman" panose="02020603050405020304" pitchFamily="18" charset="0"/>
                <a:cs typeface="Times New Roman" panose="02020603050405020304" pitchFamily="18" charset="0"/>
              </a:rPr>
              <a:t>testing enables us to test, verify and validate both the business requirements </a:t>
            </a:r>
            <a:r>
              <a:rPr lang="en-US" dirty="0" smtClean="0">
                <a:latin typeface="Times New Roman" panose="02020603050405020304" pitchFamily="18" charset="0"/>
                <a:cs typeface="Times New Roman" panose="02020603050405020304" pitchFamily="18" charset="0"/>
              </a:rPr>
              <a:t>and </a:t>
            </a:r>
            <a:r>
              <a:rPr lang="en-US" dirty="0">
                <a:latin typeface="Times New Roman" panose="02020603050405020304" pitchFamily="18" charset="0"/>
                <a:cs typeface="Times New Roman" panose="02020603050405020304" pitchFamily="18" charset="0"/>
              </a:rPr>
              <a:t>application architecture.</a:t>
            </a:r>
          </a:p>
          <a:p>
            <a:pPr marL="290513" indent="-234950"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Integration </a:t>
            </a:r>
            <a:r>
              <a:rPr lang="en-US" dirty="0">
                <a:latin typeface="Times New Roman" panose="02020603050405020304" pitchFamily="18" charset="0"/>
                <a:cs typeface="Times New Roman" panose="02020603050405020304" pitchFamily="18" charset="0"/>
              </a:rPr>
              <a:t>testing can be divided </a:t>
            </a:r>
            <a:r>
              <a:rPr lang="en-US" dirty="0" smtClean="0">
                <a:latin typeface="Times New Roman" panose="02020603050405020304" pitchFamily="18" charset="0"/>
                <a:cs typeface="Times New Roman" panose="02020603050405020304" pitchFamily="18" charset="0"/>
              </a:rPr>
              <a:t>into components </a:t>
            </a:r>
            <a:r>
              <a:rPr lang="en-US" dirty="0">
                <a:latin typeface="Times New Roman" panose="02020603050405020304" pitchFamily="18" charset="0"/>
                <a:cs typeface="Times New Roman" panose="02020603050405020304" pitchFamily="18" charset="0"/>
              </a:rPr>
              <a:t>or sub-system </a:t>
            </a:r>
            <a:r>
              <a:rPr lang="en-US" dirty="0" smtClean="0">
                <a:latin typeface="Times New Roman" panose="02020603050405020304" pitchFamily="18" charset="0"/>
                <a:cs typeface="Times New Roman" panose="02020603050405020304" pitchFamily="18" charset="0"/>
              </a:rPr>
              <a:t>integration final </a:t>
            </a:r>
            <a:r>
              <a:rPr lang="en-US" dirty="0">
                <a:latin typeface="Times New Roman" panose="02020603050405020304" pitchFamily="18" charset="0"/>
                <a:cs typeface="Times New Roman" panose="02020603050405020304" pitchFamily="18" charset="0"/>
              </a:rPr>
              <a:t>integration testing or system integration</a:t>
            </a:r>
          </a:p>
          <a:p>
            <a:pPr marL="290513" indent="-234950"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Complete </a:t>
            </a:r>
            <a:r>
              <a:rPr lang="en-US" dirty="0">
                <a:latin typeface="Times New Roman" panose="02020603050405020304" pitchFamily="18" charset="0"/>
                <a:cs typeface="Times New Roman" panose="02020603050405020304" pitchFamily="18" charset="0"/>
              </a:rPr>
              <a:t>system integration is covered as the last step</a:t>
            </a:r>
          </a:p>
          <a:p>
            <a:pPr marL="290513" indent="-234950"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approach waits till all components arrive and one round of integration testing is </a:t>
            </a:r>
            <a:r>
              <a:rPr lang="en-US" dirty="0" smtClean="0">
                <a:latin typeface="Times New Roman" panose="02020603050405020304" pitchFamily="18" charset="0"/>
                <a:cs typeface="Times New Roman" panose="02020603050405020304" pitchFamily="18" charset="0"/>
              </a:rPr>
              <a:t>done</a:t>
            </a:r>
            <a:r>
              <a:rPr lang="en-US" dirty="0">
                <a:latin typeface="Times New Roman" panose="02020603050405020304" pitchFamily="18" charset="0"/>
                <a:cs typeface="Times New Roman" panose="02020603050405020304" pitchFamily="18" charset="0"/>
              </a:rPr>
              <a:t>. This approach is called big-bang integration</a:t>
            </a:r>
          </a:p>
          <a:p>
            <a:pPr marL="290513" indent="-234950"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reduces testing effort and removes duplication in testing</a:t>
            </a:r>
          </a:p>
        </p:txBody>
      </p:sp>
      <p:sp>
        <p:nvSpPr>
          <p:cNvPr id="4" name="Slide Number Placeholder 3"/>
          <p:cNvSpPr>
            <a:spLocks noGrp="1"/>
          </p:cNvSpPr>
          <p:nvPr>
            <p:ph type="sldNum" sz="quarter" idx="12"/>
          </p:nvPr>
        </p:nvSpPr>
        <p:spPr/>
        <p:txBody>
          <a:bodyPr/>
          <a:lstStyle/>
          <a:p>
            <a:fld id="{FEFE5490-7C78-454F-98DE-D1826F8CB872}" type="slidenum">
              <a:rPr lang="en-US" smtClean="0"/>
              <a:t>48</a:t>
            </a:fld>
            <a:endParaRPr lang="en-US"/>
          </a:p>
        </p:txBody>
      </p:sp>
    </p:spTree>
    <p:extLst>
      <p:ext uri="{BB962C8B-B14F-4D97-AF65-F5344CB8AC3E}">
        <p14:creationId xmlns:p14="http://schemas.microsoft.com/office/powerpoint/2010/main" val="26987465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System testing cont..</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55563" indent="0" algn="just">
              <a:buNone/>
            </a:pPr>
            <a:r>
              <a:rPr lang="en-US" dirty="0">
                <a:latin typeface="Times New Roman" panose="02020603050405020304" pitchFamily="18" charset="0"/>
                <a:cs typeface="Times New Roman" panose="02020603050405020304" pitchFamily="18" charset="0"/>
              </a:rPr>
              <a:t>Some disadvantages of system integration </a:t>
            </a:r>
            <a:r>
              <a:rPr lang="en-US" dirty="0" smtClean="0">
                <a:latin typeface="Times New Roman" panose="02020603050405020304" pitchFamily="18" charset="0"/>
                <a:cs typeface="Times New Roman" panose="02020603050405020304" pitchFamily="18" charset="0"/>
              </a:rPr>
              <a:t>are:</a:t>
            </a:r>
            <a:endParaRPr lang="en-US" dirty="0">
              <a:latin typeface="Times New Roman" panose="02020603050405020304" pitchFamily="18" charset="0"/>
              <a:cs typeface="Times New Roman" panose="02020603050405020304" pitchFamily="18" charset="0"/>
            </a:endParaRPr>
          </a:p>
          <a:p>
            <a:pPr marL="290513" indent="-234950"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When </a:t>
            </a:r>
            <a:r>
              <a:rPr lang="en-US" dirty="0">
                <a:latin typeface="Times New Roman" panose="02020603050405020304" pitchFamily="18" charset="0"/>
                <a:cs typeface="Times New Roman" panose="02020603050405020304" pitchFamily="18" charset="0"/>
              </a:rPr>
              <a:t>a failure or defect is encountered during system integration, it is very </a:t>
            </a:r>
            <a:r>
              <a:rPr lang="en-US" dirty="0" smtClean="0">
                <a:latin typeface="Times New Roman" panose="02020603050405020304" pitchFamily="18" charset="0"/>
                <a:cs typeface="Times New Roman" panose="02020603050405020304" pitchFamily="18" charset="0"/>
              </a:rPr>
              <a:t> difficult </a:t>
            </a:r>
            <a:r>
              <a:rPr lang="en-US" dirty="0">
                <a:latin typeface="Times New Roman" panose="02020603050405020304" pitchFamily="18" charset="0"/>
                <a:cs typeface="Times New Roman" panose="02020603050405020304" pitchFamily="18" charset="0"/>
              </a:rPr>
              <a:t>to locate the problem</a:t>
            </a:r>
          </a:p>
          <a:p>
            <a:pPr marL="290513" indent="-234950"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ownership for correcting the root cause of the defect may be a difficult issue </a:t>
            </a:r>
            <a:r>
              <a:rPr lang="en-US" dirty="0" smtClean="0">
                <a:latin typeface="Times New Roman" panose="02020603050405020304" pitchFamily="18" charset="0"/>
                <a:cs typeface="Times New Roman" panose="02020603050405020304" pitchFamily="18" charset="0"/>
              </a:rPr>
              <a:t>to </a:t>
            </a:r>
            <a:r>
              <a:rPr lang="en-US" dirty="0">
                <a:latin typeface="Times New Roman" panose="02020603050405020304" pitchFamily="18" charset="0"/>
                <a:cs typeface="Times New Roman" panose="02020603050405020304" pitchFamily="18" charset="0"/>
              </a:rPr>
              <a:t>pinpoint</a:t>
            </a:r>
          </a:p>
          <a:p>
            <a:pPr marL="290513" indent="-234950"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When </a:t>
            </a:r>
            <a:r>
              <a:rPr lang="en-US" dirty="0">
                <a:latin typeface="Times New Roman" panose="02020603050405020304" pitchFamily="18" charset="0"/>
                <a:cs typeface="Times New Roman" panose="02020603050405020304" pitchFamily="18" charset="0"/>
              </a:rPr>
              <a:t>integration testing happens in the end, the pressure from approaching the </a:t>
            </a:r>
            <a:r>
              <a:rPr lang="en-US" dirty="0" smtClean="0">
                <a:latin typeface="Times New Roman" panose="02020603050405020304" pitchFamily="18" charset="0"/>
                <a:cs typeface="Times New Roman" panose="02020603050405020304" pitchFamily="18" charset="0"/>
              </a:rPr>
              <a:t>release </a:t>
            </a:r>
            <a:r>
              <a:rPr lang="en-US" dirty="0">
                <a:latin typeface="Times New Roman" panose="02020603050405020304" pitchFamily="18" charset="0"/>
                <a:cs typeface="Times New Roman" panose="02020603050405020304" pitchFamily="18" charset="0"/>
              </a:rPr>
              <a:t>date is very high</a:t>
            </a:r>
          </a:p>
          <a:p>
            <a:pPr marL="290513" indent="-234950"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A </a:t>
            </a:r>
            <a:r>
              <a:rPr lang="en-US" dirty="0">
                <a:latin typeface="Times New Roman" panose="02020603050405020304" pitchFamily="18" charset="0"/>
                <a:cs typeface="Times New Roman" panose="02020603050405020304" pitchFamily="18" charset="0"/>
              </a:rPr>
              <a:t>certain component may take an excessive amount of time to be ready</a:t>
            </a:r>
          </a:p>
        </p:txBody>
      </p:sp>
      <p:sp>
        <p:nvSpPr>
          <p:cNvPr id="4" name="Slide Number Placeholder 3"/>
          <p:cNvSpPr>
            <a:spLocks noGrp="1"/>
          </p:cNvSpPr>
          <p:nvPr>
            <p:ph type="sldNum" sz="quarter" idx="12"/>
          </p:nvPr>
        </p:nvSpPr>
        <p:spPr/>
        <p:txBody>
          <a:bodyPr/>
          <a:lstStyle/>
          <a:p>
            <a:fld id="{FEFE5490-7C78-454F-98DE-D1826F8CB872}" type="slidenum">
              <a:rPr lang="en-US" smtClean="0"/>
              <a:t>49</a:t>
            </a:fld>
            <a:endParaRPr lang="en-US"/>
          </a:p>
        </p:txBody>
      </p:sp>
    </p:spTree>
    <p:extLst>
      <p:ext uri="{BB962C8B-B14F-4D97-AF65-F5344CB8AC3E}">
        <p14:creationId xmlns:p14="http://schemas.microsoft.com/office/powerpoint/2010/main" val="4885900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System testing challenges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Lack of clear documentation makes it hard for testers to verify expected </a:t>
            </a:r>
            <a:r>
              <a:rPr lang="en-US" dirty="0" smtClean="0">
                <a:latin typeface="Times New Roman" panose="02020603050405020304" pitchFamily="18" charset="0"/>
                <a:cs typeface="Times New Roman" panose="02020603050405020304" pitchFamily="18" charset="0"/>
              </a:rPr>
              <a:t>behavior</a:t>
            </a:r>
          </a:p>
          <a:p>
            <a:pPr lvl="1" algn="just"/>
            <a:r>
              <a:rPr lang="en-US" dirty="0" smtClean="0">
                <a:latin typeface="Times New Roman" panose="02020603050405020304" pitchFamily="18" charset="0"/>
                <a:cs typeface="Times New Roman" panose="02020603050405020304" pitchFamily="18" charset="0"/>
              </a:rPr>
              <a:t>Testers struggle to define failures</a:t>
            </a:r>
          </a:p>
          <a:p>
            <a:pPr algn="just"/>
            <a:r>
              <a:rPr lang="en-US" dirty="0">
                <a:latin typeface="Times New Roman" panose="02020603050405020304" pitchFamily="18" charset="0"/>
                <a:cs typeface="Times New Roman" panose="02020603050405020304" pitchFamily="18" charset="0"/>
              </a:rPr>
              <a:t>Project stakeholders have different interpretations of system </a:t>
            </a:r>
            <a:r>
              <a:rPr lang="en-US" dirty="0" smtClean="0">
                <a:latin typeface="Times New Roman" panose="02020603050405020304" pitchFamily="18" charset="0"/>
                <a:cs typeface="Times New Roman" panose="02020603050405020304" pitchFamily="18" charset="0"/>
              </a:rPr>
              <a:t>behavior</a:t>
            </a:r>
          </a:p>
          <a:p>
            <a:pPr lvl="1" algn="just"/>
            <a:r>
              <a:rPr lang="en-US" dirty="0" smtClean="0">
                <a:latin typeface="Times New Roman" panose="02020603050405020304" pitchFamily="18" charset="0"/>
                <a:cs typeface="Times New Roman" panose="02020603050405020304" pitchFamily="18" charset="0"/>
              </a:rPr>
              <a:t>Delayed decision making</a:t>
            </a:r>
          </a:p>
          <a:p>
            <a:pPr algn="just"/>
            <a:r>
              <a:rPr lang="en-US" dirty="0">
                <a:latin typeface="Times New Roman" panose="02020603050405020304" pitchFamily="18" charset="0"/>
                <a:cs typeface="Times New Roman" panose="02020603050405020304" pitchFamily="18" charset="0"/>
              </a:rPr>
              <a:t>Unclear requirements lead to a product that doesn’t meet user </a:t>
            </a:r>
            <a:r>
              <a:rPr lang="en-US" dirty="0" smtClean="0">
                <a:latin typeface="Times New Roman" panose="02020603050405020304" pitchFamily="18" charset="0"/>
                <a:cs typeface="Times New Roman" panose="02020603050405020304" pitchFamily="18" charset="0"/>
              </a:rPr>
              <a:t>expectations</a:t>
            </a:r>
          </a:p>
          <a:p>
            <a:pPr lvl="1" algn="just"/>
            <a:r>
              <a:rPr lang="en-US" dirty="0" smtClean="0">
                <a:latin typeface="Times New Roman" panose="02020603050405020304" pitchFamily="18" charset="0"/>
                <a:cs typeface="Times New Roman" panose="02020603050405020304" pitchFamily="18" charset="0"/>
              </a:rPr>
              <a:t>High chance of system failure, wasted development effort</a:t>
            </a:r>
          </a:p>
          <a:p>
            <a:pPr algn="just"/>
            <a:r>
              <a:rPr lang="en-US" dirty="0">
                <a:latin typeface="Times New Roman" panose="02020603050405020304" pitchFamily="18" charset="0"/>
                <a:cs typeface="Times New Roman" panose="02020603050405020304" pitchFamily="18" charset="0"/>
              </a:rPr>
              <a:t>Agile &amp; iterative projects may have incomplete or evolving </a:t>
            </a:r>
            <a:r>
              <a:rPr lang="en-US" dirty="0" smtClean="0">
                <a:latin typeface="Times New Roman" panose="02020603050405020304" pitchFamily="18" charset="0"/>
                <a:cs typeface="Times New Roman" panose="02020603050405020304" pitchFamily="18" charset="0"/>
              </a:rPr>
              <a:t>requirements</a:t>
            </a:r>
          </a:p>
          <a:p>
            <a:pPr lvl="1" algn="just"/>
            <a:r>
              <a:rPr lang="en-US" dirty="0" smtClean="0">
                <a:latin typeface="Times New Roman" panose="02020603050405020304" pitchFamily="18" charset="0"/>
                <a:cs typeface="Times New Roman" panose="02020603050405020304" pitchFamily="18" charset="0"/>
              </a:rPr>
              <a:t>More iterations than planned, potential project delays</a:t>
            </a:r>
          </a:p>
        </p:txBody>
      </p:sp>
      <p:sp>
        <p:nvSpPr>
          <p:cNvPr id="4" name="Slide Number Placeholder 3"/>
          <p:cNvSpPr>
            <a:spLocks noGrp="1"/>
          </p:cNvSpPr>
          <p:nvPr>
            <p:ph type="sldNum" sz="quarter" idx="12"/>
          </p:nvPr>
        </p:nvSpPr>
        <p:spPr/>
        <p:txBody>
          <a:bodyPr/>
          <a:lstStyle/>
          <a:p>
            <a:fld id="{FEFE5490-7C78-454F-98DE-D1826F8CB872}" type="slidenum">
              <a:rPr lang="en-US" smtClean="0"/>
              <a:t>50</a:t>
            </a:fld>
            <a:endParaRPr lang="en-US"/>
          </a:p>
        </p:txBody>
      </p:sp>
    </p:spTree>
    <p:extLst>
      <p:ext uri="{BB962C8B-B14F-4D97-AF65-F5344CB8AC3E}">
        <p14:creationId xmlns:p14="http://schemas.microsoft.com/office/powerpoint/2010/main" val="4297105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Choosing integration method</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Top-down approach is best suited for the waterfall and V</a:t>
            </a:r>
          </a:p>
          <a:p>
            <a:pPr algn="just"/>
            <a:r>
              <a:rPr lang="en-US" dirty="0" smtClean="0">
                <a:latin typeface="Times New Roman" panose="02020603050405020304" pitchFamily="18" charset="0"/>
                <a:cs typeface="Times New Roman" panose="02020603050405020304" pitchFamily="18" charset="0"/>
              </a:rPr>
              <a:t>Bottom-up </a:t>
            </a:r>
            <a:r>
              <a:rPr lang="en-US" dirty="0">
                <a:latin typeface="Times New Roman" panose="02020603050405020304" pitchFamily="18" charset="0"/>
                <a:cs typeface="Times New Roman" panose="02020603050405020304" pitchFamily="18" charset="0"/>
              </a:rPr>
              <a:t>approach is best for iterative and agile methodologies</a:t>
            </a:r>
          </a:p>
          <a:p>
            <a:pPr algn="just"/>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selection of integration approach needs to consider availability of components, </a:t>
            </a:r>
            <a:r>
              <a:rPr lang="en-US" dirty="0" smtClean="0">
                <a:latin typeface="Times New Roman" panose="02020603050405020304" pitchFamily="18" charset="0"/>
                <a:cs typeface="Times New Roman" panose="02020603050405020304" pitchFamily="18" charset="0"/>
              </a:rPr>
              <a:t>technology </a:t>
            </a:r>
            <a:r>
              <a:rPr lang="en-US" dirty="0">
                <a:latin typeface="Times New Roman" panose="02020603050405020304" pitchFamily="18" charset="0"/>
                <a:cs typeface="Times New Roman" panose="02020603050405020304" pitchFamily="18" charset="0"/>
              </a:rPr>
              <a:t>used, process, testing skills, and resource availability</a:t>
            </a:r>
          </a:p>
          <a:p>
            <a:pPr algn="just"/>
            <a:r>
              <a:rPr lang="en-US" dirty="0" smtClean="0">
                <a:latin typeface="Times New Roman" panose="02020603050405020304" pitchFamily="18" charset="0"/>
                <a:cs typeface="Times New Roman" panose="02020603050405020304" pitchFamily="18" charset="0"/>
              </a:rPr>
              <a:t>Strategy </a:t>
            </a:r>
            <a:r>
              <a:rPr lang="en-US" dirty="0">
                <a:latin typeface="Times New Roman" panose="02020603050405020304" pitchFamily="18" charset="0"/>
                <a:cs typeface="Times New Roman" panose="02020603050405020304" pitchFamily="18" charset="0"/>
              </a:rPr>
              <a:t>chosen is actually determined in most cases by the developers’ choice </a:t>
            </a:r>
            <a:r>
              <a:rPr lang="en-US" dirty="0" smtClean="0">
                <a:latin typeface="Times New Roman" panose="02020603050405020304" pitchFamily="18" charset="0"/>
                <a:cs typeface="Times New Roman" panose="02020603050405020304" pitchFamily="18" charset="0"/>
              </a:rPr>
              <a:t>of </a:t>
            </a:r>
            <a:r>
              <a:rPr lang="en-US" dirty="0">
                <a:latin typeface="Times New Roman" panose="02020603050405020304" pitchFamily="18" charset="0"/>
                <a:cs typeface="Times New Roman" panose="02020603050405020304" pitchFamily="18" charset="0"/>
              </a:rPr>
              <a:t>development – not test strategy, that is, bottom-up or </a:t>
            </a:r>
            <a:r>
              <a:rPr lang="en-US" dirty="0" smtClean="0">
                <a:latin typeface="Times New Roman" panose="02020603050405020304" pitchFamily="18" charset="0"/>
                <a:cs typeface="Times New Roman" panose="02020603050405020304" pitchFamily="18" charset="0"/>
              </a:rPr>
              <a:t>top-down</a:t>
            </a:r>
            <a:endParaRPr lang="en-US" dirty="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Testers </a:t>
            </a:r>
            <a:r>
              <a:rPr lang="en-US" dirty="0">
                <a:latin typeface="Times New Roman" panose="02020603050405020304" pitchFamily="18" charset="0"/>
                <a:cs typeface="Times New Roman" panose="02020603050405020304" pitchFamily="18" charset="0"/>
              </a:rPr>
              <a:t>should follow the developers’ approach because it is crucial that testing </a:t>
            </a:r>
            <a:r>
              <a:rPr lang="en-US" dirty="0" smtClean="0">
                <a:latin typeface="Times New Roman" panose="02020603050405020304" pitchFamily="18" charset="0"/>
                <a:cs typeface="Times New Roman" panose="02020603050405020304" pitchFamily="18" charset="0"/>
              </a:rPr>
              <a:t>will </a:t>
            </a:r>
            <a:r>
              <a:rPr lang="en-US" dirty="0">
                <a:latin typeface="Times New Roman" panose="02020603050405020304" pitchFamily="18" charset="0"/>
                <a:cs typeface="Times New Roman" panose="02020603050405020304" pitchFamily="18" charset="0"/>
              </a:rPr>
              <a:t>be performed immediately after a module has been coded</a:t>
            </a:r>
          </a:p>
          <a:p>
            <a:pPr marL="0" indent="0" algn="just">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Implementation </a:t>
            </a:r>
            <a:r>
              <a:rPr lang="en-US" dirty="0">
                <a:latin typeface="Times New Roman" panose="02020603050405020304" pitchFamily="18" charset="0"/>
                <a:cs typeface="Times New Roman" panose="02020603050405020304" pitchFamily="18" charset="0"/>
              </a:rPr>
              <a:t>of a testing strategy that differs from the development strategy </a:t>
            </a:r>
            <a:r>
              <a:rPr lang="en-US" dirty="0" smtClean="0">
                <a:latin typeface="Times New Roman" panose="02020603050405020304" pitchFamily="18" charset="0"/>
                <a:cs typeface="Times New Roman" panose="02020603050405020304" pitchFamily="18" charset="0"/>
              </a:rPr>
              <a:t>will    cause </a:t>
            </a:r>
            <a:r>
              <a:rPr lang="en-US" dirty="0">
                <a:latin typeface="Times New Roman" panose="02020603050405020304" pitchFamily="18" charset="0"/>
                <a:cs typeface="Times New Roman" panose="02020603050405020304" pitchFamily="18" charset="0"/>
              </a:rPr>
              <a:t>substantial delays in scheduling of the tests</a:t>
            </a:r>
            <a:endParaRPr lang="en-US" dirty="0" smtClean="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51</a:t>
            </a:fld>
            <a:endParaRPr lang="en-US"/>
          </a:p>
        </p:txBody>
      </p:sp>
    </p:spTree>
    <p:extLst>
      <p:ext uri="{BB962C8B-B14F-4D97-AF65-F5344CB8AC3E}">
        <p14:creationId xmlns:p14="http://schemas.microsoft.com/office/powerpoint/2010/main" val="281592594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Acceptance testing</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dirty="0" smtClean="0">
                <a:latin typeface="Times New Roman" panose="02020603050405020304" pitchFamily="18" charset="0"/>
                <a:cs typeface="Times New Roman" panose="02020603050405020304" pitchFamily="18" charset="0"/>
              </a:rPr>
              <a:t>Test </a:t>
            </a:r>
            <a:r>
              <a:rPr lang="en-US" dirty="0">
                <a:latin typeface="Times New Roman" panose="02020603050405020304" pitchFamily="18" charset="0"/>
                <a:cs typeface="Times New Roman" panose="02020603050405020304" pitchFamily="18" charset="0"/>
              </a:rPr>
              <a:t>takes place from the customer/end-user’s viewpoint and is the only test that the customer is directly involved in or is actually responsible </a:t>
            </a:r>
            <a:r>
              <a:rPr lang="en-US" dirty="0" smtClean="0">
                <a:latin typeface="Times New Roman" panose="02020603050405020304" pitchFamily="18" charset="0"/>
                <a:cs typeface="Times New Roman" panose="02020603050405020304" pitchFamily="18" charset="0"/>
              </a:rPr>
              <a:t>for</a:t>
            </a:r>
          </a:p>
          <a:p>
            <a:pPr algn="just"/>
            <a:r>
              <a:rPr lang="en-US" dirty="0" smtClean="0">
                <a:latin typeface="Times New Roman" panose="02020603050405020304" pitchFamily="18" charset="0"/>
                <a:cs typeface="Times New Roman" panose="02020603050405020304" pitchFamily="18" charset="0"/>
              </a:rPr>
              <a:t>Variants</a:t>
            </a:r>
          </a:p>
          <a:p>
            <a:pPr lvl="1" algn="just"/>
            <a:r>
              <a:rPr lang="en-US" dirty="0" smtClean="0">
                <a:latin typeface="Times New Roman" panose="02020603050405020304" pitchFamily="18" charset="0"/>
                <a:cs typeface="Times New Roman" panose="02020603050405020304" pitchFamily="18" charset="0"/>
              </a:rPr>
              <a:t>User acceptance testing</a:t>
            </a:r>
          </a:p>
          <a:p>
            <a:pPr lvl="1" algn="just"/>
            <a:r>
              <a:rPr lang="en-US" dirty="0" smtClean="0">
                <a:latin typeface="Times New Roman" panose="02020603050405020304" pitchFamily="18" charset="0"/>
                <a:cs typeface="Times New Roman" panose="02020603050405020304" pitchFamily="18" charset="0"/>
              </a:rPr>
              <a:t>Acceptance by the system’s operator</a:t>
            </a:r>
          </a:p>
          <a:p>
            <a:pPr lvl="1" algn="just"/>
            <a:r>
              <a:rPr lang="en-US" dirty="0" smtClean="0">
                <a:latin typeface="Times New Roman" panose="02020603050405020304" pitchFamily="18" charset="0"/>
                <a:cs typeface="Times New Roman" panose="02020603050405020304" pitchFamily="18" charset="0"/>
              </a:rPr>
              <a:t>Contractual and regulatory acceptance testing</a:t>
            </a:r>
          </a:p>
          <a:p>
            <a:pPr lvl="1" algn="just"/>
            <a:r>
              <a:rPr lang="en-US" dirty="0" smtClean="0">
                <a:latin typeface="Times New Roman" panose="02020603050405020304" pitchFamily="18" charset="0"/>
                <a:cs typeface="Times New Roman" panose="02020603050405020304" pitchFamily="18" charset="0"/>
              </a:rPr>
              <a:t>Field tests (i.e., alpha and beta tests)</a:t>
            </a:r>
          </a:p>
        </p:txBody>
      </p:sp>
      <p:sp>
        <p:nvSpPr>
          <p:cNvPr id="4" name="Slide Number Placeholder 3"/>
          <p:cNvSpPr>
            <a:spLocks noGrp="1"/>
          </p:cNvSpPr>
          <p:nvPr>
            <p:ph type="sldNum" sz="quarter" idx="12"/>
          </p:nvPr>
        </p:nvSpPr>
        <p:spPr/>
        <p:txBody>
          <a:bodyPr/>
          <a:lstStyle/>
          <a:p>
            <a:fld id="{FEFE5490-7C78-454F-98DE-D1826F8CB872}" type="slidenum">
              <a:rPr lang="en-US" smtClean="0"/>
              <a:t>52</a:t>
            </a:fld>
            <a:endParaRPr lang="en-US"/>
          </a:p>
        </p:txBody>
      </p:sp>
    </p:spTree>
    <p:extLst>
      <p:ext uri="{BB962C8B-B14F-4D97-AF65-F5344CB8AC3E}">
        <p14:creationId xmlns:p14="http://schemas.microsoft.com/office/powerpoint/2010/main" val="26748375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Cont..</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dirty="0" smtClean="0">
                <a:latin typeface="Times New Roman" panose="02020603050405020304" pitchFamily="18" charset="0"/>
                <a:cs typeface="Times New Roman" panose="02020603050405020304" pitchFamily="18" charset="0"/>
              </a:rPr>
              <a:t>Test basis – user and system requirements, use cases, business processes, risk analysis, descriptions of the processes that use the system, forms, plus reports and descriptions of system maintenance and admin processes</a:t>
            </a:r>
          </a:p>
          <a:p>
            <a:pPr algn="just"/>
            <a:r>
              <a:rPr lang="en-US" dirty="0" smtClean="0">
                <a:latin typeface="Times New Roman" panose="02020603050405020304" pitchFamily="18" charset="0"/>
                <a:cs typeface="Times New Roman" panose="02020603050405020304" pitchFamily="18" charset="0"/>
              </a:rPr>
              <a:t>Contractual acceptance test – Contract can be a formal agreement between two company internal departments that develop the product as joint product. Customer will decide whether or not to accept the delivered </a:t>
            </a:r>
            <a:r>
              <a:rPr lang="en-US" dirty="0" smtClean="0">
                <a:latin typeface="Times New Roman" panose="02020603050405020304" pitchFamily="18" charset="0"/>
                <a:cs typeface="Times New Roman" panose="02020603050405020304" pitchFamily="18" charset="0"/>
              </a:rPr>
              <a:t>product</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Acceptance test criteria – detailed in the development contract will serve as test criteria, so these have to be clearly and unambiguously defined which demonstrate to the customer that contractual requirements have been fulfilled</a:t>
            </a:r>
          </a:p>
          <a:p>
            <a:pPr algn="just"/>
            <a:r>
              <a:rPr lang="en-US" dirty="0" smtClean="0">
                <a:latin typeface="Times New Roman" panose="02020603050405020304" pitchFamily="18" charset="0"/>
                <a:cs typeface="Times New Roman" panose="02020603050405020304" pitchFamily="18" charset="0"/>
              </a:rPr>
              <a:t>In agile projects, continuous feedback is crucial. Acceptance tests should be included in every iteration</a:t>
            </a:r>
          </a:p>
          <a:p>
            <a:pPr algn="just"/>
            <a:endParaRPr lang="en-US" dirty="0" smtClean="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53</a:t>
            </a:fld>
            <a:endParaRPr lang="en-US"/>
          </a:p>
        </p:txBody>
      </p:sp>
    </p:spTree>
    <p:extLst>
      <p:ext uri="{BB962C8B-B14F-4D97-AF65-F5344CB8AC3E}">
        <p14:creationId xmlns:p14="http://schemas.microsoft.com/office/powerpoint/2010/main" val="9845920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User acceptance testing</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Ensures the system meets </a:t>
            </a:r>
            <a:r>
              <a:rPr lang="en-US" b="1" dirty="0">
                <a:latin typeface="Times New Roman" panose="02020603050405020304" pitchFamily="18" charset="0"/>
                <a:cs typeface="Times New Roman" panose="02020603050405020304" pitchFamily="18" charset="0"/>
              </a:rPr>
              <a:t>end-user </a:t>
            </a:r>
            <a:r>
              <a:rPr lang="en-US" b="1" dirty="0" smtClean="0">
                <a:latin typeface="Times New Roman" panose="02020603050405020304" pitchFamily="18" charset="0"/>
                <a:cs typeface="Times New Roman" panose="02020603050405020304" pitchFamily="18" charset="0"/>
              </a:rPr>
              <a:t>expectations</a:t>
            </a:r>
            <a:endParaRPr lang="en-US" dirty="0" smtClean="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Critical when </a:t>
            </a:r>
            <a:r>
              <a:rPr lang="en-US" b="1" dirty="0">
                <a:latin typeface="Times New Roman" panose="02020603050405020304" pitchFamily="18" charset="0"/>
                <a:cs typeface="Times New Roman" panose="02020603050405020304" pitchFamily="18" charset="0"/>
              </a:rPr>
              <a:t>customer ≠ </a:t>
            </a:r>
            <a:r>
              <a:rPr lang="en-US" b="1" dirty="0" smtClean="0">
                <a:latin typeface="Times New Roman" panose="02020603050405020304" pitchFamily="18" charset="0"/>
                <a:cs typeface="Times New Roman" panose="02020603050405020304" pitchFamily="18" charset="0"/>
              </a:rPr>
              <a:t>end-user</a:t>
            </a:r>
            <a:endParaRPr lang="en-US" dirty="0" smtClean="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Focuses on </a:t>
            </a:r>
            <a:r>
              <a:rPr lang="en-US" b="1" dirty="0">
                <a:latin typeface="Times New Roman" panose="02020603050405020304" pitchFamily="18" charset="0"/>
                <a:cs typeface="Times New Roman" panose="02020603050405020304" pitchFamily="18" charset="0"/>
              </a:rPr>
              <a:t>usability, workflows, and real-world </a:t>
            </a:r>
            <a:r>
              <a:rPr lang="en-US" b="1" dirty="0" smtClean="0">
                <a:latin typeface="Times New Roman" panose="02020603050405020304" pitchFamily="18" charset="0"/>
                <a:cs typeface="Times New Roman" panose="02020603050405020304" pitchFamily="18" charset="0"/>
              </a:rPr>
              <a:t>scenarios</a:t>
            </a:r>
            <a:endParaRPr lang="en-US" dirty="0" smtClean="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Identify key user groups </a:t>
            </a:r>
            <a:r>
              <a:rPr lang="en-US" dirty="0" smtClean="0">
                <a:latin typeface="Times New Roman" panose="02020603050405020304" pitchFamily="18" charset="0"/>
                <a:cs typeface="Times New Roman" panose="02020603050405020304" pitchFamily="18" charset="0"/>
              </a:rPr>
              <a:t>early</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Perform tailored acceptance tests for each </a:t>
            </a:r>
            <a:r>
              <a:rPr lang="en-US" dirty="0" smtClean="0">
                <a:latin typeface="Times New Roman" panose="02020603050405020304" pitchFamily="18" charset="0"/>
                <a:cs typeface="Times New Roman" panose="02020603050405020304" pitchFamily="18" charset="0"/>
              </a:rPr>
              <a:t>group</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Tests should align with business processes and real-world </a:t>
            </a:r>
            <a:r>
              <a:rPr lang="en-US" dirty="0" smtClean="0">
                <a:latin typeface="Times New Roman" panose="02020603050405020304" pitchFamily="18" charset="0"/>
                <a:cs typeface="Times New Roman" panose="02020603050405020304" pitchFamily="18" charset="0"/>
              </a:rPr>
              <a:t>scenarios</a:t>
            </a:r>
            <a:endParaRPr lang="en-US" dirty="0" smtClean="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54</a:t>
            </a:fld>
            <a:endParaRPr lang="en-US"/>
          </a:p>
        </p:txBody>
      </p:sp>
    </p:spTree>
    <p:extLst>
      <p:ext uri="{BB962C8B-B14F-4D97-AF65-F5344CB8AC3E}">
        <p14:creationId xmlns:p14="http://schemas.microsoft.com/office/powerpoint/2010/main" val="77922591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acceptance testing by system operator</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Ensures system administrators can manage the system.</a:t>
            </a:r>
          </a:p>
          <a:p>
            <a:pPr algn="just"/>
            <a:r>
              <a:rPr lang="en-US" dirty="0">
                <a:latin typeface="Times New Roman" panose="02020603050405020304" pitchFamily="18" charset="0"/>
                <a:cs typeface="Times New Roman" panose="02020603050405020304" pitchFamily="18" charset="0"/>
              </a:rPr>
              <a:t>Key tests:</a:t>
            </a:r>
          </a:p>
          <a:p>
            <a:pPr marL="401638" indent="-2349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Backup &amp; </a:t>
            </a:r>
            <a:r>
              <a:rPr lang="en-US" dirty="0" smtClean="0">
                <a:latin typeface="Times New Roman" panose="02020603050405020304" pitchFamily="18" charset="0"/>
                <a:cs typeface="Times New Roman" panose="02020603050405020304" pitchFamily="18" charset="0"/>
              </a:rPr>
              <a:t>recovery</a:t>
            </a:r>
            <a:endParaRPr lang="en-US" dirty="0">
              <a:latin typeface="Times New Roman" panose="02020603050405020304" pitchFamily="18" charset="0"/>
              <a:cs typeface="Times New Roman" panose="02020603050405020304" pitchFamily="18" charset="0"/>
            </a:endParaRPr>
          </a:p>
          <a:p>
            <a:pPr marL="401638" indent="-2349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System </a:t>
            </a:r>
            <a:r>
              <a:rPr lang="en-US" dirty="0" smtClean="0">
                <a:latin typeface="Times New Roman" panose="02020603050405020304" pitchFamily="18" charset="0"/>
                <a:cs typeface="Times New Roman" panose="02020603050405020304" pitchFamily="18" charset="0"/>
              </a:rPr>
              <a:t>restarts</a:t>
            </a:r>
            <a:endParaRPr lang="en-US" dirty="0">
              <a:latin typeface="Times New Roman" panose="02020603050405020304" pitchFamily="18" charset="0"/>
              <a:cs typeface="Times New Roman" panose="02020603050405020304" pitchFamily="18" charset="0"/>
            </a:endParaRPr>
          </a:p>
          <a:p>
            <a:pPr marL="401638" indent="-2349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User </a:t>
            </a:r>
            <a:r>
              <a:rPr lang="en-US" dirty="0" smtClean="0">
                <a:latin typeface="Times New Roman" panose="02020603050405020304" pitchFamily="18" charset="0"/>
                <a:cs typeface="Times New Roman" panose="02020603050405020304" pitchFamily="18" charset="0"/>
              </a:rPr>
              <a:t>administration</a:t>
            </a:r>
            <a:endParaRPr lang="en-US" dirty="0">
              <a:latin typeface="Times New Roman" panose="02020603050405020304" pitchFamily="18" charset="0"/>
              <a:cs typeface="Times New Roman" panose="02020603050405020304" pitchFamily="18" charset="0"/>
            </a:endParaRPr>
          </a:p>
          <a:p>
            <a:pPr marL="401638" indent="-2349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Security &amp; data </a:t>
            </a:r>
            <a:r>
              <a:rPr lang="en-US" dirty="0" smtClean="0">
                <a:latin typeface="Times New Roman" panose="02020603050405020304" pitchFamily="18" charset="0"/>
                <a:cs typeface="Times New Roman" panose="02020603050405020304" pitchFamily="18" charset="0"/>
              </a:rPr>
              <a:t>handling</a:t>
            </a:r>
          </a:p>
        </p:txBody>
      </p:sp>
      <p:sp>
        <p:nvSpPr>
          <p:cNvPr id="4" name="Slide Number Placeholder 3"/>
          <p:cNvSpPr>
            <a:spLocks noGrp="1"/>
          </p:cNvSpPr>
          <p:nvPr>
            <p:ph type="sldNum" sz="quarter" idx="12"/>
          </p:nvPr>
        </p:nvSpPr>
        <p:spPr/>
        <p:txBody>
          <a:bodyPr/>
          <a:lstStyle/>
          <a:p>
            <a:fld id="{FEFE5490-7C78-454F-98DE-D1826F8CB872}" type="slidenum">
              <a:rPr lang="en-US" smtClean="0"/>
              <a:t>55</a:t>
            </a:fld>
            <a:endParaRPr lang="en-US"/>
          </a:p>
        </p:txBody>
      </p:sp>
    </p:spTree>
    <p:extLst>
      <p:ext uri="{BB962C8B-B14F-4D97-AF65-F5344CB8AC3E}">
        <p14:creationId xmlns:p14="http://schemas.microsoft.com/office/powerpoint/2010/main" val="7064634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Field testing</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Used for products deployed in multiple </a:t>
            </a:r>
            <a:r>
              <a:rPr lang="en-US" dirty="0" smtClean="0">
                <a:latin typeface="Times New Roman" panose="02020603050405020304" pitchFamily="18" charset="0"/>
                <a:cs typeface="Times New Roman" panose="02020603050405020304" pitchFamily="18" charset="0"/>
              </a:rPr>
              <a:t>environments</a:t>
            </a:r>
          </a:p>
          <a:p>
            <a:pPr algn="just"/>
            <a:r>
              <a:rPr lang="en-US" dirty="0">
                <a:latin typeface="Times New Roman" panose="02020603050405020304" pitchFamily="18" charset="0"/>
                <a:cs typeface="Times New Roman" panose="02020603050405020304" pitchFamily="18" charset="0"/>
              </a:rPr>
              <a:t>Can’t replicate all customer </a:t>
            </a:r>
            <a:r>
              <a:rPr lang="en-US" dirty="0" smtClean="0">
                <a:latin typeface="Times New Roman" panose="02020603050405020304" pitchFamily="18" charset="0"/>
                <a:cs typeface="Times New Roman" panose="02020603050405020304" pitchFamily="18" charset="0"/>
              </a:rPr>
              <a:t>environments</a:t>
            </a:r>
          </a:p>
          <a:p>
            <a:pPr algn="just"/>
            <a:r>
              <a:rPr lang="en-US" dirty="0">
                <a:latin typeface="Times New Roman" panose="02020603050405020304" pitchFamily="18" charset="0"/>
                <a:cs typeface="Times New Roman" panose="02020603050405020304" pitchFamily="18" charset="0"/>
              </a:rPr>
              <a:t>Deploy pre-release software for testing in real-world settings</a:t>
            </a:r>
          </a:p>
        </p:txBody>
      </p:sp>
      <p:sp>
        <p:nvSpPr>
          <p:cNvPr id="4" name="Slide Number Placeholder 3"/>
          <p:cNvSpPr>
            <a:spLocks noGrp="1"/>
          </p:cNvSpPr>
          <p:nvPr>
            <p:ph type="sldNum" sz="quarter" idx="12"/>
          </p:nvPr>
        </p:nvSpPr>
        <p:spPr/>
        <p:txBody>
          <a:bodyPr/>
          <a:lstStyle/>
          <a:p>
            <a:fld id="{FEFE5490-7C78-454F-98DE-D1826F8CB872}" type="slidenum">
              <a:rPr lang="en-US" smtClean="0"/>
              <a:t>56</a:t>
            </a:fld>
            <a:endParaRPr lang="en-US"/>
          </a:p>
        </p:txBody>
      </p:sp>
    </p:spTree>
    <p:extLst>
      <p:ext uri="{BB962C8B-B14F-4D97-AF65-F5344CB8AC3E}">
        <p14:creationId xmlns:p14="http://schemas.microsoft.com/office/powerpoint/2010/main" val="132227945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Alpha testing</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Conducted in-house by testers outside development </a:t>
            </a:r>
            <a:r>
              <a:rPr lang="en-US" dirty="0" smtClean="0">
                <a:latin typeface="Times New Roman" panose="02020603050405020304" pitchFamily="18" charset="0"/>
                <a:cs typeface="Times New Roman" panose="02020603050405020304" pitchFamily="18" charset="0"/>
              </a:rPr>
              <a:t>teams</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57</a:t>
            </a:fld>
            <a:endParaRPr lang="en-US"/>
          </a:p>
        </p:txBody>
      </p:sp>
    </p:spTree>
    <p:extLst>
      <p:ext uri="{BB962C8B-B14F-4D97-AF65-F5344CB8AC3E}">
        <p14:creationId xmlns:p14="http://schemas.microsoft.com/office/powerpoint/2010/main" val="277882781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beta testing</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dirty="0" smtClean="0">
                <a:latin typeface="Times New Roman" panose="02020603050405020304" pitchFamily="18" charset="0"/>
                <a:cs typeface="Times New Roman" panose="02020603050405020304" pitchFamily="18" charset="0"/>
              </a:rPr>
              <a:t>Performed </a:t>
            </a:r>
            <a:r>
              <a:rPr lang="en-US" dirty="0">
                <a:latin typeface="Times New Roman" panose="02020603050405020304" pitchFamily="18" charset="0"/>
                <a:cs typeface="Times New Roman" panose="02020603050405020304" pitchFamily="18" charset="0"/>
              </a:rPr>
              <a:t>at customer </a:t>
            </a:r>
            <a:r>
              <a:rPr lang="en-US" dirty="0" smtClean="0">
                <a:latin typeface="Times New Roman" panose="02020603050405020304" pitchFamily="18" charset="0"/>
                <a:cs typeface="Times New Roman" panose="02020603050405020304" pitchFamily="18" charset="0"/>
              </a:rPr>
              <a:t>sites</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Ensures the product works in real-world </a:t>
            </a:r>
            <a:r>
              <a:rPr lang="en-US" dirty="0" smtClean="0">
                <a:latin typeface="Times New Roman" panose="02020603050405020304" pitchFamily="18" charset="0"/>
                <a:cs typeface="Times New Roman" panose="02020603050405020304" pitchFamily="18" charset="0"/>
              </a:rPr>
              <a:t>conditions</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58</a:t>
            </a:fld>
            <a:endParaRPr lang="en-US"/>
          </a:p>
        </p:txBody>
      </p:sp>
    </p:spTree>
    <p:extLst>
      <p:ext uri="{BB962C8B-B14F-4D97-AF65-F5344CB8AC3E}">
        <p14:creationId xmlns:p14="http://schemas.microsoft.com/office/powerpoint/2010/main" val="93487111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Test types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lgn="just">
              <a:buNone/>
            </a:pPr>
            <a:r>
              <a:rPr lang="en-US" dirty="0" smtClean="0">
                <a:latin typeface="Times New Roman" panose="02020603050405020304" pitchFamily="18" charset="0"/>
                <a:cs typeface="Times New Roman" panose="02020603050405020304" pitchFamily="18" charset="0"/>
              </a:rPr>
              <a:t> Functional </a:t>
            </a:r>
            <a:r>
              <a:rPr lang="en-US" dirty="0">
                <a:latin typeface="Times New Roman" panose="02020603050405020304" pitchFamily="18" charset="0"/>
                <a:cs typeface="Times New Roman" panose="02020603050405020304" pitchFamily="18" charset="0"/>
              </a:rPr>
              <a:t>and non-functional tests</a:t>
            </a:r>
          </a:p>
          <a:p>
            <a:pPr marL="0" indent="0" algn="just">
              <a:buNone/>
            </a:pPr>
            <a:r>
              <a:rPr lang="en-US" dirty="0" smtClean="0">
                <a:latin typeface="Times New Roman" panose="02020603050405020304" pitchFamily="18" charset="0"/>
                <a:cs typeface="Times New Roman" panose="02020603050405020304" pitchFamily="18" charset="0"/>
              </a:rPr>
              <a:t> Requirements </a:t>
            </a:r>
            <a:r>
              <a:rPr lang="en-US" dirty="0">
                <a:latin typeface="Times New Roman" panose="02020603050405020304" pitchFamily="18" charset="0"/>
                <a:cs typeface="Times New Roman" panose="02020603050405020304" pitchFamily="18" charset="0"/>
              </a:rPr>
              <a:t>and structure-based tests</a:t>
            </a:r>
          </a:p>
        </p:txBody>
      </p:sp>
      <p:sp>
        <p:nvSpPr>
          <p:cNvPr id="4" name="Slide Number Placeholder 3"/>
          <p:cNvSpPr>
            <a:spLocks noGrp="1"/>
          </p:cNvSpPr>
          <p:nvPr>
            <p:ph type="sldNum" sz="quarter" idx="12"/>
          </p:nvPr>
        </p:nvSpPr>
        <p:spPr/>
        <p:txBody>
          <a:bodyPr/>
          <a:lstStyle/>
          <a:p>
            <a:fld id="{FEFE5490-7C78-454F-98DE-D1826F8CB872}" type="slidenum">
              <a:rPr lang="en-US" smtClean="0"/>
              <a:t>59</a:t>
            </a:fld>
            <a:endParaRPr lang="en-US"/>
          </a:p>
        </p:txBody>
      </p:sp>
    </p:spTree>
    <p:extLst>
      <p:ext uri="{BB962C8B-B14F-4D97-AF65-F5344CB8AC3E}">
        <p14:creationId xmlns:p14="http://schemas.microsoft.com/office/powerpoint/2010/main" val="328235195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Functional tests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lgn="just">
              <a:buNone/>
            </a:pPr>
            <a:r>
              <a:rPr lang="en-US" dirty="0" smtClean="0">
                <a:latin typeface="Times New Roman" panose="02020603050405020304" pitchFamily="18" charset="0"/>
                <a:cs typeface="Times New Roman" panose="02020603050405020304" pitchFamily="18" charset="0"/>
              </a:rPr>
              <a:t>Methods used to test the observable input/output behavior of a test object</a:t>
            </a:r>
          </a:p>
          <a:p>
            <a:pPr marL="0" indent="0" algn="just">
              <a:buNone/>
            </a:pPr>
            <a:r>
              <a:rPr lang="en-US" dirty="0" smtClean="0">
                <a:latin typeface="Times New Roman" panose="02020603050405020304" pitchFamily="18" charset="0"/>
                <a:cs typeface="Times New Roman" panose="02020603050405020304" pitchFamily="18" charset="0"/>
              </a:rPr>
              <a:t>Functional test cases are built using </a:t>
            </a:r>
            <a:r>
              <a:rPr lang="en-US" i="1" dirty="0" smtClean="0">
                <a:latin typeface="Times New Roman" panose="02020603050405020304" pitchFamily="18" charset="0"/>
                <a:cs typeface="Times New Roman" panose="02020603050405020304" pitchFamily="18" charset="0"/>
              </a:rPr>
              <a:t>black box</a:t>
            </a:r>
            <a:r>
              <a:rPr lang="en-US" dirty="0" smtClean="0">
                <a:latin typeface="Times New Roman" panose="02020603050405020304" pitchFamily="18" charset="0"/>
                <a:cs typeface="Times New Roman" panose="02020603050405020304" pitchFamily="18" charset="0"/>
              </a:rPr>
              <a:t> technique</a:t>
            </a:r>
          </a:p>
          <a:p>
            <a:pPr marL="0" indent="0" algn="just">
              <a:buNone/>
            </a:pPr>
            <a:r>
              <a:rPr lang="en-US" b="1" dirty="0" smtClean="0">
                <a:latin typeface="Times New Roman" panose="02020603050405020304" pitchFamily="18" charset="0"/>
                <a:cs typeface="Times New Roman" panose="02020603050405020304" pitchFamily="18" charset="0"/>
              </a:rPr>
              <a:t>Functional Suitability</a:t>
            </a:r>
            <a:r>
              <a:rPr lang="en-US" dirty="0" smtClean="0">
                <a:latin typeface="Times New Roman" panose="02020603050405020304" pitchFamily="18" charset="0"/>
                <a:cs typeface="Times New Roman" panose="02020603050405020304" pitchFamily="18" charset="0"/>
              </a:rPr>
              <a:t> - How well a component is fulfilling its functional requirements</a:t>
            </a:r>
          </a:p>
          <a:p>
            <a:pPr marL="0" indent="0" algn="just">
              <a:buNone/>
            </a:pPr>
            <a:r>
              <a:rPr lang="en-US" b="1" dirty="0" smtClean="0">
                <a:latin typeface="Times New Roman" panose="02020603050405020304" pitchFamily="18" charset="0"/>
                <a:cs typeface="Times New Roman" panose="02020603050405020304" pitchFamily="18" charset="0"/>
              </a:rPr>
              <a:t>Functional test cases</a:t>
            </a:r>
            <a:r>
              <a:rPr lang="en-US" dirty="0" smtClean="0">
                <a:latin typeface="Times New Roman" panose="02020603050405020304" pitchFamily="18" charset="0"/>
                <a:cs typeface="Times New Roman" panose="02020603050405020304" pitchFamily="18" charset="0"/>
              </a:rPr>
              <a:t> - Test that check functional attributes require at least one test case for each functional requirement</a:t>
            </a:r>
          </a:p>
        </p:txBody>
      </p:sp>
      <p:sp>
        <p:nvSpPr>
          <p:cNvPr id="4" name="Slide Number Placeholder 3"/>
          <p:cNvSpPr>
            <a:spLocks noGrp="1"/>
          </p:cNvSpPr>
          <p:nvPr>
            <p:ph type="sldNum" sz="quarter" idx="12"/>
          </p:nvPr>
        </p:nvSpPr>
        <p:spPr/>
        <p:txBody>
          <a:bodyPr/>
          <a:lstStyle/>
          <a:p>
            <a:fld id="{FEFE5490-7C78-454F-98DE-D1826F8CB872}" type="slidenum">
              <a:rPr lang="en-US" smtClean="0"/>
              <a:t>60</a:t>
            </a:fld>
            <a:endParaRPr lang="en-US"/>
          </a:p>
        </p:txBody>
      </p:sp>
    </p:spTree>
    <p:extLst>
      <p:ext uri="{BB962C8B-B14F-4D97-AF65-F5344CB8AC3E}">
        <p14:creationId xmlns:p14="http://schemas.microsoft.com/office/powerpoint/2010/main" val="162104316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Example</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lgn="just">
              <a:buNone/>
            </a:pPr>
            <a:r>
              <a:rPr lang="en-US" dirty="0" smtClean="0">
                <a:latin typeface="Times New Roman" panose="02020603050405020304" pitchFamily="18" charset="0"/>
                <a:cs typeface="Times New Roman" panose="02020603050405020304" pitchFamily="18" charset="0"/>
              </a:rPr>
              <a:t>Functional requirements of the VSR-II </a:t>
            </a:r>
            <a:r>
              <a:rPr lang="en-US" i="1" dirty="0" smtClean="0">
                <a:latin typeface="Times New Roman" panose="02020603050405020304" pitchFamily="18" charset="0"/>
                <a:cs typeface="Times New Roman" panose="02020603050405020304" pitchFamily="18" charset="0"/>
              </a:rPr>
              <a:t>DreamCar</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module:</a:t>
            </a:r>
          </a:p>
          <a:p>
            <a:pPr marL="0" indent="0" algn="just">
              <a:buNone/>
            </a:pPr>
            <a:r>
              <a:rPr lang="en-US" b="1" dirty="0">
                <a:latin typeface="Times New Roman" panose="02020603050405020304" pitchFamily="18" charset="0"/>
                <a:cs typeface="Times New Roman" panose="02020603050405020304" pitchFamily="18" charset="0"/>
              </a:rPr>
              <a:t>R100:</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The </a:t>
            </a:r>
            <a:r>
              <a:rPr lang="en-US" dirty="0">
                <a:latin typeface="Times New Roman" panose="02020603050405020304" pitchFamily="18" charset="0"/>
                <a:cs typeface="Times New Roman" panose="02020603050405020304" pitchFamily="18" charset="0"/>
              </a:rPr>
              <a:t>user can choose a model for configuration from the current </a:t>
            </a:r>
            <a:r>
              <a:rPr lang="en-US" dirty="0" smtClean="0">
                <a:latin typeface="Times New Roman" panose="02020603050405020304" pitchFamily="18" charset="0"/>
                <a:cs typeface="Times New Roman" panose="02020603050405020304" pitchFamily="18" charset="0"/>
              </a:rPr>
              <a:t>catalog</a:t>
            </a:r>
          </a:p>
          <a:p>
            <a:pPr marL="0" indent="0" algn="just">
              <a:buNone/>
            </a:pPr>
            <a:r>
              <a:rPr lang="en-US" b="1" dirty="0">
                <a:latin typeface="Times New Roman" panose="02020603050405020304" pitchFamily="18" charset="0"/>
                <a:cs typeface="Times New Roman" panose="02020603050405020304" pitchFamily="18" charset="0"/>
              </a:rPr>
              <a:t>R101:</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The </a:t>
            </a:r>
            <a:r>
              <a:rPr lang="en-US" dirty="0">
                <a:latin typeface="Times New Roman" panose="02020603050405020304" pitchFamily="18" charset="0"/>
                <a:cs typeface="Times New Roman" panose="02020603050405020304" pitchFamily="18" charset="0"/>
              </a:rPr>
              <a:t>deliverable extras will be displayed for the selected model. The </a:t>
            </a:r>
            <a:r>
              <a:rPr lang="en-US" dirty="0" smtClean="0">
                <a:latin typeface="Times New Roman" panose="02020603050405020304" pitchFamily="18" charset="0"/>
                <a:cs typeface="Times New Roman" panose="02020603050405020304" pitchFamily="18" charset="0"/>
              </a:rPr>
              <a:t>customer     	can </a:t>
            </a:r>
            <a:r>
              <a:rPr lang="en-US" dirty="0">
                <a:latin typeface="Times New Roman" panose="02020603050405020304" pitchFamily="18" charset="0"/>
                <a:cs typeface="Times New Roman" panose="02020603050405020304" pitchFamily="18" charset="0"/>
              </a:rPr>
              <a:t>select any of these to add to the configuration</a:t>
            </a:r>
            <a:r>
              <a:rPr lang="en-US" dirty="0" smtClean="0">
                <a:latin typeface="Times New Roman" panose="02020603050405020304" pitchFamily="18" charset="0"/>
                <a:cs typeface="Times New Roman" panose="02020603050405020304" pitchFamily="18" charset="0"/>
              </a:rPr>
              <a:t>.</a:t>
            </a:r>
          </a:p>
          <a:p>
            <a:pPr marL="0" indent="0" algn="just">
              <a:buNone/>
            </a:pPr>
            <a:r>
              <a:rPr lang="en-US" b="1" dirty="0">
                <a:latin typeface="Times New Roman" panose="02020603050405020304" pitchFamily="18" charset="0"/>
                <a:cs typeface="Times New Roman" panose="02020603050405020304" pitchFamily="18" charset="0"/>
              </a:rPr>
              <a:t>R102:</a:t>
            </a:r>
            <a:r>
              <a:rPr lang="en-US" dirty="0">
                <a:latin typeface="Times New Roman" panose="02020603050405020304" pitchFamily="18" charset="0"/>
                <a:cs typeface="Times New Roman" panose="02020603050405020304" pitchFamily="18" charset="0"/>
              </a:rPr>
              <a:t>  The price for the current configuration (model plus extras) will be </a:t>
            </a:r>
            <a:r>
              <a:rPr lang="en-US" dirty="0" smtClean="0">
                <a:latin typeface="Times New Roman" panose="02020603050405020304" pitchFamily="18" charset="0"/>
                <a:cs typeface="Times New Roman" panose="02020603050405020304" pitchFamily="18" charset="0"/>
              </a:rPr>
              <a:t>calculated 	according </a:t>
            </a:r>
            <a:r>
              <a:rPr lang="en-US" dirty="0">
                <a:latin typeface="Times New Roman" panose="02020603050405020304" pitchFamily="18" charset="0"/>
                <a:cs typeface="Times New Roman" panose="02020603050405020304" pitchFamily="18" charset="0"/>
              </a:rPr>
              <a:t>to the current price list and displayed in real </a:t>
            </a:r>
            <a:r>
              <a:rPr lang="en-US" dirty="0" smtClean="0">
                <a:latin typeface="Times New Roman" panose="02020603050405020304" pitchFamily="18" charset="0"/>
                <a:cs typeface="Times New Roman" panose="02020603050405020304" pitchFamily="18" charset="0"/>
              </a:rPr>
              <a:t>time</a:t>
            </a:r>
          </a:p>
          <a:p>
            <a:pPr marL="0" indent="0" algn="just">
              <a:buNone/>
            </a:pPr>
            <a:r>
              <a:rPr lang="en-US" b="1" dirty="0">
                <a:latin typeface="Times New Roman" panose="02020603050405020304" pitchFamily="18" charset="0"/>
                <a:cs typeface="Times New Roman" panose="02020603050405020304" pitchFamily="18" charset="0"/>
              </a:rPr>
              <a:t>R103:</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For </a:t>
            </a:r>
            <a:r>
              <a:rPr lang="en-US" dirty="0">
                <a:latin typeface="Times New Roman" panose="02020603050405020304" pitchFamily="18" charset="0"/>
                <a:cs typeface="Times New Roman" panose="02020603050405020304" pitchFamily="18" charset="0"/>
              </a:rPr>
              <a:t>the currently selected vehicle, only extras that are part of a </a:t>
            </a:r>
            <a:r>
              <a:rPr lang="en-US" dirty="0" smtClean="0">
                <a:latin typeface="Times New Roman" panose="02020603050405020304" pitchFamily="18" charset="0"/>
                <a:cs typeface="Times New Roman" panose="02020603050405020304" pitchFamily="18" charset="0"/>
              </a:rPr>
              <a:t>deliverable 	configuration </a:t>
            </a:r>
            <a:r>
              <a:rPr lang="en-US" dirty="0">
                <a:latin typeface="Times New Roman" panose="02020603050405020304" pitchFamily="18" charset="0"/>
                <a:cs typeface="Times New Roman" panose="02020603050405020304" pitchFamily="18" charset="0"/>
              </a:rPr>
              <a:t>will be displayed. Non-deliverable </a:t>
            </a:r>
            <a:r>
              <a:rPr lang="en-US" dirty="0" smtClean="0">
                <a:latin typeface="Times New Roman" panose="02020603050405020304" pitchFamily="18" charset="0"/>
                <a:cs typeface="Times New Roman" panose="02020603050405020304" pitchFamily="18" charset="0"/>
              </a:rPr>
              <a:t>extras for </a:t>
            </a:r>
            <a:r>
              <a:rPr lang="en-US" dirty="0">
                <a:latin typeface="Times New Roman" panose="02020603050405020304" pitchFamily="18" charset="0"/>
                <a:cs typeface="Times New Roman" panose="02020603050405020304" pitchFamily="18" charset="0"/>
              </a:rPr>
              <a:t>the current </a:t>
            </a:r>
            <a:r>
              <a:rPr lang="en-US" dirty="0" smtClean="0">
                <a:latin typeface="Times New Roman" panose="02020603050405020304" pitchFamily="18" charset="0"/>
                <a:cs typeface="Times New Roman" panose="02020603050405020304" pitchFamily="18" charset="0"/>
              </a:rPr>
              <a:t>	configuration </a:t>
            </a:r>
            <a:r>
              <a:rPr lang="en-US" dirty="0">
                <a:latin typeface="Times New Roman" panose="02020603050405020304" pitchFamily="18" charset="0"/>
                <a:cs typeface="Times New Roman" panose="02020603050405020304" pitchFamily="18" charset="0"/>
              </a:rPr>
              <a:t>will be grayed out.</a:t>
            </a:r>
            <a:endParaRPr lang="en-US" dirty="0" smtClean="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61</a:t>
            </a:fld>
            <a:endParaRPr lang="en-US"/>
          </a:p>
        </p:txBody>
      </p:sp>
    </p:spTree>
    <p:extLst>
      <p:ext uri="{BB962C8B-B14F-4D97-AF65-F5344CB8AC3E}">
        <p14:creationId xmlns:p14="http://schemas.microsoft.com/office/powerpoint/2010/main" val="211128497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Example cont..</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lgn="just">
              <a:buNone/>
            </a:pPr>
            <a:r>
              <a:rPr lang="en-US" dirty="0" smtClean="0">
                <a:latin typeface="Times New Roman" panose="02020603050405020304" pitchFamily="18" charset="0"/>
                <a:cs typeface="Times New Roman" panose="02020603050405020304" pitchFamily="18" charset="0"/>
              </a:rPr>
              <a:t>Requirements based test cases against functional requirement 102 are:</a:t>
            </a:r>
          </a:p>
          <a:p>
            <a:pPr marL="0" indent="0" algn="just">
              <a:buNone/>
            </a:pPr>
            <a:r>
              <a:rPr lang="en-US" b="1" dirty="0" smtClean="0">
                <a:latin typeface="Times New Roman" panose="02020603050405020304" pitchFamily="18" charset="0"/>
                <a:cs typeface="Times New Roman" panose="02020603050405020304" pitchFamily="18" charset="0"/>
              </a:rPr>
              <a:t>R102.1:</a:t>
            </a:r>
            <a:r>
              <a:rPr lang="en-US" dirty="0" smtClean="0">
                <a:latin typeface="Times New Roman" panose="02020603050405020304" pitchFamily="18" charset="0"/>
                <a:cs typeface="Times New Roman" panose="02020603050405020304" pitchFamily="18" charset="0"/>
              </a:rPr>
              <a:t>   A </a:t>
            </a:r>
            <a:r>
              <a:rPr lang="en-US" dirty="0">
                <a:latin typeface="Times New Roman" panose="02020603050405020304" pitchFamily="18" charset="0"/>
                <a:cs typeface="Times New Roman" panose="02020603050405020304" pitchFamily="18" charset="0"/>
              </a:rPr>
              <a:t>vehicle model is selected; the price according to the sales manual </a:t>
            </a:r>
            <a:r>
              <a:rPr lang="en-US" dirty="0" smtClean="0">
                <a:latin typeface="Times New Roman" panose="02020603050405020304" pitchFamily="18" charset="0"/>
                <a:cs typeface="Times New Roman" panose="02020603050405020304" pitchFamily="18" charset="0"/>
              </a:rPr>
              <a:t>is 	 	   displayed</a:t>
            </a:r>
          </a:p>
          <a:p>
            <a:pPr marL="0" indent="0" algn="just">
              <a:buNone/>
            </a:pPr>
            <a:r>
              <a:rPr lang="en-US" b="1" dirty="0" smtClean="0">
                <a:latin typeface="Times New Roman" panose="02020603050405020304" pitchFamily="18" charset="0"/>
                <a:cs typeface="Times New Roman" panose="02020603050405020304" pitchFamily="18" charset="0"/>
              </a:rPr>
              <a:t>R102.2:</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An </a:t>
            </a:r>
            <a:r>
              <a:rPr lang="en-US" dirty="0">
                <a:latin typeface="Times New Roman" panose="02020603050405020304" pitchFamily="18" charset="0"/>
                <a:cs typeface="Times New Roman" panose="02020603050405020304" pitchFamily="18" charset="0"/>
              </a:rPr>
              <a:t>extra is selected; the vehicle price is increased by the price of </a:t>
            </a:r>
          </a:p>
          <a:p>
            <a:pPr marL="0" indent="0" algn="just">
              <a:buNone/>
            </a:pPr>
            <a:r>
              <a:rPr lang="en-US" dirty="0" smtClean="0">
                <a:latin typeface="Times New Roman" panose="02020603050405020304" pitchFamily="18" charset="0"/>
                <a:cs typeface="Times New Roman" panose="02020603050405020304" pitchFamily="18" charset="0"/>
              </a:rPr>
              <a:t>	   this extra</a:t>
            </a:r>
          </a:p>
          <a:p>
            <a:pPr marL="0" indent="0" algn="just">
              <a:buNone/>
            </a:pPr>
            <a:r>
              <a:rPr lang="en-US" b="1" dirty="0" smtClean="0">
                <a:latin typeface="Times New Roman" panose="02020603050405020304" pitchFamily="18" charset="0"/>
                <a:cs typeface="Times New Roman" panose="02020603050405020304" pitchFamily="18" charset="0"/>
              </a:rPr>
              <a:t>R102.3:</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An </a:t>
            </a:r>
            <a:r>
              <a:rPr lang="en-US" dirty="0">
                <a:latin typeface="Times New Roman" panose="02020603050405020304" pitchFamily="18" charset="0"/>
                <a:cs typeface="Times New Roman" panose="02020603050405020304" pitchFamily="18" charset="0"/>
              </a:rPr>
              <a:t>extra is deselected; the vehicle price is reduced by the price of </a:t>
            </a:r>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extra</a:t>
            </a:r>
            <a:endParaRPr lang="en-US" dirty="0" smtClean="0">
              <a:latin typeface="Times New Roman" panose="02020603050405020304" pitchFamily="18" charset="0"/>
              <a:cs typeface="Times New Roman" panose="02020603050405020304" pitchFamily="18" charset="0"/>
            </a:endParaRPr>
          </a:p>
          <a:p>
            <a:pPr marL="0" indent="0" algn="just">
              <a:buNone/>
            </a:pPr>
            <a:r>
              <a:rPr lang="en-US" b="1" dirty="0" smtClean="0">
                <a:latin typeface="Times New Roman" panose="02020603050405020304" pitchFamily="18" charset="0"/>
                <a:cs typeface="Times New Roman" panose="02020603050405020304" pitchFamily="18" charset="0"/>
              </a:rPr>
              <a:t>R102.4: </a:t>
            </a:r>
            <a:r>
              <a:rPr lang="en-US" dirty="0" smtClean="0">
                <a:latin typeface="Times New Roman" panose="02020603050405020304" pitchFamily="18" charset="0"/>
                <a:cs typeface="Times New Roman" panose="02020603050405020304" pitchFamily="18" charset="0"/>
              </a:rPr>
              <a:t> Three </a:t>
            </a:r>
            <a:r>
              <a:rPr lang="en-US" dirty="0">
                <a:latin typeface="Times New Roman" panose="02020603050405020304" pitchFamily="18" charset="0"/>
                <a:cs typeface="Times New Roman" panose="02020603050405020304" pitchFamily="18" charset="0"/>
              </a:rPr>
              <a:t>extras are selected; these are discounted according to the </a:t>
            </a:r>
            <a:r>
              <a:rPr lang="en-US" dirty="0" smtClean="0">
                <a:latin typeface="Times New Roman" panose="02020603050405020304" pitchFamily="18" charset="0"/>
                <a:cs typeface="Times New Roman" panose="02020603050405020304" pitchFamily="18" charset="0"/>
              </a:rPr>
              <a:t>	    	 	  specifications</a:t>
            </a:r>
          </a:p>
        </p:txBody>
      </p:sp>
      <p:sp>
        <p:nvSpPr>
          <p:cNvPr id="4" name="Slide Number Placeholder 3"/>
          <p:cNvSpPr>
            <a:spLocks noGrp="1"/>
          </p:cNvSpPr>
          <p:nvPr>
            <p:ph type="sldNum" sz="quarter" idx="12"/>
          </p:nvPr>
        </p:nvSpPr>
        <p:spPr/>
        <p:txBody>
          <a:bodyPr/>
          <a:lstStyle/>
          <a:p>
            <a:fld id="{FEFE5490-7C78-454F-98DE-D1826F8CB872}" type="slidenum">
              <a:rPr lang="en-US" smtClean="0"/>
              <a:t>62</a:t>
            </a:fld>
            <a:endParaRPr lang="en-US"/>
          </a:p>
        </p:txBody>
      </p:sp>
    </p:spTree>
    <p:extLst>
      <p:ext uri="{BB962C8B-B14F-4D97-AF65-F5344CB8AC3E}">
        <p14:creationId xmlns:p14="http://schemas.microsoft.com/office/powerpoint/2010/main" val="60262366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Example cont..</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Usually, more than one test case is required to test a functional </a:t>
            </a:r>
            <a:r>
              <a:rPr lang="en-US" dirty="0" smtClean="0">
                <a:latin typeface="Times New Roman" panose="02020603050405020304" pitchFamily="18" charset="0"/>
                <a:cs typeface="Times New Roman" panose="02020603050405020304" pitchFamily="18" charset="0"/>
              </a:rPr>
              <a:t>requirement</a:t>
            </a:r>
          </a:p>
          <a:p>
            <a:pPr marL="0" indent="0" algn="just">
              <a:buNone/>
            </a:pPr>
            <a:r>
              <a:rPr lang="en-US" dirty="0">
                <a:latin typeface="Times New Roman" panose="02020603050405020304" pitchFamily="18" charset="0"/>
                <a:cs typeface="Times New Roman" panose="02020603050405020304" pitchFamily="18" charset="0"/>
              </a:rPr>
              <a:t>In our example, Requirement 102 includes a whole series of price calculation variants that need to be covered by appropriate test cases (102.1 —102.4</a:t>
            </a:r>
            <a:r>
              <a:rPr lang="en-US" dirty="0" smtClean="0">
                <a:latin typeface="Times New Roman" panose="02020603050405020304" pitchFamily="18" charset="0"/>
                <a:cs typeface="Times New Roman" panose="02020603050405020304" pitchFamily="18" charset="0"/>
              </a:rPr>
              <a:t>)</a:t>
            </a:r>
          </a:p>
          <a:p>
            <a:pPr marL="0" indent="0" algn="just">
              <a:buNone/>
            </a:pPr>
            <a:r>
              <a:rPr lang="en-US" dirty="0">
                <a:latin typeface="Times New Roman" panose="02020603050405020304" pitchFamily="18" charset="0"/>
                <a:cs typeface="Times New Roman" panose="02020603050405020304" pitchFamily="18" charset="0"/>
              </a:rPr>
              <a:t>Functional testing takes place on every test level</a:t>
            </a:r>
            <a:endParaRPr lang="en-US" dirty="0" smtClean="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63</a:t>
            </a:fld>
            <a:endParaRPr lang="en-US"/>
          </a:p>
        </p:txBody>
      </p:sp>
    </p:spTree>
    <p:extLst>
      <p:ext uri="{BB962C8B-B14F-4D97-AF65-F5344CB8AC3E}">
        <p14:creationId xmlns:p14="http://schemas.microsoft.com/office/powerpoint/2010/main" val="381885541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Non-functional tests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lgn="just">
              <a:buNone/>
            </a:pPr>
            <a:r>
              <a:rPr lang="en-US" dirty="0" smtClean="0">
                <a:latin typeface="Times New Roman" panose="02020603050405020304" pitchFamily="18" charset="0"/>
                <a:cs typeface="Times New Roman" panose="02020603050405020304" pitchFamily="18" charset="0"/>
              </a:rPr>
              <a:t>Non-functional requirements describe </a:t>
            </a:r>
            <a:r>
              <a:rPr lang="en-US" dirty="0">
                <a:latin typeface="Times New Roman" panose="02020603050405020304" pitchFamily="18" charset="0"/>
                <a:cs typeface="Times New Roman" panose="02020603050405020304" pitchFamily="18" charset="0"/>
              </a:rPr>
              <a:t>attributes of a system’s </a:t>
            </a:r>
            <a:r>
              <a:rPr lang="en-US" dirty="0" smtClean="0">
                <a:latin typeface="Times New Roman" panose="02020603050405020304" pitchFamily="18" charset="0"/>
                <a:cs typeface="Times New Roman" panose="02020603050405020304" pitchFamily="18" charset="0"/>
              </a:rPr>
              <a:t>functional </a:t>
            </a:r>
            <a:r>
              <a:rPr lang="en-US" dirty="0">
                <a:latin typeface="Times New Roman" panose="02020603050405020304" pitchFamily="18" charset="0"/>
                <a:cs typeface="Times New Roman" panose="02020603050405020304" pitchFamily="18" charset="0"/>
              </a:rPr>
              <a:t>behavior—i.e., how “well” a system or component should fulfill </a:t>
            </a:r>
            <a:r>
              <a:rPr lang="en-US" dirty="0" smtClean="0">
                <a:latin typeface="Times New Roman" panose="02020603050405020304" pitchFamily="18" charset="0"/>
                <a:cs typeface="Times New Roman" panose="02020603050405020304" pitchFamily="18" charset="0"/>
              </a:rPr>
              <a:t>its function</a:t>
            </a:r>
          </a:p>
          <a:p>
            <a:pPr marL="0" indent="0" algn="just">
              <a:buNone/>
            </a:pPr>
            <a:r>
              <a:rPr lang="en-US" dirty="0" smtClean="0">
                <a:latin typeface="Times New Roman" panose="02020603050405020304" pitchFamily="18" charset="0"/>
                <a:cs typeface="Times New Roman" panose="02020603050405020304" pitchFamily="18" charset="0"/>
              </a:rPr>
              <a:t>Following non-functional characteristics should be covered and checked by corresponding tests</a:t>
            </a:r>
          </a:p>
          <a:p>
            <a:pPr marL="0" indent="0" algn="just">
              <a:buNone/>
            </a:pPr>
            <a:r>
              <a:rPr lang="en-US" b="1" dirty="0">
                <a:latin typeface="Times New Roman" panose="02020603050405020304" pitchFamily="18" charset="0"/>
                <a:cs typeface="Times New Roman" panose="02020603050405020304" pitchFamily="18" charset="0"/>
              </a:rPr>
              <a:t>Load</a:t>
            </a:r>
            <a:r>
              <a:rPr lang="en-US" dirty="0">
                <a:latin typeface="Times New Roman" panose="02020603050405020304" pitchFamily="18" charset="0"/>
                <a:cs typeface="Times New Roman" panose="02020603050405020304" pitchFamily="18" charset="0"/>
              </a:rPr>
              <a:t>  - Measurement of system behavior under increasing load (for </a:t>
            </a:r>
            <a:r>
              <a:rPr lang="en-US" dirty="0" smtClean="0">
                <a:latin typeface="Times New Roman" panose="02020603050405020304" pitchFamily="18" charset="0"/>
                <a:cs typeface="Times New Roman" panose="02020603050405020304" pitchFamily="18" charset="0"/>
              </a:rPr>
              <a:t>example, number </a:t>
            </a:r>
            <a:r>
              <a:rPr lang="en-US" dirty="0">
                <a:latin typeface="Times New Roman" panose="02020603050405020304" pitchFamily="18" charset="0"/>
                <a:cs typeface="Times New Roman" panose="02020603050405020304" pitchFamily="18" charset="0"/>
              </a:rPr>
              <a:t>of parallel users, number of transactions</a:t>
            </a:r>
            <a:r>
              <a:rPr lang="en-US" dirty="0" smtClean="0">
                <a:latin typeface="Times New Roman" panose="02020603050405020304" pitchFamily="18" charset="0"/>
                <a:cs typeface="Times New Roman" panose="02020603050405020304" pitchFamily="18" charset="0"/>
              </a:rPr>
              <a:t>)</a:t>
            </a:r>
          </a:p>
          <a:p>
            <a:pPr marL="0" indent="0" algn="just">
              <a:buNone/>
            </a:pPr>
            <a:r>
              <a:rPr lang="en-US" b="1" dirty="0">
                <a:latin typeface="Times New Roman" panose="02020603050405020304" pitchFamily="18" charset="0"/>
                <a:cs typeface="Times New Roman" panose="02020603050405020304" pitchFamily="18" charset="0"/>
              </a:rPr>
              <a:t>Performance</a:t>
            </a:r>
            <a:r>
              <a:rPr lang="en-US" dirty="0">
                <a:latin typeface="Times New Roman" panose="02020603050405020304" pitchFamily="18" charset="0"/>
                <a:cs typeface="Times New Roman" panose="02020603050405020304" pitchFamily="18" charset="0"/>
              </a:rPr>
              <a:t> - Measurement of processing speed and response times for specific </a:t>
            </a:r>
            <a:r>
              <a:rPr lang="en-US" dirty="0" smtClean="0">
                <a:latin typeface="Times New Roman" panose="02020603050405020304" pitchFamily="18" charset="0"/>
                <a:cs typeface="Times New Roman" panose="02020603050405020304" pitchFamily="18" charset="0"/>
              </a:rPr>
              <a:t>use </a:t>
            </a:r>
            <a:r>
              <a:rPr lang="en-US" dirty="0">
                <a:latin typeface="Times New Roman" panose="02020603050405020304" pitchFamily="18" charset="0"/>
                <a:cs typeface="Times New Roman" panose="02020603050405020304" pitchFamily="18" charset="0"/>
              </a:rPr>
              <a:t>cases, usually in conjunction with increasing </a:t>
            </a:r>
            <a:r>
              <a:rPr lang="en-US" dirty="0" smtClean="0">
                <a:latin typeface="Times New Roman" panose="02020603050405020304" pitchFamily="18" charset="0"/>
                <a:cs typeface="Times New Roman" panose="02020603050405020304" pitchFamily="18" charset="0"/>
              </a:rPr>
              <a:t>load</a:t>
            </a:r>
          </a:p>
          <a:p>
            <a:pPr marL="0" indent="0" algn="just">
              <a:buNone/>
            </a:pPr>
            <a:r>
              <a:rPr lang="en-US" b="1" dirty="0">
                <a:latin typeface="Times New Roman" panose="02020603050405020304" pitchFamily="18" charset="0"/>
                <a:cs typeface="Times New Roman" panose="02020603050405020304" pitchFamily="18" charset="0"/>
              </a:rPr>
              <a:t>Data volume</a:t>
            </a:r>
            <a:r>
              <a:rPr lang="en-US" dirty="0">
                <a:latin typeface="Times New Roman" panose="02020603050405020304" pitchFamily="18" charset="0"/>
                <a:cs typeface="Times New Roman" panose="02020603050405020304" pitchFamily="18" charset="0"/>
              </a:rPr>
              <a:t> - Observation of system behavior dependent on data volumes (</a:t>
            </a:r>
            <a:r>
              <a:rPr lang="en-US" dirty="0" smtClean="0">
                <a:latin typeface="Times New Roman" panose="02020603050405020304" pitchFamily="18" charset="0"/>
                <a:cs typeface="Times New Roman" panose="02020603050405020304" pitchFamily="18" charset="0"/>
              </a:rPr>
              <a:t>for example</a:t>
            </a:r>
            <a:r>
              <a:rPr lang="en-US" dirty="0">
                <a:latin typeface="Times New Roman" panose="02020603050405020304" pitchFamily="18" charset="0"/>
                <a:cs typeface="Times New Roman" panose="02020603050405020304" pitchFamily="18" charset="0"/>
              </a:rPr>
              <a:t>, when processing very large files</a:t>
            </a:r>
            <a:r>
              <a:rPr lang="en-US" dirty="0" smtClean="0">
                <a:latin typeface="Times New Roman" panose="02020603050405020304" pitchFamily="18" charset="0"/>
                <a:cs typeface="Times New Roman" panose="02020603050405020304" pitchFamily="18" charset="0"/>
              </a:rPr>
              <a:t>)</a:t>
            </a:r>
          </a:p>
          <a:p>
            <a:pPr marL="0" indent="0" algn="just">
              <a:buNone/>
            </a:pPr>
            <a:endParaRPr lang="en-US" dirty="0" smtClean="0">
              <a:latin typeface="Times New Roman" panose="02020603050405020304" pitchFamily="18" charset="0"/>
              <a:cs typeface="Times New Roman" panose="02020603050405020304" pitchFamily="18" charset="0"/>
            </a:endParaRPr>
          </a:p>
          <a:p>
            <a:pPr marL="0" indent="0" algn="just">
              <a:buNone/>
            </a:pPr>
            <a:endParaRPr lang="en-US" dirty="0" smtClean="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64</a:t>
            </a:fld>
            <a:endParaRPr lang="en-US"/>
          </a:p>
        </p:txBody>
      </p:sp>
    </p:spTree>
    <p:extLst>
      <p:ext uri="{BB962C8B-B14F-4D97-AF65-F5344CB8AC3E}">
        <p14:creationId xmlns:p14="http://schemas.microsoft.com/office/powerpoint/2010/main" val="8632148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Non-functional tests cont..</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lgn="just">
              <a:buNone/>
            </a:pPr>
            <a:r>
              <a:rPr lang="en-US" b="1" dirty="0">
                <a:latin typeface="Times New Roman" panose="02020603050405020304" pitchFamily="18" charset="0"/>
                <a:cs typeface="Times New Roman" panose="02020603050405020304" pitchFamily="18" charset="0"/>
              </a:rPr>
              <a:t>Stress</a:t>
            </a:r>
            <a:r>
              <a:rPr lang="en-US" dirty="0">
                <a:latin typeface="Times New Roman" panose="02020603050405020304" pitchFamily="18" charset="0"/>
                <a:cs typeface="Times New Roman" panose="02020603050405020304" pitchFamily="18" charset="0"/>
              </a:rPr>
              <a:t> - Observation of system behavior in overload </a:t>
            </a:r>
            <a:r>
              <a:rPr lang="en-US" dirty="0" smtClean="0">
                <a:latin typeface="Times New Roman" panose="02020603050405020304" pitchFamily="18" charset="0"/>
                <a:cs typeface="Times New Roman" panose="02020603050405020304" pitchFamily="18" charset="0"/>
              </a:rPr>
              <a:t>situations</a:t>
            </a:r>
          </a:p>
          <a:p>
            <a:pPr marL="0" indent="0" algn="just">
              <a:buNone/>
            </a:pPr>
            <a:r>
              <a:rPr lang="en-US" b="1" dirty="0" smtClean="0">
                <a:latin typeface="Times New Roman" panose="02020603050405020304" pitchFamily="18" charset="0"/>
                <a:cs typeface="Times New Roman" panose="02020603050405020304" pitchFamily="18" charset="0"/>
              </a:rPr>
              <a:t>Security</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Combating unauthorized system and/or data </a:t>
            </a:r>
            <a:r>
              <a:rPr lang="en-US" dirty="0" smtClean="0">
                <a:latin typeface="Times New Roman" panose="02020603050405020304" pitchFamily="18" charset="0"/>
                <a:cs typeface="Times New Roman" panose="02020603050405020304" pitchFamily="18" charset="0"/>
              </a:rPr>
              <a:t>access</a:t>
            </a:r>
          </a:p>
          <a:p>
            <a:pPr marL="0" indent="0" algn="just">
              <a:buNone/>
            </a:pPr>
            <a:r>
              <a:rPr lang="en-US" b="1" dirty="0" smtClean="0">
                <a:latin typeface="Times New Roman" panose="02020603050405020304" pitchFamily="18" charset="0"/>
                <a:cs typeface="Times New Roman" panose="02020603050405020304" pitchFamily="18" charset="0"/>
              </a:rPr>
              <a:t>Stability/Reliability</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Under constant use (for example, by measuring the number of </a:t>
            </a:r>
            <a:r>
              <a:rPr lang="en-US" dirty="0" smtClean="0">
                <a:latin typeface="Times New Roman" panose="02020603050405020304" pitchFamily="18" charset="0"/>
                <a:cs typeface="Times New Roman" panose="02020603050405020304" pitchFamily="18" charset="0"/>
              </a:rPr>
              <a:t>system </a:t>
            </a:r>
            <a:r>
              <a:rPr lang="en-US" dirty="0">
                <a:latin typeface="Times New Roman" panose="02020603050405020304" pitchFamily="18" charset="0"/>
                <a:cs typeface="Times New Roman" panose="02020603050405020304" pitchFamily="18" charset="0"/>
              </a:rPr>
              <a:t>malfunctions per hour for specific user profiles</a:t>
            </a:r>
            <a:r>
              <a:rPr lang="en-US" dirty="0" smtClean="0">
                <a:latin typeface="Times New Roman" panose="02020603050405020304" pitchFamily="18" charset="0"/>
                <a:cs typeface="Times New Roman" panose="02020603050405020304" pitchFamily="18" charset="0"/>
              </a:rPr>
              <a:t>)</a:t>
            </a:r>
          </a:p>
          <a:p>
            <a:pPr marL="0" indent="0" algn="just">
              <a:buNone/>
            </a:pPr>
            <a:r>
              <a:rPr lang="en-US" b="1" dirty="0">
                <a:latin typeface="Times New Roman" panose="02020603050405020304" pitchFamily="18" charset="0"/>
                <a:cs typeface="Times New Roman" panose="02020603050405020304" pitchFamily="18" charset="0"/>
              </a:rPr>
              <a:t>Robustness</a:t>
            </a:r>
            <a:r>
              <a:rPr lang="en-US" dirty="0">
                <a:latin typeface="Times New Roman" panose="02020603050405020304" pitchFamily="18" charset="0"/>
                <a:cs typeface="Times New Roman" panose="02020603050405020304" pitchFamily="18" charset="0"/>
              </a:rPr>
              <a:t> - When subjected to user errors, programming errors, hardware failure</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and similar. Testing exception handling and restart/recovery </a:t>
            </a:r>
            <a:r>
              <a:rPr lang="en-US" dirty="0" smtClean="0">
                <a:latin typeface="Times New Roman" panose="02020603050405020304" pitchFamily="18" charset="0"/>
                <a:cs typeface="Times New Roman" panose="02020603050405020304" pitchFamily="18" charset="0"/>
              </a:rPr>
              <a:t>behavior</a:t>
            </a:r>
            <a:endParaRPr lang="en-US" dirty="0" smtClean="0">
              <a:latin typeface="Times New Roman" panose="02020603050405020304" pitchFamily="18" charset="0"/>
              <a:cs typeface="Times New Roman" panose="02020603050405020304" pitchFamily="18" charset="0"/>
            </a:endParaRPr>
          </a:p>
          <a:p>
            <a:pPr marL="0" indent="0" algn="just">
              <a:buNone/>
            </a:pPr>
            <a:r>
              <a:rPr lang="en-US" b="1" dirty="0">
                <a:latin typeface="Times New Roman" panose="02020603050405020304" pitchFamily="18" charset="0"/>
                <a:cs typeface="Times New Roman" panose="02020603050405020304" pitchFamily="18" charset="0"/>
              </a:rPr>
              <a:t>Compatibility/Data Conversion</a:t>
            </a:r>
            <a:r>
              <a:rPr lang="en-US" dirty="0">
                <a:latin typeface="Times New Roman" panose="02020603050405020304" pitchFamily="18" charset="0"/>
                <a:cs typeface="Times New Roman" panose="02020603050405020304" pitchFamily="18" charset="0"/>
              </a:rPr>
              <a:t> - Testing compatibility with existing systems, especially during </a:t>
            </a:r>
            <a:r>
              <a:rPr lang="en-US" dirty="0" smtClean="0">
                <a:latin typeface="Times New Roman" panose="02020603050405020304" pitchFamily="18" charset="0"/>
                <a:cs typeface="Times New Roman" panose="02020603050405020304" pitchFamily="18" charset="0"/>
              </a:rPr>
              <a:t>data import/export</a:t>
            </a:r>
          </a:p>
        </p:txBody>
      </p:sp>
      <p:sp>
        <p:nvSpPr>
          <p:cNvPr id="4" name="Slide Number Placeholder 3"/>
          <p:cNvSpPr>
            <a:spLocks noGrp="1"/>
          </p:cNvSpPr>
          <p:nvPr>
            <p:ph type="sldNum" sz="quarter" idx="12"/>
          </p:nvPr>
        </p:nvSpPr>
        <p:spPr/>
        <p:txBody>
          <a:bodyPr/>
          <a:lstStyle/>
          <a:p>
            <a:fld id="{FEFE5490-7C78-454F-98DE-D1826F8CB872}" type="slidenum">
              <a:rPr lang="en-US" smtClean="0"/>
              <a:t>65</a:t>
            </a:fld>
            <a:endParaRPr lang="en-US"/>
          </a:p>
        </p:txBody>
      </p:sp>
    </p:spTree>
    <p:extLst>
      <p:ext uri="{BB962C8B-B14F-4D97-AF65-F5344CB8AC3E}">
        <p14:creationId xmlns:p14="http://schemas.microsoft.com/office/powerpoint/2010/main" val="167522698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Non-functional tests cont..</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lgn="just">
              <a:buNone/>
            </a:pPr>
            <a:r>
              <a:rPr lang="en-US" b="1" dirty="0" smtClean="0">
                <a:latin typeface="Times New Roman" panose="02020603050405020304" pitchFamily="18" charset="0"/>
                <a:cs typeface="Times New Roman" panose="02020603050405020304" pitchFamily="18" charset="0"/>
              </a:rPr>
              <a:t>Different Configurations</a:t>
            </a:r>
            <a:r>
              <a:rPr lang="en-US" dirty="0" smtClean="0">
                <a:latin typeface="Times New Roman" panose="02020603050405020304" pitchFamily="18" charset="0"/>
                <a:cs typeface="Times New Roman" panose="02020603050405020304" pitchFamily="18" charset="0"/>
              </a:rPr>
              <a:t> -  For example, using different OS versions, languages, or hardware platforms</a:t>
            </a:r>
          </a:p>
          <a:p>
            <a:pPr marL="0" indent="0" algn="just">
              <a:buNone/>
            </a:pPr>
            <a:r>
              <a:rPr lang="en-US" b="1" dirty="0" smtClean="0">
                <a:latin typeface="Times New Roman" panose="02020603050405020304" pitchFamily="18" charset="0"/>
                <a:cs typeface="Times New Roman" panose="02020603050405020304" pitchFamily="18" charset="0"/>
              </a:rPr>
              <a:t>Usability</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Testing ease of learning and simplicity of use, </a:t>
            </a:r>
            <a:r>
              <a:rPr lang="en-US" dirty="0" smtClean="0">
                <a:latin typeface="Times New Roman" panose="02020603050405020304" pitchFamily="18" charset="0"/>
                <a:cs typeface="Times New Roman" panose="02020603050405020304" pitchFamily="18" charset="0"/>
              </a:rPr>
              <a:t>including </a:t>
            </a:r>
            <a:r>
              <a:rPr lang="en-US" dirty="0">
                <a:latin typeface="Times New Roman" panose="02020603050405020304" pitchFamily="18" charset="0"/>
                <a:cs typeface="Times New Roman" panose="02020603050405020304" pitchFamily="18" charset="0"/>
              </a:rPr>
              <a:t>comprehensibility of output for various user </a:t>
            </a:r>
            <a:r>
              <a:rPr lang="en-US" dirty="0" smtClean="0">
                <a:latin typeface="Times New Roman" panose="02020603050405020304" pitchFamily="18" charset="0"/>
                <a:cs typeface="Times New Roman" panose="02020603050405020304" pitchFamily="18" charset="0"/>
              </a:rPr>
              <a:t>groups</a:t>
            </a:r>
          </a:p>
          <a:p>
            <a:pPr marL="0" indent="0" algn="just">
              <a:buNone/>
            </a:pPr>
            <a:r>
              <a:rPr lang="en-US" b="1" dirty="0" smtClean="0">
                <a:latin typeface="Times New Roman" panose="02020603050405020304" pitchFamily="18" charset="0"/>
                <a:cs typeface="Times New Roman" panose="02020603050405020304" pitchFamily="18" charset="0"/>
              </a:rPr>
              <a:t>Compliance of system documentation with system behavior</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For example, user manual vs. GUI, or configuration description vs</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actual </a:t>
            </a:r>
            <a:r>
              <a:rPr lang="en-US" dirty="0" smtClean="0">
                <a:latin typeface="Times New Roman" panose="02020603050405020304" pitchFamily="18" charset="0"/>
                <a:cs typeface="Times New Roman" panose="02020603050405020304" pitchFamily="18" charset="0"/>
              </a:rPr>
              <a:t>behavior</a:t>
            </a:r>
          </a:p>
          <a:p>
            <a:pPr marL="0" indent="0" algn="just">
              <a:buNone/>
            </a:pPr>
            <a:r>
              <a:rPr lang="en-US" b="1" dirty="0" smtClean="0">
                <a:latin typeface="Times New Roman" panose="02020603050405020304" pitchFamily="18" charset="0"/>
                <a:cs typeface="Times New Roman" panose="02020603050405020304" pitchFamily="18" charset="0"/>
              </a:rPr>
              <a:t>Maintainability</a:t>
            </a:r>
            <a:r>
              <a:rPr lang="en-US" dirty="0" smtClean="0">
                <a:latin typeface="Times New Roman" panose="02020603050405020304" pitchFamily="18" charset="0"/>
                <a:cs typeface="Times New Roman" panose="02020603050405020304" pitchFamily="18" charset="0"/>
              </a:rPr>
              <a:t> - Comprehensibility </a:t>
            </a:r>
            <a:r>
              <a:rPr lang="en-US" dirty="0">
                <a:latin typeface="Times New Roman" panose="02020603050405020304" pitchFamily="18" charset="0"/>
                <a:cs typeface="Times New Roman" panose="02020603050405020304" pitchFamily="18" charset="0"/>
              </a:rPr>
              <a:t>and up-to-</a:t>
            </a:r>
            <a:r>
              <a:rPr lang="en-US" dirty="0" err="1">
                <a:latin typeface="Times New Roman" panose="02020603050405020304" pitchFamily="18" charset="0"/>
                <a:cs typeface="Times New Roman" panose="02020603050405020304" pitchFamily="18" charset="0"/>
              </a:rPr>
              <a:t>dateness</a:t>
            </a:r>
            <a:r>
              <a:rPr lang="en-US" dirty="0">
                <a:latin typeface="Times New Roman" panose="02020603050405020304" pitchFamily="18" charset="0"/>
                <a:cs typeface="Times New Roman" panose="02020603050405020304" pitchFamily="18" charset="0"/>
              </a:rPr>
              <a:t> of development documentation</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modular structure, and so on</a:t>
            </a:r>
            <a:endParaRPr lang="en-US" dirty="0" smtClean="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66</a:t>
            </a:fld>
            <a:endParaRPr lang="en-US"/>
          </a:p>
        </p:txBody>
      </p:sp>
    </p:spTree>
    <p:extLst>
      <p:ext uri="{BB962C8B-B14F-4D97-AF65-F5344CB8AC3E}">
        <p14:creationId xmlns:p14="http://schemas.microsoft.com/office/powerpoint/2010/main" val="284976256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Requirement and structure based testing</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lgn="just">
              <a:buNone/>
            </a:pPr>
            <a:r>
              <a:rPr lang="en-US" b="1" dirty="0">
                <a:latin typeface="Times New Roman" panose="02020603050405020304" pitchFamily="18" charset="0"/>
                <a:cs typeface="Times New Roman" panose="02020603050405020304" pitchFamily="18" charset="0"/>
              </a:rPr>
              <a:t>Requirements-based testing</a:t>
            </a:r>
            <a:r>
              <a:rPr lang="en-US" dirty="0">
                <a:latin typeface="Times New Roman" panose="02020603050405020304" pitchFamily="18" charset="0"/>
                <a:cs typeface="Times New Roman" panose="02020603050405020304" pitchFamily="18" charset="0"/>
              </a:rPr>
              <a:t> is a black-box technique in which test cases </a:t>
            </a:r>
            <a:r>
              <a:rPr lang="en-US" dirty="0" smtClean="0">
                <a:latin typeface="Times New Roman" panose="02020603050405020304" pitchFamily="18" charset="0"/>
                <a:cs typeface="Times New Roman" panose="02020603050405020304" pitchFamily="18" charset="0"/>
              </a:rPr>
              <a:t>are designed </a:t>
            </a:r>
            <a:r>
              <a:rPr lang="en-US" dirty="0">
                <a:latin typeface="Times New Roman" panose="02020603050405020304" pitchFamily="18" charset="0"/>
                <a:cs typeface="Times New Roman" panose="02020603050405020304" pitchFamily="18" charset="0"/>
              </a:rPr>
              <a:t>based on </a:t>
            </a:r>
            <a:r>
              <a:rPr lang="en-US" dirty="0" smtClean="0">
                <a:latin typeface="Times New Roman" panose="02020603050405020304" pitchFamily="18" charset="0"/>
                <a:cs typeface="Times New Roman" panose="02020603050405020304" pitchFamily="18" charset="0"/>
              </a:rPr>
              <a:t>requirements</a:t>
            </a:r>
            <a:r>
              <a:rPr lang="en-US" dirty="0">
                <a:latin typeface="Times New Roman" panose="02020603050405020304" pitchFamily="18" charset="0"/>
                <a:cs typeface="Times New Roman" panose="02020603050405020304" pitchFamily="18" charset="0"/>
              </a:rPr>
              <a:t>. If component or integration tests are derived from </a:t>
            </a:r>
            <a:r>
              <a:rPr lang="en-US" dirty="0" smtClean="0">
                <a:latin typeface="Times New Roman" panose="02020603050405020304" pitchFamily="18" charset="0"/>
                <a:cs typeface="Times New Roman" panose="02020603050405020304" pitchFamily="18" charset="0"/>
              </a:rPr>
              <a:t>technical </a:t>
            </a:r>
            <a:r>
              <a:rPr lang="en-US" dirty="0">
                <a:latin typeface="Times New Roman" panose="02020603050405020304" pitchFamily="18" charset="0"/>
                <a:cs typeface="Times New Roman" panose="02020603050405020304" pitchFamily="18" charset="0"/>
              </a:rPr>
              <a:t>specifications or requirements, these too can be classed as </a:t>
            </a:r>
            <a:r>
              <a:rPr lang="en-US" dirty="0" smtClean="0">
                <a:latin typeface="Times New Roman" panose="02020603050405020304" pitchFamily="18" charset="0"/>
                <a:cs typeface="Times New Roman" panose="02020603050405020304" pitchFamily="18" charset="0"/>
              </a:rPr>
              <a:t>requirements based testing</a:t>
            </a:r>
          </a:p>
          <a:p>
            <a:pPr marL="0" indent="0" algn="just">
              <a:buNone/>
            </a:pPr>
            <a:r>
              <a:rPr lang="en-US" b="1" dirty="0">
                <a:latin typeface="Times New Roman" panose="02020603050405020304" pitchFamily="18" charset="0"/>
                <a:cs typeface="Times New Roman" panose="02020603050405020304" pitchFamily="18" charset="0"/>
              </a:rPr>
              <a:t>Structure-based testing</a:t>
            </a:r>
            <a:r>
              <a:rPr lang="en-US" dirty="0">
                <a:latin typeface="Times New Roman" panose="02020603050405020304" pitchFamily="18" charset="0"/>
                <a:cs typeface="Times New Roman" panose="02020603050405020304" pitchFamily="18" charset="0"/>
              </a:rPr>
              <a:t> (structural testing, white-box technique) uses the internal structure/architecture of the software as its test </a:t>
            </a:r>
            <a:r>
              <a:rPr lang="en-US" dirty="0" smtClean="0">
                <a:latin typeface="Times New Roman" panose="02020603050405020304" pitchFamily="18" charset="0"/>
                <a:cs typeface="Times New Roman" panose="02020603050405020304" pitchFamily="18" charset="0"/>
              </a:rPr>
              <a:t>basis. It </a:t>
            </a:r>
            <a:r>
              <a:rPr lang="en-US" dirty="0">
                <a:latin typeface="Times New Roman" panose="02020603050405020304" pitchFamily="18" charset="0"/>
                <a:cs typeface="Times New Roman" panose="02020603050405020304" pitchFamily="18" charset="0"/>
              </a:rPr>
              <a:t>analyzes things like the control flows within a component or the call hierarchy of procedures or menu structures</a:t>
            </a:r>
            <a:endParaRPr lang="en-US" dirty="0" smtClean="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67</a:t>
            </a:fld>
            <a:endParaRPr lang="en-US"/>
          </a:p>
        </p:txBody>
      </p:sp>
    </p:spTree>
    <p:extLst>
      <p:ext uri="{BB962C8B-B14F-4D97-AF65-F5344CB8AC3E}">
        <p14:creationId xmlns:p14="http://schemas.microsoft.com/office/powerpoint/2010/main" val="186785984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Testing following software maintenance</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Every software system needs to be modified and tweaked during </a:t>
            </a:r>
            <a:r>
              <a:rPr lang="en-US" dirty="0" smtClean="0">
                <a:latin typeface="Times New Roman" panose="02020603050405020304" pitchFamily="18" charset="0"/>
                <a:cs typeface="Times New Roman" panose="02020603050405020304" pitchFamily="18" charset="0"/>
              </a:rPr>
              <a:t>its lifetime</a:t>
            </a:r>
            <a:r>
              <a:rPr lang="en-US" dirty="0">
                <a:latin typeface="Times New Roman" panose="02020603050405020304" pitchFamily="18" charset="0"/>
                <a:cs typeface="Times New Roman" panose="02020603050405020304" pitchFamily="18" charset="0"/>
              </a:rPr>
              <a:t>.</a:t>
            </a:r>
          </a:p>
          <a:p>
            <a:pPr marL="0" indent="0" algn="just">
              <a:buNone/>
            </a:pPr>
            <a:r>
              <a:rPr lang="en-US" dirty="0" smtClean="0">
                <a:latin typeface="Times New Roman" panose="02020603050405020304" pitchFamily="18" charset="0"/>
                <a:cs typeface="Times New Roman" panose="02020603050405020304" pitchFamily="18" charset="0"/>
              </a:rPr>
              <a:t>How </a:t>
            </a:r>
            <a:r>
              <a:rPr lang="en-US" dirty="0">
                <a:latin typeface="Times New Roman" panose="02020603050405020304" pitchFamily="18" charset="0"/>
                <a:cs typeface="Times New Roman" panose="02020603050405020304" pitchFamily="18" charset="0"/>
              </a:rPr>
              <a:t>does the testing process react to these changes? </a:t>
            </a:r>
            <a:endParaRPr lang="en-US" dirty="0" smtClean="0">
              <a:latin typeface="Times New Roman" panose="02020603050405020304" pitchFamily="18" charset="0"/>
              <a:cs typeface="Times New Roman" panose="02020603050405020304" pitchFamily="18" charset="0"/>
            </a:endParaRPr>
          </a:p>
          <a:p>
            <a:pPr marL="0" indent="0" algn="just">
              <a:buNone/>
            </a:pPr>
            <a:r>
              <a:rPr lang="en-US" dirty="0" smtClean="0">
                <a:latin typeface="Times New Roman" panose="02020603050405020304" pitchFamily="18" charset="0"/>
                <a:cs typeface="Times New Roman" panose="02020603050405020304" pitchFamily="18" charset="0"/>
              </a:rPr>
              <a:t>Do </a:t>
            </a:r>
            <a:r>
              <a:rPr lang="en-US" dirty="0">
                <a:latin typeface="Times New Roman" panose="02020603050405020304" pitchFamily="18" charset="0"/>
                <a:cs typeface="Times New Roman" panose="02020603050405020304" pitchFamily="18" charset="0"/>
              </a:rPr>
              <a:t>all tests on every test level have to be repeated for each release? </a:t>
            </a:r>
            <a:endParaRPr lang="en-US" dirty="0" smtClean="0">
              <a:latin typeface="Times New Roman" panose="02020603050405020304" pitchFamily="18" charset="0"/>
              <a:cs typeface="Times New Roman" panose="02020603050405020304" pitchFamily="18" charset="0"/>
            </a:endParaRPr>
          </a:p>
          <a:p>
            <a:pPr marL="0" indent="0" algn="just">
              <a:buNone/>
            </a:pPr>
            <a:r>
              <a:rPr lang="en-US" dirty="0" smtClean="0">
                <a:latin typeface="Times New Roman" panose="02020603050405020304" pitchFamily="18" charset="0"/>
                <a:cs typeface="Times New Roman" panose="02020603050405020304" pitchFamily="18" charset="0"/>
              </a:rPr>
              <a:t>Or </a:t>
            </a:r>
            <a:r>
              <a:rPr lang="en-US" dirty="0">
                <a:latin typeface="Times New Roman" panose="02020603050405020304" pitchFamily="18" charset="0"/>
                <a:cs typeface="Times New Roman" panose="02020603050405020304" pitchFamily="18" charset="0"/>
              </a:rPr>
              <a:t>is it sufficient to test only the elements that are directly affected by the changes that have been made?</a:t>
            </a:r>
            <a:endParaRPr lang="en-US" dirty="0" smtClean="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68</a:t>
            </a:fld>
            <a:endParaRPr lang="en-US"/>
          </a:p>
        </p:txBody>
      </p:sp>
    </p:spTree>
    <p:extLst>
      <p:ext uri="{BB962C8B-B14F-4D97-AF65-F5344CB8AC3E}">
        <p14:creationId xmlns:p14="http://schemas.microsoft.com/office/powerpoint/2010/main" val="328898128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Maintenance testing</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lgn="just">
              <a:buNone/>
            </a:pPr>
            <a:r>
              <a:rPr lang="en-US" i="1" dirty="0" smtClean="0">
                <a:latin typeface="Times New Roman" panose="02020603050405020304" pitchFamily="18" charset="0"/>
                <a:cs typeface="Times New Roman" panose="02020603050405020304" pitchFamily="18" charset="0"/>
              </a:rPr>
              <a:t>Confirmation testing</a:t>
            </a:r>
            <a:r>
              <a:rPr lang="en-US" dirty="0" smtClean="0">
                <a:latin typeface="Times New Roman" panose="02020603050405020304" pitchFamily="18" charset="0"/>
                <a:cs typeface="Times New Roman" panose="02020603050405020304" pitchFamily="18" charset="0"/>
              </a:rPr>
              <a:t> involves repeating all test cases that revealed failures in the previous version. Such test cases have to be passed in order to classify the corresponding fault as corrected.</a:t>
            </a:r>
          </a:p>
          <a:p>
            <a:pPr marL="0" indent="0" algn="just">
              <a:buNone/>
            </a:pPr>
            <a:r>
              <a:rPr lang="en-US" dirty="0" smtClean="0">
                <a:latin typeface="Times New Roman" panose="02020603050405020304" pitchFamily="18" charset="0"/>
                <a:cs typeface="Times New Roman" panose="02020603050405020304" pitchFamily="18" charset="0"/>
              </a:rPr>
              <a:t>Simple </a:t>
            </a:r>
            <a:r>
              <a:rPr lang="en-US" dirty="0">
                <a:latin typeface="Times New Roman" panose="02020603050405020304" pitchFamily="18" charset="0"/>
                <a:cs typeface="Times New Roman" panose="02020603050405020304" pitchFamily="18" charset="0"/>
              </a:rPr>
              <a:t>local changes can </a:t>
            </a:r>
            <a:r>
              <a:rPr lang="en-US" dirty="0" smtClean="0">
                <a:latin typeface="Times New Roman" panose="02020603050405020304" pitchFamily="18" charset="0"/>
                <a:cs typeface="Times New Roman" panose="02020603050405020304" pitchFamily="18" charset="0"/>
              </a:rPr>
              <a:t>cause </a:t>
            </a:r>
            <a:r>
              <a:rPr lang="en-US" dirty="0">
                <a:latin typeface="Times New Roman" panose="02020603050405020304" pitchFamily="18" charset="0"/>
                <a:cs typeface="Times New Roman" panose="02020603050405020304" pitchFamily="18" charset="0"/>
              </a:rPr>
              <a:t>unexpected and sometimes disastrous consequences and side effects </a:t>
            </a:r>
            <a:r>
              <a:rPr lang="en-US" dirty="0" smtClean="0">
                <a:latin typeface="Times New Roman" panose="02020603050405020304" pitchFamily="18" charset="0"/>
                <a:cs typeface="Times New Roman" panose="02020603050405020304" pitchFamily="18" charset="0"/>
              </a:rPr>
              <a:t>in other parts </a:t>
            </a:r>
            <a:r>
              <a:rPr lang="en-US" dirty="0">
                <a:latin typeface="Times New Roman" panose="02020603050405020304" pitchFamily="18" charset="0"/>
                <a:cs typeface="Times New Roman" panose="02020603050405020304" pitchFamily="18" charset="0"/>
              </a:rPr>
              <a:t>of the system. How many and which types of </a:t>
            </a:r>
            <a:r>
              <a:rPr lang="en-US" dirty="0" smtClean="0">
                <a:latin typeface="Times New Roman" panose="02020603050405020304" pitchFamily="18" charset="0"/>
                <a:cs typeface="Times New Roman" panose="02020603050405020304" pitchFamily="18" charset="0"/>
              </a:rPr>
              <a:t>test </a:t>
            </a:r>
            <a:r>
              <a:rPr lang="en-US" dirty="0">
                <a:latin typeface="Times New Roman" panose="02020603050405020304" pitchFamily="18" charset="0"/>
                <a:cs typeface="Times New Roman" panose="02020603050405020304" pitchFamily="18" charset="0"/>
              </a:rPr>
              <a:t>cases are necessary to reduce this risk has to be determined by a </a:t>
            </a:r>
            <a:r>
              <a:rPr lang="en-US" dirty="0" smtClean="0">
                <a:latin typeface="Times New Roman" panose="02020603050405020304" pitchFamily="18" charset="0"/>
                <a:cs typeface="Times New Roman" panose="02020603050405020304" pitchFamily="18" charset="0"/>
              </a:rPr>
              <a:t>highly </a:t>
            </a:r>
            <a:r>
              <a:rPr lang="en-US" dirty="0">
                <a:latin typeface="Times New Roman" panose="02020603050405020304" pitchFamily="18" charset="0"/>
                <a:cs typeface="Times New Roman" panose="02020603050405020304" pitchFamily="18" charset="0"/>
              </a:rPr>
              <a:t>specific </a:t>
            </a:r>
            <a:r>
              <a:rPr lang="en-US" i="1" dirty="0" smtClean="0">
                <a:latin typeface="Times New Roman" panose="02020603050405020304" pitchFamily="18" charset="0"/>
                <a:cs typeface="Times New Roman" panose="02020603050405020304" pitchFamily="18" charset="0"/>
              </a:rPr>
              <a:t>impact analysis</a:t>
            </a:r>
          </a:p>
        </p:txBody>
      </p:sp>
      <p:sp>
        <p:nvSpPr>
          <p:cNvPr id="4" name="Slide Number Placeholder 3"/>
          <p:cNvSpPr>
            <a:spLocks noGrp="1"/>
          </p:cNvSpPr>
          <p:nvPr>
            <p:ph type="sldNum" sz="quarter" idx="12"/>
          </p:nvPr>
        </p:nvSpPr>
        <p:spPr/>
        <p:txBody>
          <a:bodyPr/>
          <a:lstStyle/>
          <a:p>
            <a:fld id="{FEFE5490-7C78-454F-98DE-D1826F8CB872}" type="slidenum">
              <a:rPr lang="en-US" smtClean="0"/>
              <a:t>69</a:t>
            </a:fld>
            <a:endParaRPr lang="en-US"/>
          </a:p>
        </p:txBody>
      </p:sp>
    </p:spTree>
    <p:extLst>
      <p:ext uri="{BB962C8B-B14F-4D97-AF65-F5344CB8AC3E}">
        <p14:creationId xmlns:p14="http://schemas.microsoft.com/office/powerpoint/2010/main" val="384025102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Testing following release development</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Most </a:t>
            </a:r>
            <a:r>
              <a:rPr lang="en-US" dirty="0" smtClean="0">
                <a:latin typeface="Times New Roman" panose="02020603050405020304" pitchFamily="18" charset="0"/>
                <a:cs typeface="Times New Roman" panose="02020603050405020304" pitchFamily="18" charset="0"/>
              </a:rPr>
              <a:t>systems </a:t>
            </a:r>
            <a:r>
              <a:rPr lang="en-US" dirty="0">
                <a:latin typeface="Times New Roman" panose="02020603050405020304" pitchFamily="18" charset="0"/>
                <a:cs typeface="Times New Roman" panose="02020603050405020304" pitchFamily="18" charset="0"/>
              </a:rPr>
              <a:t>are subject to continuous development—for example, to build </a:t>
            </a:r>
            <a:r>
              <a:rPr lang="en-US" dirty="0" smtClean="0">
                <a:latin typeface="Times New Roman" panose="02020603050405020304" pitchFamily="18" charset="0"/>
                <a:cs typeface="Times New Roman" panose="02020603050405020304" pitchFamily="18" charset="0"/>
              </a:rPr>
              <a:t>improved </a:t>
            </a:r>
            <a:r>
              <a:rPr lang="en-US" dirty="0">
                <a:latin typeface="Times New Roman" panose="02020603050405020304" pitchFamily="18" charset="0"/>
                <a:cs typeface="Times New Roman" panose="02020603050405020304" pitchFamily="18" charset="0"/>
              </a:rPr>
              <a:t>releases of the product. Such releases are usually coordinated </a:t>
            </a:r>
            <a:r>
              <a:rPr lang="en-US" dirty="0" smtClean="0">
                <a:latin typeface="Times New Roman" panose="02020603050405020304" pitchFamily="18" charset="0"/>
                <a:cs typeface="Times New Roman" panose="02020603050405020304" pitchFamily="18" charset="0"/>
              </a:rPr>
              <a:t>with </a:t>
            </a:r>
            <a:r>
              <a:rPr lang="en-US" dirty="0">
                <a:latin typeface="Times New Roman" panose="02020603050405020304" pitchFamily="18" charset="0"/>
                <a:cs typeface="Times New Roman" panose="02020603050405020304" pitchFamily="18" charset="0"/>
              </a:rPr>
              <a:t>scheduled maintenance </a:t>
            </a:r>
            <a:r>
              <a:rPr lang="en-US" dirty="0" smtClean="0">
                <a:latin typeface="Times New Roman" panose="02020603050405020304" pitchFamily="18" charset="0"/>
                <a:cs typeface="Times New Roman" panose="02020603050405020304" pitchFamily="18" charset="0"/>
              </a:rPr>
              <a:t>work</a:t>
            </a:r>
          </a:p>
          <a:p>
            <a:pPr marL="0" indent="0" algn="just">
              <a:buNone/>
            </a:pPr>
            <a:r>
              <a:rPr lang="en-US" dirty="0">
                <a:latin typeface="Times New Roman" panose="02020603050405020304" pitchFamily="18" charset="0"/>
                <a:cs typeface="Times New Roman" panose="02020603050405020304" pitchFamily="18" charset="0"/>
              </a:rPr>
              <a:t>Testing following such release development follows two main objectives:</a:t>
            </a:r>
          </a:p>
          <a:p>
            <a:pPr marL="90488" indent="366713" algn="just">
              <a:buFont typeface="Wingdings" panose="05000000000000000000" pitchFamily="2" charset="2"/>
              <a:buChar char="q"/>
            </a:pPr>
            <a:r>
              <a:rPr lang="en-US" dirty="0" smtClean="0">
                <a:latin typeface="Times New Roman" panose="02020603050405020304" pitchFamily="18" charset="0"/>
                <a:cs typeface="Times New Roman" panose="02020603050405020304" pitchFamily="18" charset="0"/>
              </a:rPr>
              <a:t>Checking </a:t>
            </a:r>
            <a:r>
              <a:rPr lang="en-US" dirty="0">
                <a:latin typeface="Times New Roman" panose="02020603050405020304" pitchFamily="18" charset="0"/>
                <a:cs typeface="Times New Roman" panose="02020603050405020304" pitchFamily="18" charset="0"/>
              </a:rPr>
              <a:t>that every new or extended function works as intended</a:t>
            </a:r>
          </a:p>
          <a:p>
            <a:pPr marL="90488" indent="366713" algn="just">
              <a:buFont typeface="Wingdings" panose="05000000000000000000" pitchFamily="2" charset="2"/>
              <a:buChar char="q"/>
            </a:pPr>
            <a:r>
              <a:rPr lang="en-US" dirty="0" smtClean="0">
                <a:latin typeface="Times New Roman" panose="02020603050405020304" pitchFamily="18" charset="0"/>
                <a:cs typeface="Times New Roman" panose="02020603050405020304" pitchFamily="18" charset="0"/>
              </a:rPr>
              <a:t>Checking </a:t>
            </a:r>
            <a:r>
              <a:rPr lang="en-US" dirty="0">
                <a:latin typeface="Times New Roman" panose="02020603050405020304" pitchFamily="18" charset="0"/>
                <a:cs typeface="Times New Roman" panose="02020603050405020304" pitchFamily="18" charset="0"/>
              </a:rPr>
              <a:t>that pre-existing functionality is not (</a:t>
            </a:r>
            <a:r>
              <a:rPr lang="en-US" dirty="0" smtClean="0">
                <a:latin typeface="Times New Roman" panose="02020603050405020304" pitchFamily="18" charset="0"/>
                <a:cs typeface="Times New Roman" panose="02020603050405020304" pitchFamily="18" charset="0"/>
              </a:rPr>
              <a:t>unintentionally) impaired</a:t>
            </a:r>
          </a:p>
          <a:p>
            <a:pPr marL="90488" indent="0" algn="just">
              <a:buNone/>
            </a:pPr>
            <a:r>
              <a:rPr lang="en-US" dirty="0">
                <a:latin typeface="Times New Roman" panose="02020603050405020304" pitchFamily="18" charset="0"/>
                <a:cs typeface="Times New Roman" panose="02020603050405020304" pitchFamily="18" charset="0"/>
              </a:rPr>
              <a:t>In order to achieve objective #1 you need to develop and perform new </a:t>
            </a:r>
            <a:r>
              <a:rPr lang="en-US" dirty="0" smtClean="0">
                <a:latin typeface="Times New Roman" panose="02020603050405020304" pitchFamily="18" charset="0"/>
                <a:cs typeface="Times New Roman" panose="02020603050405020304" pitchFamily="18" charset="0"/>
              </a:rPr>
              <a:t>test </a:t>
            </a:r>
            <a:r>
              <a:rPr lang="en-US" dirty="0">
                <a:latin typeface="Times New Roman" panose="02020603050405020304" pitchFamily="18" charset="0"/>
                <a:cs typeface="Times New Roman" panose="02020603050405020304" pitchFamily="18" charset="0"/>
              </a:rPr>
              <a:t>cases. Objective #2 requires appropriate regression testing</a:t>
            </a:r>
            <a:endParaRPr lang="en-US" dirty="0" smtClean="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70</a:t>
            </a:fld>
            <a:endParaRPr lang="en-US"/>
          </a:p>
        </p:txBody>
      </p:sp>
    </p:spTree>
    <p:extLst>
      <p:ext uri="{BB962C8B-B14F-4D97-AF65-F5344CB8AC3E}">
        <p14:creationId xmlns:p14="http://schemas.microsoft.com/office/powerpoint/2010/main" val="329932680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Regression testing</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lgn="just">
              <a:buNone/>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process of repeating tests following changes to a </a:t>
            </a:r>
            <a:r>
              <a:rPr lang="en-US" dirty="0" smtClean="0">
                <a:latin typeface="Times New Roman" panose="02020603050405020304" pitchFamily="18" charset="0"/>
                <a:cs typeface="Times New Roman" panose="02020603050405020304" pitchFamily="18" charset="0"/>
              </a:rPr>
              <a:t>program</a:t>
            </a:r>
          </a:p>
          <a:p>
            <a:pPr marL="0" indent="0" algn="just">
              <a:buNone/>
            </a:pPr>
            <a:r>
              <a:rPr lang="en-US" dirty="0">
                <a:latin typeface="Times New Roman" panose="02020603050405020304" pitchFamily="18" charset="0"/>
                <a:cs typeface="Times New Roman" panose="02020603050405020304" pitchFamily="18" charset="0"/>
              </a:rPr>
              <a:t>O</a:t>
            </a:r>
            <a:r>
              <a:rPr lang="en-US" dirty="0" smtClean="0">
                <a:latin typeface="Times New Roman" panose="02020603050405020304" pitchFamily="18" charset="0"/>
                <a:cs typeface="Times New Roman" panose="02020603050405020304" pitchFamily="18" charset="0"/>
              </a:rPr>
              <a:t>bjective </a:t>
            </a:r>
            <a:r>
              <a:rPr lang="en-US" dirty="0">
                <a:latin typeface="Times New Roman" panose="02020603050405020304" pitchFamily="18" charset="0"/>
                <a:cs typeface="Times New Roman" panose="02020603050405020304" pitchFamily="18" charset="0"/>
              </a:rPr>
              <a:t>is to ensure that the parts of a </a:t>
            </a:r>
            <a:r>
              <a:rPr lang="en-US" dirty="0" smtClean="0">
                <a:latin typeface="Times New Roman" panose="02020603050405020304" pitchFamily="18" charset="0"/>
                <a:cs typeface="Times New Roman" panose="02020603050405020304" pitchFamily="18" charset="0"/>
              </a:rPr>
              <a:t>revised system </a:t>
            </a:r>
            <a:r>
              <a:rPr lang="en-US" dirty="0">
                <a:latin typeface="Times New Roman" panose="02020603050405020304" pitchFamily="18" charset="0"/>
                <a:cs typeface="Times New Roman" panose="02020603050405020304" pitchFamily="18" charset="0"/>
              </a:rPr>
              <a:t>that haven’t been </a:t>
            </a:r>
            <a:r>
              <a:rPr lang="en-US" dirty="0" smtClean="0">
                <a:latin typeface="Times New Roman" panose="02020603050405020304" pitchFamily="18" charset="0"/>
                <a:cs typeface="Times New Roman" panose="02020603050405020304" pitchFamily="18" charset="0"/>
              </a:rPr>
              <a:t>changed      still </a:t>
            </a:r>
            <a:r>
              <a:rPr lang="en-US" dirty="0">
                <a:latin typeface="Times New Roman" panose="02020603050405020304" pitchFamily="18" charset="0"/>
                <a:cs typeface="Times New Roman" panose="02020603050405020304" pitchFamily="18" charset="0"/>
              </a:rPr>
              <a:t>work as they used to before </a:t>
            </a: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changes took </a:t>
            </a:r>
            <a:r>
              <a:rPr lang="en-US" dirty="0" smtClean="0">
                <a:latin typeface="Times New Roman" panose="02020603050405020304" pitchFamily="18" charset="0"/>
                <a:cs typeface="Times New Roman" panose="02020603050405020304" pitchFamily="18" charset="0"/>
              </a:rPr>
              <a:t>place</a:t>
            </a:r>
          </a:p>
          <a:p>
            <a:pPr marL="0" indent="0" algn="just">
              <a:buNone/>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simplest way to do this is to perform existing tests on the new </a:t>
            </a:r>
            <a:r>
              <a:rPr lang="en-US" dirty="0" smtClean="0">
                <a:latin typeface="Times New Roman" panose="02020603050405020304" pitchFamily="18" charset="0"/>
                <a:cs typeface="Times New Roman" panose="02020603050405020304" pitchFamily="18" charset="0"/>
              </a:rPr>
              <a:t>version </a:t>
            </a:r>
            <a:r>
              <a:rPr lang="en-US" dirty="0">
                <a:latin typeface="Times New Roman" panose="02020603050405020304" pitchFamily="18" charset="0"/>
                <a:cs typeface="Times New Roman" panose="02020603050405020304" pitchFamily="18" charset="0"/>
              </a:rPr>
              <a:t>of the </a:t>
            </a:r>
            <a:r>
              <a:rPr lang="en-US" dirty="0" smtClean="0">
                <a:latin typeface="Times New Roman" panose="02020603050405020304" pitchFamily="18" charset="0"/>
                <a:cs typeface="Times New Roman" panose="02020603050405020304" pitchFamily="18" charset="0"/>
              </a:rPr>
              <a:t>program</a:t>
            </a:r>
          </a:p>
          <a:p>
            <a:pPr marL="0" indent="0" algn="just">
              <a:buNone/>
            </a:pPr>
            <a:r>
              <a:rPr lang="en-US" dirty="0">
                <a:latin typeface="Times New Roman" panose="02020603050405020304" pitchFamily="18" charset="0"/>
                <a:cs typeface="Times New Roman" panose="02020603050405020304" pitchFamily="18" charset="0"/>
              </a:rPr>
              <a:t>Test cases that are used in regression testing will be </a:t>
            </a:r>
            <a:r>
              <a:rPr lang="en-US" dirty="0" smtClean="0">
                <a:latin typeface="Times New Roman" panose="02020603050405020304" pitchFamily="18" charset="0"/>
                <a:cs typeface="Times New Roman" panose="02020603050405020304" pitchFamily="18" charset="0"/>
              </a:rPr>
              <a:t>used </a:t>
            </a:r>
            <a:r>
              <a:rPr lang="en-US" dirty="0">
                <a:latin typeface="Times New Roman" panose="02020603050405020304" pitchFamily="18" charset="0"/>
                <a:cs typeface="Times New Roman" panose="02020603050405020304" pitchFamily="18" charset="0"/>
              </a:rPr>
              <a:t>regularly and often, and are therefore predestined for test </a:t>
            </a:r>
            <a:r>
              <a:rPr lang="en-US" dirty="0" smtClean="0">
                <a:latin typeface="Times New Roman" panose="02020603050405020304" pitchFamily="18" charset="0"/>
                <a:cs typeface="Times New Roman" panose="02020603050405020304" pitchFamily="18" charset="0"/>
              </a:rPr>
              <a:t>automation which reduces cost of each test repetition </a:t>
            </a:r>
          </a:p>
          <a:p>
            <a:pPr marL="0" indent="0" algn="just">
              <a:buNone/>
            </a:pPr>
            <a:r>
              <a:rPr lang="en-US" dirty="0">
                <a:latin typeface="Times New Roman" panose="02020603050405020304" pitchFamily="18" charset="0"/>
                <a:cs typeface="Times New Roman" panose="02020603050405020304" pitchFamily="18" charset="0"/>
              </a:rPr>
              <a:t>For features that need to be changed, the test cases need to </a:t>
            </a:r>
            <a:r>
              <a:rPr lang="en-US" dirty="0" smtClean="0">
                <a:latin typeface="Times New Roman" panose="02020603050405020304" pitchFamily="18" charset="0"/>
                <a:cs typeface="Times New Roman" panose="02020603050405020304" pitchFamily="18" charset="0"/>
              </a:rPr>
              <a:t>be </a:t>
            </a:r>
            <a:r>
              <a:rPr lang="en-US" dirty="0">
                <a:latin typeface="Times New Roman" panose="02020603050405020304" pitchFamily="18" charset="0"/>
                <a:cs typeface="Times New Roman" panose="02020603050405020304" pitchFamily="18" charset="0"/>
              </a:rPr>
              <a:t>adapted too so that they cover the new functionality</a:t>
            </a:r>
            <a:endParaRPr lang="en-US" dirty="0" smtClean="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71</a:t>
            </a:fld>
            <a:endParaRPr lang="en-US"/>
          </a:p>
        </p:txBody>
      </p:sp>
    </p:spTree>
    <p:extLst>
      <p:ext uri="{BB962C8B-B14F-4D97-AF65-F5344CB8AC3E}">
        <p14:creationId xmlns:p14="http://schemas.microsoft.com/office/powerpoint/2010/main" val="221501346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Complete vs partial regression testing</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In practice, complete regression testing that runs all existing tests is </a:t>
            </a:r>
            <a:r>
              <a:rPr lang="en-US" dirty="0" smtClean="0">
                <a:latin typeface="Times New Roman" panose="02020603050405020304" pitchFamily="18" charset="0"/>
                <a:cs typeface="Times New Roman" panose="02020603050405020304" pitchFamily="18" charset="0"/>
              </a:rPr>
              <a:t>usually </a:t>
            </a:r>
            <a:r>
              <a:rPr lang="en-US" dirty="0">
                <a:latin typeface="Times New Roman" panose="02020603050405020304" pitchFamily="18" charset="0"/>
                <a:cs typeface="Times New Roman" panose="02020603050405020304" pitchFamily="18" charset="0"/>
              </a:rPr>
              <a:t>too costly and takes too much time, especially </a:t>
            </a:r>
            <a:r>
              <a:rPr lang="en-US" dirty="0" smtClean="0">
                <a:latin typeface="Times New Roman" panose="02020603050405020304" pitchFamily="18" charset="0"/>
                <a:cs typeface="Times New Roman" panose="02020603050405020304" pitchFamily="18" charset="0"/>
              </a:rPr>
              <a:t>when </a:t>
            </a:r>
            <a:r>
              <a:rPr lang="en-US" dirty="0">
                <a:latin typeface="Times New Roman" panose="02020603050405020304" pitchFamily="18" charset="0"/>
                <a:cs typeface="Times New Roman" panose="02020603050405020304" pitchFamily="18" charset="0"/>
              </a:rPr>
              <a:t>manual tests are </a:t>
            </a:r>
            <a:r>
              <a:rPr lang="en-US" dirty="0" smtClean="0">
                <a:latin typeface="Times New Roman" panose="02020603050405020304" pitchFamily="18" charset="0"/>
                <a:cs typeface="Times New Roman" panose="02020603050405020304" pitchFamily="18" charset="0"/>
              </a:rPr>
              <a:t>involved</a:t>
            </a:r>
          </a:p>
          <a:p>
            <a:pPr marL="0" indent="0" algn="just">
              <a:buNone/>
            </a:pPr>
            <a:r>
              <a:rPr lang="en-US" dirty="0">
                <a:latin typeface="Times New Roman" panose="02020603050405020304" pitchFamily="18" charset="0"/>
                <a:cs typeface="Times New Roman" panose="02020603050405020304" pitchFamily="18" charset="0"/>
              </a:rPr>
              <a:t>Repeat only the tests that were given high priority in the test </a:t>
            </a:r>
            <a:r>
              <a:rPr lang="en-US" dirty="0" smtClean="0">
                <a:latin typeface="Times New Roman" panose="02020603050405020304" pitchFamily="18" charset="0"/>
                <a:cs typeface="Times New Roman" panose="02020603050405020304" pitchFamily="18" charset="0"/>
              </a:rPr>
              <a:t>schedule</a:t>
            </a:r>
          </a:p>
          <a:p>
            <a:pPr marL="0" indent="0" algn="just">
              <a:buNone/>
            </a:pPr>
            <a:r>
              <a:rPr lang="en-US" dirty="0">
                <a:latin typeface="Times New Roman" panose="02020603050405020304" pitchFamily="18" charset="0"/>
                <a:cs typeface="Times New Roman" panose="02020603050405020304" pitchFamily="18" charset="0"/>
              </a:rPr>
              <a:t>Limit testing to certain specific configurations (for example, test </a:t>
            </a:r>
            <a:r>
              <a:rPr lang="en-US" dirty="0" smtClean="0">
                <a:latin typeface="Times New Roman" panose="02020603050405020304" pitchFamily="18" charset="0"/>
                <a:cs typeface="Times New Roman" panose="02020603050405020304" pitchFamily="18" charset="0"/>
              </a:rPr>
              <a:t>only </a:t>
            </a:r>
            <a:r>
              <a:rPr lang="en-US" dirty="0">
                <a:latin typeface="Times New Roman" panose="02020603050405020304" pitchFamily="18" charset="0"/>
                <a:cs typeface="Times New Roman" panose="02020603050405020304" pitchFamily="18" charset="0"/>
              </a:rPr>
              <a:t>the English-language version, test only for a specific operating system</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and similar)</a:t>
            </a:r>
            <a:endParaRPr lang="en-US" dirty="0" smtClean="0">
              <a:latin typeface="Times New Roman" panose="02020603050405020304" pitchFamily="18" charset="0"/>
              <a:cs typeface="Times New Roman" panose="02020603050405020304" pitchFamily="18" charset="0"/>
            </a:endParaRPr>
          </a:p>
          <a:p>
            <a:pPr marL="0" indent="0" algn="just">
              <a:buNone/>
            </a:pPr>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requires compromise between minimizing costs </a:t>
            </a:r>
            <a:r>
              <a:rPr lang="en-US" dirty="0" smtClean="0">
                <a:latin typeface="Times New Roman" panose="02020603050405020304" pitchFamily="18" charset="0"/>
                <a:cs typeface="Times New Roman" panose="02020603050405020304" pitchFamily="18" charset="0"/>
              </a:rPr>
              <a:t>and </a:t>
            </a:r>
            <a:r>
              <a:rPr lang="en-US" dirty="0">
                <a:latin typeface="Times New Roman" panose="02020603050405020304" pitchFamily="18" charset="0"/>
                <a:cs typeface="Times New Roman" panose="02020603050405020304" pitchFamily="18" charset="0"/>
              </a:rPr>
              <a:t>accepting business risks</a:t>
            </a:r>
            <a:endParaRPr lang="en-US" dirty="0" smtClean="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72</a:t>
            </a:fld>
            <a:endParaRPr lang="en-US"/>
          </a:p>
        </p:txBody>
      </p:sp>
    </p:spTree>
    <p:extLst>
      <p:ext uri="{BB962C8B-B14F-4D97-AF65-F5344CB8AC3E}">
        <p14:creationId xmlns:p14="http://schemas.microsoft.com/office/powerpoint/2010/main" val="112578685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Summary</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Software development lifecycle models structure the software development process in sections, phases, or iterations. The two basic model types are “sequential” and “iterative/incremental</a:t>
            </a:r>
            <a:r>
              <a:rPr lang="en-US" dirty="0" smtClean="0">
                <a:latin typeface="Times New Roman" panose="02020603050405020304" pitchFamily="18" charset="0"/>
                <a:cs typeface="Times New Roman" panose="02020603050405020304" pitchFamily="18" charset="0"/>
              </a:rPr>
              <a:t>”.</a:t>
            </a:r>
          </a:p>
          <a:p>
            <a:pPr marL="0" indent="0" algn="just">
              <a:buNone/>
            </a:pPr>
            <a:r>
              <a:rPr lang="en-US" dirty="0">
                <a:latin typeface="Times New Roman" panose="02020603050405020304" pitchFamily="18" charset="0"/>
                <a:cs typeface="Times New Roman" panose="02020603050405020304" pitchFamily="18" charset="0"/>
              </a:rPr>
              <a:t>Sequential development models are characterized by development activities that are conducted in a linear (i.e., sequential) fashion</a:t>
            </a:r>
            <a:r>
              <a:rPr lang="en-US" dirty="0" smtClean="0">
                <a:latin typeface="Times New Roman" panose="02020603050405020304" pitchFamily="18" charset="0"/>
                <a:cs typeface="Times New Roman" panose="02020603050405020304" pitchFamily="18" charset="0"/>
              </a:rPr>
              <a:t>.</a:t>
            </a:r>
          </a:p>
          <a:p>
            <a:pPr marL="0" indent="0" algn="just">
              <a:buNone/>
            </a:pPr>
            <a:r>
              <a:rPr lang="en-US" dirty="0">
                <a:latin typeface="Times New Roman" panose="02020603050405020304" pitchFamily="18" charset="0"/>
                <a:cs typeface="Times New Roman" panose="02020603050405020304" pitchFamily="18" charset="0"/>
              </a:rPr>
              <a:t>Iterative/incremental models produce regular extended and/or improved product releases that enable timely feedback from the customer and the system’s users. This approach reduces time to market and also reduces the risk of developing a product that doesn’t fulfill the customer’s expectations. All agile development methods are classed as iterative/incremental.</a:t>
            </a:r>
            <a:endParaRPr lang="en-US" dirty="0" smtClean="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73</a:t>
            </a:fld>
            <a:endParaRPr lang="en-US"/>
          </a:p>
        </p:txBody>
      </p:sp>
    </p:spTree>
    <p:extLst>
      <p:ext uri="{BB962C8B-B14F-4D97-AF65-F5344CB8AC3E}">
        <p14:creationId xmlns:p14="http://schemas.microsoft.com/office/powerpoint/2010/main" val="123065180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9813205" cy="1499616"/>
          </a:xfrm>
        </p:spPr>
        <p:txBody>
          <a:bodyPr>
            <a:normAutofit/>
          </a:bodyPr>
          <a:lstStyle/>
          <a:p>
            <a:r>
              <a:rPr lang="en-US" sz="3600" dirty="0" smtClean="0">
                <a:latin typeface="Times New Roman" panose="02020603050405020304" pitchFamily="18" charset="0"/>
                <a:cs typeface="Times New Roman" panose="02020603050405020304" pitchFamily="18" charset="0"/>
              </a:rPr>
              <a:t>Summary</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The sooner a defect is discovered, the less it will cost to rectify it. The V-model therefore requires verification procedures (such as reviews) at the end of every development phase. This helps to prevent the spread of subsequent defects</a:t>
            </a:r>
            <a:r>
              <a:rPr lang="en-US" dirty="0" smtClean="0">
                <a:latin typeface="Times New Roman" panose="02020603050405020304" pitchFamily="18" charset="0"/>
                <a:cs typeface="Times New Roman" panose="02020603050405020304" pitchFamily="18" charset="0"/>
              </a:rPr>
              <a:t>.</a:t>
            </a:r>
          </a:p>
          <a:p>
            <a:pPr marL="0" indent="0" algn="just">
              <a:buNone/>
            </a:pPr>
            <a:r>
              <a:rPr lang="en-US" dirty="0">
                <a:latin typeface="Times New Roman" panose="02020603050405020304" pitchFamily="18" charset="0"/>
                <a:cs typeface="Times New Roman" panose="02020603050405020304" pitchFamily="18" charset="0"/>
              </a:rPr>
              <a:t>Maintenance and incremental development continuously create new software product versions throughout the product’s lifecycle. Each new version has to be tested in its own right, and the scope of such regression testing depends on the results of corresponding risk analysis</a:t>
            </a:r>
            <a:endParaRPr lang="en-US" dirty="0" smtClean="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EFE5490-7C78-454F-98DE-D1826F8CB872}" type="slidenum">
              <a:rPr lang="en-US" smtClean="0"/>
              <a:t>74</a:t>
            </a:fld>
            <a:endParaRPr lang="en-US"/>
          </a:p>
        </p:txBody>
      </p:sp>
    </p:spTree>
    <p:extLst>
      <p:ext uri="{BB962C8B-B14F-4D97-AF65-F5344CB8AC3E}">
        <p14:creationId xmlns:p14="http://schemas.microsoft.com/office/powerpoint/2010/main" val="35287300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otalTime>1000</TotalTime>
  <Words>4683</Words>
  <Application>Microsoft Office PowerPoint</Application>
  <PresentationFormat>Widescreen</PresentationFormat>
  <Paragraphs>421</Paragraphs>
  <Slides>74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74</vt:i4>
      </vt:variant>
    </vt:vector>
  </HeadingPairs>
  <TitlesOfParts>
    <vt:vector size="82" baseType="lpstr">
      <vt:lpstr>Arial</vt:lpstr>
      <vt:lpstr>Courier New</vt:lpstr>
      <vt:lpstr>Times New Roman</vt:lpstr>
      <vt:lpstr>Tw Cen MT</vt:lpstr>
      <vt:lpstr>Tw Cen MT Condensed</vt:lpstr>
      <vt:lpstr>Wingdings</vt:lpstr>
      <vt:lpstr>Wingdings 3</vt:lpstr>
      <vt:lpstr>Integral</vt:lpstr>
      <vt:lpstr>CSE455 - Software Testing</vt:lpstr>
      <vt:lpstr>Process models</vt:lpstr>
      <vt:lpstr>Types of models</vt:lpstr>
      <vt:lpstr>Waterfall model</vt:lpstr>
      <vt:lpstr>V-model</vt:lpstr>
      <vt:lpstr>V-model cont..</vt:lpstr>
      <vt:lpstr>V-model Testing levels</vt:lpstr>
      <vt:lpstr>Cont..</vt:lpstr>
      <vt:lpstr>PowerPoint Presentation</vt:lpstr>
      <vt:lpstr>Practice</vt:lpstr>
      <vt:lpstr>Iterative development</vt:lpstr>
      <vt:lpstr>Incremental development</vt:lpstr>
      <vt:lpstr>Iterative Incremental development</vt:lpstr>
      <vt:lpstr>Cont..</vt:lpstr>
      <vt:lpstr>CI/CD</vt:lpstr>
      <vt:lpstr>Software development in project and product context</vt:lpstr>
      <vt:lpstr>tailoring</vt:lpstr>
      <vt:lpstr>Attributes of good testing</vt:lpstr>
      <vt:lpstr>Testing levels</vt:lpstr>
      <vt:lpstr>Component testing</vt:lpstr>
      <vt:lpstr>Cont..</vt:lpstr>
      <vt:lpstr>Cont..</vt:lpstr>
      <vt:lpstr>Test first approach</vt:lpstr>
      <vt:lpstr>Integration testing</vt:lpstr>
      <vt:lpstr>Cont..</vt:lpstr>
      <vt:lpstr>Cont..</vt:lpstr>
      <vt:lpstr>Cont..</vt:lpstr>
      <vt:lpstr>Top down integration</vt:lpstr>
      <vt:lpstr>PowerPoint Presentation</vt:lpstr>
      <vt:lpstr>Order of testing interfaces for the example Horizontally Covered </vt:lpstr>
      <vt:lpstr>Order of testing interfaces for the example vertically Covered </vt:lpstr>
      <vt:lpstr>Bottom up integration</vt:lpstr>
      <vt:lpstr>Bottom up integration cont..</vt:lpstr>
      <vt:lpstr>Bottom up integration cont..</vt:lpstr>
      <vt:lpstr>PowerPoint Presentation</vt:lpstr>
      <vt:lpstr>Bottom up integration cont..</vt:lpstr>
      <vt:lpstr>Bi-directional integration</vt:lpstr>
      <vt:lpstr>Bi-directional integration</vt:lpstr>
      <vt:lpstr>Bi-directional integration</vt:lpstr>
      <vt:lpstr>Bi-directional integration</vt:lpstr>
      <vt:lpstr>PowerPoint Presentation</vt:lpstr>
      <vt:lpstr>Steps for integration using sandwich testing</vt:lpstr>
      <vt:lpstr>Top down integration (Stage 3 of previous example)</vt:lpstr>
      <vt:lpstr>Ad hoc integration</vt:lpstr>
      <vt:lpstr>backbone integration</vt:lpstr>
      <vt:lpstr>Avoid big bang integration!!</vt:lpstr>
      <vt:lpstr>System testing</vt:lpstr>
      <vt:lpstr>System testing cont..</vt:lpstr>
      <vt:lpstr>System testing cont..</vt:lpstr>
      <vt:lpstr>System testing challenges</vt:lpstr>
      <vt:lpstr>Choosing integration method</vt:lpstr>
      <vt:lpstr>Acceptance testing</vt:lpstr>
      <vt:lpstr>Cont..</vt:lpstr>
      <vt:lpstr>User acceptance testing</vt:lpstr>
      <vt:lpstr>acceptance testing by system operator</vt:lpstr>
      <vt:lpstr>Field testing</vt:lpstr>
      <vt:lpstr>Alpha testing</vt:lpstr>
      <vt:lpstr>beta testing</vt:lpstr>
      <vt:lpstr>Test types</vt:lpstr>
      <vt:lpstr>Functional tests</vt:lpstr>
      <vt:lpstr>Example</vt:lpstr>
      <vt:lpstr>Example cont..</vt:lpstr>
      <vt:lpstr>Example cont..</vt:lpstr>
      <vt:lpstr>Non-functional tests</vt:lpstr>
      <vt:lpstr>Non-functional tests cont..</vt:lpstr>
      <vt:lpstr>Non-functional tests cont..</vt:lpstr>
      <vt:lpstr>Requirement and structure based testing</vt:lpstr>
      <vt:lpstr>Testing following software maintenance</vt:lpstr>
      <vt:lpstr>Maintenance testing</vt:lpstr>
      <vt:lpstr>Testing following release development</vt:lpstr>
      <vt:lpstr>Regression testing</vt:lpstr>
      <vt:lpstr>Complete vs partial regression testing</vt:lpstr>
      <vt:lpstr>Summary</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CSE455 - Software Testing</dc:title>
  <dc:creator>aounhaidersandhu@gmail.com</dc:creator>
  <cp:lastModifiedBy>aounhaidersandhu@gmail.com</cp:lastModifiedBy>
  <cp:revision>168</cp:revision>
  <dcterms:created xsi:type="dcterms:W3CDTF">2025-02-15T17:37:41Z</dcterms:created>
  <dcterms:modified xsi:type="dcterms:W3CDTF">2025-04-13T11:46:11Z</dcterms:modified>
</cp:coreProperties>
</file>