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420" r:id="rId4"/>
    <p:sldId id="421" r:id="rId5"/>
    <p:sldId id="391" r:id="rId6"/>
    <p:sldId id="392" r:id="rId7"/>
    <p:sldId id="394" r:id="rId8"/>
    <p:sldId id="395" r:id="rId9"/>
    <p:sldId id="397" r:id="rId10"/>
    <p:sldId id="396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3" r:id="rId25"/>
    <p:sldId id="411" r:id="rId26"/>
    <p:sldId id="412" r:id="rId27"/>
    <p:sldId id="414" r:id="rId28"/>
    <p:sldId id="415" r:id="rId29"/>
    <p:sldId id="416" r:id="rId30"/>
    <p:sldId id="417" r:id="rId31"/>
    <p:sldId id="41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5688" autoAdjust="0"/>
  </p:normalViewPr>
  <p:slideViewPr>
    <p:cSldViewPr snapToGrid="0">
      <p:cViewPr varScale="1">
        <p:scale>
          <a:sx n="88" d="100"/>
          <a:sy n="88" d="100"/>
        </p:scale>
        <p:origin x="576" y="96"/>
      </p:cViewPr>
      <p:guideLst/>
    </p:cSldViewPr>
  </p:slideViewPr>
  <p:outlineViewPr>
    <p:cViewPr>
      <p:scale>
        <a:sx n="100" d="100"/>
        <a:sy n="100" d="100"/>
      </p:scale>
      <p:origin x="0" y="-632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19FA3A8-D1B3-41D5-A8D2-2DA6E782F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9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9ACD-A83F-4330-841C-8F57A1D815E4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87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4323-AB61-4C9C-89A1-3446CCCA273A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99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1CD5-A4F3-461A-B661-68F8558B5406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5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9C05-F0A5-4E7D-BBF9-CEC962FE849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7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E31B-C69A-42FD-BBB3-47935776A9BF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37492-0605-4DB8-8C4A-635DDEA75183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5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7762E-77BB-44CC-A2D2-EC0FA5CF096B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2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B4C7C-98AA-4983-8ED7-732DF8CB8BFD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22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227A-E0A0-41D2-8192-1640ABD6DE7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8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0586-70BE-4823-8B2B-709EAA954935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25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44B751-1CA6-409F-8B0F-94C00B1FE05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EFE5490-7C78-454F-98DE-D1826F8CB8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2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CSE455 - Software Testing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1273139" cy="146304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2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Tools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Risks of Test Automation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Test Tools Effectively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9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tools are used to support single or multiple software testing activities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testing efficiency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repetitive or time-consuming tasks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code analysis tools, Automated test execution tools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Test Quality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large test case repositories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identify duplicate, missing test cases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9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Testing Reliability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checks provide consistent results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comparing expected vs. actual, repeatable test sequences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Some Tests Possible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tests not possible manually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testing, Load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6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tools vary based on: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goals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Platform/application area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Test Management Tools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Manage, plan and track test cases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catalog test cases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and evaluate execution results (pass/fail)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requirement-based testing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 test cases to user stories and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1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Requirement Management Tools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strictly test tools, but essential for planning tests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 and prioritize requirements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 implementation status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data with test tools for traceability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Defect Management Tools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and manage defect reports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defect status from discovery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defects statistically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custom lifecycle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Configuration Management Tools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purely testing tools, but important for version control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multiple versions of software under test, test data and documentation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 which version produced specific test results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Continuous Integration Tools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Agile/Iterative projects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integrate code changes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Trigger integration tests on code check-ins</a:t>
            </a:r>
          </a:p>
          <a:p>
            <a:pPr marL="119063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faster and more reliable builds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1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3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 tool ecosystem – test tools often need to communicate with each     other</a:t>
            </a:r>
          </a:p>
          <a:p>
            <a:pPr marL="119063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integrations:</a:t>
            </a:r>
          </a:p>
          <a:p>
            <a:pPr marL="292799" lvl="1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Management – import/link requirements</a:t>
            </a:r>
          </a:p>
          <a:p>
            <a:pPr marL="292799" lvl="1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Execution Tools – run tests, capture results</a:t>
            </a:r>
          </a:p>
          <a:p>
            <a:pPr marL="292799" lvl="1" indent="257175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Defect Management – verify defect fixes</a:t>
            </a:r>
          </a:p>
          <a:p>
            <a:pPr marL="292799" lvl="1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 Tools – auto-trigger tests during builds</a:t>
            </a:r>
          </a:p>
          <a:p>
            <a:pPr marL="292799" lvl="1" indent="257175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– track code versions in test cases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7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reporting and documentation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3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Generate:</a:t>
            </a:r>
          </a:p>
          <a:p>
            <a:pPr marL="578549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summary reports</a:t>
            </a:r>
          </a:p>
          <a:p>
            <a:pPr marL="578549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schedules</a:t>
            </a:r>
          </a:p>
          <a:p>
            <a:pPr marL="578549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specifications</a:t>
            </a:r>
          </a:p>
          <a:p>
            <a:pPr marL="119063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monitor testing progress and quality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8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specification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that a test case is reproducible, the individual testing steps, the test data, and the corresponding pre-and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 conditions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to be defined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recorded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generator can be used to determine and generate appropriate test data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various types of test data generator: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Database-based generators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database structure or contents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work with file data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Code-based generators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source code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at detecting missing behavior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White-box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6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specification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Interface-based generators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APIs or GUIs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boundary value analysis or equivalence class partitioning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Great for robustness testing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based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formal specifications (e.g. UML diagrams)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model based testing (MBT)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test scripts from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Cannot replace human creativity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Don’t understand what’s important or irrelevant, valid expected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9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Static test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source code, specifications, models or natural language documents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Finds defects early, before runtime, saving time and cost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support tools require manual reviews (buddy checks)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source code, analyze code structure and metric (e.g.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cyclomatic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complexity) like check for risky code blocks, broken HTML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7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data states through code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anomalies (suspicious usage patterns) – can but doesn’t necessarily cause failure</a:t>
            </a:r>
          </a:p>
          <a:p>
            <a:pPr algn="just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states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defined (d)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variable is assigned a value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referenced (r)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variable’s value is referenced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undefined (u)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variable has no defined value</a:t>
            </a:r>
          </a:p>
          <a:p>
            <a:pPr algn="just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Anomaly types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variable used (read) before it’s defined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defined but never used</a:t>
            </a:r>
          </a:p>
          <a:p>
            <a:pPr algn="just"/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defined again without using previous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9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Swap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Min,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Max) {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(Min &gt; Max) {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Max = Help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Max = Min;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Help = Min;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2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Swap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Min,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Max) {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(Min &gt; Max) {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Max = Help;      //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anomaly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Help not initialized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Max = Min;       //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anomaly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Max overwritten before use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Help = Min;      //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anomaly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Help value never used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1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test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testing by: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Feeding test data to the application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responses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Logging test results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tests along side the tool can affect results “probe effect”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 framework can aid in integration and unit testing (JUnit)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6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Capture/replay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test robots</a:t>
            </a:r>
          </a:p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UI actions – mouse clicks, keystrokes, UI attributes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 as a script for later re-use for regression testing</a:t>
            </a:r>
          </a:p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re-executes script</a:t>
            </a:r>
          </a:p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expected vs. actual results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 object mapping – instead of capturing exact element position in x ,y coordinates, just capture target attributes or path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testing scripting helps with reusability, maintainability, team collaboration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8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driven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 test data in spreadsheet or databases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Script reads data, run tests, repeats …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to add test cases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test against new test data, just add a new entry in spreadsheet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3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 driven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 = actions + parameters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are made using high-level domain terms: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elect(customer)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ave(contract)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 mapped to code by test engineers</a:t>
            </a:r>
          </a:p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 become complex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to manage dependencies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0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tool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Modern test tools offer: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Drag &amp; drop keywords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backed test data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Auto-update of test cases when keywords changes</a:t>
            </a:r>
          </a:p>
          <a:p>
            <a:pPr algn="just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Comparators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comparison of expected against actual of test result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tools measure test completeness (% of logic covered) – requires code instrumentation before test runs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Debuggers help stepping through code, setting breakpoints, watching variables ensuring basic level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performance testing tools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system under high load and ensure performance criteria (e.g. response time) are met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web/cloud based systems, client/server apps, real-time systems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– simulate many users or transactions in parallel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– measure response time, memory usage etc. and highlight bottlenecks or limits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– track system metrics like CPU, memory, database queries, network traffic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3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tool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vulnerabilities, uses tools like firewall, anti-virus software, penetration testing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 for proper accessibility to the target users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language translation feature working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cross-platform compatibility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tools are used during data migration/conversion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is complete, correct, formatted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Satisfies business rules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in replacing legacy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risks of test automation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cost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 purchase and licensing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 training and roll-out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Amortization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must justify cost over time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is negative at first, improves over multiple regression test cycles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7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life cycle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021" y="2005449"/>
            <a:ext cx="9226179" cy="438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3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risks of test automation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benefit analysis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cost &gt; manual test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Savings begin after some automated runs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regression testing is frequent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testing effectiveness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Finds more failures early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long-term support and maintenance cost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build higher-quality software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4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risks of test automation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creative testing by removing repetitive work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number of test cases without extra effort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objective data on software quality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Risks of introducing automation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Unrealistic expectations of tool capabilities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where manual testing is more efficient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Incompatibility with existing tools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sources project discontinued</a:t>
            </a:r>
          </a:p>
          <a:p>
            <a:pPr marL="347663" indent="-228600"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1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tools effectively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process, not tools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chaos just gives faster chaos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only well-organized test processes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manual testing maturity first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learning curve, productivity may initially drop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Avoid tool introduction during high-stress phases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1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 selection steps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338138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requirements and priorities</a:t>
            </a:r>
          </a:p>
          <a:p>
            <a:pPr marL="457200" indent="-338138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compile tool candidates</a:t>
            </a:r>
          </a:p>
          <a:p>
            <a:pPr marL="457200" indent="-338138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 demos and trails</a:t>
            </a:r>
          </a:p>
          <a:p>
            <a:pPr marL="457200" indent="-338138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shortlist</a:t>
            </a:r>
          </a:p>
          <a:p>
            <a:pPr marL="457200" indent="-338138"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Conduct a proof of concept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criteria: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with test object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Staff skill and training required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existing tools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Platform, vendor support, cost, licensing model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mark essential criteria (deal-breakers)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Pilot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selecting tool, validate it in real-world project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insights and identity gaps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run by a team not involved in tool selection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training needs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re-usable test libraries (if test driver/robots used)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 that useful metrics can be collected and reported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6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Rolling out the tool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 gradual rollout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 tools into core processes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training and coaching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share guidelines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collect feedback and measure tool adoption</a:t>
            </a:r>
          </a:p>
          <a:p>
            <a:pPr marL="119062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are only effective when: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Properly selected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 adopted</a:t>
            </a:r>
          </a:p>
          <a:p>
            <a:pPr marL="578548" lvl="1" indent="-28575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Backed by structured processes and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5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9062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phase in the testing process, tools are available to help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their work more efficiently, reliably, or at a higher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level. Some tasks, such as load and performance testing, can only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satisfactorily with tool-based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  <a:p>
            <a:pPr marL="119062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and integration testing tools are squarely aimed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developers. These include unit test frameworks,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test-driven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TDD) frameworks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continuous integration (CI) tools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analysis tools, and dynamic analysis (code coverage)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marL="119062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tools only provide benefits if the testing process itself 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runs in a well-defined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manner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E5490-7C78-454F-98DE-D1826F8CB8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6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15261</TotalTime>
  <Words>1621</Words>
  <Application>Microsoft Office PowerPoint</Application>
  <PresentationFormat>Widescreen</PresentationFormat>
  <Paragraphs>277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Courier New</vt:lpstr>
      <vt:lpstr>Times New Roman</vt:lpstr>
      <vt:lpstr>Tw Cen MT</vt:lpstr>
      <vt:lpstr>Tw Cen MT Condensed</vt:lpstr>
      <vt:lpstr>Wingdings</vt:lpstr>
      <vt:lpstr>Wingdings 3</vt:lpstr>
      <vt:lpstr>Integral</vt:lpstr>
      <vt:lpstr>CSE455 - Software Testing</vt:lpstr>
      <vt:lpstr>Outline</vt:lpstr>
      <vt:lpstr>Test tools</vt:lpstr>
      <vt:lpstr>Test tools</vt:lpstr>
      <vt:lpstr>Types of test tools</vt:lpstr>
      <vt:lpstr>Types of test tools</vt:lpstr>
      <vt:lpstr>Types of test tools</vt:lpstr>
      <vt:lpstr>Tool integration</vt:lpstr>
      <vt:lpstr>Test reporting and documentation</vt:lpstr>
      <vt:lpstr>Test specification tools</vt:lpstr>
      <vt:lpstr>Test specification tools</vt:lpstr>
      <vt:lpstr>Static test tools</vt:lpstr>
      <vt:lpstr>Data flow analysis</vt:lpstr>
      <vt:lpstr>Data flow analysis</vt:lpstr>
      <vt:lpstr>Data flow analysis</vt:lpstr>
      <vt:lpstr>dynamic test tools</vt:lpstr>
      <vt:lpstr>Capture/replay tools</vt:lpstr>
      <vt:lpstr>Data driven testing</vt:lpstr>
      <vt:lpstr>Keyword driven testing</vt:lpstr>
      <vt:lpstr>Advanced tool support</vt:lpstr>
      <vt:lpstr>Load and performance testing tools</vt:lpstr>
      <vt:lpstr>Additional tool support</vt:lpstr>
      <vt:lpstr>Benefits and risks of test automation</vt:lpstr>
      <vt:lpstr>Test case life cycle</vt:lpstr>
      <vt:lpstr>Benefits and risks of test automation</vt:lpstr>
      <vt:lpstr>Benefits and risks of test automation</vt:lpstr>
      <vt:lpstr>Using tools effectively</vt:lpstr>
      <vt:lpstr>Tool selection steps</vt:lpstr>
      <vt:lpstr>Pilot project</vt:lpstr>
      <vt:lpstr>Rolling out the tool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CSE455 - Software Testing</dc:title>
  <dc:creator>aounhaidersandhu@gmail.com</dc:creator>
  <cp:lastModifiedBy>aounhaidersandhu@gmail.com</cp:lastModifiedBy>
  <cp:revision>469</cp:revision>
  <dcterms:created xsi:type="dcterms:W3CDTF">2025-02-15T17:37:41Z</dcterms:created>
  <dcterms:modified xsi:type="dcterms:W3CDTF">2025-06-26T16:39:32Z</dcterms:modified>
</cp:coreProperties>
</file>