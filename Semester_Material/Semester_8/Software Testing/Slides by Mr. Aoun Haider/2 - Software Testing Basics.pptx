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68" r:id="rId14"/>
    <p:sldId id="270" r:id="rId15"/>
    <p:sldId id="306"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07" r:id="rId42"/>
    <p:sldId id="308" r:id="rId43"/>
    <p:sldId id="311"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6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19FA3A8-D1B3-41D5-A8D2-2DA6E782F06E}"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895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2F9ACD-A83F-4330-841C-8F57A1D815E4}"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6380870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7174323-AB61-4C9C-89A1-3446CCCA273A}"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995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4F1CD5-A4F3-461A-B661-68F8558B5406}"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626956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C19C05-F0A5-4E7D-BBF9-CEC962FE8498}" type="datetime1">
              <a:rPr lang="en-US" smtClean="0"/>
              <a:t>4/13/2025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270257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85AE31B-C69A-42FD-BBB3-47935776A9BF}" type="datetime1">
              <a:rPr lang="en-US" smtClean="0"/>
              <a:t>4/13/2025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305467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37492-0605-4DB8-8C4A-635DDEA75183}" type="datetime1">
              <a:rPr lang="en-US" smtClean="0"/>
              <a:t>4/13/2025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258195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77762E-77BB-44CC-A2D2-EC0FA5CF096B}"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8800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2BB4C7C-98AA-4983-8ED7-732DF8CB8BFD}"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224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8F227A-E0A0-41D2-8192-1640ABD6DE7C}"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3700686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4B0586-70BE-4823-8B2B-709EAA954935}"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25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744B751-1CA6-409F-8B0F-94C00B1FE05C}" type="datetime1">
              <a:rPr lang="en-US" smtClean="0"/>
              <a:t>4/13/2025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EFE5490-7C78-454F-98DE-D1826F8CB872}"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9627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anose="02020603050405020304" pitchFamily="18" charset="0"/>
                <a:cs typeface="Times New Roman" panose="02020603050405020304" pitchFamily="18" charset="0"/>
              </a:rPr>
              <a:t>CSE455 - Software Testing</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Chapter 2</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2946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Quality 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Products </a:t>
            </a:r>
            <a:r>
              <a:rPr lang="en-US" dirty="0">
                <a:latin typeface="Times New Roman" panose="02020603050405020304" pitchFamily="18" charset="0"/>
                <a:cs typeface="Times New Roman" panose="02020603050405020304" pitchFamily="18" charset="0"/>
              </a:rPr>
              <a:t>are usually spot-checked to make sure they fulfill the planned </a:t>
            </a:r>
            <a:r>
              <a:rPr lang="en-US" dirty="0" smtClean="0">
                <a:latin typeface="Times New Roman" panose="02020603050405020304" pitchFamily="18" charset="0"/>
                <a:cs typeface="Times New Roman" panose="02020603050405020304" pitchFamily="18" charset="0"/>
              </a:rPr>
              <a:t>requirements in industry</a:t>
            </a: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final product is flawed or faulty, the production process or the design has to be modified to remedy this</a:t>
            </a:r>
          </a:p>
        </p:txBody>
      </p:sp>
      <p:sp>
        <p:nvSpPr>
          <p:cNvPr id="4" name="Slide Number Placeholder 3"/>
          <p:cNvSpPr>
            <a:spLocks noGrp="1"/>
          </p:cNvSpPr>
          <p:nvPr>
            <p:ph type="sldNum" sz="quarter" idx="12"/>
          </p:nvPr>
        </p:nvSpPr>
        <p:spPr/>
        <p:txBody>
          <a:bodyPr/>
          <a:lstStyle/>
          <a:p>
            <a:fld id="{FEFE5490-7C78-454F-98DE-D1826F8CB872}" type="slidenum">
              <a:rPr lang="en-US" smtClean="0"/>
              <a:t>2</a:t>
            </a:fld>
            <a:endParaRPr lang="en-US"/>
          </a:p>
        </p:txBody>
      </p:sp>
    </p:spTree>
    <p:extLst>
      <p:ext uri="{BB962C8B-B14F-4D97-AF65-F5344CB8AC3E}">
        <p14:creationId xmlns:p14="http://schemas.microsoft.com/office/powerpoint/2010/main" val="8710909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Software is intangible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Product </a:t>
            </a:r>
            <a:r>
              <a:rPr lang="en-US" dirty="0">
                <a:latin typeface="Times New Roman" panose="02020603050405020304" pitchFamily="18" charset="0"/>
                <a:cs typeface="Times New Roman" panose="02020603050405020304" pitchFamily="18" charset="0"/>
              </a:rPr>
              <a:t>itself isn’t actually tangible, making “hands-on” testing </a:t>
            </a:r>
            <a:r>
              <a:rPr lang="en-US" dirty="0" smtClean="0">
                <a:latin typeface="Times New Roman" panose="02020603050405020304" pitchFamily="18" charset="0"/>
                <a:cs typeface="Times New Roman" panose="02020603050405020304" pitchFamily="18" charset="0"/>
              </a:rPr>
              <a:t>impossible</a:t>
            </a:r>
          </a:p>
          <a:p>
            <a:pPr algn="just"/>
            <a:r>
              <a:rPr lang="en-US" dirty="0">
                <a:latin typeface="Times New Roman" panose="02020603050405020304" pitchFamily="18" charset="0"/>
                <a:cs typeface="Times New Roman" panose="02020603050405020304" pitchFamily="18" charset="0"/>
              </a:rPr>
              <a:t>Visual checks are limited and can only be performed by careful scrutiny of the development documentation</a:t>
            </a:r>
          </a:p>
        </p:txBody>
      </p:sp>
      <p:sp>
        <p:nvSpPr>
          <p:cNvPr id="4" name="Slide Number Placeholder 3"/>
          <p:cNvSpPr>
            <a:spLocks noGrp="1"/>
          </p:cNvSpPr>
          <p:nvPr>
            <p:ph type="sldNum" sz="quarter" idx="12"/>
          </p:nvPr>
        </p:nvSpPr>
        <p:spPr/>
        <p:txBody>
          <a:bodyPr/>
          <a:lstStyle/>
          <a:p>
            <a:fld id="{FEFE5490-7C78-454F-98DE-D1826F8CB872}" type="slidenum">
              <a:rPr lang="en-US" smtClean="0"/>
              <a:t>3</a:t>
            </a:fld>
            <a:endParaRPr lang="en-US"/>
          </a:p>
        </p:txBody>
      </p:sp>
    </p:spTree>
    <p:extLst>
      <p:ext uri="{BB962C8B-B14F-4D97-AF65-F5344CB8AC3E}">
        <p14:creationId xmlns:p14="http://schemas.microsoft.com/office/powerpoint/2010/main" val="8229866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Faulty software is a serious problem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Bad software costs time and money and can ruin a company’s </a:t>
            </a:r>
            <a:r>
              <a:rPr lang="en-US" dirty="0" smtClean="0">
                <a:latin typeface="Times New Roman" panose="02020603050405020304" pitchFamily="18" charset="0"/>
                <a:cs typeface="Times New Roman" panose="02020603050405020304" pitchFamily="18" charset="0"/>
              </a:rPr>
              <a:t>reputation</a:t>
            </a:r>
          </a:p>
          <a:p>
            <a:pPr algn="just"/>
            <a:r>
              <a:rPr lang="en-US" dirty="0" smtClean="0">
                <a:latin typeface="Times New Roman" panose="02020603050405020304" pitchFamily="18" charset="0"/>
                <a:cs typeface="Times New Roman" panose="02020603050405020304" pitchFamily="18" charset="0"/>
              </a:rPr>
              <a:t>Can endanger </a:t>
            </a:r>
            <a:r>
              <a:rPr lang="en-US" dirty="0">
                <a:latin typeface="Times New Roman" panose="02020603050405020304" pitchFamily="18" charset="0"/>
                <a:cs typeface="Times New Roman" panose="02020603050405020304" pitchFamily="18" charset="0"/>
              </a:rPr>
              <a:t>human life—for example, when the “autopilot” software in a partially autonomous vehicle reacts erroneously or too late</a:t>
            </a:r>
          </a:p>
        </p:txBody>
      </p:sp>
      <p:sp>
        <p:nvSpPr>
          <p:cNvPr id="4" name="Slide Number Placeholder 3"/>
          <p:cNvSpPr>
            <a:spLocks noGrp="1"/>
          </p:cNvSpPr>
          <p:nvPr>
            <p:ph type="sldNum" sz="quarter" idx="12"/>
          </p:nvPr>
        </p:nvSpPr>
        <p:spPr/>
        <p:txBody>
          <a:bodyPr/>
          <a:lstStyle/>
          <a:p>
            <a:fld id="{FEFE5490-7C78-454F-98DE-D1826F8CB872}" type="slidenum">
              <a:rPr lang="en-US" smtClean="0"/>
              <a:t>4</a:t>
            </a:fld>
            <a:endParaRPr lang="en-US"/>
          </a:p>
        </p:txBody>
      </p:sp>
    </p:spTree>
    <p:extLst>
      <p:ext uri="{BB962C8B-B14F-4D97-AF65-F5344CB8AC3E}">
        <p14:creationId xmlns:p14="http://schemas.microsoft.com/office/powerpoint/2010/main" val="5449050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Testing helps to assess software quality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Check </a:t>
            </a:r>
            <a:r>
              <a:rPr lang="en-US" dirty="0">
                <a:latin typeface="Times New Roman" panose="02020603050405020304" pitchFamily="18" charset="0"/>
                <a:cs typeface="Times New Roman" panose="02020603050405020304" pitchFamily="18" charset="0"/>
              </a:rPr>
              <a:t>the quality of a software product to minimize the risk of failures or </a:t>
            </a:r>
            <a:r>
              <a:rPr lang="en-US" dirty="0" smtClean="0">
                <a:latin typeface="Times New Roman" panose="02020603050405020304" pitchFamily="18" charset="0"/>
                <a:cs typeface="Times New Roman" panose="02020603050405020304" pitchFamily="18" charset="0"/>
              </a:rPr>
              <a:t>crashes</a:t>
            </a:r>
          </a:p>
          <a:p>
            <a:pPr algn="just"/>
            <a:r>
              <a:rPr lang="en-US" dirty="0" smtClean="0">
                <a:latin typeface="Times New Roman" panose="02020603050405020304" pitchFamily="18" charset="0"/>
                <a:cs typeface="Times New Roman" panose="02020603050405020304" pitchFamily="18" charset="0"/>
              </a:rPr>
              <a:t>It reduces </a:t>
            </a:r>
            <a:r>
              <a:rPr lang="en-US" dirty="0">
                <a:latin typeface="Times New Roman" panose="02020603050405020304" pitchFamily="18" charset="0"/>
                <a:cs typeface="Times New Roman" panose="02020603050405020304" pitchFamily="18" charset="0"/>
              </a:rPr>
              <a:t>risk by revealing faults at the development stage</a:t>
            </a:r>
          </a:p>
        </p:txBody>
      </p:sp>
      <p:sp>
        <p:nvSpPr>
          <p:cNvPr id="4" name="Slide Number Placeholder 3"/>
          <p:cNvSpPr>
            <a:spLocks noGrp="1"/>
          </p:cNvSpPr>
          <p:nvPr>
            <p:ph type="sldNum" sz="quarter" idx="12"/>
          </p:nvPr>
        </p:nvSpPr>
        <p:spPr/>
        <p:txBody>
          <a:bodyPr/>
          <a:lstStyle/>
          <a:p>
            <a:fld id="{FEFE5490-7C78-454F-98DE-D1826F8CB872}" type="slidenum">
              <a:rPr lang="en-US" smtClean="0"/>
              <a:t>5</a:t>
            </a:fld>
            <a:endParaRPr lang="en-US"/>
          </a:p>
        </p:txBody>
      </p:sp>
    </p:spTree>
    <p:extLst>
      <p:ext uri="{BB962C8B-B14F-4D97-AF65-F5344CB8AC3E}">
        <p14:creationId xmlns:p14="http://schemas.microsoft.com/office/powerpoint/2010/main" val="2045907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Risk of using faulty software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Every release of the VSR-II system has to be suitably tested before it is delivered and rolled out. This aims to identify and remedy faults before they can do any damage. For example, if the system executes an order in a faulty way, this can cause serious financial problems for the customer, the dealer and the manufacturer, as well as damaging the manufacturer’s image. Undiscovered faults like this increase the risk involved in running the software.</a:t>
            </a:r>
          </a:p>
        </p:txBody>
      </p:sp>
      <p:sp>
        <p:nvSpPr>
          <p:cNvPr id="4" name="Slide Number Placeholder 3"/>
          <p:cNvSpPr>
            <a:spLocks noGrp="1"/>
          </p:cNvSpPr>
          <p:nvPr>
            <p:ph type="sldNum" sz="quarter" idx="12"/>
          </p:nvPr>
        </p:nvSpPr>
        <p:spPr/>
        <p:txBody>
          <a:bodyPr/>
          <a:lstStyle/>
          <a:p>
            <a:fld id="{FEFE5490-7C78-454F-98DE-D1826F8CB872}" type="slidenum">
              <a:rPr lang="en-US" smtClean="0"/>
              <a:t>6</a:t>
            </a:fld>
            <a:endParaRPr lang="en-US"/>
          </a:p>
        </p:txBody>
      </p:sp>
    </p:spTree>
    <p:extLst>
      <p:ext uri="{BB962C8B-B14F-4D97-AF65-F5344CB8AC3E}">
        <p14:creationId xmlns:p14="http://schemas.microsoft.com/office/powerpoint/2010/main" val="2920056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Testing involves a spot-check approach</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Testing is often understood as spot-check </a:t>
            </a:r>
            <a:r>
              <a:rPr lang="en-US" dirty="0" smtClean="0">
                <a:latin typeface="Times New Roman" panose="02020603050405020304" pitchFamily="18" charset="0"/>
                <a:cs typeface="Times New Roman" panose="02020603050405020304" pitchFamily="18" charset="0"/>
              </a:rPr>
              <a:t>execution </a:t>
            </a:r>
            <a:r>
              <a:rPr lang="en-US" dirty="0">
                <a:latin typeface="Times New Roman" panose="02020603050405020304" pitchFamily="18" charset="0"/>
                <a:cs typeface="Times New Roman" panose="02020603050405020304" pitchFamily="18" charset="0"/>
              </a:rPr>
              <a:t>of the software in question (the test object) on a </a:t>
            </a:r>
            <a:r>
              <a:rPr lang="en-US" dirty="0" smtClean="0">
                <a:latin typeface="Times New Roman" panose="02020603050405020304" pitchFamily="18" charset="0"/>
                <a:cs typeface="Times New Roman" panose="02020603050405020304" pitchFamily="18" charset="0"/>
              </a:rPr>
              <a:t>computer.</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test object is fed with test data covering various test cases and is then executed</a:t>
            </a:r>
          </a:p>
        </p:txBody>
      </p:sp>
      <p:sp>
        <p:nvSpPr>
          <p:cNvPr id="4" name="Slide Number Placeholder 3"/>
          <p:cNvSpPr>
            <a:spLocks noGrp="1"/>
          </p:cNvSpPr>
          <p:nvPr>
            <p:ph type="sldNum" sz="quarter" idx="12"/>
          </p:nvPr>
        </p:nvSpPr>
        <p:spPr/>
        <p:txBody>
          <a:bodyPr/>
          <a:lstStyle/>
          <a:p>
            <a:fld id="{FEFE5490-7C78-454F-98DE-D1826F8CB872}" type="slidenum">
              <a:rPr lang="en-US" smtClean="0"/>
              <a:t>7</a:t>
            </a:fld>
            <a:endParaRPr lang="en-US"/>
          </a:p>
        </p:txBody>
      </p:sp>
    </p:spTree>
    <p:extLst>
      <p:ext uri="{BB962C8B-B14F-4D97-AF65-F5344CB8AC3E}">
        <p14:creationId xmlns:p14="http://schemas.microsoft.com/office/powerpoint/2010/main" val="3678182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Testing involves more than just executing tests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Involves a range of separate activities: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Performing test</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Checking results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Test planning</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Test analysis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Design &amp; Implementation of test cases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Writing reports on test progress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Risk analysis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8</a:t>
            </a:fld>
            <a:endParaRPr lang="en-US"/>
          </a:p>
        </p:txBody>
      </p:sp>
    </p:spTree>
    <p:extLst>
      <p:ext uri="{BB962C8B-B14F-4D97-AF65-F5344CB8AC3E}">
        <p14:creationId xmlns:p14="http://schemas.microsoft.com/office/powerpoint/2010/main" val="3342505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No large system is fault-free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Software </a:t>
            </a:r>
            <a:r>
              <a:rPr lang="en-US" dirty="0">
                <a:latin typeface="Times New Roman" panose="02020603050405020304" pitchFamily="18" charset="0"/>
                <a:cs typeface="Times New Roman" panose="02020603050405020304" pitchFamily="18" charset="0"/>
              </a:rPr>
              <a:t>systems go live, even though faults still occur for certain combinations of input </a:t>
            </a:r>
            <a:r>
              <a:rPr lang="en-US" dirty="0" smtClean="0">
                <a:latin typeface="Times New Roman" panose="02020603050405020304" pitchFamily="18" charset="0"/>
                <a:cs typeface="Times New Roman" panose="02020603050405020304" pitchFamily="18" charset="0"/>
              </a:rPr>
              <a:t>data</a:t>
            </a:r>
          </a:p>
          <a:p>
            <a:pPr algn="just"/>
            <a:r>
              <a:rPr lang="en-US" dirty="0">
                <a:latin typeface="Times New Roman" panose="02020603050405020304" pitchFamily="18" charset="0"/>
                <a:cs typeface="Times New Roman" panose="02020603050405020304" pitchFamily="18" charset="0"/>
              </a:rPr>
              <a:t>Y</a:t>
            </a:r>
            <a:r>
              <a:rPr lang="en-US" dirty="0" smtClean="0">
                <a:latin typeface="Times New Roman" panose="02020603050405020304" pitchFamily="18" charset="0"/>
                <a:cs typeface="Times New Roman" panose="02020603050405020304" pitchFamily="18" charset="0"/>
              </a:rPr>
              <a:t>ou </a:t>
            </a:r>
            <a:r>
              <a:rPr lang="en-US" dirty="0">
                <a:latin typeface="Times New Roman" panose="02020603050405020304" pitchFamily="18" charset="0"/>
                <a:cs typeface="Times New Roman" panose="02020603050405020304" pitchFamily="18" charset="0"/>
              </a:rPr>
              <a:t>cannot be sure that additional tests won’t reveal previously undiscovered faults</a:t>
            </a:r>
          </a:p>
        </p:txBody>
      </p:sp>
      <p:sp>
        <p:nvSpPr>
          <p:cNvPr id="4" name="Slide Number Placeholder 3"/>
          <p:cNvSpPr>
            <a:spLocks noGrp="1"/>
          </p:cNvSpPr>
          <p:nvPr>
            <p:ph type="sldNum" sz="quarter" idx="12"/>
          </p:nvPr>
        </p:nvSpPr>
        <p:spPr/>
        <p:txBody>
          <a:bodyPr/>
          <a:lstStyle/>
          <a:p>
            <a:fld id="{FEFE5490-7C78-454F-98DE-D1826F8CB872}" type="slidenum">
              <a:rPr lang="en-US" smtClean="0"/>
              <a:t>9</a:t>
            </a:fld>
            <a:endParaRPr lang="en-US"/>
          </a:p>
        </p:txBody>
      </p:sp>
    </p:spTree>
    <p:extLst>
      <p:ext uri="{BB962C8B-B14F-4D97-AF65-F5344CB8AC3E}">
        <p14:creationId xmlns:p14="http://schemas.microsoft.com/office/powerpoint/2010/main" val="2389701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Defect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Failure </a:t>
            </a:r>
            <a:r>
              <a:rPr lang="en-US" dirty="0">
                <a:latin typeface="Times New Roman" panose="02020603050405020304" pitchFamily="18" charset="0"/>
                <a:cs typeface="Times New Roman" panose="02020603050405020304" pitchFamily="18" charset="0"/>
              </a:rPr>
              <a:t>to fulfill a predefined requirement, or a discrepancy between the actual behavior (at run time or while testing) and the expected behavior (as defined in the specifications, the requirements, or the user stories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does the system’s behavior fail to conform to its actual requirements?</a:t>
            </a:r>
          </a:p>
        </p:txBody>
      </p:sp>
      <p:sp>
        <p:nvSpPr>
          <p:cNvPr id="4" name="Slide Number Placeholder 3"/>
          <p:cNvSpPr>
            <a:spLocks noGrp="1"/>
          </p:cNvSpPr>
          <p:nvPr>
            <p:ph type="sldNum" sz="quarter" idx="12"/>
          </p:nvPr>
        </p:nvSpPr>
        <p:spPr/>
        <p:txBody>
          <a:bodyPr/>
          <a:lstStyle/>
          <a:p>
            <a:fld id="{FEFE5490-7C78-454F-98DE-D1826F8CB872}" type="slidenum">
              <a:rPr lang="en-US" smtClean="0"/>
              <a:t>10</a:t>
            </a:fld>
            <a:endParaRPr lang="en-US"/>
          </a:p>
        </p:txBody>
      </p:sp>
    </p:spTree>
    <p:extLst>
      <p:ext uri="{BB962C8B-B14F-4D97-AF65-F5344CB8AC3E}">
        <p14:creationId xmlns:p14="http://schemas.microsoft.com/office/powerpoint/2010/main" val="26728322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Fault causes failure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Failure </a:t>
            </a:r>
            <a:r>
              <a:rPr lang="en-US" dirty="0">
                <a:latin typeface="Times New Roman" panose="02020603050405020304" pitchFamily="18" charset="0"/>
                <a:cs typeface="Times New Roman" panose="02020603050405020304" pitchFamily="18" charset="0"/>
              </a:rPr>
              <a:t>is caused by a fault in the software, and the resulting condition is considered to be a </a:t>
            </a:r>
            <a:r>
              <a:rPr lang="en-US" dirty="0" smtClean="0">
                <a:latin typeface="Times New Roman" panose="02020603050405020304" pitchFamily="18" charset="0"/>
                <a:cs typeface="Times New Roman" panose="02020603050405020304" pitchFamily="18" charset="0"/>
              </a:rPr>
              <a:t>defect.</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word “bug” is also used to describe defects that result from coding errors, such as an incorrectly programmed or forgotten instruction in the </a:t>
            </a:r>
            <a:r>
              <a:rPr lang="en-US" dirty="0" smtClean="0">
                <a:latin typeface="Times New Roman" panose="02020603050405020304" pitchFamily="18" charset="0"/>
                <a:cs typeface="Times New Roman" panose="02020603050405020304" pitchFamily="18" charset="0"/>
              </a:rPr>
              <a:t>code</a:t>
            </a:r>
          </a:p>
          <a:p>
            <a:pPr algn="just"/>
            <a:r>
              <a:rPr lang="en-US" dirty="0">
                <a:latin typeface="Times New Roman" panose="02020603050405020304" pitchFamily="18" charset="0"/>
                <a:cs typeface="Times New Roman" panose="02020603050405020304" pitchFamily="18" charset="0"/>
              </a:rPr>
              <a:t>A fault is always the result of an error or a mistake made by a person—for example, due to a programming error at the development stage</a:t>
            </a:r>
          </a:p>
        </p:txBody>
      </p:sp>
      <p:sp>
        <p:nvSpPr>
          <p:cNvPr id="4" name="Slide Number Placeholder 3"/>
          <p:cNvSpPr>
            <a:spLocks noGrp="1"/>
          </p:cNvSpPr>
          <p:nvPr>
            <p:ph type="sldNum" sz="quarter" idx="12"/>
          </p:nvPr>
        </p:nvSpPr>
        <p:spPr/>
        <p:txBody>
          <a:bodyPr/>
          <a:lstStyle/>
          <a:p>
            <a:fld id="{FEFE5490-7C78-454F-98DE-D1826F8CB872}" type="slidenum">
              <a:rPr lang="en-US" smtClean="0"/>
              <a:t>11</a:t>
            </a:fld>
            <a:endParaRPr lang="en-US"/>
          </a:p>
        </p:txBody>
      </p:sp>
    </p:spTree>
    <p:extLst>
      <p:ext uri="{BB962C8B-B14F-4D97-AF65-F5344CB8AC3E}">
        <p14:creationId xmlns:p14="http://schemas.microsoft.com/office/powerpoint/2010/main" val="36117619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12</a:t>
            </a:fld>
            <a:endParaRPr lang="en-US"/>
          </a:p>
        </p:txBody>
      </p:sp>
      <p:pic>
        <p:nvPicPr>
          <p:cNvPr id="5" name="Picture 4"/>
          <p:cNvPicPr>
            <a:picLocks noChangeAspect="1"/>
          </p:cNvPicPr>
          <p:nvPr/>
        </p:nvPicPr>
        <p:blipFill>
          <a:blip r:embed="rId2"/>
          <a:stretch>
            <a:fillRect/>
          </a:stretch>
        </p:blipFill>
        <p:spPr>
          <a:xfrm>
            <a:off x="2402581" y="782124"/>
            <a:ext cx="6982799" cy="5229955"/>
          </a:xfrm>
          <a:prstGeom prst="rect">
            <a:avLst/>
          </a:prstGeom>
        </p:spPr>
      </p:pic>
    </p:spTree>
    <p:extLst>
      <p:ext uri="{BB962C8B-B14F-4D97-AF65-F5344CB8AC3E}">
        <p14:creationId xmlns:p14="http://schemas.microsoft.com/office/powerpoint/2010/main" val="1659116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People makes errors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Some typical causes of error are:</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Time pressure</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Complexity</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Misunderstanding b/w participants, different interpretation</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Technologies previously unknown to project participants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Lack of participants training, inexperience team members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13</a:t>
            </a:fld>
            <a:endParaRPr lang="en-US"/>
          </a:p>
        </p:txBody>
      </p:sp>
    </p:spTree>
    <p:extLst>
      <p:ext uri="{BB962C8B-B14F-4D97-AF65-F5344CB8AC3E}">
        <p14:creationId xmlns:p14="http://schemas.microsoft.com/office/powerpoint/2010/main" val="20990495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False positive vs false negative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test will indicate a failure even though the underlying fault (or its cause) isn’t part of the test object. Such a result is known as a “false positive</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failure doesn’t occur even though testing should reveal its presence. This type of result is known as a “false </a:t>
            </a:r>
            <a:r>
              <a:rPr lang="en-US" dirty="0" smtClean="0">
                <a:latin typeface="Times New Roman" panose="02020603050405020304" pitchFamily="18" charset="0"/>
                <a:cs typeface="Times New Roman" panose="02020603050405020304" pitchFamily="18" charset="0"/>
              </a:rPr>
              <a:t>negative”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14</a:t>
            </a:fld>
            <a:endParaRPr lang="en-US"/>
          </a:p>
        </p:txBody>
      </p:sp>
    </p:spTree>
    <p:extLst>
      <p:ext uri="{BB962C8B-B14F-4D97-AF65-F5344CB8AC3E}">
        <p14:creationId xmlns:p14="http://schemas.microsoft.com/office/powerpoint/2010/main" val="4631827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15</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543287363"/>
              </p:ext>
            </p:extLst>
          </p:nvPr>
        </p:nvGraphicFramePr>
        <p:xfrm>
          <a:off x="2149772" y="357515"/>
          <a:ext cx="8127999" cy="625034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31612560"/>
                    </a:ext>
                  </a:extLst>
                </a:gridCol>
                <a:gridCol w="2709333">
                  <a:extLst>
                    <a:ext uri="{9D8B030D-6E8A-4147-A177-3AD203B41FA5}">
                      <a16:colId xmlns:a16="http://schemas.microsoft.com/office/drawing/2014/main" val="3269552364"/>
                    </a:ext>
                  </a:extLst>
                </a:gridCol>
                <a:gridCol w="2709333">
                  <a:extLst>
                    <a:ext uri="{9D8B030D-6E8A-4147-A177-3AD203B41FA5}">
                      <a16:colId xmlns:a16="http://schemas.microsoft.com/office/drawing/2014/main" val="453133255"/>
                    </a:ext>
                  </a:extLst>
                </a:gridCol>
              </a:tblGrid>
              <a:tr h="453893">
                <a:tc>
                  <a:txBody>
                    <a:bodyPr/>
                    <a:lstStyle/>
                    <a:p>
                      <a:r>
                        <a:rPr lang="en-US" dirty="0" smtClean="0">
                          <a:latin typeface="Times New Roman" panose="02020603050405020304" pitchFamily="18" charset="0"/>
                          <a:cs typeface="Times New Roman" panose="02020603050405020304" pitchFamily="18" charset="0"/>
                        </a:rPr>
                        <a:t>Aspect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Verification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Validation</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2554681"/>
                  </a:ext>
                </a:extLst>
              </a:tr>
              <a:tr h="1119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What it checks?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Are we building product correctly</a:t>
                      </a:r>
                    </a:p>
                    <a:p>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Are</a:t>
                      </a:r>
                      <a:r>
                        <a:rPr lang="en-US" baseline="0" dirty="0" smtClean="0">
                          <a:latin typeface="Times New Roman" panose="02020603050405020304" pitchFamily="18" charset="0"/>
                          <a:cs typeface="Times New Roman" panose="02020603050405020304" pitchFamily="18" charset="0"/>
                        </a:rPr>
                        <a:t> we building the right product?</a:t>
                      </a:r>
                    </a:p>
                  </a:txBody>
                  <a:tcPr/>
                </a:tc>
                <a:extLst>
                  <a:ext uri="{0D108BD9-81ED-4DB2-BD59-A6C34878D82A}">
                    <a16:rowId xmlns:a16="http://schemas.microsoft.com/office/drawing/2014/main" val="1495626986"/>
                  </a:ext>
                </a:extLst>
              </a:tr>
              <a:tr h="1454950">
                <a:tc>
                  <a:txBody>
                    <a:bodyPr/>
                    <a:lstStyle/>
                    <a:p>
                      <a:r>
                        <a:rPr lang="en-US" dirty="0" smtClean="0">
                          <a:latin typeface="Times New Roman" panose="02020603050405020304" pitchFamily="18" charset="0"/>
                          <a:cs typeface="Times New Roman" panose="02020603050405020304" pitchFamily="18" charset="0"/>
                        </a:rPr>
                        <a:t>Focus</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Process-oriented (checks documentation, design, and code before</a:t>
                      </a:r>
                      <a:r>
                        <a:rPr lang="en-US" baseline="0" dirty="0" smtClean="0">
                          <a:latin typeface="Times New Roman" panose="02020603050405020304" pitchFamily="18" charset="0"/>
                          <a:cs typeface="Times New Roman" panose="02020603050405020304" pitchFamily="18" charset="0"/>
                        </a:rPr>
                        <a:t> execution)</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Product-oriented (checks actual product</a:t>
                      </a:r>
                      <a:r>
                        <a:rPr lang="en-US" baseline="0" dirty="0" smtClean="0">
                          <a:latin typeface="Times New Roman" panose="02020603050405020304" pitchFamily="18" charset="0"/>
                          <a:cs typeface="Times New Roman" panose="02020603050405020304" pitchFamily="18" charset="0"/>
                        </a:rPr>
                        <a:t> after execution)</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0219501"/>
                  </a:ext>
                </a:extLst>
              </a:tr>
              <a:tr h="1119193">
                <a:tc>
                  <a:txBody>
                    <a:bodyPr/>
                    <a:lstStyle/>
                    <a:p>
                      <a:r>
                        <a:rPr lang="en-US" dirty="0" smtClean="0">
                          <a:latin typeface="Times New Roman" panose="02020603050405020304" pitchFamily="18" charset="0"/>
                          <a:cs typeface="Times New Roman" panose="02020603050405020304" pitchFamily="18" charset="0"/>
                        </a:rPr>
                        <a:t>When</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Before implementation</a:t>
                      </a:r>
                      <a:r>
                        <a:rPr lang="en-US" baseline="0" dirty="0" smtClean="0">
                          <a:latin typeface="Times New Roman" panose="02020603050405020304" pitchFamily="18" charset="0"/>
                          <a:cs typeface="Times New Roman" panose="02020603050405020304" pitchFamily="18" charset="0"/>
                        </a:rPr>
                        <a:t> (Static Testing)</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After implementation</a:t>
                      </a:r>
                      <a:r>
                        <a:rPr lang="en-US" baseline="0" dirty="0" smtClean="0">
                          <a:latin typeface="Times New Roman" panose="02020603050405020304" pitchFamily="18" charset="0"/>
                          <a:cs typeface="Times New Roman" panose="02020603050405020304" pitchFamily="18" charset="0"/>
                        </a:rPr>
                        <a:t> (Dynamic Testing)</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2183068"/>
                  </a:ext>
                </a:extLst>
              </a:tr>
              <a:tr h="754381">
                <a:tc>
                  <a:txBody>
                    <a:bodyPr/>
                    <a:lstStyle/>
                    <a:p>
                      <a:r>
                        <a:rPr lang="en-US" dirty="0" smtClean="0">
                          <a:latin typeface="Times New Roman" panose="02020603050405020304" pitchFamily="18" charset="0"/>
                          <a:cs typeface="Times New Roman" panose="02020603050405020304" pitchFamily="18" charset="0"/>
                        </a:rPr>
                        <a:t>How</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Reviews, inspections, walkthroughs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Functional testing, system testing, UAT (User Acceptance Testing)</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242571"/>
                  </a:ext>
                </a:extLst>
              </a:tr>
              <a:tr h="453895">
                <a:tc>
                  <a:txBody>
                    <a:bodyPr/>
                    <a:lstStyle/>
                    <a:p>
                      <a:r>
                        <a:rPr lang="en-US" dirty="0" smtClean="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Checking a software design document to ensure all requirements are covered before coding</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smtClean="0">
                          <a:latin typeface="Times New Roman" panose="02020603050405020304" pitchFamily="18" charset="0"/>
                          <a:cs typeface="Times New Roman" panose="02020603050405020304" pitchFamily="18" charset="0"/>
                        </a:rPr>
                        <a:t>Testing the developed software to see if it meets customer needs and works as expected</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4509244"/>
                  </a:ext>
                </a:extLst>
              </a:tr>
            </a:tbl>
          </a:graphicData>
        </a:graphic>
      </p:graphicFrame>
    </p:spTree>
    <p:extLst>
      <p:ext uri="{BB962C8B-B14F-4D97-AF65-F5344CB8AC3E}">
        <p14:creationId xmlns:p14="http://schemas.microsoft.com/office/powerpoint/2010/main" val="8186127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anose="02020603050405020304" pitchFamily="18" charset="0"/>
                <a:cs typeface="Times New Roman" panose="02020603050405020304" pitchFamily="18" charset="0"/>
              </a:rPr>
              <a:t>Case study: vague requirements as a cause of software fault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Interest </a:t>
            </a:r>
            <a:r>
              <a:rPr lang="en-US" dirty="0">
                <a:latin typeface="Times New Roman" panose="02020603050405020304" pitchFamily="18" charset="0"/>
                <a:cs typeface="Times New Roman" panose="02020603050405020304" pitchFamily="18" charset="0"/>
              </a:rPr>
              <a:t>rate the system uses is stored in a table, although the purchase of vehicles involved in promotions and special offers can be subject to differing interest rates. VSR-II is to include the following additional </a:t>
            </a:r>
            <a:r>
              <a:rPr lang="en-US" dirty="0" smtClean="0">
                <a:latin typeface="Times New Roman" panose="02020603050405020304" pitchFamily="18" charset="0"/>
                <a:cs typeface="Times New Roman" panose="02020603050405020304" pitchFamily="18" charset="0"/>
              </a:rPr>
              <a:t>requirement:</a:t>
            </a:r>
          </a:p>
          <a:p>
            <a:pPr algn="just"/>
            <a:r>
              <a:rPr lang="en-US" b="1" dirty="0" smtClean="0">
                <a:latin typeface="Times New Roman" panose="02020603050405020304" pitchFamily="18" charset="0"/>
                <a:cs typeface="Times New Roman" panose="02020603050405020304" pitchFamily="18" charset="0"/>
              </a:rPr>
              <a:t>REQ</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If the customer agrees to and passes an online credit check, the </a:t>
            </a:r>
            <a:r>
              <a:rPr lang="en-US" i="1" u="sng" dirty="0">
                <a:latin typeface="Times New Roman" panose="02020603050405020304" pitchFamily="18" charset="0"/>
                <a:cs typeface="Times New Roman" panose="02020603050405020304" pitchFamily="18" charset="0"/>
              </a:rPr>
              <a:t>EasyFinance</a:t>
            </a:r>
            <a:r>
              <a:rPr lang="en-US" i="1" dirty="0">
                <a:latin typeface="Times New Roman" panose="02020603050405020304" pitchFamily="18" charset="0"/>
                <a:cs typeface="Times New Roman" panose="02020603050405020304" pitchFamily="18" charset="0"/>
              </a:rPr>
              <a:t> module applies an interest rate from a special bonus interest rate </a:t>
            </a:r>
            <a:r>
              <a:rPr lang="en-US" i="1" dirty="0" smtClean="0">
                <a:latin typeface="Times New Roman" panose="02020603050405020304" pitchFamily="18" charset="0"/>
                <a:cs typeface="Times New Roman" panose="02020603050405020304" pitchFamily="18" charset="0"/>
              </a:rPr>
              <a:t>table.</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author of this requirement unfortunately forgot to clarify that a reduction in the interest rate is not permissible for vehicles sold as part of a special offer. This resulted in this special case not being tested in the first release. In turn, this meant that customers were offered low interest rates online but were charged higher rates when billed, resulting in complaints.</a:t>
            </a:r>
          </a:p>
        </p:txBody>
      </p:sp>
      <p:sp>
        <p:nvSpPr>
          <p:cNvPr id="4" name="Slide Number Placeholder 3"/>
          <p:cNvSpPr>
            <a:spLocks noGrp="1"/>
          </p:cNvSpPr>
          <p:nvPr>
            <p:ph type="sldNum" sz="quarter" idx="12"/>
          </p:nvPr>
        </p:nvSpPr>
        <p:spPr/>
        <p:txBody>
          <a:bodyPr/>
          <a:lstStyle/>
          <a:p>
            <a:fld id="{FEFE5490-7C78-454F-98DE-D1826F8CB872}" type="slidenum">
              <a:rPr lang="en-US" smtClean="0"/>
              <a:t>16</a:t>
            </a:fld>
            <a:endParaRPr lang="en-US"/>
          </a:p>
        </p:txBody>
      </p:sp>
    </p:spTree>
    <p:extLst>
      <p:ext uri="{BB962C8B-B14F-4D97-AF65-F5344CB8AC3E}">
        <p14:creationId xmlns:p14="http://schemas.microsoft.com/office/powerpoint/2010/main" val="30452871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anose="02020603050405020304" pitchFamily="18" charset="0"/>
                <a:cs typeface="Times New Roman" panose="02020603050405020304" pitchFamily="18" charset="0"/>
              </a:rPr>
              <a:t>Testing is not debugging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Debugging is usually performed by developer while testing by a professional tester, while these roles can switch in a certain development methodology</a:t>
            </a:r>
          </a:p>
          <a:p>
            <a:pPr algn="just"/>
            <a:r>
              <a:rPr lang="en-US" dirty="0" smtClean="0">
                <a:latin typeface="Times New Roman" panose="02020603050405020304" pitchFamily="18" charset="0"/>
                <a:cs typeface="Times New Roman" panose="02020603050405020304" pitchFamily="18" charset="0"/>
              </a:rPr>
              <a:t>Debugging is about find the exact line # of code (location) of error</a:t>
            </a:r>
          </a:p>
          <a:p>
            <a:pPr algn="just"/>
            <a:r>
              <a:rPr lang="en-US" dirty="0" smtClean="0">
                <a:latin typeface="Times New Roman" panose="02020603050405020304" pitchFamily="18" charset="0"/>
                <a:cs typeface="Times New Roman" panose="02020603050405020304" pitchFamily="18" charset="0"/>
              </a:rPr>
              <a:t>Finding and correcting faults is debugging</a:t>
            </a:r>
          </a:p>
          <a:p>
            <a:pPr algn="just"/>
            <a:r>
              <a:rPr lang="en-US" dirty="0" smtClean="0">
                <a:latin typeface="Times New Roman" panose="02020603050405020304" pitchFamily="18" charset="0"/>
                <a:cs typeface="Times New Roman" panose="02020603050405020304" pitchFamily="18" charset="0"/>
              </a:rPr>
              <a:t>Debugging pinpoints software faults, testing is used to reveal effect of fault causes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17</a:t>
            </a:fld>
            <a:endParaRPr lang="en-US"/>
          </a:p>
        </p:txBody>
      </p:sp>
    </p:spTree>
    <p:extLst>
      <p:ext uri="{BB962C8B-B14F-4D97-AF65-F5344CB8AC3E}">
        <p14:creationId xmlns:p14="http://schemas.microsoft.com/office/powerpoint/2010/main" val="11720132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anose="02020603050405020304" pitchFamily="18" charset="0"/>
                <a:cs typeface="Times New Roman" panose="02020603050405020304" pitchFamily="18" charset="0"/>
              </a:rPr>
              <a:t>Confirmation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Tests used to check that a fault has been successfully </a:t>
            </a:r>
            <a:r>
              <a:rPr lang="en-US" dirty="0" smtClean="0">
                <a:latin typeface="Times New Roman" panose="02020603050405020304" pitchFamily="18" charset="0"/>
                <a:cs typeface="Times New Roman" panose="02020603050405020304" pitchFamily="18" charset="0"/>
              </a:rPr>
              <a:t>remedied</a:t>
            </a:r>
          </a:p>
          <a:p>
            <a:pPr algn="just"/>
            <a:r>
              <a:rPr lang="en-US" dirty="0" smtClean="0">
                <a:latin typeface="Times New Roman" panose="02020603050405020304" pitchFamily="18" charset="0"/>
                <a:cs typeface="Times New Roman" panose="02020603050405020304" pitchFamily="18" charset="0"/>
              </a:rPr>
              <a:t>Fault </a:t>
            </a:r>
            <a:r>
              <a:rPr lang="en-US" dirty="0">
                <a:latin typeface="Times New Roman" panose="02020603050405020304" pitchFamily="18" charset="0"/>
                <a:cs typeface="Times New Roman" panose="02020603050405020304" pitchFamily="18" charset="0"/>
              </a:rPr>
              <a:t>correction often leads to the creation of new faults that are only revealed when completely new input scenarios are </a:t>
            </a:r>
            <a:r>
              <a:rPr lang="en-US" dirty="0" smtClean="0">
                <a:latin typeface="Times New Roman" panose="02020603050405020304" pitchFamily="18" charset="0"/>
                <a:cs typeface="Times New Roman" panose="02020603050405020304" pitchFamily="18" charset="0"/>
              </a:rPr>
              <a:t>used</a:t>
            </a:r>
          </a:p>
          <a:p>
            <a:pPr algn="just"/>
            <a:r>
              <a:rPr lang="en-US" dirty="0" smtClean="0">
                <a:latin typeface="Times New Roman" panose="02020603050405020304" pitchFamily="18" charset="0"/>
                <a:cs typeface="Times New Roman" panose="02020603050405020304" pitchFamily="18" charset="0"/>
              </a:rPr>
              <a:t>Need </a:t>
            </a:r>
            <a:r>
              <a:rPr lang="en-US" dirty="0">
                <a:latin typeface="Times New Roman" panose="02020603050405020304" pitchFamily="18" charset="0"/>
                <a:cs typeface="Times New Roman" panose="02020603050405020304" pitchFamily="18" charset="0"/>
              </a:rPr>
              <a:t>to write new tests that check for unwanted side effects of the correction process</a:t>
            </a:r>
          </a:p>
        </p:txBody>
      </p:sp>
      <p:sp>
        <p:nvSpPr>
          <p:cNvPr id="4" name="Slide Number Placeholder 3"/>
          <p:cNvSpPr>
            <a:spLocks noGrp="1"/>
          </p:cNvSpPr>
          <p:nvPr>
            <p:ph type="sldNum" sz="quarter" idx="12"/>
          </p:nvPr>
        </p:nvSpPr>
        <p:spPr/>
        <p:txBody>
          <a:bodyPr/>
          <a:lstStyle/>
          <a:p>
            <a:fld id="{FEFE5490-7C78-454F-98DE-D1826F8CB872}" type="slidenum">
              <a:rPr lang="en-US" smtClean="0"/>
              <a:t>18</a:t>
            </a:fld>
            <a:endParaRPr lang="en-US"/>
          </a:p>
        </p:txBody>
      </p:sp>
    </p:spTree>
    <p:extLst>
      <p:ext uri="{BB962C8B-B14F-4D97-AF65-F5344CB8AC3E}">
        <p14:creationId xmlns:p14="http://schemas.microsoft.com/office/powerpoint/2010/main" val="7627763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anose="02020603050405020304" pitchFamily="18" charset="0"/>
                <a:cs typeface="Times New Roman" panose="02020603050405020304" pitchFamily="18" charset="0"/>
              </a:rPr>
              <a:t>Objectives of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Qualitative evaluation of work product</a:t>
            </a:r>
          </a:p>
          <a:p>
            <a:pPr algn="just"/>
            <a:r>
              <a:rPr lang="en-US" dirty="0">
                <a:latin typeface="Times New Roman" panose="02020603050405020304" pitchFamily="18" charset="0"/>
                <a:cs typeface="Times New Roman" panose="02020603050405020304" pitchFamily="18" charset="0"/>
              </a:rPr>
              <a:t>Prove that all specific requirements have been completely implemented and that the test object functions as expected for the users and other </a:t>
            </a:r>
            <a:r>
              <a:rPr lang="en-US" dirty="0" smtClean="0">
                <a:latin typeface="Times New Roman" panose="02020603050405020304" pitchFamily="18" charset="0"/>
                <a:cs typeface="Times New Roman" panose="02020603050405020304" pitchFamily="18" charset="0"/>
              </a:rPr>
              <a:t>stakeholders</a:t>
            </a:r>
          </a:p>
          <a:p>
            <a:r>
              <a:rPr lang="en-US" dirty="0" smtClean="0">
                <a:latin typeface="Times New Roman" panose="02020603050405020304" pitchFamily="18" charset="0"/>
                <a:cs typeface="Times New Roman" panose="02020603050405020304" pitchFamily="18" charset="0"/>
              </a:rPr>
              <a:t>Level </a:t>
            </a:r>
            <a:r>
              <a:rPr lang="en-US" dirty="0">
                <a:latin typeface="Times New Roman" panose="02020603050405020304" pitchFamily="18" charset="0"/>
                <a:cs typeface="Times New Roman" panose="02020603050405020304" pitchFamily="18" charset="0"/>
              </a:rPr>
              <a:t>of quality-related risk can be reduced through identification and correction of software </a:t>
            </a:r>
            <a:r>
              <a:rPr lang="en-US" dirty="0" smtClean="0">
                <a:latin typeface="Times New Roman" panose="02020603050405020304" pitchFamily="18" charset="0"/>
                <a:cs typeface="Times New Roman" panose="02020603050405020304" pitchFamily="18" charset="0"/>
              </a:rPr>
              <a:t>failures</a:t>
            </a:r>
          </a:p>
          <a:p>
            <a:pPr algn="just"/>
            <a:r>
              <a:rPr lang="en-US" dirty="0">
                <a:latin typeface="Times New Roman" panose="02020603050405020304" pitchFamily="18" charset="0"/>
                <a:cs typeface="Times New Roman" panose="02020603050405020304" pitchFamily="18" charset="0"/>
              </a:rPr>
              <a:t>Analysis of the program and its documentation in order to avoid unwanted faults, and to document and remedy known </a:t>
            </a:r>
            <a:r>
              <a:rPr lang="en-US" dirty="0" smtClean="0">
                <a:latin typeface="Times New Roman" panose="02020603050405020304" pitchFamily="18" charset="0"/>
                <a:cs typeface="Times New Roman" panose="02020603050405020304" pitchFamily="18" charset="0"/>
              </a:rPr>
              <a:t>ones</a:t>
            </a:r>
          </a:p>
          <a:p>
            <a:pPr algn="just"/>
            <a:r>
              <a:rPr lang="en-US" dirty="0">
                <a:latin typeface="Times New Roman" panose="02020603050405020304" pitchFamily="18" charset="0"/>
                <a:cs typeface="Times New Roman" panose="02020603050405020304" pitchFamily="18" charset="0"/>
              </a:rPr>
              <a:t>Analyze and execute the program in order to reproduce known </a:t>
            </a:r>
            <a:r>
              <a:rPr lang="en-US" dirty="0" smtClean="0">
                <a:latin typeface="Times New Roman" panose="02020603050405020304" pitchFamily="18" charset="0"/>
                <a:cs typeface="Times New Roman" panose="02020603050405020304" pitchFamily="18" charset="0"/>
              </a:rPr>
              <a:t>failures</a:t>
            </a:r>
          </a:p>
          <a:p>
            <a:pPr algn="just"/>
            <a:r>
              <a:rPr lang="en-US" dirty="0">
                <a:latin typeface="Times New Roman" panose="02020603050405020304" pitchFamily="18" charset="0"/>
                <a:cs typeface="Times New Roman" panose="02020603050405020304" pitchFamily="18" charset="0"/>
              </a:rPr>
              <a:t>Demonstrate that the test object adheres and/or conforms to the necessary contractual, legal and regulatory requirements and standards</a:t>
            </a:r>
          </a:p>
        </p:txBody>
      </p:sp>
      <p:sp>
        <p:nvSpPr>
          <p:cNvPr id="4" name="Slide Number Placeholder 3"/>
          <p:cNvSpPr>
            <a:spLocks noGrp="1"/>
          </p:cNvSpPr>
          <p:nvPr>
            <p:ph type="sldNum" sz="quarter" idx="12"/>
          </p:nvPr>
        </p:nvSpPr>
        <p:spPr/>
        <p:txBody>
          <a:bodyPr/>
          <a:lstStyle/>
          <a:p>
            <a:fld id="{FEFE5490-7C78-454F-98DE-D1826F8CB872}" type="slidenum">
              <a:rPr lang="en-US" smtClean="0"/>
              <a:t>19</a:t>
            </a:fld>
            <a:endParaRPr lang="en-US"/>
          </a:p>
        </p:txBody>
      </p:sp>
    </p:spTree>
    <p:extLst>
      <p:ext uri="{BB962C8B-B14F-4D97-AF65-F5344CB8AC3E}">
        <p14:creationId xmlns:p14="http://schemas.microsoft.com/office/powerpoint/2010/main" val="41305338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terminologies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smtClean="0">
                <a:latin typeface="Times New Roman" panose="02020603050405020304" pitchFamily="18" charset="0"/>
                <a:cs typeface="Times New Roman" panose="02020603050405020304" pitchFamily="18" charset="0"/>
              </a:rPr>
              <a:t>Test Artifact:</a:t>
            </a:r>
            <a:r>
              <a:rPr lang="en-US" dirty="0" smtClean="0">
                <a:latin typeface="Times New Roman" panose="02020603050405020304" pitchFamily="18" charset="0"/>
                <a:cs typeface="Times New Roman" panose="02020603050405020304" pitchFamily="18" charset="0"/>
              </a:rPr>
              <a:t> Any document produced during testing process such as test plans, test summary report.</a:t>
            </a:r>
          </a:p>
          <a:p>
            <a:pPr algn="just"/>
            <a:r>
              <a:rPr lang="en-US" b="1" dirty="0" smtClean="0">
                <a:latin typeface="Times New Roman" panose="02020603050405020304" pitchFamily="18" charset="0"/>
                <a:cs typeface="Times New Roman" panose="02020603050405020304" pitchFamily="18" charset="0"/>
              </a:rPr>
              <a:t>Test Basis:</a:t>
            </a:r>
            <a:r>
              <a:rPr lang="en-US" dirty="0" smtClean="0">
                <a:latin typeface="Times New Roman" panose="02020603050405020304" pitchFamily="18" charset="0"/>
                <a:cs typeface="Times New Roman" panose="02020603050405020304" pitchFamily="18" charset="0"/>
              </a:rPr>
              <a:t> Source of information (requirement) from which test cases are derived, defines the expected behavior of test object</a:t>
            </a:r>
          </a:p>
          <a:p>
            <a:pPr algn="just"/>
            <a:r>
              <a:rPr lang="en-US" b="1" dirty="0" smtClean="0">
                <a:latin typeface="Times New Roman" panose="02020603050405020304" pitchFamily="18" charset="0"/>
                <a:cs typeface="Times New Roman" panose="02020603050405020304" pitchFamily="18" charset="0"/>
              </a:rPr>
              <a:t>Test Object:</a:t>
            </a:r>
            <a:r>
              <a:rPr lang="en-US" dirty="0" smtClean="0">
                <a:latin typeface="Times New Roman" panose="02020603050405020304" pitchFamily="18" charset="0"/>
                <a:cs typeface="Times New Roman" panose="02020603050405020304" pitchFamily="18" charset="0"/>
              </a:rPr>
              <a:t> Set of test cases covering a single module</a:t>
            </a:r>
          </a:p>
          <a:p>
            <a:pPr algn="just"/>
            <a:r>
              <a:rPr lang="en-US" b="1" dirty="0" smtClean="0">
                <a:latin typeface="Times New Roman" panose="02020603050405020304" pitchFamily="18" charset="0"/>
                <a:cs typeface="Times New Roman" panose="02020603050405020304" pitchFamily="18" charset="0"/>
              </a:rPr>
              <a:t>Test Item:</a:t>
            </a:r>
            <a:r>
              <a:rPr lang="en-US" dirty="0" smtClean="0">
                <a:latin typeface="Times New Roman" panose="02020603050405020304" pitchFamily="18" charset="0"/>
                <a:cs typeface="Times New Roman" panose="02020603050405020304" pitchFamily="18" charset="0"/>
              </a:rPr>
              <a:t> A single test case in a test object</a:t>
            </a:r>
          </a:p>
          <a:p>
            <a:pPr algn="just"/>
            <a:r>
              <a:rPr lang="en-US" b="1" dirty="0" smtClean="0">
                <a:latin typeface="Times New Roman" panose="02020603050405020304" pitchFamily="18" charset="0"/>
                <a:cs typeface="Times New Roman" panose="02020603050405020304" pitchFamily="18" charset="0"/>
              </a:rPr>
              <a:t>Test Condition:</a:t>
            </a:r>
            <a:r>
              <a:rPr lang="en-US" dirty="0" smtClean="0">
                <a:latin typeface="Times New Roman" panose="02020603050405020304" pitchFamily="18" charset="0"/>
                <a:cs typeface="Times New Roman" panose="02020603050405020304" pitchFamily="18" charset="0"/>
              </a:rPr>
              <a:t> can be checked using one or more tests, can be a function, transaction or a structural element of a component</a:t>
            </a:r>
          </a:p>
        </p:txBody>
      </p:sp>
      <p:sp>
        <p:nvSpPr>
          <p:cNvPr id="4" name="Slide Number Placeholder 3"/>
          <p:cNvSpPr>
            <a:spLocks noGrp="1"/>
          </p:cNvSpPr>
          <p:nvPr>
            <p:ph type="sldNum" sz="quarter" idx="12"/>
          </p:nvPr>
        </p:nvSpPr>
        <p:spPr/>
        <p:txBody>
          <a:bodyPr/>
          <a:lstStyle/>
          <a:p>
            <a:fld id="{FEFE5490-7C78-454F-98DE-D1826F8CB872}" type="slidenum">
              <a:rPr lang="en-US" smtClean="0"/>
              <a:t>20</a:t>
            </a:fld>
            <a:endParaRPr lang="en-US"/>
          </a:p>
        </p:txBody>
      </p:sp>
    </p:spTree>
    <p:extLst>
      <p:ext uri="{BB962C8B-B14F-4D97-AF65-F5344CB8AC3E}">
        <p14:creationId xmlns:p14="http://schemas.microsoft.com/office/powerpoint/2010/main" val="4280801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Test Run:</a:t>
            </a:r>
            <a:r>
              <a:rPr lang="en-US" dirty="0">
                <a:latin typeface="Times New Roman" panose="02020603050405020304" pitchFamily="18" charset="0"/>
                <a:cs typeface="Times New Roman" panose="02020603050405020304" pitchFamily="18" charset="0"/>
              </a:rPr>
              <a:t> Actual execution of a test case, test object is fed with test data and executed on computer</a:t>
            </a:r>
          </a:p>
          <a:p>
            <a:pPr algn="just"/>
            <a:r>
              <a:rPr lang="en-US" b="1" dirty="0">
                <a:latin typeface="Times New Roman" panose="02020603050405020304" pitchFamily="18" charset="0"/>
                <a:cs typeface="Times New Roman" panose="02020603050405020304" pitchFamily="18" charset="0"/>
              </a:rPr>
              <a:t>Test S</a:t>
            </a:r>
            <a:r>
              <a:rPr lang="en-US" b="1" dirty="0" smtClean="0">
                <a:latin typeface="Times New Roman" panose="02020603050405020304" pitchFamily="18" charset="0"/>
                <a:cs typeface="Times New Roman" panose="02020603050405020304" pitchFamily="18" charset="0"/>
              </a:rPr>
              <a:t>uite: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combined test cases that are executed in a test cycle</a:t>
            </a:r>
          </a:p>
          <a:p>
            <a:pPr algn="just"/>
            <a:r>
              <a:rPr lang="en-US" b="1" dirty="0">
                <a:latin typeface="Times New Roman" panose="02020603050405020304" pitchFamily="18" charset="0"/>
                <a:cs typeface="Times New Roman" panose="02020603050405020304" pitchFamily="18" charset="0"/>
              </a:rPr>
              <a:t>Test </a:t>
            </a:r>
            <a:r>
              <a:rPr lang="en-US" b="1" dirty="0" smtClean="0">
                <a:latin typeface="Times New Roman" panose="02020603050405020304" pitchFamily="18" charset="0"/>
                <a:cs typeface="Times New Roman" panose="02020603050405020304" pitchFamily="18" charset="0"/>
              </a:rPr>
              <a:t>Execution Schedule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Timing of test cycles when test cases will be executed and after which test case</a:t>
            </a:r>
          </a:p>
          <a:p>
            <a:pPr algn="just"/>
            <a:r>
              <a:rPr lang="en-US" b="1" dirty="0">
                <a:latin typeface="Times New Roman" panose="02020603050405020304" pitchFamily="18" charset="0"/>
                <a:cs typeface="Times New Roman" panose="02020603050405020304" pitchFamily="18" charset="0"/>
              </a:rPr>
              <a:t>Test </a:t>
            </a:r>
            <a:r>
              <a:rPr lang="en-US" b="1" dirty="0" smtClean="0">
                <a:latin typeface="Times New Roman" panose="02020603050405020304" pitchFamily="18" charset="0"/>
                <a:cs typeface="Times New Roman" panose="02020603050405020304" pitchFamily="18" charset="0"/>
              </a:rPr>
              <a:t>Logs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Test runs are logged and recorded in a test summary report</a:t>
            </a:r>
          </a:p>
          <a:p>
            <a:pPr algn="just"/>
            <a:r>
              <a:rPr lang="en-US" b="1" dirty="0">
                <a:latin typeface="Times New Roman" panose="02020603050405020304" pitchFamily="18" charset="0"/>
                <a:cs typeface="Times New Roman" panose="02020603050405020304" pitchFamily="18" charset="0"/>
              </a:rPr>
              <a:t>Test </a:t>
            </a:r>
            <a:r>
              <a:rPr lang="en-US" b="1" dirty="0" smtClean="0">
                <a:latin typeface="Times New Roman" panose="02020603050405020304" pitchFamily="18" charset="0"/>
                <a:cs typeface="Times New Roman" panose="02020603050405020304" pitchFamily="18" charset="0"/>
              </a:rPr>
              <a:t>Plan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For every test object, a test plan is prepared which defines everything required to conduct the </a:t>
            </a:r>
            <a:r>
              <a:rPr lang="en-US" dirty="0" smtClean="0">
                <a:latin typeface="Times New Roman" panose="02020603050405020304" pitchFamily="18" charset="0"/>
                <a:cs typeface="Times New Roman" panose="02020603050405020304" pitchFamily="18" charset="0"/>
              </a:rPr>
              <a:t>test</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21</a:t>
            </a:fld>
            <a:endParaRPr lang="en-US"/>
          </a:p>
        </p:txBody>
      </p:sp>
    </p:spTree>
    <p:extLst>
      <p:ext uri="{BB962C8B-B14F-4D97-AF65-F5344CB8AC3E}">
        <p14:creationId xmlns:p14="http://schemas.microsoft.com/office/powerpoint/2010/main" val="38383995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0643" y="829340"/>
            <a:ext cx="9853523" cy="5118999"/>
          </a:xfrm>
        </p:spPr>
      </p:pic>
      <p:sp>
        <p:nvSpPr>
          <p:cNvPr id="4" name="Slide Number Placeholder 3"/>
          <p:cNvSpPr>
            <a:spLocks noGrp="1"/>
          </p:cNvSpPr>
          <p:nvPr>
            <p:ph type="sldNum" sz="quarter" idx="12"/>
          </p:nvPr>
        </p:nvSpPr>
        <p:spPr/>
        <p:txBody>
          <a:bodyPr/>
          <a:lstStyle/>
          <a:p>
            <a:fld id="{FEFE5490-7C78-454F-98DE-D1826F8CB872}" type="slidenum">
              <a:rPr lang="en-US" smtClean="0"/>
              <a:t>22</a:t>
            </a:fld>
            <a:endParaRPr lang="en-US"/>
          </a:p>
        </p:txBody>
      </p:sp>
    </p:spTree>
    <p:extLst>
      <p:ext uri="{BB962C8B-B14F-4D97-AF65-F5344CB8AC3E}">
        <p14:creationId xmlns:p14="http://schemas.microsoft.com/office/powerpoint/2010/main" val="26117299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Testing effort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It is difficult to say just how much effort you should spend testing, as this depends very much on the nature of the project at </a:t>
            </a:r>
            <a:r>
              <a:rPr lang="en-US" dirty="0" smtClean="0">
                <a:latin typeface="Times New Roman" panose="02020603050405020304" pitchFamily="18" charset="0"/>
                <a:cs typeface="Times New Roman" panose="02020603050405020304" pitchFamily="18" charset="0"/>
              </a:rPr>
              <a:t>hand</a:t>
            </a:r>
          </a:p>
          <a:p>
            <a:pPr algn="just"/>
            <a:r>
              <a:rPr lang="en-US" dirty="0" smtClean="0">
                <a:latin typeface="Times New Roman" panose="02020603050405020304" pitchFamily="18" charset="0"/>
                <a:cs typeface="Times New Roman" panose="02020603050405020304" pitchFamily="18" charset="0"/>
              </a:rPr>
              <a:t>Can be specified as ratio of testers to developers (from one tester for every ten developers to three testers per developer)</a:t>
            </a:r>
          </a:p>
          <a:p>
            <a:pPr algn="just"/>
            <a:r>
              <a:rPr lang="en-US" dirty="0">
                <a:latin typeface="Times New Roman" panose="02020603050405020304" pitchFamily="18" charset="0"/>
                <a:cs typeface="Times New Roman" panose="02020603050405020304" pitchFamily="18" charset="0"/>
              </a:rPr>
              <a:t>Reasonable testing </a:t>
            </a:r>
            <a:r>
              <a:rPr lang="en-US" dirty="0" smtClean="0">
                <a:latin typeface="Times New Roman" panose="02020603050405020304" pitchFamily="18" charset="0"/>
                <a:cs typeface="Times New Roman" panose="02020603050405020304" pitchFamily="18" charset="0"/>
              </a:rPr>
              <a:t>effort </a:t>
            </a:r>
            <a:r>
              <a:rPr lang="en-US" dirty="0">
                <a:latin typeface="Times New Roman" panose="02020603050405020304" pitchFamily="18" charset="0"/>
                <a:cs typeface="Times New Roman" panose="02020603050405020304" pitchFamily="18" charset="0"/>
              </a:rPr>
              <a:t>always depends on the degree of risk involved in failure and an evaluation of the danger this </a:t>
            </a:r>
            <a:r>
              <a:rPr lang="en-US" dirty="0" smtClean="0">
                <a:latin typeface="Times New Roman" panose="02020603050405020304" pitchFamily="18" charset="0"/>
                <a:cs typeface="Times New Roman" panose="02020603050405020304" pitchFamily="18" charset="0"/>
              </a:rPr>
              <a:t>incurs</a:t>
            </a:r>
          </a:p>
          <a:p>
            <a:pPr algn="just"/>
            <a:r>
              <a:rPr lang="en-US" dirty="0" smtClean="0">
                <a:latin typeface="Times New Roman" panose="02020603050405020304" pitchFamily="18" charset="0"/>
                <a:cs typeface="Times New Roman" panose="02020603050405020304" pitchFamily="18" charset="0"/>
              </a:rPr>
              <a:t>System </a:t>
            </a:r>
            <a:r>
              <a:rPr lang="en-US" dirty="0">
                <a:latin typeface="Times New Roman" panose="02020603050405020304" pitchFamily="18" charset="0"/>
                <a:cs typeface="Times New Roman" panose="02020603050405020304" pitchFamily="18" charset="0"/>
              </a:rPr>
              <a:t>parts with a high risk have to be tested more </a:t>
            </a:r>
            <a:r>
              <a:rPr lang="en-US" dirty="0" smtClean="0">
                <a:latin typeface="Times New Roman" panose="02020603050405020304" pitchFamily="18" charset="0"/>
                <a:cs typeface="Times New Roman" panose="02020603050405020304" pitchFamily="18" charset="0"/>
              </a:rPr>
              <a:t>extensively</a:t>
            </a:r>
          </a:p>
          <a:p>
            <a:pPr algn="just"/>
            <a:r>
              <a:rPr lang="en-US" dirty="0">
                <a:latin typeface="Times New Roman" panose="02020603050405020304" pitchFamily="18" charset="0"/>
                <a:cs typeface="Times New Roman" panose="02020603050405020304" pitchFamily="18" charset="0"/>
              </a:rPr>
              <a:t>Risk assessment has to be carried out for the individual system parts or even for individual failure modes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23</a:t>
            </a:fld>
            <a:endParaRPr lang="en-US"/>
          </a:p>
        </p:txBody>
      </p:sp>
    </p:spTree>
    <p:extLst>
      <p:ext uri="{BB962C8B-B14F-4D97-AF65-F5344CB8AC3E}">
        <p14:creationId xmlns:p14="http://schemas.microsoft.com/office/powerpoint/2010/main" val="17030915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If there is a high risk of a system or subsystem malfunctioning, the test requires more effort than for less critical (sub) </a:t>
            </a:r>
            <a:r>
              <a:rPr lang="en-US" dirty="0" smtClean="0">
                <a:latin typeface="Times New Roman" panose="02020603050405020304" pitchFamily="18" charset="0"/>
                <a:cs typeface="Times New Roman" panose="02020603050405020304" pitchFamily="18" charset="0"/>
              </a:rPr>
              <a:t>systems</a:t>
            </a:r>
          </a:p>
          <a:p>
            <a:pPr algn="just"/>
            <a:r>
              <a:rPr lang="en-US" dirty="0" smtClean="0">
                <a:latin typeface="Times New Roman" panose="02020603050405020304" pitchFamily="18" charset="0"/>
                <a:cs typeface="Times New Roman" panose="02020603050405020304" pitchFamily="18" charset="0"/>
              </a:rPr>
              <a:t>A computer </a:t>
            </a:r>
            <a:r>
              <a:rPr lang="en-US" dirty="0">
                <a:latin typeface="Times New Roman" panose="02020603050405020304" pitchFamily="18" charset="0"/>
                <a:cs typeface="Times New Roman" panose="02020603050405020304" pitchFamily="18" charset="0"/>
              </a:rPr>
              <a:t>game that saves scores incorrectly can be costly for its manufacturer, as such faults affect the public acceptance of a game and its parent company’s other products, and can lead to lost sales and damage to the company’s reputation</a:t>
            </a:r>
          </a:p>
        </p:txBody>
      </p:sp>
      <p:sp>
        <p:nvSpPr>
          <p:cNvPr id="4" name="Slide Number Placeholder 3"/>
          <p:cNvSpPr>
            <a:spLocks noGrp="1"/>
          </p:cNvSpPr>
          <p:nvPr>
            <p:ph type="sldNum" sz="quarter" idx="12"/>
          </p:nvPr>
        </p:nvSpPr>
        <p:spPr/>
        <p:txBody>
          <a:bodyPr/>
          <a:lstStyle/>
          <a:p>
            <a:fld id="{FEFE5490-7C78-454F-98DE-D1826F8CB872}" type="slidenum">
              <a:rPr lang="en-US" smtClean="0"/>
              <a:t>24</a:t>
            </a:fld>
            <a:endParaRPr lang="en-US"/>
          </a:p>
        </p:txBody>
      </p:sp>
    </p:spTree>
    <p:extLst>
      <p:ext uri="{BB962C8B-B14F-4D97-AF65-F5344CB8AC3E}">
        <p14:creationId xmlns:p14="http://schemas.microsoft.com/office/powerpoint/2010/main" val="2214901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anose="02020603050405020304" pitchFamily="18" charset="0"/>
                <a:cs typeface="Times New Roman" panose="02020603050405020304" pitchFamily="18" charset="0"/>
              </a:rPr>
              <a:t>Case study: risks and losses when failure occurs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DreamCar</a:t>
            </a:r>
            <a:r>
              <a:rPr lang="en-US" dirty="0">
                <a:latin typeface="Times New Roman" panose="02020603050405020304" pitchFamily="18" charset="0"/>
                <a:cs typeface="Times New Roman" panose="02020603050405020304" pitchFamily="18" charset="0"/>
              </a:rPr>
              <a:t> module constantly updates and displays the price of the current configuration. Registered customers with validated ID can order a vehicle online</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Once a customer clicks the Order button and enters their PIN, the vehicle is ordered and the purchase committed. Once the statutory revocation deadline has passed, the chosen configuration is automatically passed on to the production management system that initiates the build </a:t>
            </a:r>
            <a:r>
              <a:rPr lang="en-US" dirty="0" smtClean="0">
                <a:latin typeface="Times New Roman" panose="02020603050405020304" pitchFamily="18" charset="0"/>
                <a:cs typeface="Times New Roman" panose="02020603050405020304" pitchFamily="18" charset="0"/>
              </a:rPr>
              <a:t>process.</a:t>
            </a:r>
          </a:p>
          <a:p>
            <a:pPr algn="just"/>
            <a:r>
              <a:rPr lang="en-US" dirty="0" smtClean="0">
                <a:latin typeface="Times New Roman" panose="02020603050405020304" pitchFamily="18" charset="0"/>
                <a:cs typeface="Times New Roman" panose="02020603050405020304" pitchFamily="18" charset="0"/>
              </a:rPr>
              <a:t>Because </a:t>
            </a:r>
            <a:r>
              <a:rPr lang="en-US" dirty="0">
                <a:latin typeface="Times New Roman" panose="02020603050405020304" pitchFamily="18" charset="0"/>
                <a:cs typeface="Times New Roman" panose="02020603050405020304" pitchFamily="18" charset="0"/>
              </a:rPr>
              <a:t>the online purchase process is binding, if the system calculates and displays an incorrect price the customer has the right to insist on the paying that price. This means that wrongly calculated prices could lead to the manufacturer selling thousands of cars at prices that are too low. Depending on the degree of miscalculation, this could lead to millions of dollars in losses. Having each purchase order checked manually is not an option, as the whole point of the VSR-II system is that vehicles can be ordered completely automatically online.</a:t>
            </a:r>
          </a:p>
        </p:txBody>
      </p:sp>
      <p:sp>
        <p:nvSpPr>
          <p:cNvPr id="4" name="Slide Number Placeholder 3"/>
          <p:cNvSpPr>
            <a:spLocks noGrp="1"/>
          </p:cNvSpPr>
          <p:nvPr>
            <p:ph type="sldNum" sz="quarter" idx="12"/>
          </p:nvPr>
        </p:nvSpPr>
        <p:spPr/>
        <p:txBody>
          <a:bodyPr/>
          <a:lstStyle/>
          <a:p>
            <a:fld id="{FEFE5490-7C78-454F-98DE-D1826F8CB872}" type="slidenum">
              <a:rPr lang="en-US" smtClean="0"/>
              <a:t>25</a:t>
            </a:fld>
            <a:endParaRPr lang="en-US"/>
          </a:p>
        </p:txBody>
      </p:sp>
    </p:spTree>
    <p:extLst>
      <p:ext uri="{BB962C8B-B14F-4D97-AF65-F5344CB8AC3E}">
        <p14:creationId xmlns:p14="http://schemas.microsoft.com/office/powerpoint/2010/main" val="38122670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The cost of failure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March 2016, a concatenation of software faults destroyed the space telescope Hitomi, which was built at a cost of several hundred million dollars. The satellite’s software wrongly assumed that it was rotating too slowly and tried to compensate using countermeasures. The signals from the redundant control systems were then wrongly interpreted and the speed of rotation increased continuously until the centrifugal force became too much and Hitomi </a:t>
            </a:r>
            <a:r>
              <a:rPr lang="en-US" dirty="0" smtClean="0">
                <a:latin typeface="Times New Roman" panose="02020603050405020304" pitchFamily="18" charset="0"/>
                <a:cs typeface="Times New Roman" panose="02020603050405020304" pitchFamily="18" charset="0"/>
              </a:rPr>
              <a:t>disintegrated.</a:t>
            </a: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2018 and 2019 two Boeing 737 MAX 8 airplanes crashed due to design flaws in the airplane’s MCAS flight control </a:t>
            </a:r>
            <a:r>
              <a:rPr lang="en-US" dirty="0" smtClean="0">
                <a:latin typeface="Times New Roman" panose="02020603050405020304" pitchFamily="18" charset="0"/>
                <a:cs typeface="Times New Roman" panose="02020603050405020304" pitchFamily="18" charset="0"/>
              </a:rPr>
              <a:t>software. </a:t>
            </a:r>
            <a:r>
              <a:rPr lang="en-US" dirty="0">
                <a:latin typeface="Times New Roman" panose="02020603050405020304" pitchFamily="18" charset="0"/>
                <a:cs typeface="Times New Roman" panose="02020603050405020304" pitchFamily="18" charset="0"/>
              </a:rPr>
              <a:t>Here too, the software—misdirected by incorrect sensor information—generated fatal countermeasures.</a:t>
            </a:r>
          </a:p>
        </p:txBody>
      </p:sp>
      <p:sp>
        <p:nvSpPr>
          <p:cNvPr id="4" name="Slide Number Placeholder 3"/>
          <p:cNvSpPr>
            <a:spLocks noGrp="1"/>
          </p:cNvSpPr>
          <p:nvPr>
            <p:ph type="sldNum" sz="quarter" idx="12"/>
          </p:nvPr>
        </p:nvSpPr>
        <p:spPr/>
        <p:txBody>
          <a:bodyPr/>
          <a:lstStyle/>
          <a:p>
            <a:fld id="{FEFE5490-7C78-454F-98DE-D1826F8CB872}" type="slidenum">
              <a:rPr lang="en-US" smtClean="0"/>
              <a:t>26</a:t>
            </a:fld>
            <a:endParaRPr lang="en-US"/>
          </a:p>
        </p:txBody>
      </p:sp>
    </p:spTree>
    <p:extLst>
      <p:ext uri="{BB962C8B-B14F-4D97-AF65-F5344CB8AC3E}">
        <p14:creationId xmlns:p14="http://schemas.microsoft.com/office/powerpoint/2010/main" val="11664038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Applying testing skills early ensures success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At requirement stage, Identification </a:t>
            </a:r>
            <a:r>
              <a:rPr lang="en-US" dirty="0">
                <a:latin typeface="Times New Roman" panose="02020603050405020304" pitchFamily="18" charset="0"/>
                <a:cs typeface="Times New Roman" panose="02020603050405020304" pitchFamily="18" charset="0"/>
              </a:rPr>
              <a:t>and correction of flawed requirements reduces the risk of producing inappropriate or non-testable </a:t>
            </a:r>
            <a:r>
              <a:rPr lang="en-US" dirty="0" smtClean="0">
                <a:latin typeface="Times New Roman" panose="02020603050405020304" pitchFamily="18" charset="0"/>
                <a:cs typeface="Times New Roman" panose="02020603050405020304" pitchFamily="18" charset="0"/>
              </a:rPr>
              <a:t>functionality</a:t>
            </a:r>
          </a:p>
          <a:p>
            <a:pPr algn="just"/>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design stage, increased awareness can reduce the risk of producing fundamental construction faults and makes it easier to design appropriate </a:t>
            </a:r>
            <a:r>
              <a:rPr lang="en-US" dirty="0" smtClean="0">
                <a:latin typeface="Times New Roman" panose="02020603050405020304" pitchFamily="18" charset="0"/>
                <a:cs typeface="Times New Roman" panose="02020603050405020304" pitchFamily="18" charset="0"/>
              </a:rPr>
              <a:t>tests</a:t>
            </a:r>
          </a:p>
          <a:p>
            <a:pPr algn="just"/>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coding stage, better understanding of the code itself and the tests it </a:t>
            </a:r>
            <a:r>
              <a:rPr lang="en-US" dirty="0" smtClean="0">
                <a:latin typeface="Times New Roman" panose="02020603050405020304" pitchFamily="18" charset="0"/>
                <a:cs typeface="Times New Roman" panose="02020603050405020304" pitchFamily="18" charset="0"/>
              </a:rPr>
              <a:t>requires reduces </a:t>
            </a:r>
            <a:r>
              <a:rPr lang="en-US" dirty="0">
                <a:latin typeface="Times New Roman" panose="02020603050405020304" pitchFamily="18" charset="0"/>
                <a:cs typeface="Times New Roman" panose="02020603050405020304" pitchFamily="18" charset="0"/>
              </a:rPr>
              <a:t>the risk of producing faulty code and </a:t>
            </a:r>
            <a:r>
              <a:rPr lang="en-US" dirty="0" smtClean="0">
                <a:latin typeface="Times New Roman" panose="02020603050405020304" pitchFamily="18" charset="0"/>
                <a:cs typeface="Times New Roman" panose="02020603050405020304" pitchFamily="18" charset="0"/>
              </a:rPr>
              <a:t>of </a:t>
            </a:r>
            <a:r>
              <a:rPr lang="en-US" dirty="0">
                <a:latin typeface="Times New Roman" panose="02020603050405020304" pitchFamily="18" charset="0"/>
                <a:cs typeface="Times New Roman" panose="02020603050405020304" pitchFamily="18" charset="0"/>
              </a:rPr>
              <a:t>designing inappropriate </a:t>
            </a:r>
            <a:r>
              <a:rPr lang="en-US" dirty="0" smtClean="0">
                <a:latin typeface="Times New Roman" panose="02020603050405020304" pitchFamily="18" charset="0"/>
                <a:cs typeface="Times New Roman" panose="02020603050405020304" pitchFamily="18" charset="0"/>
              </a:rPr>
              <a:t>tests</a:t>
            </a:r>
          </a:p>
          <a:p>
            <a:pPr algn="just"/>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testing stage, </a:t>
            </a: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testers verify and validate software before release, they are sure to identify and remedy additional faults that would otherwise remain undiscovered</a:t>
            </a:r>
          </a:p>
        </p:txBody>
      </p:sp>
      <p:sp>
        <p:nvSpPr>
          <p:cNvPr id="4" name="Slide Number Placeholder 3"/>
          <p:cNvSpPr>
            <a:spLocks noGrp="1"/>
          </p:cNvSpPr>
          <p:nvPr>
            <p:ph type="sldNum" sz="quarter" idx="12"/>
          </p:nvPr>
        </p:nvSpPr>
        <p:spPr/>
        <p:txBody>
          <a:bodyPr/>
          <a:lstStyle/>
          <a:p>
            <a:fld id="{FEFE5490-7C78-454F-98DE-D1826F8CB872}" type="slidenum">
              <a:rPr lang="en-US" smtClean="0"/>
              <a:t>27</a:t>
            </a:fld>
            <a:endParaRPr lang="en-US"/>
          </a:p>
        </p:txBody>
      </p:sp>
    </p:spTree>
    <p:extLst>
      <p:ext uri="{BB962C8B-B14F-4D97-AF65-F5344CB8AC3E}">
        <p14:creationId xmlns:p14="http://schemas.microsoft.com/office/powerpoint/2010/main" val="16504353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Basic principle of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smtClean="0">
                <a:latin typeface="Times New Roman" panose="02020603050405020304" pitchFamily="18" charset="0"/>
                <a:cs typeface="Times New Roman" panose="02020603050405020304" pitchFamily="18" charset="0"/>
              </a:rPr>
              <a:t>1. Testing </a:t>
            </a:r>
            <a:r>
              <a:rPr lang="en-US" b="1" dirty="0">
                <a:latin typeface="Times New Roman" panose="02020603050405020304" pitchFamily="18" charset="0"/>
                <a:cs typeface="Times New Roman" panose="02020603050405020304" pitchFamily="18" charset="0"/>
              </a:rPr>
              <a:t>shows the presence of defects, not their </a:t>
            </a:r>
            <a:r>
              <a:rPr lang="en-US" b="1" dirty="0" smtClean="0">
                <a:latin typeface="Times New Roman" panose="02020603050405020304" pitchFamily="18" charset="0"/>
                <a:cs typeface="Times New Roman" panose="02020603050405020304" pitchFamily="18" charset="0"/>
              </a:rPr>
              <a:t>absence</a:t>
            </a:r>
          </a:p>
          <a:p>
            <a:pPr lvl="1"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an object doesn’t fail during testing, this is no proof of freedom from faults or overall </a:t>
            </a:r>
            <a:r>
              <a:rPr lang="en-US" dirty="0" smtClean="0">
                <a:latin typeface="Times New Roman" panose="02020603050405020304" pitchFamily="18" charset="0"/>
                <a:cs typeface="Times New Roman" panose="02020603050405020304" pitchFamily="18" charset="0"/>
              </a:rPr>
              <a:t>correctness.</a:t>
            </a:r>
          </a:p>
          <a:p>
            <a:pPr algn="just"/>
            <a:r>
              <a:rPr lang="en-US" b="1" dirty="0">
                <a:latin typeface="Times New Roman" panose="02020603050405020304" pitchFamily="18" charset="0"/>
                <a:cs typeface="Times New Roman" panose="02020603050405020304" pitchFamily="18" charset="0"/>
              </a:rPr>
              <a:t>2. Exhaustive testing is </a:t>
            </a:r>
            <a:r>
              <a:rPr lang="en-US" b="1" dirty="0" smtClean="0">
                <a:latin typeface="Times New Roman" panose="02020603050405020304" pitchFamily="18" charset="0"/>
                <a:cs typeface="Times New Roman" panose="02020603050405020304" pitchFamily="18" charset="0"/>
              </a:rPr>
              <a:t>impossible</a:t>
            </a:r>
          </a:p>
          <a:p>
            <a:pPr lvl="1"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impossible to design and perform a complete test suite that covers all possible combinations of input data and their </a:t>
            </a:r>
            <a:r>
              <a:rPr lang="en-US" dirty="0" smtClean="0">
                <a:latin typeface="Times New Roman" panose="02020603050405020304" pitchFamily="18" charset="0"/>
                <a:cs typeface="Times New Roman" panose="02020603050405020304" pitchFamily="18" charset="0"/>
              </a:rPr>
              <a:t>preconditions.</a:t>
            </a:r>
          </a:p>
          <a:p>
            <a:pPr algn="just"/>
            <a:r>
              <a:rPr lang="en-US" b="1" dirty="0">
                <a:latin typeface="Times New Roman" panose="02020603050405020304" pitchFamily="18" charset="0"/>
                <a:cs typeface="Times New Roman" panose="02020603050405020304" pitchFamily="18" charset="0"/>
              </a:rPr>
              <a:t>3. Early testing saves time and </a:t>
            </a:r>
            <a:r>
              <a:rPr lang="en-US" b="1" dirty="0" smtClean="0">
                <a:latin typeface="Times New Roman" panose="02020603050405020304" pitchFamily="18" charset="0"/>
                <a:cs typeface="Times New Roman" panose="02020603050405020304" pitchFamily="18" charset="0"/>
              </a:rPr>
              <a:t>money</a:t>
            </a:r>
          </a:p>
          <a:p>
            <a:pPr lvl="1" algn="just"/>
            <a:r>
              <a:rPr lang="en-US" dirty="0" smtClean="0">
                <a:latin typeface="Times New Roman" panose="02020603050405020304" pitchFamily="18" charset="0"/>
                <a:cs typeface="Times New Roman" panose="02020603050405020304" pitchFamily="18" charset="0"/>
              </a:rPr>
              <a:t>Helps </a:t>
            </a:r>
            <a:r>
              <a:rPr lang="en-US" dirty="0">
                <a:latin typeface="Times New Roman" panose="02020603050405020304" pitchFamily="18" charset="0"/>
                <a:cs typeface="Times New Roman" panose="02020603050405020304" pitchFamily="18" charset="0"/>
              </a:rPr>
              <a:t>to avoid (or at least reduce) the increasingly costly repair of faults later in the development </a:t>
            </a:r>
            <a:r>
              <a:rPr lang="en-US" dirty="0" smtClean="0">
                <a:latin typeface="Times New Roman" panose="02020603050405020304" pitchFamily="18" charset="0"/>
                <a:cs typeface="Times New Roman" panose="02020603050405020304" pitchFamily="18" charset="0"/>
              </a:rPr>
              <a:t>lifecycle.</a:t>
            </a:r>
          </a:p>
          <a:p>
            <a:pPr algn="just"/>
            <a:r>
              <a:rPr lang="en-US" b="1" dirty="0">
                <a:latin typeface="Times New Roman" panose="02020603050405020304" pitchFamily="18" charset="0"/>
                <a:cs typeface="Times New Roman" panose="02020603050405020304" pitchFamily="18" charset="0"/>
              </a:rPr>
              <a:t>4. Defects cluster together</a:t>
            </a:r>
          </a:p>
          <a:p>
            <a:pPr lvl="1" algn="just"/>
            <a:r>
              <a:rPr lang="en-US" dirty="0">
                <a:latin typeface="Times New Roman" panose="02020603050405020304" pitchFamily="18" charset="0"/>
                <a:cs typeface="Times New Roman" panose="02020603050405020304" pitchFamily="18" charset="0"/>
              </a:rPr>
              <a:t>Most defects can usually be found in a small number of </a:t>
            </a:r>
            <a:r>
              <a:rPr lang="en-US" dirty="0" smtClean="0">
                <a:latin typeface="Times New Roman" panose="02020603050405020304" pitchFamily="18" charset="0"/>
                <a:cs typeface="Times New Roman" panose="02020603050405020304" pitchFamily="18" charset="0"/>
              </a:rPr>
              <a:t>modules. Testing </a:t>
            </a:r>
            <a:r>
              <a:rPr lang="en-US" dirty="0">
                <a:latin typeface="Times New Roman" panose="02020603050405020304" pitchFamily="18" charset="0"/>
                <a:cs typeface="Times New Roman" panose="02020603050405020304" pitchFamily="18" charset="0"/>
              </a:rPr>
              <a:t>effort can then be concentrated on the most relevant parts of the </a:t>
            </a:r>
            <a:r>
              <a:rPr lang="en-US" dirty="0" smtClean="0">
                <a:latin typeface="Times New Roman" panose="02020603050405020304" pitchFamily="18" charset="0"/>
                <a:cs typeface="Times New Roman" panose="02020603050405020304" pitchFamily="18" charset="0"/>
              </a:rPr>
              <a:t>system.</a:t>
            </a:r>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28</a:t>
            </a:fld>
            <a:endParaRPr lang="en-US"/>
          </a:p>
        </p:txBody>
      </p:sp>
    </p:spTree>
    <p:extLst>
      <p:ext uri="{BB962C8B-B14F-4D97-AF65-F5344CB8AC3E}">
        <p14:creationId xmlns:p14="http://schemas.microsoft.com/office/powerpoint/2010/main" val="31165582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smtClean="0">
                <a:latin typeface="Times New Roman" panose="02020603050405020304" pitchFamily="18" charset="0"/>
                <a:cs typeface="Times New Roman" panose="02020603050405020304" pitchFamily="18" charset="0"/>
              </a:rPr>
              <a:t>5</a:t>
            </a:r>
            <a:r>
              <a:rPr lang="en-US" b="1" dirty="0">
                <a:latin typeface="Times New Roman" panose="02020603050405020304" pitchFamily="18" charset="0"/>
                <a:cs typeface="Times New Roman" panose="02020603050405020304" pitchFamily="18" charset="0"/>
              </a:rPr>
              <a:t>. Beware the pesticide </a:t>
            </a:r>
            <a:r>
              <a:rPr lang="en-US" b="1" dirty="0" smtClean="0">
                <a:latin typeface="Times New Roman" panose="02020603050405020304" pitchFamily="18" charset="0"/>
                <a:cs typeface="Times New Roman" panose="02020603050405020304" pitchFamily="18" charset="0"/>
              </a:rPr>
              <a:t>paradox</a:t>
            </a:r>
          </a:p>
          <a:p>
            <a:pPr lvl="1" algn="just"/>
            <a:r>
              <a:rPr lang="en-US" dirty="0">
                <a:latin typeface="Times New Roman" panose="02020603050405020304" pitchFamily="18" charset="0"/>
                <a:cs typeface="Times New Roman" panose="02020603050405020304" pitchFamily="18" charset="0"/>
              </a:rPr>
              <a:t>Over time, tests become less effective the same way insects develop resistance to pesticides. </a:t>
            </a:r>
            <a:r>
              <a:rPr lang="en-US" dirty="0" smtClean="0">
                <a:latin typeface="Times New Roman" panose="02020603050405020304" pitchFamily="18" charset="0"/>
                <a:cs typeface="Times New Roman" panose="02020603050405020304" pitchFamily="18" charset="0"/>
              </a:rPr>
              <a:t>Check </a:t>
            </a:r>
            <a:r>
              <a:rPr lang="en-US" dirty="0">
                <a:latin typeface="Times New Roman" panose="02020603050405020304" pitchFamily="18" charset="0"/>
                <a:cs typeface="Times New Roman" panose="02020603050405020304" pitchFamily="18" charset="0"/>
              </a:rPr>
              <a:t>your test cases regularly and, if necessary, modify them or add new </a:t>
            </a:r>
            <a:r>
              <a:rPr lang="en-US" dirty="0" smtClean="0">
                <a:latin typeface="Times New Roman" panose="02020603050405020304" pitchFamily="18" charset="0"/>
                <a:cs typeface="Times New Roman" panose="02020603050405020304" pitchFamily="18" charset="0"/>
              </a:rPr>
              <a:t>ones.</a:t>
            </a:r>
          </a:p>
          <a:p>
            <a:pPr algn="just"/>
            <a:r>
              <a:rPr lang="en-US" b="1" dirty="0">
                <a:latin typeface="Times New Roman" panose="02020603050405020304" pitchFamily="18" charset="0"/>
                <a:cs typeface="Times New Roman" panose="02020603050405020304" pitchFamily="18" charset="0"/>
              </a:rPr>
              <a:t>6. Testing is </a:t>
            </a:r>
            <a:r>
              <a:rPr lang="en-US" b="1" dirty="0" smtClean="0">
                <a:latin typeface="Times New Roman" panose="02020603050405020304" pitchFamily="18" charset="0"/>
                <a:cs typeface="Times New Roman" panose="02020603050405020304" pitchFamily="18" charset="0"/>
              </a:rPr>
              <a:t>context-dependent</a:t>
            </a:r>
          </a:p>
          <a:p>
            <a:pPr lvl="1" algn="just"/>
            <a:r>
              <a:rPr lang="en-US" dirty="0">
                <a:latin typeface="Times New Roman" panose="02020603050405020304" pitchFamily="18" charset="0"/>
                <a:cs typeface="Times New Roman" panose="02020603050405020304" pitchFamily="18" charset="0"/>
              </a:rPr>
              <a:t>No two systems can be effectively tested the same way. An embedded system requires different tests than, for example, an e-commerce system. Testing in an agile project will be very different from that in a project based on a sequential life cycle </a:t>
            </a:r>
            <a:r>
              <a:rPr lang="en-US" dirty="0" smtClean="0">
                <a:latin typeface="Times New Roman" panose="02020603050405020304" pitchFamily="18" charset="0"/>
                <a:cs typeface="Times New Roman" panose="02020603050405020304" pitchFamily="18" charset="0"/>
              </a:rPr>
              <a:t>model.</a:t>
            </a:r>
          </a:p>
          <a:p>
            <a:pPr algn="just"/>
            <a:r>
              <a:rPr lang="en-US" b="1" dirty="0">
                <a:latin typeface="Times New Roman" panose="02020603050405020304" pitchFamily="18" charset="0"/>
                <a:cs typeface="Times New Roman" panose="02020603050405020304" pitchFamily="18" charset="0"/>
              </a:rPr>
              <a:t>7. Absence-of-errors is a fallacy</a:t>
            </a:r>
          </a:p>
          <a:p>
            <a:pPr lvl="1" algn="just"/>
            <a:r>
              <a:rPr lang="en-US" dirty="0">
                <a:latin typeface="Times New Roman" panose="02020603050405020304" pitchFamily="18" charset="0"/>
                <a:cs typeface="Times New Roman" panose="02020603050405020304" pitchFamily="18" charset="0"/>
              </a:rPr>
              <a:t>Even if you test all requirements comprehensively and correct all the faults you find, it is still possible to develop a system that is difficult to use. Prototyping and early involvement of a system’s users are preventive measures used to avoid this </a:t>
            </a:r>
            <a:r>
              <a:rPr lang="en-US" dirty="0" smtClean="0">
                <a:latin typeface="Times New Roman" panose="02020603050405020304" pitchFamily="18" charset="0"/>
                <a:cs typeface="Times New Roman" panose="02020603050405020304" pitchFamily="18" charset="0"/>
              </a:rPr>
              <a:t>problem.</a:t>
            </a:r>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29</a:t>
            </a:fld>
            <a:endParaRPr lang="en-US"/>
          </a:p>
        </p:txBody>
      </p:sp>
    </p:spTree>
    <p:extLst>
      <p:ext uri="{BB962C8B-B14F-4D97-AF65-F5344CB8AC3E}">
        <p14:creationId xmlns:p14="http://schemas.microsoft.com/office/powerpoint/2010/main" val="34482652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Quality management and quality assurance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i="1" dirty="0">
                <a:latin typeface="Times New Roman" panose="02020603050405020304" pitchFamily="18" charset="0"/>
                <a:cs typeface="Times New Roman" panose="02020603050405020304" pitchFamily="18" charset="0"/>
              </a:rPr>
              <a:t>Quality management</a:t>
            </a:r>
            <a:r>
              <a:rPr lang="en-US" dirty="0">
                <a:latin typeface="Times New Roman" panose="02020603050405020304" pitchFamily="18" charset="0"/>
                <a:cs typeface="Times New Roman" panose="02020603050405020304" pitchFamily="18" charset="0"/>
              </a:rPr>
              <a:t> (QM) covers all organizational activities and measures that serve to control </a:t>
            </a:r>
            <a:r>
              <a:rPr lang="en-US" dirty="0" smtClean="0">
                <a:latin typeface="Times New Roman" panose="02020603050405020304" pitchFamily="18" charset="0"/>
                <a:cs typeface="Times New Roman" panose="02020603050405020304" pitchFamily="18" charset="0"/>
              </a:rPr>
              <a:t>quality</a:t>
            </a:r>
          </a:p>
          <a:p>
            <a:pPr algn="just"/>
            <a:r>
              <a:rPr lang="en-US" i="1" dirty="0">
                <a:latin typeface="Times New Roman" panose="02020603050405020304" pitchFamily="18" charset="0"/>
                <a:cs typeface="Times New Roman" panose="02020603050405020304" pitchFamily="18" charset="0"/>
              </a:rPr>
              <a:t>Quality assurance</a:t>
            </a:r>
            <a:r>
              <a:rPr lang="en-US" dirty="0">
                <a:latin typeface="Times New Roman" panose="02020603050405020304" pitchFamily="18" charset="0"/>
                <a:cs typeface="Times New Roman" panose="02020603050405020304" pitchFamily="18" charset="0"/>
              </a:rPr>
              <a:t> (QA) usually concentrates on measures which aim to ensure that specified procedures are applied and defined processes are adhered </a:t>
            </a:r>
            <a:r>
              <a:rPr lang="en-US" dirty="0" smtClean="0">
                <a:latin typeface="Times New Roman" panose="02020603050405020304" pitchFamily="18" charset="0"/>
                <a:cs typeface="Times New Roman" panose="02020603050405020304" pitchFamily="18" charset="0"/>
              </a:rPr>
              <a:t>to</a:t>
            </a:r>
          </a:p>
          <a:p>
            <a:pPr algn="just"/>
            <a:r>
              <a:rPr lang="en-US" dirty="0">
                <a:latin typeface="Times New Roman" panose="02020603050405020304" pitchFamily="18" charset="0"/>
                <a:cs typeface="Times New Roman" panose="02020603050405020304" pitchFamily="18" charset="0"/>
              </a:rPr>
              <a:t>QA generates confidence in the fulfillment of quality requirements, which can be achieved by </a:t>
            </a:r>
            <a:r>
              <a:rPr lang="en-US" dirty="0" smtClean="0">
                <a:latin typeface="Times New Roman" panose="02020603050405020304" pitchFamily="18" charset="0"/>
                <a:cs typeface="Times New Roman" panose="02020603050405020304" pitchFamily="18" charset="0"/>
              </a:rPr>
              <a:t>testing</a:t>
            </a:r>
          </a:p>
          <a:p>
            <a:pPr algn="just"/>
            <a:r>
              <a:rPr lang="en-US" dirty="0">
                <a:latin typeface="Times New Roman" panose="02020603050405020304" pitchFamily="18" charset="0"/>
                <a:cs typeface="Times New Roman" panose="02020603050405020304" pitchFamily="18" charset="0"/>
              </a:rPr>
              <a:t>QA is about making sure such processes are implemented and executed correctly</a:t>
            </a:r>
          </a:p>
        </p:txBody>
      </p:sp>
      <p:sp>
        <p:nvSpPr>
          <p:cNvPr id="4" name="Slide Number Placeholder 3"/>
          <p:cNvSpPr>
            <a:spLocks noGrp="1"/>
          </p:cNvSpPr>
          <p:nvPr>
            <p:ph type="sldNum" sz="quarter" idx="12"/>
          </p:nvPr>
        </p:nvSpPr>
        <p:spPr/>
        <p:txBody>
          <a:bodyPr/>
          <a:lstStyle/>
          <a:p>
            <a:fld id="{FEFE5490-7C78-454F-98DE-D1826F8CB872}" type="slidenum">
              <a:rPr lang="en-US" smtClean="0"/>
              <a:t>30</a:t>
            </a:fld>
            <a:endParaRPr lang="en-US"/>
          </a:p>
        </p:txBody>
      </p:sp>
    </p:spTree>
    <p:extLst>
      <p:ext uri="{BB962C8B-B14F-4D97-AF65-F5344CB8AC3E}">
        <p14:creationId xmlns:p14="http://schemas.microsoft.com/office/powerpoint/2010/main" val="7271832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Testing process</a:t>
            </a: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3209" y="1594430"/>
            <a:ext cx="5728158" cy="5013434"/>
          </a:xfrm>
        </p:spPr>
      </p:pic>
      <p:sp>
        <p:nvSpPr>
          <p:cNvPr id="4" name="Slide Number Placeholder 3"/>
          <p:cNvSpPr>
            <a:spLocks noGrp="1"/>
          </p:cNvSpPr>
          <p:nvPr>
            <p:ph type="sldNum" sz="quarter" idx="12"/>
          </p:nvPr>
        </p:nvSpPr>
        <p:spPr/>
        <p:txBody>
          <a:bodyPr/>
          <a:lstStyle/>
          <a:p>
            <a:fld id="{FEFE5490-7C78-454F-98DE-D1826F8CB872}" type="slidenum">
              <a:rPr lang="en-US" smtClean="0"/>
              <a:t>31</a:t>
            </a:fld>
            <a:endParaRPr lang="en-US"/>
          </a:p>
        </p:txBody>
      </p:sp>
      <p:sp>
        <p:nvSpPr>
          <p:cNvPr id="6" name="Content Placeholder 2"/>
          <p:cNvSpPr txBox="1">
            <a:spLocks/>
          </p:cNvSpPr>
          <p:nvPr/>
        </p:nvSpPr>
        <p:spPr>
          <a:xfrm>
            <a:off x="1006146" y="2084832"/>
            <a:ext cx="5249081" cy="131708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This model is quite unrealistic due to sequential activities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29395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32</a:t>
            </a:fld>
            <a:endParaRPr lang="en-US"/>
          </a:p>
        </p:txBody>
      </p:sp>
      <p:sp>
        <p:nvSpPr>
          <p:cNvPr id="6" name="Content Placeholder 2"/>
          <p:cNvSpPr txBox="1">
            <a:spLocks/>
          </p:cNvSpPr>
          <p:nvPr/>
        </p:nvSpPr>
        <p:spPr>
          <a:xfrm>
            <a:off x="1006147" y="2084832"/>
            <a:ext cx="5054412" cy="131708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This model accurately represents testing process due to time overlap between activities</a:t>
            </a:r>
            <a:endParaRPr lang="en-US"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0558" y="1552352"/>
            <a:ext cx="5922827" cy="4918351"/>
          </a:xfrm>
          <a:prstGeom prst="rect">
            <a:avLst/>
          </a:prstGeom>
        </p:spPr>
      </p:pic>
    </p:spTree>
    <p:extLst>
      <p:ext uri="{BB962C8B-B14F-4D97-AF65-F5344CB8AC3E}">
        <p14:creationId xmlns:p14="http://schemas.microsoft.com/office/powerpoint/2010/main" val="29635935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 testing process is generally comprise of following activities:</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planning</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monitoring and </a:t>
            </a:r>
            <a:r>
              <a:rPr lang="en-US" dirty="0" smtClean="0">
                <a:latin typeface="Times New Roman" panose="02020603050405020304" pitchFamily="18" charset="0"/>
                <a:cs typeface="Times New Roman" panose="02020603050405020304" pitchFamily="18" charset="0"/>
              </a:rPr>
              <a:t>control</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analysis</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design</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implementation</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execution</a:t>
            </a: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completion</a:t>
            </a:r>
          </a:p>
        </p:txBody>
      </p:sp>
      <p:sp>
        <p:nvSpPr>
          <p:cNvPr id="4" name="Slide Number Placeholder 3"/>
          <p:cNvSpPr>
            <a:spLocks noGrp="1"/>
          </p:cNvSpPr>
          <p:nvPr>
            <p:ph type="sldNum" sz="quarter" idx="12"/>
          </p:nvPr>
        </p:nvSpPr>
        <p:spPr/>
        <p:txBody>
          <a:bodyPr/>
          <a:lstStyle/>
          <a:p>
            <a:fld id="{FEFE5490-7C78-454F-98DE-D1826F8CB872}" type="slidenum">
              <a:rPr lang="en-US" smtClean="0"/>
              <a:t>33</a:t>
            </a:fld>
            <a:endParaRPr lang="en-US"/>
          </a:p>
        </p:txBody>
      </p:sp>
    </p:spTree>
    <p:extLst>
      <p:ext uri="{BB962C8B-B14F-4D97-AF65-F5344CB8AC3E}">
        <p14:creationId xmlns:p14="http://schemas.microsoft.com/office/powerpoint/2010/main" val="33720285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Iterative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Software is often developed in small iterative steps—for example, agile development methods use continuous build and test iterations. The corresponding test activities therefore need to take place continuously and </a:t>
            </a:r>
            <a:r>
              <a:rPr lang="en-US" dirty="0" smtClean="0">
                <a:latin typeface="Times New Roman" panose="02020603050405020304" pitchFamily="18" charset="0"/>
                <a:cs typeface="Times New Roman" panose="02020603050405020304" pitchFamily="18" charset="0"/>
              </a:rPr>
              <a:t>iteratively</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34</a:t>
            </a:fld>
            <a:endParaRPr lang="en-US"/>
          </a:p>
        </p:txBody>
      </p:sp>
    </p:spTree>
    <p:extLst>
      <p:ext uri="{BB962C8B-B14F-4D97-AF65-F5344CB8AC3E}">
        <p14:creationId xmlns:p14="http://schemas.microsoft.com/office/powerpoint/2010/main" val="24012186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35</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9531" y="686437"/>
            <a:ext cx="9497802" cy="5437916"/>
          </a:xfrm>
          <a:prstGeom prst="rect">
            <a:avLst/>
          </a:prstGeom>
        </p:spPr>
      </p:pic>
    </p:spTree>
    <p:extLst>
      <p:ext uri="{BB962C8B-B14F-4D97-AF65-F5344CB8AC3E}">
        <p14:creationId xmlns:p14="http://schemas.microsoft.com/office/powerpoint/2010/main" val="11573500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planning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Testing </a:t>
            </a:r>
            <a:r>
              <a:rPr lang="en-US" dirty="0">
                <a:latin typeface="Times New Roman" panose="02020603050405020304" pitchFamily="18" charset="0"/>
                <a:cs typeface="Times New Roman" panose="02020603050405020304" pitchFamily="18" charset="0"/>
              </a:rPr>
              <a:t>will not work without a </a:t>
            </a:r>
            <a:r>
              <a:rPr lang="en-US" dirty="0" smtClean="0">
                <a:latin typeface="Times New Roman" panose="02020603050405020304" pitchFamily="18" charset="0"/>
                <a:cs typeface="Times New Roman" panose="02020603050405020304" pitchFamily="18" charset="0"/>
              </a:rPr>
              <a:t>plan</a:t>
            </a:r>
          </a:p>
          <a:p>
            <a:pPr algn="just"/>
            <a:r>
              <a:rPr lang="en-US" dirty="0" smtClean="0">
                <a:latin typeface="Times New Roman" panose="02020603050405020304" pitchFamily="18" charset="0"/>
                <a:cs typeface="Times New Roman" panose="02020603050405020304" pitchFamily="18" charset="0"/>
              </a:rPr>
              <a:t>Begins </a:t>
            </a:r>
            <a:r>
              <a:rPr lang="en-US" dirty="0">
                <a:latin typeface="Times New Roman" panose="02020603050405020304" pitchFamily="18" charset="0"/>
                <a:cs typeface="Times New Roman" panose="02020603050405020304" pitchFamily="18" charset="0"/>
              </a:rPr>
              <a:t>directly at the start of a software </a:t>
            </a:r>
            <a:r>
              <a:rPr lang="en-US" dirty="0" smtClean="0">
                <a:latin typeface="Times New Roman" panose="02020603050405020304" pitchFamily="18" charset="0"/>
                <a:cs typeface="Times New Roman" panose="02020603050405020304" pitchFamily="18" charset="0"/>
              </a:rPr>
              <a:t>project</a:t>
            </a:r>
          </a:p>
          <a:p>
            <a:pPr algn="just"/>
            <a:r>
              <a:rPr lang="en-US" dirty="0" smtClean="0">
                <a:latin typeface="Times New Roman" panose="02020603050405020304" pitchFamily="18" charset="0"/>
                <a:cs typeface="Times New Roman" panose="02020603050405020304" pitchFamily="18" charset="0"/>
              </a:rPr>
              <a:t>Update </a:t>
            </a:r>
            <a:r>
              <a:rPr lang="en-US" dirty="0">
                <a:latin typeface="Times New Roman" panose="02020603050405020304" pitchFamily="18" charset="0"/>
                <a:cs typeface="Times New Roman" panose="02020603050405020304" pitchFamily="18" charset="0"/>
              </a:rPr>
              <a:t>or adapt it to fit changing situations and project </a:t>
            </a:r>
            <a:r>
              <a:rPr lang="en-US" dirty="0" smtClean="0">
                <a:latin typeface="Times New Roman" panose="02020603050405020304" pitchFamily="18" charset="0"/>
                <a:cs typeface="Times New Roman" panose="02020603050405020304" pitchFamily="18" charset="0"/>
              </a:rPr>
              <a:t>parameters</a:t>
            </a:r>
          </a:p>
          <a:p>
            <a:pPr algn="just"/>
            <a:r>
              <a:rPr lang="en-US" dirty="0" smtClean="0">
                <a:latin typeface="Times New Roman" panose="02020603050405020304" pitchFamily="18" charset="0"/>
                <a:cs typeface="Times New Roman" panose="02020603050405020304" pitchFamily="18" charset="0"/>
              </a:rPr>
              <a:t>Adjusted </a:t>
            </a:r>
            <a:r>
              <a:rPr lang="en-US" dirty="0">
                <a:latin typeface="Times New Roman" panose="02020603050405020304" pitchFamily="18" charset="0"/>
                <a:cs typeface="Times New Roman" panose="02020603050405020304" pitchFamily="18" charset="0"/>
              </a:rPr>
              <a:t>throughout the entire product </a:t>
            </a:r>
            <a:r>
              <a:rPr lang="en-US" dirty="0" smtClean="0">
                <a:latin typeface="Times New Roman" panose="02020603050405020304" pitchFamily="18" charset="0"/>
                <a:cs typeface="Times New Roman" panose="02020603050405020304" pitchFamily="18" charset="0"/>
              </a:rPr>
              <a:t>lifecycle</a:t>
            </a:r>
          </a:p>
          <a:p>
            <a:pPr algn="just"/>
            <a:r>
              <a:rPr lang="en-US" dirty="0" smtClean="0">
                <a:latin typeface="Times New Roman" panose="02020603050405020304" pitchFamily="18" charset="0"/>
                <a:cs typeface="Times New Roman" panose="02020603050405020304" pitchFamily="18" charset="0"/>
              </a:rPr>
              <a:t>Created based on testing strategy chosen</a:t>
            </a:r>
          </a:p>
          <a:p>
            <a:pPr algn="just"/>
            <a:r>
              <a:rPr lang="en-US" dirty="0" smtClean="0">
                <a:latin typeface="Times New Roman" panose="02020603050405020304" pitchFamily="18" charset="0"/>
                <a:cs typeface="Times New Roman" panose="02020603050405020304" pitchFamily="18" charset="0"/>
              </a:rPr>
              <a:t>Includes required resources, time to perform the corresponding activities</a:t>
            </a:r>
          </a:p>
          <a:p>
            <a:pPr algn="just"/>
            <a:r>
              <a:rPr lang="en-US" dirty="0" smtClean="0">
                <a:latin typeface="Times New Roman" panose="02020603050405020304" pitchFamily="18" charset="0"/>
                <a:cs typeface="Times New Roman" panose="02020603050405020304" pitchFamily="18" charset="0"/>
              </a:rPr>
              <a:t>Also defines which tests are to be performed at which test level, makes sense to draft a separate test plan for each test level</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36</a:t>
            </a:fld>
            <a:endParaRPr lang="en-US"/>
          </a:p>
        </p:txBody>
      </p:sp>
    </p:spTree>
    <p:extLst>
      <p:ext uri="{BB962C8B-B14F-4D97-AF65-F5344CB8AC3E}">
        <p14:creationId xmlns:p14="http://schemas.microsoft.com/office/powerpoint/2010/main" val="6971454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smtClean="0">
                <a:latin typeface="Times New Roman" panose="02020603050405020304" pitchFamily="18" charset="0"/>
                <a:cs typeface="Times New Roman" panose="02020603050405020304" pitchFamily="18" charset="0"/>
              </a:rPr>
              <a:t>Coverage criteria:</a:t>
            </a:r>
            <a:r>
              <a:rPr lang="en-US" dirty="0" smtClean="0">
                <a:latin typeface="Times New Roman" panose="02020603050405020304" pitchFamily="18" charset="0"/>
                <a:cs typeface="Times New Roman" panose="02020603050405020304" pitchFamily="18" charset="0"/>
              </a:rPr>
              <a:t> Verify when you have reached the testing objectives</a:t>
            </a:r>
          </a:p>
          <a:p>
            <a:pPr algn="just"/>
            <a:r>
              <a:rPr lang="en-US" b="1" dirty="0" smtClean="0">
                <a:latin typeface="Times New Roman" panose="02020603050405020304" pitchFamily="18" charset="0"/>
                <a:cs typeface="Times New Roman" panose="02020603050405020304" pitchFamily="18" charset="0"/>
              </a:rPr>
              <a:t>Traceability:</a:t>
            </a:r>
            <a:r>
              <a:rPr lang="en-US" dirty="0" smtClean="0">
                <a:latin typeface="Times New Roman" panose="02020603050405020304" pitchFamily="18" charset="0"/>
                <a:cs typeface="Times New Roman" panose="02020603050405020304" pitchFamily="18" charset="0"/>
              </a:rPr>
              <a:t> between test basis and result of test activities</a:t>
            </a:r>
          </a:p>
          <a:p>
            <a:pPr algn="just"/>
            <a:r>
              <a:rPr lang="en-US" b="1" dirty="0" smtClean="0">
                <a:latin typeface="Times New Roman" panose="02020603050405020304" pitchFamily="18" charset="0"/>
                <a:cs typeface="Times New Roman" panose="02020603050405020304" pitchFamily="18" charset="0"/>
              </a:rPr>
              <a:t>Scheduling:</a:t>
            </a:r>
            <a:r>
              <a:rPr lang="en-US" dirty="0" smtClean="0">
                <a:latin typeface="Times New Roman" panose="02020603050405020304" pitchFamily="18" charset="0"/>
                <a:cs typeface="Times New Roman" panose="02020603050405020304" pitchFamily="18" charset="0"/>
              </a:rPr>
              <a:t> Test schedule contains a list of all activities, tasks and/or events involved in the test process. It also includes planned start and end date for every activity and interdependencies between activities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37</a:t>
            </a:fld>
            <a:endParaRPr lang="en-US"/>
          </a:p>
        </p:txBody>
      </p:sp>
    </p:spTree>
    <p:extLst>
      <p:ext uri="{BB962C8B-B14F-4D97-AF65-F5344CB8AC3E}">
        <p14:creationId xmlns:p14="http://schemas.microsoft.com/office/powerpoint/2010/main" val="30840709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monitoring and control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Constant </a:t>
            </a:r>
            <a:r>
              <a:rPr lang="en-US" dirty="0">
                <a:latin typeface="Times New Roman" panose="02020603050405020304" pitchFamily="18" charset="0"/>
                <a:cs typeface="Times New Roman" panose="02020603050405020304" pitchFamily="18" charset="0"/>
              </a:rPr>
              <a:t>observation of the current testing activities compared with the planned </a:t>
            </a:r>
            <a:r>
              <a:rPr lang="en-US" dirty="0" smtClean="0">
                <a:latin typeface="Times New Roman" panose="02020603050405020304" pitchFamily="18" charset="0"/>
                <a:cs typeface="Times New Roman" panose="02020603050405020304" pitchFamily="18" charset="0"/>
              </a:rPr>
              <a:t>activities</a:t>
            </a:r>
          </a:p>
          <a:p>
            <a:pPr algn="just"/>
            <a:r>
              <a:rPr lang="en-US" dirty="0">
                <a:latin typeface="Times New Roman" panose="02020603050405020304" pitchFamily="18" charset="0"/>
                <a:cs typeface="Times New Roman" panose="02020603050405020304" pitchFamily="18" charset="0"/>
              </a:rPr>
              <a:t>If the predefined criteria are fulfilled, the activity can be </a:t>
            </a:r>
            <a:r>
              <a:rPr lang="en-US" dirty="0" smtClean="0">
                <a:latin typeface="Times New Roman" panose="02020603050405020304" pitchFamily="18" charset="0"/>
                <a:cs typeface="Times New Roman" panose="02020603050405020304" pitchFamily="18" charset="0"/>
              </a:rPr>
              <a:t>terminated</a:t>
            </a:r>
          </a:p>
          <a:p>
            <a:pPr algn="just"/>
            <a:r>
              <a:rPr lang="en-US" dirty="0">
                <a:latin typeface="Times New Roman" panose="02020603050405020304" pitchFamily="18" charset="0"/>
                <a:cs typeface="Times New Roman" panose="02020603050405020304" pitchFamily="18" charset="0"/>
              </a:rPr>
              <a:t>If risk evaluation is part of the test plan and you need to prove that you have sufficient risk </a:t>
            </a:r>
            <a:r>
              <a:rPr lang="en-US" dirty="0" smtClean="0">
                <a:latin typeface="Times New Roman" panose="02020603050405020304" pitchFamily="18" charset="0"/>
                <a:cs typeface="Times New Roman" panose="02020603050405020304" pitchFamily="18" charset="0"/>
              </a:rPr>
              <a:t>coverage</a:t>
            </a:r>
          </a:p>
          <a:p>
            <a:pPr algn="just"/>
            <a:r>
              <a:rPr lang="en-US" dirty="0">
                <a:latin typeface="Times New Roman" panose="02020603050405020304" pitchFamily="18" charset="0"/>
                <a:cs typeface="Times New Roman" panose="02020603050405020304" pitchFamily="18" charset="0"/>
              </a:rPr>
              <a:t>If the required exit criteria have not been fulfilled by the tests you have performed, you need to design and execute additional </a:t>
            </a:r>
            <a:r>
              <a:rPr lang="en-US" dirty="0" smtClean="0">
                <a:latin typeface="Times New Roman" panose="02020603050405020304" pitchFamily="18" charset="0"/>
                <a:cs typeface="Times New Roman" panose="02020603050405020304" pitchFamily="18" charset="0"/>
              </a:rPr>
              <a:t>tests</a:t>
            </a:r>
          </a:p>
          <a:p>
            <a:pPr algn="just"/>
            <a:r>
              <a:rPr lang="en-US" dirty="0" smtClean="0">
                <a:latin typeface="Times New Roman" panose="02020603050405020304" pitchFamily="18" charset="0"/>
                <a:cs typeface="Times New Roman" panose="02020603050405020304" pitchFamily="18" charset="0"/>
              </a:rPr>
              <a:t>Any </a:t>
            </a:r>
            <a:r>
              <a:rPr lang="en-US" dirty="0">
                <a:latin typeface="Times New Roman" panose="02020603050405020304" pitchFamily="18" charset="0"/>
                <a:cs typeface="Times New Roman" panose="02020603050405020304" pitchFamily="18" charset="0"/>
              </a:rPr>
              <a:t>deviation from the original plan, these reports should also contain information regarding any prematurely terminated tests</a:t>
            </a:r>
          </a:p>
        </p:txBody>
      </p:sp>
      <p:sp>
        <p:nvSpPr>
          <p:cNvPr id="4" name="Slide Number Placeholder 3"/>
          <p:cNvSpPr>
            <a:spLocks noGrp="1"/>
          </p:cNvSpPr>
          <p:nvPr>
            <p:ph type="sldNum" sz="quarter" idx="12"/>
          </p:nvPr>
        </p:nvSpPr>
        <p:spPr/>
        <p:txBody>
          <a:bodyPr/>
          <a:lstStyle/>
          <a:p>
            <a:fld id="{FEFE5490-7C78-454F-98DE-D1826F8CB872}" type="slidenum">
              <a:rPr lang="en-US" smtClean="0"/>
              <a:t>38</a:t>
            </a:fld>
            <a:endParaRPr lang="en-US"/>
          </a:p>
        </p:txBody>
      </p:sp>
    </p:spTree>
    <p:extLst>
      <p:ext uri="{BB962C8B-B14F-4D97-AF65-F5344CB8AC3E}">
        <p14:creationId xmlns:p14="http://schemas.microsoft.com/office/powerpoint/2010/main" val="36890302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analysis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latin typeface="Times New Roman" panose="02020603050405020304" pitchFamily="18" charset="0"/>
                <a:cs typeface="Times New Roman" panose="02020603050405020304" pitchFamily="18" charset="0"/>
              </a:rPr>
              <a:t>Involves </a:t>
            </a:r>
            <a:r>
              <a:rPr lang="en-US" dirty="0">
                <a:latin typeface="Times New Roman" panose="02020603050405020304" pitchFamily="18" charset="0"/>
                <a:cs typeface="Times New Roman" panose="02020603050405020304" pitchFamily="18" charset="0"/>
              </a:rPr>
              <a:t>determining what exactly needs to be </a:t>
            </a:r>
            <a:r>
              <a:rPr lang="en-US" dirty="0" smtClean="0">
                <a:latin typeface="Times New Roman" panose="02020603050405020304" pitchFamily="18" charset="0"/>
                <a:cs typeface="Times New Roman" panose="02020603050405020304" pitchFamily="18" charset="0"/>
              </a:rPr>
              <a:t>tested</a:t>
            </a: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 requirement doesn’t specify the predicted result and/or system behavior precisely enough, then test cases cannot be simply </a:t>
            </a:r>
            <a:r>
              <a:rPr lang="en-US" dirty="0" smtClean="0">
                <a:latin typeface="Times New Roman" panose="02020603050405020304" pitchFamily="18" charset="0"/>
                <a:cs typeface="Times New Roman" panose="02020603050405020304" pitchFamily="18" charset="0"/>
              </a:rPr>
              <a:t>derived</a:t>
            </a:r>
          </a:p>
          <a:p>
            <a:pPr algn="just"/>
            <a:r>
              <a:rPr lang="en-US" dirty="0" smtClean="0">
                <a:latin typeface="Times New Roman" panose="02020603050405020304" pitchFamily="18" charset="0"/>
                <a:cs typeface="Times New Roman" panose="02020603050405020304" pitchFamily="18" charset="0"/>
              </a:rPr>
              <a:t>Cornerstone </a:t>
            </a:r>
            <a:r>
              <a:rPr lang="en-US" dirty="0">
                <a:latin typeface="Times New Roman" panose="02020603050405020304" pitchFamily="18" charset="0"/>
                <a:cs typeface="Times New Roman" panose="02020603050405020304" pitchFamily="18" charset="0"/>
              </a:rPr>
              <a:t>of the entire testing process is the test basis. If the test basis contains defects, you cannot formulate “correct” test conditions and you won’t be able to draft “proper” test cases, whether it contains ambiguities, or whether there are gaps or omissions in the descriptions of </a:t>
            </a:r>
            <a:r>
              <a:rPr lang="en-US" dirty="0" smtClean="0">
                <a:latin typeface="Times New Roman" panose="02020603050405020304" pitchFamily="18" charset="0"/>
                <a:cs typeface="Times New Roman" panose="02020603050405020304" pitchFamily="18" charset="0"/>
              </a:rPr>
              <a:t>functions</a:t>
            </a:r>
          </a:p>
          <a:p>
            <a:pPr algn="just"/>
            <a:r>
              <a:rPr lang="en-US" dirty="0">
                <a:latin typeface="Times New Roman" panose="02020603050405020304" pitchFamily="18" charset="0"/>
                <a:cs typeface="Times New Roman" panose="02020603050405020304" pitchFamily="18" charset="0"/>
              </a:rPr>
              <a:t>Once the test conditions have been identified and defined, you need to prioritize them, time restrictions often make it impossible to perform all the planned </a:t>
            </a:r>
            <a:r>
              <a:rPr lang="en-US" dirty="0" smtClean="0">
                <a:latin typeface="Times New Roman" panose="02020603050405020304" pitchFamily="18" charset="0"/>
                <a:cs typeface="Times New Roman" panose="02020603050405020304" pitchFamily="18" charset="0"/>
              </a:rPr>
              <a:t>tests</a:t>
            </a:r>
          </a:p>
          <a:p>
            <a:pPr algn="just"/>
            <a:r>
              <a:rPr lang="en-US" dirty="0" smtClean="0">
                <a:latin typeface="Times New Roman" panose="02020603050405020304" pitchFamily="18" charset="0"/>
                <a:cs typeface="Times New Roman" panose="02020603050405020304" pitchFamily="18" charset="0"/>
              </a:rPr>
              <a:t>Unambiguous </a:t>
            </a:r>
            <a:r>
              <a:rPr lang="en-US" dirty="0">
                <a:latin typeface="Times New Roman" panose="02020603050405020304" pitchFamily="18" charset="0"/>
                <a:cs typeface="Times New Roman" panose="02020603050405020304" pitchFamily="18" charset="0"/>
              </a:rPr>
              <a:t>bi directional traceability between the test basis and the results of your testing activities </a:t>
            </a:r>
            <a:r>
              <a:rPr lang="en-US" dirty="0" smtClean="0">
                <a:latin typeface="Times New Roman" panose="02020603050405020304" pitchFamily="18" charset="0"/>
                <a:cs typeface="Times New Roman" panose="02020603050405020304" pitchFamily="18" charset="0"/>
              </a:rPr>
              <a:t>defines </a:t>
            </a:r>
            <a:r>
              <a:rPr lang="en-US" dirty="0">
                <a:latin typeface="Times New Roman" panose="02020603050405020304" pitchFamily="18" charset="0"/>
                <a:cs typeface="Times New Roman" panose="02020603050405020304" pitchFamily="18" charset="0"/>
              </a:rPr>
              <a:t>which test condition checks which </a:t>
            </a:r>
            <a:r>
              <a:rPr lang="en-US" dirty="0" smtClean="0">
                <a:latin typeface="Times New Roman" panose="02020603050405020304" pitchFamily="18" charset="0"/>
                <a:cs typeface="Times New Roman" panose="02020603050405020304" pitchFamily="18" charset="0"/>
              </a:rPr>
              <a:t>requirement</a:t>
            </a:r>
          </a:p>
          <a:p>
            <a:pPr algn="just"/>
            <a:r>
              <a:rPr lang="en-US" dirty="0" smtClean="0">
                <a:latin typeface="Times New Roman" panose="02020603050405020304" pitchFamily="18" charset="0"/>
                <a:cs typeface="Times New Roman" panose="02020603050405020304" pitchFamily="18" charset="0"/>
              </a:rPr>
              <a:t>Consider </a:t>
            </a:r>
            <a:r>
              <a:rPr lang="en-US" dirty="0">
                <a:latin typeface="Times New Roman" panose="02020603050405020304" pitchFamily="18" charset="0"/>
                <a:cs typeface="Times New Roman" panose="02020603050405020304" pitchFamily="18" charset="0"/>
              </a:rPr>
              <a:t>which test technique to use (i.e., black-box, white box, </a:t>
            </a:r>
            <a:r>
              <a:rPr lang="en-US" dirty="0" smtClean="0">
                <a:latin typeface="Times New Roman" panose="02020603050405020304" pitchFamily="18" charset="0"/>
                <a:cs typeface="Times New Roman" panose="02020603050405020304" pitchFamily="18" charset="0"/>
              </a:rPr>
              <a:t>experience-based)</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39</a:t>
            </a:fld>
            <a:endParaRPr lang="en-US"/>
          </a:p>
        </p:txBody>
      </p:sp>
    </p:spTree>
    <p:extLst>
      <p:ext uri="{BB962C8B-B14F-4D97-AF65-F5344CB8AC3E}">
        <p14:creationId xmlns:p14="http://schemas.microsoft.com/office/powerpoint/2010/main" val="17307908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design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conditions are used to create test cases (or sequences of test cases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Test cases can be specified on two “levels”: abstract and </a:t>
            </a:r>
            <a:r>
              <a:rPr lang="en-US" dirty="0" smtClean="0">
                <a:latin typeface="Times New Roman" panose="02020603050405020304" pitchFamily="18" charset="0"/>
                <a:cs typeface="Times New Roman" panose="02020603050405020304" pitchFamily="18" charset="0"/>
              </a:rPr>
              <a:t>concrete</a:t>
            </a:r>
          </a:p>
          <a:p>
            <a:pPr algn="just"/>
            <a:r>
              <a:rPr lang="en-US" dirty="0">
                <a:latin typeface="Times New Roman" panose="02020603050405020304" pitchFamily="18" charset="0"/>
                <a:cs typeface="Times New Roman" panose="02020603050405020304" pitchFamily="18" charset="0"/>
              </a:rPr>
              <a:t>An </a:t>
            </a:r>
            <a:r>
              <a:rPr lang="en-US" i="1" dirty="0">
                <a:latin typeface="Times New Roman" panose="02020603050405020304" pitchFamily="18" charset="0"/>
                <a:cs typeface="Times New Roman" panose="02020603050405020304" pitchFamily="18" charset="0"/>
              </a:rPr>
              <a:t>abstract</a:t>
            </a:r>
            <a:r>
              <a:rPr lang="en-US" dirty="0">
                <a:latin typeface="Times New Roman" panose="02020603050405020304" pitchFamily="18" charset="0"/>
                <a:cs typeface="Times New Roman" panose="02020603050405020304" pitchFamily="18" charset="0"/>
              </a:rPr>
              <a:t> (or “high-level”) test case doesn’t include specific input values or expected results, and is described using logical </a:t>
            </a:r>
            <a:r>
              <a:rPr lang="en-US" dirty="0" smtClean="0">
                <a:latin typeface="Times New Roman" panose="02020603050405020304" pitchFamily="18" charset="0"/>
                <a:cs typeface="Times New Roman" panose="02020603050405020304" pitchFamily="18" charset="0"/>
              </a:rPr>
              <a:t>operators</a:t>
            </a:r>
          </a:p>
          <a:p>
            <a:pPr algn="just"/>
            <a:r>
              <a:rPr lang="en-US" i="1" dirty="0" smtClean="0">
                <a:latin typeface="Times New Roman" panose="02020603050405020304" pitchFamily="18" charset="0"/>
                <a:cs typeface="Times New Roman" panose="02020603050405020304" pitchFamily="18" charset="0"/>
              </a:rPr>
              <a:t>Concrete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(or “low-level”) test case uses specific input data and expected result </a:t>
            </a:r>
            <a:r>
              <a:rPr lang="en-US" dirty="0" smtClean="0">
                <a:latin typeface="Times New Roman" panose="02020603050405020304" pitchFamily="18" charset="0"/>
                <a:cs typeface="Times New Roman" panose="02020603050405020304" pitchFamily="18" charset="0"/>
              </a:rPr>
              <a:t>values</a:t>
            </a:r>
          </a:p>
          <a:p>
            <a:pPr algn="just"/>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nly </a:t>
            </a:r>
            <a:r>
              <a:rPr lang="en-US" dirty="0">
                <a:latin typeface="Times New Roman" panose="02020603050405020304" pitchFamily="18" charset="0"/>
                <a:cs typeface="Times New Roman" panose="02020603050405020304" pitchFamily="18" charset="0"/>
              </a:rPr>
              <a:t>concrete test cases can be executed on a </a:t>
            </a:r>
            <a:r>
              <a:rPr lang="en-US" dirty="0" smtClean="0">
                <a:latin typeface="Times New Roman" panose="02020603050405020304" pitchFamily="18" charset="0"/>
                <a:cs typeface="Times New Roman" panose="02020603050405020304" pitchFamily="18" charset="0"/>
              </a:rPr>
              <a:t>computer</a:t>
            </a:r>
          </a:p>
          <a:p>
            <a:pPr algn="just"/>
            <a:r>
              <a:rPr lang="en-US" dirty="0" smtClean="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test cases </a:t>
            </a:r>
            <a:r>
              <a:rPr lang="en-US" dirty="0" smtClean="0">
                <a:latin typeface="Times New Roman" panose="02020603050405020304" pitchFamily="18" charset="0"/>
                <a:cs typeface="Times New Roman" panose="02020603050405020304" pitchFamily="18" charset="0"/>
              </a:rPr>
              <a:t>can be derived from </a:t>
            </a:r>
            <a:r>
              <a:rPr lang="en-US" dirty="0">
                <a:latin typeface="Times New Roman" panose="02020603050405020304" pitchFamily="18" charset="0"/>
                <a:cs typeface="Times New Roman" panose="02020603050405020304" pitchFamily="18" charset="0"/>
              </a:rPr>
              <a:t>concrete cases </a:t>
            </a:r>
            <a:r>
              <a:rPr lang="en-US" dirty="0" smtClean="0">
                <a:latin typeface="Times New Roman" panose="02020603050405020304" pitchFamily="18" charset="0"/>
                <a:cs typeface="Times New Roman" panose="02020603050405020304" pitchFamily="18" charset="0"/>
              </a:rPr>
              <a:t>too</a:t>
            </a:r>
          </a:p>
          <a:p>
            <a:pPr algn="just"/>
            <a:r>
              <a:rPr lang="en-US" dirty="0" smtClean="0">
                <a:latin typeface="Times New Roman" panose="02020603050405020304" pitchFamily="18" charset="0"/>
                <a:cs typeface="Times New Roman" panose="02020603050405020304" pitchFamily="18" charset="0"/>
              </a:rPr>
              <a:t>Test oracle for predicting test results, specification can serve as oracle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40</a:t>
            </a:fld>
            <a:endParaRPr lang="en-US"/>
          </a:p>
        </p:txBody>
      </p:sp>
    </p:spTree>
    <p:extLst>
      <p:ext uri="{BB962C8B-B14F-4D97-AF65-F5344CB8AC3E}">
        <p14:creationId xmlns:p14="http://schemas.microsoft.com/office/powerpoint/2010/main" val="32160112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dealership can give its salespeople the option of discounts to apply to the price of a vehicle. </a:t>
            </a:r>
            <a:r>
              <a:rPr lang="en-US" dirty="0" smtClean="0">
                <a:latin typeface="Times New Roman" panose="02020603050405020304" pitchFamily="18" charset="0"/>
                <a:cs typeface="Times New Roman" panose="02020603050405020304" pitchFamily="18" charset="0"/>
              </a:rPr>
              <a:t>For prices </a:t>
            </a:r>
            <a:r>
              <a:rPr lang="en-US" dirty="0">
                <a:latin typeface="Times New Roman" panose="02020603050405020304" pitchFamily="18" charset="0"/>
                <a:cs typeface="Times New Roman" panose="02020603050405020304" pitchFamily="18" charset="0"/>
              </a:rPr>
              <a:t>below $15,000 there is no discount. For prices up to $20,000, a discount of 5% is appropriate. If the price is below $25,000, a 7% discount is possible. If the price is above $25,000, a discount of 8.5% is to be applied. The above text enables us to derive the following relationships between price and discount</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Price &lt; 15,000 </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Discount </a:t>
            </a:r>
            <a:r>
              <a:rPr lang="en-US" i="1" dirty="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0%</a:t>
            </a:r>
          </a:p>
          <a:p>
            <a:pPr algn="just"/>
            <a:r>
              <a:rPr lang="en-US" dirty="0" smtClean="0">
                <a:latin typeface="Times New Roman" panose="02020603050405020304" pitchFamily="18" charset="0"/>
                <a:cs typeface="Times New Roman" panose="02020603050405020304" pitchFamily="18" charset="0"/>
              </a:rPr>
              <a:t>15.000 </a:t>
            </a:r>
            <a:r>
              <a:rPr lang="en-US" dirty="0">
                <a:latin typeface="Times New Roman" panose="02020603050405020304" pitchFamily="18" charset="0"/>
                <a:cs typeface="Times New Roman" panose="02020603050405020304" pitchFamily="18" charset="0"/>
              </a:rPr>
              <a:t>≤ Price ≤ 20,000 </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Discount </a:t>
            </a:r>
            <a:r>
              <a:rPr lang="en-US" i="1" dirty="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5%</a:t>
            </a:r>
          </a:p>
          <a:p>
            <a:pPr algn="just"/>
            <a:r>
              <a:rPr lang="en-US" dirty="0" smtClean="0">
                <a:latin typeface="Times New Roman" panose="02020603050405020304" pitchFamily="18" charset="0"/>
                <a:cs typeface="Times New Roman" panose="02020603050405020304" pitchFamily="18" charset="0"/>
              </a:rPr>
              <a:t>20.000 </a:t>
            </a:r>
            <a:r>
              <a:rPr lang="en-US" dirty="0">
                <a:latin typeface="Times New Roman" panose="02020603050405020304" pitchFamily="18" charset="0"/>
                <a:cs typeface="Times New Roman" panose="02020603050405020304" pitchFamily="18" charset="0"/>
              </a:rPr>
              <a:t>&lt; Price &lt; 25,000 </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Discount </a:t>
            </a:r>
            <a:r>
              <a:rPr lang="en-US" i="1" dirty="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7%</a:t>
            </a:r>
          </a:p>
          <a:p>
            <a:pPr algn="just"/>
            <a:r>
              <a:rPr lang="en-US" dirty="0" smtClean="0">
                <a:latin typeface="Times New Roman" panose="02020603050405020304" pitchFamily="18" charset="0"/>
                <a:cs typeface="Times New Roman" panose="02020603050405020304" pitchFamily="18" charset="0"/>
              </a:rPr>
              <a:t>Price </a:t>
            </a:r>
            <a:r>
              <a:rPr lang="en-US" dirty="0">
                <a:latin typeface="Times New Roman" panose="02020603050405020304" pitchFamily="18" charset="0"/>
                <a:cs typeface="Times New Roman" panose="02020603050405020304" pitchFamily="18" charset="0"/>
              </a:rPr>
              <a:t>≥ 25,000 </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Discount </a:t>
            </a:r>
            <a:r>
              <a:rPr lang="en-US" i="1" dirty="0">
                <a:latin typeface="Times New Roman" panose="02020603050405020304" pitchFamily="18" charset="0"/>
                <a:cs typeface="Times New Roman" panose="02020603050405020304" pitchFamily="18" charset="0"/>
              </a:rPr>
              <a:t>= 8.5%</a:t>
            </a:r>
          </a:p>
        </p:txBody>
      </p:sp>
      <p:sp>
        <p:nvSpPr>
          <p:cNvPr id="4" name="Slide Number Placeholder 3"/>
          <p:cNvSpPr>
            <a:spLocks noGrp="1"/>
          </p:cNvSpPr>
          <p:nvPr>
            <p:ph type="sldNum" sz="quarter" idx="12"/>
          </p:nvPr>
        </p:nvSpPr>
        <p:spPr/>
        <p:txBody>
          <a:bodyPr/>
          <a:lstStyle/>
          <a:p>
            <a:fld id="{FEFE5490-7C78-454F-98DE-D1826F8CB872}" type="slidenum">
              <a:rPr lang="en-US" smtClean="0"/>
              <a:t>41</a:t>
            </a:fld>
            <a:endParaRPr lang="en-US"/>
          </a:p>
        </p:txBody>
      </p:sp>
    </p:spTree>
    <p:extLst>
      <p:ext uri="{BB962C8B-B14F-4D97-AF65-F5344CB8AC3E}">
        <p14:creationId xmlns:p14="http://schemas.microsoft.com/office/powerpoint/2010/main" val="37633389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8946355"/>
              </p:ext>
            </p:extLst>
          </p:nvPr>
        </p:nvGraphicFramePr>
        <p:xfrm>
          <a:off x="2" y="2838893"/>
          <a:ext cx="12192000" cy="2133741"/>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081110047"/>
                    </a:ext>
                  </a:extLst>
                </a:gridCol>
                <a:gridCol w="2438400">
                  <a:extLst>
                    <a:ext uri="{9D8B030D-6E8A-4147-A177-3AD203B41FA5}">
                      <a16:colId xmlns:a16="http://schemas.microsoft.com/office/drawing/2014/main" val="2417216412"/>
                    </a:ext>
                  </a:extLst>
                </a:gridCol>
                <a:gridCol w="2438400">
                  <a:extLst>
                    <a:ext uri="{9D8B030D-6E8A-4147-A177-3AD203B41FA5}">
                      <a16:colId xmlns:a16="http://schemas.microsoft.com/office/drawing/2014/main" val="52690472"/>
                    </a:ext>
                  </a:extLst>
                </a:gridCol>
                <a:gridCol w="2438400">
                  <a:extLst>
                    <a:ext uri="{9D8B030D-6E8A-4147-A177-3AD203B41FA5}">
                      <a16:colId xmlns:a16="http://schemas.microsoft.com/office/drawing/2014/main" val="2363020766"/>
                    </a:ext>
                  </a:extLst>
                </a:gridCol>
                <a:gridCol w="2438400">
                  <a:extLst>
                    <a:ext uri="{9D8B030D-6E8A-4147-A177-3AD203B41FA5}">
                      <a16:colId xmlns:a16="http://schemas.microsoft.com/office/drawing/2014/main" val="1358064124"/>
                    </a:ext>
                  </a:extLst>
                </a:gridCol>
              </a:tblGrid>
              <a:tr h="711247">
                <a:tc>
                  <a:txBody>
                    <a:bodyPr/>
                    <a:lstStyle/>
                    <a:p>
                      <a:r>
                        <a:rPr lang="en-US" dirty="0" smtClean="0">
                          <a:latin typeface="Times New Roman" panose="02020603050405020304" pitchFamily="18" charset="0"/>
                          <a:cs typeface="Times New Roman" panose="02020603050405020304" pitchFamily="18" charset="0"/>
                        </a:rPr>
                        <a:t>Abstract Test Cases</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5106616"/>
                  </a:ext>
                </a:extLst>
              </a:tr>
              <a:tr h="711247">
                <a:tc>
                  <a:txBody>
                    <a:bodyPr/>
                    <a:lstStyle/>
                    <a:p>
                      <a:r>
                        <a:rPr lang="en-US" dirty="0" smtClean="0">
                          <a:latin typeface="Times New Roman" panose="02020603050405020304" pitchFamily="18" charset="0"/>
                          <a:cs typeface="Times New Roman" panose="02020603050405020304" pitchFamily="18" charset="0"/>
                        </a:rPr>
                        <a:t>Input value</a:t>
                      </a:r>
                      <a:r>
                        <a:rPr lang="en-US" baseline="0" dirty="0" smtClean="0">
                          <a:latin typeface="Times New Roman" panose="02020603050405020304" pitchFamily="18" charset="0"/>
                          <a:cs typeface="Times New Roman" panose="02020603050405020304" pitchFamily="18" charset="0"/>
                        </a:rPr>
                        <a:t> x</a:t>
                      </a:r>
                    </a:p>
                    <a:p>
                      <a:r>
                        <a:rPr lang="en-US" baseline="0" dirty="0" smtClean="0">
                          <a:latin typeface="Times New Roman" panose="02020603050405020304" pitchFamily="18" charset="0"/>
                          <a:cs typeface="Times New Roman" panose="02020603050405020304" pitchFamily="18" charset="0"/>
                        </a:rPr>
                        <a:t>(price in $)</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x &lt; 15000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15000 ≤ x ≤ 20000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20000 &lt; x &lt; 25000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25000</a:t>
                      </a:r>
                      <a:r>
                        <a:rPr lang="en-US" baseline="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x</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1487721"/>
                  </a:ext>
                </a:extLst>
              </a:tr>
              <a:tr h="711247">
                <a:tc>
                  <a:txBody>
                    <a:bodyPr/>
                    <a:lstStyle/>
                    <a:p>
                      <a:r>
                        <a:rPr lang="en-US" dirty="0" smtClean="0">
                          <a:latin typeface="Times New Roman" panose="02020603050405020304" pitchFamily="18" charset="0"/>
                          <a:cs typeface="Times New Roman" panose="02020603050405020304" pitchFamily="18" charset="0"/>
                        </a:rPr>
                        <a:t>Predicted result (discount in %)</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7</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8.5</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4268101"/>
                  </a:ext>
                </a:extLst>
              </a:tr>
            </a:tbl>
          </a:graphicData>
        </a:graphic>
      </p:graphicFrame>
      <p:sp>
        <p:nvSpPr>
          <p:cNvPr id="4" name="Slide Number Placeholder 3"/>
          <p:cNvSpPr>
            <a:spLocks noGrp="1"/>
          </p:cNvSpPr>
          <p:nvPr>
            <p:ph type="sldNum" sz="quarter" idx="12"/>
          </p:nvPr>
        </p:nvSpPr>
        <p:spPr/>
        <p:txBody>
          <a:bodyPr/>
          <a:lstStyle/>
          <a:p>
            <a:fld id="{FEFE5490-7C78-454F-98DE-D1826F8CB872}" type="slidenum">
              <a:rPr lang="en-US" smtClean="0"/>
              <a:t>42</a:t>
            </a:fld>
            <a:endParaRPr lang="en-US"/>
          </a:p>
        </p:txBody>
      </p:sp>
    </p:spTree>
    <p:extLst>
      <p:ext uri="{BB962C8B-B14F-4D97-AF65-F5344CB8AC3E}">
        <p14:creationId xmlns:p14="http://schemas.microsoft.com/office/powerpoint/2010/main" val="30759223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72446142"/>
              </p:ext>
            </p:extLst>
          </p:nvPr>
        </p:nvGraphicFramePr>
        <p:xfrm>
          <a:off x="2" y="2838893"/>
          <a:ext cx="12192000" cy="2133741"/>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081110047"/>
                    </a:ext>
                  </a:extLst>
                </a:gridCol>
                <a:gridCol w="2438400">
                  <a:extLst>
                    <a:ext uri="{9D8B030D-6E8A-4147-A177-3AD203B41FA5}">
                      <a16:colId xmlns:a16="http://schemas.microsoft.com/office/drawing/2014/main" val="2417216412"/>
                    </a:ext>
                  </a:extLst>
                </a:gridCol>
                <a:gridCol w="2438400">
                  <a:extLst>
                    <a:ext uri="{9D8B030D-6E8A-4147-A177-3AD203B41FA5}">
                      <a16:colId xmlns:a16="http://schemas.microsoft.com/office/drawing/2014/main" val="52690472"/>
                    </a:ext>
                  </a:extLst>
                </a:gridCol>
                <a:gridCol w="2438400">
                  <a:extLst>
                    <a:ext uri="{9D8B030D-6E8A-4147-A177-3AD203B41FA5}">
                      <a16:colId xmlns:a16="http://schemas.microsoft.com/office/drawing/2014/main" val="2363020766"/>
                    </a:ext>
                  </a:extLst>
                </a:gridCol>
                <a:gridCol w="2438400">
                  <a:extLst>
                    <a:ext uri="{9D8B030D-6E8A-4147-A177-3AD203B41FA5}">
                      <a16:colId xmlns:a16="http://schemas.microsoft.com/office/drawing/2014/main" val="1358064124"/>
                    </a:ext>
                  </a:extLst>
                </a:gridCol>
              </a:tblGrid>
              <a:tr h="711247">
                <a:tc>
                  <a:txBody>
                    <a:bodyPr/>
                    <a:lstStyle/>
                    <a:p>
                      <a:r>
                        <a:rPr lang="en-US" dirty="0" smtClean="0">
                          <a:latin typeface="Times New Roman" panose="02020603050405020304" pitchFamily="18" charset="0"/>
                          <a:cs typeface="Times New Roman" panose="02020603050405020304" pitchFamily="18" charset="0"/>
                        </a:rPr>
                        <a:t>Concrete Test Cases</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5106616"/>
                  </a:ext>
                </a:extLst>
              </a:tr>
              <a:tr h="711247">
                <a:tc>
                  <a:txBody>
                    <a:bodyPr/>
                    <a:lstStyle/>
                    <a:p>
                      <a:r>
                        <a:rPr lang="en-US" dirty="0" smtClean="0">
                          <a:latin typeface="Times New Roman" panose="02020603050405020304" pitchFamily="18" charset="0"/>
                          <a:cs typeface="Times New Roman" panose="02020603050405020304" pitchFamily="18" charset="0"/>
                        </a:rPr>
                        <a:t>Input value</a:t>
                      </a:r>
                      <a:r>
                        <a:rPr lang="en-US" baseline="0" dirty="0" smtClean="0">
                          <a:latin typeface="Times New Roman" panose="02020603050405020304" pitchFamily="18" charset="0"/>
                          <a:cs typeface="Times New Roman" panose="02020603050405020304" pitchFamily="18" charset="0"/>
                        </a:rPr>
                        <a:t> x</a:t>
                      </a:r>
                    </a:p>
                    <a:p>
                      <a:r>
                        <a:rPr lang="en-US" baseline="0" dirty="0" smtClean="0">
                          <a:latin typeface="Times New Roman" panose="02020603050405020304" pitchFamily="18" charset="0"/>
                          <a:cs typeface="Times New Roman" panose="02020603050405020304" pitchFamily="18" charset="0"/>
                        </a:rPr>
                        <a:t>(price in $)</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14500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16500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24750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31800</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1487721"/>
                  </a:ext>
                </a:extLst>
              </a:tr>
              <a:tr h="711247">
                <a:tc>
                  <a:txBody>
                    <a:bodyPr/>
                    <a:lstStyle/>
                    <a:p>
                      <a:r>
                        <a:rPr lang="en-US" dirty="0" smtClean="0">
                          <a:latin typeface="Times New Roman" panose="02020603050405020304" pitchFamily="18" charset="0"/>
                          <a:cs typeface="Times New Roman" panose="02020603050405020304" pitchFamily="18" charset="0"/>
                        </a:rPr>
                        <a:t>Predicted result (discount in %)</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14500</a:t>
                      </a:r>
                      <a:r>
                        <a:rPr lang="en-US" baseline="0" dirty="0" smtClean="0">
                          <a:latin typeface="Times New Roman" panose="02020603050405020304" pitchFamily="18" charset="0"/>
                          <a:cs typeface="Times New Roman" panose="02020603050405020304" pitchFamily="18" charset="0"/>
                        </a:rPr>
                        <a:t> x 0/100 = </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dirty="0" smtClean="0">
                          <a:latin typeface="Times New Roman" panose="02020603050405020304" pitchFamily="18" charset="0"/>
                          <a:cs typeface="Times New Roman" panose="02020603050405020304" pitchFamily="18" charset="0"/>
                        </a:rPr>
                        <a:t>16500</a:t>
                      </a:r>
                      <a:r>
                        <a:rPr lang="en-US" baseline="0" dirty="0" smtClean="0">
                          <a:latin typeface="Times New Roman" panose="02020603050405020304" pitchFamily="18" charset="0"/>
                          <a:cs typeface="Times New Roman" panose="02020603050405020304" pitchFamily="18" charset="0"/>
                        </a:rPr>
                        <a:t> x 5/100 = 82</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baseline="0" dirty="0" smtClean="0">
                          <a:latin typeface="Times New Roman" panose="02020603050405020304" pitchFamily="18" charset="0"/>
                          <a:cs typeface="Times New Roman" panose="02020603050405020304" pitchFamily="18" charset="0"/>
                        </a:rPr>
                        <a:t>24750 x 7/100 = 1</a:t>
                      </a:r>
                      <a:r>
                        <a:rPr lang="en-US" dirty="0" smtClean="0">
                          <a:latin typeface="Times New Roman" panose="02020603050405020304" pitchFamily="18" charset="0"/>
                          <a:cs typeface="Times New Roman" panose="02020603050405020304" pitchFamily="18" charset="0"/>
                        </a:rPr>
                        <a:t>732.5</a:t>
                      </a:r>
                      <a:endParaRPr lang="en-US"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baseline="0" dirty="0" smtClean="0">
                          <a:latin typeface="Times New Roman" panose="02020603050405020304" pitchFamily="18" charset="0"/>
                          <a:cs typeface="Times New Roman" panose="02020603050405020304" pitchFamily="18" charset="0"/>
                        </a:rPr>
                        <a:t>31800 x 8.5/100 = 2703</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4268101"/>
                  </a:ext>
                </a:extLst>
              </a:tr>
            </a:tbl>
          </a:graphicData>
        </a:graphic>
      </p:graphicFrame>
      <p:sp>
        <p:nvSpPr>
          <p:cNvPr id="4" name="Slide Number Placeholder 3"/>
          <p:cNvSpPr>
            <a:spLocks noGrp="1"/>
          </p:cNvSpPr>
          <p:nvPr>
            <p:ph type="sldNum" sz="quarter" idx="12"/>
          </p:nvPr>
        </p:nvSpPr>
        <p:spPr/>
        <p:txBody>
          <a:bodyPr/>
          <a:lstStyle/>
          <a:p>
            <a:fld id="{FEFE5490-7C78-454F-98DE-D1826F8CB872}" type="slidenum">
              <a:rPr lang="en-US" smtClean="0"/>
              <a:t>43</a:t>
            </a:fld>
            <a:endParaRPr lang="en-US"/>
          </a:p>
        </p:txBody>
      </p:sp>
    </p:spTree>
    <p:extLst>
      <p:ext uri="{BB962C8B-B14F-4D97-AF65-F5344CB8AC3E}">
        <p14:creationId xmlns:p14="http://schemas.microsoft.com/office/powerpoint/2010/main" val="14853773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Test analysis has already prioritized the test conditions. These same priorities can be used and fine-tuned for your test </a:t>
            </a:r>
            <a:r>
              <a:rPr lang="en-US" dirty="0" smtClean="0">
                <a:latin typeface="Times New Roman" panose="02020603050405020304" pitchFamily="18" charset="0"/>
                <a:cs typeface="Times New Roman" panose="02020603050405020304" pitchFamily="18" charset="0"/>
              </a:rPr>
              <a:t>cases (or </a:t>
            </a:r>
            <a:r>
              <a:rPr lang="en-US" dirty="0">
                <a:latin typeface="Times New Roman" panose="02020603050405020304" pitchFamily="18" charset="0"/>
                <a:cs typeface="Times New Roman" panose="02020603050405020304" pitchFamily="18" charset="0"/>
              </a:rPr>
              <a:t>sets of test cases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Test infrastructure consists of all the organizational elements required for testing like test environment, testing tools, and appropriately equipped </a:t>
            </a:r>
            <a:r>
              <a:rPr lang="en-US" dirty="0" smtClean="0">
                <a:latin typeface="Times New Roman" panose="02020603050405020304" pitchFamily="18" charset="0"/>
                <a:cs typeface="Times New Roman" panose="02020603050405020304" pitchFamily="18" charset="0"/>
              </a:rPr>
              <a:t>workstations</a:t>
            </a:r>
          </a:p>
          <a:p>
            <a:pPr algn="just"/>
            <a:r>
              <a:rPr lang="en-US" dirty="0">
                <a:latin typeface="Times New Roman" panose="02020603050405020304" pitchFamily="18" charset="0"/>
                <a:cs typeface="Times New Roman" panose="02020603050405020304" pitchFamily="18" charset="0"/>
              </a:rPr>
              <a:t>A test environment is required in order to run the test object on a </a:t>
            </a:r>
            <a:r>
              <a:rPr lang="en-US" dirty="0" smtClean="0">
                <a:latin typeface="Times New Roman" panose="02020603050405020304" pitchFamily="18" charset="0"/>
                <a:cs typeface="Times New Roman" panose="02020603050405020304" pitchFamily="18" charset="0"/>
              </a:rPr>
              <a:t>computer</a:t>
            </a:r>
          </a:p>
          <a:p>
            <a:pPr algn="just"/>
            <a:r>
              <a:rPr lang="en-US" dirty="0">
                <a:latin typeface="Times New Roman" panose="02020603050405020304" pitchFamily="18" charset="0"/>
                <a:cs typeface="Times New Roman" panose="02020603050405020304" pitchFamily="18" charset="0"/>
              </a:rPr>
              <a:t>In order to avoid delays while testing, the test infrastructure should be up and running</a:t>
            </a:r>
          </a:p>
        </p:txBody>
      </p:sp>
      <p:sp>
        <p:nvSpPr>
          <p:cNvPr id="4" name="Slide Number Placeholder 3"/>
          <p:cNvSpPr>
            <a:spLocks noGrp="1"/>
          </p:cNvSpPr>
          <p:nvPr>
            <p:ph type="sldNum" sz="quarter" idx="12"/>
          </p:nvPr>
        </p:nvSpPr>
        <p:spPr/>
        <p:txBody>
          <a:bodyPr/>
          <a:lstStyle/>
          <a:p>
            <a:fld id="{FEFE5490-7C78-454F-98DE-D1826F8CB872}" type="slidenum">
              <a:rPr lang="en-US" smtClean="0"/>
              <a:t>44</a:t>
            </a:fld>
            <a:endParaRPr lang="en-US"/>
          </a:p>
        </p:txBody>
      </p:sp>
    </p:spTree>
    <p:extLst>
      <p:ext uri="{BB962C8B-B14F-4D97-AF65-F5344CB8AC3E}">
        <p14:creationId xmlns:p14="http://schemas.microsoft.com/office/powerpoint/2010/main" val="333539080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implementation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Need </a:t>
            </a:r>
            <a:r>
              <a:rPr lang="en-US" dirty="0">
                <a:latin typeface="Times New Roman" panose="02020603050405020304" pitchFamily="18" charset="0"/>
                <a:cs typeface="Times New Roman" panose="02020603050405020304" pitchFamily="18" charset="0"/>
              </a:rPr>
              <a:t>to check that all additional tools (such as service virtualization, simulators, and other infrastructure elements) are in place and </a:t>
            </a:r>
            <a:r>
              <a:rPr lang="en-US" dirty="0" smtClean="0">
                <a:latin typeface="Times New Roman" panose="02020603050405020304" pitchFamily="18" charset="0"/>
                <a:cs typeface="Times New Roman" panose="02020603050405020304" pitchFamily="18" charset="0"/>
              </a:rPr>
              <a:t>working</a:t>
            </a:r>
          </a:p>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data have to be correctly transferred to the test </a:t>
            </a:r>
            <a:r>
              <a:rPr lang="en-US" dirty="0" smtClean="0">
                <a:latin typeface="Times New Roman" panose="02020603050405020304" pitchFamily="18" charset="0"/>
                <a:cs typeface="Times New Roman" panose="02020603050405020304" pitchFamily="18" charset="0"/>
              </a:rPr>
              <a:t>environment</a:t>
            </a:r>
          </a:p>
          <a:p>
            <a:pPr algn="just"/>
            <a:r>
              <a:rPr lang="en-US" dirty="0" smtClean="0">
                <a:latin typeface="Times New Roman" panose="02020603050405020304" pitchFamily="18" charset="0"/>
                <a:cs typeface="Times New Roman" panose="02020603050405020304" pitchFamily="18" charset="0"/>
              </a:rPr>
              <a:t>Planned </a:t>
            </a:r>
            <a:r>
              <a:rPr lang="en-US" dirty="0">
                <a:latin typeface="Times New Roman" panose="02020603050405020304" pitchFamily="18" charset="0"/>
                <a:cs typeface="Times New Roman" panose="02020603050405020304" pitchFamily="18" charset="0"/>
              </a:rPr>
              <a:t>tests have to be put into a logical sequence. This takes place according to the priorities you have </a:t>
            </a:r>
            <a:r>
              <a:rPr lang="en-US" dirty="0" smtClean="0">
                <a:latin typeface="Times New Roman" panose="02020603050405020304" pitchFamily="18" charset="0"/>
                <a:cs typeface="Times New Roman" panose="02020603050405020304" pitchFamily="18" charset="0"/>
              </a:rPr>
              <a:t>defined</a:t>
            </a:r>
          </a:p>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cases are grouped into test </a:t>
            </a:r>
            <a:r>
              <a:rPr lang="en-US" dirty="0" smtClean="0">
                <a:latin typeface="Times New Roman" panose="02020603050405020304" pitchFamily="18" charset="0"/>
                <a:cs typeface="Times New Roman" panose="02020603050405020304" pitchFamily="18" charset="0"/>
              </a:rPr>
              <a:t>suites</a:t>
            </a:r>
          </a:p>
          <a:p>
            <a:pPr algn="just"/>
            <a:r>
              <a:rPr lang="en-US" dirty="0">
                <a:latin typeface="Times New Roman" panose="02020603050405020304" pitchFamily="18" charset="0"/>
                <a:cs typeface="Times New Roman" panose="02020603050405020304" pitchFamily="18" charset="0"/>
              </a:rPr>
              <a:t>Automating test procedures using scripts saves a lot of time compared with manual </a:t>
            </a:r>
            <a:r>
              <a:rPr lang="en-US" dirty="0" smtClean="0">
                <a:latin typeface="Times New Roman" panose="02020603050405020304" pitchFamily="18" charset="0"/>
                <a:cs typeface="Times New Roman" panose="02020603050405020304" pitchFamily="18" charset="0"/>
              </a:rPr>
              <a:t>testing</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45</a:t>
            </a:fld>
            <a:endParaRPr lang="en-US"/>
          </a:p>
        </p:txBody>
      </p:sp>
    </p:spTree>
    <p:extLst>
      <p:ext uri="{BB962C8B-B14F-4D97-AF65-F5344CB8AC3E}">
        <p14:creationId xmlns:p14="http://schemas.microsoft.com/office/powerpoint/2010/main" val="317367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Test execution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smtClean="0">
                <a:latin typeface="Times New Roman" panose="02020603050405020304" pitchFamily="18" charset="0"/>
                <a:cs typeface="Times New Roman" panose="02020603050405020304" pitchFamily="18" charset="0"/>
              </a:rPr>
              <a:t>Involves </a:t>
            </a:r>
            <a:r>
              <a:rPr lang="en-US" dirty="0">
                <a:latin typeface="Times New Roman" panose="02020603050405020304" pitchFamily="18" charset="0"/>
                <a:cs typeface="Times New Roman" panose="02020603050405020304" pitchFamily="18" charset="0"/>
              </a:rPr>
              <a:t>installing the test object in the test environment and checking that it can be started and </a:t>
            </a:r>
            <a:r>
              <a:rPr lang="en-US" dirty="0" smtClean="0">
                <a:latin typeface="Times New Roman" panose="02020603050405020304" pitchFamily="18" charset="0"/>
                <a:cs typeface="Times New Roman" panose="02020603050405020304" pitchFamily="18" charset="0"/>
              </a:rPr>
              <a:t>run</a:t>
            </a:r>
          </a:p>
          <a:p>
            <a:pPr algn="just"/>
            <a:r>
              <a:rPr lang="en-US" dirty="0" smtClean="0">
                <a:latin typeface="Times New Roman" panose="02020603050405020304" pitchFamily="18" charset="0"/>
                <a:cs typeface="Times New Roman" panose="02020603050405020304" pitchFamily="18" charset="0"/>
              </a:rPr>
              <a:t>Test execution process has </a:t>
            </a:r>
            <a:r>
              <a:rPr lang="en-US" dirty="0">
                <a:latin typeface="Times New Roman" panose="02020603050405020304" pitchFamily="18" charset="0"/>
                <a:cs typeface="Times New Roman" panose="02020603050405020304" pitchFamily="18" charset="0"/>
              </a:rPr>
              <a:t>to be precisely and completely logged. You need to log each test </a:t>
            </a:r>
            <a:r>
              <a:rPr lang="en-US" dirty="0" smtClean="0">
                <a:latin typeface="Times New Roman" panose="02020603050405020304" pitchFamily="18" charset="0"/>
                <a:cs typeface="Times New Roman" panose="02020603050405020304" pitchFamily="18" charset="0"/>
              </a:rPr>
              <a:t>result</a:t>
            </a:r>
          </a:p>
          <a:p>
            <a:pPr algn="just"/>
            <a:r>
              <a:rPr lang="en-US" dirty="0" smtClean="0">
                <a:latin typeface="Times New Roman" panose="02020603050405020304" pitchFamily="18" charset="0"/>
                <a:cs typeface="Times New Roman" panose="02020603050405020304" pitchFamily="18" charset="0"/>
              </a:rPr>
              <a:t>Verify </a:t>
            </a:r>
            <a:r>
              <a:rPr lang="en-US" dirty="0">
                <a:latin typeface="Times New Roman" panose="02020603050405020304" pitchFamily="18" charset="0"/>
                <a:cs typeface="Times New Roman" panose="02020603050405020304" pitchFamily="18" charset="0"/>
              </a:rPr>
              <a:t>that the overall testing </a:t>
            </a:r>
            <a:r>
              <a:rPr lang="en-US" dirty="0" smtClean="0">
                <a:latin typeface="Times New Roman" panose="02020603050405020304" pitchFamily="18" charset="0"/>
                <a:cs typeface="Times New Roman" panose="02020603050405020304" pitchFamily="18" charset="0"/>
              </a:rPr>
              <a:t>strategy has </a:t>
            </a:r>
            <a:r>
              <a:rPr lang="en-US" dirty="0">
                <a:latin typeface="Times New Roman" panose="02020603050405020304" pitchFamily="18" charset="0"/>
                <a:cs typeface="Times New Roman" panose="02020603050405020304" pitchFamily="18" charset="0"/>
              </a:rPr>
              <a:t>been performed as </a:t>
            </a:r>
            <a:r>
              <a:rPr lang="en-US" dirty="0" smtClean="0">
                <a:latin typeface="Times New Roman" panose="02020603050405020304" pitchFamily="18" charset="0"/>
                <a:cs typeface="Times New Roman" panose="02020603050405020304" pitchFamily="18" charset="0"/>
              </a:rPr>
              <a:t>planned</a:t>
            </a:r>
          </a:p>
          <a:p>
            <a:pPr algn="just"/>
            <a:r>
              <a:rPr lang="en-US" dirty="0">
                <a:latin typeface="Times New Roman" panose="02020603050405020304" pitchFamily="18" charset="0"/>
                <a:cs typeface="Times New Roman" panose="02020603050405020304" pitchFamily="18" charset="0"/>
              </a:rPr>
              <a:t>Logs should show which parts were tested, when, by whom, how intensively and with what </a:t>
            </a:r>
            <a:r>
              <a:rPr lang="en-US" dirty="0" smtClean="0">
                <a:latin typeface="Times New Roman" panose="02020603050405020304" pitchFamily="18" charset="0"/>
                <a:cs typeface="Times New Roman" panose="02020603050405020304" pitchFamily="18" charset="0"/>
              </a:rPr>
              <a:t>results</a:t>
            </a:r>
          </a:p>
          <a:p>
            <a:pPr algn="just"/>
            <a:r>
              <a:rPr lang="en-US" dirty="0" smtClean="0">
                <a:latin typeface="Times New Roman" panose="02020603050405020304" pitchFamily="18" charset="0"/>
                <a:cs typeface="Times New Roman" panose="02020603050405020304" pitchFamily="18" charset="0"/>
              </a:rPr>
              <a:t>Check </a:t>
            </a:r>
            <a:r>
              <a:rPr lang="en-US" dirty="0">
                <a:latin typeface="Times New Roman" panose="02020603050405020304" pitchFamily="18" charset="0"/>
                <a:cs typeface="Times New Roman" panose="02020603050405020304" pitchFamily="18" charset="0"/>
              </a:rPr>
              <a:t>that the corresponding failure has also been resolved and that no new failures have been caused by the correction </a:t>
            </a:r>
            <a:r>
              <a:rPr lang="en-US" dirty="0" smtClean="0">
                <a:latin typeface="Times New Roman" panose="02020603050405020304" pitchFamily="18" charset="0"/>
                <a:cs typeface="Times New Roman" panose="02020603050405020304" pitchFamily="18" charset="0"/>
              </a:rPr>
              <a:t>process</a:t>
            </a:r>
          </a:p>
          <a:p>
            <a:pPr algn="just"/>
            <a:r>
              <a:rPr lang="en-US" dirty="0" smtClean="0">
                <a:latin typeface="Times New Roman" panose="02020603050405020304" pitchFamily="18" charset="0"/>
                <a:cs typeface="Times New Roman" panose="02020603050405020304" pitchFamily="18" charset="0"/>
              </a:rPr>
              <a:t>Which </a:t>
            </a:r>
            <a:r>
              <a:rPr lang="en-US" dirty="0">
                <a:latin typeface="Times New Roman" panose="02020603050405020304" pitchFamily="18" charset="0"/>
                <a:cs typeface="Times New Roman" panose="02020603050405020304" pitchFamily="18" charset="0"/>
              </a:rPr>
              <a:t>requirements couldn’t be verified due to failed tests or failures that were registered during testing</a:t>
            </a:r>
          </a:p>
        </p:txBody>
      </p:sp>
      <p:sp>
        <p:nvSpPr>
          <p:cNvPr id="4" name="Slide Number Placeholder 3"/>
          <p:cNvSpPr>
            <a:spLocks noGrp="1"/>
          </p:cNvSpPr>
          <p:nvPr>
            <p:ph type="sldNum" sz="quarter" idx="12"/>
          </p:nvPr>
        </p:nvSpPr>
        <p:spPr/>
        <p:txBody>
          <a:bodyPr/>
          <a:lstStyle/>
          <a:p>
            <a:fld id="{FEFE5490-7C78-454F-98DE-D1826F8CB872}" type="slidenum">
              <a:rPr lang="en-US" smtClean="0"/>
              <a:t>46</a:t>
            </a:fld>
            <a:endParaRPr lang="en-US"/>
          </a:p>
        </p:txBody>
      </p:sp>
    </p:spTree>
    <p:extLst>
      <p:ext uri="{BB962C8B-B14F-4D97-AF65-F5344CB8AC3E}">
        <p14:creationId xmlns:p14="http://schemas.microsoft.com/office/powerpoint/2010/main" val="29388597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panose="02020603050405020304" pitchFamily="18" charset="0"/>
                <a:cs typeface="Times New Roman" panose="02020603050405020304" pitchFamily="18" charset="0"/>
              </a:rPr>
              <a:t>Test </a:t>
            </a:r>
            <a:r>
              <a:rPr lang="en-US" dirty="0" smtClean="0">
                <a:latin typeface="Times New Roman" panose="02020603050405020304" pitchFamily="18" charset="0"/>
                <a:cs typeface="Times New Roman" panose="02020603050405020304" pitchFamily="18" charset="0"/>
              </a:rPr>
              <a:t>completion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Involves </a:t>
            </a:r>
            <a:r>
              <a:rPr lang="en-US" dirty="0">
                <a:latin typeface="Times New Roman" panose="02020603050405020304" pitchFamily="18" charset="0"/>
                <a:cs typeface="Times New Roman" panose="02020603050405020304" pitchFamily="18" charset="0"/>
              </a:rPr>
              <a:t>collating all the data collected by the completed test activities in order to evaluate the test experience and consolidate the testware and its associated </a:t>
            </a:r>
            <a:r>
              <a:rPr lang="en-US" dirty="0" smtClean="0">
                <a:latin typeface="Times New Roman" panose="02020603050405020304" pitchFamily="18" charset="0"/>
                <a:cs typeface="Times New Roman" panose="02020603050405020304" pitchFamily="18" charset="0"/>
              </a:rPr>
              <a:t>materials</a:t>
            </a:r>
          </a:p>
          <a:p>
            <a:pPr algn="just"/>
            <a:r>
              <a:rPr lang="en-US" dirty="0">
                <a:latin typeface="Times New Roman" panose="02020603050405020304" pitchFamily="18" charset="0"/>
                <a:cs typeface="Times New Roman" panose="02020603050405020304" pitchFamily="18" charset="0"/>
              </a:rPr>
              <a:t>The test summary </a:t>
            </a:r>
            <a:r>
              <a:rPr lang="en-US" dirty="0" smtClean="0">
                <a:latin typeface="Times New Roman" panose="02020603050405020304" pitchFamily="18" charset="0"/>
                <a:cs typeface="Times New Roman" panose="02020603050405020304" pitchFamily="18" charset="0"/>
              </a:rPr>
              <a:t>report aggregates </a:t>
            </a:r>
            <a:r>
              <a:rPr lang="en-US" dirty="0">
                <a:latin typeface="Times New Roman" panose="02020603050405020304" pitchFamily="18" charset="0"/>
                <a:cs typeface="Times New Roman" panose="02020603050405020304" pitchFamily="18" charset="0"/>
              </a:rPr>
              <a:t>all your testing activities and results, and includes an overall evaluation of the tests you have performed compared with your predefined exit criteria. The summary report is distributed to all stakeholders</a:t>
            </a:r>
          </a:p>
        </p:txBody>
      </p:sp>
      <p:sp>
        <p:nvSpPr>
          <p:cNvPr id="4" name="Slide Number Placeholder 3"/>
          <p:cNvSpPr>
            <a:spLocks noGrp="1"/>
          </p:cNvSpPr>
          <p:nvPr>
            <p:ph type="sldNum" sz="quarter" idx="12"/>
          </p:nvPr>
        </p:nvSpPr>
        <p:spPr/>
        <p:txBody>
          <a:bodyPr/>
          <a:lstStyle/>
          <a:p>
            <a:fld id="{FEFE5490-7C78-454F-98DE-D1826F8CB872}" type="slidenum">
              <a:rPr lang="en-US" smtClean="0"/>
              <a:t>47</a:t>
            </a:fld>
            <a:endParaRPr lang="en-US"/>
          </a:p>
        </p:txBody>
      </p:sp>
    </p:spTree>
    <p:extLst>
      <p:ext uri="{BB962C8B-B14F-4D97-AF65-F5344CB8AC3E}">
        <p14:creationId xmlns:p14="http://schemas.microsoft.com/office/powerpoint/2010/main" val="37735286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traceability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Between </a:t>
            </a:r>
            <a:r>
              <a:rPr lang="en-US" dirty="0">
                <a:latin typeface="Times New Roman" panose="02020603050405020304" pitchFamily="18" charset="0"/>
                <a:cs typeface="Times New Roman" panose="02020603050405020304" pitchFamily="18" charset="0"/>
              </a:rPr>
              <a:t>the test basis and test </a:t>
            </a:r>
            <a:r>
              <a:rPr lang="en-US" dirty="0" smtClean="0">
                <a:latin typeface="Times New Roman" panose="02020603050405020304" pitchFamily="18" charset="0"/>
                <a:cs typeface="Times New Roman" panose="02020603050405020304" pitchFamily="18" charset="0"/>
              </a:rPr>
              <a:t>results</a:t>
            </a:r>
          </a:p>
          <a:p>
            <a:pPr algn="just"/>
            <a:r>
              <a:rPr lang="en-US" dirty="0" smtClean="0">
                <a:latin typeface="Times New Roman" panose="02020603050405020304" pitchFamily="18" charset="0"/>
                <a:cs typeface="Times New Roman" panose="02020603050405020304" pitchFamily="18" charset="0"/>
              </a:rPr>
              <a:t>Checking </a:t>
            </a:r>
            <a:r>
              <a:rPr lang="en-US" dirty="0">
                <a:latin typeface="Times New Roman" panose="02020603050405020304" pitchFamily="18" charset="0"/>
                <a:cs typeface="Times New Roman" panose="02020603050405020304" pitchFamily="18" charset="0"/>
              </a:rPr>
              <a:t>whether all requirements have been covered by at least one test </a:t>
            </a:r>
            <a:r>
              <a:rPr lang="en-US" dirty="0" smtClean="0">
                <a:latin typeface="Times New Roman" panose="02020603050405020304" pitchFamily="18" charset="0"/>
                <a:cs typeface="Times New Roman" panose="02020603050405020304" pitchFamily="18" charset="0"/>
              </a:rPr>
              <a:t>case</a:t>
            </a:r>
          </a:p>
          <a:p>
            <a:pPr algn="just"/>
            <a:r>
              <a:rPr lang="en-US" dirty="0" smtClean="0">
                <a:latin typeface="Times New Roman" panose="02020603050405020304" pitchFamily="18" charset="0"/>
                <a:cs typeface="Times New Roman" panose="02020603050405020304" pitchFamily="18" charset="0"/>
              </a:rPr>
              <a:t>Traceability </a:t>
            </a:r>
            <a:r>
              <a:rPr lang="en-US" dirty="0">
                <a:latin typeface="Times New Roman" panose="02020603050405020304" pitchFamily="18" charset="0"/>
                <a:cs typeface="Times New Roman" panose="02020603050405020304" pitchFamily="18" charset="0"/>
              </a:rPr>
              <a:t>data helps you control the overall progress of the test </a:t>
            </a:r>
            <a:r>
              <a:rPr lang="en-US" dirty="0" smtClean="0">
                <a:latin typeface="Times New Roman" panose="02020603050405020304" pitchFamily="18" charset="0"/>
                <a:cs typeface="Times New Roman" panose="02020603050405020304" pitchFamily="18" charset="0"/>
              </a:rPr>
              <a:t>process</a:t>
            </a:r>
          </a:p>
          <a:p>
            <a:pPr algn="just"/>
            <a:r>
              <a:rPr lang="en-US" dirty="0" smtClean="0">
                <a:latin typeface="Times New Roman" panose="02020603050405020304" pitchFamily="18" charset="0"/>
                <a:cs typeface="Times New Roman" panose="02020603050405020304" pitchFamily="18" charset="0"/>
              </a:rPr>
              <a:t>Some </a:t>
            </a:r>
            <a:r>
              <a:rPr lang="en-US" dirty="0">
                <a:latin typeface="Times New Roman" panose="02020603050405020304" pitchFamily="18" charset="0"/>
                <a:cs typeface="Times New Roman" panose="02020603050405020304" pitchFamily="18" charset="0"/>
              </a:rPr>
              <a:t>companies build dedicated management systems that organize test results in a way that automatically delivers traceability data</a:t>
            </a:r>
          </a:p>
        </p:txBody>
      </p:sp>
      <p:sp>
        <p:nvSpPr>
          <p:cNvPr id="4" name="Slide Number Placeholder 3"/>
          <p:cNvSpPr>
            <a:spLocks noGrp="1"/>
          </p:cNvSpPr>
          <p:nvPr>
            <p:ph type="sldNum" sz="quarter" idx="12"/>
          </p:nvPr>
        </p:nvSpPr>
        <p:spPr/>
        <p:txBody>
          <a:bodyPr/>
          <a:lstStyle/>
          <a:p>
            <a:fld id="{FEFE5490-7C78-454F-98DE-D1826F8CB872}" type="slidenum">
              <a:rPr lang="en-US" smtClean="0"/>
              <a:t>48</a:t>
            </a:fld>
            <a:endParaRPr lang="en-US"/>
          </a:p>
        </p:txBody>
      </p:sp>
    </p:spTree>
    <p:extLst>
      <p:ext uri="{BB962C8B-B14F-4D97-AF65-F5344CB8AC3E}">
        <p14:creationId xmlns:p14="http://schemas.microsoft.com/office/powerpoint/2010/main" val="85168743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The influence of context on the test process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i="1" dirty="0" smtClean="0">
                <a:latin typeface="Times New Roman" panose="02020603050405020304" pitchFamily="18" charset="0"/>
                <a:cs typeface="Times New Roman" panose="02020603050405020304" pitchFamily="18" charset="0"/>
              </a:rPr>
              <a:t>Development life cycle model</a:t>
            </a:r>
            <a:r>
              <a:rPr lang="en-US" dirty="0" smtClean="0">
                <a:latin typeface="Times New Roman" panose="02020603050405020304" pitchFamily="18" charset="0"/>
                <a:cs typeface="Times New Roman" panose="02020603050405020304" pitchFamily="18" charset="0"/>
              </a:rPr>
              <a:t> - Most </a:t>
            </a:r>
            <a:r>
              <a:rPr lang="en-US" dirty="0">
                <a:latin typeface="Times New Roman" panose="02020603050405020304" pitchFamily="18" charset="0"/>
                <a:cs typeface="Times New Roman" panose="02020603050405020304" pitchFamily="18" charset="0"/>
              </a:rPr>
              <a:t>agile models don’t include detailed directions for testing and its associated </a:t>
            </a:r>
            <a:r>
              <a:rPr lang="en-US" dirty="0" smtClean="0">
                <a:latin typeface="Times New Roman" panose="02020603050405020304" pitchFamily="18" charset="0"/>
                <a:cs typeface="Times New Roman" panose="02020603050405020304" pitchFamily="18" charset="0"/>
              </a:rPr>
              <a:t>activities</a:t>
            </a:r>
          </a:p>
          <a:p>
            <a:pPr algn="just"/>
            <a:r>
              <a:rPr lang="en-US" i="1" dirty="0" smtClean="0">
                <a:latin typeface="Times New Roman" panose="02020603050405020304" pitchFamily="18" charset="0"/>
                <a:cs typeface="Times New Roman" panose="02020603050405020304" pitchFamily="18" charset="0"/>
              </a:rPr>
              <a:t>Test type</a:t>
            </a:r>
            <a:r>
              <a:rPr lang="en-US" dirty="0" smtClean="0">
                <a:latin typeface="Times New Roman" panose="02020603050405020304" pitchFamily="18" charset="0"/>
                <a:cs typeface="Times New Roman" panose="02020603050405020304" pitchFamily="18" charset="0"/>
              </a:rPr>
              <a:t> - A </a:t>
            </a:r>
            <a:r>
              <a:rPr lang="en-US" dirty="0">
                <a:latin typeface="Times New Roman" panose="02020603050405020304" pitchFamily="18" charset="0"/>
                <a:cs typeface="Times New Roman" panose="02020603050405020304" pitchFamily="18" charset="0"/>
              </a:rPr>
              <a:t>test type is a group of test activities designed to test a component or a system for interrelated quality </a:t>
            </a:r>
            <a:r>
              <a:rPr lang="en-US" dirty="0" smtClean="0">
                <a:latin typeface="Times New Roman" panose="02020603050405020304" pitchFamily="18" charset="0"/>
                <a:cs typeface="Times New Roman" panose="02020603050405020304" pitchFamily="18" charset="0"/>
              </a:rPr>
              <a:t>characteristics</a:t>
            </a:r>
          </a:p>
          <a:p>
            <a:pPr algn="just"/>
            <a:r>
              <a:rPr lang="en-US" i="1" dirty="0" smtClean="0">
                <a:latin typeface="Times New Roman" panose="02020603050405020304" pitchFamily="18" charset="0"/>
                <a:cs typeface="Times New Roman" panose="02020603050405020304" pitchFamily="18" charset="0"/>
              </a:rPr>
              <a:t>Operational limitations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affect the structure and implementation of test </a:t>
            </a:r>
            <a:r>
              <a:rPr lang="en-US" dirty="0" smtClean="0">
                <a:latin typeface="Times New Roman" panose="02020603050405020304" pitchFamily="18" charset="0"/>
                <a:cs typeface="Times New Roman" panose="02020603050405020304" pitchFamily="18" charset="0"/>
              </a:rPr>
              <a:t>processes including budget, deadlines, complexity, contractual and regulatory requirements</a:t>
            </a:r>
          </a:p>
          <a:p>
            <a:pPr algn="just"/>
            <a:r>
              <a:rPr lang="en-US" dirty="0">
                <a:latin typeface="Times New Roman" panose="02020603050405020304" pitchFamily="18" charset="0"/>
                <a:cs typeface="Times New Roman" panose="02020603050405020304" pitchFamily="18" charset="0"/>
              </a:rPr>
              <a:t>The context in which a software system is used also has an effect on the testing process. For example, software used exclusively for company-internal vacation planning will be subject to less thorough testing than a custom system built to control a client’s industrial </a:t>
            </a:r>
            <a:r>
              <a:rPr lang="en-US" dirty="0" smtClean="0">
                <a:latin typeface="Times New Roman" panose="02020603050405020304" pitchFamily="18" charset="0"/>
                <a:cs typeface="Times New Roman" panose="02020603050405020304" pitchFamily="18" charset="0"/>
              </a:rPr>
              <a:t>facility</a:t>
            </a:r>
          </a:p>
          <a:p>
            <a:pPr algn="just"/>
            <a:r>
              <a:rPr lang="en-US" dirty="0">
                <a:latin typeface="Times New Roman" panose="02020603050405020304" pitchFamily="18" charset="0"/>
                <a:cs typeface="Times New Roman" panose="02020603050405020304" pitchFamily="18" charset="0"/>
              </a:rPr>
              <a:t>Company guidelines and best practices can also have an effect on the testing process and the rules that govern it</a:t>
            </a:r>
          </a:p>
        </p:txBody>
      </p:sp>
      <p:sp>
        <p:nvSpPr>
          <p:cNvPr id="4" name="Slide Number Placeholder 3"/>
          <p:cNvSpPr>
            <a:spLocks noGrp="1"/>
          </p:cNvSpPr>
          <p:nvPr>
            <p:ph type="sldNum" sz="quarter" idx="12"/>
          </p:nvPr>
        </p:nvSpPr>
        <p:spPr/>
        <p:txBody>
          <a:bodyPr/>
          <a:lstStyle/>
          <a:p>
            <a:fld id="{FEFE5490-7C78-454F-98DE-D1826F8CB872}" type="slidenum">
              <a:rPr lang="en-US" smtClean="0"/>
              <a:t>49</a:t>
            </a:fld>
            <a:endParaRPr lang="en-US"/>
          </a:p>
        </p:txBody>
      </p:sp>
    </p:spTree>
    <p:extLst>
      <p:ext uri="{BB962C8B-B14F-4D97-AF65-F5344CB8AC3E}">
        <p14:creationId xmlns:p14="http://schemas.microsoft.com/office/powerpoint/2010/main" val="15677695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Effects of human psychology on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Everyone makes mistakes, but nobody likes to admit it</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All failures found must be communicated to the </a:t>
            </a:r>
            <a:r>
              <a:rPr lang="en-US" dirty="0" smtClean="0">
                <a:latin typeface="Times New Roman" panose="02020603050405020304" pitchFamily="18" charset="0"/>
                <a:cs typeface="Times New Roman" panose="02020603050405020304" pitchFamily="18" charset="0"/>
              </a:rPr>
              <a:t>developers</a:t>
            </a:r>
          </a:p>
          <a:p>
            <a:pPr algn="just"/>
            <a:r>
              <a:rPr lang="en-US" dirty="0">
                <a:latin typeface="Times New Roman" panose="02020603050405020304" pitchFamily="18" charset="0"/>
                <a:cs typeface="Times New Roman" panose="02020603050405020304" pitchFamily="18" charset="0"/>
              </a:rPr>
              <a:t>Discovering failures can be construed as criticism of a product or its </a:t>
            </a:r>
            <a:r>
              <a:rPr lang="en-US" dirty="0" smtClean="0">
                <a:latin typeface="Times New Roman" panose="02020603050405020304" pitchFamily="18" charset="0"/>
                <a:cs typeface="Times New Roman" panose="02020603050405020304" pitchFamily="18" charset="0"/>
              </a:rPr>
              <a:t>author</a:t>
            </a:r>
          </a:p>
          <a:p>
            <a:pPr algn="just"/>
            <a:r>
              <a:rPr lang="en-US" dirty="0">
                <a:latin typeface="Times New Roman" panose="02020603050405020304" pitchFamily="18" charset="0"/>
                <a:cs typeface="Times New Roman" panose="02020603050405020304" pitchFamily="18" charset="0"/>
              </a:rPr>
              <a:t>Confirmation bias - tendency to search for, interpret, favor, and recall information in a way that confirms or strengthens your prior personal beliefs or </a:t>
            </a:r>
            <a:r>
              <a:rPr lang="en-US" dirty="0" smtClean="0">
                <a:latin typeface="Times New Roman" panose="02020603050405020304" pitchFamily="18" charset="0"/>
                <a:cs typeface="Times New Roman" panose="02020603050405020304" pitchFamily="18" charset="0"/>
              </a:rPr>
              <a:t>hypotheses</a:t>
            </a:r>
          </a:p>
          <a:p>
            <a:pPr algn="just"/>
            <a:r>
              <a:rPr lang="en-US" dirty="0">
                <a:latin typeface="Times New Roman" panose="02020603050405020304" pitchFamily="18" charset="0"/>
                <a:cs typeface="Times New Roman" panose="02020603050405020304" pitchFamily="18" charset="0"/>
              </a:rPr>
              <a:t>Software developers generally assume that their code is fault-free, and confirmation bias makes it difficult for them to admit that their work might be </a:t>
            </a:r>
            <a:r>
              <a:rPr lang="en-US" dirty="0" smtClean="0">
                <a:latin typeface="Times New Roman" panose="02020603050405020304" pitchFamily="18" charset="0"/>
                <a:cs typeface="Times New Roman" panose="02020603050405020304" pitchFamily="18" charset="0"/>
              </a:rPr>
              <a:t>flawed</a:t>
            </a:r>
          </a:p>
          <a:p>
            <a:pPr algn="just"/>
            <a:r>
              <a:rPr lang="en-US" dirty="0" smtClean="0">
                <a:latin typeface="Times New Roman" panose="02020603050405020304" pitchFamily="18" charset="0"/>
                <a:cs typeface="Times New Roman" panose="02020603050405020304" pitchFamily="18" charset="0"/>
              </a:rPr>
              <a:t>Human </a:t>
            </a:r>
            <a:r>
              <a:rPr lang="en-US" dirty="0">
                <a:latin typeface="Times New Roman" panose="02020603050405020304" pitchFamily="18" charset="0"/>
                <a:cs typeface="Times New Roman" panose="02020603050405020304" pitchFamily="18" charset="0"/>
              </a:rPr>
              <a:t>trait is the tendency to “shoot the messenger” who brings bad </a:t>
            </a:r>
            <a:r>
              <a:rPr lang="en-US" dirty="0" smtClean="0">
                <a:latin typeface="Times New Roman" panose="02020603050405020304" pitchFamily="18" charset="0"/>
                <a:cs typeface="Times New Roman" panose="02020603050405020304" pitchFamily="18" charset="0"/>
              </a:rPr>
              <a:t>news</a:t>
            </a:r>
          </a:p>
          <a:p>
            <a:pPr algn="just"/>
            <a:r>
              <a:rPr lang="en-US" dirty="0">
                <a:latin typeface="Times New Roman" panose="02020603050405020304" pitchFamily="18" charset="0"/>
                <a:cs typeface="Times New Roman" panose="02020603050405020304" pitchFamily="18" charset="0"/>
              </a:rPr>
              <a:t>A lot of developers are not aware that test results can help them hone their own skills, a way to reduce the risk of poor product quality</a:t>
            </a:r>
          </a:p>
        </p:txBody>
      </p:sp>
      <p:sp>
        <p:nvSpPr>
          <p:cNvPr id="4" name="Slide Number Placeholder 3"/>
          <p:cNvSpPr>
            <a:spLocks noGrp="1"/>
          </p:cNvSpPr>
          <p:nvPr>
            <p:ph type="sldNum" sz="quarter" idx="12"/>
          </p:nvPr>
        </p:nvSpPr>
        <p:spPr/>
        <p:txBody>
          <a:bodyPr/>
          <a:lstStyle/>
          <a:p>
            <a:fld id="{FEFE5490-7C78-454F-98DE-D1826F8CB872}" type="slidenum">
              <a:rPr lang="en-US" smtClean="0"/>
              <a:t>50</a:t>
            </a:fld>
            <a:endParaRPr lang="en-US"/>
          </a:p>
        </p:txBody>
      </p:sp>
    </p:spTree>
    <p:extLst>
      <p:ext uri="{BB962C8B-B14F-4D97-AF65-F5344CB8AC3E}">
        <p14:creationId xmlns:p14="http://schemas.microsoft.com/office/powerpoint/2010/main" val="155597230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How testers and developers think</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Developers design and produce a product, while testers verify and validate the product with a view to discovering faults and failures</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Possible </a:t>
            </a:r>
            <a:r>
              <a:rPr lang="en-US" dirty="0">
                <a:latin typeface="Times New Roman" panose="02020603050405020304" pitchFamily="18" charset="0"/>
                <a:cs typeface="Times New Roman" panose="02020603050405020304" pitchFamily="18" charset="0"/>
              </a:rPr>
              <a:t>to improve product quality by combining these two different </a:t>
            </a:r>
            <a:r>
              <a:rPr lang="en-US" dirty="0" smtClean="0">
                <a:latin typeface="Times New Roman" panose="02020603050405020304" pitchFamily="18" charset="0"/>
                <a:cs typeface="Times New Roman" panose="02020603050405020304" pitchFamily="18" charset="0"/>
              </a:rPr>
              <a:t>mindsets</a:t>
            </a:r>
          </a:p>
          <a:p>
            <a:pPr algn="just"/>
            <a:r>
              <a:rPr lang="en-US" dirty="0">
                <a:latin typeface="Times New Roman" panose="02020603050405020304" pitchFamily="18" charset="0"/>
                <a:cs typeface="Times New Roman" panose="02020603050405020304" pitchFamily="18" charset="0"/>
              </a:rPr>
              <a:t>Testers develop their soft skills through years of hands-on </a:t>
            </a:r>
            <a:r>
              <a:rPr lang="en-US" dirty="0" smtClean="0">
                <a:latin typeface="Times New Roman" panose="02020603050405020304" pitchFamily="18" charset="0"/>
                <a:cs typeface="Times New Roman" panose="02020603050405020304" pitchFamily="18" charset="0"/>
              </a:rPr>
              <a:t>experience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Confirmation bias makes it more difficult for developers to recognize errors in their own </a:t>
            </a:r>
            <a:r>
              <a:rPr lang="en-US" dirty="0" smtClean="0">
                <a:latin typeface="Times New Roman" panose="02020603050405020304" pitchFamily="18" charset="0"/>
                <a:cs typeface="Times New Roman" panose="02020603050405020304" pitchFamily="18" charset="0"/>
              </a:rPr>
              <a:t>work</a:t>
            </a:r>
          </a:p>
          <a:p>
            <a:pPr algn="just"/>
            <a:r>
              <a:rPr lang="en-US" dirty="0" smtClean="0">
                <a:latin typeface="Times New Roman" panose="02020603050405020304" pitchFamily="18" charset="0"/>
                <a:cs typeface="Times New Roman" panose="02020603050405020304" pitchFamily="18" charset="0"/>
              </a:rPr>
              <a:t>Someone </a:t>
            </a:r>
            <a:r>
              <a:rPr lang="en-US" dirty="0">
                <a:latin typeface="Times New Roman" panose="02020603050405020304" pitchFamily="18" charset="0"/>
                <a:cs typeface="Times New Roman" panose="02020603050405020304" pitchFamily="18" charset="0"/>
              </a:rPr>
              <a:t>who both develops and tests a product requires a rare degree of critical distance to their own work</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Developers should always know some testing basics, and testers should always have some development experience</a:t>
            </a:r>
          </a:p>
        </p:txBody>
      </p:sp>
      <p:sp>
        <p:nvSpPr>
          <p:cNvPr id="4" name="Slide Number Placeholder 3"/>
          <p:cNvSpPr>
            <a:spLocks noGrp="1"/>
          </p:cNvSpPr>
          <p:nvPr>
            <p:ph type="sldNum" sz="quarter" idx="12"/>
          </p:nvPr>
        </p:nvSpPr>
        <p:spPr/>
        <p:txBody>
          <a:bodyPr/>
          <a:lstStyle/>
          <a:p>
            <a:fld id="{FEFE5490-7C78-454F-98DE-D1826F8CB872}" type="slidenum">
              <a:rPr lang="en-US" smtClean="0"/>
              <a:t>51</a:t>
            </a:fld>
            <a:endParaRPr lang="en-US"/>
          </a:p>
        </p:txBody>
      </p:sp>
    </p:spTree>
    <p:extLst>
      <p:ext uri="{BB962C8B-B14F-4D97-AF65-F5344CB8AC3E}">
        <p14:creationId xmlns:p14="http://schemas.microsoft.com/office/powerpoint/2010/main" val="17283165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Testing takes up a large proportion of a project’s development resources. Precisely how much testing effort is required depends on the type of project at </a:t>
            </a:r>
            <a:r>
              <a:rPr lang="en-US" dirty="0" smtClean="0">
                <a:latin typeface="Times New Roman" panose="02020603050405020304" pitchFamily="18" charset="0"/>
                <a:cs typeface="Times New Roman" panose="02020603050405020304" pitchFamily="18" charset="0"/>
              </a:rPr>
              <a:t>hand</a:t>
            </a:r>
          </a:p>
          <a:p>
            <a:pPr algn="just"/>
            <a:r>
              <a:rPr lang="en-US" dirty="0">
                <a:latin typeface="Times New Roman" panose="02020603050405020304" pitchFamily="18" charset="0"/>
                <a:cs typeface="Times New Roman" panose="02020603050405020304" pitchFamily="18" charset="0"/>
              </a:rPr>
              <a:t>The testing process—starting with planning and preparation steps— needs to be begun as early as possible in order to generate the maximum testing benefits within the </a:t>
            </a:r>
            <a:r>
              <a:rPr lang="en-US" dirty="0" smtClean="0">
                <a:latin typeface="Times New Roman" panose="02020603050405020304" pitchFamily="18" charset="0"/>
                <a:cs typeface="Times New Roman" panose="02020603050405020304" pitchFamily="18" charset="0"/>
              </a:rPr>
              <a:t>project</a:t>
            </a:r>
          </a:p>
          <a:p>
            <a:pPr algn="just"/>
            <a:r>
              <a:rPr lang="en-US" dirty="0">
                <a:latin typeface="Times New Roman" panose="02020603050405020304" pitchFamily="18" charset="0"/>
                <a:cs typeface="Times New Roman" panose="02020603050405020304" pitchFamily="18" charset="0"/>
              </a:rPr>
              <a:t>It is important to recognize and observe the connections and the boundaries between testing, quality assurance, and quality </a:t>
            </a:r>
            <a:r>
              <a:rPr lang="en-US" dirty="0" smtClean="0">
                <a:latin typeface="Times New Roman" panose="02020603050405020304" pitchFamily="18" charset="0"/>
                <a:cs typeface="Times New Roman" panose="02020603050405020304" pitchFamily="18" charset="0"/>
              </a:rPr>
              <a:t>management</a:t>
            </a:r>
          </a:p>
          <a:p>
            <a:pPr algn="just"/>
            <a:r>
              <a:rPr lang="en-US" dirty="0">
                <a:latin typeface="Times New Roman" panose="02020603050405020304" pitchFamily="18" charset="0"/>
                <a:cs typeface="Times New Roman" panose="02020603050405020304" pitchFamily="18" charset="0"/>
              </a:rPr>
              <a:t>The testing process comprises test planning, monitoring and control, analysis, design, implementation, execution, and completion. These activities can overlap and can be performed sequentially or in parallel. The overall testing process has to be adapted to fit the project at </a:t>
            </a:r>
            <a:r>
              <a:rPr lang="en-US" dirty="0" smtClean="0">
                <a:latin typeface="Times New Roman" panose="02020603050405020304" pitchFamily="18" charset="0"/>
                <a:cs typeface="Times New Roman" panose="02020603050405020304" pitchFamily="18" charset="0"/>
              </a:rPr>
              <a:t>hand</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52</a:t>
            </a:fld>
            <a:endParaRPr lang="en-US"/>
          </a:p>
        </p:txBody>
      </p:sp>
    </p:spTree>
    <p:extLst>
      <p:ext uri="{BB962C8B-B14F-4D97-AF65-F5344CB8AC3E}">
        <p14:creationId xmlns:p14="http://schemas.microsoft.com/office/powerpoint/2010/main" val="10071079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Bidirectional traceability between the results of the individual testing activities ensures that you can make meaningful statements about the results of the testing process, and to make a reasonable estimate of how much effort will be involved in making changes to the system. Traceability is also critical to effective test monitoring and </a:t>
            </a:r>
            <a:r>
              <a:rPr lang="en-US" dirty="0" smtClean="0">
                <a:latin typeface="Times New Roman" panose="02020603050405020304" pitchFamily="18" charset="0"/>
                <a:cs typeface="Times New Roman" panose="02020603050405020304" pitchFamily="18" charset="0"/>
              </a:rPr>
              <a:t>control.</a:t>
            </a:r>
          </a:p>
          <a:p>
            <a:pPr algn="just"/>
            <a:r>
              <a:rPr lang="en-US" dirty="0" smtClean="0">
                <a:latin typeface="Times New Roman" panose="02020603050405020304" pitchFamily="18" charset="0"/>
                <a:cs typeface="Times New Roman" panose="02020603050405020304" pitchFamily="18" charset="0"/>
              </a:rPr>
              <a:t>All </a:t>
            </a:r>
            <a:r>
              <a:rPr lang="en-US" dirty="0">
                <a:latin typeface="Times New Roman" panose="02020603050405020304" pitchFamily="18" charset="0"/>
                <a:cs typeface="Times New Roman" panose="02020603050405020304" pitchFamily="18" charset="0"/>
              </a:rPr>
              <a:t>of the many factors that influence testing within an organization have to be considered. People make mistakes but don’t usually like to admit it! This is why psychological issues play a significant role in the overall testing </a:t>
            </a:r>
            <a:r>
              <a:rPr lang="en-US" dirty="0" smtClean="0">
                <a:latin typeface="Times New Roman" panose="02020603050405020304" pitchFamily="18" charset="0"/>
                <a:cs typeface="Times New Roman" panose="02020603050405020304" pitchFamily="18" charset="0"/>
              </a:rPr>
              <a:t>process.</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mindsets of testers and developers are very different, but both can benefit by learning from one another</a:t>
            </a:r>
          </a:p>
        </p:txBody>
      </p:sp>
      <p:sp>
        <p:nvSpPr>
          <p:cNvPr id="4" name="Slide Number Placeholder 3"/>
          <p:cNvSpPr>
            <a:spLocks noGrp="1"/>
          </p:cNvSpPr>
          <p:nvPr>
            <p:ph type="sldNum" sz="quarter" idx="12"/>
          </p:nvPr>
        </p:nvSpPr>
        <p:spPr/>
        <p:txBody>
          <a:bodyPr/>
          <a:lstStyle/>
          <a:p>
            <a:fld id="{FEFE5490-7C78-454F-98DE-D1826F8CB872}" type="slidenum">
              <a:rPr lang="en-US" smtClean="0"/>
              <a:t>53</a:t>
            </a:fld>
            <a:endParaRPr lang="en-US"/>
          </a:p>
        </p:txBody>
      </p:sp>
    </p:spTree>
    <p:extLst>
      <p:ext uri="{BB962C8B-B14F-4D97-AF65-F5344CB8AC3E}">
        <p14:creationId xmlns:p14="http://schemas.microsoft.com/office/powerpoint/2010/main" val="31147806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otalTime>757</TotalTime>
  <Words>3967</Words>
  <Application>Microsoft Office PowerPoint</Application>
  <PresentationFormat>Widescreen</PresentationFormat>
  <Paragraphs>336</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Times New Roman</vt:lpstr>
      <vt:lpstr>Tw Cen MT</vt:lpstr>
      <vt:lpstr>Tw Cen MT Condensed</vt:lpstr>
      <vt:lpstr>Wingdings</vt:lpstr>
      <vt:lpstr>Wingdings 3</vt:lpstr>
      <vt:lpstr>Integral</vt:lpstr>
      <vt:lpstr>CSE455 - Software Testing</vt:lpstr>
      <vt:lpstr>Quality Requirements</vt:lpstr>
      <vt:lpstr>Software is intangible</vt:lpstr>
      <vt:lpstr>Faulty software is a serious problem</vt:lpstr>
      <vt:lpstr>Testing helps to assess software quality</vt:lpstr>
      <vt:lpstr>Risk of using faulty software</vt:lpstr>
      <vt:lpstr>Testing involves a spot-check approach</vt:lpstr>
      <vt:lpstr>Testing involves more than just executing tests</vt:lpstr>
      <vt:lpstr>No large system is fault-free</vt:lpstr>
      <vt:lpstr>Defect</vt:lpstr>
      <vt:lpstr>Fault causes failure</vt:lpstr>
      <vt:lpstr>PowerPoint Presentation</vt:lpstr>
      <vt:lpstr>People makes errors</vt:lpstr>
      <vt:lpstr>False positive vs false negative</vt:lpstr>
      <vt:lpstr>PowerPoint Presentation</vt:lpstr>
      <vt:lpstr>Case study: vague requirements as a cause of software fault</vt:lpstr>
      <vt:lpstr>Testing is not debugging</vt:lpstr>
      <vt:lpstr>Confirmation testing</vt:lpstr>
      <vt:lpstr>Objectives of testing</vt:lpstr>
      <vt:lpstr>terminologies</vt:lpstr>
      <vt:lpstr>Cont.</vt:lpstr>
      <vt:lpstr>PowerPoint Presentation</vt:lpstr>
      <vt:lpstr>Testing effort</vt:lpstr>
      <vt:lpstr>Cont.</vt:lpstr>
      <vt:lpstr>Case study: risks and losses when failure occurs</vt:lpstr>
      <vt:lpstr>The cost of failure</vt:lpstr>
      <vt:lpstr>Applying testing skills early ensures success</vt:lpstr>
      <vt:lpstr>Basic principle of testing</vt:lpstr>
      <vt:lpstr>Cont.</vt:lpstr>
      <vt:lpstr>Quality management and quality assurance</vt:lpstr>
      <vt:lpstr>Testing process</vt:lpstr>
      <vt:lpstr>Cont.</vt:lpstr>
      <vt:lpstr>Cont.</vt:lpstr>
      <vt:lpstr>Iterative testing</vt:lpstr>
      <vt:lpstr>PowerPoint Presentation</vt:lpstr>
      <vt:lpstr>Test planning</vt:lpstr>
      <vt:lpstr>Cont.</vt:lpstr>
      <vt:lpstr>Test monitoring and control</vt:lpstr>
      <vt:lpstr>Test analysis</vt:lpstr>
      <vt:lpstr>Test design</vt:lpstr>
      <vt:lpstr>example</vt:lpstr>
      <vt:lpstr>Cont.</vt:lpstr>
      <vt:lpstr>Cont.</vt:lpstr>
      <vt:lpstr>Cont.</vt:lpstr>
      <vt:lpstr>Test implementation</vt:lpstr>
      <vt:lpstr>Test execution</vt:lpstr>
      <vt:lpstr>Test completion</vt:lpstr>
      <vt:lpstr>traceability</vt:lpstr>
      <vt:lpstr>The influence of context on the test process</vt:lpstr>
      <vt:lpstr>Effects of human psychology on testing</vt:lpstr>
      <vt:lpstr>How testers and developers think</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CSE455 - Software Testing</dc:title>
  <dc:creator>aounhaidersandhu@gmail.com</dc:creator>
  <cp:lastModifiedBy>aounhaidersandhu@gmail.com</cp:lastModifiedBy>
  <cp:revision>66</cp:revision>
  <dcterms:created xsi:type="dcterms:W3CDTF">2025-02-15T17:37:41Z</dcterms:created>
  <dcterms:modified xsi:type="dcterms:W3CDTF">2025-04-13T15:33:38Z</dcterms:modified>
</cp:coreProperties>
</file>