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embeddedFontLst>
    <p:embeddedFont>
      <p:font typeface="Jacques Francois Shadow"/>
      <p:regular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http://customooxmlschemas.google.com/">
      <go:slidesCustomData xmlns:go="http://customooxmlschemas.google.com/" r:id="rId55" roundtripDataSignature="AMtx7mhgcn7uRGG9eoJWiofyUBxzzCL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JacquesFrancoisShadow-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i="1">
              <a:latin typeface="Arial"/>
              <a:ea typeface="Arial"/>
              <a:cs typeface="Arial"/>
              <a:sym typeface="Arial"/>
            </a:endParaRPr>
          </a:p>
        </p:txBody>
      </p:sp>
      <p:sp>
        <p:nvSpPr>
          <p:cNvPr id="118" name="Google Shape;1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i="1">
              <a:latin typeface="Arial"/>
              <a:ea typeface="Arial"/>
              <a:cs typeface="Arial"/>
              <a:sym typeface="Arial"/>
            </a:endParaRPr>
          </a:p>
        </p:txBody>
      </p:sp>
      <p:sp>
        <p:nvSpPr>
          <p:cNvPr id="134" name="Google Shape;13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lang="en-US" sz="2000"/>
              <a:t>Incompleteness: </a:t>
            </a:r>
            <a:r>
              <a:rPr b="0" lang="en-US" sz="2000"/>
              <a:t>In the example</a:t>
            </a:r>
            <a:r>
              <a:rPr b="1" lang="en-US" sz="2000"/>
              <a:t> </a:t>
            </a:r>
            <a:r>
              <a:rPr b="0" lang="en-US" sz="2000"/>
              <a:t>what is the other relevant information no one knows.</a:t>
            </a:r>
            <a:endParaRPr/>
          </a:p>
          <a:p>
            <a:pPr indent="0" lvl="0" marL="0" marR="0" rtl="0" algn="l">
              <a:lnSpc>
                <a:spcPct val="100000"/>
              </a:lnSpc>
              <a:spcBef>
                <a:spcPts val="0"/>
              </a:spcBef>
              <a:spcAft>
                <a:spcPts val="0"/>
              </a:spcAft>
              <a:buClr>
                <a:schemeClr val="dk1"/>
              </a:buClr>
              <a:buSzPts val="2000"/>
              <a:buFont typeface="Arial"/>
              <a:buNone/>
            </a:pPr>
            <a:r>
              <a:rPr b="1" lang="en-US" sz="2000"/>
              <a:t>Ambiguous: </a:t>
            </a:r>
            <a:r>
              <a:rPr b="0" lang="en-US" sz="2000"/>
              <a:t>The requirement does not specify which students will be able to enrol to undergraduate courses and which will be able to enrol to post graduate courses. </a:t>
            </a:r>
            <a:endParaRPr b="1" sz="2000"/>
          </a:p>
          <a:p>
            <a:pPr indent="0" lvl="0" marL="0" marR="0" rtl="0" algn="l">
              <a:lnSpc>
                <a:spcPct val="100000"/>
              </a:lnSpc>
              <a:spcBef>
                <a:spcPts val="0"/>
              </a:spcBef>
              <a:spcAft>
                <a:spcPts val="0"/>
              </a:spcAft>
              <a:buClr>
                <a:schemeClr val="dk1"/>
              </a:buClr>
              <a:buSzPts val="2000"/>
              <a:buFont typeface="Arial"/>
              <a:buNone/>
            </a:pPr>
            <a:r>
              <a:rPr b="1" lang="en-US" sz="2000"/>
              <a:t>Self-contradictory: </a:t>
            </a:r>
            <a:r>
              <a:rPr lang="en-US" sz="2000"/>
              <a:t>These two requirements, as written, are in conflict with each other. If the charge falls below 10%, it turns itself off and prevents itself from turning back on until AC power is applied. However, if the charge falls below 5%, a warning message is displayed. The system cannot display an error message if it is powered down. The conflict must be resolved.</a:t>
            </a:r>
            <a:endParaRPr sz="2000"/>
          </a:p>
          <a:p>
            <a:pPr indent="0" lvl="1" marL="0" marR="0" rtl="0" algn="l">
              <a:lnSpc>
                <a:spcPct val="100000"/>
              </a:lnSpc>
              <a:spcBef>
                <a:spcPts val="0"/>
              </a:spcBef>
              <a:spcAft>
                <a:spcPts val="0"/>
              </a:spcAft>
              <a:buClr>
                <a:schemeClr val="dk1"/>
              </a:buClr>
              <a:buSzPts val="2000"/>
              <a:buFont typeface="Arial"/>
              <a:buNone/>
            </a:pPr>
            <a:r>
              <a:rPr b="1" lang="en-US" sz="2000"/>
              <a:t>Misunderstood or impossible to understand: </a:t>
            </a:r>
            <a:r>
              <a:rPr lang="en-US" sz="2000"/>
              <a:t>The FRS should specify whether the wait should be for the level to drop below the target or rise above the target</a:t>
            </a:r>
            <a:endParaRPr sz="2000"/>
          </a:p>
          <a:p>
            <a:pPr indent="0" lvl="0" marL="0" rtl="0" algn="l">
              <a:spcBef>
                <a:spcPts val="0"/>
              </a:spcBef>
              <a:spcAft>
                <a:spcPts val="0"/>
              </a:spcAft>
              <a:buNone/>
            </a:pPr>
            <a:r>
              <a:t/>
            </a:r>
            <a:endParaRPr sz="2000"/>
          </a:p>
        </p:txBody>
      </p:sp>
      <p:sp>
        <p:nvSpPr>
          <p:cNvPr id="176" name="Google Shape;1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0" marR="0" rtl="0" algn="l">
              <a:lnSpc>
                <a:spcPct val="100000"/>
              </a:lnSpc>
              <a:spcBef>
                <a:spcPts val="0"/>
              </a:spcBef>
              <a:spcAft>
                <a:spcPts val="0"/>
              </a:spcAft>
              <a:buClr>
                <a:schemeClr val="dk1"/>
              </a:buClr>
              <a:buSzPts val="2000"/>
              <a:buFont typeface="Arial"/>
              <a:buNone/>
            </a:pPr>
            <a:r>
              <a:rPr b="1" lang="en-US" sz="2000"/>
              <a:t>Wrong feature can have deep design implications: </a:t>
            </a:r>
            <a:r>
              <a:rPr b="0" lang="en-US" sz="2000"/>
              <a:t>The design of these wrong features can also be wrong because the design will be based on requirements. </a:t>
            </a:r>
            <a:endParaRPr/>
          </a:p>
          <a:p>
            <a:pPr indent="0" lvl="2" marL="0" marR="0" rtl="0" algn="l">
              <a:lnSpc>
                <a:spcPct val="100000"/>
              </a:lnSpc>
              <a:spcBef>
                <a:spcPts val="0"/>
              </a:spcBef>
              <a:spcAft>
                <a:spcPts val="0"/>
              </a:spcAft>
              <a:buClr>
                <a:schemeClr val="dk1"/>
              </a:buClr>
              <a:buSzPts val="2000"/>
              <a:buFont typeface="Arial"/>
              <a:buNone/>
            </a:pPr>
            <a:r>
              <a:rPr b="1" lang="en-US" sz="2000"/>
              <a:t>When features are eliminated, following consequences arise</a:t>
            </a:r>
            <a:endParaRPr/>
          </a:p>
          <a:p>
            <a:pPr indent="0" lvl="2" marL="0" marR="0" rtl="0" algn="l">
              <a:lnSpc>
                <a:spcPct val="100000"/>
              </a:lnSpc>
              <a:spcBef>
                <a:spcPts val="0"/>
              </a:spcBef>
              <a:spcAft>
                <a:spcPts val="0"/>
              </a:spcAft>
              <a:buClr>
                <a:schemeClr val="dk1"/>
              </a:buClr>
              <a:buSzPts val="2000"/>
              <a:buFont typeface="Arial"/>
              <a:buNone/>
            </a:pPr>
            <a:r>
              <a:rPr b="0" lang="en-US" sz="2000"/>
              <a:t>When you eliminate any feature, you need to change the business flow of the project, which may increase the complications of the project. Brining this change to the project may utilize more resource of the PC and introduce more bugs.</a:t>
            </a:r>
            <a:endParaRPr b="0" sz="2000"/>
          </a:p>
        </p:txBody>
      </p:sp>
      <p:sp>
        <p:nvSpPr>
          <p:cNvPr id="192" name="Google Shape;19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Call forwarding and call waiting </a:t>
            </a:r>
            <a:r>
              <a:rPr lang="en-US"/>
              <a:t>are separate features. </a:t>
            </a:r>
            <a:r>
              <a:rPr lang="en-US" sz="1200">
                <a:solidFill>
                  <a:schemeClr val="dk1"/>
                </a:solidFill>
                <a:latin typeface="Arial"/>
                <a:ea typeface="Arial"/>
                <a:cs typeface="Arial"/>
                <a:sym typeface="Arial"/>
              </a:rPr>
              <a:t>To understand the interaction between feature groups, we can consider the interaction of these two features.</a:t>
            </a:r>
            <a:endParaRPr/>
          </a:p>
          <a:p>
            <a:pPr indent="0" lvl="0" marL="0" rtl="0" algn="l">
              <a:spcBef>
                <a:spcPts val="0"/>
              </a:spcBef>
              <a:spcAft>
                <a:spcPts val="0"/>
              </a:spcAft>
              <a:buNone/>
            </a:pPr>
            <a:r>
              <a:rPr lang="en-US"/>
              <a:t>Do you think that Call forwarding and Call waiting features can interact????</a:t>
            </a:r>
            <a:endParaRPr/>
          </a:p>
          <a:p>
            <a:pPr indent="0" lvl="0" marL="0" rtl="0" algn="l">
              <a:spcBef>
                <a:spcPts val="0"/>
              </a:spcBef>
              <a:spcAft>
                <a:spcPts val="0"/>
              </a:spcAft>
              <a:buNone/>
            </a:pPr>
            <a:r>
              <a:rPr lang="en-US"/>
              <a:t>The answer is yes. When you have activated both features in your cellular phone. Call forwarding feature will forward the call to the given number. If that number is busy on another call then call waiting feature will also be activated. Both features will interact in this way.</a:t>
            </a:r>
            <a:endParaRPr/>
          </a:p>
          <a:p>
            <a:pPr indent="0" lvl="0" marL="0" rtl="0" algn="l">
              <a:spcBef>
                <a:spcPts val="0"/>
              </a:spcBef>
              <a:spcAft>
                <a:spcPts val="0"/>
              </a:spcAft>
              <a:buNone/>
            </a:pPr>
            <a:r>
              <a:rPr lang="en-US"/>
              <a:t>In case of individual feature interaction, you will check that how input is processed in an individual feature. How function are called and data flows in the feature. </a:t>
            </a:r>
            <a:endParaRPr/>
          </a:p>
        </p:txBody>
      </p:sp>
      <p:sp>
        <p:nvSpPr>
          <p:cNvPr id="200" name="Google Shape;20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Arial"/>
                <a:ea typeface="Arial"/>
                <a:cs typeface="Arial"/>
                <a:sym typeface="Arial"/>
              </a:rPr>
              <a:t>Event.</a:t>
            </a:r>
            <a:r>
              <a:rPr b="0" i="0" lang="en-US" sz="1200">
                <a:solidFill>
                  <a:schemeClr val="dk1"/>
                </a:solidFill>
                <a:latin typeface="Arial"/>
                <a:ea typeface="Arial"/>
                <a:cs typeface="Arial"/>
                <a:sym typeface="Arial"/>
              </a:rPr>
              <a:t> The event is a specific instance of time which makes the start and the end of an activity. </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Unreachable Code: </a:t>
            </a:r>
            <a:r>
              <a:rPr b="0" i="0" lang="en-US" sz="1200">
                <a:solidFill>
                  <a:schemeClr val="dk1"/>
                </a:solidFill>
                <a:latin typeface="Arial"/>
                <a:ea typeface="Arial"/>
                <a:cs typeface="Arial"/>
                <a:sym typeface="Arial"/>
              </a:rPr>
              <a:t>Flow is unreachable. Some part of code will never be executed. In the example return statement will terminate the execution of the function. The statement global=3; will never be executed.</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Dead Code: </a:t>
            </a:r>
            <a:r>
              <a:rPr b="0" i="0" lang="en-US" sz="1200">
                <a:solidFill>
                  <a:schemeClr val="dk1"/>
                </a:solidFill>
                <a:latin typeface="Arial"/>
                <a:ea typeface="Arial"/>
                <a:cs typeface="Arial"/>
                <a:sym typeface="Arial"/>
              </a:rPr>
              <a:t>Results produced will never be used. In the example the value assigned as global=1 is dead code because the variable is reassigned a value in the next statement without using the previous one.</a:t>
            </a:r>
            <a:endParaRPr b="0" i="0" sz="1200">
              <a:solidFill>
                <a:schemeClr val="dk1"/>
              </a:solidFill>
              <a:latin typeface="Arial"/>
              <a:ea typeface="Arial"/>
              <a:cs typeface="Arial"/>
              <a:sym typeface="Arial"/>
            </a:endParaRPr>
          </a:p>
          <a:p>
            <a:pPr indent="0" lvl="0" marL="0" rtl="0" algn="l">
              <a:spcBef>
                <a:spcPts val="0"/>
              </a:spcBef>
              <a:spcAft>
                <a:spcPts val="0"/>
              </a:spcAft>
              <a:buNone/>
            </a:pPr>
            <a:r>
              <a:rPr b="1" i="0" lang="en-US" sz="1200">
                <a:solidFill>
                  <a:schemeClr val="dk1"/>
                </a:solidFill>
                <a:latin typeface="Arial"/>
                <a:ea typeface="Arial"/>
                <a:cs typeface="Arial"/>
                <a:sym typeface="Arial"/>
              </a:rPr>
              <a:t>Paths Left out: </a:t>
            </a:r>
            <a:r>
              <a:rPr b="0" i="0" lang="en-US" sz="1200">
                <a:solidFill>
                  <a:schemeClr val="dk1"/>
                </a:solidFill>
                <a:latin typeface="Arial"/>
                <a:ea typeface="Arial"/>
                <a:cs typeface="Arial"/>
                <a:sym typeface="Arial"/>
              </a:rPr>
              <a:t>For example: based on the test data only if condition is executed and else part is not executed even once. </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Improper Nesting of Loop: </a:t>
            </a:r>
            <a:r>
              <a:rPr b="0" i="0" lang="en-US" sz="1200">
                <a:solidFill>
                  <a:schemeClr val="dk1"/>
                </a:solidFill>
                <a:latin typeface="Arial"/>
                <a:ea typeface="Arial"/>
                <a:cs typeface="Arial"/>
                <a:sym typeface="Arial"/>
              </a:rPr>
              <a:t>In the example there should be start and end braces of the outer loop. Otherwise the code will give wrong results.</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Loop back or loop termination criteria incorrect: </a:t>
            </a:r>
            <a:r>
              <a:rPr b="0" i="0" lang="en-US" sz="1200">
                <a:solidFill>
                  <a:schemeClr val="dk1"/>
                </a:solidFill>
                <a:latin typeface="Arial"/>
                <a:ea typeface="Arial"/>
                <a:cs typeface="Arial"/>
                <a:sym typeface="Arial"/>
              </a:rPr>
              <a:t>In the example code, there is an infinite loop because the loop termination criteria is wrong.  </a:t>
            </a:r>
            <a:endParaRPr b="1" i="0" sz="1200">
              <a:solidFill>
                <a:schemeClr val="dk1"/>
              </a:solidFill>
              <a:latin typeface="Arial"/>
              <a:ea typeface="Arial"/>
              <a:cs typeface="Arial"/>
              <a:sym typeface="Arial"/>
            </a:endParaRPr>
          </a:p>
          <a:p>
            <a:pPr indent="0" lvl="0" marL="0" rtl="0" algn="l">
              <a:spcBef>
                <a:spcPts val="0"/>
              </a:spcBef>
              <a:spcAft>
                <a:spcPts val="0"/>
              </a:spcAft>
              <a:buNone/>
            </a:pPr>
            <a:r>
              <a:t/>
            </a:r>
            <a:endParaRPr b="0" i="0" sz="1200">
              <a:solidFill>
                <a:schemeClr val="dk1"/>
              </a:solidFill>
              <a:latin typeface="Arial"/>
              <a:ea typeface="Arial"/>
              <a:cs typeface="Arial"/>
              <a:sym typeface="Arial"/>
            </a:endParaRPr>
          </a:p>
        </p:txBody>
      </p:sp>
      <p:sp>
        <p:nvSpPr>
          <p:cNvPr id="233" name="Google Shape;2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Use of Go-TOs without justification-</a:t>
            </a:r>
            <a:r>
              <a:rPr lang="en-US" sz="1800"/>
              <a:t>&gt; The example contains a goto statement that redirects the flow to l1. </a:t>
            </a:r>
            <a:r>
              <a:rPr b="0" i="0" lang="en-US" sz="1200">
                <a:solidFill>
                  <a:schemeClr val="dk1"/>
                </a:solidFill>
                <a:latin typeface="Arial"/>
                <a:ea typeface="Arial"/>
                <a:cs typeface="Arial"/>
                <a:sym typeface="Arial"/>
              </a:rPr>
              <a:t>The problem with using goto statements is that it is easy to develop program logic that is very difficult to understand, even for the original author of the code. It is easy to get caught in an infinite loop if the goto point is above the goto call.</a:t>
            </a:r>
            <a:endParaRPr b="1" i="0" sz="1200">
              <a:solidFill>
                <a:schemeClr val="dk1"/>
              </a:solidFill>
              <a:latin typeface="Arial"/>
              <a:ea typeface="Arial"/>
              <a:cs typeface="Arial"/>
              <a:sym typeface="Arial"/>
            </a:endParaRPr>
          </a:p>
          <a:p>
            <a:pPr indent="0" lvl="0" marL="0" rtl="0" algn="l">
              <a:spcBef>
                <a:spcPts val="0"/>
              </a:spcBef>
              <a:spcAft>
                <a:spcPts val="0"/>
              </a:spcAft>
              <a:buNone/>
            </a:pPr>
            <a:r>
              <a:rPr b="1" i="0" lang="en-US" sz="1200">
                <a:solidFill>
                  <a:schemeClr val="dk1"/>
                </a:solidFill>
                <a:latin typeface="Arial"/>
                <a:ea typeface="Arial"/>
                <a:cs typeface="Arial"/>
                <a:sym typeface="Arial"/>
              </a:rPr>
              <a:t>Ill conceived-</a:t>
            </a:r>
            <a:r>
              <a:rPr b="0" i="0" lang="en-US" sz="1200">
                <a:solidFill>
                  <a:schemeClr val="dk1"/>
                </a:solidFill>
                <a:latin typeface="Arial"/>
                <a:ea typeface="Arial"/>
                <a:cs typeface="Arial"/>
                <a:sym typeface="Arial"/>
              </a:rPr>
              <a:t>&gt; means not carefully planned or considered. In the example, there is no default case and break statement is also missing in one of the cases. If we do not use </a:t>
            </a:r>
            <a:r>
              <a:rPr b="1" i="0" lang="en-US" sz="1200">
                <a:solidFill>
                  <a:schemeClr val="dk1"/>
                </a:solidFill>
                <a:latin typeface="Arial"/>
                <a:ea typeface="Arial"/>
                <a:cs typeface="Arial"/>
                <a:sym typeface="Arial"/>
              </a:rPr>
              <a:t>break statement</a:t>
            </a:r>
            <a:r>
              <a:rPr b="0" i="0" lang="en-US" sz="1200">
                <a:solidFill>
                  <a:schemeClr val="dk1"/>
                </a:solidFill>
                <a:latin typeface="Arial"/>
                <a:ea typeface="Arial"/>
                <a:cs typeface="Arial"/>
                <a:sym typeface="Arial"/>
              </a:rPr>
              <a:t> at the end of each case, program will execute all consecutive case statements until it finds the next break statement. If there is no </a:t>
            </a:r>
            <a:r>
              <a:rPr b="1" i="0" lang="en-US" sz="1200">
                <a:solidFill>
                  <a:schemeClr val="dk1"/>
                </a:solidFill>
                <a:latin typeface="Arial"/>
                <a:ea typeface="Arial"/>
                <a:cs typeface="Arial"/>
                <a:sym typeface="Arial"/>
              </a:rPr>
              <a:t>default case</a:t>
            </a:r>
            <a:r>
              <a:rPr b="0" i="0" lang="en-US" sz="1200">
                <a:solidFill>
                  <a:schemeClr val="dk1"/>
                </a:solidFill>
                <a:latin typeface="Arial"/>
                <a:ea typeface="Arial"/>
                <a:cs typeface="Arial"/>
                <a:sym typeface="Arial"/>
              </a:rPr>
              <a:t>, the switch statement is terminated.</a:t>
            </a:r>
            <a:endParaRPr b="0" i="0" sz="1200">
              <a:solidFill>
                <a:schemeClr val="dk1"/>
              </a:solidFill>
              <a:latin typeface="Arial"/>
              <a:ea typeface="Arial"/>
              <a:cs typeface="Arial"/>
              <a:sym typeface="Arial"/>
            </a:endParaRPr>
          </a:p>
        </p:txBody>
      </p:sp>
      <p:sp>
        <p:nvSpPr>
          <p:cNvPr id="250" name="Google Shape;25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Improper lay-out of cases: </a:t>
            </a:r>
            <a:r>
              <a:rPr b="0" lang="en-US" sz="2000"/>
              <a:t>In the example, there are multiple if statements and else statement where there should be if, elseif and else statements. In this case every if statement will be executed that is true.</a:t>
            </a:r>
            <a:endParaRPr/>
          </a:p>
          <a:p>
            <a:pPr indent="0" lvl="1" marL="0" marR="0" rtl="0" algn="l">
              <a:lnSpc>
                <a:spcPct val="100000"/>
              </a:lnSpc>
              <a:spcBef>
                <a:spcPts val="0"/>
              </a:spcBef>
              <a:spcAft>
                <a:spcPts val="0"/>
              </a:spcAft>
              <a:buClr>
                <a:schemeClr val="dk1"/>
              </a:buClr>
              <a:buSzPts val="2000"/>
              <a:buFont typeface="Arial"/>
              <a:buNone/>
            </a:pPr>
            <a:r>
              <a:rPr b="1" lang="en-US" sz="2000"/>
              <a:t>Improper negation of Boolean expression: </a:t>
            </a:r>
            <a:r>
              <a:rPr b="0" lang="en-US" sz="2000"/>
              <a:t>In the example you can see the correct Boolean expression, Incorrect Boolean operator single/multiple and incorrect negation operator. Bug can occur due to misunderstanding of Boolean operators.</a:t>
            </a:r>
            <a:endParaRPr b="0" sz="2000"/>
          </a:p>
          <a:p>
            <a:pPr indent="0" lvl="1" marL="0" marR="0" rtl="0" algn="l">
              <a:lnSpc>
                <a:spcPct val="100000"/>
              </a:lnSpc>
              <a:spcBef>
                <a:spcPts val="0"/>
              </a:spcBef>
              <a:spcAft>
                <a:spcPts val="0"/>
              </a:spcAft>
              <a:buClr>
                <a:schemeClr val="dk1"/>
              </a:buClr>
              <a:buSzPts val="2000"/>
              <a:buFont typeface="Arial"/>
              <a:buNone/>
            </a:pPr>
            <a:r>
              <a:t/>
            </a:r>
            <a:endParaRPr b="1" sz="2000"/>
          </a:p>
        </p:txBody>
      </p:sp>
      <p:sp>
        <p:nvSpPr>
          <p:cNvPr id="264" name="Google Shape;26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Improper simplification and combination of cases: </a:t>
            </a:r>
            <a:r>
              <a:rPr b="0" lang="en-US" sz="2000"/>
              <a:t>You can see multiple if conditions in the example. These if conditions are combined with &amp;&amp;  operator. Bugs can occur if conditions are misunderstood or operators are not used appropriately.</a:t>
            </a:r>
            <a:endParaRPr/>
          </a:p>
          <a:p>
            <a:pPr indent="0" lvl="0" marL="0" rtl="0" algn="l">
              <a:spcBef>
                <a:spcPts val="0"/>
              </a:spcBef>
              <a:spcAft>
                <a:spcPts val="0"/>
              </a:spcAft>
              <a:buNone/>
            </a:pPr>
            <a:r>
              <a:rPr b="1" lang="en-US"/>
              <a:t>Non Existent case: </a:t>
            </a:r>
            <a:r>
              <a:rPr b="0" lang="en-US"/>
              <a:t>For example you check in a condition that if the value of month is 13 then print an error message. The 13</a:t>
            </a:r>
            <a:r>
              <a:rPr b="0" baseline="30000" lang="en-US"/>
              <a:t>th</a:t>
            </a:r>
            <a:r>
              <a:rPr b="0" lang="en-US"/>
              <a:t> month does not exist in actual so this condition will never be executed.</a:t>
            </a:r>
            <a:r>
              <a:rPr lang="en-US"/>
              <a:t> </a:t>
            </a:r>
            <a:endParaRPr/>
          </a:p>
          <a:p>
            <a:pPr indent="0" lvl="0" marL="0" rtl="0" algn="l">
              <a:spcBef>
                <a:spcPts val="0"/>
              </a:spcBef>
              <a:spcAft>
                <a:spcPts val="0"/>
              </a:spcAft>
              <a:buNone/>
            </a:pPr>
            <a:r>
              <a:rPr b="1" lang="en-US" sz="1200"/>
              <a:t>Impossible cases that are not impossible in actual: </a:t>
            </a:r>
            <a:r>
              <a:rPr b="0" lang="en-US" sz="1200"/>
              <a:t>For example you consider that CGPA greater than 4 does not exist in your country. But the maximum value of CGPA in your country is 5. So the case that you considered as impossible but in actual it is possible.</a:t>
            </a:r>
            <a:endParaRPr/>
          </a:p>
          <a:p>
            <a:pPr indent="0" lvl="1" marL="0" marR="0" rtl="0" algn="l">
              <a:lnSpc>
                <a:spcPct val="100000"/>
              </a:lnSpc>
              <a:spcBef>
                <a:spcPts val="0"/>
              </a:spcBef>
              <a:spcAft>
                <a:spcPts val="0"/>
              </a:spcAft>
              <a:buClr>
                <a:schemeClr val="dk1"/>
              </a:buClr>
              <a:buSzPts val="2000"/>
              <a:buFont typeface="Arial"/>
              <a:buNone/>
            </a:pPr>
            <a:r>
              <a:rPr b="1" lang="en-US" sz="2000"/>
              <a:t>Confusing exclusive OR with inclusive OR: </a:t>
            </a:r>
            <a:r>
              <a:rPr b="0" lang="en-US" sz="2000"/>
              <a:t>It is important to understand the difference between inclusive OR and exclusive OR. Please consider the examples.</a:t>
            </a:r>
            <a:endParaRPr b="1" sz="2000"/>
          </a:p>
        </p:txBody>
      </p:sp>
      <p:sp>
        <p:nvSpPr>
          <p:cNvPr id="278" name="Google Shape;27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Algebraic Bugs</a:t>
            </a:r>
            <a:r>
              <a:rPr lang="en-US"/>
              <a:t>: There are multiple applications of algebra in computer science like </a:t>
            </a:r>
            <a:r>
              <a:rPr b="0" i="0" lang="en-US" sz="1200">
                <a:solidFill>
                  <a:schemeClr val="dk1"/>
                </a:solidFill>
                <a:latin typeface="Arial"/>
                <a:ea typeface="Arial"/>
                <a:cs typeface="Arial"/>
                <a:sym typeface="Arial"/>
              </a:rPr>
              <a:t>in computer graphics and whenever you're manipulating representations of space or geometry. Matrix multiplication problem show up in physics, signal processing, graph theory, and many others. Algebraic bugs can be reported in these areas.</a:t>
            </a:r>
            <a:endParaRPr/>
          </a:p>
        </p:txBody>
      </p:sp>
      <p:sp>
        <p:nvSpPr>
          <p:cNvPr id="295" name="Google Shape;29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Inappropriate selection of algorithm: </a:t>
            </a:r>
            <a:r>
              <a:rPr b="0" lang="en-US" sz="2000"/>
              <a:t>You have used Linear Search Algorithm instead of Binary search Algorithm</a:t>
            </a:r>
            <a:endParaRPr/>
          </a:p>
          <a:p>
            <a:pPr indent="0" lvl="1" marL="0" marR="0" rtl="0" algn="l">
              <a:lnSpc>
                <a:spcPct val="100000"/>
              </a:lnSpc>
              <a:spcBef>
                <a:spcPts val="0"/>
              </a:spcBef>
              <a:spcAft>
                <a:spcPts val="0"/>
              </a:spcAft>
              <a:buClr>
                <a:schemeClr val="dk1"/>
              </a:buClr>
              <a:buSzPts val="2000"/>
              <a:buFont typeface="Arial"/>
              <a:buNone/>
            </a:pPr>
            <a:r>
              <a:rPr b="1" lang="en-US" sz="2000"/>
              <a:t>Ignoring over-flow: </a:t>
            </a:r>
            <a:r>
              <a:rPr b="0" lang="en-US" sz="2000"/>
              <a:t>This is what we already discussed in terms of buffer overflow</a:t>
            </a:r>
            <a:endParaRPr/>
          </a:p>
          <a:p>
            <a:pPr indent="0" lvl="1" marL="0" marR="0" rtl="0" algn="l">
              <a:lnSpc>
                <a:spcPct val="100000"/>
              </a:lnSpc>
              <a:spcBef>
                <a:spcPts val="0"/>
              </a:spcBef>
              <a:spcAft>
                <a:spcPts val="0"/>
              </a:spcAft>
              <a:buClr>
                <a:schemeClr val="dk1"/>
              </a:buClr>
              <a:buSzPts val="2000"/>
              <a:buFont typeface="Arial"/>
              <a:buNone/>
            </a:pPr>
            <a:r>
              <a:rPr b="1" lang="en-US" sz="2000"/>
              <a:t>Improper use of and relational operators: </a:t>
            </a:r>
            <a:r>
              <a:rPr b="0" lang="en-US" sz="2000"/>
              <a:t>Example of improper use of logical and relational operator is in the table. Operator is &amp;&amp;. Here 5&lt;2 can never be true where 5&gt;3 is true. But due to &amp;&amp; operator both conditions need to be true.</a:t>
            </a:r>
            <a:endParaRPr/>
          </a:p>
          <a:p>
            <a:pPr indent="0" lvl="1" marL="0" marR="0" rtl="0" algn="l">
              <a:lnSpc>
                <a:spcPct val="100000"/>
              </a:lnSpc>
              <a:spcBef>
                <a:spcPts val="0"/>
              </a:spcBef>
              <a:spcAft>
                <a:spcPts val="0"/>
              </a:spcAft>
              <a:buClr>
                <a:schemeClr val="dk1"/>
              </a:buClr>
              <a:buSzPts val="2000"/>
              <a:buFont typeface="Arial"/>
              <a:buNone/>
            </a:pPr>
            <a:r>
              <a:rPr b="1" lang="en-US" sz="2000"/>
              <a:t>Incorrect conversion from one data representation to another: </a:t>
            </a:r>
            <a:r>
              <a:rPr b="0" lang="en-US" sz="2000"/>
              <a:t>The example is given in the picture. Here we have character type array and we store integer value in the array then we try to convert the char array to integer that is wrong</a:t>
            </a:r>
            <a:r>
              <a:rPr b="1" lang="en-US" sz="2000"/>
              <a:t>.</a:t>
            </a:r>
            <a:endParaRPr b="1" sz="2000"/>
          </a:p>
          <a:p>
            <a:pPr indent="0" lvl="1" marL="0" marR="0" rtl="0" algn="l">
              <a:lnSpc>
                <a:spcPct val="100000"/>
              </a:lnSpc>
              <a:spcBef>
                <a:spcPts val="0"/>
              </a:spcBef>
              <a:spcAft>
                <a:spcPts val="0"/>
              </a:spcAft>
              <a:buClr>
                <a:schemeClr val="dk1"/>
              </a:buClr>
              <a:buSzPts val="2000"/>
              <a:buFont typeface="Arial"/>
              <a:buNone/>
            </a:pPr>
            <a:r>
              <a:t/>
            </a:r>
            <a:endParaRPr b="1" sz="2000"/>
          </a:p>
        </p:txBody>
      </p:sp>
      <p:sp>
        <p:nvSpPr>
          <p:cNvPr id="306" name="Google Shape;30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No initialization of working space registers or data variables before first use: </a:t>
            </a:r>
            <a:r>
              <a:rPr b="0" lang="en-US" sz="2000"/>
              <a:t> In the example the variable count is declared but not initialized and used in the while loop.</a:t>
            </a:r>
            <a:endParaRPr/>
          </a:p>
          <a:p>
            <a:pPr indent="0" lvl="1" marL="0" marR="0" rtl="0" algn="l">
              <a:lnSpc>
                <a:spcPct val="100000"/>
              </a:lnSpc>
              <a:spcBef>
                <a:spcPts val="0"/>
              </a:spcBef>
              <a:spcAft>
                <a:spcPts val="0"/>
              </a:spcAft>
              <a:buClr>
                <a:schemeClr val="dk1"/>
              </a:buClr>
              <a:buSzPts val="2000"/>
              <a:buFont typeface="Arial"/>
              <a:buNone/>
            </a:pPr>
            <a:r>
              <a:rPr b="1" lang="en-US" sz="2000"/>
              <a:t>Bug in the initial value in the loop-control parameter: </a:t>
            </a:r>
            <a:r>
              <a:rPr b="0" lang="en-US" sz="2000"/>
              <a:t>In case of array, the loop used to read or write value to an array should start from 0 because the first index of array is 0. Here the loop is starting from 1. The value at 0 index of array will not be printed in this case. </a:t>
            </a:r>
            <a:endParaRPr b="0" sz="2000"/>
          </a:p>
          <a:p>
            <a:pPr indent="0" lvl="1" marL="0" marR="0" rtl="0" algn="l">
              <a:lnSpc>
                <a:spcPct val="100000"/>
              </a:lnSpc>
              <a:spcBef>
                <a:spcPts val="0"/>
              </a:spcBef>
              <a:spcAft>
                <a:spcPts val="0"/>
              </a:spcAft>
              <a:buClr>
                <a:schemeClr val="dk1"/>
              </a:buClr>
              <a:buSzPts val="2000"/>
              <a:buFont typeface="Arial"/>
              <a:buNone/>
            </a:pPr>
            <a:r>
              <a:t/>
            </a:r>
            <a:endParaRPr b="1" sz="2000"/>
          </a:p>
        </p:txBody>
      </p:sp>
      <p:sp>
        <p:nvSpPr>
          <p:cNvPr id="317" name="Google Shape;31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Attempting to use the variable without defining it: </a:t>
            </a:r>
            <a:r>
              <a:rPr b="0" lang="en-US" sz="2000"/>
              <a:t>In the example, the variable x is not declared but used to take input from user.</a:t>
            </a:r>
            <a:endParaRPr b="0" sz="2000"/>
          </a:p>
          <a:p>
            <a:pPr indent="0" lvl="1" marL="0" marR="0" rtl="0" algn="l">
              <a:lnSpc>
                <a:spcPct val="100000"/>
              </a:lnSpc>
              <a:spcBef>
                <a:spcPts val="0"/>
              </a:spcBef>
              <a:spcAft>
                <a:spcPts val="0"/>
              </a:spcAft>
              <a:buClr>
                <a:schemeClr val="dk1"/>
              </a:buClr>
              <a:buSzPts val="2000"/>
              <a:buFont typeface="Arial"/>
              <a:buNone/>
            </a:pPr>
            <a:r>
              <a:rPr b="1" lang="en-US" sz="2000"/>
              <a:t>Referencing a variable with an undefined value: </a:t>
            </a:r>
            <a:r>
              <a:rPr b="0" lang="en-US" sz="2000"/>
              <a:t>In the example, the variable x is declared but not initialized. A reference variable named foo is created of variable x. Then next is print statement that will print nothing because value is not assigned to x.</a:t>
            </a:r>
            <a:endParaRPr b="1" sz="2000"/>
          </a:p>
          <a:p>
            <a:pPr indent="0" lvl="0" marL="0" rtl="0" algn="l">
              <a:spcBef>
                <a:spcPts val="0"/>
              </a:spcBef>
              <a:spcAft>
                <a:spcPts val="0"/>
              </a:spcAft>
              <a:buNone/>
            </a:pPr>
            <a:r>
              <a:t/>
            </a:r>
            <a:endParaRPr/>
          </a:p>
        </p:txBody>
      </p:sp>
      <p:sp>
        <p:nvSpPr>
          <p:cNvPr id="331" name="Google Shape;33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Variables that are never used: </a:t>
            </a:r>
            <a:r>
              <a:rPr b="0" lang="en-US" sz="2000"/>
              <a:t>In the example there are two variables foo and bar which are declared and initialized. Variable foo is returned but the value of variable bar is never used.</a:t>
            </a:r>
            <a:endParaRPr/>
          </a:p>
          <a:p>
            <a:pPr indent="0" lvl="1" marL="0" marR="0" rtl="0" algn="l">
              <a:lnSpc>
                <a:spcPct val="100000"/>
              </a:lnSpc>
              <a:spcBef>
                <a:spcPts val="0"/>
              </a:spcBef>
              <a:spcAft>
                <a:spcPts val="0"/>
              </a:spcAft>
              <a:buClr>
                <a:schemeClr val="dk1"/>
              </a:buClr>
              <a:buSzPts val="2000"/>
              <a:buFont typeface="Arial"/>
              <a:buNone/>
            </a:pPr>
            <a:r>
              <a:rPr b="1" lang="en-US" sz="2000"/>
              <a:t>Modifying data and not using the result: </a:t>
            </a:r>
            <a:r>
              <a:rPr b="0" lang="en-US" sz="2000"/>
              <a:t>In the example two variable a and b are declared and initialized. Variable c is declared and sum of variables and b is stored in the variable c. In the print statement a+b is being printed and variable c is never used.</a:t>
            </a:r>
            <a:endParaRPr/>
          </a:p>
          <a:p>
            <a:pPr indent="0" lvl="1" marL="0" marR="0" rtl="0" algn="l">
              <a:lnSpc>
                <a:spcPct val="100000"/>
              </a:lnSpc>
              <a:spcBef>
                <a:spcPts val="0"/>
              </a:spcBef>
              <a:spcAft>
                <a:spcPts val="0"/>
              </a:spcAft>
              <a:buClr>
                <a:schemeClr val="dk1"/>
              </a:buClr>
              <a:buSzPts val="2000"/>
              <a:buFont typeface="Arial"/>
              <a:buNone/>
            </a:pPr>
            <a:r>
              <a:rPr b="1" lang="en-US" sz="2000"/>
              <a:t>Double initialization: </a:t>
            </a:r>
            <a:r>
              <a:rPr b="0" lang="en-US" sz="2000"/>
              <a:t>Variable width is initialized with value 5 but in the next statement the variable width is assigned a value of 7. So this is double initialization.</a:t>
            </a:r>
            <a:endParaRPr b="1" sz="2000"/>
          </a:p>
          <a:p>
            <a:pPr indent="0" lvl="1" marL="0" marR="0" rtl="0" algn="l">
              <a:lnSpc>
                <a:spcPct val="100000"/>
              </a:lnSpc>
              <a:spcBef>
                <a:spcPts val="0"/>
              </a:spcBef>
              <a:spcAft>
                <a:spcPts val="0"/>
              </a:spcAft>
              <a:buClr>
                <a:schemeClr val="dk1"/>
              </a:buClr>
              <a:buSzPts val="2000"/>
              <a:buFont typeface="Arial"/>
              <a:buNone/>
            </a:pPr>
            <a:r>
              <a:t/>
            </a:r>
            <a:endParaRPr b="0" sz="2000"/>
          </a:p>
          <a:p>
            <a:pPr indent="0" lvl="0" marL="0" rtl="0" algn="l">
              <a:spcBef>
                <a:spcPts val="0"/>
              </a:spcBef>
              <a:spcAft>
                <a:spcPts val="0"/>
              </a:spcAft>
              <a:buNone/>
            </a:pPr>
            <a:r>
              <a:t/>
            </a:r>
            <a:endParaRPr/>
          </a:p>
        </p:txBody>
      </p:sp>
      <p:sp>
        <p:nvSpPr>
          <p:cNvPr id="345" name="Google Shape;34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Static or dynamic data can serve in any of the three forms.</a:t>
            </a:r>
            <a:endParaRPr/>
          </a:p>
          <a:p>
            <a:pPr indent="0" lvl="0" marL="0" rtl="0" algn="l">
              <a:spcBef>
                <a:spcPts val="0"/>
              </a:spcBef>
              <a:spcAft>
                <a:spcPts val="0"/>
              </a:spcAft>
              <a:buNone/>
            </a:pPr>
            <a:r>
              <a:t/>
            </a:r>
            <a:endParaRPr/>
          </a:p>
        </p:txBody>
      </p:sp>
      <p:sp>
        <p:nvSpPr>
          <p:cNvPr id="401" name="Google Shape;4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Data specification addresses the following three parts</a:t>
            </a:r>
            <a:endParaRPr/>
          </a:p>
        </p:txBody>
      </p:sp>
      <p:sp>
        <p:nvSpPr>
          <p:cNvPr id="428" name="Google Shape;42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Arial"/>
                <a:ea typeface="Arial"/>
                <a:cs typeface="Arial"/>
                <a:sym typeface="Arial"/>
              </a:rPr>
              <a:t>Dangling</a:t>
            </a:r>
            <a:r>
              <a:rPr b="0" i="0" lang="en-US" sz="1200">
                <a:solidFill>
                  <a:schemeClr val="dk1"/>
                </a:solidFill>
                <a:latin typeface="Arial"/>
                <a:ea typeface="Arial"/>
                <a:cs typeface="Arial"/>
                <a:sym typeface="Arial"/>
              </a:rPr>
              <a:t> pointers arise during object destruction, when an object that has an incoming reference is deleted or deallocated, without modifying the value of the pointer, so that the pointer still points to the memory location of the deallocated memory.</a:t>
            </a:r>
            <a:endParaRPr/>
          </a:p>
        </p:txBody>
      </p:sp>
      <p:sp>
        <p:nvSpPr>
          <p:cNvPr id="481" name="Google Shape;48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you miss a semicolon in the code and compile the code, the compiler will show bugs in all next lines of the code. When you place the semicolon and compile the code a number of other bugs appear. This might have happened to you when you were a beginner.</a:t>
            </a:r>
            <a:endParaRPr/>
          </a:p>
        </p:txBody>
      </p:sp>
      <p:sp>
        <p:nvSpPr>
          <p:cNvPr id="489" name="Google Shape;48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are 9 types of Interface, Integration and System bugs.</a:t>
            </a:r>
            <a:endParaRPr/>
          </a:p>
        </p:txBody>
      </p:sp>
      <p:sp>
        <p:nvSpPr>
          <p:cNvPr id="498" name="Google Shape;49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Invalid timing/ Synchronization related bugs: </a:t>
            </a:r>
            <a:r>
              <a:rPr b="0" lang="en-US" sz="2000"/>
              <a:t>In the picture at the top right side, sender sends data but that is lost. Sender waits for ACK and receiver waits for data for infinite amount of time. In the picture at the bottom right side, sender sends data, receiver receives it and sends ACK but that ACK is lost. Sender waits for ACK for infinite amount of time. </a:t>
            </a:r>
            <a:endParaRPr b="1" sz="2000"/>
          </a:p>
          <a:p>
            <a:pPr indent="0" lvl="1" marL="0" marR="0" rtl="0" algn="l">
              <a:lnSpc>
                <a:spcPct val="100000"/>
              </a:lnSpc>
              <a:spcBef>
                <a:spcPts val="0"/>
              </a:spcBef>
              <a:spcAft>
                <a:spcPts val="0"/>
              </a:spcAft>
              <a:buClr>
                <a:schemeClr val="dk1"/>
              </a:buClr>
              <a:buSzPts val="2000"/>
              <a:buFont typeface="Arial"/>
              <a:buNone/>
            </a:pPr>
            <a:r>
              <a:rPr b="1" lang="en-US" sz="2000"/>
              <a:t>Sequence assumptions related to external signals: </a:t>
            </a:r>
            <a:r>
              <a:rPr b="0" lang="en-US" sz="2000"/>
              <a:t>In the picture at the left side, when ACK0 is sent by Receiver B, it means receiver is ready to receive Frame0. Frame0 is sent by Sender A but it is lost. When there is time out, and no ACK is received for next frame, the Frame0 is sent again.  </a:t>
            </a:r>
            <a:endParaRPr b="1" sz="2000"/>
          </a:p>
        </p:txBody>
      </p:sp>
      <p:sp>
        <p:nvSpPr>
          <p:cNvPr id="535" name="Google Shape;53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Wrong calling sequence: </a:t>
            </a:r>
            <a:r>
              <a:rPr b="0" lang="en-US" sz="2000"/>
              <a:t>Have a look at the picture at the right side. In the main function, the function get_data should be called before display function.</a:t>
            </a:r>
            <a:endParaRPr/>
          </a:p>
          <a:p>
            <a:pPr indent="0" lvl="1" marL="0" marR="0" rtl="0" algn="l">
              <a:lnSpc>
                <a:spcPct val="100000"/>
              </a:lnSpc>
              <a:spcBef>
                <a:spcPts val="0"/>
              </a:spcBef>
              <a:spcAft>
                <a:spcPts val="0"/>
              </a:spcAft>
              <a:buClr>
                <a:schemeClr val="dk1"/>
              </a:buClr>
              <a:buSzPts val="2000"/>
              <a:buFont typeface="Arial"/>
              <a:buNone/>
            </a:pPr>
            <a:r>
              <a:rPr b="1" lang="en-US" sz="2000"/>
              <a:t>Call-parameter bugs: </a:t>
            </a:r>
            <a:r>
              <a:rPr b="0" lang="en-US" sz="2000"/>
              <a:t>Consider the picture on the left side. There are four cases and the function temp is called in each case from the main function. In case1 no argument is passed while calling temp function. In case 2 only first argument is passed while calling temp function. In case 4 only second argument is passed while calling temp function. Al these cases are wrong. However, in case 3 both arguments are passed and this is the correct way to call the function.</a:t>
            </a:r>
            <a:endParaRPr b="1" sz="2000"/>
          </a:p>
        </p:txBody>
      </p:sp>
      <p:sp>
        <p:nvSpPr>
          <p:cNvPr id="550" name="Google Shape;55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i="0" lang="en-US" sz="1110">
                <a:solidFill>
                  <a:schemeClr val="dk1"/>
                </a:solidFill>
                <a:latin typeface="Arial"/>
                <a:ea typeface="Arial"/>
                <a:cs typeface="Arial"/>
                <a:sym typeface="Arial"/>
              </a:rPr>
              <a:t>Paging:</a:t>
            </a:r>
            <a:r>
              <a:rPr b="0" i="0" lang="en-US" sz="1110">
                <a:solidFill>
                  <a:schemeClr val="dk1"/>
                </a:solidFill>
                <a:latin typeface="Arial"/>
                <a:ea typeface="Arial"/>
                <a:cs typeface="Arial"/>
                <a:sym typeface="Arial"/>
              </a:rPr>
              <a:t> In Operating Systems, Paging is a storage mechanism used to retrieve processes from the secondary storage into the main memory in the form of pages. Each process is divided in the form of pages whereas main memory is divided in the form of frames. One page of the process is to be stored in one of the frames of the memory. The pages can be stored at the different locations of the memory but the priority is always to find the contiguous frames.</a:t>
            </a:r>
            <a:endParaRPr/>
          </a:p>
          <a:p>
            <a:pPr indent="0" lvl="0" marL="0" rtl="0" algn="l">
              <a:lnSpc>
                <a:spcPct val="80000"/>
              </a:lnSpc>
              <a:spcBef>
                <a:spcPts val="0"/>
              </a:spcBef>
              <a:spcAft>
                <a:spcPts val="0"/>
              </a:spcAft>
              <a:buNone/>
            </a:pPr>
            <a:r>
              <a:t/>
            </a:r>
            <a:endParaRPr b="0" i="0" sz="1110">
              <a:solidFill>
                <a:schemeClr val="dk1"/>
              </a:solidFill>
              <a:latin typeface="Arial"/>
              <a:ea typeface="Arial"/>
              <a:cs typeface="Arial"/>
              <a:sym typeface="Arial"/>
            </a:endParaRPr>
          </a:p>
          <a:p>
            <a:pPr indent="0" lvl="0" marL="0" rtl="0" algn="l">
              <a:lnSpc>
                <a:spcPct val="80000"/>
              </a:lnSpc>
              <a:spcBef>
                <a:spcPts val="0"/>
              </a:spcBef>
              <a:spcAft>
                <a:spcPts val="0"/>
              </a:spcAft>
              <a:buNone/>
            </a:pPr>
            <a:r>
              <a:rPr b="0" i="0" lang="en-US" sz="1110">
                <a:solidFill>
                  <a:schemeClr val="dk1"/>
                </a:solidFill>
                <a:latin typeface="Arial"/>
                <a:ea typeface="Arial"/>
                <a:cs typeface="Arial"/>
                <a:sym typeface="Arial"/>
              </a:rPr>
              <a:t>Consider the example in the picture at the right side. The main memory size is16 Kb and Frame size is 1 KB therefore the main memory will be divided into the collection of 16 frames of 1 KB each. There are 4 processes in the system that is P1, P2, P3 and P4 of 4 KB each. Each process is divided into pages of 1 KB each so that one page can be stored in one frame.</a:t>
            </a:r>
            <a:endParaRPr/>
          </a:p>
          <a:p>
            <a:pPr indent="0" lvl="0" marL="0" rtl="0" algn="l">
              <a:lnSpc>
                <a:spcPct val="80000"/>
              </a:lnSpc>
              <a:spcBef>
                <a:spcPts val="0"/>
              </a:spcBef>
              <a:spcAft>
                <a:spcPts val="0"/>
              </a:spcAft>
              <a:buNone/>
            </a:pPr>
            <a:r>
              <a:t/>
            </a:r>
            <a:endParaRPr b="0" i="0" sz="1110">
              <a:solidFill>
                <a:schemeClr val="dk1"/>
              </a:solidFill>
              <a:latin typeface="Arial"/>
              <a:ea typeface="Arial"/>
              <a:cs typeface="Arial"/>
              <a:sym typeface="Arial"/>
            </a:endParaRPr>
          </a:p>
          <a:p>
            <a:pPr indent="0" lvl="0" marL="0" rtl="0" algn="l">
              <a:lnSpc>
                <a:spcPct val="80000"/>
              </a:lnSpc>
              <a:spcBef>
                <a:spcPts val="0"/>
              </a:spcBef>
              <a:spcAft>
                <a:spcPts val="0"/>
              </a:spcAft>
              <a:buNone/>
            </a:pPr>
            <a:r>
              <a:rPr b="0" i="0" lang="en-US" sz="1110">
                <a:solidFill>
                  <a:schemeClr val="dk1"/>
                </a:solidFill>
                <a:latin typeface="Arial"/>
                <a:ea typeface="Arial"/>
                <a:cs typeface="Arial"/>
                <a:sym typeface="Arial"/>
              </a:rPr>
              <a:t>Initially, all the frames are empty therefore pages of the processes will get stored in the contiguous way. </a:t>
            </a:r>
            <a:endParaRPr/>
          </a:p>
          <a:p>
            <a:pPr indent="0" lvl="0" marL="0" rtl="0" algn="l">
              <a:lnSpc>
                <a:spcPct val="80000"/>
              </a:lnSpc>
              <a:spcBef>
                <a:spcPts val="0"/>
              </a:spcBef>
              <a:spcAft>
                <a:spcPts val="0"/>
              </a:spcAft>
              <a:buNone/>
            </a:pPr>
            <a:r>
              <a:t/>
            </a:r>
            <a:endParaRPr b="0" i="0" sz="1110">
              <a:solidFill>
                <a:schemeClr val="dk1"/>
              </a:solidFill>
              <a:latin typeface="Arial"/>
              <a:ea typeface="Arial"/>
              <a:cs typeface="Arial"/>
              <a:sym typeface="Arial"/>
            </a:endParaRPr>
          </a:p>
          <a:p>
            <a:pPr indent="0" lvl="0" marL="0" rtl="0" algn="l">
              <a:lnSpc>
                <a:spcPct val="80000"/>
              </a:lnSpc>
              <a:spcBef>
                <a:spcPts val="0"/>
              </a:spcBef>
              <a:spcAft>
                <a:spcPts val="0"/>
              </a:spcAft>
              <a:buNone/>
            </a:pPr>
            <a:r>
              <a:rPr b="0" i="0" lang="en-US" sz="1110">
                <a:solidFill>
                  <a:schemeClr val="dk1"/>
                </a:solidFill>
                <a:latin typeface="Arial"/>
                <a:ea typeface="Arial"/>
                <a:cs typeface="Arial"/>
                <a:sym typeface="Arial"/>
              </a:rPr>
              <a:t>When P2 and P4 are moved to waiting state after some time then 8 frames become empty and therefore other pages can be loaded in that empty place. The process P5 of size 8 KB (8 pages) is waiting inside the ready queue.</a:t>
            </a:r>
            <a:endParaRPr/>
          </a:p>
          <a:p>
            <a:pPr indent="0" lvl="0" marL="0" rtl="0" algn="l">
              <a:lnSpc>
                <a:spcPct val="80000"/>
              </a:lnSpc>
              <a:spcBef>
                <a:spcPts val="0"/>
              </a:spcBef>
              <a:spcAft>
                <a:spcPts val="0"/>
              </a:spcAft>
              <a:buNone/>
            </a:pPr>
            <a:r>
              <a:rPr b="0" i="0" lang="en-US" sz="1110">
                <a:solidFill>
                  <a:schemeClr val="dk1"/>
                </a:solidFill>
                <a:latin typeface="Arial"/>
                <a:ea typeface="Arial"/>
                <a:cs typeface="Arial"/>
                <a:sym typeface="Arial"/>
              </a:rPr>
              <a:t>Given the fact that, we have 8 non contiguous frames available in the memory and paging provides the flexibility of storing the process at the different places. Therefore, we can load the pages of process P5 in the place of P2 and P4. You can see this in the picture on the left side.</a:t>
            </a:r>
            <a:endParaRPr/>
          </a:p>
          <a:p>
            <a:pPr indent="0" lvl="0" marL="0" rtl="0" algn="l">
              <a:lnSpc>
                <a:spcPct val="80000"/>
              </a:lnSpc>
              <a:spcBef>
                <a:spcPts val="0"/>
              </a:spcBef>
              <a:spcAft>
                <a:spcPts val="0"/>
              </a:spcAft>
              <a:buNone/>
            </a:pPr>
            <a:br>
              <a:rPr b="0" i="0" lang="en-US" sz="1110">
                <a:solidFill>
                  <a:schemeClr val="dk1"/>
                </a:solidFill>
                <a:latin typeface="Arial"/>
                <a:ea typeface="Arial"/>
                <a:cs typeface="Arial"/>
                <a:sym typeface="Arial"/>
              </a:rPr>
            </a:br>
            <a:endParaRPr sz="1110"/>
          </a:p>
        </p:txBody>
      </p:sp>
      <p:sp>
        <p:nvSpPr>
          <p:cNvPr id="564" name="Google Shape;56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0" marR="0" rtl="0" algn="l">
              <a:lnSpc>
                <a:spcPct val="100000"/>
              </a:lnSpc>
              <a:spcBef>
                <a:spcPts val="0"/>
              </a:spcBef>
              <a:spcAft>
                <a:spcPts val="0"/>
              </a:spcAft>
              <a:buClr>
                <a:schemeClr val="dk1"/>
              </a:buClr>
              <a:buSzPts val="2000"/>
              <a:buFont typeface="Arial"/>
              <a:buNone/>
            </a:pPr>
            <a:r>
              <a:rPr b="1" lang="en-US" sz="2000"/>
              <a:t>Assuming that the device is initialized: </a:t>
            </a:r>
            <a:r>
              <a:rPr b="0" lang="en-US" sz="2000"/>
              <a:t>Assuming that BIOS has checked the hardware for all its input and output components. When you start your PC, it is checked for all its basic components like RAM, ROM, Graphics Card, Hard Drive as well as for Operating system files. </a:t>
            </a:r>
            <a:endParaRPr b="1" sz="2000"/>
          </a:p>
          <a:p>
            <a:pPr indent="0" lvl="2" marL="0" marR="0" rtl="0" algn="l">
              <a:lnSpc>
                <a:spcPct val="100000"/>
              </a:lnSpc>
              <a:spcBef>
                <a:spcPts val="0"/>
              </a:spcBef>
              <a:spcAft>
                <a:spcPts val="0"/>
              </a:spcAft>
              <a:buClr>
                <a:schemeClr val="dk1"/>
              </a:buClr>
              <a:buSzPts val="2000"/>
              <a:buFont typeface="Arial"/>
              <a:buNone/>
            </a:pPr>
            <a:r>
              <a:rPr b="1" lang="en-US" sz="2000"/>
              <a:t>Misunderstood device status code: </a:t>
            </a:r>
            <a:r>
              <a:rPr b="0" lang="en-US" sz="2000"/>
              <a:t>In the picture you can see the device status description section in which a code is given that is Code43. One may misunderstand the purpose of this status code.</a:t>
            </a:r>
            <a:endParaRPr b="0" sz="2000"/>
          </a:p>
        </p:txBody>
      </p:sp>
      <p:sp>
        <p:nvSpPr>
          <p:cNvPr id="575" name="Google Shape;57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000"/>
              <a:buFont typeface="Arial"/>
              <a:buNone/>
            </a:pPr>
            <a:r>
              <a:rPr b="1" lang="en-US" sz="2000"/>
              <a:t>Not handling of all hardware issues by the OS: </a:t>
            </a:r>
            <a:r>
              <a:rPr b="0" lang="en-US" sz="2000"/>
              <a:t>Usually when a hardware issue is encountered, the operating system shows an error message along with error code. This is due to the proper identification of hardware issue by operating system. It might be happened that some hardware issue is ignored/ not identified by operating system.</a:t>
            </a:r>
            <a:endParaRPr b="1" sz="2000"/>
          </a:p>
        </p:txBody>
      </p:sp>
      <p:sp>
        <p:nvSpPr>
          <p:cNvPr id="586" name="Google Shape;58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dk1"/>
              </a:buClr>
              <a:buSzPts val="1110"/>
              <a:buFont typeface="Arial"/>
              <a:buNone/>
            </a:pPr>
            <a:r>
              <a:rPr b="1" i="0" lang="en-US" sz="1110">
                <a:solidFill>
                  <a:schemeClr val="dk1"/>
                </a:solidFill>
                <a:latin typeface="Arial"/>
                <a:ea typeface="Arial"/>
                <a:cs typeface="Arial"/>
                <a:sym typeface="Arial"/>
              </a:rPr>
              <a:t>Interrupt: </a:t>
            </a:r>
            <a:r>
              <a:rPr b="0" i="0" lang="en-US" sz="1110">
                <a:solidFill>
                  <a:schemeClr val="dk1"/>
                </a:solidFill>
                <a:latin typeface="Arial"/>
                <a:ea typeface="Arial"/>
                <a:cs typeface="Arial"/>
                <a:sym typeface="Arial"/>
              </a:rPr>
              <a:t>An interrupt is a signal from a device attached to a computer or from a program within the computer that requires the operating system to stop and figure out what to do next.</a:t>
            </a:r>
            <a:endParaRPr sz="1110"/>
          </a:p>
          <a:p>
            <a:pPr indent="0" lvl="0" marL="0" rtl="0" algn="l">
              <a:lnSpc>
                <a:spcPct val="80000"/>
              </a:lnSpc>
              <a:spcBef>
                <a:spcPts val="0"/>
              </a:spcBef>
              <a:spcAft>
                <a:spcPts val="0"/>
              </a:spcAft>
              <a:buNone/>
            </a:pPr>
            <a:r>
              <a:rPr b="1" i="0" lang="en-US" sz="1110">
                <a:solidFill>
                  <a:schemeClr val="dk1"/>
                </a:solidFill>
                <a:latin typeface="Arial"/>
                <a:ea typeface="Arial"/>
                <a:cs typeface="Arial"/>
                <a:sym typeface="Arial"/>
              </a:rPr>
              <a:t>Re-entrant: </a:t>
            </a:r>
            <a:r>
              <a:rPr b="0" i="0" lang="en-US" sz="1110">
                <a:solidFill>
                  <a:schemeClr val="dk1"/>
                </a:solidFill>
                <a:latin typeface="Arial"/>
                <a:ea typeface="Arial"/>
                <a:cs typeface="Arial"/>
                <a:sym typeface="Arial"/>
              </a:rPr>
              <a:t>A function is re-entrant if it can be invoked while already in the process of execution.</a:t>
            </a:r>
            <a:endParaRPr/>
          </a:p>
          <a:p>
            <a:pPr indent="0" lvl="0" marL="0" rtl="0" algn="l">
              <a:lnSpc>
                <a:spcPct val="80000"/>
              </a:lnSpc>
              <a:spcBef>
                <a:spcPts val="0"/>
              </a:spcBef>
              <a:spcAft>
                <a:spcPts val="0"/>
              </a:spcAft>
              <a:buNone/>
            </a:pPr>
            <a:r>
              <a:rPr b="0" i="0" lang="en-US" sz="1110">
                <a:solidFill>
                  <a:schemeClr val="dk1"/>
                </a:solidFill>
                <a:latin typeface="Arial"/>
                <a:ea typeface="Arial"/>
                <a:cs typeface="Arial"/>
                <a:sym typeface="Arial"/>
              </a:rPr>
              <a:t>One function is said to be a re-entrant function if there is a provision to interrupt that function in the course of execution. This type of functions is used in different cases like, recursions, hardware interrupt handling.</a:t>
            </a:r>
            <a:endParaRPr/>
          </a:p>
          <a:p>
            <a:pPr indent="0" lvl="0" marL="0" rtl="0" algn="l">
              <a:lnSpc>
                <a:spcPct val="80000"/>
              </a:lnSpc>
              <a:spcBef>
                <a:spcPts val="0"/>
              </a:spcBef>
              <a:spcAft>
                <a:spcPts val="0"/>
              </a:spcAft>
              <a:buNone/>
            </a:pPr>
            <a:r>
              <a:rPr b="1" i="0" lang="en-US" sz="1110">
                <a:solidFill>
                  <a:schemeClr val="dk1"/>
                </a:solidFill>
                <a:latin typeface="Arial"/>
                <a:ea typeface="Arial"/>
                <a:cs typeface="Arial"/>
                <a:sym typeface="Arial"/>
              </a:rPr>
              <a:t>Example of Re-entrant Functions:</a:t>
            </a:r>
            <a:br>
              <a:rPr lang="en-US" sz="1110"/>
            </a:br>
            <a:r>
              <a:rPr b="0" i="0" lang="en-US" sz="1110">
                <a:solidFill>
                  <a:schemeClr val="dk1"/>
                </a:solidFill>
                <a:latin typeface="Arial"/>
                <a:ea typeface="Arial"/>
                <a:cs typeface="Arial"/>
                <a:sym typeface="Arial"/>
              </a:rPr>
              <a:t>In the example code in the picture, fun2 is a re-entrant function. If an interrupt that pauses its execution and shifts the control to fun1. After fun1 completes, the control is again transferred to fun2 and it re-enters the execution phase.</a:t>
            </a:r>
            <a:endParaRPr b="0" i="0" sz="1110">
              <a:solidFill>
                <a:schemeClr val="dk1"/>
              </a:solidFill>
              <a:latin typeface="Arial"/>
              <a:ea typeface="Arial"/>
              <a:cs typeface="Arial"/>
              <a:sym typeface="Arial"/>
            </a:endParaRPr>
          </a:p>
          <a:p>
            <a:pPr indent="0" lvl="0" marL="0" rtl="0" algn="l">
              <a:lnSpc>
                <a:spcPct val="80000"/>
              </a:lnSpc>
              <a:spcBef>
                <a:spcPts val="0"/>
              </a:spcBef>
              <a:spcAft>
                <a:spcPts val="0"/>
              </a:spcAft>
              <a:buNone/>
            </a:pPr>
            <a:r>
              <a:rPr b="1" i="0" lang="en-US" sz="1110">
                <a:solidFill>
                  <a:schemeClr val="dk1"/>
                </a:solidFill>
                <a:latin typeface="Arial"/>
                <a:ea typeface="Arial"/>
                <a:cs typeface="Arial"/>
                <a:sym typeface="Arial"/>
              </a:rPr>
              <a:t>Data interlocking- </a:t>
            </a:r>
            <a:r>
              <a:rPr b="0" i="0" lang="en-US" sz="1110">
                <a:solidFill>
                  <a:schemeClr val="dk1"/>
                </a:solidFill>
                <a:latin typeface="Arial"/>
                <a:ea typeface="Arial"/>
                <a:cs typeface="Arial"/>
                <a:sym typeface="Arial"/>
              </a:rPr>
              <a:t>If a deadlock occurs because the two processes access the same resources but in a different order, then it is enough to change the order of blocking resources. In principle, if a certain set of resources are blocked in different operations, the same resource should always be blocked first, if possible. This advice applies not only to relational databases, but generally to any systems in which interlocks occur.</a:t>
            </a:r>
            <a:endParaRPr/>
          </a:p>
          <a:p>
            <a:pPr indent="0" lvl="0" marL="0" rtl="0" algn="l">
              <a:lnSpc>
                <a:spcPct val="80000"/>
              </a:lnSpc>
              <a:spcBef>
                <a:spcPts val="0"/>
              </a:spcBef>
              <a:spcAft>
                <a:spcPts val="0"/>
              </a:spcAft>
              <a:buNone/>
            </a:pPr>
            <a:r>
              <a:rPr b="1" i="0" lang="en-US" sz="1110">
                <a:solidFill>
                  <a:schemeClr val="dk1"/>
                </a:solidFill>
                <a:latin typeface="Arial"/>
                <a:ea typeface="Arial"/>
                <a:cs typeface="Arial"/>
                <a:sym typeface="Arial"/>
              </a:rPr>
              <a:t>Routines: </a:t>
            </a:r>
            <a:r>
              <a:rPr b="0" i="0" lang="en-US" sz="1110">
                <a:solidFill>
                  <a:schemeClr val="dk1"/>
                </a:solidFill>
                <a:latin typeface="Arial"/>
                <a:ea typeface="Arial"/>
                <a:cs typeface="Arial"/>
                <a:sym typeface="Arial"/>
              </a:rPr>
              <a:t>Routines are synonymous terms for any sequence of code that is intended to be called and used repeatedly during the execution of a program. </a:t>
            </a:r>
            <a:r>
              <a:rPr b="1" i="0" lang="en-US" sz="1110">
                <a:solidFill>
                  <a:schemeClr val="dk1"/>
                </a:solidFill>
                <a:latin typeface="Arial"/>
                <a:ea typeface="Arial"/>
                <a:cs typeface="Arial"/>
                <a:sym typeface="Arial"/>
              </a:rPr>
              <a:t>Memory Resident: </a:t>
            </a:r>
            <a:r>
              <a:rPr b="0" i="0" lang="en-US" sz="1110">
                <a:solidFill>
                  <a:schemeClr val="dk1"/>
                </a:solidFill>
                <a:latin typeface="Arial"/>
                <a:ea typeface="Arial"/>
                <a:cs typeface="Arial"/>
                <a:sym typeface="Arial"/>
              </a:rPr>
              <a:t>means requires memory for data storage.</a:t>
            </a:r>
            <a:endParaRPr b="1" i="0" sz="1110">
              <a:solidFill>
                <a:schemeClr val="dk1"/>
              </a:solidFill>
              <a:latin typeface="Arial"/>
              <a:ea typeface="Arial"/>
              <a:cs typeface="Arial"/>
              <a:sym typeface="Arial"/>
            </a:endParaRPr>
          </a:p>
          <a:p>
            <a:pPr indent="0" lvl="0" marL="0" rtl="0" algn="l">
              <a:lnSpc>
                <a:spcPct val="80000"/>
              </a:lnSpc>
              <a:spcBef>
                <a:spcPts val="0"/>
              </a:spcBef>
              <a:spcAft>
                <a:spcPts val="0"/>
              </a:spcAft>
              <a:buNone/>
            </a:pPr>
            <a:r>
              <a:rPr b="1" i="0" lang="en-US" sz="1110">
                <a:solidFill>
                  <a:schemeClr val="dk1"/>
                </a:solidFill>
                <a:latin typeface="Arial"/>
                <a:ea typeface="Arial"/>
                <a:cs typeface="Arial"/>
                <a:sym typeface="Arial"/>
              </a:rPr>
              <a:t>Register:</a:t>
            </a:r>
            <a:r>
              <a:rPr b="0" i="0" lang="en-US" sz="1110">
                <a:solidFill>
                  <a:schemeClr val="dk1"/>
                </a:solidFill>
                <a:latin typeface="Arial"/>
                <a:ea typeface="Arial"/>
                <a:cs typeface="Arial"/>
                <a:sym typeface="Arial"/>
              </a:rPr>
              <a:t> A register stores the memory address from which data will be fetched from the CPU, or the address to which data will be sent and stored. </a:t>
            </a:r>
            <a:endParaRPr/>
          </a:p>
          <a:p>
            <a:pPr indent="0" lvl="0" marL="0" rtl="0" algn="l">
              <a:lnSpc>
                <a:spcPct val="80000"/>
              </a:lnSpc>
              <a:spcBef>
                <a:spcPts val="0"/>
              </a:spcBef>
              <a:spcAft>
                <a:spcPts val="0"/>
              </a:spcAft>
              <a:buNone/>
            </a:pPr>
            <a:r>
              <a:t/>
            </a:r>
            <a:endParaRPr b="0" i="0" sz="1110">
              <a:solidFill>
                <a:schemeClr val="dk1"/>
              </a:solidFill>
              <a:latin typeface="Arial"/>
              <a:ea typeface="Arial"/>
              <a:cs typeface="Arial"/>
              <a:sym typeface="Arial"/>
            </a:endParaRPr>
          </a:p>
        </p:txBody>
      </p:sp>
      <p:sp>
        <p:nvSpPr>
          <p:cNvPr id="594" name="Google Shape;594;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i="0" lang="en-US" sz="1200">
                <a:solidFill>
                  <a:schemeClr val="dk1"/>
                </a:solidFill>
                <a:latin typeface="Arial"/>
                <a:ea typeface="Arial"/>
                <a:cs typeface="Arial"/>
                <a:sym typeface="Arial"/>
              </a:rPr>
              <a:t>Task Control Block:</a:t>
            </a:r>
            <a:r>
              <a:rPr b="0" i="0" lang="en-US" sz="1200">
                <a:solidFill>
                  <a:schemeClr val="dk1"/>
                </a:solidFill>
                <a:latin typeface="Arial"/>
                <a:ea typeface="Arial"/>
                <a:cs typeface="Arial"/>
                <a:sym typeface="Arial"/>
              </a:rPr>
              <a:t> Task Control Block is a data structure used by kernels to maintain information about a task.</a:t>
            </a:r>
            <a:endParaRPr/>
          </a:p>
          <a:p>
            <a:pPr indent="0" lvl="1" marL="0" marR="0" rtl="0" algn="l">
              <a:lnSpc>
                <a:spcPct val="100000"/>
              </a:lnSpc>
              <a:spcBef>
                <a:spcPts val="0"/>
              </a:spcBef>
              <a:spcAft>
                <a:spcPts val="0"/>
              </a:spcAft>
              <a:buClr>
                <a:schemeClr val="dk1"/>
              </a:buClr>
              <a:buSzPts val="2000"/>
              <a:buFont typeface="Arial"/>
              <a:buNone/>
            </a:pPr>
            <a:r>
              <a:rPr b="1" lang="en-US" sz="2000"/>
              <a:t>Wrong resource used:</a:t>
            </a:r>
            <a:r>
              <a:rPr lang="en-US" sz="2000"/>
              <a:t> When several resources have similar structure or different kinds of resources in the same pool, there are chances that wrong resource may be selected.</a:t>
            </a:r>
            <a:endParaRPr sz="2000"/>
          </a:p>
          <a:p>
            <a:pPr indent="0" lvl="0" marL="0" rtl="0" algn="l">
              <a:spcBef>
                <a:spcPts val="0"/>
              </a:spcBef>
              <a:spcAft>
                <a:spcPts val="0"/>
              </a:spcAft>
              <a:buNone/>
            </a:pPr>
            <a:r>
              <a:t/>
            </a:r>
            <a:endParaRPr/>
          </a:p>
        </p:txBody>
      </p:sp>
      <p:sp>
        <p:nvSpPr>
          <p:cNvPr id="612" name="Google Shape;61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i="0" lang="en-US" sz="1200">
                <a:solidFill>
                  <a:schemeClr val="dk1"/>
                </a:solidFill>
                <a:latin typeface="Arial"/>
                <a:ea typeface="Arial"/>
                <a:cs typeface="Arial"/>
                <a:sym typeface="Arial"/>
              </a:rPr>
              <a:t>Data Structure:</a:t>
            </a:r>
            <a:r>
              <a:rPr b="0" i="0" lang="en-US" sz="1200">
                <a:solidFill>
                  <a:schemeClr val="dk1"/>
                </a:solidFill>
                <a:latin typeface="Arial"/>
                <a:ea typeface="Arial"/>
                <a:cs typeface="Arial"/>
                <a:sym typeface="Arial"/>
              </a:rPr>
              <a:t> is a collection of data values, the relationships among them, and the functions or operations that can be applied to the data.</a:t>
            </a:r>
            <a:endParaRPr/>
          </a:p>
          <a:p>
            <a:pPr indent="0" lvl="0" marL="0" rtl="0" algn="l">
              <a:spcBef>
                <a:spcPts val="0"/>
              </a:spcBef>
              <a:spcAft>
                <a:spcPts val="0"/>
              </a:spcAft>
              <a:buNone/>
            </a:pPr>
            <a:r>
              <a:rPr b="1" i="0" lang="en-US" sz="1200">
                <a:solidFill>
                  <a:schemeClr val="dk1"/>
                </a:solidFill>
                <a:latin typeface="Arial"/>
                <a:ea typeface="Arial"/>
                <a:cs typeface="Arial"/>
                <a:sym typeface="Arial"/>
              </a:rPr>
              <a:t>Register:</a:t>
            </a:r>
            <a:r>
              <a:rPr b="0" i="0" lang="en-US" sz="1200">
                <a:solidFill>
                  <a:schemeClr val="dk1"/>
                </a:solidFill>
                <a:latin typeface="Arial"/>
                <a:ea typeface="Arial"/>
                <a:cs typeface="Arial"/>
                <a:sym typeface="Arial"/>
              </a:rPr>
              <a:t> A processor register (CPU register) is a data holding place that is part of the computer processor. A register may hold an instruction, a storage address, or any kind of data. </a:t>
            </a:r>
            <a:endParaRPr/>
          </a:p>
          <a:p>
            <a:pPr indent="0" lvl="0" marL="0" rtl="0" algn="l">
              <a:spcBef>
                <a:spcPts val="0"/>
              </a:spcBef>
              <a:spcAft>
                <a:spcPts val="0"/>
              </a:spcAft>
              <a:buNone/>
            </a:pPr>
            <a:r>
              <a:rPr b="1" lang="en-US" sz="2000"/>
              <a:t>Network Communication links: </a:t>
            </a:r>
            <a:r>
              <a:rPr b="0" lang="en-US" sz="2000"/>
              <a:t>Means which communication link you will use either LAN, WAN, MAN or Wireless. Which devices like router, switch etc. will be used during transmission of packets.</a:t>
            </a:r>
            <a:endParaRPr b="1" sz="2000"/>
          </a:p>
          <a:p>
            <a:pPr indent="0" lvl="0" marL="0" rtl="0" algn="l">
              <a:spcBef>
                <a:spcPts val="0"/>
              </a:spcBef>
              <a:spcAft>
                <a:spcPts val="0"/>
              </a:spcAft>
              <a:buNone/>
            </a:pPr>
            <a:r>
              <a:t/>
            </a:r>
            <a:endParaRPr/>
          </a:p>
        </p:txBody>
      </p:sp>
      <p:sp>
        <p:nvSpPr>
          <p:cNvPr id="620" name="Google Shape;62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showMasterSp="0">
  <p:cSld name="Title Slide with Picture">
    <p:spTree>
      <p:nvGrpSpPr>
        <p:cNvPr id="18" name="Shape 18"/>
        <p:cNvGrpSpPr/>
        <p:nvPr/>
      </p:nvGrpSpPr>
      <p:grpSpPr>
        <a:xfrm>
          <a:off x="0" y="0"/>
          <a:ext cx="0" cy="0"/>
          <a:chOff x="0" y="0"/>
          <a:chExt cx="0" cy="0"/>
        </a:xfrm>
      </p:grpSpPr>
      <p:sp>
        <p:nvSpPr>
          <p:cNvPr id="19" name="Google Shape;19;p50"/>
          <p:cNvSpPr txBox="1"/>
          <p:nvPr>
            <p:ph type="ctrTitle"/>
          </p:nvPr>
        </p:nvSpPr>
        <p:spPr>
          <a:xfrm>
            <a:off x="1104900" y="2292094"/>
            <a:ext cx="573405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50"/>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dk1"/>
              </a:buClr>
              <a:buSzPts val="1800"/>
              <a:buNone/>
              <a:defRPr sz="1800"/>
            </a:lvl1pPr>
            <a:lvl2pPr lvl="1" algn="ctr">
              <a:lnSpc>
                <a:spcPct val="90000"/>
              </a:lnSpc>
              <a:spcBef>
                <a:spcPts val="6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descr="An empty placeholder to add an image. Click on the placeholder and select the image that you wish to add." id="21" name="Google Shape;21;p50"/>
          <p:cNvSpPr/>
          <p:nvPr>
            <p:ph idx="2" type="pic"/>
          </p:nvPr>
        </p:nvSpPr>
        <p:spPr>
          <a:xfrm>
            <a:off x="6981063" y="1310656"/>
            <a:ext cx="5210937" cy="4208604"/>
          </a:xfrm>
          <a:prstGeom prst="rect">
            <a:avLst/>
          </a:prstGeom>
          <a:solidFill>
            <a:srgbClr val="DED9D6"/>
          </a:solidFill>
          <a:ln>
            <a:noFill/>
          </a:ln>
        </p:spPr>
      </p:sp>
      <p:sp>
        <p:nvSpPr>
          <p:cNvPr id="22" name="Google Shape;22;p50"/>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3" name="Google Shape;23;p50"/>
          <p:cNvGrpSpPr/>
          <p:nvPr/>
        </p:nvGrpSpPr>
        <p:grpSpPr>
          <a:xfrm>
            <a:off x="0" y="1143000"/>
            <a:ext cx="12192000" cy="63125"/>
            <a:chOff x="507492" y="1501519"/>
            <a:chExt cx="8129016" cy="63125"/>
          </a:xfrm>
        </p:grpSpPr>
        <p:cxnSp>
          <p:nvCxnSpPr>
            <p:cNvPr id="24" name="Google Shape;24;p50"/>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5" name="Google Shape;25;p50"/>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pic>
        <p:nvPicPr>
          <p:cNvPr id="26" name="Google Shape;26;p50"/>
          <p:cNvPicPr preferRelativeResize="0"/>
          <p:nvPr/>
        </p:nvPicPr>
        <p:blipFill rotWithShape="1">
          <a:blip r:embed="rId2">
            <a:alphaModFix/>
          </a:blip>
          <a:srcRect b="0" l="0" r="0" t="0"/>
          <a:stretch/>
        </p:blipFill>
        <p:spPr>
          <a:xfrm>
            <a:off x="1325880" y="0"/>
            <a:ext cx="1747524" cy="2292094"/>
          </a:xfrm>
          <a:prstGeom prst="rect">
            <a:avLst/>
          </a:prstGeom>
          <a:noFill/>
          <a:ln>
            <a:noFill/>
          </a:ln>
        </p:spPr>
      </p:pic>
      <p:grpSp>
        <p:nvGrpSpPr>
          <p:cNvPr id="27" name="Google Shape;27;p50"/>
          <p:cNvGrpSpPr/>
          <p:nvPr/>
        </p:nvGrpSpPr>
        <p:grpSpPr>
          <a:xfrm rot="10800000">
            <a:off x="1" y="5645510"/>
            <a:ext cx="12192000" cy="63125"/>
            <a:chOff x="507492" y="1501519"/>
            <a:chExt cx="8129016" cy="63125"/>
          </a:xfrm>
        </p:grpSpPr>
        <p:cxnSp>
          <p:nvCxnSpPr>
            <p:cNvPr id="28" name="Google Shape;28;p50"/>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9" name="Google Shape;29;p50"/>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30" name="Google Shape;30;p50"/>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5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2"/>
          <p:cNvSpPr txBox="1"/>
          <p:nvPr>
            <p:ph idx="1" type="body"/>
          </p:nvPr>
        </p:nvSpPr>
        <p:spPr>
          <a:xfrm>
            <a:off x="11049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17500" lvl="4" marL="2286000" algn="l">
              <a:lnSpc>
                <a:spcPct val="90000"/>
              </a:lnSpc>
              <a:spcBef>
                <a:spcPts val="600"/>
              </a:spcBef>
              <a:spcAft>
                <a:spcPts val="0"/>
              </a:spcAft>
              <a:buClr>
                <a:schemeClr val="dk1"/>
              </a:buClr>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17500" lvl="8" marL="4114800" algn="l">
              <a:lnSpc>
                <a:spcPct val="90000"/>
              </a:lnSpc>
              <a:spcBef>
                <a:spcPts val="500"/>
              </a:spcBef>
              <a:spcAft>
                <a:spcPts val="0"/>
              </a:spcAft>
              <a:buClr>
                <a:schemeClr val="dk1"/>
              </a:buClr>
              <a:buSzPts val="1400"/>
              <a:buChar char="▪"/>
              <a:defRPr/>
            </a:lvl9pPr>
          </a:lstStyle>
          <a:p/>
        </p:txBody>
      </p:sp>
      <p:sp>
        <p:nvSpPr>
          <p:cNvPr id="40" name="Google Shape;40;p52"/>
          <p:cNvSpPr txBox="1"/>
          <p:nvPr>
            <p:ph idx="2" type="body"/>
          </p:nvPr>
        </p:nvSpPr>
        <p:spPr>
          <a:xfrm>
            <a:off x="61722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17500" lvl="4" marL="2286000" algn="l">
              <a:lnSpc>
                <a:spcPct val="90000"/>
              </a:lnSpc>
              <a:spcBef>
                <a:spcPts val="600"/>
              </a:spcBef>
              <a:spcAft>
                <a:spcPts val="0"/>
              </a:spcAft>
              <a:buClr>
                <a:schemeClr val="dk1"/>
              </a:buClr>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4" name="Shape 44"/>
        <p:cNvGrpSpPr/>
        <p:nvPr/>
      </p:nvGrpSpPr>
      <p:grpSpPr>
        <a:xfrm>
          <a:off x="0" y="0"/>
          <a:ext cx="0" cy="0"/>
          <a:chOff x="0" y="0"/>
          <a:chExt cx="0" cy="0"/>
        </a:xfrm>
      </p:grpSpPr>
      <p:sp>
        <p:nvSpPr>
          <p:cNvPr id="45" name="Google Shape;45;p53"/>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46" name="Google Shape;46;p53"/>
          <p:cNvPicPr preferRelativeResize="0"/>
          <p:nvPr/>
        </p:nvPicPr>
        <p:blipFill rotWithShape="1">
          <a:blip r:embed="rId2">
            <a:alphaModFix/>
          </a:blip>
          <a:srcRect b="0" l="0" r="0" t="0"/>
          <a:stretch/>
        </p:blipFill>
        <p:spPr>
          <a:xfrm>
            <a:off x="1324445" y="0"/>
            <a:ext cx="1747524" cy="2292094"/>
          </a:xfrm>
          <a:prstGeom prst="rect">
            <a:avLst/>
          </a:prstGeom>
          <a:noFill/>
          <a:ln>
            <a:noFill/>
          </a:ln>
        </p:spPr>
      </p:pic>
      <p:sp>
        <p:nvSpPr>
          <p:cNvPr id="47" name="Google Shape;47;p53"/>
          <p:cNvSpPr txBox="1"/>
          <p:nvPr>
            <p:ph type="ctrTitle"/>
          </p:nvPr>
        </p:nvSpPr>
        <p:spPr>
          <a:xfrm>
            <a:off x="1104900" y="2292094"/>
            <a:ext cx="1009650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3"/>
          <p:cNvSpPr txBox="1"/>
          <p:nvPr>
            <p:ph idx="1" type="subTitle"/>
          </p:nvPr>
        </p:nvSpPr>
        <p:spPr>
          <a:xfrm>
            <a:off x="1104898" y="4511784"/>
            <a:ext cx="10096501" cy="955565"/>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dk1"/>
              </a:buClr>
              <a:buSzPts val="1800"/>
              <a:buNone/>
              <a:defRPr sz="1800"/>
            </a:lvl1pPr>
            <a:lvl2pPr lvl="1" algn="ctr">
              <a:lnSpc>
                <a:spcPct val="90000"/>
              </a:lnSpc>
              <a:spcBef>
                <a:spcPts val="6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9" name="Google Shape;49;p53"/>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0" name="Google Shape;50;p53"/>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3"/>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b="0" i="0" sz="1200" u="none" cap="none" strike="noStrike">
                <a:solidFill>
                  <a:srgbClr val="DED9D6"/>
                </a:solidFill>
                <a:latin typeface="Arial"/>
                <a:ea typeface="Arial"/>
                <a:cs typeface="Arial"/>
                <a:sym typeface="Arial"/>
              </a:defRPr>
            </a:lvl1pPr>
            <a:lvl2pPr indent="0" lvl="1" marL="0" algn="r">
              <a:spcBef>
                <a:spcPts val="0"/>
              </a:spcBef>
              <a:buNone/>
              <a:defRPr b="0" i="0" sz="1200" u="none" cap="none" strike="noStrike">
                <a:solidFill>
                  <a:srgbClr val="DED9D6"/>
                </a:solidFill>
                <a:latin typeface="Arial"/>
                <a:ea typeface="Arial"/>
                <a:cs typeface="Arial"/>
                <a:sym typeface="Arial"/>
              </a:defRPr>
            </a:lvl2pPr>
            <a:lvl3pPr indent="0" lvl="2" marL="0" algn="r">
              <a:spcBef>
                <a:spcPts val="0"/>
              </a:spcBef>
              <a:buNone/>
              <a:defRPr b="0" i="0" sz="1200" u="none" cap="none" strike="noStrike">
                <a:solidFill>
                  <a:srgbClr val="DED9D6"/>
                </a:solidFill>
                <a:latin typeface="Arial"/>
                <a:ea typeface="Arial"/>
                <a:cs typeface="Arial"/>
                <a:sym typeface="Arial"/>
              </a:defRPr>
            </a:lvl3pPr>
            <a:lvl4pPr indent="0" lvl="3" marL="0" algn="r">
              <a:spcBef>
                <a:spcPts val="0"/>
              </a:spcBef>
              <a:buNone/>
              <a:defRPr b="0" i="0" sz="1200" u="none" cap="none" strike="noStrike">
                <a:solidFill>
                  <a:srgbClr val="DED9D6"/>
                </a:solidFill>
                <a:latin typeface="Arial"/>
                <a:ea typeface="Arial"/>
                <a:cs typeface="Arial"/>
                <a:sym typeface="Arial"/>
              </a:defRPr>
            </a:lvl4pPr>
            <a:lvl5pPr indent="0" lvl="4" marL="0" algn="r">
              <a:spcBef>
                <a:spcPts val="0"/>
              </a:spcBef>
              <a:buNone/>
              <a:defRPr b="0" i="0" sz="1200" u="none" cap="none" strike="noStrike">
                <a:solidFill>
                  <a:srgbClr val="DED9D6"/>
                </a:solidFill>
                <a:latin typeface="Arial"/>
                <a:ea typeface="Arial"/>
                <a:cs typeface="Arial"/>
                <a:sym typeface="Arial"/>
              </a:defRPr>
            </a:lvl5pPr>
            <a:lvl6pPr indent="0" lvl="5" marL="0" algn="r">
              <a:spcBef>
                <a:spcPts val="0"/>
              </a:spcBef>
              <a:buNone/>
              <a:defRPr b="0" i="0" sz="1200" u="none" cap="none" strike="noStrike">
                <a:solidFill>
                  <a:srgbClr val="DED9D6"/>
                </a:solidFill>
                <a:latin typeface="Arial"/>
                <a:ea typeface="Arial"/>
                <a:cs typeface="Arial"/>
                <a:sym typeface="Arial"/>
              </a:defRPr>
            </a:lvl6pPr>
            <a:lvl7pPr indent="0" lvl="6" marL="0" algn="r">
              <a:spcBef>
                <a:spcPts val="0"/>
              </a:spcBef>
              <a:buNone/>
              <a:defRPr b="0" i="0" sz="1200" u="none" cap="none" strike="noStrike">
                <a:solidFill>
                  <a:srgbClr val="DED9D6"/>
                </a:solidFill>
                <a:latin typeface="Arial"/>
                <a:ea typeface="Arial"/>
                <a:cs typeface="Arial"/>
                <a:sym typeface="Arial"/>
              </a:defRPr>
            </a:lvl7pPr>
            <a:lvl8pPr indent="0" lvl="7" marL="0" algn="r">
              <a:spcBef>
                <a:spcPts val="0"/>
              </a:spcBef>
              <a:buNone/>
              <a:defRPr b="0" i="0" sz="1200" u="none" cap="none" strike="noStrike">
                <a:solidFill>
                  <a:srgbClr val="DED9D6"/>
                </a:solidFill>
                <a:latin typeface="Arial"/>
                <a:ea typeface="Arial"/>
                <a:cs typeface="Arial"/>
                <a:sym typeface="Arial"/>
              </a:defRPr>
            </a:lvl8pPr>
            <a:lvl9pPr indent="0" lvl="8" marL="0" algn="r">
              <a:spcBef>
                <a:spcPts val="0"/>
              </a:spcBef>
              <a:buNone/>
              <a:defRPr b="0" i="0" sz="1200" u="none" cap="none" strike="noStrike">
                <a:solidFill>
                  <a:srgbClr val="DED9D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3" name="Shape 53"/>
        <p:cNvGrpSpPr/>
        <p:nvPr/>
      </p:nvGrpSpPr>
      <p:grpSpPr>
        <a:xfrm>
          <a:off x="0" y="0"/>
          <a:ext cx="0" cy="0"/>
          <a:chOff x="0" y="0"/>
          <a:chExt cx="0" cy="0"/>
        </a:xfrm>
      </p:grpSpPr>
      <p:grpSp>
        <p:nvGrpSpPr>
          <p:cNvPr id="54" name="Google Shape;54;p54"/>
          <p:cNvGrpSpPr/>
          <p:nvPr/>
        </p:nvGrpSpPr>
        <p:grpSpPr>
          <a:xfrm>
            <a:off x="0" y="2514600"/>
            <a:ext cx="12192000" cy="3194035"/>
            <a:chOff x="647402" y="2514600"/>
            <a:chExt cx="10838688" cy="3194035"/>
          </a:xfrm>
        </p:grpSpPr>
        <p:grpSp>
          <p:nvGrpSpPr>
            <p:cNvPr id="55" name="Google Shape;55;p54"/>
            <p:cNvGrpSpPr/>
            <p:nvPr/>
          </p:nvGrpSpPr>
          <p:grpSpPr>
            <a:xfrm>
              <a:off x="647402" y="2514600"/>
              <a:ext cx="10838688" cy="63125"/>
              <a:chOff x="507492" y="1501519"/>
              <a:chExt cx="8129016" cy="63125"/>
            </a:xfrm>
          </p:grpSpPr>
          <p:cxnSp>
            <p:nvCxnSpPr>
              <p:cNvPr id="56" name="Google Shape;56;p54"/>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57" name="Google Shape;57;p54"/>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58" name="Google Shape;58;p54"/>
            <p:cNvSpPr/>
            <p:nvPr/>
          </p:nvSpPr>
          <p:spPr>
            <a:xfrm>
              <a:off x="647402" y="2640850"/>
              <a:ext cx="10838688" cy="29415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59" name="Google Shape;59;p54"/>
            <p:cNvGrpSpPr/>
            <p:nvPr/>
          </p:nvGrpSpPr>
          <p:grpSpPr>
            <a:xfrm rot="10800000">
              <a:off x="647402" y="5645510"/>
              <a:ext cx="10838688" cy="63125"/>
              <a:chOff x="507492" y="1501519"/>
              <a:chExt cx="8129016" cy="63125"/>
            </a:xfrm>
          </p:grpSpPr>
          <p:cxnSp>
            <p:nvCxnSpPr>
              <p:cNvPr id="60" name="Google Shape;60;p54"/>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61" name="Google Shape;61;p54"/>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grpSp>
      <p:pic>
        <p:nvPicPr>
          <p:cNvPr id="62" name="Google Shape;62;p54"/>
          <p:cNvPicPr preferRelativeResize="0"/>
          <p:nvPr/>
        </p:nvPicPr>
        <p:blipFill rotWithShape="1">
          <a:blip r:embed="rId2">
            <a:alphaModFix/>
          </a:blip>
          <a:srcRect b="0" l="0" r="0" t="0"/>
          <a:stretch/>
        </p:blipFill>
        <p:spPr>
          <a:xfrm>
            <a:off x="1325880" y="0"/>
            <a:ext cx="1783188" cy="2971806"/>
          </a:xfrm>
          <a:prstGeom prst="rect">
            <a:avLst/>
          </a:prstGeom>
          <a:noFill/>
          <a:ln>
            <a:noFill/>
          </a:ln>
        </p:spPr>
      </p:pic>
      <p:sp>
        <p:nvSpPr>
          <p:cNvPr id="63" name="Google Shape;63;p54"/>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lt1"/>
              </a:buClr>
              <a:buSzPts val="4400"/>
              <a:buFont typeface="Arial"/>
              <a:buNone/>
              <a:defRPr sz="4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54"/>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28600" lvl="1" marL="914400" algn="l">
              <a:lnSpc>
                <a:spcPct val="90000"/>
              </a:lnSpc>
              <a:spcBef>
                <a:spcPts val="600"/>
              </a:spcBef>
              <a:spcAft>
                <a:spcPts val="0"/>
              </a:spcAft>
              <a:buClr>
                <a:srgbClr val="969391"/>
              </a:buClr>
              <a:buSzPts val="2000"/>
              <a:buNone/>
              <a:defRPr sz="2000">
                <a:solidFill>
                  <a:srgbClr val="969391"/>
                </a:solidFill>
              </a:defRPr>
            </a:lvl2pPr>
            <a:lvl3pPr indent="-228600" lvl="2" marL="1371600" algn="l">
              <a:lnSpc>
                <a:spcPct val="90000"/>
              </a:lnSpc>
              <a:spcBef>
                <a:spcPts val="600"/>
              </a:spcBef>
              <a:spcAft>
                <a:spcPts val="0"/>
              </a:spcAft>
              <a:buClr>
                <a:srgbClr val="969391"/>
              </a:buClr>
              <a:buSzPts val="1800"/>
              <a:buNone/>
              <a:defRPr sz="1800">
                <a:solidFill>
                  <a:srgbClr val="969391"/>
                </a:solidFill>
              </a:defRPr>
            </a:lvl3pPr>
            <a:lvl4pPr indent="-228600" lvl="3" marL="1828800" algn="l">
              <a:lnSpc>
                <a:spcPct val="90000"/>
              </a:lnSpc>
              <a:spcBef>
                <a:spcPts val="600"/>
              </a:spcBef>
              <a:spcAft>
                <a:spcPts val="0"/>
              </a:spcAft>
              <a:buClr>
                <a:srgbClr val="969391"/>
              </a:buClr>
              <a:buSzPts val="1600"/>
              <a:buNone/>
              <a:defRPr sz="1600">
                <a:solidFill>
                  <a:srgbClr val="969391"/>
                </a:solidFill>
              </a:defRPr>
            </a:lvl4pPr>
            <a:lvl5pPr indent="-228600" lvl="4" marL="2286000" algn="l">
              <a:lnSpc>
                <a:spcPct val="90000"/>
              </a:lnSpc>
              <a:spcBef>
                <a:spcPts val="600"/>
              </a:spcBef>
              <a:spcAft>
                <a:spcPts val="0"/>
              </a:spcAft>
              <a:buClr>
                <a:srgbClr val="969391"/>
              </a:buClr>
              <a:buSzPts val="1600"/>
              <a:buNone/>
              <a:defRPr sz="1600">
                <a:solidFill>
                  <a:srgbClr val="969391"/>
                </a:solidFill>
              </a:defRPr>
            </a:lvl5pPr>
            <a:lvl6pPr indent="-228600" lvl="5" marL="2743200" algn="l">
              <a:lnSpc>
                <a:spcPct val="90000"/>
              </a:lnSpc>
              <a:spcBef>
                <a:spcPts val="500"/>
              </a:spcBef>
              <a:spcAft>
                <a:spcPts val="0"/>
              </a:spcAft>
              <a:buClr>
                <a:srgbClr val="969391"/>
              </a:buClr>
              <a:buSzPts val="1600"/>
              <a:buNone/>
              <a:defRPr sz="1600">
                <a:solidFill>
                  <a:srgbClr val="969391"/>
                </a:solidFill>
              </a:defRPr>
            </a:lvl6pPr>
            <a:lvl7pPr indent="-228600" lvl="6" marL="3200400" algn="l">
              <a:lnSpc>
                <a:spcPct val="90000"/>
              </a:lnSpc>
              <a:spcBef>
                <a:spcPts val="500"/>
              </a:spcBef>
              <a:spcAft>
                <a:spcPts val="0"/>
              </a:spcAft>
              <a:buClr>
                <a:srgbClr val="969391"/>
              </a:buClr>
              <a:buSzPts val="1600"/>
              <a:buNone/>
              <a:defRPr sz="1600">
                <a:solidFill>
                  <a:srgbClr val="969391"/>
                </a:solidFill>
              </a:defRPr>
            </a:lvl7pPr>
            <a:lvl8pPr indent="-228600" lvl="7" marL="3657600" algn="l">
              <a:lnSpc>
                <a:spcPct val="90000"/>
              </a:lnSpc>
              <a:spcBef>
                <a:spcPts val="500"/>
              </a:spcBef>
              <a:spcAft>
                <a:spcPts val="0"/>
              </a:spcAft>
              <a:buClr>
                <a:srgbClr val="969391"/>
              </a:buClr>
              <a:buSzPts val="1600"/>
              <a:buNone/>
              <a:defRPr sz="1600">
                <a:solidFill>
                  <a:srgbClr val="969391"/>
                </a:solidFill>
              </a:defRPr>
            </a:lvl8pPr>
            <a:lvl9pPr indent="-228600" lvl="8" marL="4114800" algn="l">
              <a:lnSpc>
                <a:spcPct val="90000"/>
              </a:lnSpc>
              <a:spcBef>
                <a:spcPts val="500"/>
              </a:spcBef>
              <a:spcAft>
                <a:spcPts val="0"/>
              </a:spcAft>
              <a:buClr>
                <a:srgbClr val="969391"/>
              </a:buClr>
              <a:buSzPts val="1600"/>
              <a:buNone/>
              <a:defRPr sz="1600">
                <a:solidFill>
                  <a:srgbClr val="969391"/>
                </a:solidFill>
              </a:defRPr>
            </a:lvl9pPr>
          </a:lstStyle>
          <a:p/>
        </p:txBody>
      </p:sp>
      <p:sp>
        <p:nvSpPr>
          <p:cNvPr id="65" name="Google Shape;65;p5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5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5"/>
          <p:cNvSpPr txBox="1"/>
          <p:nvPr>
            <p:ph idx="1" type="body"/>
          </p:nvPr>
        </p:nvSpPr>
        <p:spPr>
          <a:xfrm>
            <a:off x="110490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1" name="Google Shape;71;p55"/>
          <p:cNvSpPr txBox="1"/>
          <p:nvPr>
            <p:ph idx="2" type="body"/>
          </p:nvPr>
        </p:nvSpPr>
        <p:spPr>
          <a:xfrm>
            <a:off x="110490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55"/>
          <p:cNvSpPr txBox="1"/>
          <p:nvPr>
            <p:ph idx="3" type="body"/>
          </p:nvPr>
        </p:nvSpPr>
        <p:spPr>
          <a:xfrm>
            <a:off x="616611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3" name="Google Shape;73;p55"/>
          <p:cNvSpPr txBox="1"/>
          <p:nvPr>
            <p:ph idx="4" type="body"/>
          </p:nvPr>
        </p:nvSpPr>
        <p:spPr>
          <a:xfrm>
            <a:off x="616611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5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5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56"/>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6"/>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2" name="Shape 82"/>
        <p:cNvGrpSpPr/>
        <p:nvPr/>
      </p:nvGrpSpPr>
      <p:grpSpPr>
        <a:xfrm>
          <a:off x="0" y="0"/>
          <a:ext cx="0" cy="0"/>
          <a:chOff x="0" y="0"/>
          <a:chExt cx="0" cy="0"/>
        </a:xfrm>
      </p:grpSpPr>
      <p:sp>
        <p:nvSpPr>
          <p:cNvPr id="83" name="Google Shape;83;p57"/>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7"/>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5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58"/>
          <p:cNvSpPr txBox="1"/>
          <p:nvPr>
            <p:ph idx="1" type="body"/>
          </p:nvPr>
        </p:nvSpPr>
        <p:spPr>
          <a:xfrm>
            <a:off x="1104900" y="1600200"/>
            <a:ext cx="4384548" cy="4572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200"/>
              </a:spcBef>
              <a:spcAft>
                <a:spcPts val="0"/>
              </a:spcAft>
              <a:buClr>
                <a:schemeClr val="dk1"/>
              </a:buClr>
              <a:buSzPts val="1800"/>
              <a:buNone/>
              <a:defRPr sz="1800"/>
            </a:lvl1pPr>
            <a:lvl2pPr indent="-228600" lvl="1" marL="914400" algn="l">
              <a:lnSpc>
                <a:spcPct val="90000"/>
              </a:lnSpc>
              <a:spcBef>
                <a:spcPts val="600"/>
              </a:spcBef>
              <a:spcAft>
                <a:spcPts val="0"/>
              </a:spcAft>
              <a:buClr>
                <a:schemeClr val="dk1"/>
              </a:buClr>
              <a:buSzPts val="1400"/>
              <a:buNone/>
              <a:defRPr sz="1400"/>
            </a:lvl2pPr>
            <a:lvl3pPr indent="-228600" lvl="2" marL="1371600" algn="l">
              <a:lnSpc>
                <a:spcPct val="90000"/>
              </a:lnSpc>
              <a:spcBef>
                <a:spcPts val="600"/>
              </a:spcBef>
              <a:spcAft>
                <a:spcPts val="0"/>
              </a:spcAft>
              <a:buClr>
                <a:schemeClr val="dk1"/>
              </a:buClr>
              <a:buSzPts val="1200"/>
              <a:buNone/>
              <a:defRPr sz="1200"/>
            </a:lvl3pPr>
            <a:lvl4pPr indent="-228600" lvl="3" marL="1828800" algn="l">
              <a:lnSpc>
                <a:spcPct val="90000"/>
              </a:lnSpc>
              <a:spcBef>
                <a:spcPts val="600"/>
              </a:spcBef>
              <a:spcAft>
                <a:spcPts val="0"/>
              </a:spcAft>
              <a:buClr>
                <a:schemeClr val="dk1"/>
              </a:buClr>
              <a:buSzPts val="1000"/>
              <a:buNone/>
              <a:defRPr sz="1000"/>
            </a:lvl4pPr>
            <a:lvl5pPr indent="-228600" lvl="4" marL="2286000" algn="l">
              <a:lnSpc>
                <a:spcPct val="9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58"/>
          <p:cNvSpPr txBox="1"/>
          <p:nvPr>
            <p:ph idx="2" type="body"/>
          </p:nvPr>
        </p:nvSpPr>
        <p:spPr>
          <a:xfrm>
            <a:off x="5641848" y="1600199"/>
            <a:ext cx="5445252" cy="4572001"/>
          </a:xfrm>
          <a:prstGeom prst="rect">
            <a:avLst/>
          </a:prstGeom>
          <a:noFill/>
          <a:ln>
            <a:noFill/>
          </a:ln>
        </p:spPr>
        <p:txBody>
          <a:bodyPr anchorCtr="0" anchor="t" bIns="45700" lIns="0" spcFirstLastPara="1" rIns="0" wrap="square" tIns="45700">
            <a:normAutofit/>
          </a:bodyPr>
          <a:lstStyle>
            <a:lvl1pPr indent="-355600" lvl="0" marL="457200" algn="l">
              <a:lnSpc>
                <a:spcPct val="90000"/>
              </a:lnSpc>
              <a:spcBef>
                <a:spcPts val="1800"/>
              </a:spcBef>
              <a:spcAft>
                <a:spcPts val="0"/>
              </a:spcAft>
              <a:buClr>
                <a:schemeClr val="dk1"/>
              </a:buClr>
              <a:buSzPts val="2000"/>
              <a:buChar char="▪"/>
              <a:defRPr sz="2000"/>
            </a:lvl1pPr>
            <a:lvl2pPr indent="-330200" lvl="1" marL="914400" algn="l">
              <a:lnSpc>
                <a:spcPct val="90000"/>
              </a:lnSpc>
              <a:spcBef>
                <a:spcPts val="600"/>
              </a:spcBef>
              <a:spcAft>
                <a:spcPts val="0"/>
              </a:spcAft>
              <a:buClr>
                <a:schemeClr val="dk1"/>
              </a:buClr>
              <a:buSzPts val="1600"/>
              <a:buChar char="▪"/>
              <a:defRPr sz="1600"/>
            </a:lvl2pPr>
            <a:lvl3pPr indent="-330200" lvl="2" marL="1371600" algn="l">
              <a:lnSpc>
                <a:spcPct val="90000"/>
              </a:lnSpc>
              <a:spcBef>
                <a:spcPts val="600"/>
              </a:spcBef>
              <a:spcAft>
                <a:spcPts val="0"/>
              </a:spcAft>
              <a:buClr>
                <a:schemeClr val="dk1"/>
              </a:buClr>
              <a:buSzPts val="1600"/>
              <a:buChar char="▪"/>
              <a:defRPr sz="1600"/>
            </a:lvl3pPr>
            <a:lvl4pPr indent="-317500" lvl="3" marL="1828800" algn="l">
              <a:lnSpc>
                <a:spcPct val="90000"/>
              </a:lnSpc>
              <a:spcBef>
                <a:spcPts val="600"/>
              </a:spcBef>
              <a:spcAft>
                <a:spcPts val="0"/>
              </a:spcAft>
              <a:buClr>
                <a:schemeClr val="dk1"/>
              </a:buClr>
              <a:buSzPts val="1400"/>
              <a:buChar char="▪"/>
              <a:defRPr sz="1400"/>
            </a:lvl4pPr>
            <a:lvl5pPr indent="-317500" lvl="4" marL="2286000" algn="l">
              <a:lnSpc>
                <a:spcPct val="90000"/>
              </a:lnSpc>
              <a:spcBef>
                <a:spcPts val="600"/>
              </a:spcBef>
              <a:spcAft>
                <a:spcPts val="0"/>
              </a:spcAft>
              <a:buClr>
                <a:schemeClr val="dk1"/>
              </a:buClr>
              <a:buSzPts val="1400"/>
              <a:buChar char="▪"/>
              <a:defRPr sz="14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90" name="Google Shape;90;p58"/>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8"/>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 name="Shape 93"/>
        <p:cNvGrpSpPr/>
        <p:nvPr/>
      </p:nvGrpSpPr>
      <p:grpSpPr>
        <a:xfrm>
          <a:off x="0" y="0"/>
          <a:ext cx="0" cy="0"/>
          <a:chOff x="0" y="0"/>
          <a:chExt cx="0" cy="0"/>
        </a:xfrm>
      </p:grpSpPr>
      <p:sp>
        <p:nvSpPr>
          <p:cNvPr id="94" name="Google Shape;94;p5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59"/>
          <p:cNvSpPr txBox="1"/>
          <p:nvPr>
            <p:ph idx="1" type="body"/>
          </p:nvPr>
        </p:nvSpPr>
        <p:spPr>
          <a:xfrm>
            <a:off x="1104900" y="1600200"/>
            <a:ext cx="3396996" cy="4572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200"/>
              </a:spcBef>
              <a:spcAft>
                <a:spcPts val="0"/>
              </a:spcAft>
              <a:buClr>
                <a:schemeClr val="dk1"/>
              </a:buClr>
              <a:buSzPts val="1800"/>
              <a:buNone/>
              <a:defRPr sz="1800"/>
            </a:lvl1pPr>
            <a:lvl2pPr indent="-228600" lvl="1" marL="914400" algn="l">
              <a:lnSpc>
                <a:spcPct val="90000"/>
              </a:lnSpc>
              <a:spcBef>
                <a:spcPts val="600"/>
              </a:spcBef>
              <a:spcAft>
                <a:spcPts val="0"/>
              </a:spcAft>
              <a:buClr>
                <a:schemeClr val="dk1"/>
              </a:buClr>
              <a:buSzPts val="1400"/>
              <a:buNone/>
              <a:defRPr sz="1400"/>
            </a:lvl2pPr>
            <a:lvl3pPr indent="-228600" lvl="2" marL="1371600" algn="l">
              <a:lnSpc>
                <a:spcPct val="90000"/>
              </a:lnSpc>
              <a:spcBef>
                <a:spcPts val="600"/>
              </a:spcBef>
              <a:spcAft>
                <a:spcPts val="0"/>
              </a:spcAft>
              <a:buClr>
                <a:schemeClr val="dk1"/>
              </a:buClr>
              <a:buSzPts val="1200"/>
              <a:buNone/>
              <a:defRPr sz="1200"/>
            </a:lvl3pPr>
            <a:lvl4pPr indent="-228600" lvl="3" marL="1828800" algn="l">
              <a:lnSpc>
                <a:spcPct val="90000"/>
              </a:lnSpc>
              <a:spcBef>
                <a:spcPts val="600"/>
              </a:spcBef>
              <a:spcAft>
                <a:spcPts val="0"/>
              </a:spcAft>
              <a:buClr>
                <a:schemeClr val="dk1"/>
              </a:buClr>
              <a:buSzPts val="1000"/>
              <a:buNone/>
              <a:defRPr sz="1000"/>
            </a:lvl4pPr>
            <a:lvl5pPr indent="-228600" lvl="4" marL="2286000" algn="l">
              <a:lnSpc>
                <a:spcPct val="9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n empty placeholder to add an image. Click on the placeholder and select the image that you wish to add." id="96" name="Google Shape;96;p59"/>
          <p:cNvSpPr/>
          <p:nvPr>
            <p:ph idx="2" type="pic"/>
          </p:nvPr>
        </p:nvSpPr>
        <p:spPr>
          <a:xfrm>
            <a:off x="4654671" y="1600199"/>
            <a:ext cx="6430912" cy="4572001"/>
          </a:xfrm>
          <a:prstGeom prst="rect">
            <a:avLst/>
          </a:prstGeom>
          <a:noFill/>
          <a:ln>
            <a:noFill/>
          </a:ln>
        </p:spPr>
      </p:sp>
      <p:sp>
        <p:nvSpPr>
          <p:cNvPr id="97" name="Google Shape;97;p5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0" name="Shape 100"/>
        <p:cNvGrpSpPr/>
        <p:nvPr/>
      </p:nvGrpSpPr>
      <p:grpSpPr>
        <a:xfrm>
          <a:off x="0" y="0"/>
          <a:ext cx="0" cy="0"/>
          <a:chOff x="0" y="0"/>
          <a:chExt cx="0" cy="0"/>
        </a:xfrm>
      </p:grpSpPr>
      <p:sp>
        <p:nvSpPr>
          <p:cNvPr id="101" name="Google Shape;101;p6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60"/>
          <p:cNvSpPr txBox="1"/>
          <p:nvPr>
            <p:ph idx="1" type="body"/>
          </p:nvPr>
        </p:nvSpPr>
        <p:spPr>
          <a:xfrm rot="5400000">
            <a:off x="3810000" y="-1104900"/>
            <a:ext cx="4572000" cy="9982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60"/>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60"/>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6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06" name="Shape 106"/>
        <p:cNvGrpSpPr/>
        <p:nvPr/>
      </p:nvGrpSpPr>
      <p:grpSpPr>
        <a:xfrm>
          <a:off x="0" y="0"/>
          <a:ext cx="0" cy="0"/>
          <a:chOff x="0" y="0"/>
          <a:chExt cx="0" cy="0"/>
        </a:xfrm>
      </p:grpSpPr>
      <p:sp>
        <p:nvSpPr>
          <p:cNvPr id="107" name="Google Shape;107;p61"/>
          <p:cNvSpPr txBox="1"/>
          <p:nvPr>
            <p:ph type="title"/>
          </p:nvPr>
        </p:nvSpPr>
        <p:spPr>
          <a:xfrm rot="5400000">
            <a:off x="7323931" y="2413794"/>
            <a:ext cx="5811838" cy="17145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61"/>
          <p:cNvSpPr txBox="1"/>
          <p:nvPr>
            <p:ph idx="1" type="body"/>
          </p:nvPr>
        </p:nvSpPr>
        <p:spPr>
          <a:xfrm rot="5400000">
            <a:off x="2248429" y="-778404"/>
            <a:ext cx="5811838" cy="8098896"/>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6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6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6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12" name="Google Shape;112;p61"/>
          <p:cNvGrpSpPr/>
          <p:nvPr/>
        </p:nvGrpSpPr>
        <p:grpSpPr>
          <a:xfrm rot="5400000">
            <a:off x="6514047" y="3228843"/>
            <a:ext cx="5632704" cy="84403"/>
            <a:chOff x="1073150" y="1219201"/>
            <a:chExt cx="10058400" cy="63125"/>
          </a:xfrm>
        </p:grpSpPr>
        <p:cxnSp>
          <p:nvCxnSpPr>
            <p:cNvPr id="113" name="Google Shape;113;p61"/>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14" name="Google Shape;114;p61"/>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4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marR="0" rtl="0" algn="l">
              <a:lnSpc>
                <a:spcPct val="9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8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1pPr>
            <a:lvl2pPr indent="-330200" lvl="1" marL="914400" marR="0" rtl="0" algn="l">
              <a:lnSpc>
                <a:spcPct val="90000"/>
              </a:lnSpc>
              <a:spcBef>
                <a:spcPts val="60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2pPr>
            <a:lvl3pPr indent="-317500" lvl="2" marL="13716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12" name="Google Shape;12;p4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marR="0" rtl="0" algn="ctr">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rtl="0" algn="r">
              <a:spcBef>
                <a:spcPts val="0"/>
              </a:spcBef>
              <a:buNone/>
              <a:defRPr b="0" i="0" sz="1200" u="none" cap="none" strike="noStrike">
                <a:solidFill>
                  <a:srgbClr val="3C3632"/>
                </a:solidFill>
                <a:latin typeface="Arial"/>
                <a:ea typeface="Arial"/>
                <a:cs typeface="Arial"/>
                <a:sym typeface="Arial"/>
              </a:defRPr>
            </a:lvl1pPr>
            <a:lvl2pPr indent="0" lvl="1" marL="0" marR="0" rtl="0" algn="r">
              <a:spcBef>
                <a:spcPts val="0"/>
              </a:spcBef>
              <a:buNone/>
              <a:defRPr b="0" i="0" sz="1200" u="none" cap="none" strike="noStrike">
                <a:solidFill>
                  <a:srgbClr val="3C3632"/>
                </a:solidFill>
                <a:latin typeface="Arial"/>
                <a:ea typeface="Arial"/>
                <a:cs typeface="Arial"/>
                <a:sym typeface="Arial"/>
              </a:defRPr>
            </a:lvl2pPr>
            <a:lvl3pPr indent="0" lvl="2" marL="0" marR="0" rtl="0" algn="r">
              <a:spcBef>
                <a:spcPts val="0"/>
              </a:spcBef>
              <a:buNone/>
              <a:defRPr b="0" i="0" sz="1200" u="none" cap="none" strike="noStrike">
                <a:solidFill>
                  <a:srgbClr val="3C3632"/>
                </a:solidFill>
                <a:latin typeface="Arial"/>
                <a:ea typeface="Arial"/>
                <a:cs typeface="Arial"/>
                <a:sym typeface="Arial"/>
              </a:defRPr>
            </a:lvl3pPr>
            <a:lvl4pPr indent="0" lvl="3" marL="0" marR="0" rtl="0" algn="r">
              <a:spcBef>
                <a:spcPts val="0"/>
              </a:spcBef>
              <a:buNone/>
              <a:defRPr b="0" i="0" sz="1200" u="none" cap="none" strike="noStrike">
                <a:solidFill>
                  <a:srgbClr val="3C3632"/>
                </a:solidFill>
                <a:latin typeface="Arial"/>
                <a:ea typeface="Arial"/>
                <a:cs typeface="Arial"/>
                <a:sym typeface="Arial"/>
              </a:defRPr>
            </a:lvl4pPr>
            <a:lvl5pPr indent="0" lvl="4" marL="0" marR="0" rtl="0" algn="r">
              <a:spcBef>
                <a:spcPts val="0"/>
              </a:spcBef>
              <a:buNone/>
              <a:defRPr b="0" i="0" sz="1200" u="none" cap="none" strike="noStrike">
                <a:solidFill>
                  <a:srgbClr val="3C3632"/>
                </a:solidFill>
                <a:latin typeface="Arial"/>
                <a:ea typeface="Arial"/>
                <a:cs typeface="Arial"/>
                <a:sym typeface="Arial"/>
              </a:defRPr>
            </a:lvl5pPr>
            <a:lvl6pPr indent="0" lvl="5" marL="0" marR="0" rtl="0" algn="r">
              <a:spcBef>
                <a:spcPts val="0"/>
              </a:spcBef>
              <a:buNone/>
              <a:defRPr b="0" i="0" sz="1200" u="none" cap="none" strike="noStrike">
                <a:solidFill>
                  <a:srgbClr val="3C3632"/>
                </a:solidFill>
                <a:latin typeface="Arial"/>
                <a:ea typeface="Arial"/>
                <a:cs typeface="Arial"/>
                <a:sym typeface="Arial"/>
              </a:defRPr>
            </a:lvl6pPr>
            <a:lvl7pPr indent="0" lvl="6" marL="0" marR="0" rtl="0" algn="r">
              <a:spcBef>
                <a:spcPts val="0"/>
              </a:spcBef>
              <a:buNone/>
              <a:defRPr b="0" i="0" sz="1200" u="none" cap="none" strike="noStrike">
                <a:solidFill>
                  <a:srgbClr val="3C3632"/>
                </a:solidFill>
                <a:latin typeface="Arial"/>
                <a:ea typeface="Arial"/>
                <a:cs typeface="Arial"/>
                <a:sym typeface="Arial"/>
              </a:defRPr>
            </a:lvl7pPr>
            <a:lvl8pPr indent="0" lvl="7" marL="0" marR="0" rtl="0" algn="r">
              <a:spcBef>
                <a:spcPts val="0"/>
              </a:spcBef>
              <a:buNone/>
              <a:defRPr b="0" i="0" sz="1200" u="none" cap="none" strike="noStrike">
                <a:solidFill>
                  <a:srgbClr val="3C3632"/>
                </a:solidFill>
                <a:latin typeface="Arial"/>
                <a:ea typeface="Arial"/>
                <a:cs typeface="Arial"/>
                <a:sym typeface="Arial"/>
              </a:defRPr>
            </a:lvl8pPr>
            <a:lvl9pPr indent="0" lvl="8" marL="0" marR="0" rtl="0" algn="r">
              <a:spcBef>
                <a:spcPts val="0"/>
              </a:spcBef>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5" name="Google Shape;15;p49"/>
          <p:cNvGrpSpPr/>
          <p:nvPr/>
        </p:nvGrpSpPr>
        <p:grpSpPr>
          <a:xfrm>
            <a:off x="1103376" y="1219201"/>
            <a:ext cx="9985248" cy="84403"/>
            <a:chOff x="1073150" y="1219201"/>
            <a:chExt cx="10058400" cy="63125"/>
          </a:xfrm>
        </p:grpSpPr>
        <p:cxnSp>
          <p:nvCxnSpPr>
            <p:cNvPr id="16" name="Google Shape;16;p49"/>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7" name="Google Shape;17;p49"/>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jpg"/><Relationship Id="rId4" Type="http://schemas.openxmlformats.org/officeDocument/2006/relationships/image" Target="../media/image18.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22.png"/><Relationship Id="rId5"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3.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31.png"/><Relationship Id="rId7"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
          <p:cNvSpPr txBox="1"/>
          <p:nvPr>
            <p:ph type="ctrTitle"/>
          </p:nvPr>
        </p:nvSpPr>
        <p:spPr>
          <a:xfrm>
            <a:off x="822798" y="1310656"/>
            <a:ext cx="5734050" cy="2219691"/>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CSE 455</a:t>
            </a:r>
            <a:br>
              <a:rPr lang="en-US"/>
            </a:br>
            <a:r>
              <a:rPr lang="en-US"/>
              <a:t>SOFTWARE TESTING</a:t>
            </a:r>
            <a:endParaRPr/>
          </a:p>
        </p:txBody>
      </p:sp>
      <p:sp>
        <p:nvSpPr>
          <p:cNvPr id="121" name="Google Shape;121;p1"/>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US"/>
              <a:t>This course is offered to the students of students of BS Software Engineering who are enrolled in 8</a:t>
            </a:r>
            <a:r>
              <a:rPr baseline="30000" lang="en-US"/>
              <a:t>th</a:t>
            </a:r>
            <a:r>
              <a:rPr lang="en-US"/>
              <a:t> semester</a:t>
            </a:r>
            <a:endParaRPr/>
          </a:p>
        </p:txBody>
      </p:sp>
      <p:pic>
        <p:nvPicPr>
          <p:cNvPr descr="Open book on table, blurred shelves of books in background" id="122" name="Google Shape;122;p1"/>
          <p:cNvPicPr preferRelativeResize="0"/>
          <p:nvPr>
            <p:ph idx="2" type="pic"/>
          </p:nvPr>
        </p:nvPicPr>
        <p:blipFill rotWithShape="1">
          <a:blip r:embed="rId3">
            <a:alphaModFix/>
          </a:blip>
          <a:srcRect b="0" l="8890" r="8889" t="0"/>
          <a:stretch/>
        </p:blipFill>
        <p:spPr>
          <a:xfrm>
            <a:off x="6981063" y="1310656"/>
            <a:ext cx="5210937" cy="4208604"/>
          </a:xfrm>
          <a:prstGeom prst="rect">
            <a:avLst/>
          </a:prstGeom>
          <a:solidFill>
            <a:srgbClr val="DED9D6"/>
          </a:solidFill>
          <a:ln>
            <a:noFill/>
          </a:ln>
        </p:spPr>
      </p:pic>
      <p:sp>
        <p:nvSpPr>
          <p:cNvPr id="123" name="Google Shape;123;p1"/>
          <p:cNvSpPr txBox="1"/>
          <p:nvPr/>
        </p:nvSpPr>
        <p:spPr>
          <a:xfrm>
            <a:off x="1466850" y="3655068"/>
            <a:ext cx="1045441" cy="454605"/>
          </a:xfrm>
          <a:prstGeom prst="rect">
            <a:avLst/>
          </a:prstGeom>
          <a:noFill/>
          <a:ln>
            <a:noFill/>
          </a:ln>
        </p:spPr>
        <p:txBody>
          <a:bodyPr anchorCtr="0" anchor="t" bIns="45700" lIns="0" spcFirstLastPara="1" rIns="0" wrap="square" tIns="45700">
            <a:normAutofit fontScale="92500"/>
          </a:bodyPr>
          <a:lstStyle/>
          <a:p>
            <a:pPr indent="0" lvl="0" marL="0" marR="0" rtl="0" algn="l">
              <a:lnSpc>
                <a:spcPct val="90000"/>
              </a:lnSpc>
              <a:spcBef>
                <a:spcPts val="0"/>
              </a:spcBef>
              <a:spcAft>
                <a:spcPts val="0"/>
              </a:spcAft>
              <a:buClr>
                <a:schemeClr val="dk1"/>
              </a:buClr>
              <a:buSzPct val="100000"/>
              <a:buFont typeface="Noto Sans Symbols"/>
              <a:buNone/>
            </a:pPr>
            <a:r>
              <a:rPr b="0" i="0" lang="en-US" sz="1800" u="none" cap="none" strike="noStrike">
                <a:solidFill>
                  <a:schemeClr val="dk1"/>
                </a:solidFill>
                <a:latin typeface="Arial"/>
                <a:ea typeface="Arial"/>
                <a:cs typeface="Arial"/>
                <a:sym typeface="Arial"/>
              </a:rPr>
              <a:t>Lecture </a:t>
            </a:r>
            <a:r>
              <a:rPr lang="en-US" sz="1800">
                <a:solidFill>
                  <a:schemeClr val="dk1"/>
                </a:solidFill>
              </a:rPr>
              <a:t>13</a:t>
            </a:r>
            <a:endParaRPr/>
          </a:p>
        </p:txBody>
      </p:sp>
      <p:pic>
        <p:nvPicPr>
          <p:cNvPr id="124" name="Google Shape;124;p1"/>
          <p:cNvPicPr preferRelativeResize="0"/>
          <p:nvPr/>
        </p:nvPicPr>
        <p:blipFill rotWithShape="1">
          <a:blip r:embed="rId4">
            <a:alphaModFix/>
          </a:blip>
          <a:srcRect b="0" l="0" r="0" t="0"/>
          <a:stretch/>
        </p:blipFill>
        <p:spPr>
          <a:xfrm>
            <a:off x="11101085" y="0"/>
            <a:ext cx="1090915" cy="108949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
          <p:cNvSpPr txBox="1"/>
          <p:nvPr>
            <p:ph type="ctrTitle"/>
          </p:nvPr>
        </p:nvSpPr>
        <p:spPr>
          <a:xfrm>
            <a:off x="3306618" y="1830275"/>
            <a:ext cx="5301673" cy="2219691"/>
          </a:xfrm>
          <a:prstGeom prst="rect">
            <a:avLst/>
          </a:prstGeom>
          <a:solidFill>
            <a:schemeClr val="accent3"/>
          </a:solidFill>
          <a:ln cap="flat" cmpd="thickThin" w="48500">
            <a:solidFill>
              <a:schemeClr val="lt1"/>
            </a:solidFill>
            <a:prstDash val="solid"/>
            <a:round/>
            <a:headEnd len="sm" w="sm" type="none"/>
            <a:tailEnd len="sm" w="sm" type="none"/>
          </a:ln>
          <a:effectLst>
            <a:outerShdw blurRad="45000" rotWithShape="0" dir="5400000" dist="25000">
              <a:srgbClr val="000000">
                <a:alpha val="37647"/>
              </a:srgbClr>
            </a:outerShdw>
          </a:effectLst>
        </p:spPr>
        <p:txBody>
          <a:bodyPr anchorCtr="0" anchor="ctr" bIns="45700" lIns="0" spcFirstLastPara="1" rIns="0" wrap="square" tIns="45700">
            <a:normAutofit/>
          </a:bodyPr>
          <a:lstStyle/>
          <a:p>
            <a:pPr indent="0" lvl="0" marL="0" rtl="0" algn="l">
              <a:lnSpc>
                <a:spcPct val="90000"/>
              </a:lnSpc>
              <a:spcBef>
                <a:spcPts val="0"/>
              </a:spcBef>
              <a:spcAft>
                <a:spcPts val="0"/>
              </a:spcAft>
              <a:buClr>
                <a:schemeClr val="lt1"/>
              </a:buClr>
              <a:buSzPts val="3000"/>
              <a:buFont typeface="Jacques Francois Shadow"/>
              <a:buNone/>
            </a:pPr>
            <a:r>
              <a:rPr lang="en-US" sz="3000">
                <a:solidFill>
                  <a:schemeClr val="lt1"/>
                </a:solidFill>
                <a:latin typeface="Jacques Francois Shadow"/>
                <a:ea typeface="Jacques Francois Shadow"/>
                <a:cs typeface="Jacques Francois Shadow"/>
                <a:sym typeface="Jacques Francois Shadow"/>
              </a:rPr>
              <a:t>   COURSE INSTRUCTOR</a:t>
            </a:r>
            <a:br>
              <a:rPr lang="en-US" sz="3000">
                <a:solidFill>
                  <a:schemeClr val="lt1"/>
                </a:solidFill>
                <a:latin typeface="Jacques Francois Shadow"/>
                <a:ea typeface="Jacques Francois Shadow"/>
                <a:cs typeface="Jacques Francois Shadow"/>
                <a:sym typeface="Jacques Francois Shadow"/>
              </a:rPr>
            </a:br>
            <a:br>
              <a:rPr lang="en-US" sz="3000">
                <a:solidFill>
                  <a:schemeClr val="lt1"/>
                </a:solidFill>
                <a:latin typeface="Jacques Francois Shadow"/>
                <a:ea typeface="Jacques Francois Shadow"/>
                <a:cs typeface="Jacques Francois Shadow"/>
                <a:sym typeface="Jacques Francois Shadow"/>
              </a:rPr>
            </a:br>
            <a:r>
              <a:rPr lang="en-US" sz="3000">
                <a:solidFill>
                  <a:schemeClr val="lt1"/>
                </a:solidFill>
                <a:latin typeface="Jacques Francois Shadow"/>
                <a:ea typeface="Jacques Francois Shadow"/>
                <a:cs typeface="Jacques Francois Shadow"/>
                <a:sym typeface="Jacques Francois Shadow"/>
              </a:rPr>
              <a:t>          YELLA MEHROZE</a:t>
            </a:r>
            <a:endParaRPr sz="3000">
              <a:latin typeface="Jacques Francois Shadow"/>
              <a:ea typeface="Jacques Francois Shadow"/>
              <a:cs typeface="Jacques Francois Shadow"/>
              <a:sym typeface="Jacques Francois Shadow"/>
            </a:endParaRPr>
          </a:p>
        </p:txBody>
      </p:sp>
      <p:sp>
        <p:nvSpPr>
          <p:cNvPr id="130" name="Google Shape;130;p2"/>
          <p:cNvSpPr txBox="1"/>
          <p:nvPr>
            <p:ph idx="1" type="subTitle"/>
          </p:nvPr>
        </p:nvSpPr>
        <p:spPr>
          <a:xfrm>
            <a:off x="3546765" y="4230255"/>
            <a:ext cx="4895272" cy="1126835"/>
          </a:xfrm>
          <a:prstGeom prst="rect">
            <a:avLst/>
          </a:prstGeom>
          <a:gradFill>
            <a:gsLst>
              <a:gs pos="0">
                <a:srgbClr val="AFB2C1"/>
              </a:gs>
              <a:gs pos="100000">
                <a:srgbClr val="9AA3B4"/>
              </a:gs>
            </a:gsLst>
            <a:path path="circle">
              <a:fillToRect b="50%" l="50%" r="50%" t="50%"/>
            </a:path>
            <a:tileRect/>
          </a:gradFill>
          <a:ln cap="rnd" cmpd="sng" w="9525">
            <a:solidFill>
              <a:srgbClr val="4F5667"/>
            </a:solidFill>
            <a:prstDash val="solid"/>
            <a:round/>
            <a:headEnd len="sm" w="sm" type="none"/>
            <a:tailEnd len="sm" w="sm" type="none"/>
          </a:ln>
          <a:effectLst>
            <a:outerShdw blurRad="45000" rotWithShape="0" dir="5400000" dist="25000">
              <a:srgbClr val="000000">
                <a:alpha val="37647"/>
              </a:srgbClr>
            </a:outerShdw>
          </a:effectLst>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t/>
            </a:r>
            <a:endParaRPr/>
          </a:p>
          <a:p>
            <a:pPr indent="0" lvl="0" marL="0" rtl="0" algn="l">
              <a:lnSpc>
                <a:spcPct val="90000"/>
              </a:lnSpc>
              <a:spcBef>
                <a:spcPts val="0"/>
              </a:spcBef>
              <a:spcAft>
                <a:spcPts val="0"/>
              </a:spcAft>
              <a:buClr>
                <a:schemeClr val="dk1"/>
              </a:buClr>
              <a:buSzPts val="1800"/>
              <a:buNone/>
            </a:pPr>
            <a:r>
              <a:rPr lang="en-US">
                <a:solidFill>
                  <a:schemeClr val="dk1"/>
                </a:solidFill>
                <a:latin typeface="Jacques Francois Shadow"/>
                <a:ea typeface="Jacques Francois Shadow"/>
                <a:cs typeface="Jacques Francois Shadow"/>
                <a:sym typeface="Jacques Francois Shadow"/>
              </a:rPr>
              <a:t>    </a:t>
            </a:r>
            <a:endParaRPr/>
          </a:p>
          <a:p>
            <a:pPr indent="0" lvl="0" marL="0" rtl="0" algn="l">
              <a:lnSpc>
                <a:spcPct val="90000"/>
              </a:lnSpc>
              <a:spcBef>
                <a:spcPts val="0"/>
              </a:spcBef>
              <a:spcAft>
                <a:spcPts val="0"/>
              </a:spcAft>
              <a:buClr>
                <a:schemeClr val="dk1"/>
              </a:buClr>
              <a:buSzPts val="1800"/>
              <a:buNone/>
            </a:pPr>
            <a:r>
              <a:rPr lang="en-US">
                <a:solidFill>
                  <a:schemeClr val="dk1"/>
                </a:solidFill>
                <a:latin typeface="Jacques Francois Shadow"/>
                <a:ea typeface="Jacques Francois Shadow"/>
                <a:cs typeface="Jacques Francois Shadow"/>
                <a:sym typeface="Jacques Francois Shadow"/>
              </a:rPr>
              <a:t>yellamehroze@cuilahore.edu.pk</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ctrTitle"/>
          </p:nvPr>
        </p:nvSpPr>
        <p:spPr>
          <a:xfrm>
            <a:off x="190500" y="2265968"/>
            <a:ext cx="6567651" cy="2842060"/>
          </a:xfrm>
          <a:prstGeom prst="rect">
            <a:avLst/>
          </a:prstGeom>
          <a:noFill/>
          <a:ln>
            <a:noFill/>
          </a:ln>
        </p:spPr>
        <p:txBody>
          <a:bodyPr anchorCtr="0" anchor="ctr" bIns="45700" lIns="0" spcFirstLastPara="1" rIns="0" wrap="square" tIns="45700">
            <a:normAutofit/>
          </a:bodyPr>
          <a:lstStyle/>
          <a:p>
            <a:pPr indent="0" lvl="0" marL="0" rtl="0" algn="ctr">
              <a:lnSpc>
                <a:spcPct val="90000"/>
              </a:lnSpc>
              <a:spcBef>
                <a:spcPts val="0"/>
              </a:spcBef>
              <a:spcAft>
                <a:spcPts val="0"/>
              </a:spcAft>
              <a:buClr>
                <a:schemeClr val="dk1"/>
              </a:buClr>
              <a:buSzPts val="4400"/>
              <a:buFont typeface="Arial"/>
              <a:buNone/>
            </a:pPr>
            <a:br>
              <a:rPr lang="en-US"/>
            </a:br>
            <a:br>
              <a:rPr lang="en-US"/>
            </a:br>
            <a:r>
              <a:rPr lang="en-US"/>
              <a:t>TOPIC: TAXONOMY OF BUGS </a:t>
            </a:r>
            <a:endParaRPr/>
          </a:p>
        </p:txBody>
      </p:sp>
      <p:pic>
        <p:nvPicPr>
          <p:cNvPr id="137" name="Google Shape;137;p3"/>
          <p:cNvPicPr preferRelativeResize="0"/>
          <p:nvPr>
            <p:ph idx="2" type="pic"/>
          </p:nvPr>
        </p:nvPicPr>
        <p:blipFill rotWithShape="1">
          <a:blip r:embed="rId3">
            <a:alphaModFix/>
          </a:blip>
          <a:srcRect b="0" l="3633" r="3634" t="0"/>
          <a:stretch/>
        </p:blipFill>
        <p:spPr>
          <a:xfrm>
            <a:off x="6981063" y="1310656"/>
            <a:ext cx="5210937" cy="4208604"/>
          </a:xfrm>
          <a:prstGeom prst="rect">
            <a:avLst/>
          </a:prstGeom>
          <a:solidFill>
            <a:srgbClr val="DED9D6"/>
          </a:solid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Outline</a:t>
            </a:r>
            <a:endParaRPr/>
          </a:p>
        </p:txBody>
      </p:sp>
      <p:sp>
        <p:nvSpPr>
          <p:cNvPr id="144" name="Google Shape;144;p4"/>
          <p:cNvSpPr txBox="1"/>
          <p:nvPr>
            <p:ph idx="1" type="body"/>
          </p:nvPr>
        </p:nvSpPr>
        <p:spPr>
          <a:xfrm>
            <a:off x="1097281" y="1447800"/>
            <a:ext cx="9993085" cy="5029200"/>
          </a:xfrm>
          <a:prstGeom prst="rect">
            <a:avLst/>
          </a:prstGeom>
          <a:noFill/>
          <a:ln>
            <a:noFill/>
          </a:ln>
        </p:spPr>
        <p:txBody>
          <a:bodyPr anchorCtr="0" anchor="t" bIns="45700" lIns="0" spcFirstLastPara="1" rIns="0" wrap="square" tIns="45700">
            <a:normAutofit/>
          </a:bodyPr>
          <a:lstStyle/>
          <a:p>
            <a:pPr indent="-228600" lvl="0" marL="228600" rtl="0" algn="l">
              <a:lnSpc>
                <a:spcPct val="90000"/>
              </a:lnSpc>
              <a:spcBef>
                <a:spcPts val="0"/>
              </a:spcBef>
              <a:spcAft>
                <a:spcPts val="0"/>
              </a:spcAft>
              <a:buClr>
                <a:schemeClr val="dk1"/>
              </a:buClr>
              <a:buSzPts val="2000"/>
              <a:buChar char="▪"/>
            </a:pPr>
            <a:r>
              <a:rPr lang="en-US"/>
              <a:t>Objectives of Taxonomy of Bugs</a:t>
            </a:r>
            <a:endParaRPr/>
          </a:p>
          <a:p>
            <a:pPr indent="-228600" lvl="0" marL="228600" rtl="0" algn="l">
              <a:lnSpc>
                <a:spcPct val="90000"/>
              </a:lnSpc>
              <a:spcBef>
                <a:spcPts val="1800"/>
              </a:spcBef>
              <a:spcAft>
                <a:spcPts val="0"/>
              </a:spcAft>
              <a:buClr>
                <a:schemeClr val="dk1"/>
              </a:buClr>
              <a:buSzPts val="2000"/>
              <a:buChar char="▪"/>
            </a:pPr>
            <a:r>
              <a:rPr lang="en-US"/>
              <a:t>Taxonomy of Bugs</a:t>
            </a:r>
            <a:endParaRPr/>
          </a:p>
          <a:p>
            <a:pPr indent="-228600" lvl="1" marL="685800" rtl="0" algn="l">
              <a:lnSpc>
                <a:spcPct val="90000"/>
              </a:lnSpc>
              <a:spcBef>
                <a:spcPts val="600"/>
              </a:spcBef>
              <a:spcAft>
                <a:spcPts val="0"/>
              </a:spcAft>
              <a:buClr>
                <a:schemeClr val="dk1"/>
              </a:buClr>
              <a:buSzPts val="2000"/>
              <a:buChar char="▪"/>
            </a:pPr>
            <a:r>
              <a:rPr lang="en-US" sz="2000"/>
              <a:t>Requirements, Features and Functionality Bugs</a:t>
            </a:r>
            <a:endParaRPr/>
          </a:p>
          <a:p>
            <a:pPr indent="-228600" lvl="1" marL="685800" rtl="0" algn="l">
              <a:lnSpc>
                <a:spcPct val="90000"/>
              </a:lnSpc>
              <a:spcBef>
                <a:spcPts val="600"/>
              </a:spcBef>
              <a:spcAft>
                <a:spcPts val="0"/>
              </a:spcAft>
              <a:buClr>
                <a:schemeClr val="dk1"/>
              </a:buClr>
              <a:buSzPts val="2000"/>
              <a:buChar char="▪"/>
            </a:pPr>
            <a:r>
              <a:rPr lang="en-US" sz="2000"/>
              <a:t>Structural Bugs</a:t>
            </a:r>
            <a:endParaRPr/>
          </a:p>
          <a:p>
            <a:pPr indent="-228600" lvl="1" marL="685800" rtl="0" algn="l">
              <a:lnSpc>
                <a:spcPct val="90000"/>
              </a:lnSpc>
              <a:spcBef>
                <a:spcPts val="600"/>
              </a:spcBef>
              <a:spcAft>
                <a:spcPts val="0"/>
              </a:spcAft>
              <a:buClr>
                <a:schemeClr val="dk1"/>
              </a:buClr>
              <a:buSzPts val="2000"/>
              <a:buChar char="▪"/>
            </a:pPr>
            <a:r>
              <a:rPr lang="en-US" sz="2000"/>
              <a:t>Data Bugs</a:t>
            </a:r>
            <a:endParaRPr/>
          </a:p>
          <a:p>
            <a:pPr indent="-228600" lvl="1" marL="685800" rtl="0" algn="l">
              <a:lnSpc>
                <a:spcPct val="90000"/>
              </a:lnSpc>
              <a:spcBef>
                <a:spcPts val="600"/>
              </a:spcBef>
              <a:spcAft>
                <a:spcPts val="0"/>
              </a:spcAft>
              <a:buClr>
                <a:schemeClr val="dk1"/>
              </a:buClr>
              <a:buSzPts val="2000"/>
              <a:buChar char="▪"/>
            </a:pPr>
            <a:r>
              <a:rPr lang="en-US" sz="2000"/>
              <a:t>Coding Bugs</a:t>
            </a:r>
            <a:endParaRPr/>
          </a:p>
          <a:p>
            <a:pPr indent="-228600" lvl="1" marL="685800" rtl="0" algn="l">
              <a:lnSpc>
                <a:spcPct val="90000"/>
              </a:lnSpc>
              <a:spcBef>
                <a:spcPts val="600"/>
              </a:spcBef>
              <a:spcAft>
                <a:spcPts val="0"/>
              </a:spcAft>
              <a:buClr>
                <a:schemeClr val="dk1"/>
              </a:buClr>
              <a:buSzPts val="2000"/>
              <a:buChar char="▪"/>
            </a:pPr>
            <a:r>
              <a:rPr lang="en-US" sz="2000"/>
              <a:t>Interface, Integration and System Bugs</a:t>
            </a:r>
            <a:endParaRPr/>
          </a:p>
          <a:p>
            <a:pPr indent="-228600" lvl="1" marL="685800" rtl="0" algn="l">
              <a:lnSpc>
                <a:spcPct val="90000"/>
              </a:lnSpc>
              <a:spcBef>
                <a:spcPts val="600"/>
              </a:spcBef>
              <a:spcAft>
                <a:spcPts val="0"/>
              </a:spcAft>
              <a:buClr>
                <a:schemeClr val="dk1"/>
              </a:buClr>
              <a:buSzPts val="2000"/>
              <a:buChar char="▪"/>
            </a:pPr>
            <a:r>
              <a:rPr lang="en-US" sz="2000"/>
              <a:t>Test and Test Design Bugs</a:t>
            </a:r>
            <a:endParaRPr/>
          </a:p>
        </p:txBody>
      </p:sp>
      <p:sp>
        <p:nvSpPr>
          <p:cNvPr id="145" name="Google Shape;145;p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Objectives of Taxonomy of Bugs</a:t>
            </a:r>
            <a:endParaRPr/>
          </a:p>
        </p:txBody>
      </p:sp>
      <p:sp>
        <p:nvSpPr>
          <p:cNvPr id="152" name="Google Shape;152;p5"/>
          <p:cNvSpPr txBox="1"/>
          <p:nvPr>
            <p:ph idx="1" type="body"/>
          </p:nvPr>
        </p:nvSpPr>
        <p:spPr>
          <a:xfrm>
            <a:off x="1097281" y="1447800"/>
            <a:ext cx="9993085" cy="5029200"/>
          </a:xfrm>
          <a:prstGeom prst="rect">
            <a:avLst/>
          </a:prstGeom>
          <a:noFill/>
          <a:ln>
            <a:noFill/>
          </a:ln>
        </p:spPr>
        <p:txBody>
          <a:bodyPr anchorCtr="0" anchor="t" bIns="45700" lIns="0" spcFirstLastPara="1" rIns="0" wrap="square" tIns="45700">
            <a:normAutofit/>
          </a:bodyPr>
          <a:lstStyle/>
          <a:p>
            <a:pPr indent="-228600" lvl="0" marL="228600" rtl="0" algn="l">
              <a:lnSpc>
                <a:spcPct val="90000"/>
              </a:lnSpc>
              <a:spcBef>
                <a:spcPts val="0"/>
              </a:spcBef>
              <a:spcAft>
                <a:spcPts val="0"/>
              </a:spcAft>
              <a:buClr>
                <a:schemeClr val="dk1"/>
              </a:buClr>
              <a:buSzPts val="2000"/>
              <a:buChar char="▪"/>
            </a:pPr>
            <a:r>
              <a:rPr lang="en-US"/>
              <a:t>To understand different categories of bugs</a:t>
            </a:r>
            <a:endParaRPr/>
          </a:p>
          <a:p>
            <a:pPr indent="-228600" lvl="0" marL="228600" rtl="0" algn="l">
              <a:lnSpc>
                <a:spcPct val="90000"/>
              </a:lnSpc>
              <a:spcBef>
                <a:spcPts val="1800"/>
              </a:spcBef>
              <a:spcAft>
                <a:spcPts val="0"/>
              </a:spcAft>
              <a:buClr>
                <a:schemeClr val="dk1"/>
              </a:buClr>
              <a:buSzPts val="2000"/>
              <a:buChar char="▪"/>
            </a:pPr>
            <a:r>
              <a:rPr lang="en-US"/>
              <a:t>To learn which type of bug should be placed in which category</a:t>
            </a:r>
            <a:endParaRPr/>
          </a:p>
          <a:p>
            <a:pPr indent="-228600" lvl="0" marL="228600" rtl="0" algn="l">
              <a:lnSpc>
                <a:spcPct val="90000"/>
              </a:lnSpc>
              <a:spcBef>
                <a:spcPts val="1800"/>
              </a:spcBef>
              <a:spcAft>
                <a:spcPts val="0"/>
              </a:spcAft>
              <a:buClr>
                <a:schemeClr val="dk1"/>
              </a:buClr>
              <a:buSzPts val="2000"/>
              <a:buChar char="▪"/>
            </a:pPr>
            <a:r>
              <a:rPr lang="en-US"/>
              <a:t>To learn how to avoid bugs by understanding different types of bugs</a:t>
            </a:r>
            <a:endParaRPr/>
          </a:p>
        </p:txBody>
      </p:sp>
      <p:sp>
        <p:nvSpPr>
          <p:cNvPr id="153" name="Google Shape;153;p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1. Requirements, Features and Functionality Bugs</a:t>
            </a:r>
            <a:endParaRPr/>
          </a:p>
        </p:txBody>
      </p:sp>
      <p:grpSp>
        <p:nvGrpSpPr>
          <p:cNvPr id="160" name="Google Shape;160;p6"/>
          <p:cNvGrpSpPr/>
          <p:nvPr/>
        </p:nvGrpSpPr>
        <p:grpSpPr>
          <a:xfrm>
            <a:off x="1137834" y="2506791"/>
            <a:ext cx="9964231" cy="2911217"/>
            <a:chOff x="1364" y="1058991"/>
            <a:chExt cx="9964231" cy="2911217"/>
          </a:xfrm>
        </p:grpSpPr>
        <p:sp>
          <p:nvSpPr>
            <p:cNvPr id="161" name="Google Shape;161;p6"/>
            <p:cNvSpPr/>
            <p:nvPr/>
          </p:nvSpPr>
          <p:spPr>
            <a:xfrm>
              <a:off x="4983480" y="2261973"/>
              <a:ext cx="3367376" cy="505252"/>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162" name="Google Shape;162;p6"/>
            <p:cNvSpPr/>
            <p:nvPr/>
          </p:nvSpPr>
          <p:spPr>
            <a:xfrm>
              <a:off x="4937760" y="2261973"/>
              <a:ext cx="91440" cy="505252"/>
            </a:xfrm>
            <a:custGeom>
              <a:rect b="b" l="l" r="r" t="t"/>
              <a:pathLst>
                <a:path extrusionOk="0" h="120000" w="120000">
                  <a:moveTo>
                    <a:pt x="60000" y="0"/>
                  </a:moveTo>
                  <a:lnTo>
                    <a:pt x="60000" y="60000"/>
                  </a:lnTo>
                  <a:lnTo>
                    <a:pt x="118270" y="60000"/>
                  </a:lnTo>
                  <a:lnTo>
                    <a:pt x="118270" y="120000"/>
                  </a:lnTo>
                </a:path>
              </a:pathLst>
            </a:custGeom>
            <a:noFill/>
            <a:ln cap="flat" cmpd="thickThin" w="48000">
              <a:solidFill>
                <a:srgbClr val="403934"/>
              </a:solidFill>
              <a:prstDash val="solid"/>
              <a:round/>
              <a:headEnd len="sm" w="sm" type="none"/>
              <a:tailEnd len="sm" w="sm" type="none"/>
            </a:ln>
          </p:spPr>
        </p:sp>
        <p:sp>
          <p:nvSpPr>
            <p:cNvPr id="163" name="Google Shape;163;p6"/>
            <p:cNvSpPr/>
            <p:nvPr/>
          </p:nvSpPr>
          <p:spPr>
            <a:xfrm>
              <a:off x="1660505" y="2261973"/>
              <a:ext cx="3322974" cy="505252"/>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164" name="Google Shape;164;p6"/>
            <p:cNvSpPr/>
            <p:nvPr/>
          </p:nvSpPr>
          <p:spPr>
            <a:xfrm>
              <a:off x="2295668" y="1058991"/>
              <a:ext cx="5375623" cy="1202982"/>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txBox="1"/>
            <p:nvPr/>
          </p:nvSpPr>
          <p:spPr>
            <a:xfrm>
              <a:off x="2295668" y="1058991"/>
              <a:ext cx="5375623" cy="1202982"/>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chemeClr val="lt1"/>
                </a:buClr>
                <a:buSzPts val="2900"/>
                <a:buFont typeface="Arial"/>
                <a:buNone/>
              </a:pPr>
              <a:r>
                <a:rPr b="0" i="0" lang="en-US" sz="2900" u="none" cap="none" strike="noStrike">
                  <a:solidFill>
                    <a:schemeClr val="lt1"/>
                  </a:solidFill>
                  <a:latin typeface="Arial"/>
                  <a:ea typeface="Arial"/>
                  <a:cs typeface="Arial"/>
                  <a:sym typeface="Arial"/>
                </a:rPr>
                <a:t>Types of Requirements, Features and Functionality Bugs </a:t>
              </a:r>
              <a:endParaRPr b="0" i="0" sz="2900" u="none" cap="none" strike="noStrike">
                <a:solidFill>
                  <a:schemeClr val="lt1"/>
                </a:solidFill>
                <a:latin typeface="Arial"/>
                <a:ea typeface="Arial"/>
                <a:cs typeface="Arial"/>
                <a:sym typeface="Arial"/>
              </a:endParaRPr>
            </a:p>
          </p:txBody>
        </p:sp>
        <p:sp>
          <p:nvSpPr>
            <p:cNvPr id="166" name="Google Shape;166;p6"/>
            <p:cNvSpPr/>
            <p:nvPr/>
          </p:nvSpPr>
          <p:spPr>
            <a:xfrm>
              <a:off x="1364" y="2767226"/>
              <a:ext cx="3318282" cy="1202982"/>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txBox="1"/>
            <p:nvPr/>
          </p:nvSpPr>
          <p:spPr>
            <a:xfrm>
              <a:off x="1364" y="2767226"/>
              <a:ext cx="3318282" cy="1202982"/>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chemeClr val="lt1"/>
                </a:buClr>
                <a:buSzPts val="2900"/>
                <a:buFont typeface="Arial"/>
                <a:buNone/>
              </a:pPr>
              <a:r>
                <a:rPr b="0" i="0" lang="en-US" sz="2900" u="none" cap="none" strike="noStrike">
                  <a:solidFill>
                    <a:schemeClr val="lt1"/>
                  </a:solidFill>
                  <a:latin typeface="Arial"/>
                  <a:ea typeface="Arial"/>
                  <a:cs typeface="Arial"/>
                  <a:sym typeface="Arial"/>
                </a:rPr>
                <a:t>Requirements and specification Bugs</a:t>
              </a:r>
              <a:endParaRPr b="0" i="0" sz="2900" u="none" cap="none" strike="noStrike">
                <a:solidFill>
                  <a:schemeClr val="lt1"/>
                </a:solidFill>
                <a:latin typeface="Arial"/>
                <a:ea typeface="Arial"/>
                <a:cs typeface="Arial"/>
                <a:sym typeface="Arial"/>
              </a:endParaRPr>
            </a:p>
          </p:txBody>
        </p:sp>
        <p:sp>
          <p:nvSpPr>
            <p:cNvPr id="168" name="Google Shape;168;p6"/>
            <p:cNvSpPr/>
            <p:nvPr/>
          </p:nvSpPr>
          <p:spPr>
            <a:xfrm>
              <a:off x="3824899" y="2767226"/>
              <a:ext cx="2405964" cy="1202982"/>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txBox="1"/>
            <p:nvPr/>
          </p:nvSpPr>
          <p:spPr>
            <a:xfrm>
              <a:off x="3824899" y="2767226"/>
              <a:ext cx="2405964" cy="1202982"/>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chemeClr val="lt1"/>
                </a:buClr>
                <a:buSzPts val="2900"/>
                <a:buFont typeface="Arial"/>
                <a:buNone/>
              </a:pPr>
              <a:r>
                <a:rPr b="0" i="0" lang="en-US" sz="2900" u="none" cap="none" strike="noStrike">
                  <a:solidFill>
                    <a:schemeClr val="lt1"/>
                  </a:solidFill>
                  <a:latin typeface="Arial"/>
                  <a:ea typeface="Arial"/>
                  <a:cs typeface="Arial"/>
                  <a:sym typeface="Arial"/>
                </a:rPr>
                <a:t>Feature Bugs</a:t>
              </a:r>
              <a:endParaRPr b="0" i="0" sz="2900" u="none" cap="none" strike="noStrike">
                <a:solidFill>
                  <a:schemeClr val="lt1"/>
                </a:solidFill>
                <a:latin typeface="Arial"/>
                <a:ea typeface="Arial"/>
                <a:cs typeface="Arial"/>
                <a:sym typeface="Arial"/>
              </a:endParaRPr>
            </a:p>
          </p:txBody>
        </p:sp>
        <p:sp>
          <p:nvSpPr>
            <p:cNvPr id="170" name="Google Shape;170;p6"/>
            <p:cNvSpPr/>
            <p:nvPr/>
          </p:nvSpPr>
          <p:spPr>
            <a:xfrm>
              <a:off x="6736117" y="2767226"/>
              <a:ext cx="3229478" cy="1202982"/>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txBox="1"/>
            <p:nvPr/>
          </p:nvSpPr>
          <p:spPr>
            <a:xfrm>
              <a:off x="6736117" y="2767226"/>
              <a:ext cx="3229478" cy="1202982"/>
            </a:xfrm>
            <a:prstGeom prst="rect">
              <a:avLst/>
            </a:prstGeom>
            <a:noFill/>
            <a:ln>
              <a:noFill/>
            </a:ln>
          </p:spPr>
          <p:txBody>
            <a:bodyPr anchorCtr="0" anchor="ctr" bIns="18400" lIns="18400" spcFirstLastPara="1" rIns="18400" wrap="square" tIns="18400">
              <a:noAutofit/>
            </a:bodyPr>
            <a:lstStyle/>
            <a:p>
              <a:pPr indent="0" lvl="0" marL="0" marR="0" rtl="0" algn="ctr">
                <a:lnSpc>
                  <a:spcPct val="90000"/>
                </a:lnSpc>
                <a:spcBef>
                  <a:spcPts val="0"/>
                </a:spcBef>
                <a:spcAft>
                  <a:spcPts val="0"/>
                </a:spcAft>
                <a:buClr>
                  <a:schemeClr val="lt1"/>
                </a:buClr>
                <a:buSzPts val="2900"/>
                <a:buFont typeface="Arial"/>
                <a:buNone/>
              </a:pPr>
              <a:r>
                <a:rPr b="0" i="0" lang="en-US" sz="2900" u="none" cap="none" strike="noStrike">
                  <a:solidFill>
                    <a:schemeClr val="lt1"/>
                  </a:solidFill>
                  <a:latin typeface="Arial"/>
                  <a:ea typeface="Arial"/>
                  <a:cs typeface="Arial"/>
                  <a:sym typeface="Arial"/>
                </a:rPr>
                <a:t>Feature interaction bugs</a:t>
              </a:r>
              <a:endParaRPr b="0" i="0" sz="2900" u="none" cap="none" strike="noStrike">
                <a:solidFill>
                  <a:schemeClr val="lt1"/>
                </a:solidFill>
                <a:latin typeface="Arial"/>
                <a:ea typeface="Arial"/>
                <a:cs typeface="Arial"/>
                <a:sym typeface="Arial"/>
              </a:endParaRPr>
            </a:p>
          </p:txBody>
        </p:sp>
      </p:grpSp>
      <p:sp>
        <p:nvSpPr>
          <p:cNvPr id="172" name="Google Shape;172;p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1.1Requirements and specification Bugs</a:t>
            </a:r>
            <a:endParaRPr/>
          </a:p>
        </p:txBody>
      </p:sp>
      <p:sp>
        <p:nvSpPr>
          <p:cNvPr id="179" name="Google Shape;179;p7"/>
          <p:cNvSpPr txBox="1"/>
          <p:nvPr>
            <p:ph idx="1" type="body"/>
          </p:nvPr>
        </p:nvSpPr>
        <p:spPr>
          <a:xfrm>
            <a:off x="1110344" y="1321679"/>
            <a:ext cx="10045336" cy="5188131"/>
          </a:xfrm>
          <a:prstGeom prst="rect">
            <a:avLst/>
          </a:prstGeom>
          <a:noFill/>
          <a:ln>
            <a:noFill/>
          </a:ln>
        </p:spPr>
        <p:txBody>
          <a:bodyPr anchorCtr="0" anchor="t" bIns="45700" lIns="0" spcFirstLastPara="1" rIns="0" wrap="square" tIns="45700">
            <a:noAutofit/>
          </a:bodyPr>
          <a:lstStyle/>
          <a:p>
            <a:pPr indent="-228600" lvl="0" marL="228600" rtl="0" algn="l">
              <a:lnSpc>
                <a:spcPct val="90000"/>
              </a:lnSpc>
              <a:spcBef>
                <a:spcPts val="0"/>
              </a:spcBef>
              <a:spcAft>
                <a:spcPts val="0"/>
              </a:spcAft>
              <a:buClr>
                <a:schemeClr val="dk1"/>
              </a:buClr>
              <a:buSzPts val="2000"/>
              <a:buChar char="▪"/>
            </a:pPr>
            <a:r>
              <a:rPr lang="en-US"/>
              <a:t>Incompleteness:</a:t>
            </a:r>
            <a:endParaRPr/>
          </a:p>
          <a:p>
            <a:pPr indent="-228600" lvl="2" marL="685800" rtl="0" algn="l">
              <a:lnSpc>
                <a:spcPct val="90000"/>
              </a:lnSpc>
              <a:spcBef>
                <a:spcPts val="1800"/>
              </a:spcBef>
              <a:spcAft>
                <a:spcPts val="0"/>
              </a:spcAft>
              <a:buClr>
                <a:schemeClr val="dk1"/>
              </a:buClr>
              <a:buSzPts val="2000"/>
              <a:buChar char="▪"/>
            </a:pPr>
            <a:r>
              <a:rPr b="1" lang="en-US" sz="2000"/>
              <a:t>Example: </a:t>
            </a:r>
            <a:r>
              <a:rPr lang="en-US" sz="2000"/>
              <a:t>A professor as a user will log into the system by providing his username, password, and other relevant information</a:t>
            </a:r>
            <a:endParaRPr/>
          </a:p>
          <a:p>
            <a:pPr indent="-228600" lvl="0" marL="228600" rtl="0" algn="l">
              <a:lnSpc>
                <a:spcPct val="90000"/>
              </a:lnSpc>
              <a:spcBef>
                <a:spcPts val="1800"/>
              </a:spcBef>
              <a:spcAft>
                <a:spcPts val="0"/>
              </a:spcAft>
              <a:buClr>
                <a:schemeClr val="dk1"/>
              </a:buClr>
              <a:buSzPts val="2000"/>
              <a:buChar char="▪"/>
            </a:pPr>
            <a:r>
              <a:rPr lang="en-US"/>
              <a:t>Ambiguous</a:t>
            </a:r>
            <a:endParaRPr/>
          </a:p>
          <a:p>
            <a:pPr indent="-228600" lvl="1" marL="685800" rtl="0" algn="l">
              <a:lnSpc>
                <a:spcPct val="90000"/>
              </a:lnSpc>
              <a:spcBef>
                <a:spcPts val="600"/>
              </a:spcBef>
              <a:spcAft>
                <a:spcPts val="0"/>
              </a:spcAft>
              <a:buClr>
                <a:schemeClr val="dk1"/>
              </a:buClr>
              <a:buSzPts val="2000"/>
              <a:buChar char="▪"/>
            </a:pPr>
            <a:r>
              <a:rPr b="1" lang="en-US" sz="2000"/>
              <a:t>Example: </a:t>
            </a:r>
            <a:r>
              <a:rPr lang="en-US" sz="2000"/>
              <a:t>Students will be able to enrol to undergraduate and post graduate courses</a:t>
            </a:r>
            <a:endParaRPr/>
          </a:p>
          <a:p>
            <a:pPr indent="-228600" lvl="0" marL="228600" rtl="0" algn="l">
              <a:lnSpc>
                <a:spcPct val="90000"/>
              </a:lnSpc>
              <a:spcBef>
                <a:spcPts val="1800"/>
              </a:spcBef>
              <a:spcAft>
                <a:spcPts val="0"/>
              </a:spcAft>
              <a:buClr>
                <a:schemeClr val="dk1"/>
              </a:buClr>
              <a:buSzPts val="2000"/>
              <a:buChar char="▪"/>
            </a:pPr>
            <a:r>
              <a:rPr lang="en-US"/>
              <a:t>Self-contradictory</a:t>
            </a:r>
            <a:endParaRPr/>
          </a:p>
          <a:p>
            <a:pPr indent="-228600" lvl="1" marL="685800" rtl="0" algn="l">
              <a:lnSpc>
                <a:spcPct val="90000"/>
              </a:lnSpc>
              <a:spcBef>
                <a:spcPts val="600"/>
              </a:spcBef>
              <a:spcAft>
                <a:spcPts val="0"/>
              </a:spcAft>
              <a:buClr>
                <a:schemeClr val="dk1"/>
              </a:buClr>
              <a:buSzPts val="2000"/>
              <a:buChar char="▪"/>
            </a:pPr>
            <a:r>
              <a:rPr lang="en-US" sz="2000"/>
              <a:t>Example: (1) While on battery power, if the battery charge falls below 5% remaining, then the system shall display a warning message to switch to AC power.</a:t>
            </a:r>
            <a:endParaRPr/>
          </a:p>
          <a:p>
            <a:pPr indent="-228600" lvl="1" marL="685800" rtl="0" algn="l">
              <a:lnSpc>
                <a:spcPct val="90000"/>
              </a:lnSpc>
              <a:spcBef>
                <a:spcPts val="600"/>
              </a:spcBef>
              <a:spcAft>
                <a:spcPts val="0"/>
              </a:spcAft>
              <a:buClr>
                <a:schemeClr val="dk1"/>
              </a:buClr>
              <a:buSzPts val="2000"/>
              <a:buChar char="▪"/>
            </a:pPr>
            <a:r>
              <a:rPr lang="en-US" sz="2000"/>
              <a:t>(2) While on battery power, if the battery charge falls below 10% remaining, then the system shall power down until AC power is available.</a:t>
            </a:r>
            <a:endParaRPr/>
          </a:p>
          <a:p>
            <a:pPr indent="-228600" lvl="0" marL="228600" rtl="0" algn="l">
              <a:lnSpc>
                <a:spcPct val="90000"/>
              </a:lnSpc>
              <a:spcBef>
                <a:spcPts val="1800"/>
              </a:spcBef>
              <a:spcAft>
                <a:spcPts val="0"/>
              </a:spcAft>
              <a:buClr>
                <a:schemeClr val="dk1"/>
              </a:buClr>
              <a:buSzPts val="2000"/>
              <a:buChar char="▪"/>
            </a:pPr>
            <a:r>
              <a:rPr lang="en-US"/>
              <a:t>Misunderstood or impossible to understand</a:t>
            </a:r>
            <a:endParaRPr/>
          </a:p>
          <a:p>
            <a:pPr indent="-228600" lvl="1" marL="685800" rtl="0" algn="l">
              <a:lnSpc>
                <a:spcPct val="90000"/>
              </a:lnSpc>
              <a:spcBef>
                <a:spcPts val="600"/>
              </a:spcBef>
              <a:spcAft>
                <a:spcPts val="0"/>
              </a:spcAft>
              <a:buClr>
                <a:schemeClr val="dk1"/>
              </a:buClr>
              <a:buSzPts val="2000"/>
              <a:buChar char="▪"/>
            </a:pPr>
            <a:r>
              <a:rPr b="1" lang="en-US" sz="2000"/>
              <a:t>Example:</a:t>
            </a:r>
            <a:r>
              <a:rPr lang="en-US" sz="2000"/>
              <a:t> when waiting for a level to reach target level</a:t>
            </a:r>
            <a:endParaRPr sz="2000"/>
          </a:p>
        </p:txBody>
      </p:sp>
      <p:sp>
        <p:nvSpPr>
          <p:cNvPr id="180" name="Google Shape;180;p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1.1Requirements and specification Bugs</a:t>
            </a:r>
            <a:endParaRPr/>
          </a:p>
        </p:txBody>
      </p:sp>
      <p:sp>
        <p:nvSpPr>
          <p:cNvPr id="187" name="Google Shape;187;p8"/>
          <p:cNvSpPr txBox="1"/>
          <p:nvPr>
            <p:ph idx="1" type="body"/>
          </p:nvPr>
        </p:nvSpPr>
        <p:spPr>
          <a:xfrm>
            <a:off x="1110344" y="1447799"/>
            <a:ext cx="10045336" cy="5188131"/>
          </a:xfrm>
          <a:prstGeom prst="rect">
            <a:avLst/>
          </a:prstGeom>
          <a:noFill/>
          <a:ln>
            <a:noFill/>
          </a:ln>
        </p:spPr>
        <p:txBody>
          <a:bodyPr anchorCtr="0" anchor="t" bIns="45700" lIns="0" spcFirstLastPara="1" rIns="0" wrap="square" tIns="45700">
            <a:noAutofit/>
          </a:bodyPr>
          <a:lstStyle/>
          <a:p>
            <a:pPr indent="-228600" lvl="0" marL="228600" rtl="0" algn="l">
              <a:lnSpc>
                <a:spcPct val="90000"/>
              </a:lnSpc>
              <a:spcBef>
                <a:spcPts val="0"/>
              </a:spcBef>
              <a:spcAft>
                <a:spcPts val="0"/>
              </a:spcAft>
              <a:buClr>
                <a:schemeClr val="dk1"/>
              </a:buClr>
              <a:buSzPts val="2000"/>
              <a:buChar char="▪"/>
            </a:pPr>
            <a:r>
              <a:rPr lang="en-US"/>
              <a:t>Following are some other sources of requirements and specification bugs.</a:t>
            </a:r>
            <a:endParaRPr/>
          </a:p>
          <a:p>
            <a:pPr indent="-228600" lvl="1" marL="685800" rtl="0" algn="l">
              <a:lnSpc>
                <a:spcPct val="90000"/>
              </a:lnSpc>
              <a:spcBef>
                <a:spcPts val="600"/>
              </a:spcBef>
              <a:spcAft>
                <a:spcPts val="0"/>
              </a:spcAft>
              <a:buClr>
                <a:schemeClr val="dk1"/>
              </a:buClr>
              <a:buSzPts val="2000"/>
              <a:buChar char="▪"/>
            </a:pPr>
            <a:r>
              <a:rPr lang="en-US" sz="2000"/>
              <a:t>Incomplete information conveyed to the designer about specifications</a:t>
            </a:r>
            <a:endParaRPr/>
          </a:p>
          <a:p>
            <a:pPr indent="-228600" lvl="2" marL="685800" rtl="0" algn="l">
              <a:lnSpc>
                <a:spcPct val="90000"/>
              </a:lnSpc>
              <a:spcBef>
                <a:spcPts val="1800"/>
              </a:spcBef>
              <a:spcAft>
                <a:spcPts val="0"/>
              </a:spcAft>
              <a:buClr>
                <a:schemeClr val="dk1"/>
              </a:buClr>
              <a:buSzPts val="2000"/>
              <a:buChar char="▪"/>
            </a:pPr>
            <a:r>
              <a:rPr lang="en-US" sz="2000"/>
              <a:t>Features are modified, added or deleted</a:t>
            </a:r>
            <a:endParaRPr sz="2000"/>
          </a:p>
          <a:p>
            <a:pPr indent="-228600" lvl="1" marL="685800" rtl="0" algn="l">
              <a:lnSpc>
                <a:spcPct val="90000"/>
              </a:lnSpc>
              <a:spcBef>
                <a:spcPts val="600"/>
              </a:spcBef>
              <a:spcAft>
                <a:spcPts val="0"/>
              </a:spcAft>
              <a:buClr>
                <a:schemeClr val="dk1"/>
              </a:buClr>
              <a:buSzPts val="2000"/>
              <a:buChar char="▪"/>
            </a:pPr>
            <a:r>
              <a:rPr lang="en-US" sz="2000"/>
              <a:t>Analyst’s assumptions not known to designer</a:t>
            </a:r>
            <a:endParaRPr/>
          </a:p>
          <a:p>
            <a:pPr indent="-228600" lvl="1" marL="685800" rtl="0" algn="l">
              <a:lnSpc>
                <a:spcPct val="90000"/>
              </a:lnSpc>
              <a:spcBef>
                <a:spcPts val="600"/>
              </a:spcBef>
              <a:spcAft>
                <a:spcPts val="0"/>
              </a:spcAft>
              <a:buClr>
                <a:schemeClr val="dk1"/>
              </a:buClr>
              <a:buSzPts val="2000"/>
              <a:buChar char="▪"/>
            </a:pPr>
            <a:r>
              <a:rPr lang="en-US" sz="2000"/>
              <a:t>Something may miss when specs change</a:t>
            </a:r>
            <a:endParaRPr/>
          </a:p>
          <a:p>
            <a:pPr indent="-228600" lvl="0" marL="228600" rtl="0" algn="l">
              <a:lnSpc>
                <a:spcPct val="90000"/>
              </a:lnSpc>
              <a:spcBef>
                <a:spcPts val="1800"/>
              </a:spcBef>
              <a:spcAft>
                <a:spcPts val="0"/>
              </a:spcAft>
              <a:buClr>
                <a:schemeClr val="dk1"/>
              </a:buClr>
              <a:buSzPts val="2000"/>
              <a:buChar char="▪"/>
            </a:pPr>
            <a:r>
              <a:rPr lang="en-US"/>
              <a:t>These are expensive because they are i</a:t>
            </a:r>
            <a:r>
              <a:rPr lang="en-US" sz="2000"/>
              <a:t>ntroduced early in SDLC and removed at the last</a:t>
            </a:r>
            <a:endParaRPr/>
          </a:p>
        </p:txBody>
      </p:sp>
      <p:sp>
        <p:nvSpPr>
          <p:cNvPr id="188" name="Google Shape;188;p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1.2 Feature Bugs</a:t>
            </a:r>
            <a:endParaRPr/>
          </a:p>
        </p:txBody>
      </p:sp>
      <p:sp>
        <p:nvSpPr>
          <p:cNvPr id="195" name="Google Shape;195;p9"/>
          <p:cNvSpPr txBox="1"/>
          <p:nvPr>
            <p:ph idx="1" type="body"/>
          </p:nvPr>
        </p:nvSpPr>
        <p:spPr>
          <a:xfrm>
            <a:off x="1097281" y="1447800"/>
            <a:ext cx="10006148"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Specification problems create feature bugs</a:t>
            </a:r>
            <a:endParaRPr/>
          </a:p>
          <a:p>
            <a:pPr indent="-228600" lvl="1" marL="685800" rtl="0" algn="just">
              <a:lnSpc>
                <a:spcPct val="90000"/>
              </a:lnSpc>
              <a:spcBef>
                <a:spcPts val="600"/>
              </a:spcBef>
              <a:spcAft>
                <a:spcPts val="0"/>
              </a:spcAft>
              <a:buClr>
                <a:schemeClr val="dk1"/>
              </a:buClr>
              <a:buSzPts val="2000"/>
              <a:buChar char="▪"/>
            </a:pPr>
            <a:r>
              <a:rPr lang="en-US" sz="2000"/>
              <a:t>Feature can be wrong, missing or superfluous (unnecessary) </a:t>
            </a:r>
            <a:endParaRPr/>
          </a:p>
          <a:p>
            <a:pPr indent="-228600" lvl="2" marL="1143000" rtl="0" algn="just">
              <a:lnSpc>
                <a:spcPct val="90000"/>
              </a:lnSpc>
              <a:spcBef>
                <a:spcPts val="600"/>
              </a:spcBef>
              <a:spcAft>
                <a:spcPts val="0"/>
              </a:spcAft>
              <a:buClr>
                <a:schemeClr val="dk1"/>
              </a:buClr>
              <a:buSzPts val="2000"/>
              <a:buChar char="▪"/>
            </a:pPr>
            <a:r>
              <a:rPr lang="en-US" sz="2000"/>
              <a:t>Wrong feature can have deep design implications</a:t>
            </a:r>
            <a:endParaRPr sz="2000"/>
          </a:p>
          <a:p>
            <a:pPr indent="-228600" lvl="2" marL="1143000" rtl="0" algn="just">
              <a:lnSpc>
                <a:spcPct val="90000"/>
              </a:lnSpc>
              <a:spcBef>
                <a:spcPts val="600"/>
              </a:spcBef>
              <a:spcAft>
                <a:spcPts val="0"/>
              </a:spcAft>
              <a:buClr>
                <a:schemeClr val="dk1"/>
              </a:buClr>
              <a:buSzPts val="2000"/>
              <a:buChar char="▪"/>
            </a:pPr>
            <a:r>
              <a:rPr lang="en-US" sz="2000"/>
              <a:t>Missing feature is easy to detect and correct</a:t>
            </a:r>
            <a:endParaRPr/>
          </a:p>
          <a:p>
            <a:pPr indent="-228600" lvl="2" marL="1143000" rtl="0" algn="just">
              <a:lnSpc>
                <a:spcPct val="90000"/>
              </a:lnSpc>
              <a:spcBef>
                <a:spcPts val="600"/>
              </a:spcBef>
              <a:spcAft>
                <a:spcPts val="0"/>
              </a:spcAft>
              <a:buClr>
                <a:schemeClr val="dk1"/>
              </a:buClr>
              <a:buSzPts val="2000"/>
              <a:buChar char="▪"/>
            </a:pPr>
            <a:r>
              <a:rPr lang="en-US" sz="2000"/>
              <a:t>Unnecessary enhancements can accumulate bugs, if they increase complexity</a:t>
            </a:r>
            <a:endParaRPr/>
          </a:p>
          <a:p>
            <a:pPr indent="-228600" lvl="1" marL="685800" rtl="0" algn="just">
              <a:lnSpc>
                <a:spcPct val="90000"/>
              </a:lnSpc>
              <a:spcBef>
                <a:spcPts val="600"/>
              </a:spcBef>
              <a:spcAft>
                <a:spcPts val="0"/>
              </a:spcAft>
              <a:buClr>
                <a:schemeClr val="dk1"/>
              </a:buClr>
              <a:buSzPts val="2000"/>
              <a:buChar char="▪"/>
            </a:pPr>
            <a:r>
              <a:rPr lang="en-US" sz="2000"/>
              <a:t>When features are eliminated, following consequences arise</a:t>
            </a:r>
            <a:endParaRPr/>
          </a:p>
          <a:p>
            <a:pPr indent="-228600" lvl="2" marL="1143000" rtl="0" algn="just">
              <a:lnSpc>
                <a:spcPct val="90000"/>
              </a:lnSpc>
              <a:spcBef>
                <a:spcPts val="600"/>
              </a:spcBef>
              <a:spcAft>
                <a:spcPts val="0"/>
              </a:spcAft>
              <a:buClr>
                <a:schemeClr val="dk1"/>
              </a:buClr>
              <a:buSzPts val="2000"/>
              <a:buChar char="▪"/>
            </a:pPr>
            <a:r>
              <a:rPr lang="en-US" sz="2000"/>
              <a:t>S/w becomes more complicated</a:t>
            </a:r>
            <a:endParaRPr/>
          </a:p>
          <a:p>
            <a:pPr indent="-228600" lvl="2" marL="1143000" rtl="0" algn="just">
              <a:lnSpc>
                <a:spcPct val="90000"/>
              </a:lnSpc>
              <a:spcBef>
                <a:spcPts val="600"/>
              </a:spcBef>
              <a:spcAft>
                <a:spcPts val="0"/>
              </a:spcAft>
              <a:buClr>
                <a:schemeClr val="dk1"/>
              </a:buClr>
              <a:buSzPts val="2000"/>
              <a:buChar char="▪"/>
            </a:pPr>
            <a:r>
              <a:rPr lang="en-US" sz="2000"/>
              <a:t>Consume more resources</a:t>
            </a:r>
            <a:endParaRPr/>
          </a:p>
          <a:p>
            <a:pPr indent="-228600" lvl="2" marL="1143000" rtl="0" algn="just">
              <a:lnSpc>
                <a:spcPct val="90000"/>
              </a:lnSpc>
              <a:spcBef>
                <a:spcPts val="600"/>
              </a:spcBef>
              <a:spcAft>
                <a:spcPts val="0"/>
              </a:spcAft>
              <a:buClr>
                <a:schemeClr val="dk1"/>
              </a:buClr>
              <a:buSzPts val="2000"/>
              <a:buChar char="▪"/>
            </a:pPr>
            <a:r>
              <a:rPr lang="en-US" sz="2000"/>
              <a:t>Additional bugs are stimulated</a:t>
            </a:r>
            <a:endParaRPr/>
          </a:p>
        </p:txBody>
      </p:sp>
      <p:sp>
        <p:nvSpPr>
          <p:cNvPr id="196" name="Google Shape;196;p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1.3 Feature Interaction Bugs</a:t>
            </a:r>
            <a:endParaRPr/>
          </a:p>
        </p:txBody>
      </p:sp>
      <p:sp>
        <p:nvSpPr>
          <p:cNvPr id="203" name="Google Shape;203;p10"/>
          <p:cNvSpPr txBox="1"/>
          <p:nvPr>
            <p:ph idx="1" type="body"/>
          </p:nvPr>
        </p:nvSpPr>
        <p:spPr>
          <a:xfrm>
            <a:off x="1110343" y="1447800"/>
            <a:ext cx="9980023"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Features usually come in groups of related features</a:t>
            </a:r>
            <a:endParaRPr/>
          </a:p>
          <a:p>
            <a:pPr indent="-228600" lvl="0" marL="228600" rtl="0" algn="just">
              <a:lnSpc>
                <a:spcPct val="90000"/>
              </a:lnSpc>
              <a:spcBef>
                <a:spcPts val="1800"/>
              </a:spcBef>
              <a:spcAft>
                <a:spcPts val="0"/>
              </a:spcAft>
              <a:buClr>
                <a:schemeClr val="dk1"/>
              </a:buClr>
              <a:buSzPts val="2000"/>
              <a:buChar char="▪"/>
            </a:pPr>
            <a:r>
              <a:rPr lang="en-US"/>
              <a:t>The features of each group and the interaction of features within each group are usually tested</a:t>
            </a:r>
            <a:endParaRPr/>
          </a:p>
          <a:p>
            <a:pPr indent="-228600" lvl="0" marL="228600" rtl="0" algn="just">
              <a:lnSpc>
                <a:spcPct val="90000"/>
              </a:lnSpc>
              <a:spcBef>
                <a:spcPts val="1800"/>
              </a:spcBef>
              <a:spcAft>
                <a:spcPts val="0"/>
              </a:spcAft>
              <a:buClr>
                <a:schemeClr val="dk1"/>
              </a:buClr>
              <a:buSzPts val="2000"/>
              <a:buChar char="▪"/>
            </a:pPr>
            <a:r>
              <a:rPr lang="en-US"/>
              <a:t>Bugs arise due to unpredictable interactions between feature groups or individual features.</a:t>
            </a:r>
            <a:endParaRPr/>
          </a:p>
          <a:p>
            <a:pPr indent="-228600" lvl="0" marL="228600" rtl="0" algn="just">
              <a:lnSpc>
                <a:spcPct val="90000"/>
              </a:lnSpc>
              <a:spcBef>
                <a:spcPts val="1800"/>
              </a:spcBef>
              <a:spcAft>
                <a:spcPts val="0"/>
              </a:spcAft>
              <a:buClr>
                <a:schemeClr val="dk1"/>
              </a:buClr>
              <a:buSzPts val="2000"/>
              <a:buChar char="▪"/>
            </a:pPr>
            <a:r>
              <a:rPr lang="en-US"/>
              <a:t>The earlier the bugs are removed the better it is; since delay in detection is costly.</a:t>
            </a:r>
            <a:endParaRPr/>
          </a:p>
          <a:p>
            <a:pPr indent="-228600" lvl="0" marL="228600" rtl="0" algn="just">
              <a:lnSpc>
                <a:spcPct val="90000"/>
              </a:lnSpc>
              <a:spcBef>
                <a:spcPts val="1800"/>
              </a:spcBef>
              <a:spcAft>
                <a:spcPts val="0"/>
              </a:spcAft>
              <a:buClr>
                <a:schemeClr val="dk1"/>
              </a:buClr>
              <a:buSzPts val="2000"/>
              <a:buChar char="▪"/>
            </a:pPr>
            <a:r>
              <a:rPr lang="en-US"/>
              <a:t>Examples: Call forwarding and call waiting</a:t>
            </a:r>
            <a:endParaRPr/>
          </a:p>
        </p:txBody>
      </p:sp>
      <p:sp>
        <p:nvSpPr>
          <p:cNvPr id="204" name="Google Shape;204;p1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 Structural Bugs</a:t>
            </a:r>
            <a:endParaRPr/>
          </a:p>
        </p:txBody>
      </p:sp>
      <p:grpSp>
        <p:nvGrpSpPr>
          <p:cNvPr id="211" name="Google Shape;211;p11"/>
          <p:cNvGrpSpPr/>
          <p:nvPr/>
        </p:nvGrpSpPr>
        <p:grpSpPr>
          <a:xfrm>
            <a:off x="1126573" y="2180971"/>
            <a:ext cx="9960624" cy="1836532"/>
            <a:chOff x="3167" y="733171"/>
            <a:chExt cx="9960624" cy="1836532"/>
          </a:xfrm>
        </p:grpSpPr>
        <p:sp>
          <p:nvSpPr>
            <p:cNvPr id="212" name="Google Shape;212;p11"/>
            <p:cNvSpPr/>
            <p:nvPr/>
          </p:nvSpPr>
          <p:spPr>
            <a:xfrm>
              <a:off x="4983480" y="1492069"/>
              <a:ext cx="3894451" cy="318737"/>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213" name="Google Shape;213;p11"/>
            <p:cNvSpPr/>
            <p:nvPr/>
          </p:nvSpPr>
          <p:spPr>
            <a:xfrm>
              <a:off x="4983480" y="1492069"/>
              <a:ext cx="1730954" cy="318737"/>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214" name="Google Shape;214;p11"/>
            <p:cNvSpPr/>
            <p:nvPr/>
          </p:nvSpPr>
          <p:spPr>
            <a:xfrm>
              <a:off x="4877902" y="1492069"/>
              <a:ext cx="105577" cy="318737"/>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215" name="Google Shape;215;p11"/>
            <p:cNvSpPr/>
            <p:nvPr/>
          </p:nvSpPr>
          <p:spPr>
            <a:xfrm>
              <a:off x="3041369" y="1492069"/>
              <a:ext cx="1942110" cy="318737"/>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216" name="Google Shape;216;p11"/>
            <p:cNvSpPr/>
            <p:nvPr/>
          </p:nvSpPr>
          <p:spPr>
            <a:xfrm>
              <a:off x="983450" y="1492069"/>
              <a:ext cx="4000029" cy="318737"/>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217" name="Google Shape;217;p11"/>
            <p:cNvSpPr/>
            <p:nvPr/>
          </p:nvSpPr>
          <p:spPr>
            <a:xfrm>
              <a:off x="3869759" y="733171"/>
              <a:ext cx="2227441" cy="758897"/>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txBox="1"/>
            <p:nvPr/>
          </p:nvSpPr>
          <p:spPr>
            <a:xfrm>
              <a:off x="3869759" y="733171"/>
              <a:ext cx="2227441" cy="758897"/>
            </a:xfrm>
            <a:prstGeom prst="rect">
              <a:avLst/>
            </a:prstGeom>
            <a:noFill/>
            <a:ln>
              <a:noFill/>
            </a:ln>
          </p:spPr>
          <p:txBody>
            <a:bodyPr anchorCtr="0" anchor="ctr" bIns="13325" lIns="13325" spcFirstLastPara="1" rIns="13325" wrap="square" tIns="13325">
              <a:noAutofit/>
            </a:bodyPr>
            <a:lstStyle/>
            <a:p>
              <a:pPr indent="0" lvl="0" marL="0" marR="0" rtl="0" algn="ctr">
                <a:lnSpc>
                  <a:spcPct val="90000"/>
                </a:lnSpc>
                <a:spcBef>
                  <a:spcPts val="0"/>
                </a:spcBef>
                <a:spcAft>
                  <a:spcPts val="0"/>
                </a:spcAft>
                <a:buClr>
                  <a:schemeClr val="lt1"/>
                </a:buClr>
                <a:buSzPts val="2100"/>
                <a:buFont typeface="Arial"/>
                <a:buNone/>
              </a:pPr>
              <a:r>
                <a:rPr b="0" i="0" lang="en-US" sz="2100" u="none" cap="none" strike="noStrike">
                  <a:solidFill>
                    <a:schemeClr val="lt1"/>
                  </a:solidFill>
                  <a:latin typeface="Arial"/>
                  <a:ea typeface="Arial"/>
                  <a:cs typeface="Arial"/>
                  <a:sym typeface="Arial"/>
                </a:rPr>
                <a:t>Structural Bugs</a:t>
              </a:r>
              <a:endParaRPr b="0" i="0" sz="2100" u="none" cap="none" strike="noStrike">
                <a:solidFill>
                  <a:schemeClr val="lt1"/>
                </a:solidFill>
                <a:latin typeface="Arial"/>
                <a:ea typeface="Arial"/>
                <a:cs typeface="Arial"/>
                <a:sym typeface="Arial"/>
              </a:endParaRPr>
            </a:p>
          </p:txBody>
        </p:sp>
        <p:sp>
          <p:nvSpPr>
            <p:cNvPr id="219" name="Google Shape;219;p11"/>
            <p:cNvSpPr/>
            <p:nvPr/>
          </p:nvSpPr>
          <p:spPr>
            <a:xfrm>
              <a:off x="3167" y="1810806"/>
              <a:ext cx="1960567" cy="758897"/>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
            <p:cNvSpPr txBox="1"/>
            <p:nvPr/>
          </p:nvSpPr>
          <p:spPr>
            <a:xfrm>
              <a:off x="3167" y="1810806"/>
              <a:ext cx="1960567" cy="758897"/>
            </a:xfrm>
            <a:prstGeom prst="rect">
              <a:avLst/>
            </a:prstGeom>
            <a:noFill/>
            <a:ln>
              <a:noFill/>
            </a:ln>
          </p:spPr>
          <p:txBody>
            <a:bodyPr anchorCtr="0" anchor="ctr" bIns="13325" lIns="13325" spcFirstLastPara="1" rIns="13325" wrap="square" tIns="13325">
              <a:noAutofit/>
            </a:bodyPr>
            <a:lstStyle/>
            <a:p>
              <a:pPr indent="0" lvl="0" marL="0" marR="0" rtl="0" algn="ctr">
                <a:lnSpc>
                  <a:spcPct val="90000"/>
                </a:lnSpc>
                <a:spcBef>
                  <a:spcPts val="0"/>
                </a:spcBef>
                <a:spcAft>
                  <a:spcPts val="0"/>
                </a:spcAft>
                <a:buClr>
                  <a:schemeClr val="lt1"/>
                </a:buClr>
                <a:buSzPts val="2100"/>
                <a:buFont typeface="Arial"/>
                <a:buNone/>
              </a:pPr>
              <a:r>
                <a:rPr b="0" i="0" lang="en-US" sz="2100" u="none" cap="none" strike="noStrike">
                  <a:solidFill>
                    <a:schemeClr val="lt1"/>
                  </a:solidFill>
                  <a:latin typeface="Arial"/>
                  <a:ea typeface="Arial"/>
                  <a:cs typeface="Arial"/>
                  <a:sym typeface="Arial"/>
                </a:rPr>
                <a:t>Control and Sequence Bugs</a:t>
              </a:r>
              <a:endParaRPr b="0" i="0" sz="2100" u="none" cap="none" strike="noStrike">
                <a:solidFill>
                  <a:schemeClr val="lt1"/>
                </a:solidFill>
                <a:latin typeface="Arial"/>
                <a:ea typeface="Arial"/>
                <a:cs typeface="Arial"/>
                <a:sym typeface="Arial"/>
              </a:endParaRPr>
            </a:p>
          </p:txBody>
        </p:sp>
        <p:sp>
          <p:nvSpPr>
            <p:cNvPr id="221" name="Google Shape;221;p11"/>
            <p:cNvSpPr/>
            <p:nvPr/>
          </p:nvSpPr>
          <p:spPr>
            <a:xfrm>
              <a:off x="2282471" y="1810806"/>
              <a:ext cx="1517795" cy="758897"/>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txBox="1"/>
            <p:nvPr/>
          </p:nvSpPr>
          <p:spPr>
            <a:xfrm>
              <a:off x="2282471" y="1810806"/>
              <a:ext cx="1517795" cy="758897"/>
            </a:xfrm>
            <a:prstGeom prst="rect">
              <a:avLst/>
            </a:prstGeom>
            <a:noFill/>
            <a:ln>
              <a:noFill/>
            </a:ln>
          </p:spPr>
          <p:txBody>
            <a:bodyPr anchorCtr="0" anchor="ctr" bIns="13325" lIns="13325" spcFirstLastPara="1" rIns="13325" wrap="square" tIns="13325">
              <a:noAutofit/>
            </a:bodyPr>
            <a:lstStyle/>
            <a:p>
              <a:pPr indent="0" lvl="0" marL="0" marR="0" rtl="0" algn="ctr">
                <a:lnSpc>
                  <a:spcPct val="90000"/>
                </a:lnSpc>
                <a:spcBef>
                  <a:spcPts val="0"/>
                </a:spcBef>
                <a:spcAft>
                  <a:spcPts val="0"/>
                </a:spcAft>
                <a:buClr>
                  <a:schemeClr val="lt1"/>
                </a:buClr>
                <a:buSzPts val="2100"/>
                <a:buFont typeface="Arial"/>
                <a:buNone/>
              </a:pPr>
              <a:r>
                <a:rPr b="0" i="0" lang="en-US" sz="2100" u="none" cap="none" strike="noStrike">
                  <a:solidFill>
                    <a:schemeClr val="lt1"/>
                  </a:solidFill>
                  <a:latin typeface="Arial"/>
                  <a:ea typeface="Arial"/>
                  <a:cs typeface="Arial"/>
                  <a:sym typeface="Arial"/>
                </a:rPr>
                <a:t>Logic Bugs</a:t>
              </a:r>
              <a:endParaRPr b="0" i="0" sz="2100" u="none" cap="none" strike="noStrike">
                <a:solidFill>
                  <a:schemeClr val="lt1"/>
                </a:solidFill>
                <a:latin typeface="Arial"/>
                <a:ea typeface="Arial"/>
                <a:cs typeface="Arial"/>
                <a:sym typeface="Arial"/>
              </a:endParaRPr>
            </a:p>
          </p:txBody>
        </p:sp>
        <p:sp>
          <p:nvSpPr>
            <p:cNvPr id="223" name="Google Shape;223;p11"/>
            <p:cNvSpPr/>
            <p:nvPr/>
          </p:nvSpPr>
          <p:spPr>
            <a:xfrm>
              <a:off x="4119004" y="1810806"/>
              <a:ext cx="1517795" cy="758897"/>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txBox="1"/>
            <p:nvPr/>
          </p:nvSpPr>
          <p:spPr>
            <a:xfrm>
              <a:off x="4119004" y="1810806"/>
              <a:ext cx="1517795" cy="758897"/>
            </a:xfrm>
            <a:prstGeom prst="rect">
              <a:avLst/>
            </a:prstGeom>
            <a:noFill/>
            <a:ln>
              <a:noFill/>
            </a:ln>
          </p:spPr>
          <p:txBody>
            <a:bodyPr anchorCtr="0" anchor="ctr" bIns="13325" lIns="13325" spcFirstLastPara="1" rIns="13325" wrap="square" tIns="13325">
              <a:noAutofit/>
            </a:bodyPr>
            <a:lstStyle/>
            <a:p>
              <a:pPr indent="0" lvl="0" marL="0" marR="0" rtl="0" algn="ctr">
                <a:lnSpc>
                  <a:spcPct val="90000"/>
                </a:lnSpc>
                <a:spcBef>
                  <a:spcPts val="0"/>
                </a:spcBef>
                <a:spcAft>
                  <a:spcPts val="0"/>
                </a:spcAft>
                <a:buClr>
                  <a:schemeClr val="lt1"/>
                </a:buClr>
                <a:buSzPts val="2100"/>
                <a:buFont typeface="Arial"/>
                <a:buNone/>
              </a:pPr>
              <a:r>
                <a:rPr b="0" i="0" lang="en-US" sz="2100" u="none" cap="none" strike="noStrike">
                  <a:solidFill>
                    <a:schemeClr val="lt1"/>
                  </a:solidFill>
                  <a:latin typeface="Arial"/>
                  <a:ea typeface="Arial"/>
                  <a:cs typeface="Arial"/>
                  <a:sym typeface="Arial"/>
                </a:rPr>
                <a:t>Processing Bugs</a:t>
              </a:r>
              <a:endParaRPr b="0" i="0" sz="2100" u="none" cap="none" strike="noStrike">
                <a:solidFill>
                  <a:schemeClr val="lt1"/>
                </a:solidFill>
                <a:latin typeface="Arial"/>
                <a:ea typeface="Arial"/>
                <a:cs typeface="Arial"/>
                <a:sym typeface="Arial"/>
              </a:endParaRPr>
            </a:p>
          </p:txBody>
        </p:sp>
        <p:sp>
          <p:nvSpPr>
            <p:cNvPr id="225" name="Google Shape;225;p11"/>
            <p:cNvSpPr/>
            <p:nvPr/>
          </p:nvSpPr>
          <p:spPr>
            <a:xfrm>
              <a:off x="5955537" y="1810806"/>
              <a:ext cx="1517795" cy="758897"/>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txBox="1"/>
            <p:nvPr/>
          </p:nvSpPr>
          <p:spPr>
            <a:xfrm>
              <a:off x="5955537" y="1810806"/>
              <a:ext cx="1517795" cy="758897"/>
            </a:xfrm>
            <a:prstGeom prst="rect">
              <a:avLst/>
            </a:prstGeom>
            <a:noFill/>
            <a:ln>
              <a:noFill/>
            </a:ln>
          </p:spPr>
          <p:txBody>
            <a:bodyPr anchorCtr="0" anchor="ctr" bIns="13325" lIns="13325" spcFirstLastPara="1" rIns="13325" wrap="square" tIns="13325">
              <a:noAutofit/>
            </a:bodyPr>
            <a:lstStyle/>
            <a:p>
              <a:pPr indent="0" lvl="0" marL="0" marR="0" rtl="0" algn="ctr">
                <a:lnSpc>
                  <a:spcPct val="90000"/>
                </a:lnSpc>
                <a:spcBef>
                  <a:spcPts val="0"/>
                </a:spcBef>
                <a:spcAft>
                  <a:spcPts val="0"/>
                </a:spcAft>
                <a:buClr>
                  <a:schemeClr val="lt1"/>
                </a:buClr>
                <a:buSzPts val="2100"/>
                <a:buFont typeface="Arial"/>
                <a:buNone/>
              </a:pPr>
              <a:r>
                <a:rPr b="0" i="0" lang="en-US" sz="2100" u="none" cap="none" strike="noStrike">
                  <a:solidFill>
                    <a:schemeClr val="lt1"/>
                  </a:solidFill>
                  <a:latin typeface="Arial"/>
                  <a:ea typeface="Arial"/>
                  <a:cs typeface="Arial"/>
                  <a:sym typeface="Arial"/>
                </a:rPr>
                <a:t>Initialization Bugs</a:t>
              </a:r>
              <a:endParaRPr b="0" i="0" sz="2100" u="none" cap="none" strike="noStrike">
                <a:solidFill>
                  <a:schemeClr val="lt1"/>
                </a:solidFill>
                <a:latin typeface="Arial"/>
                <a:ea typeface="Arial"/>
                <a:cs typeface="Arial"/>
                <a:sym typeface="Arial"/>
              </a:endParaRPr>
            </a:p>
          </p:txBody>
        </p:sp>
        <p:sp>
          <p:nvSpPr>
            <p:cNvPr id="227" name="Google Shape;227;p11"/>
            <p:cNvSpPr/>
            <p:nvPr/>
          </p:nvSpPr>
          <p:spPr>
            <a:xfrm>
              <a:off x="7792069" y="1810806"/>
              <a:ext cx="2171722" cy="758897"/>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txBox="1"/>
            <p:nvPr/>
          </p:nvSpPr>
          <p:spPr>
            <a:xfrm>
              <a:off x="7792069" y="1810806"/>
              <a:ext cx="2171722" cy="758897"/>
            </a:xfrm>
            <a:prstGeom prst="rect">
              <a:avLst/>
            </a:prstGeom>
            <a:noFill/>
            <a:ln>
              <a:noFill/>
            </a:ln>
          </p:spPr>
          <p:txBody>
            <a:bodyPr anchorCtr="0" anchor="ctr" bIns="13325" lIns="13325" spcFirstLastPara="1" rIns="13325" wrap="square" tIns="13325">
              <a:noAutofit/>
            </a:bodyPr>
            <a:lstStyle/>
            <a:p>
              <a:pPr indent="0" lvl="0" marL="0" marR="0" rtl="0" algn="ctr">
                <a:lnSpc>
                  <a:spcPct val="90000"/>
                </a:lnSpc>
                <a:spcBef>
                  <a:spcPts val="0"/>
                </a:spcBef>
                <a:spcAft>
                  <a:spcPts val="0"/>
                </a:spcAft>
                <a:buClr>
                  <a:schemeClr val="lt1"/>
                </a:buClr>
                <a:buSzPts val="2100"/>
                <a:buFont typeface="Arial"/>
                <a:buNone/>
              </a:pPr>
              <a:r>
                <a:rPr b="0" i="0" lang="en-US" sz="2100" u="none" cap="none" strike="noStrike">
                  <a:solidFill>
                    <a:schemeClr val="lt1"/>
                  </a:solidFill>
                  <a:latin typeface="Arial"/>
                  <a:ea typeface="Arial"/>
                  <a:cs typeface="Arial"/>
                  <a:sym typeface="Arial"/>
                </a:rPr>
                <a:t>Data-Flow Bugs and Anomalies</a:t>
              </a:r>
              <a:endParaRPr b="0" i="0" sz="2100" u="none" cap="none" strike="noStrike">
                <a:solidFill>
                  <a:schemeClr val="lt1"/>
                </a:solidFill>
                <a:latin typeface="Arial"/>
                <a:ea typeface="Arial"/>
                <a:cs typeface="Arial"/>
                <a:sym typeface="Arial"/>
              </a:endParaRPr>
            </a:p>
          </p:txBody>
        </p:sp>
      </p:grpSp>
      <p:sp>
        <p:nvSpPr>
          <p:cNvPr id="229" name="Google Shape;229;p1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2.1 Control and Sequence Bugs</a:t>
            </a:r>
            <a:endParaRPr/>
          </a:p>
        </p:txBody>
      </p:sp>
      <p:sp>
        <p:nvSpPr>
          <p:cNvPr id="236" name="Google Shape;236;p12"/>
          <p:cNvSpPr txBox="1"/>
          <p:nvPr>
            <p:ph idx="1" type="body"/>
          </p:nvPr>
        </p:nvSpPr>
        <p:spPr>
          <a:xfrm>
            <a:off x="1104900" y="1428318"/>
            <a:ext cx="5692402" cy="5029200"/>
          </a:xfrm>
          <a:prstGeom prst="rect">
            <a:avLst/>
          </a:prstGeom>
          <a:noFill/>
          <a:ln>
            <a:noFill/>
          </a:ln>
        </p:spPr>
        <p:txBody>
          <a:bodyPr anchorCtr="0" anchor="t" bIns="45700" lIns="0" spcFirstLastPara="1" rIns="0" wrap="square" tIns="45700">
            <a:noAutofit/>
          </a:bodyPr>
          <a:lstStyle/>
          <a:p>
            <a:pPr indent="-228600" lvl="0" marL="228600" rtl="0" algn="just">
              <a:lnSpc>
                <a:spcPct val="90000"/>
              </a:lnSpc>
              <a:spcBef>
                <a:spcPts val="0"/>
              </a:spcBef>
              <a:spcAft>
                <a:spcPts val="0"/>
              </a:spcAft>
              <a:buClr>
                <a:schemeClr val="dk1"/>
              </a:buClr>
              <a:buSzPts val="2000"/>
              <a:buChar char="▪"/>
            </a:pPr>
            <a:r>
              <a:rPr lang="en-US"/>
              <a:t>Control flow specifies a sequence in which instructions (events or paths) are executed</a:t>
            </a:r>
            <a:endParaRPr/>
          </a:p>
          <a:p>
            <a:pPr indent="-228600" lvl="0" marL="228600" rtl="0" algn="just">
              <a:lnSpc>
                <a:spcPct val="90000"/>
              </a:lnSpc>
              <a:spcBef>
                <a:spcPts val="1800"/>
              </a:spcBef>
              <a:spcAft>
                <a:spcPts val="0"/>
              </a:spcAft>
              <a:buClr>
                <a:schemeClr val="dk1"/>
              </a:buClr>
              <a:buSzPts val="2000"/>
              <a:buChar char="▪"/>
            </a:pPr>
            <a:r>
              <a:rPr lang="en-US"/>
              <a:t>These bugs are most common but easily found during unit testing</a:t>
            </a:r>
            <a:endParaRPr/>
          </a:p>
          <a:p>
            <a:pPr indent="-228600" lvl="1" marL="228600" rtl="0" algn="just">
              <a:lnSpc>
                <a:spcPct val="90000"/>
              </a:lnSpc>
              <a:spcBef>
                <a:spcPts val="1800"/>
              </a:spcBef>
              <a:spcAft>
                <a:spcPts val="0"/>
              </a:spcAft>
              <a:buClr>
                <a:schemeClr val="dk1"/>
              </a:buClr>
              <a:buSzPts val="2000"/>
              <a:buChar char="▪"/>
            </a:pPr>
            <a:r>
              <a:rPr lang="en-US" sz="2000"/>
              <a:t>Novice programmers tend to have more control flow bugs</a:t>
            </a:r>
            <a:endParaRPr sz="2000"/>
          </a:p>
          <a:p>
            <a:pPr indent="-228600" lvl="0" marL="228600" rtl="0" algn="just">
              <a:lnSpc>
                <a:spcPct val="90000"/>
              </a:lnSpc>
              <a:spcBef>
                <a:spcPts val="1800"/>
              </a:spcBef>
              <a:spcAft>
                <a:spcPts val="0"/>
              </a:spcAft>
              <a:buClr>
                <a:schemeClr val="dk1"/>
              </a:buClr>
              <a:buSzPts val="2000"/>
              <a:buChar char="▪"/>
            </a:pPr>
            <a:r>
              <a:rPr lang="en-US"/>
              <a:t>Control flow bugs include </a:t>
            </a:r>
            <a:endParaRPr/>
          </a:p>
          <a:p>
            <a:pPr indent="-228600" lvl="1" marL="685800" rtl="0" algn="just">
              <a:lnSpc>
                <a:spcPct val="90000"/>
              </a:lnSpc>
              <a:spcBef>
                <a:spcPts val="600"/>
              </a:spcBef>
              <a:spcAft>
                <a:spcPts val="0"/>
              </a:spcAft>
              <a:buClr>
                <a:schemeClr val="dk1"/>
              </a:buClr>
              <a:buSzPts val="2000"/>
              <a:buChar char="▪"/>
            </a:pPr>
            <a:r>
              <a:rPr lang="en-US" sz="2000"/>
              <a:t>Unreachable or dead code </a:t>
            </a:r>
            <a:endParaRPr/>
          </a:p>
          <a:p>
            <a:pPr indent="-228600" lvl="1" marL="685800" rtl="0" algn="just">
              <a:lnSpc>
                <a:spcPct val="90000"/>
              </a:lnSpc>
              <a:spcBef>
                <a:spcPts val="600"/>
              </a:spcBef>
              <a:spcAft>
                <a:spcPts val="0"/>
              </a:spcAft>
              <a:buClr>
                <a:schemeClr val="dk1"/>
              </a:buClr>
              <a:buSzPts val="2000"/>
              <a:buChar char="▪"/>
            </a:pPr>
            <a:r>
              <a:rPr lang="en-US" sz="2000"/>
              <a:t>Paths left out</a:t>
            </a:r>
            <a:endParaRPr sz="2000"/>
          </a:p>
          <a:p>
            <a:pPr indent="-228600" lvl="1" marL="685800" rtl="0" algn="just">
              <a:lnSpc>
                <a:spcPct val="90000"/>
              </a:lnSpc>
              <a:spcBef>
                <a:spcPts val="600"/>
              </a:spcBef>
              <a:spcAft>
                <a:spcPts val="0"/>
              </a:spcAft>
              <a:buClr>
                <a:schemeClr val="dk1"/>
              </a:buClr>
              <a:buSzPts val="2000"/>
              <a:buChar char="▪"/>
            </a:pPr>
            <a:r>
              <a:rPr lang="en-US" sz="2000"/>
              <a:t>Improper nesting of loops</a:t>
            </a:r>
            <a:endParaRPr/>
          </a:p>
          <a:p>
            <a:pPr indent="-228600" lvl="1" marL="685800" rtl="0" algn="just">
              <a:lnSpc>
                <a:spcPct val="90000"/>
              </a:lnSpc>
              <a:spcBef>
                <a:spcPts val="600"/>
              </a:spcBef>
              <a:spcAft>
                <a:spcPts val="0"/>
              </a:spcAft>
              <a:buClr>
                <a:schemeClr val="dk1"/>
              </a:buClr>
              <a:buSzPts val="2000"/>
              <a:buChar char="▪"/>
            </a:pPr>
            <a:r>
              <a:rPr lang="en-US" sz="2000"/>
              <a:t>Loop back or loop termination criteria incorrect</a:t>
            </a:r>
            <a:endParaRPr/>
          </a:p>
          <a:p>
            <a:pPr indent="0" lvl="1" marL="457200" rtl="0" algn="just">
              <a:lnSpc>
                <a:spcPct val="90000"/>
              </a:lnSpc>
              <a:spcBef>
                <a:spcPts val="600"/>
              </a:spcBef>
              <a:spcAft>
                <a:spcPts val="0"/>
              </a:spcAft>
              <a:buClr>
                <a:schemeClr val="dk1"/>
              </a:buClr>
              <a:buSzPts val="2000"/>
              <a:buNone/>
            </a:pPr>
            <a:r>
              <a:rPr lang="en-US" sz="2000"/>
              <a:t> </a:t>
            </a:r>
            <a:endParaRPr/>
          </a:p>
        </p:txBody>
      </p:sp>
      <p:pic>
        <p:nvPicPr>
          <p:cNvPr id="237" name="Google Shape;237;p12"/>
          <p:cNvPicPr preferRelativeResize="0"/>
          <p:nvPr/>
        </p:nvPicPr>
        <p:blipFill rotWithShape="1">
          <a:blip r:embed="rId3">
            <a:alphaModFix/>
          </a:blip>
          <a:srcRect b="0" l="0" r="0" t="0"/>
          <a:stretch/>
        </p:blipFill>
        <p:spPr>
          <a:xfrm>
            <a:off x="7069502" y="1357752"/>
            <a:ext cx="4919337" cy="2309445"/>
          </a:xfrm>
          <a:prstGeom prst="rect">
            <a:avLst/>
          </a:prstGeom>
          <a:noFill/>
          <a:ln>
            <a:noFill/>
          </a:ln>
        </p:spPr>
      </p:pic>
      <p:sp>
        <p:nvSpPr>
          <p:cNvPr id="238" name="Google Shape;238;p12"/>
          <p:cNvSpPr txBox="1"/>
          <p:nvPr/>
        </p:nvSpPr>
        <p:spPr>
          <a:xfrm>
            <a:off x="7016952" y="3683420"/>
            <a:ext cx="4919337" cy="354977"/>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Unreachable or dead code</a:t>
            </a:r>
            <a:endParaRPr/>
          </a:p>
        </p:txBody>
      </p:sp>
      <p:sp>
        <p:nvSpPr>
          <p:cNvPr id="239" name="Google Shape;239;p12"/>
          <p:cNvSpPr txBox="1"/>
          <p:nvPr/>
        </p:nvSpPr>
        <p:spPr>
          <a:xfrm>
            <a:off x="8770225" y="6383948"/>
            <a:ext cx="3410180" cy="375726"/>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Improper nesting of loops</a:t>
            </a:r>
            <a:endParaRPr/>
          </a:p>
        </p:txBody>
      </p:sp>
      <p:pic>
        <p:nvPicPr>
          <p:cNvPr id="240" name="Google Shape;240;p12"/>
          <p:cNvPicPr preferRelativeResize="0"/>
          <p:nvPr/>
        </p:nvPicPr>
        <p:blipFill rotWithShape="1">
          <a:blip r:embed="rId4">
            <a:alphaModFix/>
          </a:blip>
          <a:srcRect b="0" l="0" r="0" t="0"/>
          <a:stretch/>
        </p:blipFill>
        <p:spPr>
          <a:xfrm>
            <a:off x="6712760" y="3985847"/>
            <a:ext cx="2692914" cy="1249415"/>
          </a:xfrm>
          <a:prstGeom prst="rect">
            <a:avLst/>
          </a:prstGeom>
          <a:noFill/>
          <a:ln>
            <a:noFill/>
          </a:ln>
        </p:spPr>
      </p:pic>
      <p:pic>
        <p:nvPicPr>
          <p:cNvPr id="241" name="Google Shape;241;p12"/>
          <p:cNvPicPr preferRelativeResize="0"/>
          <p:nvPr/>
        </p:nvPicPr>
        <p:blipFill rotWithShape="1">
          <a:blip r:embed="rId5">
            <a:alphaModFix/>
          </a:blip>
          <a:srcRect b="0" l="0" r="0" t="0"/>
          <a:stretch/>
        </p:blipFill>
        <p:spPr>
          <a:xfrm>
            <a:off x="9405674" y="3987421"/>
            <a:ext cx="2492037" cy="2417547"/>
          </a:xfrm>
          <a:prstGeom prst="rect">
            <a:avLst/>
          </a:prstGeom>
          <a:noFill/>
          <a:ln>
            <a:noFill/>
          </a:ln>
        </p:spPr>
      </p:pic>
      <p:sp>
        <p:nvSpPr>
          <p:cNvPr id="242" name="Google Shape;242;p12"/>
          <p:cNvSpPr txBox="1"/>
          <p:nvPr/>
        </p:nvSpPr>
        <p:spPr>
          <a:xfrm>
            <a:off x="6386594" y="5244198"/>
            <a:ext cx="2938462" cy="684470"/>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Loop back or loop termination criteria incorrect</a:t>
            </a:r>
            <a:endParaRPr/>
          </a:p>
        </p:txBody>
      </p:sp>
      <p:cxnSp>
        <p:nvCxnSpPr>
          <p:cNvPr id="243" name="Google Shape;243;p12"/>
          <p:cNvCxnSpPr/>
          <p:nvPr/>
        </p:nvCxnSpPr>
        <p:spPr>
          <a:xfrm flipH="1" rot="10800000">
            <a:off x="4780344" y="3384282"/>
            <a:ext cx="2289300" cy="900600"/>
          </a:xfrm>
          <a:prstGeom prst="curvedConnector3">
            <a:avLst>
              <a:gd fmla="val 50000" name="adj1"/>
            </a:avLst>
          </a:prstGeom>
          <a:noFill/>
          <a:ln cap="rnd" cmpd="sng" w="9525">
            <a:solidFill>
              <a:srgbClr val="FF0000"/>
            </a:solidFill>
            <a:prstDash val="solid"/>
            <a:round/>
            <a:headEnd len="sm" w="sm" type="none"/>
            <a:tailEnd len="med" w="med" type="triangle"/>
          </a:ln>
        </p:spPr>
      </p:cxnSp>
      <p:cxnSp>
        <p:nvCxnSpPr>
          <p:cNvPr id="244" name="Google Shape;244;p12"/>
          <p:cNvCxnSpPr/>
          <p:nvPr/>
        </p:nvCxnSpPr>
        <p:spPr>
          <a:xfrm flipH="1" rot="10800000">
            <a:off x="5822066" y="4603678"/>
            <a:ext cx="890700" cy="755400"/>
          </a:xfrm>
          <a:prstGeom prst="curvedConnector3">
            <a:avLst>
              <a:gd fmla="val 50000" name="adj1"/>
            </a:avLst>
          </a:prstGeom>
          <a:noFill/>
          <a:ln cap="rnd" cmpd="sng" w="9525">
            <a:solidFill>
              <a:srgbClr val="FF0000"/>
            </a:solidFill>
            <a:prstDash val="solid"/>
            <a:round/>
            <a:headEnd len="sm" w="sm" type="none"/>
            <a:tailEnd len="med" w="med" type="triangle"/>
          </a:ln>
        </p:spPr>
      </p:cxnSp>
      <p:cxnSp>
        <p:nvCxnSpPr>
          <p:cNvPr id="245" name="Google Shape;245;p12"/>
          <p:cNvCxnSpPr/>
          <p:nvPr/>
        </p:nvCxnSpPr>
        <p:spPr>
          <a:xfrm>
            <a:off x="4593021" y="5000263"/>
            <a:ext cx="4781400" cy="1295400"/>
          </a:xfrm>
          <a:prstGeom prst="curvedConnector3">
            <a:avLst>
              <a:gd fmla="val 50001" name="adj1"/>
            </a:avLst>
          </a:prstGeom>
          <a:noFill/>
          <a:ln cap="rnd" cmpd="sng" w="9525">
            <a:solidFill>
              <a:srgbClr val="FF0000"/>
            </a:solidFill>
            <a:prstDash val="solid"/>
            <a:round/>
            <a:headEnd len="sm" w="sm" type="none"/>
            <a:tailEnd len="med" w="med" type="triangle"/>
          </a:ln>
        </p:spPr>
      </p:cxnSp>
      <p:sp>
        <p:nvSpPr>
          <p:cNvPr id="246" name="Google Shape;246;p1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2.1 Control and Sequence Bugs</a:t>
            </a:r>
            <a:endParaRPr/>
          </a:p>
        </p:txBody>
      </p:sp>
      <p:sp>
        <p:nvSpPr>
          <p:cNvPr id="253" name="Google Shape;253;p13"/>
          <p:cNvSpPr txBox="1"/>
          <p:nvPr>
            <p:ph idx="1" type="body"/>
          </p:nvPr>
        </p:nvSpPr>
        <p:spPr>
          <a:xfrm>
            <a:off x="1104900" y="1428318"/>
            <a:ext cx="9980682" cy="5029200"/>
          </a:xfrm>
          <a:prstGeom prst="rect">
            <a:avLst/>
          </a:prstGeom>
          <a:noFill/>
          <a:ln>
            <a:noFill/>
          </a:ln>
        </p:spPr>
        <p:txBody>
          <a:bodyPr anchorCtr="0" anchor="t" bIns="45700" lIns="0" spcFirstLastPara="1" rIns="0" wrap="square" tIns="45700">
            <a:noAutofit/>
          </a:bodyPr>
          <a:lstStyle/>
          <a:p>
            <a:pPr indent="-228600" lvl="1" marL="685800" rtl="0" algn="just">
              <a:lnSpc>
                <a:spcPct val="90000"/>
              </a:lnSpc>
              <a:spcBef>
                <a:spcPts val="0"/>
              </a:spcBef>
              <a:spcAft>
                <a:spcPts val="0"/>
              </a:spcAft>
              <a:buClr>
                <a:schemeClr val="dk1"/>
              </a:buClr>
              <a:buSzPts val="1800"/>
              <a:buChar char="▪"/>
            </a:pPr>
            <a:r>
              <a:rPr lang="en-US" sz="1800"/>
              <a:t>Missing process steps</a:t>
            </a:r>
            <a:endParaRPr/>
          </a:p>
          <a:p>
            <a:pPr indent="-228600" lvl="1" marL="685800" rtl="0" algn="just">
              <a:lnSpc>
                <a:spcPct val="90000"/>
              </a:lnSpc>
              <a:spcBef>
                <a:spcPts val="600"/>
              </a:spcBef>
              <a:spcAft>
                <a:spcPts val="0"/>
              </a:spcAft>
              <a:buClr>
                <a:schemeClr val="dk1"/>
              </a:buClr>
              <a:buSzPts val="1800"/>
              <a:buChar char="▪"/>
            </a:pPr>
            <a:r>
              <a:rPr lang="en-US" sz="1800"/>
              <a:t>Duplicated / un-necessary processing</a:t>
            </a:r>
            <a:endParaRPr/>
          </a:p>
          <a:p>
            <a:pPr indent="-228600" lvl="1" marL="685800" rtl="0" algn="just">
              <a:lnSpc>
                <a:spcPct val="90000"/>
              </a:lnSpc>
              <a:spcBef>
                <a:spcPts val="600"/>
              </a:spcBef>
              <a:spcAft>
                <a:spcPts val="0"/>
              </a:spcAft>
              <a:buClr>
                <a:schemeClr val="dk1"/>
              </a:buClr>
              <a:buSzPts val="1800"/>
              <a:buChar char="▪"/>
            </a:pPr>
            <a:r>
              <a:rPr lang="en-US" sz="1800"/>
              <a:t>Use of Go-TOs without justification</a:t>
            </a:r>
            <a:endParaRPr/>
          </a:p>
          <a:p>
            <a:pPr indent="-228600" lvl="1" marL="685800" rtl="0" algn="just">
              <a:lnSpc>
                <a:spcPct val="90000"/>
              </a:lnSpc>
              <a:spcBef>
                <a:spcPts val="600"/>
              </a:spcBef>
              <a:spcAft>
                <a:spcPts val="0"/>
              </a:spcAft>
              <a:buClr>
                <a:schemeClr val="dk1"/>
              </a:buClr>
              <a:buSzPts val="1800"/>
              <a:buChar char="▪"/>
            </a:pPr>
            <a:r>
              <a:rPr lang="en-US" sz="1800"/>
              <a:t>Ill conceived switches </a:t>
            </a:r>
            <a:endParaRPr/>
          </a:p>
          <a:p>
            <a:pPr indent="-228600" lvl="1" marL="685800" rtl="0" algn="just">
              <a:lnSpc>
                <a:spcPct val="90000"/>
              </a:lnSpc>
              <a:spcBef>
                <a:spcPts val="600"/>
              </a:spcBef>
              <a:spcAft>
                <a:spcPts val="0"/>
              </a:spcAft>
              <a:buClr>
                <a:schemeClr val="dk1"/>
              </a:buClr>
              <a:buSzPts val="1800"/>
              <a:buChar char="▪"/>
            </a:pPr>
            <a:r>
              <a:rPr lang="en-US" sz="1800"/>
              <a:t>Spaghetti code</a:t>
            </a:r>
            <a:endParaRPr/>
          </a:p>
          <a:p>
            <a:pPr indent="0" lvl="1" marL="457200" rtl="0" algn="just">
              <a:lnSpc>
                <a:spcPct val="90000"/>
              </a:lnSpc>
              <a:spcBef>
                <a:spcPts val="600"/>
              </a:spcBef>
              <a:spcAft>
                <a:spcPts val="0"/>
              </a:spcAft>
              <a:buClr>
                <a:schemeClr val="dk1"/>
              </a:buClr>
              <a:buSzPts val="1800"/>
              <a:buNone/>
            </a:pPr>
            <a:r>
              <a:rPr lang="en-US" sz="1800"/>
              <a:t> </a:t>
            </a:r>
            <a:endParaRPr/>
          </a:p>
        </p:txBody>
      </p:sp>
      <p:pic>
        <p:nvPicPr>
          <p:cNvPr id="254" name="Google Shape;254;p13"/>
          <p:cNvPicPr preferRelativeResize="0"/>
          <p:nvPr/>
        </p:nvPicPr>
        <p:blipFill rotWithShape="1">
          <a:blip r:embed="rId3">
            <a:alphaModFix/>
          </a:blip>
          <a:srcRect b="0" l="0" r="0" t="0"/>
          <a:stretch/>
        </p:blipFill>
        <p:spPr>
          <a:xfrm>
            <a:off x="6716110" y="1485089"/>
            <a:ext cx="4369472" cy="4915657"/>
          </a:xfrm>
          <a:prstGeom prst="rect">
            <a:avLst/>
          </a:prstGeom>
          <a:noFill/>
          <a:ln>
            <a:noFill/>
          </a:ln>
        </p:spPr>
      </p:pic>
      <p:sp>
        <p:nvSpPr>
          <p:cNvPr id="255" name="Google Shape;255;p13"/>
          <p:cNvSpPr txBox="1"/>
          <p:nvPr/>
        </p:nvSpPr>
        <p:spPr>
          <a:xfrm>
            <a:off x="6716110" y="6457517"/>
            <a:ext cx="4369472" cy="354977"/>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Go-To Statement</a:t>
            </a:r>
            <a:endParaRPr/>
          </a:p>
        </p:txBody>
      </p:sp>
      <p:sp>
        <p:nvSpPr>
          <p:cNvPr id="256" name="Google Shape;256;p13"/>
          <p:cNvSpPr txBox="1"/>
          <p:nvPr/>
        </p:nvSpPr>
        <p:spPr>
          <a:xfrm>
            <a:off x="978780" y="6457518"/>
            <a:ext cx="4707321" cy="354977"/>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Ill conceived Switch</a:t>
            </a:r>
            <a:endParaRPr/>
          </a:p>
        </p:txBody>
      </p:sp>
      <p:cxnSp>
        <p:nvCxnSpPr>
          <p:cNvPr id="257" name="Google Shape;257;p13"/>
          <p:cNvCxnSpPr/>
          <p:nvPr/>
        </p:nvCxnSpPr>
        <p:spPr>
          <a:xfrm>
            <a:off x="5412828" y="2249214"/>
            <a:ext cx="1303200" cy="21000"/>
          </a:xfrm>
          <a:prstGeom prst="curvedConnector3">
            <a:avLst>
              <a:gd fmla="val 50000" name="adj1"/>
            </a:avLst>
          </a:prstGeom>
          <a:noFill/>
          <a:ln cap="rnd" cmpd="sng" w="9525">
            <a:solidFill>
              <a:srgbClr val="FF0000"/>
            </a:solidFill>
            <a:prstDash val="solid"/>
            <a:round/>
            <a:headEnd len="sm" w="sm" type="none"/>
            <a:tailEnd len="med" w="med" type="triangle"/>
          </a:ln>
        </p:spPr>
      </p:cxnSp>
      <p:cxnSp>
        <p:nvCxnSpPr>
          <p:cNvPr id="258" name="Google Shape;258;p13"/>
          <p:cNvCxnSpPr/>
          <p:nvPr/>
        </p:nvCxnSpPr>
        <p:spPr>
          <a:xfrm flipH="1" rot="-5400000">
            <a:off x="3051825" y="3167466"/>
            <a:ext cx="1408500" cy="391800"/>
          </a:xfrm>
          <a:prstGeom prst="bentConnector3">
            <a:avLst>
              <a:gd fmla="val 50000" name="adj1"/>
            </a:avLst>
          </a:prstGeom>
          <a:noFill/>
          <a:ln cap="rnd" cmpd="sng" w="9525">
            <a:solidFill>
              <a:srgbClr val="FF0000"/>
            </a:solidFill>
            <a:prstDash val="solid"/>
            <a:round/>
            <a:headEnd len="sm" w="sm" type="none"/>
            <a:tailEnd len="med" w="med" type="triangle"/>
          </a:ln>
        </p:spPr>
      </p:cxnSp>
      <p:pic>
        <p:nvPicPr>
          <p:cNvPr id="259" name="Google Shape;259;p13"/>
          <p:cNvPicPr preferRelativeResize="0"/>
          <p:nvPr/>
        </p:nvPicPr>
        <p:blipFill rotWithShape="1">
          <a:blip r:embed="rId4">
            <a:alphaModFix/>
          </a:blip>
          <a:srcRect b="0" l="0" r="0" t="0"/>
          <a:stretch/>
        </p:blipFill>
        <p:spPr>
          <a:xfrm>
            <a:off x="789589" y="4067621"/>
            <a:ext cx="5541173" cy="2333125"/>
          </a:xfrm>
          <a:prstGeom prst="rect">
            <a:avLst/>
          </a:prstGeom>
          <a:noFill/>
          <a:ln>
            <a:noFill/>
          </a:ln>
        </p:spPr>
      </p:pic>
      <p:sp>
        <p:nvSpPr>
          <p:cNvPr id="260" name="Google Shape;260;p1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2.2 Logic Bugs</a:t>
            </a:r>
            <a:endParaRPr/>
          </a:p>
        </p:txBody>
      </p:sp>
      <p:sp>
        <p:nvSpPr>
          <p:cNvPr id="267" name="Google Shape;267;p14"/>
          <p:cNvSpPr txBox="1"/>
          <p:nvPr>
            <p:ph idx="1" type="body"/>
          </p:nvPr>
        </p:nvSpPr>
        <p:spPr>
          <a:xfrm>
            <a:off x="1162594" y="1447800"/>
            <a:ext cx="9901646"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Logic bugs are related to misunderstanding on behavior of case statements and logic operators either singly or in combination</a:t>
            </a:r>
            <a:endParaRPr/>
          </a:p>
          <a:p>
            <a:pPr indent="-228600" lvl="0" marL="228600" rtl="0" algn="just">
              <a:lnSpc>
                <a:spcPct val="90000"/>
              </a:lnSpc>
              <a:spcBef>
                <a:spcPts val="1800"/>
              </a:spcBef>
              <a:spcAft>
                <a:spcPts val="0"/>
              </a:spcAft>
              <a:buClr>
                <a:schemeClr val="dk1"/>
              </a:buClr>
              <a:buSzPts val="2000"/>
              <a:buChar char="▪"/>
            </a:pPr>
            <a:r>
              <a:rPr lang="en-US"/>
              <a:t>Misunderstanding of the semantics of the order in which a Boolean expression is evaluated for specific compiler</a:t>
            </a:r>
            <a:endParaRPr/>
          </a:p>
          <a:p>
            <a:pPr indent="-228600" lvl="0" marL="228600" rtl="0" algn="just">
              <a:lnSpc>
                <a:spcPct val="90000"/>
              </a:lnSpc>
              <a:spcBef>
                <a:spcPts val="1800"/>
              </a:spcBef>
              <a:spcAft>
                <a:spcPts val="0"/>
              </a:spcAft>
              <a:buClr>
                <a:schemeClr val="dk1"/>
              </a:buClr>
              <a:buSzPts val="2000"/>
              <a:buChar char="▪"/>
            </a:pPr>
            <a:r>
              <a:rPr lang="en-US"/>
              <a:t>Examples of logic bugs include</a:t>
            </a:r>
            <a:endParaRPr/>
          </a:p>
          <a:p>
            <a:pPr indent="-228600" lvl="1" marL="685800" rtl="0" algn="just">
              <a:lnSpc>
                <a:spcPct val="90000"/>
              </a:lnSpc>
              <a:spcBef>
                <a:spcPts val="600"/>
              </a:spcBef>
              <a:spcAft>
                <a:spcPts val="0"/>
              </a:spcAft>
              <a:buClr>
                <a:schemeClr val="dk1"/>
              </a:buClr>
              <a:buSzPts val="2000"/>
              <a:buChar char="▪"/>
            </a:pPr>
            <a:r>
              <a:rPr lang="en-US" sz="2000"/>
              <a:t>Improper lay-out of cases </a:t>
            </a:r>
            <a:endParaRPr/>
          </a:p>
          <a:p>
            <a:pPr indent="-228600" lvl="1" marL="685800" rtl="0" algn="just">
              <a:lnSpc>
                <a:spcPct val="90000"/>
              </a:lnSpc>
              <a:spcBef>
                <a:spcPts val="600"/>
              </a:spcBef>
              <a:spcAft>
                <a:spcPts val="0"/>
              </a:spcAft>
              <a:buClr>
                <a:schemeClr val="dk1"/>
              </a:buClr>
              <a:buSzPts val="2000"/>
              <a:buChar char="▪"/>
            </a:pPr>
            <a:r>
              <a:rPr lang="en-US" sz="2000"/>
              <a:t>Improper negation of Boolean expression</a:t>
            </a:r>
            <a:endParaRPr/>
          </a:p>
        </p:txBody>
      </p:sp>
      <p:pic>
        <p:nvPicPr>
          <p:cNvPr id="268" name="Google Shape;268;p14"/>
          <p:cNvPicPr preferRelativeResize="0"/>
          <p:nvPr/>
        </p:nvPicPr>
        <p:blipFill rotWithShape="1">
          <a:blip r:embed="rId3">
            <a:alphaModFix/>
          </a:blip>
          <a:srcRect b="0" l="0" r="0" t="0"/>
          <a:stretch/>
        </p:blipFill>
        <p:spPr>
          <a:xfrm>
            <a:off x="6571923" y="2932386"/>
            <a:ext cx="5425576" cy="3047999"/>
          </a:xfrm>
          <a:prstGeom prst="rect">
            <a:avLst/>
          </a:prstGeom>
          <a:noFill/>
          <a:ln>
            <a:noFill/>
          </a:ln>
        </p:spPr>
      </p:pic>
      <p:pic>
        <p:nvPicPr>
          <p:cNvPr id="269" name="Google Shape;269;p14"/>
          <p:cNvPicPr preferRelativeResize="0"/>
          <p:nvPr/>
        </p:nvPicPr>
        <p:blipFill rotWithShape="1">
          <a:blip r:embed="rId4">
            <a:alphaModFix/>
          </a:blip>
          <a:srcRect b="0" l="0" r="0" t="0"/>
          <a:stretch/>
        </p:blipFill>
        <p:spPr>
          <a:xfrm>
            <a:off x="1162594" y="4278942"/>
            <a:ext cx="4705852" cy="1701443"/>
          </a:xfrm>
          <a:prstGeom prst="rect">
            <a:avLst/>
          </a:prstGeom>
          <a:noFill/>
          <a:ln>
            <a:noFill/>
          </a:ln>
        </p:spPr>
      </p:pic>
      <p:sp>
        <p:nvSpPr>
          <p:cNvPr id="270" name="Google Shape;270;p14"/>
          <p:cNvSpPr txBox="1"/>
          <p:nvPr/>
        </p:nvSpPr>
        <p:spPr>
          <a:xfrm>
            <a:off x="857716" y="6051202"/>
            <a:ext cx="4928860" cy="354977"/>
          </a:xfrm>
          <a:prstGeom prst="rect">
            <a:avLst/>
          </a:prstGeom>
          <a:noFill/>
          <a:ln>
            <a:noFill/>
          </a:ln>
        </p:spPr>
        <p:txBody>
          <a:bodyPr anchorCtr="0" anchor="t" bIns="45700" lIns="0" spcFirstLastPara="1" rIns="0" wrap="square" tIns="45700">
            <a:noAutofit/>
          </a:bodyPr>
          <a:lstStyle/>
          <a:p>
            <a:pPr indent="0" lvl="1" marL="457200" marR="0" rtl="0" algn="l">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Improper negation of Boolean expression</a:t>
            </a:r>
            <a:endParaRPr/>
          </a:p>
        </p:txBody>
      </p:sp>
      <p:sp>
        <p:nvSpPr>
          <p:cNvPr id="271" name="Google Shape;271;p14"/>
          <p:cNvSpPr txBox="1"/>
          <p:nvPr/>
        </p:nvSpPr>
        <p:spPr>
          <a:xfrm>
            <a:off x="6767322" y="6051203"/>
            <a:ext cx="5230177" cy="354977"/>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Improper lay-out of cases</a:t>
            </a:r>
            <a:endParaRPr/>
          </a:p>
        </p:txBody>
      </p:sp>
      <p:cxnSp>
        <p:nvCxnSpPr>
          <p:cNvPr id="272" name="Google Shape;272;p14"/>
          <p:cNvCxnSpPr/>
          <p:nvPr/>
        </p:nvCxnSpPr>
        <p:spPr>
          <a:xfrm flipH="1" rot="10800000">
            <a:off x="4719145" y="3510456"/>
            <a:ext cx="1852778" cy="42041"/>
          </a:xfrm>
          <a:prstGeom prst="straightConnector1">
            <a:avLst/>
          </a:prstGeom>
          <a:noFill/>
          <a:ln cap="rnd" cmpd="sng" w="9525">
            <a:solidFill>
              <a:srgbClr val="FF0000"/>
            </a:solidFill>
            <a:prstDash val="solid"/>
            <a:round/>
            <a:headEnd len="sm" w="sm" type="none"/>
            <a:tailEnd len="med" w="med" type="triangle"/>
          </a:ln>
        </p:spPr>
      </p:cxnSp>
      <p:cxnSp>
        <p:nvCxnSpPr>
          <p:cNvPr id="273" name="Google Shape;273;p14"/>
          <p:cNvCxnSpPr/>
          <p:nvPr/>
        </p:nvCxnSpPr>
        <p:spPr>
          <a:xfrm>
            <a:off x="3594538" y="4004441"/>
            <a:ext cx="199696" cy="274501"/>
          </a:xfrm>
          <a:prstGeom prst="straightConnector1">
            <a:avLst/>
          </a:prstGeom>
          <a:noFill/>
          <a:ln cap="rnd" cmpd="sng" w="9525">
            <a:solidFill>
              <a:srgbClr val="FF0000"/>
            </a:solidFill>
            <a:prstDash val="solid"/>
            <a:round/>
            <a:headEnd len="sm" w="sm" type="none"/>
            <a:tailEnd len="med" w="med" type="triangle"/>
          </a:ln>
        </p:spPr>
      </p:cxnSp>
      <p:sp>
        <p:nvSpPr>
          <p:cNvPr id="274" name="Google Shape;274;p1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2.2 Logic Bugs</a:t>
            </a:r>
            <a:endParaRPr/>
          </a:p>
        </p:txBody>
      </p:sp>
      <p:sp>
        <p:nvSpPr>
          <p:cNvPr id="281" name="Google Shape;281;p15"/>
          <p:cNvSpPr txBox="1"/>
          <p:nvPr>
            <p:ph idx="1" type="body"/>
          </p:nvPr>
        </p:nvSpPr>
        <p:spPr>
          <a:xfrm>
            <a:off x="1162594" y="1447800"/>
            <a:ext cx="6352303" cy="2202099"/>
          </a:xfrm>
          <a:prstGeom prst="rect">
            <a:avLst/>
          </a:prstGeom>
          <a:noFill/>
          <a:ln>
            <a:noFill/>
          </a:ln>
        </p:spPr>
        <p:txBody>
          <a:bodyPr anchorCtr="0" anchor="t" bIns="45700" lIns="0" spcFirstLastPara="1" rIns="0" wrap="square" tIns="45700">
            <a:normAutofit/>
          </a:bodyPr>
          <a:lstStyle/>
          <a:p>
            <a:pPr indent="-228600" lvl="1" marL="685800" rtl="0" algn="just">
              <a:lnSpc>
                <a:spcPct val="90000"/>
              </a:lnSpc>
              <a:spcBef>
                <a:spcPts val="0"/>
              </a:spcBef>
              <a:spcAft>
                <a:spcPts val="0"/>
              </a:spcAft>
              <a:buClr>
                <a:schemeClr val="dk1"/>
              </a:buClr>
              <a:buSzPts val="2000"/>
              <a:buChar char="▪"/>
            </a:pPr>
            <a:r>
              <a:rPr lang="en-US" sz="2000"/>
              <a:t>Improper simplification and combination of cases</a:t>
            </a:r>
            <a:endParaRPr sz="2000"/>
          </a:p>
          <a:p>
            <a:pPr indent="-228600" lvl="1" marL="685800" rtl="0" algn="just">
              <a:lnSpc>
                <a:spcPct val="90000"/>
              </a:lnSpc>
              <a:spcBef>
                <a:spcPts val="600"/>
              </a:spcBef>
              <a:spcAft>
                <a:spcPts val="0"/>
              </a:spcAft>
              <a:buClr>
                <a:schemeClr val="dk1"/>
              </a:buClr>
              <a:buSzPts val="2000"/>
              <a:buChar char="▪"/>
            </a:pPr>
            <a:r>
              <a:rPr lang="en-US" sz="2000"/>
              <a:t>Non-existent cases</a:t>
            </a:r>
            <a:endParaRPr/>
          </a:p>
          <a:p>
            <a:pPr indent="-228600" lvl="1" marL="685800" rtl="0" algn="just">
              <a:lnSpc>
                <a:spcPct val="90000"/>
              </a:lnSpc>
              <a:spcBef>
                <a:spcPts val="600"/>
              </a:spcBef>
              <a:spcAft>
                <a:spcPts val="0"/>
              </a:spcAft>
              <a:buClr>
                <a:schemeClr val="dk1"/>
              </a:buClr>
              <a:buSzPts val="2000"/>
              <a:buChar char="▪"/>
            </a:pPr>
            <a:r>
              <a:rPr lang="en-US" sz="2000"/>
              <a:t>Impossible cases that are not impossible in actual. </a:t>
            </a:r>
            <a:endParaRPr/>
          </a:p>
          <a:p>
            <a:pPr indent="-228600" lvl="1" marL="685800" rtl="0" algn="just">
              <a:lnSpc>
                <a:spcPct val="90000"/>
              </a:lnSpc>
              <a:spcBef>
                <a:spcPts val="600"/>
              </a:spcBef>
              <a:spcAft>
                <a:spcPts val="0"/>
              </a:spcAft>
              <a:buClr>
                <a:schemeClr val="dk1"/>
              </a:buClr>
              <a:buSzPts val="2000"/>
              <a:buChar char="▪"/>
            </a:pPr>
            <a:r>
              <a:rPr lang="en-US" sz="2000"/>
              <a:t>Confusing exclusive OR with inclusive OR</a:t>
            </a:r>
            <a:endParaRPr/>
          </a:p>
        </p:txBody>
      </p:sp>
      <p:pic>
        <p:nvPicPr>
          <p:cNvPr id="282" name="Google Shape;282;p15"/>
          <p:cNvPicPr preferRelativeResize="0"/>
          <p:nvPr/>
        </p:nvPicPr>
        <p:blipFill rotWithShape="1">
          <a:blip r:embed="rId3">
            <a:alphaModFix/>
          </a:blip>
          <a:srcRect b="0" l="0" r="0" t="0"/>
          <a:stretch/>
        </p:blipFill>
        <p:spPr>
          <a:xfrm>
            <a:off x="1162594" y="3453576"/>
            <a:ext cx="4464300" cy="2551029"/>
          </a:xfrm>
          <a:prstGeom prst="rect">
            <a:avLst/>
          </a:prstGeom>
          <a:noFill/>
          <a:ln>
            <a:noFill/>
          </a:ln>
        </p:spPr>
      </p:pic>
      <p:pic>
        <p:nvPicPr>
          <p:cNvPr id="283" name="Google Shape;283;p15"/>
          <p:cNvPicPr preferRelativeResize="0"/>
          <p:nvPr/>
        </p:nvPicPr>
        <p:blipFill rotWithShape="1">
          <a:blip r:embed="rId4">
            <a:alphaModFix/>
          </a:blip>
          <a:srcRect b="0" l="0" r="0" t="0"/>
          <a:stretch/>
        </p:blipFill>
        <p:spPr>
          <a:xfrm>
            <a:off x="7514897" y="4557553"/>
            <a:ext cx="3745435" cy="1454302"/>
          </a:xfrm>
          <a:prstGeom prst="rect">
            <a:avLst/>
          </a:prstGeom>
          <a:noFill/>
          <a:ln>
            <a:noFill/>
          </a:ln>
        </p:spPr>
      </p:pic>
      <p:pic>
        <p:nvPicPr>
          <p:cNvPr id="284" name="Google Shape;284;p15"/>
          <p:cNvPicPr preferRelativeResize="0"/>
          <p:nvPr/>
        </p:nvPicPr>
        <p:blipFill rotWithShape="1">
          <a:blip r:embed="rId5">
            <a:alphaModFix/>
          </a:blip>
          <a:srcRect b="0" l="0" r="0" t="0"/>
          <a:stretch/>
        </p:blipFill>
        <p:spPr>
          <a:xfrm>
            <a:off x="7514897" y="1447800"/>
            <a:ext cx="3745435" cy="2527813"/>
          </a:xfrm>
          <a:prstGeom prst="rect">
            <a:avLst/>
          </a:prstGeom>
          <a:noFill/>
          <a:ln>
            <a:noFill/>
          </a:ln>
        </p:spPr>
      </p:pic>
      <p:sp>
        <p:nvSpPr>
          <p:cNvPr id="285" name="Google Shape;285;p15"/>
          <p:cNvSpPr txBox="1"/>
          <p:nvPr/>
        </p:nvSpPr>
        <p:spPr>
          <a:xfrm>
            <a:off x="1384246" y="6011855"/>
            <a:ext cx="4763547" cy="354977"/>
          </a:xfrm>
          <a:prstGeom prst="rect">
            <a:avLst/>
          </a:prstGeom>
          <a:noFill/>
          <a:ln>
            <a:noFill/>
          </a:ln>
        </p:spPr>
        <p:txBody>
          <a:bodyPr anchorCtr="0" anchor="t" bIns="45700" lIns="0" spcFirstLastPara="1" rIns="0" wrap="square" tIns="45700">
            <a:noAutofit/>
          </a:bodyPr>
          <a:lstStyle/>
          <a:p>
            <a:pPr indent="0" lvl="1" marL="457200" marR="0" rtl="0" algn="l">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Exclusive OR and Inclusive OR</a:t>
            </a:r>
            <a:endParaRPr b="0" i="0" sz="1400" u="none" cap="none" strike="noStrike">
              <a:solidFill>
                <a:schemeClr val="dk1"/>
              </a:solidFill>
              <a:latin typeface="Arial"/>
              <a:ea typeface="Arial"/>
              <a:cs typeface="Arial"/>
              <a:sym typeface="Arial"/>
            </a:endParaRPr>
          </a:p>
        </p:txBody>
      </p:sp>
      <p:sp>
        <p:nvSpPr>
          <p:cNvPr id="286" name="Google Shape;286;p15"/>
          <p:cNvSpPr txBox="1"/>
          <p:nvPr/>
        </p:nvSpPr>
        <p:spPr>
          <a:xfrm>
            <a:off x="7514897" y="4015577"/>
            <a:ext cx="3745431" cy="354977"/>
          </a:xfrm>
          <a:prstGeom prst="rect">
            <a:avLst/>
          </a:prstGeom>
          <a:noFill/>
          <a:ln>
            <a:noFill/>
          </a:ln>
        </p:spPr>
        <p:txBody>
          <a:bodyPr anchorCtr="0" anchor="t" bIns="45700" lIns="0" spcFirstLastPara="1" rIns="0" wrap="square" tIns="45700">
            <a:noAutofit/>
          </a:bodyPr>
          <a:lstStyle/>
          <a:p>
            <a:pPr indent="0" lvl="1" marL="457200" marR="0" rtl="0" algn="l">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Nested If Conditions</a:t>
            </a:r>
            <a:endParaRPr b="0" i="0" sz="1400" u="none" cap="none" strike="noStrike">
              <a:solidFill>
                <a:schemeClr val="dk1"/>
              </a:solidFill>
              <a:latin typeface="Arial"/>
              <a:ea typeface="Arial"/>
              <a:cs typeface="Arial"/>
              <a:sym typeface="Arial"/>
            </a:endParaRPr>
          </a:p>
        </p:txBody>
      </p:sp>
      <p:sp>
        <p:nvSpPr>
          <p:cNvPr id="287" name="Google Shape;287;p15"/>
          <p:cNvSpPr txBox="1"/>
          <p:nvPr/>
        </p:nvSpPr>
        <p:spPr>
          <a:xfrm>
            <a:off x="6884275" y="6022365"/>
            <a:ext cx="4834758" cy="354977"/>
          </a:xfrm>
          <a:prstGeom prst="rect">
            <a:avLst/>
          </a:prstGeom>
          <a:noFill/>
          <a:ln>
            <a:noFill/>
          </a:ln>
        </p:spPr>
        <p:txBody>
          <a:bodyPr anchorCtr="0" anchor="t" bIns="45700" lIns="0" spcFirstLastPara="1" rIns="0" wrap="square" tIns="45700">
            <a:noAutofit/>
          </a:bodyPr>
          <a:lstStyle/>
          <a:p>
            <a:pPr indent="0" lvl="1" marL="457200" marR="0" rtl="0" algn="l">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Simplification and Combination of Cases</a:t>
            </a:r>
            <a:endParaRPr/>
          </a:p>
        </p:txBody>
      </p:sp>
      <p:cxnSp>
        <p:nvCxnSpPr>
          <p:cNvPr id="288" name="Google Shape;288;p15"/>
          <p:cNvCxnSpPr/>
          <p:nvPr/>
        </p:nvCxnSpPr>
        <p:spPr>
          <a:xfrm>
            <a:off x="3951890" y="2806262"/>
            <a:ext cx="84082" cy="700117"/>
          </a:xfrm>
          <a:prstGeom prst="straightConnector1">
            <a:avLst/>
          </a:prstGeom>
          <a:noFill/>
          <a:ln cap="rnd" cmpd="sng" w="9525">
            <a:solidFill>
              <a:srgbClr val="FF0000"/>
            </a:solidFill>
            <a:prstDash val="solid"/>
            <a:round/>
            <a:headEnd len="sm" w="sm" type="none"/>
            <a:tailEnd len="med" w="med" type="triangle"/>
          </a:ln>
        </p:spPr>
      </p:cxnSp>
      <p:cxnSp>
        <p:nvCxnSpPr>
          <p:cNvPr id="289" name="Google Shape;289;p15"/>
          <p:cNvCxnSpPr/>
          <p:nvPr/>
        </p:nvCxnSpPr>
        <p:spPr>
          <a:xfrm>
            <a:off x="6474372" y="1755227"/>
            <a:ext cx="1040525" cy="273269"/>
          </a:xfrm>
          <a:prstGeom prst="straightConnector1">
            <a:avLst/>
          </a:prstGeom>
          <a:noFill/>
          <a:ln cap="rnd" cmpd="sng" w="9525">
            <a:solidFill>
              <a:srgbClr val="FF0000"/>
            </a:solidFill>
            <a:prstDash val="solid"/>
            <a:round/>
            <a:headEnd len="sm" w="sm" type="none"/>
            <a:tailEnd len="med" w="med" type="triangle"/>
          </a:ln>
        </p:spPr>
      </p:cxnSp>
      <p:cxnSp>
        <p:nvCxnSpPr>
          <p:cNvPr id="290" name="Google Shape;290;p15"/>
          <p:cNvCxnSpPr/>
          <p:nvPr/>
        </p:nvCxnSpPr>
        <p:spPr>
          <a:xfrm>
            <a:off x="6463862" y="1755102"/>
            <a:ext cx="1051035" cy="3304723"/>
          </a:xfrm>
          <a:prstGeom prst="straightConnector1">
            <a:avLst/>
          </a:prstGeom>
          <a:noFill/>
          <a:ln cap="rnd" cmpd="sng" w="9525">
            <a:solidFill>
              <a:srgbClr val="FF0000"/>
            </a:solidFill>
            <a:prstDash val="solid"/>
            <a:round/>
            <a:headEnd len="sm" w="sm" type="none"/>
            <a:tailEnd len="med" w="med" type="triangle"/>
          </a:ln>
        </p:spPr>
      </p:cxnSp>
      <p:sp>
        <p:nvSpPr>
          <p:cNvPr id="291" name="Google Shape;291;p1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2.3 Processing Bugs</a:t>
            </a:r>
            <a:endParaRPr/>
          </a:p>
        </p:txBody>
      </p:sp>
      <p:sp>
        <p:nvSpPr>
          <p:cNvPr id="298" name="Google Shape;298;p16"/>
          <p:cNvSpPr txBox="1"/>
          <p:nvPr>
            <p:ph idx="1" type="body"/>
          </p:nvPr>
        </p:nvSpPr>
        <p:spPr>
          <a:xfrm>
            <a:off x="1110344" y="1447800"/>
            <a:ext cx="9993086"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Processing bugs are easy to find bugs during unit testing and have an effect in the program where they occur</a:t>
            </a:r>
            <a:endParaRPr/>
          </a:p>
          <a:p>
            <a:pPr indent="-228600" lvl="0" marL="228600" rtl="0" algn="just">
              <a:lnSpc>
                <a:spcPct val="90000"/>
              </a:lnSpc>
              <a:spcBef>
                <a:spcPts val="1800"/>
              </a:spcBef>
              <a:spcAft>
                <a:spcPts val="0"/>
              </a:spcAft>
              <a:buClr>
                <a:schemeClr val="dk1"/>
              </a:buClr>
              <a:buSzPts val="2000"/>
              <a:buChar char="▪"/>
            </a:pPr>
            <a:r>
              <a:rPr lang="en-US"/>
              <a:t>These bugs include</a:t>
            </a:r>
            <a:endParaRPr/>
          </a:p>
          <a:p>
            <a:pPr indent="-228600" lvl="1" marL="685800" rtl="0" algn="just">
              <a:lnSpc>
                <a:spcPct val="90000"/>
              </a:lnSpc>
              <a:spcBef>
                <a:spcPts val="600"/>
              </a:spcBef>
              <a:spcAft>
                <a:spcPts val="0"/>
              </a:spcAft>
              <a:buClr>
                <a:schemeClr val="dk1"/>
              </a:buClr>
              <a:buSzPts val="2000"/>
              <a:buChar char="▪"/>
            </a:pPr>
            <a:r>
              <a:rPr lang="en-US" sz="2000"/>
              <a:t>Arithmetic bugs</a:t>
            </a:r>
            <a:endParaRPr/>
          </a:p>
          <a:p>
            <a:pPr indent="-114300" lvl="2" marL="1143000" rtl="0" algn="just">
              <a:lnSpc>
                <a:spcPct val="90000"/>
              </a:lnSpc>
              <a:spcBef>
                <a:spcPts val="600"/>
              </a:spcBef>
              <a:spcAft>
                <a:spcPts val="0"/>
              </a:spcAft>
              <a:buClr>
                <a:schemeClr val="dk1"/>
              </a:buClr>
              <a:buSzPts val="1800"/>
              <a:buNone/>
            </a:pPr>
            <a:r>
              <a:t/>
            </a:r>
            <a:endParaRPr sz="1800"/>
          </a:p>
          <a:p>
            <a:pPr indent="-228600" lvl="1" marL="685800" rtl="0" algn="just">
              <a:lnSpc>
                <a:spcPct val="90000"/>
              </a:lnSpc>
              <a:spcBef>
                <a:spcPts val="600"/>
              </a:spcBef>
              <a:spcAft>
                <a:spcPts val="0"/>
              </a:spcAft>
              <a:buClr>
                <a:schemeClr val="dk1"/>
              </a:buClr>
              <a:buSzPts val="2000"/>
              <a:buChar char="▪"/>
            </a:pPr>
            <a:r>
              <a:rPr lang="en-US" sz="2000"/>
              <a:t>Algebraic bugs</a:t>
            </a:r>
            <a:endParaRPr/>
          </a:p>
          <a:p>
            <a:pPr indent="-228600" lvl="1" marL="685800" rtl="0" algn="just">
              <a:lnSpc>
                <a:spcPct val="90000"/>
              </a:lnSpc>
              <a:spcBef>
                <a:spcPts val="600"/>
              </a:spcBef>
              <a:spcAft>
                <a:spcPts val="0"/>
              </a:spcAft>
              <a:buClr>
                <a:schemeClr val="dk1"/>
              </a:buClr>
              <a:buSzPts val="2000"/>
              <a:buChar char="▪"/>
            </a:pPr>
            <a:r>
              <a:rPr lang="en-US" sz="2000"/>
              <a:t>Wrong usage/evaluation of mathematical formula</a:t>
            </a:r>
            <a:endParaRPr/>
          </a:p>
          <a:p>
            <a:pPr indent="-101600" lvl="1" marL="685800" rtl="0" algn="just">
              <a:lnSpc>
                <a:spcPct val="90000"/>
              </a:lnSpc>
              <a:spcBef>
                <a:spcPts val="600"/>
              </a:spcBef>
              <a:spcAft>
                <a:spcPts val="0"/>
              </a:spcAft>
              <a:buClr>
                <a:schemeClr val="dk1"/>
              </a:buClr>
              <a:buSzPts val="2000"/>
              <a:buNone/>
            </a:pPr>
            <a:r>
              <a:t/>
            </a:r>
            <a:endParaRPr sz="2000"/>
          </a:p>
        </p:txBody>
      </p:sp>
      <p:pic>
        <p:nvPicPr>
          <p:cNvPr id="299" name="Google Shape;299;p16"/>
          <p:cNvPicPr preferRelativeResize="0"/>
          <p:nvPr/>
        </p:nvPicPr>
        <p:blipFill rotWithShape="1">
          <a:blip r:embed="rId3">
            <a:alphaModFix/>
          </a:blip>
          <a:srcRect b="0" l="0" r="0" t="0"/>
          <a:stretch/>
        </p:blipFill>
        <p:spPr>
          <a:xfrm>
            <a:off x="1755556" y="2901184"/>
            <a:ext cx="8134350" cy="361950"/>
          </a:xfrm>
          <a:prstGeom prst="rect">
            <a:avLst/>
          </a:prstGeom>
          <a:noFill/>
          <a:ln>
            <a:noFill/>
          </a:ln>
        </p:spPr>
      </p:pic>
      <p:pic>
        <p:nvPicPr>
          <p:cNvPr id="300" name="Google Shape;300;p16"/>
          <p:cNvPicPr preferRelativeResize="0"/>
          <p:nvPr/>
        </p:nvPicPr>
        <p:blipFill rotWithShape="1">
          <a:blip r:embed="rId4">
            <a:alphaModFix/>
          </a:blip>
          <a:srcRect b="0" l="0" r="0" t="0"/>
          <a:stretch/>
        </p:blipFill>
        <p:spPr>
          <a:xfrm>
            <a:off x="2028394" y="4091316"/>
            <a:ext cx="8133693" cy="2486656"/>
          </a:xfrm>
          <a:prstGeom prst="rect">
            <a:avLst/>
          </a:prstGeom>
          <a:noFill/>
          <a:ln>
            <a:noFill/>
          </a:ln>
        </p:spPr>
      </p:pic>
      <p:cxnSp>
        <p:nvCxnSpPr>
          <p:cNvPr id="301" name="Google Shape;301;p16"/>
          <p:cNvCxnSpPr>
            <a:endCxn id="300" idx="1"/>
          </p:cNvCxnSpPr>
          <p:nvPr/>
        </p:nvCxnSpPr>
        <p:spPr>
          <a:xfrm flipH="1" rot="-5400000">
            <a:off x="1206394" y="4512644"/>
            <a:ext cx="1518000" cy="126000"/>
          </a:xfrm>
          <a:prstGeom prst="bentConnector2">
            <a:avLst/>
          </a:prstGeom>
          <a:noFill/>
          <a:ln cap="rnd" cmpd="sng" w="9525">
            <a:solidFill>
              <a:srgbClr val="FF0000"/>
            </a:solidFill>
            <a:prstDash val="solid"/>
            <a:round/>
            <a:headEnd len="sm" w="sm" type="none"/>
            <a:tailEnd len="med" w="med" type="triangle"/>
          </a:ln>
        </p:spPr>
      </p:cxnSp>
      <p:sp>
        <p:nvSpPr>
          <p:cNvPr id="302" name="Google Shape;302;p1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2.3 Processing Bugs</a:t>
            </a:r>
            <a:endParaRPr/>
          </a:p>
        </p:txBody>
      </p:sp>
      <p:sp>
        <p:nvSpPr>
          <p:cNvPr id="309" name="Google Shape;309;p17"/>
          <p:cNvSpPr txBox="1"/>
          <p:nvPr>
            <p:ph idx="1" type="body"/>
          </p:nvPr>
        </p:nvSpPr>
        <p:spPr>
          <a:xfrm>
            <a:off x="1110344" y="1447800"/>
            <a:ext cx="9993086" cy="5029200"/>
          </a:xfrm>
          <a:prstGeom prst="rect">
            <a:avLst/>
          </a:prstGeom>
          <a:noFill/>
          <a:ln>
            <a:noFill/>
          </a:ln>
        </p:spPr>
        <p:txBody>
          <a:bodyPr anchorCtr="0" anchor="t" bIns="45700" lIns="0" spcFirstLastPara="1" rIns="0" wrap="square" tIns="45700">
            <a:normAutofit/>
          </a:bodyPr>
          <a:lstStyle/>
          <a:p>
            <a:pPr indent="-228600" lvl="1" marL="685800" rtl="0" algn="just">
              <a:lnSpc>
                <a:spcPct val="90000"/>
              </a:lnSpc>
              <a:spcBef>
                <a:spcPts val="0"/>
              </a:spcBef>
              <a:spcAft>
                <a:spcPts val="0"/>
              </a:spcAft>
              <a:buClr>
                <a:schemeClr val="dk1"/>
              </a:buClr>
              <a:buSzPts val="2000"/>
              <a:buChar char="▪"/>
            </a:pPr>
            <a:r>
              <a:rPr lang="en-US" sz="2000"/>
              <a:t>Inappropriate selection of algorithm</a:t>
            </a:r>
            <a:endParaRPr/>
          </a:p>
          <a:p>
            <a:pPr indent="-228600" lvl="1" marL="685800" rtl="0" algn="just">
              <a:lnSpc>
                <a:spcPct val="90000"/>
              </a:lnSpc>
              <a:spcBef>
                <a:spcPts val="600"/>
              </a:spcBef>
              <a:spcAft>
                <a:spcPts val="0"/>
              </a:spcAft>
              <a:buClr>
                <a:schemeClr val="dk1"/>
              </a:buClr>
              <a:buSzPts val="2000"/>
              <a:buChar char="▪"/>
            </a:pPr>
            <a:r>
              <a:rPr lang="en-US" sz="2000"/>
              <a:t>Ignoring over-flow</a:t>
            </a:r>
            <a:endParaRPr/>
          </a:p>
          <a:p>
            <a:pPr indent="-228600" lvl="1" marL="685800" rtl="0" algn="just">
              <a:lnSpc>
                <a:spcPct val="90000"/>
              </a:lnSpc>
              <a:spcBef>
                <a:spcPts val="600"/>
              </a:spcBef>
              <a:spcAft>
                <a:spcPts val="0"/>
              </a:spcAft>
              <a:buClr>
                <a:schemeClr val="dk1"/>
              </a:buClr>
              <a:buSzPts val="2000"/>
              <a:buChar char="▪"/>
            </a:pPr>
            <a:r>
              <a:rPr lang="en-US" sz="2000"/>
              <a:t>Improper use of logical  (NOT, AND, OR, NOR , XOR)and relational operators (greater-than, greater-than-or-equal, less-than, less-than-or-equal )</a:t>
            </a:r>
            <a:endParaRPr/>
          </a:p>
          <a:p>
            <a:pPr indent="0" lvl="1" marL="457200" rtl="0" algn="just">
              <a:lnSpc>
                <a:spcPct val="90000"/>
              </a:lnSpc>
              <a:spcBef>
                <a:spcPts val="600"/>
              </a:spcBef>
              <a:spcAft>
                <a:spcPts val="0"/>
              </a:spcAft>
              <a:buClr>
                <a:schemeClr val="dk1"/>
              </a:buClr>
              <a:buSzPts val="2000"/>
              <a:buNone/>
            </a:pPr>
            <a:r>
              <a:t/>
            </a:r>
            <a:endParaRPr sz="2000"/>
          </a:p>
          <a:p>
            <a:pPr indent="0" lvl="1" marL="457200" rtl="0" algn="just">
              <a:lnSpc>
                <a:spcPct val="90000"/>
              </a:lnSpc>
              <a:spcBef>
                <a:spcPts val="600"/>
              </a:spcBef>
              <a:spcAft>
                <a:spcPts val="0"/>
              </a:spcAft>
              <a:buClr>
                <a:schemeClr val="dk1"/>
              </a:buClr>
              <a:buSzPts val="2000"/>
              <a:buNone/>
            </a:pPr>
            <a:r>
              <a:t/>
            </a:r>
            <a:endParaRPr sz="2000"/>
          </a:p>
          <a:p>
            <a:pPr indent="0" lvl="1" marL="457200" rtl="0" algn="just">
              <a:lnSpc>
                <a:spcPct val="90000"/>
              </a:lnSpc>
              <a:spcBef>
                <a:spcPts val="600"/>
              </a:spcBef>
              <a:spcAft>
                <a:spcPts val="0"/>
              </a:spcAft>
              <a:buClr>
                <a:schemeClr val="dk1"/>
              </a:buClr>
              <a:buSzPts val="2000"/>
              <a:buNone/>
            </a:pPr>
            <a:r>
              <a:t/>
            </a:r>
            <a:endParaRPr sz="2000"/>
          </a:p>
          <a:p>
            <a:pPr indent="-228600" lvl="1" marL="685800" rtl="0" algn="just">
              <a:lnSpc>
                <a:spcPct val="90000"/>
              </a:lnSpc>
              <a:spcBef>
                <a:spcPts val="600"/>
              </a:spcBef>
              <a:spcAft>
                <a:spcPts val="0"/>
              </a:spcAft>
              <a:buClr>
                <a:schemeClr val="dk1"/>
              </a:buClr>
              <a:buSzPts val="2000"/>
              <a:buChar char="▪"/>
            </a:pPr>
            <a:r>
              <a:rPr lang="en-US" sz="2000"/>
              <a:t>Incorrect conversion from one data representation to another</a:t>
            </a:r>
            <a:endParaRPr sz="2000"/>
          </a:p>
        </p:txBody>
      </p:sp>
      <p:pic>
        <p:nvPicPr>
          <p:cNvPr id="310" name="Google Shape;310;p17"/>
          <p:cNvPicPr preferRelativeResize="0"/>
          <p:nvPr/>
        </p:nvPicPr>
        <p:blipFill rotWithShape="1">
          <a:blip r:embed="rId3">
            <a:alphaModFix/>
          </a:blip>
          <a:srcRect b="0" l="0" r="0" t="0"/>
          <a:stretch/>
        </p:blipFill>
        <p:spPr>
          <a:xfrm>
            <a:off x="2388373" y="4216906"/>
            <a:ext cx="5841986" cy="2011418"/>
          </a:xfrm>
          <a:prstGeom prst="rect">
            <a:avLst/>
          </a:prstGeom>
          <a:noFill/>
          <a:ln>
            <a:noFill/>
          </a:ln>
        </p:spPr>
      </p:pic>
      <p:pic>
        <p:nvPicPr>
          <p:cNvPr id="311" name="Google Shape;311;p17"/>
          <p:cNvPicPr preferRelativeResize="0"/>
          <p:nvPr/>
        </p:nvPicPr>
        <p:blipFill rotWithShape="1">
          <a:blip r:embed="rId4">
            <a:alphaModFix/>
          </a:blip>
          <a:srcRect b="0" l="0" r="0" t="0"/>
          <a:stretch/>
        </p:blipFill>
        <p:spPr>
          <a:xfrm>
            <a:off x="1979413" y="2852093"/>
            <a:ext cx="6659906" cy="902412"/>
          </a:xfrm>
          <a:prstGeom prst="rect">
            <a:avLst/>
          </a:prstGeom>
          <a:noFill/>
          <a:ln>
            <a:noFill/>
          </a:ln>
        </p:spPr>
      </p:pic>
      <p:sp>
        <p:nvSpPr>
          <p:cNvPr id="312" name="Google Shape;312;p17"/>
          <p:cNvSpPr txBox="1"/>
          <p:nvPr/>
        </p:nvSpPr>
        <p:spPr>
          <a:xfrm>
            <a:off x="2209695" y="6262178"/>
            <a:ext cx="6250946" cy="354977"/>
          </a:xfrm>
          <a:prstGeom prst="rect">
            <a:avLst/>
          </a:prstGeom>
          <a:noFill/>
          <a:ln>
            <a:noFill/>
          </a:ln>
        </p:spPr>
        <p:txBody>
          <a:bodyPr anchorCtr="0" anchor="t" bIns="45700" lIns="0" spcFirstLastPara="1" rIns="0" wrap="square" tIns="45700">
            <a:noAutofit/>
          </a:bodyPr>
          <a:lstStyle/>
          <a:p>
            <a:pPr indent="0" lvl="1" marL="457200" marR="0" rtl="0" algn="l">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Incorrect conversion from char type array to int type array</a:t>
            </a:r>
            <a:endParaRPr b="0" i="0" sz="1400" u="none" cap="none" strike="noStrike">
              <a:solidFill>
                <a:schemeClr val="dk1"/>
              </a:solidFill>
              <a:latin typeface="Arial"/>
              <a:ea typeface="Arial"/>
              <a:cs typeface="Arial"/>
              <a:sym typeface="Arial"/>
            </a:endParaRPr>
          </a:p>
        </p:txBody>
      </p:sp>
      <p:sp>
        <p:nvSpPr>
          <p:cNvPr id="313" name="Google Shape;313;p1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2.4 Initialization Bugs</a:t>
            </a:r>
            <a:endParaRPr/>
          </a:p>
        </p:txBody>
      </p:sp>
      <p:sp>
        <p:nvSpPr>
          <p:cNvPr id="320" name="Google Shape;320;p18"/>
          <p:cNvSpPr txBox="1"/>
          <p:nvPr>
            <p:ph idx="1" type="body"/>
          </p:nvPr>
        </p:nvSpPr>
        <p:spPr>
          <a:xfrm>
            <a:off x="1097281" y="1447800"/>
            <a:ext cx="4809533"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Initialization errors are common. </a:t>
            </a:r>
            <a:endParaRPr/>
          </a:p>
          <a:p>
            <a:pPr indent="-228600" lvl="0" marL="228600" rtl="0" algn="just">
              <a:lnSpc>
                <a:spcPct val="90000"/>
              </a:lnSpc>
              <a:spcBef>
                <a:spcPts val="1800"/>
              </a:spcBef>
              <a:spcAft>
                <a:spcPts val="0"/>
              </a:spcAft>
              <a:buClr>
                <a:schemeClr val="dk1"/>
              </a:buClr>
              <a:buSzPts val="2000"/>
              <a:buChar char="▪"/>
            </a:pPr>
            <a:r>
              <a:rPr lang="en-US"/>
              <a:t>Typical bugs include</a:t>
            </a:r>
            <a:endParaRPr/>
          </a:p>
          <a:p>
            <a:pPr indent="-228600" lvl="1" marL="685800" rtl="0" algn="just">
              <a:lnSpc>
                <a:spcPct val="90000"/>
              </a:lnSpc>
              <a:spcBef>
                <a:spcPts val="600"/>
              </a:spcBef>
              <a:spcAft>
                <a:spcPts val="0"/>
              </a:spcAft>
              <a:buClr>
                <a:schemeClr val="dk1"/>
              </a:buClr>
              <a:buSzPts val="2000"/>
              <a:buChar char="▪"/>
            </a:pPr>
            <a:r>
              <a:rPr lang="en-US" sz="2000"/>
              <a:t>No initialization of working space registers or data variables before first use</a:t>
            </a:r>
            <a:endParaRPr/>
          </a:p>
          <a:p>
            <a:pPr indent="-228600" lvl="1" marL="685800" rtl="0" algn="just">
              <a:lnSpc>
                <a:spcPct val="90000"/>
              </a:lnSpc>
              <a:spcBef>
                <a:spcPts val="600"/>
              </a:spcBef>
              <a:spcAft>
                <a:spcPts val="0"/>
              </a:spcAft>
              <a:buClr>
                <a:schemeClr val="dk1"/>
              </a:buClr>
              <a:buSzPts val="2000"/>
              <a:buChar char="▪"/>
            </a:pPr>
            <a:r>
              <a:rPr lang="en-US" sz="2000"/>
              <a:t>Bug in the initial value in the loop-control parameter</a:t>
            </a:r>
            <a:endParaRPr/>
          </a:p>
          <a:p>
            <a:pPr indent="-228600" lvl="1" marL="685800" rtl="0" algn="just">
              <a:lnSpc>
                <a:spcPct val="90000"/>
              </a:lnSpc>
              <a:spcBef>
                <a:spcPts val="600"/>
              </a:spcBef>
              <a:spcAft>
                <a:spcPts val="0"/>
              </a:spcAft>
              <a:buClr>
                <a:schemeClr val="dk1"/>
              </a:buClr>
              <a:buSzPts val="2000"/>
              <a:buChar char="▪"/>
            </a:pPr>
            <a:r>
              <a:rPr lang="en-US" sz="2000"/>
              <a:t>Accepting an initial value without validation check</a:t>
            </a:r>
            <a:endParaRPr/>
          </a:p>
          <a:p>
            <a:pPr indent="-228600" lvl="1" marL="685800" rtl="0" algn="just">
              <a:lnSpc>
                <a:spcPct val="90000"/>
              </a:lnSpc>
              <a:spcBef>
                <a:spcPts val="600"/>
              </a:spcBef>
              <a:spcAft>
                <a:spcPts val="0"/>
              </a:spcAft>
              <a:buClr>
                <a:schemeClr val="dk1"/>
              </a:buClr>
              <a:buSzPts val="2000"/>
              <a:buChar char="▪"/>
            </a:pPr>
            <a:r>
              <a:rPr lang="en-US" sz="2000"/>
              <a:t>Initialization with wrong data type</a:t>
            </a:r>
            <a:endParaRPr/>
          </a:p>
        </p:txBody>
      </p:sp>
      <p:pic>
        <p:nvPicPr>
          <p:cNvPr id="321" name="Google Shape;321;p18"/>
          <p:cNvPicPr preferRelativeResize="0"/>
          <p:nvPr/>
        </p:nvPicPr>
        <p:blipFill rotWithShape="1">
          <a:blip r:embed="rId3">
            <a:alphaModFix/>
          </a:blip>
          <a:srcRect b="0" l="0" r="0" t="0"/>
          <a:stretch/>
        </p:blipFill>
        <p:spPr>
          <a:xfrm>
            <a:off x="8862607" y="1447800"/>
            <a:ext cx="1427021" cy="1308806"/>
          </a:xfrm>
          <a:prstGeom prst="rect">
            <a:avLst/>
          </a:prstGeom>
          <a:noFill/>
          <a:ln>
            <a:noFill/>
          </a:ln>
        </p:spPr>
      </p:pic>
      <p:pic>
        <p:nvPicPr>
          <p:cNvPr id="322" name="Google Shape;322;p18"/>
          <p:cNvPicPr preferRelativeResize="0"/>
          <p:nvPr/>
        </p:nvPicPr>
        <p:blipFill rotWithShape="1">
          <a:blip r:embed="rId4">
            <a:alphaModFix/>
          </a:blip>
          <a:srcRect b="0" l="0" r="0" t="0"/>
          <a:stretch/>
        </p:blipFill>
        <p:spPr>
          <a:xfrm>
            <a:off x="6095241" y="3552259"/>
            <a:ext cx="6009934" cy="2701395"/>
          </a:xfrm>
          <a:prstGeom prst="rect">
            <a:avLst/>
          </a:prstGeom>
          <a:noFill/>
          <a:ln>
            <a:noFill/>
          </a:ln>
        </p:spPr>
      </p:pic>
      <p:sp>
        <p:nvSpPr>
          <p:cNvPr id="323" name="Google Shape;323;p18"/>
          <p:cNvSpPr txBox="1"/>
          <p:nvPr/>
        </p:nvSpPr>
        <p:spPr>
          <a:xfrm>
            <a:off x="8271296" y="2853755"/>
            <a:ext cx="2845816" cy="478024"/>
          </a:xfrm>
          <a:prstGeom prst="rect">
            <a:avLst/>
          </a:prstGeom>
          <a:noFill/>
          <a:ln>
            <a:noFill/>
          </a:ln>
        </p:spPr>
        <p:txBody>
          <a:bodyPr anchorCtr="0" anchor="t" bIns="45700" lIns="0" spcFirstLastPara="1" rIns="0" wrap="square" tIns="45700">
            <a:noAutofit/>
          </a:bodyPr>
          <a:lstStyle/>
          <a:p>
            <a:pPr indent="0" lvl="1" marL="457200" marR="0" rtl="0" algn="l">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Variable not initialized before use</a:t>
            </a:r>
            <a:endParaRPr/>
          </a:p>
        </p:txBody>
      </p:sp>
      <p:sp>
        <p:nvSpPr>
          <p:cNvPr id="324" name="Google Shape;324;p18"/>
          <p:cNvSpPr txBox="1"/>
          <p:nvPr/>
        </p:nvSpPr>
        <p:spPr>
          <a:xfrm>
            <a:off x="6016791" y="6274876"/>
            <a:ext cx="6088384" cy="478024"/>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Bug in the initial value in the loop-control parameter</a:t>
            </a:r>
            <a:endParaRPr/>
          </a:p>
        </p:txBody>
      </p:sp>
      <p:cxnSp>
        <p:nvCxnSpPr>
          <p:cNvPr id="325" name="Google Shape;325;p18"/>
          <p:cNvCxnSpPr/>
          <p:nvPr/>
        </p:nvCxnSpPr>
        <p:spPr>
          <a:xfrm>
            <a:off x="3881120" y="3531037"/>
            <a:ext cx="2214121" cy="181794"/>
          </a:xfrm>
          <a:prstGeom prst="straightConnector1">
            <a:avLst/>
          </a:prstGeom>
          <a:noFill/>
          <a:ln cap="rnd" cmpd="sng" w="9525">
            <a:solidFill>
              <a:srgbClr val="FF0000"/>
            </a:solidFill>
            <a:prstDash val="solid"/>
            <a:round/>
            <a:headEnd len="sm" w="sm" type="none"/>
            <a:tailEnd len="med" w="med" type="triangle"/>
          </a:ln>
        </p:spPr>
      </p:cxnSp>
      <p:cxnSp>
        <p:nvCxnSpPr>
          <p:cNvPr id="326" name="Google Shape;326;p18"/>
          <p:cNvCxnSpPr/>
          <p:nvPr/>
        </p:nvCxnSpPr>
        <p:spPr>
          <a:xfrm flipH="1" rot="10800000">
            <a:off x="2757915" y="1864388"/>
            <a:ext cx="6104700" cy="1157100"/>
          </a:xfrm>
          <a:prstGeom prst="bentConnector3">
            <a:avLst>
              <a:gd fmla="val 57156" name="adj1"/>
            </a:avLst>
          </a:prstGeom>
          <a:noFill/>
          <a:ln cap="rnd" cmpd="sng" w="9525">
            <a:solidFill>
              <a:srgbClr val="FF0000"/>
            </a:solidFill>
            <a:prstDash val="solid"/>
            <a:round/>
            <a:headEnd len="sm" w="sm" type="none"/>
            <a:tailEnd len="med" w="med" type="triangle"/>
          </a:ln>
        </p:spPr>
      </p:cxnSp>
      <p:sp>
        <p:nvSpPr>
          <p:cNvPr id="327" name="Google Shape;327;p1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2.5 Data-Flow Bugs and Anomalies</a:t>
            </a:r>
            <a:endParaRPr/>
          </a:p>
        </p:txBody>
      </p:sp>
      <p:sp>
        <p:nvSpPr>
          <p:cNvPr id="334" name="Google Shape;334;p19"/>
          <p:cNvSpPr txBox="1"/>
          <p:nvPr>
            <p:ph idx="1" type="body"/>
          </p:nvPr>
        </p:nvSpPr>
        <p:spPr>
          <a:xfrm>
            <a:off x="1110343" y="1447800"/>
            <a:ext cx="9980023"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Data flow is a representation of the sequence and possible changes of state of data objects</a:t>
            </a:r>
            <a:endParaRPr/>
          </a:p>
          <a:p>
            <a:pPr indent="-228600" lvl="1" marL="685800" rtl="0" algn="just">
              <a:lnSpc>
                <a:spcPct val="90000"/>
              </a:lnSpc>
              <a:spcBef>
                <a:spcPts val="600"/>
              </a:spcBef>
              <a:spcAft>
                <a:spcPts val="0"/>
              </a:spcAft>
              <a:buClr>
                <a:schemeClr val="dk1"/>
              </a:buClr>
              <a:buSzPts val="2000"/>
              <a:buChar char="▪"/>
            </a:pPr>
            <a:r>
              <a:rPr lang="en-US" sz="2000"/>
              <a:t>Where the state of an object is any of creation, usage, modification or destruction. </a:t>
            </a:r>
            <a:endParaRPr/>
          </a:p>
          <a:p>
            <a:pPr indent="-228600" lvl="0" marL="228600" rtl="0" algn="just">
              <a:lnSpc>
                <a:spcPct val="90000"/>
              </a:lnSpc>
              <a:spcBef>
                <a:spcPts val="1800"/>
              </a:spcBef>
              <a:spcAft>
                <a:spcPts val="0"/>
              </a:spcAft>
              <a:buClr>
                <a:schemeClr val="dk1"/>
              </a:buClr>
              <a:buSzPts val="2000"/>
              <a:buChar char="▪"/>
            </a:pPr>
            <a:r>
              <a:rPr lang="en-US"/>
              <a:t>While data is undergoing transformation, a data flow anomaly occurs when something unexpected or unreasonable with data occurs. </a:t>
            </a:r>
            <a:endParaRPr/>
          </a:p>
          <a:p>
            <a:pPr indent="-228600" lvl="0" marL="228600" rtl="0" algn="just">
              <a:lnSpc>
                <a:spcPct val="90000"/>
              </a:lnSpc>
              <a:spcBef>
                <a:spcPts val="1800"/>
              </a:spcBef>
              <a:spcAft>
                <a:spcPts val="0"/>
              </a:spcAft>
              <a:buClr>
                <a:schemeClr val="dk1"/>
              </a:buClr>
              <a:buSzPts val="2000"/>
              <a:buChar char="▪"/>
            </a:pPr>
            <a:r>
              <a:rPr lang="en-US"/>
              <a:t>Following are the examples of Data Flow Bugs</a:t>
            </a:r>
            <a:endParaRPr/>
          </a:p>
          <a:p>
            <a:pPr indent="-228600" lvl="1" marL="685800" rtl="0" algn="just">
              <a:lnSpc>
                <a:spcPct val="90000"/>
              </a:lnSpc>
              <a:spcBef>
                <a:spcPts val="600"/>
              </a:spcBef>
              <a:spcAft>
                <a:spcPts val="0"/>
              </a:spcAft>
              <a:buClr>
                <a:schemeClr val="dk1"/>
              </a:buClr>
              <a:buSzPts val="2000"/>
              <a:buChar char="▪"/>
            </a:pPr>
            <a:r>
              <a:rPr lang="en-US" sz="2000"/>
              <a:t>Using an uninitialized variable (Already discussed)</a:t>
            </a:r>
            <a:endParaRPr/>
          </a:p>
          <a:p>
            <a:pPr indent="-228600" lvl="1" marL="685800" rtl="0" algn="just">
              <a:lnSpc>
                <a:spcPct val="90000"/>
              </a:lnSpc>
              <a:spcBef>
                <a:spcPts val="600"/>
              </a:spcBef>
              <a:spcAft>
                <a:spcPts val="0"/>
              </a:spcAft>
              <a:buClr>
                <a:schemeClr val="dk1"/>
              </a:buClr>
              <a:buSzPts val="2000"/>
              <a:buChar char="▪"/>
            </a:pPr>
            <a:r>
              <a:rPr lang="en-US" sz="2000"/>
              <a:t>Attempting to use the variable without defining it</a:t>
            </a:r>
            <a:endParaRPr/>
          </a:p>
          <a:p>
            <a:pPr indent="-228600" lvl="1" marL="685800" rtl="0" algn="just">
              <a:lnSpc>
                <a:spcPct val="90000"/>
              </a:lnSpc>
              <a:spcBef>
                <a:spcPts val="600"/>
              </a:spcBef>
              <a:spcAft>
                <a:spcPts val="0"/>
              </a:spcAft>
              <a:buClr>
                <a:schemeClr val="dk1"/>
              </a:buClr>
              <a:buSzPts val="2000"/>
              <a:buChar char="▪"/>
            </a:pPr>
            <a:r>
              <a:rPr lang="en-US" sz="2000"/>
              <a:t>Referencing a variable with an undefined value</a:t>
            </a:r>
            <a:endParaRPr/>
          </a:p>
        </p:txBody>
      </p:sp>
      <p:pic>
        <p:nvPicPr>
          <p:cNvPr id="335" name="Google Shape;335;p19"/>
          <p:cNvPicPr preferRelativeResize="0"/>
          <p:nvPr/>
        </p:nvPicPr>
        <p:blipFill rotWithShape="1">
          <a:blip r:embed="rId3">
            <a:alphaModFix/>
          </a:blip>
          <a:srcRect b="0" l="0" r="0" t="0"/>
          <a:stretch/>
        </p:blipFill>
        <p:spPr>
          <a:xfrm>
            <a:off x="2328369" y="5118430"/>
            <a:ext cx="4327818" cy="893485"/>
          </a:xfrm>
          <a:prstGeom prst="rect">
            <a:avLst/>
          </a:prstGeom>
          <a:noFill/>
          <a:ln>
            <a:noFill/>
          </a:ln>
        </p:spPr>
      </p:pic>
      <p:pic>
        <p:nvPicPr>
          <p:cNvPr id="336" name="Google Shape;336;p19"/>
          <p:cNvPicPr preferRelativeResize="0"/>
          <p:nvPr/>
        </p:nvPicPr>
        <p:blipFill rotWithShape="1">
          <a:blip r:embed="rId4">
            <a:alphaModFix/>
          </a:blip>
          <a:srcRect b="0" l="0" r="0" t="0"/>
          <a:stretch/>
        </p:blipFill>
        <p:spPr>
          <a:xfrm>
            <a:off x="9391978" y="3128259"/>
            <a:ext cx="1028700" cy="1514475"/>
          </a:xfrm>
          <a:prstGeom prst="rect">
            <a:avLst/>
          </a:prstGeom>
          <a:noFill/>
          <a:ln>
            <a:noFill/>
          </a:ln>
        </p:spPr>
      </p:pic>
      <p:sp>
        <p:nvSpPr>
          <p:cNvPr id="337" name="Google Shape;337;p19"/>
          <p:cNvSpPr txBox="1"/>
          <p:nvPr/>
        </p:nvSpPr>
        <p:spPr>
          <a:xfrm>
            <a:off x="1448086" y="6062039"/>
            <a:ext cx="6088384" cy="478024"/>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Referencing a variable with an undefined value</a:t>
            </a:r>
            <a:endParaRPr/>
          </a:p>
        </p:txBody>
      </p:sp>
      <p:sp>
        <p:nvSpPr>
          <p:cNvPr id="338" name="Google Shape;338;p19"/>
          <p:cNvSpPr txBox="1"/>
          <p:nvPr/>
        </p:nvSpPr>
        <p:spPr>
          <a:xfrm>
            <a:off x="8509083" y="4658704"/>
            <a:ext cx="2794490" cy="478024"/>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Using the variable without defining it</a:t>
            </a:r>
            <a:endParaRPr/>
          </a:p>
        </p:txBody>
      </p:sp>
      <p:cxnSp>
        <p:nvCxnSpPr>
          <p:cNvPr id="339" name="Google Shape;339;p19"/>
          <p:cNvCxnSpPr/>
          <p:nvPr/>
        </p:nvCxnSpPr>
        <p:spPr>
          <a:xfrm flipH="1" rot="10800000">
            <a:off x="7199586" y="4056993"/>
            <a:ext cx="2192392" cy="136635"/>
          </a:xfrm>
          <a:prstGeom prst="straightConnector1">
            <a:avLst/>
          </a:prstGeom>
          <a:noFill/>
          <a:ln cap="rnd" cmpd="sng" w="9525">
            <a:solidFill>
              <a:srgbClr val="FF0000"/>
            </a:solidFill>
            <a:prstDash val="solid"/>
            <a:round/>
            <a:headEnd len="sm" w="sm" type="none"/>
            <a:tailEnd len="med" w="med" type="triangle"/>
          </a:ln>
        </p:spPr>
      </p:cxnSp>
      <p:cxnSp>
        <p:nvCxnSpPr>
          <p:cNvPr id="340" name="Google Shape;340;p19"/>
          <p:cNvCxnSpPr>
            <a:endCxn id="335" idx="0"/>
          </p:cNvCxnSpPr>
          <p:nvPr/>
        </p:nvCxnSpPr>
        <p:spPr>
          <a:xfrm>
            <a:off x="4382778" y="4642630"/>
            <a:ext cx="109500" cy="475800"/>
          </a:xfrm>
          <a:prstGeom prst="straightConnector1">
            <a:avLst/>
          </a:prstGeom>
          <a:noFill/>
          <a:ln cap="rnd" cmpd="sng" w="9525">
            <a:solidFill>
              <a:srgbClr val="FF0000"/>
            </a:solidFill>
            <a:prstDash val="solid"/>
            <a:round/>
            <a:headEnd len="sm" w="sm" type="none"/>
            <a:tailEnd len="med" w="med" type="triangle"/>
          </a:ln>
        </p:spPr>
      </p:cxnSp>
      <p:sp>
        <p:nvSpPr>
          <p:cNvPr id="341" name="Google Shape;341;p1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2.5 Data-Flow Bugs and Anomalies</a:t>
            </a:r>
            <a:endParaRPr/>
          </a:p>
        </p:txBody>
      </p:sp>
      <p:sp>
        <p:nvSpPr>
          <p:cNvPr id="348" name="Google Shape;348;p20"/>
          <p:cNvSpPr txBox="1"/>
          <p:nvPr>
            <p:ph idx="1" type="body"/>
          </p:nvPr>
        </p:nvSpPr>
        <p:spPr>
          <a:xfrm>
            <a:off x="1110343" y="1447800"/>
            <a:ext cx="9980023" cy="5029200"/>
          </a:xfrm>
          <a:prstGeom prst="rect">
            <a:avLst/>
          </a:prstGeom>
          <a:noFill/>
          <a:ln>
            <a:noFill/>
          </a:ln>
        </p:spPr>
        <p:txBody>
          <a:bodyPr anchorCtr="0" anchor="t" bIns="45700" lIns="0" spcFirstLastPara="1" rIns="0" wrap="square" tIns="45700">
            <a:normAutofit/>
          </a:bodyPr>
          <a:lstStyle/>
          <a:p>
            <a:pPr indent="-228600" lvl="1" marL="685800" rtl="0" algn="just">
              <a:lnSpc>
                <a:spcPct val="90000"/>
              </a:lnSpc>
              <a:spcBef>
                <a:spcPts val="0"/>
              </a:spcBef>
              <a:spcAft>
                <a:spcPts val="0"/>
              </a:spcAft>
              <a:buClr>
                <a:schemeClr val="dk1"/>
              </a:buClr>
              <a:buSzPts val="2000"/>
              <a:buChar char="▪"/>
            </a:pPr>
            <a:r>
              <a:rPr lang="en-US" sz="2000"/>
              <a:t>Variables that are never used</a:t>
            </a:r>
            <a:endParaRPr/>
          </a:p>
          <a:p>
            <a:pPr indent="-228600" lvl="1" marL="685800" rtl="0" algn="just">
              <a:lnSpc>
                <a:spcPct val="90000"/>
              </a:lnSpc>
              <a:spcBef>
                <a:spcPts val="600"/>
              </a:spcBef>
              <a:spcAft>
                <a:spcPts val="0"/>
              </a:spcAft>
              <a:buClr>
                <a:schemeClr val="dk1"/>
              </a:buClr>
              <a:buSzPts val="2000"/>
              <a:buChar char="▪"/>
            </a:pPr>
            <a:r>
              <a:rPr lang="en-US" sz="2000"/>
              <a:t>Modifying data and not using the result</a:t>
            </a:r>
            <a:endParaRPr/>
          </a:p>
          <a:p>
            <a:pPr indent="-228600" lvl="1" marL="685800" rtl="0" algn="just">
              <a:lnSpc>
                <a:spcPct val="90000"/>
              </a:lnSpc>
              <a:spcBef>
                <a:spcPts val="600"/>
              </a:spcBef>
              <a:spcAft>
                <a:spcPts val="0"/>
              </a:spcAft>
              <a:buClr>
                <a:schemeClr val="dk1"/>
              </a:buClr>
              <a:buSzPts val="2000"/>
              <a:buChar char="▪"/>
            </a:pPr>
            <a:r>
              <a:rPr lang="en-US" sz="2000"/>
              <a:t>Double initialization</a:t>
            </a:r>
            <a:endParaRPr/>
          </a:p>
        </p:txBody>
      </p:sp>
      <p:pic>
        <p:nvPicPr>
          <p:cNvPr id="349" name="Google Shape;349;p20"/>
          <p:cNvPicPr preferRelativeResize="0"/>
          <p:nvPr/>
        </p:nvPicPr>
        <p:blipFill rotWithShape="1">
          <a:blip r:embed="rId3">
            <a:alphaModFix/>
          </a:blip>
          <a:srcRect b="0" l="0" r="0" t="0"/>
          <a:stretch/>
        </p:blipFill>
        <p:spPr>
          <a:xfrm>
            <a:off x="7033720" y="1447800"/>
            <a:ext cx="3905250" cy="1724025"/>
          </a:xfrm>
          <a:prstGeom prst="rect">
            <a:avLst/>
          </a:prstGeom>
          <a:noFill/>
          <a:ln>
            <a:noFill/>
          </a:ln>
        </p:spPr>
      </p:pic>
      <p:pic>
        <p:nvPicPr>
          <p:cNvPr id="350" name="Google Shape;350;p20"/>
          <p:cNvPicPr preferRelativeResize="0"/>
          <p:nvPr/>
        </p:nvPicPr>
        <p:blipFill rotWithShape="1">
          <a:blip r:embed="rId4">
            <a:alphaModFix/>
          </a:blip>
          <a:srcRect b="0" l="0" r="0" t="0"/>
          <a:stretch/>
        </p:blipFill>
        <p:spPr>
          <a:xfrm>
            <a:off x="7800974" y="3713628"/>
            <a:ext cx="2631647" cy="2363322"/>
          </a:xfrm>
          <a:prstGeom prst="rect">
            <a:avLst/>
          </a:prstGeom>
          <a:noFill/>
          <a:ln>
            <a:noFill/>
          </a:ln>
        </p:spPr>
      </p:pic>
      <p:pic>
        <p:nvPicPr>
          <p:cNvPr id="351" name="Google Shape;351;p20"/>
          <p:cNvPicPr preferRelativeResize="0"/>
          <p:nvPr/>
        </p:nvPicPr>
        <p:blipFill rotWithShape="1">
          <a:blip r:embed="rId5">
            <a:alphaModFix/>
          </a:blip>
          <a:srcRect b="0" l="0" r="0" t="0"/>
          <a:stretch/>
        </p:blipFill>
        <p:spPr>
          <a:xfrm>
            <a:off x="341093" y="3171825"/>
            <a:ext cx="6086475" cy="2905125"/>
          </a:xfrm>
          <a:prstGeom prst="rect">
            <a:avLst/>
          </a:prstGeom>
          <a:noFill/>
          <a:ln>
            <a:noFill/>
          </a:ln>
        </p:spPr>
      </p:pic>
      <p:sp>
        <p:nvSpPr>
          <p:cNvPr id="352" name="Google Shape;352;p20"/>
          <p:cNvSpPr txBox="1"/>
          <p:nvPr/>
        </p:nvSpPr>
        <p:spPr>
          <a:xfrm>
            <a:off x="6939130" y="3171825"/>
            <a:ext cx="3753854" cy="478024"/>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Variables that are never used</a:t>
            </a:r>
            <a:endParaRPr/>
          </a:p>
        </p:txBody>
      </p:sp>
      <p:sp>
        <p:nvSpPr>
          <p:cNvPr id="353" name="Google Shape;353;p20"/>
          <p:cNvSpPr txBox="1"/>
          <p:nvPr/>
        </p:nvSpPr>
        <p:spPr>
          <a:xfrm>
            <a:off x="6882323" y="6031225"/>
            <a:ext cx="4721097" cy="478024"/>
          </a:xfrm>
          <a:prstGeom prst="rect">
            <a:avLst/>
          </a:prstGeom>
          <a:noFill/>
          <a:ln>
            <a:noFill/>
          </a:ln>
        </p:spPr>
        <p:txBody>
          <a:bodyPr anchorCtr="0" anchor="t" bIns="45700" lIns="0" spcFirstLastPara="1" rIns="0" wrap="square" tIns="45700">
            <a:noAutofit/>
          </a:bodyPr>
          <a:lstStyle/>
          <a:p>
            <a:pPr indent="0" lvl="1" marL="457200" marR="0" rtl="0" algn="just">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Modifying data and not using the result</a:t>
            </a:r>
            <a:endParaRPr/>
          </a:p>
        </p:txBody>
      </p:sp>
      <p:sp>
        <p:nvSpPr>
          <p:cNvPr id="354" name="Google Shape;354;p20"/>
          <p:cNvSpPr txBox="1"/>
          <p:nvPr/>
        </p:nvSpPr>
        <p:spPr>
          <a:xfrm>
            <a:off x="1885630" y="6067781"/>
            <a:ext cx="2997400" cy="478024"/>
          </a:xfrm>
          <a:prstGeom prst="rect">
            <a:avLst/>
          </a:prstGeom>
          <a:noFill/>
          <a:ln>
            <a:noFill/>
          </a:ln>
        </p:spPr>
        <p:txBody>
          <a:bodyPr anchorCtr="0" anchor="t" bIns="45700" lIns="0" spcFirstLastPara="1" rIns="0" wrap="square" tIns="45700">
            <a:noAutofit/>
          </a:bodyPr>
          <a:lstStyle/>
          <a:p>
            <a:pPr indent="0" lvl="1" marL="457200" marR="0" rtl="0" algn="just">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Double initialization</a:t>
            </a:r>
            <a:endParaRPr/>
          </a:p>
        </p:txBody>
      </p:sp>
      <p:cxnSp>
        <p:nvCxnSpPr>
          <p:cNvPr id="355" name="Google Shape;355;p20"/>
          <p:cNvCxnSpPr/>
          <p:nvPr/>
        </p:nvCxnSpPr>
        <p:spPr>
          <a:xfrm>
            <a:off x="5108028" y="1629103"/>
            <a:ext cx="1925692" cy="10511"/>
          </a:xfrm>
          <a:prstGeom prst="straightConnector1">
            <a:avLst/>
          </a:prstGeom>
          <a:noFill/>
          <a:ln cap="rnd" cmpd="sng" w="9525">
            <a:solidFill>
              <a:srgbClr val="FF0000"/>
            </a:solidFill>
            <a:prstDash val="solid"/>
            <a:round/>
            <a:headEnd len="sm" w="sm" type="none"/>
            <a:tailEnd len="med" w="med" type="triangle"/>
          </a:ln>
        </p:spPr>
      </p:cxnSp>
      <p:cxnSp>
        <p:nvCxnSpPr>
          <p:cNvPr id="356" name="Google Shape;356;p20"/>
          <p:cNvCxnSpPr/>
          <p:nvPr/>
        </p:nvCxnSpPr>
        <p:spPr>
          <a:xfrm>
            <a:off x="3132083" y="2427890"/>
            <a:ext cx="0" cy="819807"/>
          </a:xfrm>
          <a:prstGeom prst="straightConnector1">
            <a:avLst/>
          </a:prstGeom>
          <a:noFill/>
          <a:ln cap="rnd" cmpd="sng" w="9525">
            <a:solidFill>
              <a:srgbClr val="FF0000"/>
            </a:solidFill>
            <a:prstDash val="solid"/>
            <a:round/>
            <a:headEnd len="sm" w="sm" type="none"/>
            <a:tailEnd len="med" w="med" type="triangle"/>
          </a:ln>
        </p:spPr>
      </p:cxnSp>
      <p:cxnSp>
        <p:nvCxnSpPr>
          <p:cNvPr id="357" name="Google Shape;357;p20"/>
          <p:cNvCxnSpPr>
            <a:endCxn id="350" idx="1"/>
          </p:cNvCxnSpPr>
          <p:nvPr/>
        </p:nvCxnSpPr>
        <p:spPr>
          <a:xfrm flipH="1" rot="-5400000">
            <a:off x="5449424" y="2543739"/>
            <a:ext cx="2863800" cy="1839300"/>
          </a:xfrm>
          <a:prstGeom prst="curvedConnector2">
            <a:avLst/>
          </a:prstGeom>
          <a:noFill/>
          <a:ln cap="rnd" cmpd="sng" w="9525">
            <a:solidFill>
              <a:srgbClr val="FF0000"/>
            </a:solidFill>
            <a:prstDash val="solid"/>
            <a:round/>
            <a:headEnd len="sm" w="sm" type="none"/>
            <a:tailEnd len="med" w="med" type="triangle"/>
          </a:ln>
        </p:spPr>
      </p:cxnSp>
      <p:sp>
        <p:nvSpPr>
          <p:cNvPr id="358" name="Google Shape;358;p2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3 Data Bugs</a:t>
            </a:r>
            <a:endParaRPr/>
          </a:p>
        </p:txBody>
      </p:sp>
      <p:grpSp>
        <p:nvGrpSpPr>
          <p:cNvPr id="365" name="Google Shape;365;p21"/>
          <p:cNvGrpSpPr/>
          <p:nvPr/>
        </p:nvGrpSpPr>
        <p:grpSpPr>
          <a:xfrm>
            <a:off x="1102891" y="2950798"/>
            <a:ext cx="9968800" cy="2023202"/>
            <a:chOff x="5610" y="1502998"/>
            <a:chExt cx="9968800" cy="2023202"/>
          </a:xfrm>
        </p:grpSpPr>
        <p:sp>
          <p:nvSpPr>
            <p:cNvPr id="366" name="Google Shape;366;p21"/>
            <p:cNvSpPr/>
            <p:nvPr/>
          </p:nvSpPr>
          <p:spPr>
            <a:xfrm>
              <a:off x="4990010" y="2339032"/>
              <a:ext cx="3537928" cy="351134"/>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367" name="Google Shape;367;p21"/>
            <p:cNvSpPr/>
            <p:nvPr/>
          </p:nvSpPr>
          <p:spPr>
            <a:xfrm>
              <a:off x="4990010" y="2339032"/>
              <a:ext cx="401162" cy="351134"/>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368" name="Google Shape;368;p21"/>
            <p:cNvSpPr/>
            <p:nvPr/>
          </p:nvSpPr>
          <p:spPr>
            <a:xfrm>
              <a:off x="2864846" y="2339032"/>
              <a:ext cx="2125164" cy="351134"/>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369" name="Google Shape;369;p21"/>
            <p:cNvSpPr/>
            <p:nvPr/>
          </p:nvSpPr>
          <p:spPr>
            <a:xfrm>
              <a:off x="841643" y="2339032"/>
              <a:ext cx="4148367" cy="351134"/>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370" name="Google Shape;370;p21"/>
            <p:cNvSpPr/>
            <p:nvPr/>
          </p:nvSpPr>
          <p:spPr>
            <a:xfrm>
              <a:off x="4153977" y="1502998"/>
              <a:ext cx="1672067" cy="836033"/>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1"/>
            <p:cNvSpPr txBox="1"/>
            <p:nvPr/>
          </p:nvSpPr>
          <p:spPr>
            <a:xfrm>
              <a:off x="4153977" y="1502998"/>
              <a:ext cx="1672067" cy="836033"/>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Data Bugs</a:t>
              </a:r>
              <a:endParaRPr b="0" i="0" sz="2000" u="none" cap="none" strike="noStrike">
                <a:solidFill>
                  <a:schemeClr val="lt1"/>
                </a:solidFill>
                <a:latin typeface="Arial"/>
                <a:ea typeface="Arial"/>
                <a:cs typeface="Arial"/>
                <a:sym typeface="Arial"/>
              </a:endParaRPr>
            </a:p>
          </p:txBody>
        </p:sp>
        <p:sp>
          <p:nvSpPr>
            <p:cNvPr id="372" name="Google Shape;372;p21"/>
            <p:cNvSpPr/>
            <p:nvPr/>
          </p:nvSpPr>
          <p:spPr>
            <a:xfrm>
              <a:off x="5610" y="2690167"/>
              <a:ext cx="1672067" cy="836033"/>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1"/>
            <p:cNvSpPr txBox="1"/>
            <p:nvPr/>
          </p:nvSpPr>
          <p:spPr>
            <a:xfrm>
              <a:off x="5610" y="2690167"/>
              <a:ext cx="1672067" cy="836033"/>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Generic Data Bugs</a:t>
              </a:r>
              <a:endParaRPr b="0" i="0" sz="2000" u="none" cap="none" strike="noStrike">
                <a:solidFill>
                  <a:schemeClr val="lt1"/>
                </a:solidFill>
                <a:latin typeface="Arial"/>
                <a:ea typeface="Arial"/>
                <a:cs typeface="Arial"/>
                <a:sym typeface="Arial"/>
              </a:endParaRPr>
            </a:p>
          </p:txBody>
        </p:sp>
        <p:sp>
          <p:nvSpPr>
            <p:cNvPr id="374" name="Google Shape;374;p21"/>
            <p:cNvSpPr/>
            <p:nvPr/>
          </p:nvSpPr>
          <p:spPr>
            <a:xfrm>
              <a:off x="2028812" y="2690167"/>
              <a:ext cx="1672067" cy="836033"/>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
            <p:cNvSpPr txBox="1"/>
            <p:nvPr/>
          </p:nvSpPr>
          <p:spPr>
            <a:xfrm>
              <a:off x="2028812" y="2690167"/>
              <a:ext cx="1672067" cy="836033"/>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Dynamic Data vs Static Data</a:t>
              </a:r>
              <a:endParaRPr b="0" i="0" sz="2000" u="none" cap="none" strike="noStrike">
                <a:solidFill>
                  <a:schemeClr val="lt1"/>
                </a:solidFill>
                <a:latin typeface="Arial"/>
                <a:ea typeface="Arial"/>
                <a:cs typeface="Arial"/>
                <a:sym typeface="Arial"/>
              </a:endParaRPr>
            </a:p>
          </p:txBody>
        </p:sp>
        <p:sp>
          <p:nvSpPr>
            <p:cNvPr id="376" name="Google Shape;376;p21"/>
            <p:cNvSpPr/>
            <p:nvPr/>
          </p:nvSpPr>
          <p:spPr>
            <a:xfrm>
              <a:off x="4052014" y="2690167"/>
              <a:ext cx="2678318" cy="836033"/>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1"/>
            <p:cNvSpPr txBox="1"/>
            <p:nvPr/>
          </p:nvSpPr>
          <p:spPr>
            <a:xfrm>
              <a:off x="4052014" y="2690167"/>
              <a:ext cx="2678318" cy="836033"/>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Information, Parameter and Control Bugs</a:t>
              </a:r>
              <a:endParaRPr b="0" i="0" sz="2000" u="none" cap="none" strike="noStrike">
                <a:solidFill>
                  <a:schemeClr val="lt1"/>
                </a:solidFill>
                <a:latin typeface="Arial"/>
                <a:ea typeface="Arial"/>
                <a:cs typeface="Arial"/>
                <a:sym typeface="Arial"/>
              </a:endParaRPr>
            </a:p>
          </p:txBody>
        </p:sp>
        <p:sp>
          <p:nvSpPr>
            <p:cNvPr id="378" name="Google Shape;378;p21"/>
            <p:cNvSpPr/>
            <p:nvPr/>
          </p:nvSpPr>
          <p:spPr>
            <a:xfrm>
              <a:off x="7081466" y="2690167"/>
              <a:ext cx="2892944" cy="836033"/>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1"/>
            <p:cNvSpPr txBox="1"/>
            <p:nvPr/>
          </p:nvSpPr>
          <p:spPr>
            <a:xfrm>
              <a:off x="7081466" y="2690167"/>
              <a:ext cx="2892944" cy="836033"/>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Contents, Structure and Attributes Related Bugs</a:t>
              </a:r>
              <a:endParaRPr b="0" i="0" sz="2000" u="none" cap="none" strike="noStrike">
                <a:solidFill>
                  <a:schemeClr val="lt1"/>
                </a:solidFill>
                <a:latin typeface="Arial"/>
                <a:ea typeface="Arial"/>
                <a:cs typeface="Arial"/>
                <a:sym typeface="Arial"/>
              </a:endParaRPr>
            </a:p>
          </p:txBody>
        </p:sp>
      </p:grpSp>
      <p:sp>
        <p:nvSpPr>
          <p:cNvPr id="380" name="Google Shape;380;p2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3.1 Generic Data Bugs</a:t>
            </a:r>
            <a:endParaRPr/>
          </a:p>
        </p:txBody>
      </p:sp>
      <p:sp>
        <p:nvSpPr>
          <p:cNvPr id="387" name="Google Shape;387;p22"/>
          <p:cNvSpPr txBox="1"/>
          <p:nvPr>
            <p:ph idx="1" type="body"/>
          </p:nvPr>
        </p:nvSpPr>
        <p:spPr>
          <a:xfrm>
            <a:off x="1110344" y="1447800"/>
            <a:ext cx="9966960" cy="50292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Success of any program depends on its code and also data. </a:t>
            </a:r>
            <a:endParaRPr/>
          </a:p>
          <a:p>
            <a:pPr indent="-228600" lvl="0" marL="228600" rtl="0" algn="just">
              <a:lnSpc>
                <a:spcPct val="90000"/>
              </a:lnSpc>
              <a:spcBef>
                <a:spcPts val="1800"/>
              </a:spcBef>
              <a:spcAft>
                <a:spcPts val="0"/>
              </a:spcAft>
              <a:buClr>
                <a:schemeClr val="dk1"/>
              </a:buClr>
              <a:buSzPts val="2000"/>
              <a:buChar char="▪"/>
            </a:pPr>
            <a:r>
              <a:rPr lang="en-US"/>
              <a:t>These bugs are much common in code, especially as the code migrates to data</a:t>
            </a:r>
            <a:endParaRPr/>
          </a:p>
          <a:p>
            <a:pPr indent="-228600" lvl="0" marL="228600" rtl="0" algn="just">
              <a:lnSpc>
                <a:spcPct val="90000"/>
              </a:lnSpc>
              <a:spcBef>
                <a:spcPts val="1800"/>
              </a:spcBef>
              <a:spcAft>
                <a:spcPts val="0"/>
              </a:spcAft>
              <a:buClr>
                <a:schemeClr val="dk1"/>
              </a:buClr>
              <a:buSzPts val="2000"/>
              <a:buChar char="▪"/>
            </a:pPr>
            <a:r>
              <a:rPr lang="en-US"/>
              <a:t>Data is represented in the code as: data types, constants and variables</a:t>
            </a:r>
            <a:endParaRPr/>
          </a:p>
          <a:p>
            <a:pPr indent="-228600" lvl="0" marL="228600" rtl="0" algn="just">
              <a:lnSpc>
                <a:spcPct val="90000"/>
              </a:lnSpc>
              <a:spcBef>
                <a:spcPts val="1800"/>
              </a:spcBef>
              <a:spcAft>
                <a:spcPts val="0"/>
              </a:spcAft>
              <a:buClr>
                <a:schemeClr val="dk1"/>
              </a:buClr>
              <a:buSzPts val="2000"/>
              <a:buChar char="▪"/>
            </a:pPr>
            <a:r>
              <a:rPr lang="en-US"/>
              <a:t>Data bugs arise while selecting of appropriate types, object specs., their formats, no. of such data objects and their initial values</a:t>
            </a:r>
            <a:endParaRPr/>
          </a:p>
          <a:p>
            <a:pPr indent="-228600" lvl="0" marL="228600" rtl="0" algn="just">
              <a:lnSpc>
                <a:spcPct val="90000"/>
              </a:lnSpc>
              <a:spcBef>
                <a:spcPts val="1800"/>
              </a:spcBef>
              <a:spcAft>
                <a:spcPts val="0"/>
              </a:spcAft>
              <a:buClr>
                <a:schemeClr val="dk1"/>
              </a:buClr>
              <a:buSzPts val="2000"/>
              <a:buChar char="▪"/>
            </a:pPr>
            <a:r>
              <a:rPr lang="en-US"/>
              <a:t>In addition, data representation in the form of database and normalization also plays a very critical role.</a:t>
            </a:r>
            <a:endParaRPr/>
          </a:p>
        </p:txBody>
      </p:sp>
      <p:sp>
        <p:nvSpPr>
          <p:cNvPr id="388" name="Google Shape;388;p2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3.2 Dynamic vs. Static Data Bugs</a:t>
            </a:r>
            <a:endParaRPr/>
          </a:p>
        </p:txBody>
      </p:sp>
      <p:sp>
        <p:nvSpPr>
          <p:cNvPr id="395" name="Google Shape;395;p23"/>
          <p:cNvSpPr txBox="1"/>
          <p:nvPr>
            <p:ph idx="1" type="body"/>
          </p:nvPr>
        </p:nvSpPr>
        <p:spPr>
          <a:xfrm>
            <a:off x="1104900" y="1397727"/>
            <a:ext cx="4708071" cy="5460274"/>
          </a:xfrm>
          <a:prstGeom prst="rect">
            <a:avLst/>
          </a:prstGeom>
          <a:gradFill>
            <a:gsLst>
              <a:gs pos="0">
                <a:srgbClr val="A8A3A1"/>
              </a:gs>
              <a:gs pos="50000">
                <a:srgbClr val="C9C6C6"/>
              </a:gs>
              <a:gs pos="100000">
                <a:srgbClr val="E4E4E2"/>
              </a:gs>
            </a:gsLst>
            <a:lin ang="5400000" scaled="0"/>
          </a:gradFill>
          <a:ln>
            <a:noFill/>
          </a:ln>
          <a:effectLst>
            <a:outerShdw blurRad="50800" sx="102000" rotWithShape="0" algn="ctr" dir="5400000" dist="50800" sy="102000">
              <a:srgbClr val="000000">
                <a:alpha val="42745"/>
              </a:srgbClr>
            </a:outerShdw>
          </a:effectLst>
        </p:spPr>
        <p:txBody>
          <a:bodyPr anchorCtr="0" anchor="t" bIns="45700" lIns="0" spcFirstLastPara="1" rIns="0" wrap="square" tIns="45700">
            <a:normAutofit fontScale="85000" lnSpcReduction="20000"/>
          </a:bodyPr>
          <a:lstStyle/>
          <a:p>
            <a:pPr indent="0" lvl="0" marL="82550" rtl="0" algn="just">
              <a:lnSpc>
                <a:spcPct val="90000"/>
              </a:lnSpc>
              <a:spcBef>
                <a:spcPts val="0"/>
              </a:spcBef>
              <a:spcAft>
                <a:spcPts val="0"/>
              </a:spcAft>
              <a:buClr>
                <a:schemeClr val="dk1"/>
              </a:buClr>
              <a:buSzPct val="100000"/>
              <a:buNone/>
            </a:pPr>
            <a:r>
              <a:rPr b="1" lang="en-US" sz="2400"/>
              <a:t>Dynamic Data Bugs</a:t>
            </a:r>
            <a:endParaRPr/>
          </a:p>
          <a:p>
            <a:pPr indent="-228600" lvl="0" marL="228600" rtl="0" algn="l">
              <a:lnSpc>
                <a:spcPct val="90000"/>
              </a:lnSpc>
              <a:spcBef>
                <a:spcPts val="1800"/>
              </a:spcBef>
              <a:spcAft>
                <a:spcPts val="0"/>
              </a:spcAft>
              <a:buClr>
                <a:schemeClr val="dk1"/>
              </a:buClr>
              <a:buSzPct val="100000"/>
              <a:buChar char="▪"/>
            </a:pPr>
            <a:r>
              <a:rPr lang="en-US"/>
              <a:t>Data is transitory. </a:t>
            </a:r>
            <a:endParaRPr/>
          </a:p>
          <a:p>
            <a:pPr indent="-228600" lvl="0" marL="228600" rtl="0" algn="l">
              <a:lnSpc>
                <a:spcPct val="90000"/>
              </a:lnSpc>
              <a:spcBef>
                <a:spcPts val="1800"/>
              </a:spcBef>
              <a:spcAft>
                <a:spcPts val="0"/>
              </a:spcAft>
              <a:buClr>
                <a:schemeClr val="dk1"/>
              </a:buClr>
              <a:buSzPct val="100000"/>
              <a:buChar char="▪"/>
            </a:pPr>
            <a:r>
              <a:rPr lang="en-US"/>
              <a:t>The data are created during the transaction and stored in the shared memory.</a:t>
            </a:r>
            <a:endParaRPr/>
          </a:p>
          <a:p>
            <a:pPr indent="-228600" lvl="0" marL="228600" rtl="0" algn="l">
              <a:lnSpc>
                <a:spcPct val="90000"/>
              </a:lnSpc>
              <a:spcBef>
                <a:spcPts val="1800"/>
              </a:spcBef>
              <a:spcAft>
                <a:spcPts val="0"/>
              </a:spcAft>
              <a:buClr>
                <a:schemeClr val="dk1"/>
              </a:buClr>
              <a:buSzPct val="100000"/>
              <a:buChar char="▪"/>
            </a:pPr>
            <a:r>
              <a:rPr lang="en-US"/>
              <a:t>At the end of transaction, dynamic data is not required and shared memory is released.</a:t>
            </a:r>
            <a:endParaRPr/>
          </a:p>
          <a:p>
            <a:pPr indent="-228600" lvl="0" marL="228600" rtl="0" algn="l">
              <a:lnSpc>
                <a:spcPct val="90000"/>
              </a:lnSpc>
              <a:spcBef>
                <a:spcPts val="1800"/>
              </a:spcBef>
              <a:spcAft>
                <a:spcPts val="0"/>
              </a:spcAft>
              <a:buClr>
                <a:schemeClr val="dk1"/>
              </a:buClr>
              <a:buSzPct val="100000"/>
              <a:buChar char="▪"/>
            </a:pPr>
            <a:r>
              <a:rPr lang="en-US"/>
              <a:t>Short lifetime, typically the processing time of one transaction</a:t>
            </a:r>
            <a:endParaRPr/>
          </a:p>
          <a:p>
            <a:pPr indent="-228600" lvl="0" marL="228600" rtl="0" algn="l">
              <a:lnSpc>
                <a:spcPct val="90000"/>
              </a:lnSpc>
              <a:spcBef>
                <a:spcPts val="1800"/>
              </a:spcBef>
              <a:spcAft>
                <a:spcPts val="0"/>
              </a:spcAft>
              <a:buClr>
                <a:schemeClr val="dk1"/>
              </a:buClr>
              <a:buSzPct val="100000"/>
              <a:buChar char="▪"/>
            </a:pPr>
            <a:r>
              <a:rPr lang="en-US"/>
              <a:t>Dynamic data is being used to produce results</a:t>
            </a:r>
            <a:endParaRPr/>
          </a:p>
          <a:p>
            <a:pPr indent="-228600" lvl="0" marL="228600" rtl="0" algn="l">
              <a:lnSpc>
                <a:spcPct val="90000"/>
              </a:lnSpc>
              <a:spcBef>
                <a:spcPts val="1800"/>
              </a:spcBef>
              <a:spcAft>
                <a:spcPts val="0"/>
              </a:spcAft>
              <a:buClr>
                <a:schemeClr val="dk1"/>
              </a:buClr>
              <a:buSzPct val="100000"/>
              <a:buChar char="▪"/>
            </a:pPr>
            <a:r>
              <a:rPr lang="en-US"/>
              <a:t>Difficult to catch bugs</a:t>
            </a:r>
            <a:endParaRPr/>
          </a:p>
          <a:p>
            <a:pPr indent="-228600" lvl="0" marL="228600" rtl="0" algn="l">
              <a:lnSpc>
                <a:spcPct val="90000"/>
              </a:lnSpc>
              <a:spcBef>
                <a:spcPts val="1800"/>
              </a:spcBef>
              <a:spcAft>
                <a:spcPts val="0"/>
              </a:spcAft>
              <a:buClr>
                <a:schemeClr val="dk1"/>
              </a:buClr>
              <a:buSzPct val="100000"/>
              <a:buChar char="▪"/>
            </a:pPr>
            <a:r>
              <a:rPr lang="en-US"/>
              <a:t>Performing root cause analysis is not easy</a:t>
            </a:r>
            <a:endParaRPr/>
          </a:p>
          <a:p>
            <a:pPr indent="-228600" lvl="0" marL="228600" rtl="0" algn="l">
              <a:lnSpc>
                <a:spcPct val="90000"/>
              </a:lnSpc>
              <a:spcBef>
                <a:spcPts val="1800"/>
              </a:spcBef>
              <a:spcAft>
                <a:spcPts val="0"/>
              </a:spcAft>
              <a:buClr>
                <a:schemeClr val="dk1"/>
              </a:buClr>
              <a:buSzPct val="100000"/>
              <a:buChar char="▪"/>
            </a:pPr>
            <a:r>
              <a:rPr lang="en-US"/>
              <a:t>A common error is the programmer tries to free the already freed resources</a:t>
            </a:r>
            <a:endParaRPr/>
          </a:p>
          <a:p>
            <a:pPr indent="-228600" lvl="0" marL="228600" rtl="0" algn="l">
              <a:lnSpc>
                <a:spcPct val="90000"/>
              </a:lnSpc>
              <a:spcBef>
                <a:spcPts val="1800"/>
              </a:spcBef>
              <a:spcAft>
                <a:spcPts val="0"/>
              </a:spcAft>
              <a:buClr>
                <a:schemeClr val="dk1"/>
              </a:buClr>
              <a:buSzPct val="100000"/>
              <a:buChar char="▪"/>
            </a:pPr>
            <a:r>
              <a:rPr lang="en-US"/>
              <a:t>A memory leak situation. Such a situation can cause ever increasing usage of memory and resulting in unexceptional halt of program.</a:t>
            </a:r>
            <a:endParaRPr/>
          </a:p>
        </p:txBody>
      </p:sp>
      <p:sp>
        <p:nvSpPr>
          <p:cNvPr id="396" name="Google Shape;396;p23"/>
          <p:cNvSpPr txBox="1"/>
          <p:nvPr>
            <p:ph idx="2" type="body"/>
          </p:nvPr>
        </p:nvSpPr>
        <p:spPr>
          <a:xfrm>
            <a:off x="5904411" y="1404256"/>
            <a:ext cx="5169626" cy="5453743"/>
          </a:xfrm>
          <a:prstGeom prst="rect">
            <a:avLst/>
          </a:prstGeom>
          <a:gradFill>
            <a:gsLst>
              <a:gs pos="0">
                <a:srgbClr val="A8A3A1"/>
              </a:gs>
              <a:gs pos="50000">
                <a:srgbClr val="C9C6C6"/>
              </a:gs>
              <a:gs pos="100000">
                <a:srgbClr val="E4E4E2"/>
              </a:gs>
            </a:gsLst>
            <a:lin ang="5400000" scaled="0"/>
          </a:gradFill>
          <a:ln>
            <a:noFill/>
          </a:ln>
          <a:effectLst>
            <a:outerShdw blurRad="50800" sx="102000" rotWithShape="0" algn="ctr" dir="5400000" dist="50800" sy="102000">
              <a:srgbClr val="000000">
                <a:alpha val="42745"/>
              </a:srgbClr>
            </a:outerShdw>
          </a:effectLst>
        </p:spPr>
        <p:txBody>
          <a:bodyPr anchorCtr="0" anchor="t" bIns="45700" lIns="0" spcFirstLastPara="1" rIns="0" wrap="square" tIns="45700">
            <a:normAutofit fontScale="85000" lnSpcReduction="20000"/>
          </a:bodyPr>
          <a:lstStyle/>
          <a:p>
            <a:pPr indent="0" lvl="0" marL="82550" rtl="0" algn="l">
              <a:lnSpc>
                <a:spcPct val="90000"/>
              </a:lnSpc>
              <a:spcBef>
                <a:spcPts val="0"/>
              </a:spcBef>
              <a:spcAft>
                <a:spcPts val="0"/>
              </a:spcAft>
              <a:buClr>
                <a:schemeClr val="dk1"/>
              </a:buClr>
              <a:buSzPct val="100000"/>
              <a:buNone/>
            </a:pPr>
            <a:r>
              <a:rPr b="1" lang="en-US" sz="2400"/>
              <a:t>Static Data Bugs</a:t>
            </a:r>
            <a:endParaRPr/>
          </a:p>
          <a:p>
            <a:pPr indent="-228600" lvl="0" marL="228600" rtl="0" algn="l">
              <a:lnSpc>
                <a:spcPct val="90000"/>
              </a:lnSpc>
              <a:spcBef>
                <a:spcPts val="1800"/>
              </a:spcBef>
              <a:spcAft>
                <a:spcPts val="0"/>
              </a:spcAft>
              <a:buClr>
                <a:schemeClr val="dk1"/>
              </a:buClr>
              <a:buSzPct val="100000"/>
              <a:buChar char="▪"/>
            </a:pPr>
            <a:r>
              <a:rPr lang="en-US"/>
              <a:t>Static data rarely changes</a:t>
            </a:r>
            <a:endParaRPr/>
          </a:p>
          <a:p>
            <a:pPr indent="-228600" lvl="0" marL="228600" rtl="0" algn="l">
              <a:lnSpc>
                <a:spcPct val="90000"/>
              </a:lnSpc>
              <a:spcBef>
                <a:spcPts val="1800"/>
              </a:spcBef>
              <a:spcAft>
                <a:spcPts val="0"/>
              </a:spcAft>
              <a:buClr>
                <a:schemeClr val="dk1"/>
              </a:buClr>
              <a:buSzPct val="100000"/>
              <a:buChar char="▪"/>
            </a:pPr>
            <a:r>
              <a:rPr lang="en-US"/>
              <a:t>Long life time.</a:t>
            </a:r>
            <a:br>
              <a:rPr lang="en-US"/>
            </a:br>
            <a:endParaRPr/>
          </a:p>
          <a:p>
            <a:pPr indent="-228600" lvl="0" marL="228600" rtl="0" algn="l">
              <a:lnSpc>
                <a:spcPct val="90000"/>
              </a:lnSpc>
              <a:spcBef>
                <a:spcPts val="1800"/>
              </a:spcBef>
              <a:spcAft>
                <a:spcPts val="0"/>
              </a:spcAft>
              <a:buClr>
                <a:schemeClr val="dk1"/>
              </a:buClr>
              <a:buSzPct val="100000"/>
              <a:buChar char="▪"/>
            </a:pPr>
            <a:r>
              <a:rPr lang="en-US"/>
              <a:t>Appear in source code as corded data or data stored in the database </a:t>
            </a:r>
            <a:endParaRPr/>
          </a:p>
          <a:p>
            <a:pPr indent="-228600" lvl="0" marL="228600" rtl="0" algn="l">
              <a:lnSpc>
                <a:spcPct val="90000"/>
              </a:lnSpc>
              <a:spcBef>
                <a:spcPts val="1800"/>
              </a:spcBef>
              <a:spcAft>
                <a:spcPts val="0"/>
              </a:spcAft>
              <a:buClr>
                <a:schemeClr val="dk1"/>
              </a:buClr>
              <a:buSzPct val="100000"/>
              <a:buChar char="▪"/>
            </a:pPr>
            <a:r>
              <a:rPr lang="en-US"/>
              <a:t>Compile time processing will solve the bugs caused by static data.</a:t>
            </a:r>
            <a:endParaRPr/>
          </a:p>
          <a:p>
            <a:pPr indent="-228600" lvl="0" marL="228600" rtl="0" algn="l">
              <a:lnSpc>
                <a:spcPct val="90000"/>
              </a:lnSpc>
              <a:spcBef>
                <a:spcPts val="1800"/>
              </a:spcBef>
              <a:spcAft>
                <a:spcPts val="0"/>
              </a:spcAft>
              <a:buClr>
                <a:schemeClr val="dk1"/>
              </a:buClr>
              <a:buSzPct val="100000"/>
              <a:buChar char="▪"/>
            </a:pPr>
            <a:r>
              <a:rPr lang="en-US"/>
              <a:t>For example a number, a string of characters, or a bit pattern used to store company name and address</a:t>
            </a:r>
            <a:endParaRPr/>
          </a:p>
        </p:txBody>
      </p:sp>
      <p:sp>
        <p:nvSpPr>
          <p:cNvPr id="397" name="Google Shape;397;p2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3.3 Information, Parameter and Control Bugs</a:t>
            </a:r>
            <a:endParaRPr/>
          </a:p>
        </p:txBody>
      </p:sp>
      <p:grpSp>
        <p:nvGrpSpPr>
          <p:cNvPr id="404" name="Google Shape;404;p24"/>
          <p:cNvGrpSpPr/>
          <p:nvPr/>
        </p:nvGrpSpPr>
        <p:grpSpPr>
          <a:xfrm>
            <a:off x="1137140" y="2335412"/>
            <a:ext cx="9978681" cy="3530469"/>
            <a:chOff x="670" y="939865"/>
            <a:chExt cx="9978681" cy="3530469"/>
          </a:xfrm>
        </p:grpSpPr>
        <p:sp>
          <p:nvSpPr>
            <p:cNvPr id="405" name="Google Shape;405;p24"/>
            <p:cNvSpPr/>
            <p:nvPr/>
          </p:nvSpPr>
          <p:spPr>
            <a:xfrm>
              <a:off x="4990010" y="2398737"/>
              <a:ext cx="3530469" cy="612726"/>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406" name="Google Shape;406;p24"/>
            <p:cNvSpPr/>
            <p:nvPr/>
          </p:nvSpPr>
          <p:spPr>
            <a:xfrm>
              <a:off x="4944290" y="2398737"/>
              <a:ext cx="91440" cy="612726"/>
            </a:xfrm>
            <a:custGeom>
              <a:rect b="b" l="l" r="r" t="t"/>
              <a:pathLst>
                <a:path extrusionOk="0" h="120000" w="120000">
                  <a:moveTo>
                    <a:pt x="60000" y="0"/>
                  </a:moveTo>
                  <a:lnTo>
                    <a:pt x="60000" y="120000"/>
                  </a:lnTo>
                </a:path>
              </a:pathLst>
            </a:custGeom>
            <a:noFill/>
            <a:ln cap="flat" cmpd="thickThin" w="48000">
              <a:solidFill>
                <a:srgbClr val="403934"/>
              </a:solidFill>
              <a:prstDash val="solid"/>
              <a:round/>
              <a:headEnd len="sm" w="sm" type="none"/>
              <a:tailEnd len="sm" w="sm" type="none"/>
            </a:ln>
          </p:spPr>
        </p:sp>
        <p:sp>
          <p:nvSpPr>
            <p:cNvPr id="407" name="Google Shape;407;p24"/>
            <p:cNvSpPr/>
            <p:nvPr/>
          </p:nvSpPr>
          <p:spPr>
            <a:xfrm>
              <a:off x="1459541" y="2398737"/>
              <a:ext cx="3530469" cy="612726"/>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408" name="Google Shape;408;p24"/>
            <p:cNvSpPr/>
            <p:nvPr/>
          </p:nvSpPr>
          <p:spPr>
            <a:xfrm>
              <a:off x="1709738" y="939865"/>
              <a:ext cx="6560545" cy="145887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4"/>
            <p:cNvSpPr txBox="1"/>
            <p:nvPr/>
          </p:nvSpPr>
          <p:spPr>
            <a:xfrm>
              <a:off x="1709738" y="939865"/>
              <a:ext cx="6560545" cy="1458871"/>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Arial"/>
                <a:buNone/>
              </a:pPr>
              <a:r>
                <a:rPr b="0" i="0" lang="en-US" sz="3500" u="none" cap="none" strike="noStrike">
                  <a:solidFill>
                    <a:schemeClr val="lt1"/>
                  </a:solidFill>
                  <a:latin typeface="Arial"/>
                  <a:ea typeface="Arial"/>
                  <a:cs typeface="Arial"/>
                  <a:sym typeface="Arial"/>
                </a:rPr>
                <a:t>Roles of Static or Dynamic Data</a:t>
              </a:r>
              <a:endParaRPr b="0" i="0" sz="3500" u="none" cap="none" strike="noStrike">
                <a:solidFill>
                  <a:schemeClr val="lt1"/>
                </a:solidFill>
                <a:latin typeface="Arial"/>
                <a:ea typeface="Arial"/>
                <a:cs typeface="Arial"/>
                <a:sym typeface="Arial"/>
              </a:endParaRPr>
            </a:p>
          </p:txBody>
        </p:sp>
        <p:sp>
          <p:nvSpPr>
            <p:cNvPr id="410" name="Google Shape;410;p24"/>
            <p:cNvSpPr/>
            <p:nvPr/>
          </p:nvSpPr>
          <p:spPr>
            <a:xfrm>
              <a:off x="670" y="3011463"/>
              <a:ext cx="2917743" cy="145887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4"/>
            <p:cNvSpPr txBox="1"/>
            <p:nvPr/>
          </p:nvSpPr>
          <p:spPr>
            <a:xfrm>
              <a:off x="670" y="3011463"/>
              <a:ext cx="2917743" cy="1458871"/>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Arial"/>
                <a:buNone/>
              </a:pPr>
              <a:r>
                <a:rPr b="0" i="0" lang="en-US" sz="3500" u="none" cap="none" strike="noStrike">
                  <a:solidFill>
                    <a:schemeClr val="lt1"/>
                  </a:solidFill>
                  <a:latin typeface="Arial"/>
                  <a:ea typeface="Arial"/>
                  <a:cs typeface="Arial"/>
                  <a:sym typeface="Arial"/>
                </a:rPr>
                <a:t>Parameter</a:t>
              </a:r>
              <a:endParaRPr b="0" i="0" sz="3500" u="none" cap="none" strike="noStrike">
                <a:solidFill>
                  <a:schemeClr val="lt1"/>
                </a:solidFill>
                <a:latin typeface="Arial"/>
                <a:ea typeface="Arial"/>
                <a:cs typeface="Arial"/>
                <a:sym typeface="Arial"/>
              </a:endParaRPr>
            </a:p>
          </p:txBody>
        </p:sp>
        <p:sp>
          <p:nvSpPr>
            <p:cNvPr id="412" name="Google Shape;412;p24"/>
            <p:cNvSpPr/>
            <p:nvPr/>
          </p:nvSpPr>
          <p:spPr>
            <a:xfrm>
              <a:off x="3531139" y="3011463"/>
              <a:ext cx="2917743" cy="145887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4"/>
            <p:cNvSpPr txBox="1"/>
            <p:nvPr/>
          </p:nvSpPr>
          <p:spPr>
            <a:xfrm>
              <a:off x="3531139" y="3011463"/>
              <a:ext cx="2917743" cy="1458871"/>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Arial"/>
                <a:buNone/>
              </a:pPr>
              <a:r>
                <a:rPr b="0" i="0" lang="en-US" sz="3500" u="none" cap="none" strike="noStrike">
                  <a:solidFill>
                    <a:schemeClr val="lt1"/>
                  </a:solidFill>
                  <a:latin typeface="Arial"/>
                  <a:ea typeface="Arial"/>
                  <a:cs typeface="Arial"/>
                  <a:sym typeface="Arial"/>
                </a:rPr>
                <a:t>Control </a:t>
              </a:r>
              <a:endParaRPr b="0" i="0" sz="3500" u="none" cap="none" strike="noStrike">
                <a:solidFill>
                  <a:schemeClr val="lt1"/>
                </a:solidFill>
                <a:latin typeface="Arial"/>
                <a:ea typeface="Arial"/>
                <a:cs typeface="Arial"/>
                <a:sym typeface="Arial"/>
              </a:endParaRPr>
            </a:p>
          </p:txBody>
        </p:sp>
        <p:sp>
          <p:nvSpPr>
            <p:cNvPr id="414" name="Google Shape;414;p24"/>
            <p:cNvSpPr/>
            <p:nvPr/>
          </p:nvSpPr>
          <p:spPr>
            <a:xfrm>
              <a:off x="7061608" y="3011463"/>
              <a:ext cx="2917743" cy="145887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4"/>
            <p:cNvSpPr txBox="1"/>
            <p:nvPr/>
          </p:nvSpPr>
          <p:spPr>
            <a:xfrm>
              <a:off x="7061608" y="3011463"/>
              <a:ext cx="2917743" cy="1458871"/>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Arial"/>
                <a:buNone/>
              </a:pPr>
              <a:r>
                <a:rPr b="0" i="0" lang="en-US" sz="3500" u="none" cap="none" strike="noStrike">
                  <a:solidFill>
                    <a:schemeClr val="lt1"/>
                  </a:solidFill>
                  <a:latin typeface="Arial"/>
                  <a:ea typeface="Arial"/>
                  <a:cs typeface="Arial"/>
                  <a:sym typeface="Arial"/>
                </a:rPr>
                <a:t>Information</a:t>
              </a:r>
              <a:endParaRPr b="0" i="0" sz="3500" u="none" cap="none" strike="noStrike">
                <a:solidFill>
                  <a:schemeClr val="lt1"/>
                </a:solidFill>
                <a:latin typeface="Arial"/>
                <a:ea typeface="Arial"/>
                <a:cs typeface="Arial"/>
                <a:sym typeface="Arial"/>
              </a:endParaRPr>
            </a:p>
          </p:txBody>
        </p:sp>
      </p:grpSp>
      <p:sp>
        <p:nvSpPr>
          <p:cNvPr id="416" name="Google Shape;416;p2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3.3 Information, Parameter and Control Bugs</a:t>
            </a:r>
            <a:endParaRPr/>
          </a:p>
        </p:txBody>
      </p:sp>
      <p:sp>
        <p:nvSpPr>
          <p:cNvPr id="423" name="Google Shape;423;p25"/>
          <p:cNvSpPr txBox="1"/>
          <p:nvPr>
            <p:ph idx="1" type="body"/>
          </p:nvPr>
        </p:nvSpPr>
        <p:spPr>
          <a:xfrm>
            <a:off x="1136470" y="1395547"/>
            <a:ext cx="9980022" cy="5410201"/>
          </a:xfrm>
          <a:prstGeom prst="rect">
            <a:avLst/>
          </a:prstGeom>
          <a:noFill/>
          <a:ln>
            <a:noFill/>
          </a:ln>
        </p:spPr>
        <p:txBody>
          <a:bodyPr anchorCtr="0" anchor="t" bIns="45700" lIns="0" spcFirstLastPara="1" rIns="0" wrap="square" tIns="45700">
            <a:noAutofit/>
          </a:bodyPr>
          <a:lstStyle/>
          <a:p>
            <a:pPr indent="-228600" lvl="0" marL="228600" rtl="0" algn="just">
              <a:lnSpc>
                <a:spcPct val="90000"/>
              </a:lnSpc>
              <a:spcBef>
                <a:spcPts val="0"/>
              </a:spcBef>
              <a:spcAft>
                <a:spcPts val="0"/>
              </a:spcAft>
              <a:buClr>
                <a:schemeClr val="dk1"/>
              </a:buClr>
              <a:buSzPts val="2000"/>
              <a:buChar char="▪"/>
            </a:pPr>
            <a:r>
              <a:rPr b="1" lang="en-US"/>
              <a:t>Parameter:</a:t>
            </a:r>
            <a:r>
              <a:rPr lang="en-US"/>
              <a:t> Parameters are used in the form of input and output data</a:t>
            </a:r>
            <a:endParaRPr/>
          </a:p>
          <a:p>
            <a:pPr indent="-228600" lvl="0" marL="228600" rtl="0" algn="just">
              <a:lnSpc>
                <a:spcPct val="90000"/>
              </a:lnSpc>
              <a:spcBef>
                <a:spcPts val="1800"/>
              </a:spcBef>
              <a:spcAft>
                <a:spcPts val="0"/>
              </a:spcAft>
              <a:buClr>
                <a:schemeClr val="dk1"/>
              </a:buClr>
              <a:buSzPts val="2000"/>
              <a:buChar char="▪"/>
            </a:pPr>
            <a:r>
              <a:rPr lang="en-US"/>
              <a:t>Passed to call a function as input data</a:t>
            </a:r>
            <a:endParaRPr/>
          </a:p>
          <a:p>
            <a:pPr indent="-228600" lvl="0" marL="228600" rtl="0" algn="just">
              <a:lnSpc>
                <a:spcPct val="90000"/>
              </a:lnSpc>
              <a:spcBef>
                <a:spcPts val="1800"/>
              </a:spcBef>
              <a:spcAft>
                <a:spcPts val="0"/>
              </a:spcAft>
              <a:buClr>
                <a:schemeClr val="dk1"/>
              </a:buClr>
              <a:buSzPts val="2000"/>
              <a:buChar char="▪"/>
            </a:pPr>
            <a:r>
              <a:rPr lang="en-US"/>
              <a:t>Care should be taken to ensure exact number and order of data for inputs and outputs</a:t>
            </a:r>
            <a:endParaRPr/>
          </a:p>
          <a:p>
            <a:pPr indent="-228600" lvl="0" marL="228600" rtl="0" algn="just">
              <a:lnSpc>
                <a:spcPct val="90000"/>
              </a:lnSpc>
              <a:spcBef>
                <a:spcPts val="1800"/>
              </a:spcBef>
              <a:spcAft>
                <a:spcPts val="0"/>
              </a:spcAft>
              <a:buClr>
                <a:schemeClr val="dk1"/>
              </a:buClr>
              <a:buSzPts val="2000"/>
              <a:buChar char="▪"/>
            </a:pPr>
            <a:r>
              <a:rPr b="1" lang="en-US"/>
              <a:t>Control: </a:t>
            </a:r>
            <a:r>
              <a:rPr lang="en-US"/>
              <a:t>Control data is stored to support the business rules for the maintenance of the information. </a:t>
            </a:r>
            <a:endParaRPr/>
          </a:p>
          <a:p>
            <a:pPr indent="-228600" lvl="1" marL="685800" rtl="0" algn="just">
              <a:lnSpc>
                <a:spcPct val="90000"/>
              </a:lnSpc>
              <a:spcBef>
                <a:spcPts val="600"/>
              </a:spcBef>
              <a:spcAft>
                <a:spcPts val="0"/>
              </a:spcAft>
              <a:buClr>
                <a:schemeClr val="dk1"/>
              </a:buClr>
              <a:buSzPts val="2000"/>
              <a:buChar char="▪"/>
            </a:pPr>
            <a:r>
              <a:rPr b="1" lang="en-US" sz="2000"/>
              <a:t>Example-</a:t>
            </a:r>
            <a:r>
              <a:rPr lang="en-US" sz="2000"/>
              <a:t> In a Payroll application, it would be the data stored on the government tax rates for each pay scale and the date at which the tax rate became effective.</a:t>
            </a:r>
            <a:endParaRPr/>
          </a:p>
          <a:p>
            <a:pPr indent="-228600" lvl="0" marL="228600" rtl="0" algn="just">
              <a:lnSpc>
                <a:spcPct val="90000"/>
              </a:lnSpc>
              <a:spcBef>
                <a:spcPts val="1800"/>
              </a:spcBef>
              <a:spcAft>
                <a:spcPts val="0"/>
              </a:spcAft>
              <a:buClr>
                <a:schemeClr val="dk1"/>
              </a:buClr>
              <a:buSzPts val="2000"/>
              <a:buChar char="▪"/>
            </a:pPr>
            <a:r>
              <a:rPr b="1" lang="en-US"/>
              <a:t>Information:</a:t>
            </a:r>
            <a:r>
              <a:rPr lang="en-US"/>
              <a:t> Information type of data is usually dynamic</a:t>
            </a:r>
            <a:endParaRPr/>
          </a:p>
          <a:p>
            <a:pPr indent="-228600" lvl="0" marL="228600" rtl="0" algn="just">
              <a:lnSpc>
                <a:spcPct val="90000"/>
              </a:lnSpc>
              <a:spcBef>
                <a:spcPts val="1800"/>
              </a:spcBef>
              <a:spcAft>
                <a:spcPts val="0"/>
              </a:spcAft>
              <a:buClr>
                <a:schemeClr val="dk1"/>
              </a:buClr>
              <a:buSzPts val="2000"/>
              <a:buChar char="▪"/>
            </a:pPr>
            <a:r>
              <a:rPr lang="en-US"/>
              <a:t> Local to a single transaction or task</a:t>
            </a:r>
            <a:endParaRPr/>
          </a:p>
          <a:p>
            <a:pPr indent="-228600" lvl="0" marL="228600" rtl="0" algn="just">
              <a:lnSpc>
                <a:spcPct val="90000"/>
              </a:lnSpc>
              <a:spcBef>
                <a:spcPts val="1800"/>
              </a:spcBef>
              <a:spcAft>
                <a:spcPts val="0"/>
              </a:spcAft>
              <a:buClr>
                <a:schemeClr val="dk1"/>
              </a:buClr>
              <a:buSzPts val="2000"/>
              <a:buChar char="▪"/>
            </a:pPr>
            <a:r>
              <a:rPr lang="en-US"/>
              <a:t>Frequently changes in response to changes in processing, external functional processes and/or business rules in the form of control data</a:t>
            </a:r>
            <a:endParaRPr/>
          </a:p>
          <a:p>
            <a:pPr indent="-228600" lvl="0" marL="228600" rtl="0" algn="just">
              <a:lnSpc>
                <a:spcPct val="90000"/>
              </a:lnSpc>
              <a:spcBef>
                <a:spcPts val="1800"/>
              </a:spcBef>
              <a:spcAft>
                <a:spcPts val="0"/>
              </a:spcAft>
              <a:buClr>
                <a:schemeClr val="dk1"/>
              </a:buClr>
              <a:buSzPts val="2000"/>
              <a:buChar char="▪"/>
            </a:pPr>
            <a:r>
              <a:rPr lang="en-US"/>
              <a:t>Information data is produced by executing the code by using parameter data and processing it using control data.</a:t>
            </a:r>
            <a:endParaRPr/>
          </a:p>
        </p:txBody>
      </p:sp>
      <p:sp>
        <p:nvSpPr>
          <p:cNvPr id="424" name="Google Shape;424;p2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3.4 Content, Structure and Attributes related Bugs</a:t>
            </a:r>
            <a:endParaRPr/>
          </a:p>
        </p:txBody>
      </p:sp>
      <p:grpSp>
        <p:nvGrpSpPr>
          <p:cNvPr id="431" name="Google Shape;431;p26"/>
          <p:cNvGrpSpPr/>
          <p:nvPr/>
        </p:nvGrpSpPr>
        <p:grpSpPr>
          <a:xfrm>
            <a:off x="1097951" y="2194854"/>
            <a:ext cx="9991743" cy="3535091"/>
            <a:chOff x="670" y="747054"/>
            <a:chExt cx="9991743" cy="3535091"/>
          </a:xfrm>
        </p:grpSpPr>
        <p:sp>
          <p:nvSpPr>
            <p:cNvPr id="432" name="Google Shape;432;p26"/>
            <p:cNvSpPr/>
            <p:nvPr/>
          </p:nvSpPr>
          <p:spPr>
            <a:xfrm>
              <a:off x="4996542" y="2207835"/>
              <a:ext cx="3535090" cy="613528"/>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433" name="Google Shape;433;p26"/>
            <p:cNvSpPr/>
            <p:nvPr/>
          </p:nvSpPr>
          <p:spPr>
            <a:xfrm>
              <a:off x="4950822" y="2207835"/>
              <a:ext cx="91440" cy="613528"/>
            </a:xfrm>
            <a:custGeom>
              <a:rect b="b" l="l" r="r" t="t"/>
              <a:pathLst>
                <a:path extrusionOk="0" h="120000" w="120000">
                  <a:moveTo>
                    <a:pt x="60000" y="0"/>
                  </a:moveTo>
                  <a:lnTo>
                    <a:pt x="60000" y="120000"/>
                  </a:lnTo>
                </a:path>
              </a:pathLst>
            </a:custGeom>
            <a:noFill/>
            <a:ln cap="flat" cmpd="thickThin" w="48000">
              <a:solidFill>
                <a:srgbClr val="403934"/>
              </a:solidFill>
              <a:prstDash val="solid"/>
              <a:round/>
              <a:headEnd len="sm" w="sm" type="none"/>
              <a:tailEnd len="sm" w="sm" type="none"/>
            </a:ln>
          </p:spPr>
        </p:sp>
        <p:sp>
          <p:nvSpPr>
            <p:cNvPr id="434" name="Google Shape;434;p26"/>
            <p:cNvSpPr/>
            <p:nvPr/>
          </p:nvSpPr>
          <p:spPr>
            <a:xfrm>
              <a:off x="1461452" y="2207835"/>
              <a:ext cx="3535090" cy="613528"/>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435" name="Google Shape;435;p26"/>
            <p:cNvSpPr/>
            <p:nvPr/>
          </p:nvSpPr>
          <p:spPr>
            <a:xfrm>
              <a:off x="3535761" y="747054"/>
              <a:ext cx="2921562" cy="146078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6"/>
            <p:cNvSpPr txBox="1"/>
            <p:nvPr/>
          </p:nvSpPr>
          <p:spPr>
            <a:xfrm>
              <a:off x="3535761" y="747054"/>
              <a:ext cx="2921562" cy="1460781"/>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Arial"/>
                <a:buNone/>
              </a:pPr>
              <a:r>
                <a:rPr b="0" i="0" lang="en-US" sz="3500" u="none" cap="none" strike="noStrike">
                  <a:solidFill>
                    <a:schemeClr val="lt1"/>
                  </a:solidFill>
                  <a:latin typeface="Arial"/>
                  <a:ea typeface="Arial"/>
                  <a:cs typeface="Arial"/>
                  <a:sym typeface="Arial"/>
                </a:rPr>
                <a:t>Data Specification Addresses</a:t>
              </a:r>
              <a:endParaRPr b="0" i="0" sz="3500" u="none" cap="none" strike="noStrike">
                <a:solidFill>
                  <a:schemeClr val="lt1"/>
                </a:solidFill>
                <a:latin typeface="Arial"/>
                <a:ea typeface="Arial"/>
                <a:cs typeface="Arial"/>
                <a:sym typeface="Arial"/>
              </a:endParaRPr>
            </a:p>
          </p:txBody>
        </p:sp>
        <p:sp>
          <p:nvSpPr>
            <p:cNvPr id="437" name="Google Shape;437;p26"/>
            <p:cNvSpPr/>
            <p:nvPr/>
          </p:nvSpPr>
          <p:spPr>
            <a:xfrm>
              <a:off x="670" y="2821364"/>
              <a:ext cx="2921562" cy="146078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6"/>
            <p:cNvSpPr txBox="1"/>
            <p:nvPr/>
          </p:nvSpPr>
          <p:spPr>
            <a:xfrm>
              <a:off x="670" y="2821364"/>
              <a:ext cx="2921562" cy="1460781"/>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Arial"/>
                <a:buNone/>
              </a:pPr>
              <a:r>
                <a:rPr b="0" i="0" lang="en-US" sz="3500" u="none" cap="none" strike="noStrike">
                  <a:solidFill>
                    <a:schemeClr val="lt1"/>
                  </a:solidFill>
                  <a:latin typeface="Arial"/>
                  <a:ea typeface="Arial"/>
                  <a:cs typeface="Arial"/>
                  <a:sym typeface="Arial"/>
                </a:rPr>
                <a:t>Contents </a:t>
              </a:r>
              <a:endParaRPr b="0" i="0" sz="3500" u="none" cap="none" strike="noStrike">
                <a:solidFill>
                  <a:schemeClr val="lt1"/>
                </a:solidFill>
                <a:latin typeface="Arial"/>
                <a:ea typeface="Arial"/>
                <a:cs typeface="Arial"/>
                <a:sym typeface="Arial"/>
              </a:endParaRPr>
            </a:p>
          </p:txBody>
        </p:sp>
        <p:sp>
          <p:nvSpPr>
            <p:cNvPr id="439" name="Google Shape;439;p26"/>
            <p:cNvSpPr/>
            <p:nvPr/>
          </p:nvSpPr>
          <p:spPr>
            <a:xfrm>
              <a:off x="3535761" y="2821364"/>
              <a:ext cx="2921562" cy="146078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txBox="1"/>
            <p:nvPr/>
          </p:nvSpPr>
          <p:spPr>
            <a:xfrm>
              <a:off x="3535761" y="2821364"/>
              <a:ext cx="2921562" cy="1460781"/>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Arial"/>
                <a:buNone/>
              </a:pPr>
              <a:r>
                <a:rPr b="0" i="0" lang="en-US" sz="3500" u="none" cap="none" strike="noStrike">
                  <a:solidFill>
                    <a:schemeClr val="lt1"/>
                  </a:solidFill>
                  <a:latin typeface="Arial"/>
                  <a:ea typeface="Arial"/>
                  <a:cs typeface="Arial"/>
                  <a:sym typeface="Arial"/>
                </a:rPr>
                <a:t>Structure</a:t>
              </a:r>
              <a:endParaRPr b="0" i="0" sz="3500" u="none" cap="none" strike="noStrike">
                <a:solidFill>
                  <a:schemeClr val="lt1"/>
                </a:solidFill>
                <a:latin typeface="Arial"/>
                <a:ea typeface="Arial"/>
                <a:cs typeface="Arial"/>
                <a:sym typeface="Arial"/>
              </a:endParaRPr>
            </a:p>
          </p:txBody>
        </p:sp>
        <p:sp>
          <p:nvSpPr>
            <p:cNvPr id="441" name="Google Shape;441;p26"/>
            <p:cNvSpPr/>
            <p:nvPr/>
          </p:nvSpPr>
          <p:spPr>
            <a:xfrm>
              <a:off x="7070851" y="2821364"/>
              <a:ext cx="2921562" cy="146078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6"/>
            <p:cNvSpPr txBox="1"/>
            <p:nvPr/>
          </p:nvSpPr>
          <p:spPr>
            <a:xfrm>
              <a:off x="7070851" y="2821364"/>
              <a:ext cx="2921562" cy="1460781"/>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Arial"/>
                <a:buNone/>
              </a:pPr>
              <a:r>
                <a:rPr b="0" i="0" lang="en-US" sz="3500" u="none" cap="none" strike="noStrike">
                  <a:solidFill>
                    <a:schemeClr val="lt1"/>
                  </a:solidFill>
                  <a:latin typeface="Arial"/>
                  <a:ea typeface="Arial"/>
                  <a:cs typeface="Arial"/>
                  <a:sym typeface="Arial"/>
                </a:rPr>
                <a:t>Attributes</a:t>
              </a:r>
              <a:endParaRPr b="0" i="0" sz="3500" u="none" cap="none" strike="noStrike">
                <a:solidFill>
                  <a:schemeClr val="lt1"/>
                </a:solidFill>
                <a:latin typeface="Arial"/>
                <a:ea typeface="Arial"/>
                <a:cs typeface="Arial"/>
                <a:sym typeface="Arial"/>
              </a:endParaRPr>
            </a:p>
          </p:txBody>
        </p:sp>
      </p:grpSp>
      <p:sp>
        <p:nvSpPr>
          <p:cNvPr id="443" name="Google Shape;443;p2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3.4 Content, Structure and Attributes related Bugs</a:t>
            </a:r>
            <a:endParaRPr/>
          </a:p>
        </p:txBody>
      </p:sp>
      <p:sp>
        <p:nvSpPr>
          <p:cNvPr id="450" name="Google Shape;450;p27"/>
          <p:cNvSpPr txBox="1"/>
          <p:nvPr>
            <p:ph idx="1" type="body"/>
          </p:nvPr>
        </p:nvSpPr>
        <p:spPr>
          <a:xfrm>
            <a:off x="1097281" y="1447800"/>
            <a:ext cx="9993085" cy="5029200"/>
          </a:xfrm>
          <a:prstGeom prst="rect">
            <a:avLst/>
          </a:prstGeom>
          <a:noFill/>
          <a:ln>
            <a:noFill/>
          </a:ln>
        </p:spPr>
        <p:txBody>
          <a:bodyPr anchorCtr="0" anchor="t" bIns="45700" lIns="0" spcFirstLastPara="1" rIns="0" wrap="square" tIns="45700">
            <a:normAutofit lnSpcReduction="10000"/>
          </a:bodyPr>
          <a:lstStyle/>
          <a:p>
            <a:pPr indent="-228600" lvl="0" marL="228600" rtl="0" algn="just">
              <a:lnSpc>
                <a:spcPct val="90000"/>
              </a:lnSpc>
              <a:spcBef>
                <a:spcPts val="0"/>
              </a:spcBef>
              <a:spcAft>
                <a:spcPts val="0"/>
              </a:spcAft>
              <a:buClr>
                <a:schemeClr val="dk1"/>
              </a:buClr>
              <a:buSzPts val="2000"/>
              <a:buChar char="▪"/>
            </a:pPr>
            <a:r>
              <a:rPr b="1" lang="en-US"/>
              <a:t>Contents: </a:t>
            </a:r>
            <a:r>
              <a:rPr lang="en-US"/>
              <a:t>These are actual bit patterns, character strings or numbers.</a:t>
            </a:r>
            <a:endParaRPr/>
          </a:p>
          <a:p>
            <a:pPr indent="-228600" lvl="0" marL="228600" rtl="0" algn="just">
              <a:lnSpc>
                <a:spcPct val="90000"/>
              </a:lnSpc>
              <a:spcBef>
                <a:spcPts val="1800"/>
              </a:spcBef>
              <a:spcAft>
                <a:spcPts val="0"/>
              </a:spcAft>
              <a:buClr>
                <a:schemeClr val="dk1"/>
              </a:buClr>
              <a:buSzPts val="2000"/>
              <a:buChar char="▪"/>
            </a:pPr>
            <a:r>
              <a:rPr lang="en-US"/>
              <a:t>The data is interpreted by a hardware or software processor before putting it into data structure.</a:t>
            </a:r>
            <a:endParaRPr/>
          </a:p>
          <a:p>
            <a:pPr indent="-228600" lvl="0" marL="228600" rtl="0" algn="just">
              <a:lnSpc>
                <a:spcPct val="90000"/>
              </a:lnSpc>
              <a:spcBef>
                <a:spcPts val="1800"/>
              </a:spcBef>
              <a:spcAft>
                <a:spcPts val="0"/>
              </a:spcAft>
              <a:buClr>
                <a:schemeClr val="dk1"/>
              </a:buClr>
              <a:buSzPts val="2000"/>
              <a:buChar char="▪"/>
            </a:pPr>
            <a:r>
              <a:rPr lang="en-US"/>
              <a:t> Bugs result in the corruption or misinterpretation of the content while doing encryption or decryption.</a:t>
            </a:r>
            <a:endParaRPr/>
          </a:p>
          <a:p>
            <a:pPr indent="-228600" lvl="0" marL="228600" rtl="0" algn="just">
              <a:lnSpc>
                <a:spcPct val="90000"/>
              </a:lnSpc>
              <a:spcBef>
                <a:spcPts val="1800"/>
              </a:spcBef>
              <a:spcAft>
                <a:spcPts val="0"/>
              </a:spcAft>
              <a:buClr>
                <a:schemeClr val="dk1"/>
              </a:buClr>
              <a:buSzPts val="2000"/>
              <a:buChar char="▪"/>
            </a:pPr>
            <a:r>
              <a:rPr b="1" lang="en-US"/>
              <a:t>Structure: </a:t>
            </a:r>
            <a:r>
              <a:rPr lang="en-US"/>
              <a:t>The structure of data is about organization of data. It specifies type, size and number of items that can be stored in the structure.</a:t>
            </a:r>
            <a:endParaRPr/>
          </a:p>
          <a:p>
            <a:pPr indent="-228600" lvl="0" marL="228600" rtl="0" algn="just">
              <a:lnSpc>
                <a:spcPct val="90000"/>
              </a:lnSpc>
              <a:spcBef>
                <a:spcPts val="1800"/>
              </a:spcBef>
              <a:spcAft>
                <a:spcPts val="0"/>
              </a:spcAft>
              <a:buClr>
                <a:schemeClr val="dk1"/>
              </a:buClr>
              <a:buSzPts val="2000"/>
              <a:buChar char="▪"/>
            </a:pPr>
            <a:r>
              <a:rPr lang="en-US"/>
              <a:t>It is the memory locations used to store the content. </a:t>
            </a:r>
            <a:endParaRPr/>
          </a:p>
          <a:p>
            <a:pPr indent="-228600" lvl="0" marL="228600" rtl="0" algn="just">
              <a:lnSpc>
                <a:spcPct val="90000"/>
              </a:lnSpc>
              <a:spcBef>
                <a:spcPts val="1800"/>
              </a:spcBef>
              <a:spcAft>
                <a:spcPts val="0"/>
              </a:spcAft>
              <a:buClr>
                <a:schemeClr val="dk1"/>
              </a:buClr>
              <a:buSzPts val="2000"/>
              <a:buChar char="▪"/>
            </a:pPr>
            <a:r>
              <a:rPr lang="en-US"/>
              <a:t>Structure bugs may be due to </a:t>
            </a:r>
            <a:endParaRPr/>
          </a:p>
          <a:p>
            <a:pPr indent="-228600" lvl="1" marL="685800" rtl="0" algn="just">
              <a:lnSpc>
                <a:spcPct val="90000"/>
              </a:lnSpc>
              <a:spcBef>
                <a:spcPts val="600"/>
              </a:spcBef>
              <a:spcAft>
                <a:spcPts val="0"/>
              </a:spcAft>
              <a:buClr>
                <a:schemeClr val="dk1"/>
              </a:buClr>
              <a:buSzPts val="2000"/>
              <a:buChar char="▪"/>
            </a:pPr>
            <a:r>
              <a:rPr lang="en-US" sz="2000"/>
              <a:t>Wrong declaration</a:t>
            </a:r>
            <a:endParaRPr/>
          </a:p>
          <a:p>
            <a:pPr indent="-228600" lvl="1" marL="685800" rtl="0" algn="just">
              <a:lnSpc>
                <a:spcPct val="90000"/>
              </a:lnSpc>
              <a:spcBef>
                <a:spcPts val="600"/>
              </a:spcBef>
              <a:spcAft>
                <a:spcPts val="0"/>
              </a:spcAft>
              <a:buClr>
                <a:schemeClr val="dk1"/>
              </a:buClr>
              <a:buSzPts val="2000"/>
              <a:buChar char="▪"/>
            </a:pPr>
            <a:r>
              <a:rPr lang="en-US" sz="2000"/>
              <a:t>When same contents are interpreted by multiple structures differently</a:t>
            </a:r>
            <a:endParaRPr/>
          </a:p>
          <a:p>
            <a:pPr indent="-228600" lvl="0" marL="228600" rtl="0" algn="just">
              <a:lnSpc>
                <a:spcPct val="90000"/>
              </a:lnSpc>
              <a:spcBef>
                <a:spcPts val="1800"/>
              </a:spcBef>
              <a:spcAft>
                <a:spcPts val="0"/>
              </a:spcAft>
              <a:buClr>
                <a:schemeClr val="dk1"/>
              </a:buClr>
              <a:buSzPts val="2000"/>
              <a:buChar char="▪"/>
            </a:pPr>
            <a:r>
              <a:rPr b="1" lang="en-US"/>
              <a:t>Example:</a:t>
            </a:r>
            <a:r>
              <a:rPr lang="en-US"/>
              <a:t> A bug can be a two dimensional array treated elsewhere as N one dimensional arrays.</a:t>
            </a:r>
            <a:endParaRPr/>
          </a:p>
        </p:txBody>
      </p:sp>
      <p:sp>
        <p:nvSpPr>
          <p:cNvPr id="451" name="Google Shape;451;p2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3.4 Content, Structure and Attributes related Bugs</a:t>
            </a:r>
            <a:endParaRPr/>
          </a:p>
        </p:txBody>
      </p:sp>
      <p:sp>
        <p:nvSpPr>
          <p:cNvPr id="457" name="Google Shape;457;p2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b="1" lang="en-US"/>
              <a:t>Attributes:</a:t>
            </a:r>
            <a:r>
              <a:rPr lang="en-US"/>
              <a:t> The semantics associated with the contents of a data object</a:t>
            </a:r>
            <a:endParaRPr/>
          </a:p>
          <a:p>
            <a:pPr indent="-228600" lvl="0" marL="228600" rtl="0" algn="just">
              <a:lnSpc>
                <a:spcPct val="90000"/>
              </a:lnSpc>
              <a:spcBef>
                <a:spcPts val="1800"/>
              </a:spcBef>
              <a:spcAft>
                <a:spcPts val="0"/>
              </a:spcAft>
              <a:buClr>
                <a:schemeClr val="dk1"/>
              </a:buClr>
              <a:buSzPts val="2000"/>
              <a:buChar char="▪"/>
            </a:pPr>
            <a:r>
              <a:rPr b="1" lang="en-US"/>
              <a:t>Example: </a:t>
            </a:r>
            <a:r>
              <a:rPr lang="en-US"/>
              <a:t>An integer, string, alphanumeric etc.</a:t>
            </a:r>
            <a:endParaRPr/>
          </a:p>
          <a:p>
            <a:pPr indent="-228600" lvl="0" marL="228600" rtl="0" algn="just">
              <a:lnSpc>
                <a:spcPct val="90000"/>
              </a:lnSpc>
              <a:spcBef>
                <a:spcPts val="1800"/>
              </a:spcBef>
              <a:spcAft>
                <a:spcPts val="0"/>
              </a:spcAft>
              <a:buClr>
                <a:schemeClr val="dk1"/>
              </a:buClr>
              <a:buSzPts val="2000"/>
              <a:buChar char="▪"/>
            </a:pPr>
            <a:r>
              <a:rPr lang="en-US"/>
              <a:t>Attributes bugs are due to misinterpretation of data type, probably at an interface</a:t>
            </a:r>
            <a:endParaRPr/>
          </a:p>
        </p:txBody>
      </p:sp>
      <p:sp>
        <p:nvSpPr>
          <p:cNvPr id="458" name="Google Shape;458;p2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4 Coding Bugs</a:t>
            </a:r>
            <a:endParaRPr/>
          </a:p>
        </p:txBody>
      </p:sp>
      <p:grpSp>
        <p:nvGrpSpPr>
          <p:cNvPr id="465" name="Google Shape;465;p29"/>
          <p:cNvGrpSpPr/>
          <p:nvPr/>
        </p:nvGrpSpPr>
        <p:grpSpPr>
          <a:xfrm>
            <a:off x="1111013" y="2322350"/>
            <a:ext cx="9978682" cy="3530469"/>
            <a:chOff x="670" y="939865"/>
            <a:chExt cx="9978682" cy="3530469"/>
          </a:xfrm>
        </p:grpSpPr>
        <p:sp>
          <p:nvSpPr>
            <p:cNvPr id="466" name="Google Shape;466;p29"/>
            <p:cNvSpPr/>
            <p:nvPr/>
          </p:nvSpPr>
          <p:spPr>
            <a:xfrm>
              <a:off x="4990011" y="2398736"/>
              <a:ext cx="3530469" cy="612726"/>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467" name="Google Shape;467;p29"/>
            <p:cNvSpPr/>
            <p:nvPr/>
          </p:nvSpPr>
          <p:spPr>
            <a:xfrm>
              <a:off x="4944291" y="2398736"/>
              <a:ext cx="91440" cy="612726"/>
            </a:xfrm>
            <a:custGeom>
              <a:rect b="b" l="l" r="r" t="t"/>
              <a:pathLst>
                <a:path extrusionOk="0" h="120000" w="120000">
                  <a:moveTo>
                    <a:pt x="60000" y="0"/>
                  </a:moveTo>
                  <a:lnTo>
                    <a:pt x="60000" y="120000"/>
                  </a:lnTo>
                </a:path>
              </a:pathLst>
            </a:custGeom>
            <a:noFill/>
            <a:ln cap="flat" cmpd="thickThin" w="48000">
              <a:solidFill>
                <a:srgbClr val="403934"/>
              </a:solidFill>
              <a:prstDash val="solid"/>
              <a:round/>
              <a:headEnd len="sm" w="sm" type="none"/>
              <a:tailEnd len="sm" w="sm" type="none"/>
            </a:ln>
          </p:spPr>
        </p:sp>
        <p:sp>
          <p:nvSpPr>
            <p:cNvPr id="468" name="Google Shape;468;p29"/>
            <p:cNvSpPr/>
            <p:nvPr/>
          </p:nvSpPr>
          <p:spPr>
            <a:xfrm>
              <a:off x="1459541" y="2398736"/>
              <a:ext cx="3530469" cy="612726"/>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469" name="Google Shape;469;p29"/>
            <p:cNvSpPr/>
            <p:nvPr/>
          </p:nvSpPr>
          <p:spPr>
            <a:xfrm>
              <a:off x="3531139" y="939865"/>
              <a:ext cx="2917743" cy="145887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9"/>
            <p:cNvSpPr txBox="1"/>
            <p:nvPr/>
          </p:nvSpPr>
          <p:spPr>
            <a:xfrm>
              <a:off x="3531139" y="939865"/>
              <a:ext cx="2917743" cy="1458871"/>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chemeClr val="lt1"/>
                </a:buClr>
                <a:buSzPts val="3300"/>
                <a:buFont typeface="Arial"/>
                <a:buNone/>
              </a:pPr>
              <a:r>
                <a:rPr b="1" i="0" lang="en-US" sz="3300" u="none" cap="none" strike="noStrike">
                  <a:solidFill>
                    <a:schemeClr val="lt1"/>
                  </a:solidFill>
                  <a:latin typeface="Arial"/>
                  <a:ea typeface="Arial"/>
                  <a:cs typeface="Arial"/>
                  <a:sym typeface="Arial"/>
                </a:rPr>
                <a:t>Coding Bugs</a:t>
              </a:r>
              <a:endParaRPr b="0" i="0" sz="3300" u="none" cap="none" strike="noStrike">
                <a:solidFill>
                  <a:schemeClr val="lt1"/>
                </a:solidFill>
                <a:latin typeface="Arial"/>
                <a:ea typeface="Arial"/>
                <a:cs typeface="Arial"/>
                <a:sym typeface="Arial"/>
              </a:endParaRPr>
            </a:p>
          </p:txBody>
        </p:sp>
        <p:sp>
          <p:nvSpPr>
            <p:cNvPr id="471" name="Google Shape;471;p29"/>
            <p:cNvSpPr/>
            <p:nvPr/>
          </p:nvSpPr>
          <p:spPr>
            <a:xfrm>
              <a:off x="670" y="3011463"/>
              <a:ext cx="2917743" cy="145887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9"/>
            <p:cNvSpPr txBox="1"/>
            <p:nvPr/>
          </p:nvSpPr>
          <p:spPr>
            <a:xfrm>
              <a:off x="670" y="3011463"/>
              <a:ext cx="2917743" cy="1458871"/>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chemeClr val="lt1"/>
                </a:buClr>
                <a:buSzPts val="3300"/>
                <a:buFont typeface="Arial"/>
                <a:buNone/>
              </a:pPr>
              <a:r>
                <a:rPr b="1" i="0" lang="en-US" sz="3300" u="none" cap="none" strike="noStrike">
                  <a:solidFill>
                    <a:schemeClr val="lt1"/>
                  </a:solidFill>
                  <a:latin typeface="Arial"/>
                  <a:ea typeface="Arial"/>
                  <a:cs typeface="Arial"/>
                  <a:sym typeface="Arial"/>
                </a:rPr>
                <a:t>Coding Errors </a:t>
              </a:r>
              <a:endParaRPr b="0" i="0" sz="3300" u="none" cap="none" strike="noStrike">
                <a:solidFill>
                  <a:schemeClr val="lt1"/>
                </a:solidFill>
                <a:latin typeface="Arial"/>
                <a:ea typeface="Arial"/>
                <a:cs typeface="Arial"/>
                <a:sym typeface="Arial"/>
              </a:endParaRPr>
            </a:p>
          </p:txBody>
        </p:sp>
        <p:sp>
          <p:nvSpPr>
            <p:cNvPr id="473" name="Google Shape;473;p29"/>
            <p:cNvSpPr/>
            <p:nvPr/>
          </p:nvSpPr>
          <p:spPr>
            <a:xfrm>
              <a:off x="3531139" y="3011463"/>
              <a:ext cx="2917743" cy="145887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9"/>
            <p:cNvSpPr txBox="1"/>
            <p:nvPr/>
          </p:nvSpPr>
          <p:spPr>
            <a:xfrm>
              <a:off x="3531139" y="3011463"/>
              <a:ext cx="2917743" cy="1458871"/>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chemeClr val="lt1"/>
                </a:buClr>
                <a:buSzPts val="3300"/>
                <a:buFont typeface="Arial"/>
                <a:buNone/>
              </a:pPr>
              <a:r>
                <a:rPr b="1" i="0" lang="en-US" sz="3300" u="none" cap="none" strike="noStrike">
                  <a:solidFill>
                    <a:schemeClr val="lt1"/>
                  </a:solidFill>
                  <a:latin typeface="Arial"/>
                  <a:ea typeface="Arial"/>
                  <a:cs typeface="Arial"/>
                  <a:sym typeface="Arial"/>
                </a:rPr>
                <a:t>Syntax Errors</a:t>
              </a:r>
              <a:endParaRPr b="0" i="0" sz="3300" u="none" cap="none" strike="noStrike">
                <a:solidFill>
                  <a:schemeClr val="lt1"/>
                </a:solidFill>
                <a:latin typeface="Arial"/>
                <a:ea typeface="Arial"/>
                <a:cs typeface="Arial"/>
                <a:sym typeface="Arial"/>
              </a:endParaRPr>
            </a:p>
          </p:txBody>
        </p:sp>
        <p:sp>
          <p:nvSpPr>
            <p:cNvPr id="475" name="Google Shape;475;p29"/>
            <p:cNvSpPr/>
            <p:nvPr/>
          </p:nvSpPr>
          <p:spPr>
            <a:xfrm>
              <a:off x="7061609" y="3011463"/>
              <a:ext cx="2917743" cy="1458871"/>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9"/>
            <p:cNvSpPr txBox="1"/>
            <p:nvPr/>
          </p:nvSpPr>
          <p:spPr>
            <a:xfrm>
              <a:off x="7061609" y="3011463"/>
              <a:ext cx="2917743" cy="1458871"/>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chemeClr val="lt1"/>
                </a:buClr>
                <a:buSzPts val="3300"/>
                <a:buFont typeface="Arial"/>
                <a:buNone/>
              </a:pPr>
              <a:r>
                <a:rPr b="1" i="0" lang="en-US" sz="3300" u="none" cap="none" strike="noStrike">
                  <a:solidFill>
                    <a:schemeClr val="lt1"/>
                  </a:solidFill>
                  <a:latin typeface="Arial"/>
                  <a:ea typeface="Arial"/>
                  <a:cs typeface="Arial"/>
                  <a:sym typeface="Arial"/>
                </a:rPr>
                <a:t>Documentation Bugs</a:t>
              </a:r>
              <a:endParaRPr b="0" i="0" sz="3300" u="none" cap="none" strike="noStrike">
                <a:solidFill>
                  <a:schemeClr val="lt1"/>
                </a:solidFill>
                <a:latin typeface="Arial"/>
                <a:ea typeface="Arial"/>
                <a:cs typeface="Arial"/>
                <a:sym typeface="Arial"/>
              </a:endParaRPr>
            </a:p>
          </p:txBody>
        </p:sp>
      </p:grpSp>
      <p:sp>
        <p:nvSpPr>
          <p:cNvPr id="477" name="Google Shape;477;p2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4 Coding Bugs</a:t>
            </a:r>
            <a:endParaRPr/>
          </a:p>
        </p:txBody>
      </p:sp>
      <p:sp>
        <p:nvSpPr>
          <p:cNvPr id="484" name="Google Shape;484;p30"/>
          <p:cNvSpPr txBox="1"/>
          <p:nvPr>
            <p:ph idx="1" type="body"/>
          </p:nvPr>
        </p:nvSpPr>
        <p:spPr>
          <a:xfrm>
            <a:off x="1110343" y="1382485"/>
            <a:ext cx="9980023" cy="5410200"/>
          </a:xfrm>
          <a:prstGeom prst="rect">
            <a:avLst/>
          </a:prstGeom>
          <a:noFill/>
          <a:ln>
            <a:noFill/>
          </a:ln>
        </p:spPr>
        <p:txBody>
          <a:bodyPr anchorCtr="0" anchor="t" bIns="45700" lIns="0" spcFirstLastPara="1" rIns="0" wrap="square" tIns="45700">
            <a:normAutofit/>
          </a:bodyPr>
          <a:lstStyle/>
          <a:p>
            <a:pPr indent="-228600" lvl="0" marL="228600" rtl="0" algn="l">
              <a:lnSpc>
                <a:spcPct val="90000"/>
              </a:lnSpc>
              <a:spcBef>
                <a:spcPts val="0"/>
              </a:spcBef>
              <a:spcAft>
                <a:spcPts val="0"/>
              </a:spcAft>
              <a:buClr>
                <a:schemeClr val="dk1"/>
              </a:buClr>
              <a:buSzPts val="2000"/>
              <a:buChar char="▪"/>
            </a:pPr>
            <a:r>
              <a:rPr b="1" lang="en-US"/>
              <a:t>Coding errors </a:t>
            </a:r>
            <a:r>
              <a:rPr lang="en-US"/>
              <a:t>create other kinds of bugs</a:t>
            </a:r>
            <a:endParaRPr/>
          </a:p>
          <a:p>
            <a:pPr indent="-228600" lvl="1" marL="685800" rtl="0" algn="l">
              <a:lnSpc>
                <a:spcPct val="90000"/>
              </a:lnSpc>
              <a:spcBef>
                <a:spcPts val="600"/>
              </a:spcBef>
              <a:spcAft>
                <a:spcPts val="0"/>
              </a:spcAft>
              <a:buClr>
                <a:schemeClr val="dk1"/>
              </a:buClr>
              <a:buSzPts val="2000"/>
              <a:buChar char="▪"/>
            </a:pPr>
            <a:r>
              <a:rPr lang="en-US" sz="2000"/>
              <a:t>Typographical</a:t>
            </a:r>
            <a:endParaRPr/>
          </a:p>
          <a:p>
            <a:pPr indent="-228600" lvl="1" marL="685800" rtl="0" algn="l">
              <a:lnSpc>
                <a:spcPct val="90000"/>
              </a:lnSpc>
              <a:spcBef>
                <a:spcPts val="600"/>
              </a:spcBef>
              <a:spcAft>
                <a:spcPts val="0"/>
              </a:spcAft>
              <a:buClr>
                <a:schemeClr val="dk1"/>
              </a:buClr>
              <a:buSzPts val="2000"/>
              <a:buChar char="▪"/>
            </a:pPr>
            <a:r>
              <a:rPr lang="en-US" sz="2000"/>
              <a:t>Misunderstanding of operators or statements </a:t>
            </a:r>
            <a:endParaRPr/>
          </a:p>
          <a:p>
            <a:pPr indent="-228600" lvl="0" marL="228600" rtl="0" algn="l">
              <a:lnSpc>
                <a:spcPct val="90000"/>
              </a:lnSpc>
              <a:spcBef>
                <a:spcPts val="1800"/>
              </a:spcBef>
              <a:spcAft>
                <a:spcPts val="0"/>
              </a:spcAft>
              <a:buClr>
                <a:schemeClr val="dk1"/>
              </a:buClr>
              <a:buSzPts val="2000"/>
              <a:buChar char="▪"/>
            </a:pPr>
            <a:r>
              <a:rPr b="1" lang="en-US"/>
              <a:t>Syntax errors </a:t>
            </a:r>
            <a:r>
              <a:rPr lang="en-US"/>
              <a:t>are removed when compiler checks syntax</a:t>
            </a:r>
            <a:endParaRPr/>
          </a:p>
          <a:p>
            <a:pPr indent="-228600" lvl="1" marL="685800" rtl="0" algn="l">
              <a:lnSpc>
                <a:spcPct val="90000"/>
              </a:lnSpc>
              <a:spcBef>
                <a:spcPts val="600"/>
              </a:spcBef>
              <a:spcAft>
                <a:spcPts val="0"/>
              </a:spcAft>
              <a:buClr>
                <a:schemeClr val="dk1"/>
              </a:buClr>
              <a:buSzPts val="2000"/>
              <a:buChar char="▪"/>
            </a:pPr>
            <a:r>
              <a:rPr lang="en-US" sz="2000"/>
              <a:t>Syntax errors can be:</a:t>
            </a:r>
            <a:endParaRPr/>
          </a:p>
          <a:p>
            <a:pPr indent="-228600" lvl="2" marL="1143000" rtl="0" algn="l">
              <a:lnSpc>
                <a:spcPct val="90000"/>
              </a:lnSpc>
              <a:spcBef>
                <a:spcPts val="600"/>
              </a:spcBef>
              <a:spcAft>
                <a:spcPts val="0"/>
              </a:spcAft>
              <a:buClr>
                <a:schemeClr val="dk1"/>
              </a:buClr>
              <a:buSzPts val="2000"/>
              <a:buChar char="▪"/>
            </a:pPr>
            <a:r>
              <a:rPr lang="en-US" sz="2000"/>
              <a:t>Undeclared data (Already Discussed)</a:t>
            </a:r>
            <a:endParaRPr/>
          </a:p>
          <a:p>
            <a:pPr indent="-228600" lvl="2" marL="1143000" rtl="0" algn="l">
              <a:lnSpc>
                <a:spcPct val="90000"/>
              </a:lnSpc>
              <a:spcBef>
                <a:spcPts val="600"/>
              </a:spcBef>
              <a:spcAft>
                <a:spcPts val="0"/>
              </a:spcAft>
              <a:buClr>
                <a:schemeClr val="dk1"/>
              </a:buClr>
              <a:buSzPts val="2000"/>
              <a:buChar char="▪"/>
            </a:pPr>
            <a:r>
              <a:rPr lang="en-US" sz="2000"/>
              <a:t>Dangling code</a:t>
            </a:r>
            <a:endParaRPr/>
          </a:p>
          <a:p>
            <a:pPr indent="-228600" lvl="2" marL="1143000" rtl="0" algn="l">
              <a:lnSpc>
                <a:spcPct val="90000"/>
              </a:lnSpc>
              <a:spcBef>
                <a:spcPts val="600"/>
              </a:spcBef>
              <a:spcAft>
                <a:spcPts val="0"/>
              </a:spcAft>
              <a:buClr>
                <a:schemeClr val="dk1"/>
              </a:buClr>
              <a:buSzPts val="2000"/>
              <a:buChar char="▪"/>
            </a:pPr>
            <a:r>
              <a:rPr lang="en-US" sz="2000"/>
              <a:t>Initialization problems (Already Discussed)</a:t>
            </a:r>
            <a:endParaRPr sz="2000"/>
          </a:p>
          <a:p>
            <a:pPr indent="-228600" lvl="0" marL="228600" rtl="0" algn="l">
              <a:lnSpc>
                <a:spcPct val="90000"/>
              </a:lnSpc>
              <a:spcBef>
                <a:spcPts val="1800"/>
              </a:spcBef>
              <a:spcAft>
                <a:spcPts val="0"/>
              </a:spcAft>
              <a:buClr>
                <a:schemeClr val="dk1"/>
              </a:buClr>
              <a:buSzPts val="2000"/>
              <a:buChar char="▪"/>
            </a:pPr>
            <a:r>
              <a:rPr b="1" lang="en-US"/>
              <a:t>Documentation Bugs</a:t>
            </a:r>
            <a:endParaRPr/>
          </a:p>
          <a:p>
            <a:pPr indent="-228600" lvl="1" marL="685800" rtl="0" algn="l">
              <a:lnSpc>
                <a:spcPct val="90000"/>
              </a:lnSpc>
              <a:spcBef>
                <a:spcPts val="600"/>
              </a:spcBef>
              <a:spcAft>
                <a:spcPts val="0"/>
              </a:spcAft>
              <a:buClr>
                <a:schemeClr val="dk1"/>
              </a:buClr>
              <a:buSzPts val="2000"/>
              <a:buChar char="▪"/>
            </a:pPr>
            <a:r>
              <a:rPr lang="en-US" sz="2000"/>
              <a:t>Common documentation bugs include:</a:t>
            </a:r>
            <a:endParaRPr/>
          </a:p>
          <a:p>
            <a:pPr indent="-228600" lvl="2" marL="1143000" rtl="0" algn="l">
              <a:lnSpc>
                <a:spcPct val="90000"/>
              </a:lnSpc>
              <a:spcBef>
                <a:spcPts val="600"/>
              </a:spcBef>
              <a:spcAft>
                <a:spcPts val="0"/>
              </a:spcAft>
              <a:buClr>
                <a:schemeClr val="dk1"/>
              </a:buClr>
              <a:buSzPts val="2000"/>
              <a:buChar char="▪"/>
            </a:pPr>
            <a:r>
              <a:rPr lang="en-US" sz="2000"/>
              <a:t>Spelling error</a:t>
            </a:r>
            <a:endParaRPr/>
          </a:p>
          <a:p>
            <a:pPr indent="-228600" lvl="2" marL="1143000" rtl="0" algn="l">
              <a:lnSpc>
                <a:spcPct val="90000"/>
              </a:lnSpc>
              <a:spcBef>
                <a:spcPts val="600"/>
              </a:spcBef>
              <a:spcAft>
                <a:spcPts val="0"/>
              </a:spcAft>
              <a:buClr>
                <a:schemeClr val="dk1"/>
              </a:buClr>
              <a:buSzPts val="2000"/>
              <a:buChar char="▪"/>
            </a:pPr>
            <a:r>
              <a:rPr lang="en-US" sz="2000"/>
              <a:t>Poor writings</a:t>
            </a:r>
            <a:endParaRPr sz="2000"/>
          </a:p>
          <a:p>
            <a:pPr indent="-228600" lvl="1" marL="685800" rtl="0" algn="l">
              <a:lnSpc>
                <a:spcPct val="90000"/>
              </a:lnSpc>
              <a:spcBef>
                <a:spcPts val="600"/>
              </a:spcBef>
              <a:spcAft>
                <a:spcPts val="0"/>
              </a:spcAft>
              <a:buClr>
                <a:schemeClr val="dk1"/>
              </a:buClr>
              <a:buSzPts val="2000"/>
              <a:buChar char="▪"/>
            </a:pPr>
            <a:r>
              <a:rPr lang="en-US" sz="2000"/>
              <a:t>Erroneous comments could lead to incorrect maintenance</a:t>
            </a:r>
            <a:endParaRPr/>
          </a:p>
          <a:p>
            <a:pPr indent="-228600" lvl="1" marL="685800" rtl="0" algn="l">
              <a:lnSpc>
                <a:spcPct val="90000"/>
              </a:lnSpc>
              <a:spcBef>
                <a:spcPts val="600"/>
              </a:spcBef>
              <a:spcAft>
                <a:spcPts val="0"/>
              </a:spcAft>
              <a:buClr>
                <a:schemeClr val="dk1"/>
              </a:buClr>
              <a:buSzPts val="2000"/>
              <a:buChar char="▪"/>
            </a:pPr>
            <a:r>
              <a:rPr lang="en-US" sz="2000"/>
              <a:t>Testing techniques cannot eliminate documentation bugs</a:t>
            </a:r>
            <a:endParaRPr/>
          </a:p>
          <a:p>
            <a:pPr indent="-101600" lvl="0" marL="228600" rtl="0" algn="l">
              <a:lnSpc>
                <a:spcPct val="90000"/>
              </a:lnSpc>
              <a:spcBef>
                <a:spcPts val="1800"/>
              </a:spcBef>
              <a:spcAft>
                <a:spcPts val="0"/>
              </a:spcAft>
              <a:buClr>
                <a:schemeClr val="dk1"/>
              </a:buClr>
              <a:buSzPts val="2000"/>
              <a:buNone/>
            </a:pPr>
            <a:r>
              <a:t/>
            </a:r>
            <a:endParaRPr/>
          </a:p>
        </p:txBody>
      </p:sp>
      <p:sp>
        <p:nvSpPr>
          <p:cNvPr id="485" name="Google Shape;485;p3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4 Coding Bugs</a:t>
            </a:r>
            <a:endParaRPr/>
          </a:p>
        </p:txBody>
      </p:sp>
      <p:sp>
        <p:nvSpPr>
          <p:cNvPr id="492" name="Google Shape;492;p3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101600" lvl="0" marL="228600" rtl="0" algn="l">
              <a:lnSpc>
                <a:spcPct val="90000"/>
              </a:lnSpc>
              <a:spcBef>
                <a:spcPts val="0"/>
              </a:spcBef>
              <a:spcAft>
                <a:spcPts val="0"/>
              </a:spcAft>
              <a:buClr>
                <a:schemeClr val="dk1"/>
              </a:buClr>
              <a:buSzPts val="2000"/>
              <a:buNone/>
            </a:pPr>
            <a:r>
              <a:t/>
            </a:r>
            <a:endParaRPr/>
          </a:p>
        </p:txBody>
      </p:sp>
      <p:pic>
        <p:nvPicPr>
          <p:cNvPr descr="H:\CIIT\software testing\Final Slides\r1YL0R5.jpg" id="493" name="Google Shape;493;p31"/>
          <p:cNvPicPr preferRelativeResize="0"/>
          <p:nvPr/>
        </p:nvPicPr>
        <p:blipFill rotWithShape="1">
          <a:blip r:embed="rId3">
            <a:alphaModFix/>
          </a:blip>
          <a:srcRect b="0" l="0" r="0" t="0"/>
          <a:stretch/>
        </p:blipFill>
        <p:spPr>
          <a:xfrm>
            <a:off x="1615400" y="1624330"/>
            <a:ext cx="8919147" cy="4584441"/>
          </a:xfrm>
          <a:prstGeom prst="rect">
            <a:avLst/>
          </a:prstGeom>
          <a:noFill/>
          <a:ln>
            <a:noFill/>
          </a:ln>
        </p:spPr>
      </p:pic>
      <p:sp>
        <p:nvSpPr>
          <p:cNvPr id="494" name="Google Shape;494;p3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 Interface, Integration and System Bugs</a:t>
            </a:r>
            <a:endParaRPr/>
          </a:p>
        </p:txBody>
      </p:sp>
      <p:grpSp>
        <p:nvGrpSpPr>
          <p:cNvPr id="501" name="Google Shape;501;p32"/>
          <p:cNvGrpSpPr/>
          <p:nvPr/>
        </p:nvGrpSpPr>
        <p:grpSpPr>
          <a:xfrm>
            <a:off x="3726818" y="1449730"/>
            <a:ext cx="4734009" cy="5025339"/>
            <a:chOff x="2603411" y="1930"/>
            <a:chExt cx="4734009" cy="5025339"/>
          </a:xfrm>
        </p:grpSpPr>
        <p:sp>
          <p:nvSpPr>
            <p:cNvPr id="502" name="Google Shape;502;p32"/>
            <p:cNvSpPr/>
            <p:nvPr/>
          </p:nvSpPr>
          <p:spPr>
            <a:xfrm>
              <a:off x="2603411" y="1930"/>
              <a:ext cx="4734009" cy="486163"/>
            </a:xfrm>
            <a:prstGeom prst="roundRect">
              <a:avLst>
                <a:gd fmla="val 10000" name="adj"/>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2"/>
            <p:cNvSpPr txBox="1"/>
            <p:nvPr/>
          </p:nvSpPr>
          <p:spPr>
            <a:xfrm>
              <a:off x="2617650" y="16169"/>
              <a:ext cx="4705531" cy="457685"/>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Interface, Integration and System bugs</a:t>
              </a:r>
              <a:endParaRPr b="0" i="0" sz="2000" u="none" cap="none" strike="noStrike">
                <a:solidFill>
                  <a:schemeClr val="lt1"/>
                </a:solidFill>
                <a:latin typeface="Arial"/>
                <a:ea typeface="Arial"/>
                <a:cs typeface="Arial"/>
                <a:sym typeface="Arial"/>
              </a:endParaRPr>
            </a:p>
          </p:txBody>
        </p:sp>
        <p:sp>
          <p:nvSpPr>
            <p:cNvPr id="504" name="Google Shape;504;p32"/>
            <p:cNvSpPr/>
            <p:nvPr/>
          </p:nvSpPr>
          <p:spPr>
            <a:xfrm>
              <a:off x="3076812" y="488094"/>
              <a:ext cx="473400" cy="302611"/>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05" name="Google Shape;505;p32"/>
            <p:cNvSpPr/>
            <p:nvPr/>
          </p:nvSpPr>
          <p:spPr>
            <a:xfrm>
              <a:off x="3550213" y="588964"/>
              <a:ext cx="3787207"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2"/>
            <p:cNvSpPr txBox="1"/>
            <p:nvPr/>
          </p:nvSpPr>
          <p:spPr>
            <a:xfrm>
              <a:off x="3562031" y="600782"/>
              <a:ext cx="3763571"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External Interfaces</a:t>
              </a:r>
              <a:endParaRPr b="0" i="0" sz="2000" u="none" cap="none" strike="noStrike">
                <a:solidFill>
                  <a:schemeClr val="dk1"/>
                </a:solidFill>
                <a:latin typeface="Arial"/>
                <a:ea typeface="Arial"/>
                <a:cs typeface="Arial"/>
                <a:sym typeface="Arial"/>
              </a:endParaRPr>
            </a:p>
          </p:txBody>
        </p:sp>
        <p:sp>
          <p:nvSpPr>
            <p:cNvPr id="507" name="Google Shape;507;p32"/>
            <p:cNvSpPr/>
            <p:nvPr/>
          </p:nvSpPr>
          <p:spPr>
            <a:xfrm>
              <a:off x="3076812" y="488094"/>
              <a:ext cx="473400" cy="806964"/>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08" name="Google Shape;508;p32"/>
            <p:cNvSpPr/>
            <p:nvPr/>
          </p:nvSpPr>
          <p:spPr>
            <a:xfrm>
              <a:off x="3550213" y="1093317"/>
              <a:ext cx="3787201"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2"/>
            <p:cNvSpPr txBox="1"/>
            <p:nvPr/>
          </p:nvSpPr>
          <p:spPr>
            <a:xfrm>
              <a:off x="3562031" y="1105135"/>
              <a:ext cx="3763565"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Internal Interfaces</a:t>
              </a:r>
              <a:endParaRPr b="0" i="0" sz="2000" u="none" cap="none" strike="noStrike">
                <a:solidFill>
                  <a:schemeClr val="dk1"/>
                </a:solidFill>
                <a:latin typeface="Arial"/>
                <a:ea typeface="Arial"/>
                <a:cs typeface="Arial"/>
                <a:sym typeface="Arial"/>
              </a:endParaRPr>
            </a:p>
          </p:txBody>
        </p:sp>
        <p:sp>
          <p:nvSpPr>
            <p:cNvPr id="510" name="Google Shape;510;p32"/>
            <p:cNvSpPr/>
            <p:nvPr/>
          </p:nvSpPr>
          <p:spPr>
            <a:xfrm>
              <a:off x="3076812" y="488094"/>
              <a:ext cx="473400" cy="1311317"/>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11" name="Google Shape;511;p32"/>
            <p:cNvSpPr/>
            <p:nvPr/>
          </p:nvSpPr>
          <p:spPr>
            <a:xfrm>
              <a:off x="3550213" y="1597670"/>
              <a:ext cx="3787201"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2"/>
            <p:cNvSpPr txBox="1"/>
            <p:nvPr/>
          </p:nvSpPr>
          <p:spPr>
            <a:xfrm>
              <a:off x="3562031" y="1609488"/>
              <a:ext cx="3763565"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Hardware Architecture Bugs</a:t>
              </a:r>
              <a:endParaRPr b="0" i="0" sz="2000" u="none" cap="none" strike="noStrike">
                <a:solidFill>
                  <a:schemeClr val="dk1"/>
                </a:solidFill>
                <a:latin typeface="Arial"/>
                <a:ea typeface="Arial"/>
                <a:cs typeface="Arial"/>
                <a:sym typeface="Arial"/>
              </a:endParaRPr>
            </a:p>
          </p:txBody>
        </p:sp>
        <p:sp>
          <p:nvSpPr>
            <p:cNvPr id="513" name="Google Shape;513;p32"/>
            <p:cNvSpPr/>
            <p:nvPr/>
          </p:nvSpPr>
          <p:spPr>
            <a:xfrm>
              <a:off x="3076812" y="488094"/>
              <a:ext cx="473400" cy="1815670"/>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14" name="Google Shape;514;p32"/>
            <p:cNvSpPr/>
            <p:nvPr/>
          </p:nvSpPr>
          <p:spPr>
            <a:xfrm>
              <a:off x="3550213" y="2102023"/>
              <a:ext cx="3787201"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2"/>
            <p:cNvSpPr txBox="1"/>
            <p:nvPr/>
          </p:nvSpPr>
          <p:spPr>
            <a:xfrm>
              <a:off x="3562031" y="2113841"/>
              <a:ext cx="3763565"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Operating System Bugs</a:t>
              </a:r>
              <a:endParaRPr b="0" i="0" sz="2000" u="none" cap="none" strike="noStrike">
                <a:solidFill>
                  <a:schemeClr val="dk1"/>
                </a:solidFill>
                <a:latin typeface="Arial"/>
                <a:ea typeface="Arial"/>
                <a:cs typeface="Arial"/>
                <a:sym typeface="Arial"/>
              </a:endParaRPr>
            </a:p>
          </p:txBody>
        </p:sp>
        <p:sp>
          <p:nvSpPr>
            <p:cNvPr id="516" name="Google Shape;516;p32"/>
            <p:cNvSpPr/>
            <p:nvPr/>
          </p:nvSpPr>
          <p:spPr>
            <a:xfrm>
              <a:off x="3076812" y="488094"/>
              <a:ext cx="473400" cy="2320023"/>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17" name="Google Shape;517;p32"/>
            <p:cNvSpPr/>
            <p:nvPr/>
          </p:nvSpPr>
          <p:spPr>
            <a:xfrm>
              <a:off x="3550213" y="2606376"/>
              <a:ext cx="3787201"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2"/>
            <p:cNvSpPr txBox="1"/>
            <p:nvPr/>
          </p:nvSpPr>
          <p:spPr>
            <a:xfrm>
              <a:off x="3562031" y="2618194"/>
              <a:ext cx="3763565"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Software architecture bugs</a:t>
              </a:r>
              <a:endParaRPr b="0" i="0" sz="2000" u="none" cap="none" strike="noStrike">
                <a:solidFill>
                  <a:schemeClr val="dk1"/>
                </a:solidFill>
                <a:latin typeface="Arial"/>
                <a:ea typeface="Arial"/>
                <a:cs typeface="Arial"/>
                <a:sym typeface="Arial"/>
              </a:endParaRPr>
            </a:p>
          </p:txBody>
        </p:sp>
        <p:sp>
          <p:nvSpPr>
            <p:cNvPr id="519" name="Google Shape;519;p32"/>
            <p:cNvSpPr/>
            <p:nvPr/>
          </p:nvSpPr>
          <p:spPr>
            <a:xfrm>
              <a:off x="3076812" y="488094"/>
              <a:ext cx="473400" cy="2824376"/>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20" name="Google Shape;520;p32"/>
            <p:cNvSpPr/>
            <p:nvPr/>
          </p:nvSpPr>
          <p:spPr>
            <a:xfrm>
              <a:off x="3550213" y="3110728"/>
              <a:ext cx="3787201"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2"/>
            <p:cNvSpPr txBox="1"/>
            <p:nvPr/>
          </p:nvSpPr>
          <p:spPr>
            <a:xfrm>
              <a:off x="3562031" y="3122546"/>
              <a:ext cx="3763565"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Control and Sequence Bugs</a:t>
              </a:r>
              <a:endParaRPr b="0" i="0" sz="2000" u="none" cap="none" strike="noStrike">
                <a:solidFill>
                  <a:schemeClr val="dk1"/>
                </a:solidFill>
                <a:latin typeface="Arial"/>
                <a:ea typeface="Arial"/>
                <a:cs typeface="Arial"/>
                <a:sym typeface="Arial"/>
              </a:endParaRPr>
            </a:p>
          </p:txBody>
        </p:sp>
        <p:sp>
          <p:nvSpPr>
            <p:cNvPr id="522" name="Google Shape;522;p32"/>
            <p:cNvSpPr/>
            <p:nvPr/>
          </p:nvSpPr>
          <p:spPr>
            <a:xfrm>
              <a:off x="3076812" y="488094"/>
              <a:ext cx="473400" cy="3328728"/>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23" name="Google Shape;523;p32"/>
            <p:cNvSpPr/>
            <p:nvPr/>
          </p:nvSpPr>
          <p:spPr>
            <a:xfrm>
              <a:off x="3550213" y="3615081"/>
              <a:ext cx="3787201"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2"/>
            <p:cNvSpPr txBox="1"/>
            <p:nvPr/>
          </p:nvSpPr>
          <p:spPr>
            <a:xfrm>
              <a:off x="3562031" y="3626899"/>
              <a:ext cx="3763565"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Resource management bugs</a:t>
              </a:r>
              <a:endParaRPr b="0" i="0" sz="2000" u="none" cap="none" strike="noStrike">
                <a:solidFill>
                  <a:schemeClr val="dk1"/>
                </a:solidFill>
                <a:latin typeface="Arial"/>
                <a:ea typeface="Arial"/>
                <a:cs typeface="Arial"/>
                <a:sym typeface="Arial"/>
              </a:endParaRPr>
            </a:p>
          </p:txBody>
        </p:sp>
        <p:sp>
          <p:nvSpPr>
            <p:cNvPr id="525" name="Google Shape;525;p32"/>
            <p:cNvSpPr/>
            <p:nvPr/>
          </p:nvSpPr>
          <p:spPr>
            <a:xfrm>
              <a:off x="3076812" y="488094"/>
              <a:ext cx="473400" cy="3833081"/>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26" name="Google Shape;526;p32"/>
            <p:cNvSpPr/>
            <p:nvPr/>
          </p:nvSpPr>
          <p:spPr>
            <a:xfrm>
              <a:off x="3550213" y="4119434"/>
              <a:ext cx="3787201"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2"/>
            <p:cNvSpPr txBox="1"/>
            <p:nvPr/>
          </p:nvSpPr>
          <p:spPr>
            <a:xfrm>
              <a:off x="3562031" y="4131252"/>
              <a:ext cx="3763565"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Integration Bugs</a:t>
              </a:r>
              <a:endParaRPr b="0" i="0" sz="2000" u="none" cap="none" strike="noStrike">
                <a:solidFill>
                  <a:schemeClr val="dk1"/>
                </a:solidFill>
                <a:latin typeface="Arial"/>
                <a:ea typeface="Arial"/>
                <a:cs typeface="Arial"/>
                <a:sym typeface="Arial"/>
              </a:endParaRPr>
            </a:p>
          </p:txBody>
        </p:sp>
        <p:sp>
          <p:nvSpPr>
            <p:cNvPr id="528" name="Google Shape;528;p32"/>
            <p:cNvSpPr/>
            <p:nvPr/>
          </p:nvSpPr>
          <p:spPr>
            <a:xfrm>
              <a:off x="3076812" y="488094"/>
              <a:ext cx="473400" cy="4337434"/>
            </a:xfrm>
            <a:custGeom>
              <a:rect b="b" l="l" r="r" t="t"/>
              <a:pathLst>
                <a:path extrusionOk="0" h="120000" w="120000">
                  <a:moveTo>
                    <a:pt x="0" y="0"/>
                  </a:moveTo>
                  <a:lnTo>
                    <a:pt x="0" y="120000"/>
                  </a:lnTo>
                  <a:lnTo>
                    <a:pt x="120000" y="120000"/>
                  </a:lnTo>
                </a:path>
              </a:pathLst>
            </a:custGeom>
            <a:noFill/>
            <a:ln cap="flat" cmpd="thickThin" w="48000">
              <a:solidFill>
                <a:srgbClr val="403934"/>
              </a:solidFill>
              <a:prstDash val="solid"/>
              <a:round/>
              <a:headEnd len="sm" w="sm" type="none"/>
              <a:tailEnd len="sm" w="sm" type="none"/>
            </a:ln>
          </p:spPr>
        </p:sp>
        <p:sp>
          <p:nvSpPr>
            <p:cNvPr id="529" name="Google Shape;529;p32"/>
            <p:cNvSpPr/>
            <p:nvPr/>
          </p:nvSpPr>
          <p:spPr>
            <a:xfrm>
              <a:off x="3550213" y="4623787"/>
              <a:ext cx="3787201" cy="403482"/>
            </a:xfrm>
            <a:prstGeom prst="roundRect">
              <a:avLst>
                <a:gd fmla="val 10000" name="adj"/>
              </a:avLst>
            </a:prstGeom>
            <a:solidFill>
              <a:schemeClr val="lt1">
                <a:alpha val="89803"/>
              </a:schemeClr>
            </a:solidFill>
            <a:ln cap="flat" cmpd="thickThin" w="480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2"/>
            <p:cNvSpPr txBox="1"/>
            <p:nvPr/>
          </p:nvSpPr>
          <p:spPr>
            <a:xfrm>
              <a:off x="3562031" y="4635605"/>
              <a:ext cx="3763565" cy="379846"/>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System Bugs</a:t>
              </a:r>
              <a:endParaRPr b="0" i="0" sz="2000" u="none" cap="none" strike="noStrike">
                <a:solidFill>
                  <a:schemeClr val="dk1"/>
                </a:solidFill>
                <a:latin typeface="Arial"/>
                <a:ea typeface="Arial"/>
                <a:cs typeface="Arial"/>
                <a:sym typeface="Arial"/>
              </a:endParaRPr>
            </a:p>
          </p:txBody>
        </p:sp>
      </p:grpSp>
      <p:sp>
        <p:nvSpPr>
          <p:cNvPr id="531" name="Google Shape;531;p3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5.1 External Interface</a:t>
            </a:r>
            <a:endParaRPr/>
          </a:p>
        </p:txBody>
      </p:sp>
      <p:sp>
        <p:nvSpPr>
          <p:cNvPr id="538" name="Google Shape;538;p33"/>
          <p:cNvSpPr txBox="1"/>
          <p:nvPr>
            <p:ph idx="1" type="body"/>
          </p:nvPr>
        </p:nvSpPr>
        <p:spPr>
          <a:xfrm>
            <a:off x="3950097" y="1471083"/>
            <a:ext cx="5402317" cy="5386917"/>
          </a:xfrm>
          <a:prstGeom prst="rect">
            <a:avLst/>
          </a:prstGeom>
          <a:noFill/>
          <a:ln>
            <a:noFill/>
          </a:ln>
        </p:spPr>
        <p:txBody>
          <a:bodyPr anchorCtr="0" anchor="t" bIns="45700" lIns="0" spcFirstLastPara="1" rIns="0" wrap="square" tIns="45700">
            <a:normAutofit lnSpcReduction="10000"/>
          </a:bodyPr>
          <a:lstStyle/>
          <a:p>
            <a:pPr indent="-228600" lvl="0" marL="228600" rtl="0" algn="just">
              <a:lnSpc>
                <a:spcPct val="90000"/>
              </a:lnSpc>
              <a:spcBef>
                <a:spcPts val="0"/>
              </a:spcBef>
              <a:spcAft>
                <a:spcPts val="0"/>
              </a:spcAft>
              <a:buClr>
                <a:schemeClr val="dk1"/>
              </a:buClr>
              <a:buSzPts val="2000"/>
              <a:buChar char="▪"/>
            </a:pPr>
            <a:r>
              <a:rPr lang="en-US"/>
              <a:t>Means used to communicate with the world include:  </a:t>
            </a:r>
            <a:endParaRPr/>
          </a:p>
          <a:p>
            <a:pPr indent="-228600" lvl="1" marL="685800" rtl="0" algn="just">
              <a:lnSpc>
                <a:spcPct val="90000"/>
              </a:lnSpc>
              <a:spcBef>
                <a:spcPts val="600"/>
              </a:spcBef>
              <a:spcAft>
                <a:spcPts val="0"/>
              </a:spcAft>
              <a:buClr>
                <a:schemeClr val="dk1"/>
              </a:buClr>
              <a:buSzPts val="2000"/>
              <a:buChar char="▪"/>
            </a:pPr>
            <a:r>
              <a:rPr lang="en-US" sz="2000"/>
              <a:t>Drivers</a:t>
            </a:r>
            <a:endParaRPr/>
          </a:p>
          <a:p>
            <a:pPr indent="-228600" lvl="1" marL="685800" rtl="0" algn="just">
              <a:lnSpc>
                <a:spcPct val="90000"/>
              </a:lnSpc>
              <a:spcBef>
                <a:spcPts val="600"/>
              </a:spcBef>
              <a:spcAft>
                <a:spcPts val="0"/>
              </a:spcAft>
              <a:buClr>
                <a:schemeClr val="dk1"/>
              </a:buClr>
              <a:buSzPts val="2000"/>
              <a:buChar char="▪"/>
            </a:pPr>
            <a:r>
              <a:rPr lang="en-US" sz="2000"/>
              <a:t>Sensors</a:t>
            </a:r>
            <a:endParaRPr/>
          </a:p>
          <a:p>
            <a:pPr indent="-228600" lvl="1" marL="685800" rtl="0" algn="just">
              <a:lnSpc>
                <a:spcPct val="90000"/>
              </a:lnSpc>
              <a:spcBef>
                <a:spcPts val="600"/>
              </a:spcBef>
              <a:spcAft>
                <a:spcPts val="0"/>
              </a:spcAft>
              <a:buClr>
                <a:schemeClr val="dk1"/>
              </a:buClr>
              <a:buSzPts val="2000"/>
              <a:buChar char="▪"/>
            </a:pPr>
            <a:r>
              <a:rPr lang="en-US" sz="2000"/>
              <a:t>Input terminals</a:t>
            </a:r>
            <a:endParaRPr/>
          </a:p>
          <a:p>
            <a:pPr indent="-228600" lvl="1" marL="685800" rtl="0" algn="just">
              <a:lnSpc>
                <a:spcPct val="90000"/>
              </a:lnSpc>
              <a:spcBef>
                <a:spcPts val="600"/>
              </a:spcBef>
              <a:spcAft>
                <a:spcPts val="0"/>
              </a:spcAft>
              <a:buClr>
                <a:schemeClr val="dk1"/>
              </a:buClr>
              <a:buSzPts val="2000"/>
              <a:buChar char="▪"/>
            </a:pPr>
            <a:r>
              <a:rPr lang="en-US" sz="2000"/>
              <a:t>Communication lines</a:t>
            </a:r>
            <a:endParaRPr/>
          </a:p>
          <a:p>
            <a:pPr indent="-228600" lvl="0" marL="228600" rtl="0" algn="just">
              <a:lnSpc>
                <a:spcPct val="90000"/>
              </a:lnSpc>
              <a:spcBef>
                <a:spcPts val="1800"/>
              </a:spcBef>
              <a:spcAft>
                <a:spcPts val="0"/>
              </a:spcAft>
              <a:buClr>
                <a:schemeClr val="dk1"/>
              </a:buClr>
              <a:buSzPts val="2000"/>
              <a:buChar char="▪"/>
            </a:pPr>
            <a:r>
              <a:rPr lang="en-US"/>
              <a:t>These bugs can be due to:</a:t>
            </a:r>
            <a:endParaRPr/>
          </a:p>
          <a:p>
            <a:pPr indent="-228600" lvl="1" marL="685800" rtl="0" algn="just">
              <a:lnSpc>
                <a:spcPct val="90000"/>
              </a:lnSpc>
              <a:spcBef>
                <a:spcPts val="600"/>
              </a:spcBef>
              <a:spcAft>
                <a:spcPts val="0"/>
              </a:spcAft>
              <a:buClr>
                <a:schemeClr val="dk1"/>
              </a:buClr>
              <a:buSzPts val="2000"/>
              <a:buChar char="▪"/>
            </a:pPr>
            <a:r>
              <a:rPr lang="en-US" sz="2000"/>
              <a:t>A protocol that may be wrong or incorrectly implemented</a:t>
            </a:r>
            <a:endParaRPr/>
          </a:p>
          <a:p>
            <a:pPr indent="-228600" lvl="1" marL="685800" rtl="0" algn="just">
              <a:lnSpc>
                <a:spcPct val="90000"/>
              </a:lnSpc>
              <a:spcBef>
                <a:spcPts val="600"/>
              </a:spcBef>
              <a:spcAft>
                <a:spcPts val="0"/>
              </a:spcAft>
              <a:buClr>
                <a:schemeClr val="dk1"/>
              </a:buClr>
              <a:buSzPts val="2000"/>
              <a:buChar char="▪"/>
            </a:pPr>
            <a:r>
              <a:rPr lang="en-US" sz="2000"/>
              <a:t>Invalid timing/ Synchronization related bugs</a:t>
            </a:r>
            <a:endParaRPr/>
          </a:p>
          <a:p>
            <a:pPr indent="-228600" lvl="1" marL="685800" rtl="0" algn="just">
              <a:lnSpc>
                <a:spcPct val="90000"/>
              </a:lnSpc>
              <a:spcBef>
                <a:spcPts val="600"/>
              </a:spcBef>
              <a:spcAft>
                <a:spcPts val="0"/>
              </a:spcAft>
              <a:buClr>
                <a:schemeClr val="dk1"/>
              </a:buClr>
              <a:buSzPts val="2000"/>
              <a:buChar char="▪"/>
            </a:pPr>
            <a:r>
              <a:rPr lang="en-US" sz="2000"/>
              <a:t>Sequence assumptions related to external signals</a:t>
            </a:r>
            <a:endParaRPr/>
          </a:p>
          <a:p>
            <a:pPr indent="-228600" lvl="1" marL="685800" rtl="0" algn="just">
              <a:lnSpc>
                <a:spcPct val="90000"/>
              </a:lnSpc>
              <a:spcBef>
                <a:spcPts val="600"/>
              </a:spcBef>
              <a:spcAft>
                <a:spcPts val="0"/>
              </a:spcAft>
              <a:buClr>
                <a:schemeClr val="dk1"/>
              </a:buClr>
              <a:buSzPts val="2000"/>
              <a:buChar char="▪"/>
            </a:pPr>
            <a:r>
              <a:rPr lang="en-US" sz="2000"/>
              <a:t>Input and Output data inappropriate formats</a:t>
            </a:r>
            <a:endParaRPr/>
          </a:p>
          <a:p>
            <a:pPr indent="-228600" lvl="1" marL="685800" rtl="0" algn="just">
              <a:lnSpc>
                <a:spcPct val="90000"/>
              </a:lnSpc>
              <a:spcBef>
                <a:spcPts val="600"/>
              </a:spcBef>
              <a:spcAft>
                <a:spcPts val="0"/>
              </a:spcAft>
              <a:buClr>
                <a:schemeClr val="dk1"/>
              </a:buClr>
              <a:buSzPts val="2000"/>
              <a:buChar char="▪"/>
            </a:pPr>
            <a:r>
              <a:rPr lang="en-US" sz="2000"/>
              <a:t>Unavailability of servers</a:t>
            </a:r>
            <a:endParaRPr/>
          </a:p>
        </p:txBody>
      </p:sp>
      <p:pic>
        <p:nvPicPr>
          <p:cNvPr id="539" name="Google Shape;539;p33"/>
          <p:cNvPicPr preferRelativeResize="0"/>
          <p:nvPr/>
        </p:nvPicPr>
        <p:blipFill rotWithShape="1">
          <a:blip r:embed="rId3">
            <a:alphaModFix/>
          </a:blip>
          <a:srcRect b="0" l="0" r="0" t="0"/>
          <a:stretch/>
        </p:blipFill>
        <p:spPr>
          <a:xfrm>
            <a:off x="9500186" y="1406157"/>
            <a:ext cx="2606386" cy="2097670"/>
          </a:xfrm>
          <a:prstGeom prst="rect">
            <a:avLst/>
          </a:prstGeom>
          <a:noFill/>
          <a:ln>
            <a:noFill/>
          </a:ln>
        </p:spPr>
      </p:pic>
      <p:pic>
        <p:nvPicPr>
          <p:cNvPr id="540" name="Google Shape;540;p33"/>
          <p:cNvPicPr preferRelativeResize="0"/>
          <p:nvPr/>
        </p:nvPicPr>
        <p:blipFill rotWithShape="1">
          <a:blip r:embed="rId4">
            <a:alphaModFix/>
          </a:blip>
          <a:srcRect b="0" l="0" r="0" t="0"/>
          <a:stretch/>
        </p:blipFill>
        <p:spPr>
          <a:xfrm>
            <a:off x="9505336" y="3641308"/>
            <a:ext cx="2606386" cy="2400300"/>
          </a:xfrm>
          <a:prstGeom prst="rect">
            <a:avLst/>
          </a:prstGeom>
          <a:noFill/>
          <a:ln>
            <a:noFill/>
          </a:ln>
        </p:spPr>
      </p:pic>
      <p:pic>
        <p:nvPicPr>
          <p:cNvPr id="541" name="Google Shape;541;p33"/>
          <p:cNvPicPr preferRelativeResize="0"/>
          <p:nvPr/>
        </p:nvPicPr>
        <p:blipFill rotWithShape="1">
          <a:blip r:embed="rId5">
            <a:alphaModFix/>
          </a:blip>
          <a:srcRect b="0" l="0" r="0" t="0"/>
          <a:stretch/>
        </p:blipFill>
        <p:spPr>
          <a:xfrm>
            <a:off x="119136" y="1728222"/>
            <a:ext cx="3798803" cy="3938664"/>
          </a:xfrm>
          <a:prstGeom prst="rect">
            <a:avLst/>
          </a:prstGeom>
          <a:noFill/>
          <a:ln>
            <a:noFill/>
          </a:ln>
        </p:spPr>
      </p:pic>
      <p:cxnSp>
        <p:nvCxnSpPr>
          <p:cNvPr id="542" name="Google Shape;542;p33"/>
          <p:cNvCxnSpPr/>
          <p:nvPr/>
        </p:nvCxnSpPr>
        <p:spPr>
          <a:xfrm rot="10800000">
            <a:off x="3917940" y="4750678"/>
            <a:ext cx="685591" cy="514348"/>
          </a:xfrm>
          <a:prstGeom prst="straightConnector1">
            <a:avLst/>
          </a:prstGeom>
          <a:noFill/>
          <a:ln cap="rnd" cmpd="sng" w="9525">
            <a:solidFill>
              <a:srgbClr val="FF0000"/>
            </a:solidFill>
            <a:prstDash val="solid"/>
            <a:round/>
            <a:headEnd len="sm" w="sm" type="none"/>
            <a:tailEnd len="med" w="med" type="triangle"/>
          </a:ln>
        </p:spPr>
      </p:cxnSp>
      <p:cxnSp>
        <p:nvCxnSpPr>
          <p:cNvPr id="543" name="Google Shape;543;p33"/>
          <p:cNvCxnSpPr/>
          <p:nvPr/>
        </p:nvCxnSpPr>
        <p:spPr>
          <a:xfrm>
            <a:off x="5265683" y="4750677"/>
            <a:ext cx="4118889" cy="0"/>
          </a:xfrm>
          <a:prstGeom prst="straightConnector1">
            <a:avLst/>
          </a:prstGeom>
          <a:noFill/>
          <a:ln cap="rnd" cmpd="sng" w="9525">
            <a:solidFill>
              <a:srgbClr val="FF0000"/>
            </a:solidFill>
            <a:prstDash val="solid"/>
            <a:round/>
            <a:headEnd len="sm" w="sm" type="none"/>
            <a:tailEnd len="med" w="med" type="triangle"/>
          </a:ln>
        </p:spPr>
      </p:cxnSp>
      <p:sp>
        <p:nvSpPr>
          <p:cNvPr id="544" name="Google Shape;544;p3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5" name="Google Shape;545;p33"/>
          <p:cNvSpPr txBox="1"/>
          <p:nvPr/>
        </p:nvSpPr>
        <p:spPr>
          <a:xfrm>
            <a:off x="8998527" y="6019528"/>
            <a:ext cx="3410180" cy="375726"/>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Invalid timing/ Synchronization related bugs</a:t>
            </a:r>
            <a:endParaRPr/>
          </a:p>
          <a:p>
            <a:pPr indent="0" lvl="1" marL="457200" marR="0" rtl="0" algn="ctr">
              <a:lnSpc>
                <a:spcPct val="90000"/>
              </a:lnSpc>
              <a:spcBef>
                <a:spcPts val="60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p:txBody>
      </p:sp>
      <p:sp>
        <p:nvSpPr>
          <p:cNvPr id="546" name="Google Shape;546;p33"/>
          <p:cNvSpPr txBox="1"/>
          <p:nvPr/>
        </p:nvSpPr>
        <p:spPr>
          <a:xfrm>
            <a:off x="-155119" y="5688243"/>
            <a:ext cx="3410180" cy="375726"/>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Sequence assumptions related to external signals</a:t>
            </a:r>
            <a:endParaRPr/>
          </a:p>
          <a:p>
            <a:pPr indent="0" lvl="1" marL="457200" marR="0" rtl="0" algn="ctr">
              <a:lnSpc>
                <a:spcPct val="90000"/>
              </a:lnSpc>
              <a:spcBef>
                <a:spcPts val="60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5.2 Internal Interface</a:t>
            </a:r>
            <a:endParaRPr/>
          </a:p>
        </p:txBody>
      </p:sp>
      <p:sp>
        <p:nvSpPr>
          <p:cNvPr id="553" name="Google Shape;553;p3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Internal interfaces can be negotiated but it must adapt to external interface</a:t>
            </a:r>
            <a:endParaRPr/>
          </a:p>
          <a:p>
            <a:pPr indent="-228600" lvl="0" marL="228600" rtl="0" algn="just">
              <a:lnSpc>
                <a:spcPct val="90000"/>
              </a:lnSpc>
              <a:spcBef>
                <a:spcPts val="1800"/>
              </a:spcBef>
              <a:spcAft>
                <a:spcPts val="0"/>
              </a:spcAft>
              <a:buClr>
                <a:schemeClr val="dk1"/>
              </a:buClr>
              <a:buSzPts val="2000"/>
              <a:buChar char="▪"/>
            </a:pPr>
            <a:r>
              <a:rPr lang="en-US"/>
              <a:t>Bugs include:</a:t>
            </a:r>
            <a:endParaRPr/>
          </a:p>
          <a:p>
            <a:pPr indent="-228600" lvl="1" marL="685800" rtl="0" algn="just">
              <a:lnSpc>
                <a:spcPct val="90000"/>
              </a:lnSpc>
              <a:spcBef>
                <a:spcPts val="600"/>
              </a:spcBef>
              <a:spcAft>
                <a:spcPts val="0"/>
              </a:spcAft>
              <a:buClr>
                <a:schemeClr val="dk1"/>
              </a:buClr>
              <a:buSzPts val="2000"/>
              <a:buChar char="▪"/>
            </a:pPr>
            <a:r>
              <a:rPr lang="en-US" sz="2000"/>
              <a:t>Protocol design bugs</a:t>
            </a:r>
            <a:endParaRPr/>
          </a:p>
          <a:p>
            <a:pPr indent="-228600" lvl="1" marL="685800" rtl="0" algn="just">
              <a:lnSpc>
                <a:spcPct val="90000"/>
              </a:lnSpc>
              <a:spcBef>
                <a:spcPts val="600"/>
              </a:spcBef>
              <a:spcAft>
                <a:spcPts val="0"/>
              </a:spcAft>
              <a:buClr>
                <a:schemeClr val="dk1"/>
              </a:buClr>
              <a:buSzPts val="2000"/>
              <a:buChar char="▪"/>
            </a:pPr>
            <a:r>
              <a:rPr lang="en-US" sz="2000"/>
              <a:t>Input output bugs</a:t>
            </a:r>
            <a:endParaRPr/>
          </a:p>
          <a:p>
            <a:pPr indent="-228600" lvl="1" marL="685800" rtl="0" algn="just">
              <a:lnSpc>
                <a:spcPct val="90000"/>
              </a:lnSpc>
              <a:spcBef>
                <a:spcPts val="600"/>
              </a:spcBef>
              <a:spcAft>
                <a:spcPts val="0"/>
              </a:spcAft>
              <a:buClr>
                <a:schemeClr val="dk1"/>
              </a:buClr>
              <a:buSzPts val="2000"/>
              <a:buChar char="▪"/>
            </a:pPr>
            <a:r>
              <a:rPr lang="en-US" sz="2000"/>
              <a:t>Wrong calling sequence</a:t>
            </a:r>
            <a:endParaRPr/>
          </a:p>
          <a:p>
            <a:pPr indent="-228600" lvl="1" marL="685800" rtl="0" algn="just">
              <a:lnSpc>
                <a:spcPct val="90000"/>
              </a:lnSpc>
              <a:spcBef>
                <a:spcPts val="600"/>
              </a:spcBef>
              <a:spcAft>
                <a:spcPts val="0"/>
              </a:spcAft>
              <a:buClr>
                <a:schemeClr val="dk1"/>
              </a:buClr>
              <a:buSzPts val="2000"/>
              <a:buChar char="▪"/>
            </a:pPr>
            <a:r>
              <a:rPr lang="en-US" sz="2000"/>
              <a:t>Call-parameter bugs</a:t>
            </a:r>
            <a:endParaRPr/>
          </a:p>
        </p:txBody>
      </p:sp>
      <p:pic>
        <p:nvPicPr>
          <p:cNvPr id="554" name="Google Shape;554;p34"/>
          <p:cNvPicPr preferRelativeResize="0"/>
          <p:nvPr/>
        </p:nvPicPr>
        <p:blipFill rotWithShape="1">
          <a:blip r:embed="rId3">
            <a:alphaModFix/>
          </a:blip>
          <a:srcRect b="0" l="0" r="0" t="0"/>
          <a:stretch/>
        </p:blipFill>
        <p:spPr>
          <a:xfrm>
            <a:off x="9012366" y="2037759"/>
            <a:ext cx="2858264" cy="3761524"/>
          </a:xfrm>
          <a:prstGeom prst="rect">
            <a:avLst/>
          </a:prstGeom>
          <a:noFill/>
          <a:ln>
            <a:noFill/>
          </a:ln>
        </p:spPr>
      </p:pic>
      <p:pic>
        <p:nvPicPr>
          <p:cNvPr id="555" name="Google Shape;555;p34"/>
          <p:cNvPicPr preferRelativeResize="0"/>
          <p:nvPr/>
        </p:nvPicPr>
        <p:blipFill rotWithShape="1">
          <a:blip r:embed="rId4">
            <a:alphaModFix/>
          </a:blip>
          <a:srcRect b="0" l="0" r="0" t="0"/>
          <a:stretch/>
        </p:blipFill>
        <p:spPr>
          <a:xfrm>
            <a:off x="4497614" y="2743200"/>
            <a:ext cx="4367898" cy="3613151"/>
          </a:xfrm>
          <a:prstGeom prst="rect">
            <a:avLst/>
          </a:prstGeom>
          <a:noFill/>
          <a:ln>
            <a:noFill/>
          </a:ln>
        </p:spPr>
      </p:pic>
      <p:cxnSp>
        <p:nvCxnSpPr>
          <p:cNvPr id="556" name="Google Shape;556;p34"/>
          <p:cNvCxnSpPr/>
          <p:nvPr/>
        </p:nvCxnSpPr>
        <p:spPr>
          <a:xfrm>
            <a:off x="4080294" y="3705700"/>
            <a:ext cx="417320" cy="18575"/>
          </a:xfrm>
          <a:prstGeom prst="straightConnector1">
            <a:avLst/>
          </a:prstGeom>
          <a:noFill/>
          <a:ln cap="rnd" cmpd="sng" w="9525">
            <a:solidFill>
              <a:srgbClr val="FF0000"/>
            </a:solidFill>
            <a:prstDash val="solid"/>
            <a:round/>
            <a:headEnd len="sm" w="sm" type="none"/>
            <a:tailEnd len="med" w="med" type="triangle"/>
          </a:ln>
        </p:spPr>
      </p:cxnSp>
      <p:sp>
        <p:nvSpPr>
          <p:cNvPr id="557" name="Google Shape;557;p3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58" name="Google Shape;558;p34"/>
          <p:cNvSpPr txBox="1"/>
          <p:nvPr/>
        </p:nvSpPr>
        <p:spPr>
          <a:xfrm>
            <a:off x="4670339" y="6361490"/>
            <a:ext cx="3249554" cy="429459"/>
          </a:xfrm>
          <a:prstGeom prst="rect">
            <a:avLst/>
          </a:prstGeom>
          <a:noFill/>
          <a:ln>
            <a:noFill/>
          </a:ln>
        </p:spPr>
        <p:txBody>
          <a:bodyPr anchorCtr="0" anchor="t" bIns="45700" lIns="0" spcFirstLastPara="1" rIns="0" wrap="square" tIns="45700">
            <a:noAutofit/>
          </a:bodyPr>
          <a:lstStyle/>
          <a:p>
            <a:pPr indent="0" lvl="1" marL="457200" marR="0" rtl="0" algn="just">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Call-parameter bugs</a:t>
            </a:r>
            <a:endParaRPr/>
          </a:p>
        </p:txBody>
      </p:sp>
      <p:sp>
        <p:nvSpPr>
          <p:cNvPr id="559" name="Google Shape;559;p34"/>
          <p:cNvSpPr txBox="1"/>
          <p:nvPr/>
        </p:nvSpPr>
        <p:spPr>
          <a:xfrm>
            <a:off x="8474243" y="5988573"/>
            <a:ext cx="3249554" cy="429459"/>
          </a:xfrm>
          <a:prstGeom prst="rect">
            <a:avLst/>
          </a:prstGeom>
          <a:noFill/>
          <a:ln>
            <a:noFill/>
          </a:ln>
        </p:spPr>
        <p:txBody>
          <a:bodyPr anchorCtr="0" anchor="t" bIns="45700" lIns="0" spcFirstLastPara="1" rIns="0" wrap="square" tIns="45700">
            <a:noAutofit/>
          </a:bodyPr>
          <a:lstStyle/>
          <a:p>
            <a:pPr indent="0" lvl="1" marL="457200" marR="0" rtl="0" algn="ctr">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a:t>
            </a:r>
            <a:r>
              <a:rPr b="0" i="0" lang="en-US" sz="1400" u="none" cap="none" strike="noStrike">
                <a:solidFill>
                  <a:schemeClr val="dk1"/>
                </a:solidFill>
                <a:latin typeface="Arial"/>
                <a:ea typeface="Arial"/>
                <a:cs typeface="Arial"/>
                <a:sym typeface="Arial"/>
              </a:rPr>
              <a:t> Wrong calling sequence</a:t>
            </a:r>
            <a:endParaRPr/>
          </a:p>
          <a:p>
            <a:pPr indent="0" lvl="1" marL="457200" marR="0" rtl="0" algn="ctr">
              <a:lnSpc>
                <a:spcPct val="90000"/>
              </a:lnSpc>
              <a:spcBef>
                <a:spcPts val="60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p:txBody>
      </p:sp>
      <p:cxnSp>
        <p:nvCxnSpPr>
          <p:cNvPr id="560" name="Google Shape;560;p34"/>
          <p:cNvCxnSpPr/>
          <p:nvPr/>
        </p:nvCxnSpPr>
        <p:spPr>
          <a:xfrm flipH="1" rot="10800000">
            <a:off x="4080294" y="2228775"/>
            <a:ext cx="4932000" cy="1000200"/>
          </a:xfrm>
          <a:prstGeom prst="curvedConnector3">
            <a:avLst>
              <a:gd fmla="val 6740" name="adj1"/>
            </a:avLst>
          </a:prstGeom>
          <a:noFill/>
          <a:ln cap="rnd" cmpd="sng" w="9525">
            <a:solidFill>
              <a:srgbClr val="FF0000"/>
            </a:solidFill>
            <a:prstDash val="solid"/>
            <a:round/>
            <a:headEnd len="sm" w="sm" type="none"/>
            <a:tailEnd len="med" w="med" type="triangle"/>
          </a:ln>
        </p:spPr>
      </p:cxn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5.3 Hardware Architecture</a:t>
            </a:r>
            <a:endParaRPr/>
          </a:p>
        </p:txBody>
      </p:sp>
      <p:sp>
        <p:nvSpPr>
          <p:cNvPr id="567" name="Google Shape;567;p35"/>
          <p:cNvSpPr txBox="1"/>
          <p:nvPr>
            <p:ph idx="1" type="body"/>
          </p:nvPr>
        </p:nvSpPr>
        <p:spPr>
          <a:xfrm>
            <a:off x="1084216" y="1410789"/>
            <a:ext cx="9993087" cy="4924697"/>
          </a:xfrm>
          <a:prstGeom prst="rect">
            <a:avLst/>
          </a:prstGeom>
          <a:noFill/>
          <a:ln>
            <a:noFill/>
          </a:ln>
        </p:spPr>
        <p:txBody>
          <a:bodyPr anchorCtr="0" anchor="t" bIns="45700" lIns="0" spcFirstLastPara="1" rIns="0" wrap="square" tIns="45700">
            <a:noAutofit/>
          </a:bodyPr>
          <a:lstStyle/>
          <a:p>
            <a:pPr indent="-228600" lvl="0" marL="228600" rtl="0" algn="just">
              <a:lnSpc>
                <a:spcPct val="90000"/>
              </a:lnSpc>
              <a:spcBef>
                <a:spcPts val="0"/>
              </a:spcBef>
              <a:spcAft>
                <a:spcPts val="0"/>
              </a:spcAft>
              <a:buClr>
                <a:schemeClr val="dk1"/>
              </a:buClr>
              <a:buSzPts val="2000"/>
              <a:buChar char="▪"/>
            </a:pPr>
            <a:r>
              <a:rPr lang="en-US"/>
              <a:t>A software programmer may not see the hardware layer/architecture</a:t>
            </a:r>
            <a:endParaRPr/>
          </a:p>
          <a:p>
            <a:pPr indent="-228600" lvl="0" marL="228600" rtl="0" algn="just">
              <a:lnSpc>
                <a:spcPct val="90000"/>
              </a:lnSpc>
              <a:spcBef>
                <a:spcPts val="1800"/>
              </a:spcBef>
              <a:spcAft>
                <a:spcPts val="0"/>
              </a:spcAft>
              <a:buClr>
                <a:schemeClr val="dk1"/>
              </a:buClr>
              <a:buSzPts val="2000"/>
              <a:buChar char="▪"/>
            </a:pPr>
            <a:r>
              <a:rPr lang="en-US"/>
              <a:t>Software bugs originating from hardware architecture are due to misunderstanding of how hardware works</a:t>
            </a:r>
            <a:endParaRPr/>
          </a:p>
          <a:p>
            <a:pPr indent="-228600" lvl="0" marL="228600" rtl="0" algn="just">
              <a:lnSpc>
                <a:spcPct val="90000"/>
              </a:lnSpc>
              <a:spcBef>
                <a:spcPts val="1800"/>
              </a:spcBef>
              <a:spcAft>
                <a:spcPts val="0"/>
              </a:spcAft>
              <a:buClr>
                <a:schemeClr val="dk1"/>
              </a:buClr>
              <a:buSzPts val="2000"/>
              <a:buChar char="▪"/>
            </a:pPr>
            <a:r>
              <a:rPr lang="en-US"/>
              <a:t>Hardware bugs include:</a:t>
            </a:r>
            <a:endParaRPr/>
          </a:p>
          <a:p>
            <a:pPr indent="-228600" lvl="1" marL="685800" rtl="0" algn="just">
              <a:lnSpc>
                <a:spcPct val="90000"/>
              </a:lnSpc>
              <a:spcBef>
                <a:spcPts val="600"/>
              </a:spcBef>
              <a:spcAft>
                <a:spcPts val="0"/>
              </a:spcAft>
              <a:buClr>
                <a:schemeClr val="dk1"/>
              </a:buClr>
              <a:buSzPts val="2000"/>
              <a:buChar char="▪"/>
            </a:pPr>
            <a:r>
              <a:rPr lang="en-US" sz="2000"/>
              <a:t>Paging mechanism ignored or misunderstood</a:t>
            </a:r>
            <a:endParaRPr/>
          </a:p>
        </p:txBody>
      </p:sp>
      <p:graphicFrame>
        <p:nvGraphicFramePr>
          <p:cNvPr id="568" name="Google Shape;568;p35"/>
          <p:cNvGraphicFramePr/>
          <p:nvPr/>
        </p:nvGraphicFramePr>
        <p:xfrm>
          <a:off x="7095281" y="2274454"/>
          <a:ext cx="4516282" cy="4168875"/>
        </p:xfrm>
        <a:graphic>
          <a:graphicData uri="http://schemas.openxmlformats.org/presentationml/2006/ole">
            <mc:AlternateContent>
              <mc:Choice Requires="v">
                <p:oleObj r:id="rId4" imgH="4168875" imgW="4516282" progId="Paint.Picture" spid="_x0000_s1">
                  <p:embed/>
                </p:oleObj>
              </mc:Choice>
              <mc:Fallback>
                <p:oleObj r:id="rId5" imgH="4168875" imgW="4516282" progId="Paint.Picture">
                  <p:embed/>
                  <p:pic>
                    <p:nvPicPr>
                      <p:cNvPr id="568" name="Google Shape;568;p35"/>
                      <p:cNvPicPr preferRelativeResize="0"/>
                      <p:nvPr/>
                    </p:nvPicPr>
                    <p:blipFill rotWithShape="1">
                      <a:blip r:embed="rId6">
                        <a:alphaModFix/>
                      </a:blip>
                      <a:srcRect b="0" l="0" r="0" t="0"/>
                      <a:stretch/>
                    </p:blipFill>
                    <p:spPr>
                      <a:xfrm>
                        <a:off x="7095281" y="2274454"/>
                        <a:ext cx="4516282" cy="4168875"/>
                      </a:xfrm>
                      <a:prstGeom prst="rect">
                        <a:avLst/>
                      </a:prstGeom>
                      <a:noFill/>
                      <a:ln>
                        <a:noFill/>
                      </a:ln>
                    </p:spPr>
                  </p:pic>
                </p:oleObj>
              </mc:Fallback>
            </mc:AlternateContent>
          </a:graphicData>
        </a:graphic>
      </p:graphicFrame>
      <p:sp>
        <p:nvSpPr>
          <p:cNvPr id="569" name="Google Shape;569;p3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0" name="Google Shape;570;p35"/>
          <p:cNvSpPr txBox="1"/>
          <p:nvPr/>
        </p:nvSpPr>
        <p:spPr>
          <a:xfrm>
            <a:off x="6618414" y="6573113"/>
            <a:ext cx="5034869" cy="269485"/>
          </a:xfrm>
          <a:prstGeom prst="rect">
            <a:avLst/>
          </a:prstGeom>
          <a:noFill/>
          <a:ln>
            <a:noFill/>
          </a:ln>
        </p:spPr>
        <p:txBody>
          <a:bodyPr anchorCtr="0" anchor="t" bIns="45700" lIns="0" spcFirstLastPara="1" rIns="0" wrap="square" tIns="45700">
            <a:noAutofit/>
          </a:bodyPr>
          <a:lstStyle/>
          <a:p>
            <a:pPr indent="0" lvl="1" marL="457200" marR="0" rtl="0" algn="just">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 </a:t>
            </a:r>
            <a:r>
              <a:rPr b="0" i="0" lang="en-US" sz="1400" u="none" cap="none" strike="noStrike">
                <a:solidFill>
                  <a:schemeClr val="dk1"/>
                </a:solidFill>
                <a:latin typeface="Arial"/>
                <a:ea typeface="Arial"/>
                <a:cs typeface="Arial"/>
                <a:sym typeface="Arial"/>
              </a:rPr>
              <a:t>Paging mechanism ignored or misunderstood</a:t>
            </a:r>
            <a:endParaRPr/>
          </a:p>
          <a:p>
            <a:pPr indent="0" lvl="1" marL="457200" marR="0" rtl="0" algn="just">
              <a:lnSpc>
                <a:spcPct val="90000"/>
              </a:lnSpc>
              <a:spcBef>
                <a:spcPts val="60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p:txBody>
      </p:sp>
      <p:pic>
        <p:nvPicPr>
          <p:cNvPr id="571" name="Google Shape;571;p35"/>
          <p:cNvPicPr preferRelativeResize="0"/>
          <p:nvPr/>
        </p:nvPicPr>
        <p:blipFill rotWithShape="1">
          <a:blip r:embed="rId7">
            <a:alphaModFix/>
          </a:blip>
          <a:srcRect b="0" l="0" r="0" t="0"/>
          <a:stretch/>
        </p:blipFill>
        <p:spPr>
          <a:xfrm>
            <a:off x="1454224" y="3417901"/>
            <a:ext cx="3944015" cy="3155212"/>
          </a:xfrm>
          <a:prstGeom prst="rect">
            <a:avLst/>
          </a:prstGeom>
          <a:noFill/>
          <a:ln>
            <a:noFill/>
          </a:ln>
        </p:spPr>
      </p:pic>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3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5.3 Hardware Architecture</a:t>
            </a:r>
            <a:endParaRPr/>
          </a:p>
        </p:txBody>
      </p:sp>
      <p:sp>
        <p:nvSpPr>
          <p:cNvPr id="578" name="Google Shape;578;p3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Autofit/>
          </a:bodyPr>
          <a:lstStyle/>
          <a:p>
            <a:pPr indent="-228600" lvl="1" marL="685800" rtl="0" algn="just">
              <a:lnSpc>
                <a:spcPct val="90000"/>
              </a:lnSpc>
              <a:spcBef>
                <a:spcPts val="0"/>
              </a:spcBef>
              <a:spcAft>
                <a:spcPts val="0"/>
              </a:spcAft>
              <a:buClr>
                <a:schemeClr val="dk1"/>
              </a:buClr>
              <a:buSzPts val="2000"/>
              <a:buChar char="▪"/>
            </a:pPr>
            <a:r>
              <a:rPr b="1" lang="en-US" sz="2000"/>
              <a:t>Example: </a:t>
            </a:r>
            <a:r>
              <a:rPr lang="en-US" sz="2000"/>
              <a:t>When functionalities of a printer are to be performed, we need to send instructions of a particular job from desktops or laptops. Similarly when functionalities of a mobile device are to be tested, then calls shall be initiated from the handset. It will result in the following types of bugs</a:t>
            </a:r>
            <a:endParaRPr/>
          </a:p>
          <a:p>
            <a:pPr indent="-228600" lvl="2" marL="1143000" rtl="0" algn="just">
              <a:lnSpc>
                <a:spcPct val="90000"/>
              </a:lnSpc>
              <a:spcBef>
                <a:spcPts val="600"/>
              </a:spcBef>
              <a:spcAft>
                <a:spcPts val="0"/>
              </a:spcAft>
              <a:buClr>
                <a:schemeClr val="dk1"/>
              </a:buClr>
              <a:buSzPts val="2000"/>
              <a:buChar char="▪"/>
            </a:pPr>
            <a:r>
              <a:rPr lang="en-US" sz="2000"/>
              <a:t>I/O device instruction or operation error</a:t>
            </a:r>
            <a:endParaRPr/>
          </a:p>
          <a:p>
            <a:pPr indent="-228600" lvl="2" marL="1143000" rtl="0" algn="just">
              <a:lnSpc>
                <a:spcPct val="90000"/>
              </a:lnSpc>
              <a:spcBef>
                <a:spcPts val="600"/>
              </a:spcBef>
              <a:spcAft>
                <a:spcPts val="0"/>
              </a:spcAft>
              <a:buClr>
                <a:schemeClr val="dk1"/>
              </a:buClr>
              <a:buSzPts val="2000"/>
              <a:buChar char="▪"/>
            </a:pPr>
            <a:r>
              <a:rPr lang="en-US" sz="2000"/>
              <a:t>I/O device address error</a:t>
            </a:r>
            <a:endParaRPr/>
          </a:p>
          <a:p>
            <a:pPr indent="-228600" lvl="2" marL="1143000" rtl="0" algn="just">
              <a:lnSpc>
                <a:spcPct val="90000"/>
              </a:lnSpc>
              <a:spcBef>
                <a:spcPts val="600"/>
              </a:spcBef>
              <a:spcAft>
                <a:spcPts val="0"/>
              </a:spcAft>
              <a:buClr>
                <a:schemeClr val="dk1"/>
              </a:buClr>
              <a:buSzPts val="2000"/>
              <a:buChar char="▪"/>
            </a:pPr>
            <a:r>
              <a:rPr lang="en-US" sz="2000"/>
              <a:t>No compatibility among hardware devices</a:t>
            </a:r>
            <a:endParaRPr/>
          </a:p>
          <a:p>
            <a:pPr indent="-228600" lvl="2" marL="1143000" rtl="0" algn="just">
              <a:lnSpc>
                <a:spcPct val="90000"/>
              </a:lnSpc>
              <a:spcBef>
                <a:spcPts val="600"/>
              </a:spcBef>
              <a:spcAft>
                <a:spcPts val="0"/>
              </a:spcAft>
              <a:buClr>
                <a:schemeClr val="dk1"/>
              </a:buClr>
              <a:buSzPts val="2000"/>
              <a:buChar char="▪"/>
            </a:pPr>
            <a:r>
              <a:rPr lang="en-US" sz="2000"/>
              <a:t>Misunderstood device status code</a:t>
            </a:r>
            <a:endParaRPr/>
          </a:p>
          <a:p>
            <a:pPr indent="-228600" lvl="2" marL="1143000" rtl="0" algn="l">
              <a:lnSpc>
                <a:spcPct val="90000"/>
              </a:lnSpc>
              <a:spcBef>
                <a:spcPts val="600"/>
              </a:spcBef>
              <a:spcAft>
                <a:spcPts val="0"/>
              </a:spcAft>
              <a:buClr>
                <a:schemeClr val="dk1"/>
              </a:buClr>
              <a:buSzPts val="2000"/>
              <a:buChar char="▪"/>
            </a:pPr>
            <a:r>
              <a:rPr lang="en-US" sz="2000"/>
              <a:t>Data format wrong for device</a:t>
            </a:r>
            <a:endParaRPr/>
          </a:p>
          <a:p>
            <a:pPr indent="-228600" lvl="2" marL="1143000" rtl="0" algn="l">
              <a:lnSpc>
                <a:spcPct val="90000"/>
              </a:lnSpc>
              <a:spcBef>
                <a:spcPts val="600"/>
              </a:spcBef>
              <a:spcAft>
                <a:spcPts val="0"/>
              </a:spcAft>
              <a:buClr>
                <a:schemeClr val="dk1"/>
              </a:buClr>
              <a:buSzPts val="2000"/>
              <a:buChar char="▪"/>
            </a:pPr>
            <a:r>
              <a:rPr lang="en-US" sz="2000"/>
              <a:t>Device protocol error</a:t>
            </a:r>
            <a:endParaRPr/>
          </a:p>
          <a:p>
            <a:pPr indent="-228600" lvl="2" marL="1143000" rtl="0" algn="l">
              <a:lnSpc>
                <a:spcPct val="90000"/>
              </a:lnSpc>
              <a:spcBef>
                <a:spcPts val="600"/>
              </a:spcBef>
              <a:spcAft>
                <a:spcPts val="0"/>
              </a:spcAft>
              <a:buClr>
                <a:schemeClr val="dk1"/>
              </a:buClr>
              <a:buSzPts val="2000"/>
              <a:buChar char="▪"/>
            </a:pPr>
            <a:r>
              <a:rPr lang="en-US" sz="2000"/>
              <a:t>Expecting the device to respond too quickly</a:t>
            </a:r>
            <a:endParaRPr/>
          </a:p>
          <a:p>
            <a:pPr indent="-228600" lvl="2" marL="1143000" rtl="0" algn="l">
              <a:lnSpc>
                <a:spcPct val="90000"/>
              </a:lnSpc>
              <a:spcBef>
                <a:spcPts val="600"/>
              </a:spcBef>
              <a:spcAft>
                <a:spcPts val="0"/>
              </a:spcAft>
              <a:buClr>
                <a:schemeClr val="dk1"/>
              </a:buClr>
              <a:buSzPts val="2000"/>
              <a:buChar char="▪"/>
            </a:pPr>
            <a:r>
              <a:rPr lang="en-US" sz="2000"/>
              <a:t>Waiting too long for response</a:t>
            </a:r>
            <a:endParaRPr/>
          </a:p>
          <a:p>
            <a:pPr indent="-228600" lvl="2" marL="1143000" rtl="0" algn="l">
              <a:lnSpc>
                <a:spcPct val="90000"/>
              </a:lnSpc>
              <a:spcBef>
                <a:spcPts val="600"/>
              </a:spcBef>
              <a:spcAft>
                <a:spcPts val="0"/>
              </a:spcAft>
              <a:buClr>
                <a:schemeClr val="dk1"/>
              </a:buClr>
              <a:buSzPts val="2000"/>
              <a:buChar char="▪"/>
            </a:pPr>
            <a:r>
              <a:rPr lang="en-US" sz="2000"/>
              <a:t>Assuming that the device is initialized</a:t>
            </a:r>
            <a:endParaRPr/>
          </a:p>
          <a:p>
            <a:pPr indent="-228600" lvl="2" marL="1143000" rtl="0" algn="l">
              <a:lnSpc>
                <a:spcPct val="90000"/>
              </a:lnSpc>
              <a:spcBef>
                <a:spcPts val="600"/>
              </a:spcBef>
              <a:spcAft>
                <a:spcPts val="0"/>
              </a:spcAft>
              <a:buClr>
                <a:schemeClr val="dk1"/>
              </a:buClr>
              <a:buSzPts val="2000"/>
              <a:buChar char="▪"/>
            </a:pPr>
            <a:r>
              <a:rPr lang="en-US" sz="2000"/>
              <a:t>Ignoring hardware fault or error conditions</a:t>
            </a:r>
            <a:endParaRPr/>
          </a:p>
        </p:txBody>
      </p:sp>
      <p:pic>
        <p:nvPicPr>
          <p:cNvPr id="579" name="Google Shape;579;p36"/>
          <p:cNvPicPr preferRelativeResize="0"/>
          <p:nvPr/>
        </p:nvPicPr>
        <p:blipFill rotWithShape="1">
          <a:blip r:embed="rId3">
            <a:alphaModFix/>
          </a:blip>
          <a:srcRect b="0" l="0" r="0" t="0"/>
          <a:stretch/>
        </p:blipFill>
        <p:spPr>
          <a:xfrm>
            <a:off x="7357409" y="2790414"/>
            <a:ext cx="3708459" cy="2904330"/>
          </a:xfrm>
          <a:prstGeom prst="rect">
            <a:avLst/>
          </a:prstGeom>
          <a:noFill/>
          <a:ln>
            <a:noFill/>
          </a:ln>
        </p:spPr>
      </p:pic>
      <p:cxnSp>
        <p:nvCxnSpPr>
          <p:cNvPr id="580" name="Google Shape;580;p36"/>
          <p:cNvCxnSpPr/>
          <p:nvPr/>
        </p:nvCxnSpPr>
        <p:spPr>
          <a:xfrm>
            <a:off x="6065134" y="3993266"/>
            <a:ext cx="1292275" cy="0"/>
          </a:xfrm>
          <a:prstGeom prst="straightConnector1">
            <a:avLst/>
          </a:prstGeom>
          <a:noFill/>
          <a:ln cap="rnd" cmpd="sng" w="9525">
            <a:solidFill>
              <a:srgbClr val="FF0000"/>
            </a:solidFill>
            <a:prstDash val="solid"/>
            <a:round/>
            <a:headEnd len="sm" w="sm" type="none"/>
            <a:tailEnd len="med" w="med" type="triangle"/>
          </a:ln>
        </p:spPr>
      </p:cxnSp>
      <p:sp>
        <p:nvSpPr>
          <p:cNvPr id="581" name="Google Shape;581;p3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2" name="Google Shape;582;p36"/>
          <p:cNvSpPr txBox="1"/>
          <p:nvPr/>
        </p:nvSpPr>
        <p:spPr>
          <a:xfrm>
            <a:off x="6979923" y="5757451"/>
            <a:ext cx="4169457" cy="242887"/>
          </a:xfrm>
          <a:prstGeom prst="rect">
            <a:avLst/>
          </a:prstGeom>
          <a:noFill/>
          <a:ln>
            <a:noFill/>
          </a:ln>
        </p:spPr>
        <p:txBody>
          <a:bodyPr anchorCtr="0" anchor="t" bIns="45700" lIns="0" spcFirstLastPara="1" rIns="0" wrap="square" tIns="45700">
            <a:noAutofit/>
          </a:bodyPr>
          <a:lstStyle/>
          <a:p>
            <a:pPr indent="0" lvl="1" marL="457200" marR="0" rtl="0" algn="just">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 </a:t>
            </a:r>
            <a:r>
              <a:rPr b="0" i="0" lang="en-US" sz="1400" u="none" cap="none" strike="noStrike">
                <a:solidFill>
                  <a:schemeClr val="dk1"/>
                </a:solidFill>
                <a:latin typeface="Arial"/>
                <a:ea typeface="Arial"/>
                <a:cs typeface="Arial"/>
                <a:sym typeface="Arial"/>
              </a:rPr>
              <a:t>Misunderstood device status code</a:t>
            </a:r>
            <a:endParaRPr/>
          </a:p>
          <a:p>
            <a:pPr indent="0" lvl="1" marL="457200" marR="0" rtl="0" algn="just">
              <a:lnSpc>
                <a:spcPct val="90000"/>
              </a:lnSpc>
              <a:spcBef>
                <a:spcPts val="60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3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5.4 Operating System (OS)</a:t>
            </a:r>
            <a:endParaRPr/>
          </a:p>
        </p:txBody>
      </p:sp>
      <p:sp>
        <p:nvSpPr>
          <p:cNvPr id="589" name="Google Shape;589;p37"/>
          <p:cNvSpPr txBox="1"/>
          <p:nvPr>
            <p:ph idx="1" type="body"/>
          </p:nvPr>
        </p:nvSpPr>
        <p:spPr>
          <a:xfrm>
            <a:off x="1097280" y="1600200"/>
            <a:ext cx="9966960" cy="4382589"/>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OS bugs are a combination of hardware architecture and interface bugs</a:t>
            </a:r>
            <a:endParaRPr/>
          </a:p>
          <a:p>
            <a:pPr indent="-228600" lvl="0" marL="228600" rtl="0" algn="just">
              <a:lnSpc>
                <a:spcPct val="90000"/>
              </a:lnSpc>
              <a:spcBef>
                <a:spcPts val="1800"/>
              </a:spcBef>
              <a:spcAft>
                <a:spcPts val="0"/>
              </a:spcAft>
              <a:buClr>
                <a:schemeClr val="dk1"/>
              </a:buClr>
              <a:buSzPts val="2000"/>
              <a:buChar char="▪"/>
            </a:pPr>
            <a:r>
              <a:rPr lang="en-US"/>
              <a:t>Caused by: </a:t>
            </a:r>
            <a:endParaRPr/>
          </a:p>
          <a:p>
            <a:pPr indent="-228600" lvl="1" marL="685800" rtl="0" algn="just">
              <a:lnSpc>
                <a:spcPct val="90000"/>
              </a:lnSpc>
              <a:spcBef>
                <a:spcPts val="600"/>
              </a:spcBef>
              <a:spcAft>
                <a:spcPts val="0"/>
              </a:spcAft>
              <a:buClr>
                <a:schemeClr val="dk1"/>
              </a:buClr>
              <a:buSzPts val="2000"/>
              <a:buChar char="▪"/>
            </a:pPr>
            <a:r>
              <a:rPr lang="en-US" sz="2000"/>
              <a:t>Misunderstanding of hardware architecture &amp; interface by the OS</a:t>
            </a:r>
            <a:endParaRPr/>
          </a:p>
          <a:p>
            <a:pPr indent="-228600" lvl="1" marL="685800" rtl="0" algn="just">
              <a:lnSpc>
                <a:spcPct val="90000"/>
              </a:lnSpc>
              <a:spcBef>
                <a:spcPts val="600"/>
              </a:spcBef>
              <a:spcAft>
                <a:spcPts val="0"/>
              </a:spcAft>
              <a:buClr>
                <a:schemeClr val="dk1"/>
              </a:buClr>
              <a:buSzPts val="2000"/>
              <a:buChar char="▪"/>
            </a:pPr>
            <a:r>
              <a:rPr lang="en-US" sz="2000"/>
              <a:t>Not handling of all hardware issues by the OS</a:t>
            </a:r>
            <a:endParaRPr/>
          </a:p>
          <a:p>
            <a:pPr indent="-228600" lvl="1" marL="685800" rtl="0" algn="just">
              <a:lnSpc>
                <a:spcPct val="90000"/>
              </a:lnSpc>
              <a:spcBef>
                <a:spcPts val="600"/>
              </a:spcBef>
              <a:spcAft>
                <a:spcPts val="0"/>
              </a:spcAft>
              <a:buClr>
                <a:schemeClr val="dk1"/>
              </a:buClr>
              <a:buSzPts val="2000"/>
              <a:buChar char="▪"/>
            </a:pPr>
            <a:r>
              <a:rPr lang="en-US" sz="2000"/>
              <a:t>Bugs in O.S. itself and some corrections may leave quirks</a:t>
            </a:r>
            <a:endParaRPr/>
          </a:p>
          <a:p>
            <a:pPr indent="-228600" lvl="1" marL="685800" rtl="0" algn="just">
              <a:lnSpc>
                <a:spcPct val="90000"/>
              </a:lnSpc>
              <a:spcBef>
                <a:spcPts val="600"/>
              </a:spcBef>
              <a:spcAft>
                <a:spcPts val="0"/>
              </a:spcAft>
              <a:buClr>
                <a:schemeClr val="dk1"/>
              </a:buClr>
              <a:buSzPts val="2000"/>
              <a:buChar char="▪"/>
            </a:pPr>
            <a:r>
              <a:rPr lang="en-US" sz="2000"/>
              <a:t>Missing device drivers because of which interface related bugs may crop up</a:t>
            </a:r>
            <a:endParaRPr/>
          </a:p>
        </p:txBody>
      </p:sp>
      <p:sp>
        <p:nvSpPr>
          <p:cNvPr id="590" name="Google Shape;590;p3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5.5 Software Architecture</a:t>
            </a:r>
            <a:endParaRPr/>
          </a:p>
        </p:txBody>
      </p:sp>
      <p:sp>
        <p:nvSpPr>
          <p:cNvPr id="597" name="Google Shape;597;p3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Autofit/>
          </a:bodyPr>
          <a:lstStyle/>
          <a:p>
            <a:pPr indent="-228600" lvl="0" marL="228600" rtl="0" algn="just">
              <a:lnSpc>
                <a:spcPct val="90000"/>
              </a:lnSpc>
              <a:spcBef>
                <a:spcPts val="0"/>
              </a:spcBef>
              <a:spcAft>
                <a:spcPts val="0"/>
              </a:spcAft>
              <a:buClr>
                <a:schemeClr val="dk1"/>
              </a:buClr>
              <a:buSzPts val="2000"/>
              <a:buChar char="▪"/>
            </a:pPr>
            <a:r>
              <a:rPr lang="en-US"/>
              <a:t>Non-functional requirements may include reliability, efficiency, usability, portability and maintainability.</a:t>
            </a:r>
            <a:endParaRPr/>
          </a:p>
          <a:p>
            <a:pPr indent="-228600" lvl="0" marL="228600" rtl="0" algn="just">
              <a:lnSpc>
                <a:spcPct val="90000"/>
              </a:lnSpc>
              <a:spcBef>
                <a:spcPts val="1800"/>
              </a:spcBef>
              <a:spcAft>
                <a:spcPts val="0"/>
              </a:spcAft>
              <a:buClr>
                <a:schemeClr val="dk1"/>
              </a:buClr>
              <a:buSzPts val="2000"/>
              <a:buChar char="▪"/>
            </a:pPr>
            <a:r>
              <a:rPr lang="en-US"/>
              <a:t>The bugs can be like</a:t>
            </a:r>
            <a:endParaRPr/>
          </a:p>
          <a:p>
            <a:pPr indent="-228600" lvl="1" marL="685800" rtl="0" algn="just">
              <a:lnSpc>
                <a:spcPct val="90000"/>
              </a:lnSpc>
              <a:spcBef>
                <a:spcPts val="600"/>
              </a:spcBef>
              <a:spcAft>
                <a:spcPts val="0"/>
              </a:spcAft>
              <a:buClr>
                <a:schemeClr val="dk1"/>
              </a:buClr>
              <a:buSzPts val="2000"/>
              <a:buChar char="▪"/>
            </a:pPr>
            <a:r>
              <a:rPr lang="en-US" sz="2000"/>
              <a:t>Failure to support required number of users and concurrent users</a:t>
            </a:r>
            <a:endParaRPr/>
          </a:p>
          <a:p>
            <a:pPr indent="-228600" lvl="1" marL="685800" rtl="0" algn="just">
              <a:lnSpc>
                <a:spcPct val="90000"/>
              </a:lnSpc>
              <a:spcBef>
                <a:spcPts val="600"/>
              </a:spcBef>
              <a:spcAft>
                <a:spcPts val="0"/>
              </a:spcAft>
              <a:buClr>
                <a:schemeClr val="dk1"/>
              </a:buClr>
              <a:buSzPts val="2000"/>
              <a:buChar char="▪"/>
            </a:pPr>
            <a:r>
              <a:rPr lang="en-US" sz="2000"/>
              <a:t>Slower response time during peak performance</a:t>
            </a:r>
            <a:endParaRPr/>
          </a:p>
          <a:p>
            <a:pPr indent="-228600" lvl="1" marL="685800" rtl="0" algn="just">
              <a:lnSpc>
                <a:spcPct val="90000"/>
              </a:lnSpc>
              <a:spcBef>
                <a:spcPts val="600"/>
              </a:spcBef>
              <a:spcAft>
                <a:spcPts val="0"/>
              </a:spcAft>
              <a:buClr>
                <a:schemeClr val="dk1"/>
              </a:buClr>
              <a:buSzPts val="2000"/>
              <a:buChar char="▪"/>
            </a:pPr>
            <a:r>
              <a:rPr lang="en-US" sz="2000"/>
              <a:t>Failure to support other languages</a:t>
            </a:r>
            <a:endParaRPr/>
          </a:p>
          <a:p>
            <a:pPr indent="-228600" lvl="0" marL="228600" rtl="0" algn="just">
              <a:lnSpc>
                <a:spcPct val="90000"/>
              </a:lnSpc>
              <a:spcBef>
                <a:spcPts val="1800"/>
              </a:spcBef>
              <a:spcAft>
                <a:spcPts val="0"/>
              </a:spcAft>
              <a:buClr>
                <a:schemeClr val="dk1"/>
              </a:buClr>
              <a:buSzPts val="2000"/>
              <a:buChar char="▪"/>
            </a:pPr>
            <a:r>
              <a:rPr lang="en-US"/>
              <a:t>These bugs are due to</a:t>
            </a:r>
            <a:endParaRPr/>
          </a:p>
          <a:p>
            <a:pPr indent="-228600" lvl="1" marL="685800" rtl="0" algn="just">
              <a:lnSpc>
                <a:spcPct val="90000"/>
              </a:lnSpc>
              <a:spcBef>
                <a:spcPts val="600"/>
              </a:spcBef>
              <a:spcAft>
                <a:spcPts val="0"/>
              </a:spcAft>
              <a:buClr>
                <a:schemeClr val="dk1"/>
              </a:buClr>
              <a:buSzPts val="2000"/>
              <a:buChar char="▪"/>
            </a:pPr>
            <a:r>
              <a:rPr lang="en-US" sz="2000"/>
              <a:t>Assumption that there are no interrupts</a:t>
            </a:r>
            <a:endParaRPr/>
          </a:p>
          <a:p>
            <a:pPr indent="-228600" lvl="1" marL="685800" rtl="0" algn="just">
              <a:lnSpc>
                <a:spcPct val="90000"/>
              </a:lnSpc>
              <a:spcBef>
                <a:spcPts val="600"/>
              </a:spcBef>
              <a:spcAft>
                <a:spcPts val="0"/>
              </a:spcAft>
              <a:buClr>
                <a:schemeClr val="dk1"/>
              </a:buClr>
              <a:buSzPts val="2000"/>
              <a:buChar char="▪"/>
            </a:pPr>
            <a:r>
              <a:rPr lang="en-US" sz="2000"/>
              <a:t>Assumption that code is re-entrant or not re-entrant</a:t>
            </a:r>
            <a:endParaRPr/>
          </a:p>
          <a:p>
            <a:pPr indent="-228600" lvl="1" marL="685800" rtl="0" algn="just">
              <a:lnSpc>
                <a:spcPct val="90000"/>
              </a:lnSpc>
              <a:spcBef>
                <a:spcPts val="600"/>
              </a:spcBef>
              <a:spcAft>
                <a:spcPts val="0"/>
              </a:spcAft>
              <a:buClr>
                <a:schemeClr val="dk1"/>
              </a:buClr>
              <a:buSzPts val="2000"/>
              <a:buChar char="▪"/>
            </a:pPr>
            <a:r>
              <a:rPr lang="en-US" sz="2000"/>
              <a:t>Bypassing data interlocks,  Or, Failure to open an interlock</a:t>
            </a:r>
            <a:endParaRPr/>
          </a:p>
          <a:p>
            <a:pPr indent="-228600" lvl="1" marL="685800" rtl="0" algn="just">
              <a:lnSpc>
                <a:spcPct val="90000"/>
              </a:lnSpc>
              <a:spcBef>
                <a:spcPts val="600"/>
              </a:spcBef>
              <a:spcAft>
                <a:spcPts val="0"/>
              </a:spcAft>
              <a:buClr>
                <a:schemeClr val="dk1"/>
              </a:buClr>
              <a:buSzPts val="2000"/>
              <a:buChar char="▪"/>
            </a:pPr>
            <a:r>
              <a:rPr lang="en-US" sz="2000"/>
              <a:t>Assumption that a called routine is memory resident or not</a:t>
            </a:r>
            <a:endParaRPr/>
          </a:p>
          <a:p>
            <a:pPr indent="-228600" lvl="1" marL="685800" rtl="0" algn="just">
              <a:lnSpc>
                <a:spcPct val="90000"/>
              </a:lnSpc>
              <a:spcBef>
                <a:spcPts val="600"/>
              </a:spcBef>
              <a:spcAft>
                <a:spcPts val="0"/>
              </a:spcAft>
              <a:buClr>
                <a:schemeClr val="dk1"/>
              </a:buClr>
              <a:buSzPts val="2000"/>
              <a:buChar char="▪"/>
            </a:pPr>
            <a:r>
              <a:rPr lang="en-US" sz="2000"/>
              <a:t>Assumption that the registers  and  the memory are initialized</a:t>
            </a:r>
            <a:endParaRPr/>
          </a:p>
          <a:p>
            <a:pPr indent="-228600" lvl="1" marL="685800" rtl="0" algn="just">
              <a:lnSpc>
                <a:spcPct val="90000"/>
              </a:lnSpc>
              <a:spcBef>
                <a:spcPts val="600"/>
              </a:spcBef>
              <a:spcAft>
                <a:spcPts val="0"/>
              </a:spcAft>
              <a:buClr>
                <a:schemeClr val="dk1"/>
              </a:buClr>
              <a:buSzPts val="2000"/>
              <a:buChar char="▪"/>
            </a:pPr>
            <a:r>
              <a:rPr lang="en-US" sz="2000"/>
              <a:t>Local setting of global parameters &amp; Global setting of local parameters</a:t>
            </a:r>
            <a:endParaRPr/>
          </a:p>
        </p:txBody>
      </p:sp>
      <p:graphicFrame>
        <p:nvGraphicFramePr>
          <p:cNvPr id="598" name="Google Shape;598;p38"/>
          <p:cNvGraphicFramePr/>
          <p:nvPr/>
        </p:nvGraphicFramePr>
        <p:xfrm>
          <a:off x="9147270" y="2303361"/>
          <a:ext cx="3044730" cy="3258395"/>
        </p:xfrm>
        <a:graphic>
          <a:graphicData uri="http://schemas.openxmlformats.org/presentationml/2006/ole">
            <mc:AlternateContent>
              <mc:Choice Requires="v">
                <p:oleObj r:id="rId4" imgH="3258395" imgW="3044730" progId="Paint.Picture" spid="_x0000_s1">
                  <p:embed/>
                </p:oleObj>
              </mc:Choice>
              <mc:Fallback>
                <p:oleObj r:id="rId5" imgH="3258395" imgW="3044730" progId="Paint.Picture">
                  <p:embed/>
                  <p:pic>
                    <p:nvPicPr>
                      <p:cNvPr id="598" name="Google Shape;598;p38"/>
                      <p:cNvPicPr preferRelativeResize="0"/>
                      <p:nvPr/>
                    </p:nvPicPr>
                    <p:blipFill rotWithShape="1">
                      <a:blip r:embed="rId6">
                        <a:alphaModFix/>
                      </a:blip>
                      <a:srcRect b="0" l="0" r="0" t="0"/>
                      <a:stretch/>
                    </p:blipFill>
                    <p:spPr>
                      <a:xfrm>
                        <a:off x="9147270" y="2303361"/>
                        <a:ext cx="3044730" cy="3258395"/>
                      </a:xfrm>
                      <a:prstGeom prst="rect">
                        <a:avLst/>
                      </a:prstGeom>
                      <a:noFill/>
                      <a:ln>
                        <a:noFill/>
                      </a:ln>
                    </p:spPr>
                  </p:pic>
                </p:oleObj>
              </mc:Fallback>
            </mc:AlternateContent>
          </a:graphicData>
        </a:graphic>
      </p:graphicFrame>
      <p:sp>
        <p:nvSpPr>
          <p:cNvPr id="599" name="Google Shape;599;p3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0" name="Google Shape;600;p38"/>
          <p:cNvSpPr txBox="1"/>
          <p:nvPr/>
        </p:nvSpPr>
        <p:spPr>
          <a:xfrm>
            <a:off x="8913354" y="5607473"/>
            <a:ext cx="3044730" cy="519010"/>
          </a:xfrm>
          <a:prstGeom prst="rect">
            <a:avLst/>
          </a:prstGeom>
          <a:noFill/>
          <a:ln>
            <a:noFill/>
          </a:ln>
        </p:spPr>
        <p:txBody>
          <a:bodyPr anchorCtr="0" anchor="t" bIns="45700" lIns="0" spcFirstLastPara="1" rIns="0" wrap="square" tIns="45700">
            <a:noAutofit/>
          </a:bodyPr>
          <a:lstStyle/>
          <a:p>
            <a:pPr indent="0" lvl="1" marL="457200" marR="0" rtl="0" algn="just">
              <a:lnSpc>
                <a:spcPct val="90000"/>
              </a:lnSpc>
              <a:spcBef>
                <a:spcPts val="0"/>
              </a:spcBef>
              <a:spcAft>
                <a:spcPts val="0"/>
              </a:spcAft>
              <a:buClr>
                <a:schemeClr val="dk1"/>
              </a:buClr>
              <a:buSzPts val="1400"/>
              <a:buFont typeface="Noto Sans Symbols"/>
              <a:buNone/>
            </a:pPr>
            <a:r>
              <a:rPr b="1" i="0" lang="en-US" sz="1400" u="none" cap="none" strike="noStrike">
                <a:solidFill>
                  <a:schemeClr val="dk1"/>
                </a:solidFill>
                <a:latin typeface="Arial"/>
                <a:ea typeface="Arial"/>
                <a:cs typeface="Arial"/>
                <a:sym typeface="Arial"/>
              </a:rPr>
              <a:t>Example: </a:t>
            </a:r>
            <a:r>
              <a:rPr b="0" i="0" lang="en-US" sz="1400" u="none" cap="none" strike="noStrike">
                <a:solidFill>
                  <a:schemeClr val="dk1"/>
                </a:solidFill>
                <a:latin typeface="Arial"/>
                <a:ea typeface="Arial"/>
                <a:cs typeface="Arial"/>
                <a:sym typeface="Arial"/>
              </a:rPr>
              <a:t>Assumption that code is re-entrant or not re-entrant</a:t>
            </a:r>
            <a:endParaRPr/>
          </a:p>
          <a:p>
            <a:pPr indent="0" lvl="1" marL="457200" marR="0" rtl="0" algn="just">
              <a:lnSpc>
                <a:spcPct val="90000"/>
              </a:lnSpc>
              <a:spcBef>
                <a:spcPts val="60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p:txBody>
      </p:sp>
      <p:cxnSp>
        <p:nvCxnSpPr>
          <p:cNvPr id="601" name="Google Shape;601;p38"/>
          <p:cNvCxnSpPr/>
          <p:nvPr/>
        </p:nvCxnSpPr>
        <p:spPr>
          <a:xfrm>
            <a:off x="7517219" y="4816549"/>
            <a:ext cx="1630051" cy="31898"/>
          </a:xfrm>
          <a:prstGeom prst="straightConnector1">
            <a:avLst/>
          </a:prstGeom>
          <a:noFill/>
          <a:ln cap="rnd" cmpd="sng" w="9525">
            <a:solidFill>
              <a:srgbClr val="FF0000"/>
            </a:solidFill>
            <a:prstDash val="solid"/>
            <a:round/>
            <a:headEnd len="sm" w="sm" type="none"/>
            <a:tailEnd len="med" w="med" type="triangle"/>
          </a:ln>
        </p:spPr>
      </p:cxn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5.6 Control and Sequence Bugs</a:t>
            </a:r>
            <a:endParaRPr/>
          </a:p>
        </p:txBody>
      </p:sp>
      <p:sp>
        <p:nvSpPr>
          <p:cNvPr id="607" name="Google Shape;607;p39"/>
          <p:cNvSpPr txBox="1"/>
          <p:nvPr>
            <p:ph idx="1" type="body"/>
          </p:nvPr>
        </p:nvSpPr>
        <p:spPr>
          <a:xfrm>
            <a:off x="1097280" y="1423850"/>
            <a:ext cx="9993086" cy="4754881"/>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These include:</a:t>
            </a:r>
            <a:endParaRPr/>
          </a:p>
          <a:p>
            <a:pPr indent="-228600" lvl="1" marL="685800" rtl="0" algn="just">
              <a:lnSpc>
                <a:spcPct val="90000"/>
              </a:lnSpc>
              <a:spcBef>
                <a:spcPts val="600"/>
              </a:spcBef>
              <a:spcAft>
                <a:spcPts val="0"/>
              </a:spcAft>
              <a:buClr>
                <a:schemeClr val="dk1"/>
              </a:buClr>
              <a:buSzPts val="2000"/>
              <a:buChar char="▪"/>
            </a:pPr>
            <a:r>
              <a:rPr lang="en-US" sz="2000"/>
              <a:t>Failure of execution of events in a required sequence</a:t>
            </a:r>
            <a:endParaRPr/>
          </a:p>
          <a:p>
            <a:pPr indent="-228600" lvl="1" marL="685800" rtl="0" algn="just">
              <a:lnSpc>
                <a:spcPct val="90000"/>
              </a:lnSpc>
              <a:spcBef>
                <a:spcPts val="600"/>
              </a:spcBef>
              <a:spcAft>
                <a:spcPts val="0"/>
              </a:spcAft>
              <a:buClr>
                <a:schemeClr val="dk1"/>
              </a:buClr>
              <a:buSzPts val="2000"/>
              <a:buChar char="▪"/>
            </a:pPr>
            <a:r>
              <a:rPr lang="en-US" sz="2000"/>
              <a:t>No activation of any event at the required time</a:t>
            </a:r>
            <a:endParaRPr/>
          </a:p>
          <a:p>
            <a:pPr indent="-228600" lvl="1" marL="685800" rtl="0" algn="just">
              <a:lnSpc>
                <a:spcPct val="90000"/>
              </a:lnSpc>
              <a:spcBef>
                <a:spcPts val="600"/>
              </a:spcBef>
              <a:spcAft>
                <a:spcPts val="0"/>
              </a:spcAft>
              <a:buClr>
                <a:schemeClr val="dk1"/>
              </a:buClr>
              <a:buSzPts val="2000"/>
              <a:buChar char="▪"/>
            </a:pPr>
            <a:r>
              <a:rPr lang="en-US" sz="2000"/>
              <a:t>Assumption that events occur in a specified sequence</a:t>
            </a:r>
            <a:endParaRPr/>
          </a:p>
          <a:p>
            <a:pPr indent="-228600" lvl="1" marL="685800" rtl="0" algn="just">
              <a:lnSpc>
                <a:spcPct val="90000"/>
              </a:lnSpc>
              <a:spcBef>
                <a:spcPts val="600"/>
              </a:spcBef>
              <a:spcAft>
                <a:spcPts val="0"/>
              </a:spcAft>
              <a:buClr>
                <a:schemeClr val="dk1"/>
              </a:buClr>
              <a:buSzPts val="2000"/>
              <a:buChar char="▪"/>
            </a:pPr>
            <a:r>
              <a:rPr lang="en-US" sz="2000"/>
              <a:t>Process initiation even when prerequisites are not fulfilled</a:t>
            </a:r>
            <a:endParaRPr/>
          </a:p>
          <a:p>
            <a:pPr indent="-228600" lvl="1" marL="685800" rtl="0" algn="just">
              <a:lnSpc>
                <a:spcPct val="90000"/>
              </a:lnSpc>
              <a:spcBef>
                <a:spcPts val="600"/>
              </a:spcBef>
              <a:spcAft>
                <a:spcPts val="0"/>
              </a:spcAft>
              <a:buClr>
                <a:schemeClr val="dk1"/>
              </a:buClr>
              <a:buSzPts val="2000"/>
              <a:buChar char="▪"/>
            </a:pPr>
            <a:r>
              <a:rPr lang="en-US" sz="2000"/>
              <a:t>Waiting for an impossible combination of prerequisites</a:t>
            </a:r>
            <a:endParaRPr/>
          </a:p>
          <a:p>
            <a:pPr indent="-228600" lvl="1" marL="685800" rtl="0" algn="just">
              <a:lnSpc>
                <a:spcPct val="90000"/>
              </a:lnSpc>
              <a:spcBef>
                <a:spcPts val="600"/>
              </a:spcBef>
              <a:spcAft>
                <a:spcPts val="0"/>
              </a:spcAft>
              <a:buClr>
                <a:schemeClr val="dk1"/>
              </a:buClr>
              <a:buSzPts val="2000"/>
              <a:buChar char="▪"/>
            </a:pPr>
            <a:r>
              <a:rPr lang="en-US" sz="2000"/>
              <a:t>No activation even when prerequisites are satisfied</a:t>
            </a:r>
            <a:endParaRPr/>
          </a:p>
          <a:p>
            <a:pPr indent="-228600" lvl="1" marL="685800" rtl="0" algn="just">
              <a:lnSpc>
                <a:spcPct val="90000"/>
              </a:lnSpc>
              <a:spcBef>
                <a:spcPts val="600"/>
              </a:spcBef>
              <a:spcAft>
                <a:spcPts val="0"/>
              </a:spcAft>
              <a:buClr>
                <a:schemeClr val="dk1"/>
              </a:buClr>
              <a:buSzPts val="2000"/>
              <a:buChar char="▪"/>
            </a:pPr>
            <a:r>
              <a:rPr lang="en-US" sz="2000"/>
              <a:t>Specifying wrong priority, Program state or processing level</a:t>
            </a:r>
            <a:endParaRPr/>
          </a:p>
          <a:p>
            <a:pPr indent="-228600" lvl="1" marL="685800" rtl="0" algn="just">
              <a:lnSpc>
                <a:spcPct val="90000"/>
              </a:lnSpc>
              <a:spcBef>
                <a:spcPts val="600"/>
              </a:spcBef>
              <a:spcAft>
                <a:spcPts val="0"/>
              </a:spcAft>
              <a:buClr>
                <a:schemeClr val="dk1"/>
              </a:buClr>
              <a:buSzPts val="2000"/>
              <a:buChar char="▪"/>
            </a:pPr>
            <a:r>
              <a:rPr lang="en-US" sz="2000"/>
              <a:t>Missing, wrong, redundant, or superfluous process steps</a:t>
            </a:r>
            <a:endParaRPr/>
          </a:p>
          <a:p>
            <a:pPr indent="-228600" lvl="0" marL="228600" rtl="0" algn="l">
              <a:lnSpc>
                <a:spcPct val="90000"/>
              </a:lnSpc>
              <a:spcBef>
                <a:spcPts val="1800"/>
              </a:spcBef>
              <a:spcAft>
                <a:spcPts val="0"/>
              </a:spcAft>
              <a:buClr>
                <a:schemeClr val="dk1"/>
              </a:buClr>
              <a:buSzPts val="2000"/>
              <a:buChar char="▪"/>
            </a:pPr>
            <a:r>
              <a:rPr lang="en-US"/>
              <a:t>In these systems most of the bugs are related to synchronization</a:t>
            </a:r>
            <a:endParaRPr/>
          </a:p>
          <a:p>
            <a:pPr indent="-228600" lvl="0" marL="228600" rtl="0" algn="l">
              <a:lnSpc>
                <a:spcPct val="90000"/>
              </a:lnSpc>
              <a:spcBef>
                <a:spcPts val="1800"/>
              </a:spcBef>
              <a:spcAft>
                <a:spcPts val="0"/>
              </a:spcAft>
              <a:buClr>
                <a:schemeClr val="dk1"/>
              </a:buClr>
              <a:buSzPts val="2000"/>
              <a:buChar char="▪"/>
            </a:pPr>
            <a:r>
              <a:rPr lang="en-US"/>
              <a:t>These bugs are hard to find</a:t>
            </a:r>
            <a:endParaRPr/>
          </a:p>
        </p:txBody>
      </p:sp>
      <p:sp>
        <p:nvSpPr>
          <p:cNvPr id="608" name="Google Shape;608;p3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5.7 Resource Management Problems</a:t>
            </a:r>
            <a:endParaRPr/>
          </a:p>
        </p:txBody>
      </p:sp>
      <p:sp>
        <p:nvSpPr>
          <p:cNvPr id="615" name="Google Shape;615;p40"/>
          <p:cNvSpPr txBox="1"/>
          <p:nvPr>
            <p:ph idx="1" type="body"/>
          </p:nvPr>
        </p:nvSpPr>
        <p:spPr>
          <a:xfrm>
            <a:off x="1110343" y="1443444"/>
            <a:ext cx="9993086" cy="4865916"/>
          </a:xfrm>
          <a:prstGeom prst="rect">
            <a:avLst/>
          </a:prstGeom>
          <a:noFill/>
          <a:ln>
            <a:noFill/>
          </a:ln>
        </p:spPr>
        <p:txBody>
          <a:bodyPr anchorCtr="0" anchor="t" bIns="45700" lIns="0" spcFirstLastPara="1" rIns="0" wrap="square" tIns="45700">
            <a:normAutofit lnSpcReduction="10000"/>
          </a:bodyPr>
          <a:lstStyle/>
          <a:p>
            <a:pPr indent="-228600" lvl="0" marL="228600" rtl="0" algn="just">
              <a:lnSpc>
                <a:spcPct val="90000"/>
              </a:lnSpc>
              <a:spcBef>
                <a:spcPts val="0"/>
              </a:spcBef>
              <a:spcAft>
                <a:spcPts val="0"/>
              </a:spcAft>
              <a:buClr>
                <a:schemeClr val="dk1"/>
              </a:buClr>
              <a:buSzPts val="2000"/>
              <a:buChar char="▪"/>
            </a:pPr>
            <a:r>
              <a:rPr lang="en-US"/>
              <a:t>Resources include:</a:t>
            </a:r>
            <a:endParaRPr/>
          </a:p>
          <a:p>
            <a:pPr indent="-228600" lvl="1" marL="685800" rtl="0" algn="just">
              <a:lnSpc>
                <a:spcPct val="90000"/>
              </a:lnSpc>
              <a:spcBef>
                <a:spcPts val="600"/>
              </a:spcBef>
              <a:spcAft>
                <a:spcPts val="0"/>
              </a:spcAft>
              <a:buClr>
                <a:schemeClr val="dk1"/>
              </a:buClr>
              <a:buSzPts val="2000"/>
              <a:buChar char="▪"/>
            </a:pPr>
            <a:r>
              <a:rPr b="1" lang="en-US" sz="2000"/>
              <a:t>Internal: </a:t>
            </a:r>
            <a:r>
              <a:rPr lang="en-US" sz="2000"/>
              <a:t>Memory buffers, queue blocks, task control blocks, registers</a:t>
            </a:r>
            <a:endParaRPr/>
          </a:p>
          <a:p>
            <a:pPr indent="-228600" lvl="1" marL="685800" rtl="0" algn="just">
              <a:lnSpc>
                <a:spcPct val="90000"/>
              </a:lnSpc>
              <a:spcBef>
                <a:spcPts val="600"/>
              </a:spcBef>
              <a:spcAft>
                <a:spcPts val="0"/>
              </a:spcAft>
              <a:buClr>
                <a:schemeClr val="dk1"/>
              </a:buClr>
              <a:buSzPts val="2000"/>
              <a:buChar char="▪"/>
            </a:pPr>
            <a:r>
              <a:rPr b="1" lang="en-US" sz="2000"/>
              <a:t>External: </a:t>
            </a:r>
            <a:r>
              <a:rPr lang="en-US" sz="2000"/>
              <a:t>discs</a:t>
            </a:r>
            <a:endParaRPr/>
          </a:p>
          <a:p>
            <a:pPr indent="-228600" lvl="0" marL="228600" rtl="0" algn="just">
              <a:lnSpc>
                <a:spcPct val="90000"/>
              </a:lnSpc>
              <a:spcBef>
                <a:spcPts val="1800"/>
              </a:spcBef>
              <a:spcAft>
                <a:spcPts val="0"/>
              </a:spcAft>
              <a:buClr>
                <a:schemeClr val="dk1"/>
              </a:buClr>
              <a:buSzPts val="2000"/>
              <a:buChar char="▪"/>
            </a:pPr>
            <a:r>
              <a:rPr lang="en-US"/>
              <a:t>These bugs are due to</a:t>
            </a:r>
            <a:endParaRPr/>
          </a:p>
          <a:p>
            <a:pPr indent="-228600" lvl="1" marL="685800" rtl="0" algn="just">
              <a:lnSpc>
                <a:spcPct val="90000"/>
              </a:lnSpc>
              <a:spcBef>
                <a:spcPts val="600"/>
              </a:spcBef>
              <a:spcAft>
                <a:spcPts val="0"/>
              </a:spcAft>
              <a:buClr>
                <a:schemeClr val="dk1"/>
              </a:buClr>
              <a:buSzPts val="2000"/>
              <a:buChar char="▪"/>
            </a:pPr>
            <a:r>
              <a:rPr lang="en-US" sz="2000"/>
              <a:t>Unavailability of required resources</a:t>
            </a:r>
            <a:endParaRPr/>
          </a:p>
          <a:p>
            <a:pPr indent="-228600" lvl="1" marL="685800" rtl="0" algn="just">
              <a:lnSpc>
                <a:spcPct val="90000"/>
              </a:lnSpc>
              <a:spcBef>
                <a:spcPts val="600"/>
              </a:spcBef>
              <a:spcAft>
                <a:spcPts val="0"/>
              </a:spcAft>
              <a:buClr>
                <a:schemeClr val="dk1"/>
              </a:buClr>
              <a:buSzPts val="2000"/>
              <a:buChar char="▪"/>
            </a:pPr>
            <a:r>
              <a:rPr lang="en-US" sz="2000"/>
              <a:t>Wrong resource used </a:t>
            </a:r>
            <a:endParaRPr/>
          </a:p>
          <a:p>
            <a:pPr indent="-228600" lvl="1" marL="685800" rtl="0" algn="just">
              <a:lnSpc>
                <a:spcPct val="90000"/>
              </a:lnSpc>
              <a:spcBef>
                <a:spcPts val="600"/>
              </a:spcBef>
              <a:spcAft>
                <a:spcPts val="0"/>
              </a:spcAft>
              <a:buClr>
                <a:schemeClr val="dk1"/>
              </a:buClr>
              <a:buSzPts val="2000"/>
              <a:buChar char="▪"/>
            </a:pPr>
            <a:r>
              <a:rPr lang="en-US" sz="2000"/>
              <a:t>Resource already in use, or deadlock</a:t>
            </a:r>
            <a:endParaRPr/>
          </a:p>
          <a:p>
            <a:pPr indent="-228600" lvl="1" marL="685800" rtl="0" algn="just">
              <a:lnSpc>
                <a:spcPct val="90000"/>
              </a:lnSpc>
              <a:spcBef>
                <a:spcPts val="600"/>
              </a:spcBef>
              <a:spcAft>
                <a:spcPts val="0"/>
              </a:spcAft>
              <a:buClr>
                <a:schemeClr val="dk1"/>
              </a:buClr>
              <a:buSzPts val="2000"/>
              <a:buChar char="▪"/>
            </a:pPr>
            <a:r>
              <a:rPr lang="en-US" sz="2000"/>
              <a:t>Race conditions in getting resources</a:t>
            </a:r>
            <a:endParaRPr/>
          </a:p>
          <a:p>
            <a:pPr indent="-228600" lvl="1" marL="685800" rtl="0" algn="just">
              <a:lnSpc>
                <a:spcPct val="90000"/>
              </a:lnSpc>
              <a:spcBef>
                <a:spcPts val="600"/>
              </a:spcBef>
              <a:spcAft>
                <a:spcPts val="0"/>
              </a:spcAft>
              <a:buClr>
                <a:schemeClr val="dk1"/>
              </a:buClr>
              <a:buSzPts val="2000"/>
              <a:buChar char="▪"/>
            </a:pPr>
            <a:r>
              <a:rPr lang="en-US" sz="2000"/>
              <a:t>Resource not returned to the right pool, Failure to return a resource. Resource use forbidden to the caller.</a:t>
            </a:r>
            <a:endParaRPr/>
          </a:p>
          <a:p>
            <a:pPr indent="-228600" lvl="1" marL="685800" rtl="0" algn="just">
              <a:lnSpc>
                <a:spcPct val="90000"/>
              </a:lnSpc>
              <a:spcBef>
                <a:spcPts val="600"/>
              </a:spcBef>
              <a:spcAft>
                <a:spcPts val="0"/>
              </a:spcAft>
              <a:buClr>
                <a:schemeClr val="dk1"/>
              </a:buClr>
              <a:buSzPts val="2000"/>
              <a:buChar char="▪"/>
            </a:pPr>
            <a:r>
              <a:rPr lang="en-US" sz="2000"/>
              <a:t>Unavailability of required server</a:t>
            </a:r>
            <a:endParaRPr/>
          </a:p>
          <a:p>
            <a:pPr indent="-228600" lvl="1" marL="685800" rtl="0" algn="just">
              <a:lnSpc>
                <a:spcPct val="90000"/>
              </a:lnSpc>
              <a:spcBef>
                <a:spcPts val="600"/>
              </a:spcBef>
              <a:spcAft>
                <a:spcPts val="0"/>
              </a:spcAft>
              <a:buClr>
                <a:schemeClr val="dk1"/>
              </a:buClr>
              <a:buSzPts val="2000"/>
              <a:buChar char="▪"/>
            </a:pPr>
            <a:r>
              <a:rPr lang="en-US" sz="2000"/>
              <a:t>Unavailability of required bandwidth</a:t>
            </a:r>
            <a:endParaRPr/>
          </a:p>
          <a:p>
            <a:pPr indent="-228600" lvl="1" marL="685800" rtl="0" algn="just">
              <a:lnSpc>
                <a:spcPct val="90000"/>
              </a:lnSpc>
              <a:spcBef>
                <a:spcPts val="600"/>
              </a:spcBef>
              <a:spcAft>
                <a:spcPts val="0"/>
              </a:spcAft>
              <a:buClr>
                <a:schemeClr val="dk1"/>
              </a:buClr>
              <a:buSzPts val="2000"/>
              <a:buChar char="▪"/>
            </a:pPr>
            <a:r>
              <a:rPr lang="en-US" sz="2000"/>
              <a:t>Link failure</a:t>
            </a:r>
            <a:endParaRPr/>
          </a:p>
          <a:p>
            <a:pPr indent="-228600" lvl="1" marL="685800" rtl="0" algn="just">
              <a:lnSpc>
                <a:spcPct val="90000"/>
              </a:lnSpc>
              <a:spcBef>
                <a:spcPts val="600"/>
              </a:spcBef>
              <a:spcAft>
                <a:spcPts val="0"/>
              </a:spcAft>
              <a:buClr>
                <a:schemeClr val="dk1"/>
              </a:buClr>
              <a:buSzPts val="2000"/>
              <a:buChar char="▪"/>
            </a:pPr>
            <a:r>
              <a:rPr lang="en-US" sz="2000"/>
              <a:t>Denied access to server</a:t>
            </a:r>
            <a:endParaRPr/>
          </a:p>
        </p:txBody>
      </p:sp>
      <p:sp>
        <p:nvSpPr>
          <p:cNvPr id="616" name="Google Shape;616;p4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4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5.8 Integration Bugs</a:t>
            </a:r>
            <a:endParaRPr/>
          </a:p>
        </p:txBody>
      </p:sp>
      <p:sp>
        <p:nvSpPr>
          <p:cNvPr id="623" name="Google Shape;623;p41"/>
          <p:cNvSpPr txBox="1"/>
          <p:nvPr>
            <p:ph idx="1" type="body"/>
          </p:nvPr>
        </p:nvSpPr>
        <p:spPr>
          <a:xfrm>
            <a:off x="1110343" y="1478282"/>
            <a:ext cx="9980024" cy="4778827"/>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Are detected late in the SDLC and cause changes in several components and hence are very costly</a:t>
            </a:r>
            <a:endParaRPr/>
          </a:p>
          <a:p>
            <a:pPr indent="-228600" lvl="0" marL="228600" rtl="0" algn="just">
              <a:lnSpc>
                <a:spcPct val="90000"/>
              </a:lnSpc>
              <a:spcBef>
                <a:spcPts val="1800"/>
              </a:spcBef>
              <a:spcAft>
                <a:spcPts val="0"/>
              </a:spcAft>
              <a:buClr>
                <a:schemeClr val="dk1"/>
              </a:buClr>
              <a:buSzPts val="2000"/>
              <a:buChar char="▪"/>
            </a:pPr>
            <a:r>
              <a:rPr lang="en-US"/>
              <a:t>These bugs are due to:</a:t>
            </a:r>
            <a:endParaRPr/>
          </a:p>
          <a:p>
            <a:pPr indent="-228600" lvl="1" marL="685800" rtl="0" algn="just">
              <a:lnSpc>
                <a:spcPct val="90000"/>
              </a:lnSpc>
              <a:spcBef>
                <a:spcPts val="600"/>
              </a:spcBef>
              <a:spcAft>
                <a:spcPts val="0"/>
              </a:spcAft>
              <a:buClr>
                <a:schemeClr val="dk1"/>
              </a:buClr>
              <a:buSzPts val="2000"/>
              <a:buChar char="▪"/>
            </a:pPr>
            <a:r>
              <a:rPr lang="en-US" sz="2000"/>
              <a:t>Inconsistencies or incompatibilities between components.</a:t>
            </a:r>
            <a:endParaRPr/>
          </a:p>
          <a:p>
            <a:pPr indent="-228600" lvl="1" marL="685800" rtl="0" algn="just">
              <a:lnSpc>
                <a:spcPct val="90000"/>
              </a:lnSpc>
              <a:spcBef>
                <a:spcPts val="600"/>
              </a:spcBef>
              <a:spcAft>
                <a:spcPts val="0"/>
              </a:spcAft>
              <a:buClr>
                <a:schemeClr val="dk1"/>
              </a:buClr>
              <a:buSzPts val="2000"/>
              <a:buChar char="▪"/>
            </a:pPr>
            <a:r>
              <a:rPr lang="en-US" sz="2000"/>
              <a:t>Error in a method used to directly or indirectly transfer data between components. </a:t>
            </a:r>
            <a:endParaRPr/>
          </a:p>
          <a:p>
            <a:pPr indent="-228600" lvl="0" marL="228600" rtl="0" algn="just">
              <a:lnSpc>
                <a:spcPct val="90000"/>
              </a:lnSpc>
              <a:spcBef>
                <a:spcPts val="1800"/>
              </a:spcBef>
              <a:spcAft>
                <a:spcPts val="0"/>
              </a:spcAft>
              <a:buClr>
                <a:schemeClr val="dk1"/>
              </a:buClr>
              <a:buSzPts val="2000"/>
              <a:buChar char="▪"/>
            </a:pPr>
            <a:r>
              <a:rPr lang="en-US"/>
              <a:t>Some communication methods are:    </a:t>
            </a:r>
            <a:endParaRPr/>
          </a:p>
          <a:p>
            <a:pPr indent="-228600" lvl="2" marL="1143000" rtl="0" algn="just">
              <a:lnSpc>
                <a:spcPct val="90000"/>
              </a:lnSpc>
              <a:spcBef>
                <a:spcPts val="600"/>
              </a:spcBef>
              <a:spcAft>
                <a:spcPts val="0"/>
              </a:spcAft>
              <a:buClr>
                <a:schemeClr val="dk1"/>
              </a:buClr>
              <a:buSzPts val="2000"/>
              <a:buChar char="▪"/>
            </a:pPr>
            <a:r>
              <a:rPr lang="en-US" sz="2000"/>
              <a:t>Data structures</a:t>
            </a:r>
            <a:endParaRPr/>
          </a:p>
          <a:p>
            <a:pPr indent="-228600" lvl="2" marL="1143000" rtl="0" algn="just">
              <a:lnSpc>
                <a:spcPct val="90000"/>
              </a:lnSpc>
              <a:spcBef>
                <a:spcPts val="600"/>
              </a:spcBef>
              <a:spcAft>
                <a:spcPts val="0"/>
              </a:spcAft>
              <a:buClr>
                <a:schemeClr val="dk1"/>
              </a:buClr>
              <a:buSzPts val="2000"/>
              <a:buChar char="▪"/>
            </a:pPr>
            <a:r>
              <a:rPr lang="en-US" sz="2000"/>
              <a:t>Call sequences</a:t>
            </a:r>
            <a:endParaRPr/>
          </a:p>
          <a:p>
            <a:pPr indent="-228600" lvl="2" marL="1143000" rtl="0" algn="just">
              <a:lnSpc>
                <a:spcPct val="90000"/>
              </a:lnSpc>
              <a:spcBef>
                <a:spcPts val="600"/>
              </a:spcBef>
              <a:spcAft>
                <a:spcPts val="0"/>
              </a:spcAft>
              <a:buClr>
                <a:schemeClr val="dk1"/>
              </a:buClr>
              <a:buSzPts val="2000"/>
              <a:buChar char="▪"/>
            </a:pPr>
            <a:r>
              <a:rPr lang="en-US" sz="2000"/>
              <a:t>Registers</a:t>
            </a:r>
            <a:endParaRPr/>
          </a:p>
          <a:p>
            <a:pPr indent="-228600" lvl="2" marL="1143000" rtl="0" algn="just">
              <a:lnSpc>
                <a:spcPct val="90000"/>
              </a:lnSpc>
              <a:spcBef>
                <a:spcPts val="600"/>
              </a:spcBef>
              <a:spcAft>
                <a:spcPts val="0"/>
              </a:spcAft>
              <a:buClr>
                <a:schemeClr val="dk1"/>
              </a:buClr>
              <a:buSzPts val="2000"/>
              <a:buChar char="▪"/>
            </a:pPr>
            <a:r>
              <a:rPr lang="en-US" sz="2000"/>
              <a:t>Network Communication links</a:t>
            </a:r>
            <a:endParaRPr/>
          </a:p>
          <a:p>
            <a:pPr indent="-228600" lvl="2" marL="1143000" rtl="0" algn="just">
              <a:lnSpc>
                <a:spcPct val="90000"/>
              </a:lnSpc>
              <a:spcBef>
                <a:spcPts val="600"/>
              </a:spcBef>
              <a:spcAft>
                <a:spcPts val="0"/>
              </a:spcAft>
              <a:buClr>
                <a:schemeClr val="dk1"/>
              </a:buClr>
              <a:buSzPts val="2000"/>
              <a:buChar char="▪"/>
            </a:pPr>
            <a:r>
              <a:rPr lang="en-US" sz="2000"/>
              <a:t>Protocols etc</a:t>
            </a:r>
            <a:endParaRPr/>
          </a:p>
          <a:p>
            <a:pPr indent="-127000" lvl="1" marL="685800" rtl="0" algn="l">
              <a:lnSpc>
                <a:spcPct val="90000"/>
              </a:lnSpc>
              <a:spcBef>
                <a:spcPts val="600"/>
              </a:spcBef>
              <a:spcAft>
                <a:spcPts val="0"/>
              </a:spcAft>
              <a:buClr>
                <a:schemeClr val="dk1"/>
              </a:buClr>
              <a:buSzPts val="1600"/>
              <a:buNone/>
            </a:pPr>
            <a:r>
              <a:t/>
            </a:r>
            <a:endParaRPr/>
          </a:p>
          <a:p>
            <a:pPr indent="-228600" lvl="0" marL="228600" rtl="0" algn="l">
              <a:lnSpc>
                <a:spcPct val="90000"/>
              </a:lnSpc>
              <a:spcBef>
                <a:spcPts val="1800"/>
              </a:spcBef>
              <a:spcAft>
                <a:spcPts val="0"/>
              </a:spcAft>
              <a:buClr>
                <a:schemeClr val="dk1"/>
              </a:buClr>
              <a:buSzPts val="2000"/>
              <a:buNone/>
            </a:pPr>
            <a:r>
              <a:t/>
            </a:r>
            <a:endParaRPr/>
          </a:p>
          <a:p>
            <a:pPr indent="-101600" lvl="0" marL="228600" rtl="0" algn="l">
              <a:lnSpc>
                <a:spcPct val="90000"/>
              </a:lnSpc>
              <a:spcBef>
                <a:spcPts val="1800"/>
              </a:spcBef>
              <a:spcAft>
                <a:spcPts val="0"/>
              </a:spcAft>
              <a:buClr>
                <a:schemeClr val="dk1"/>
              </a:buClr>
              <a:buSzPts val="2000"/>
              <a:buNone/>
            </a:pPr>
            <a:r>
              <a:t/>
            </a:r>
            <a:endParaRPr/>
          </a:p>
        </p:txBody>
      </p:sp>
      <p:sp>
        <p:nvSpPr>
          <p:cNvPr id="624" name="Google Shape;624;p4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4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5.9 System Bugs</a:t>
            </a:r>
            <a:endParaRPr/>
          </a:p>
        </p:txBody>
      </p:sp>
      <p:sp>
        <p:nvSpPr>
          <p:cNvPr id="630" name="Google Shape;630;p4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System bugs cover all types of bugs including both functional and non functional.</a:t>
            </a:r>
            <a:endParaRPr/>
          </a:p>
          <a:p>
            <a:pPr indent="-228600" lvl="0" marL="228600" rtl="0" algn="just">
              <a:lnSpc>
                <a:spcPct val="90000"/>
              </a:lnSpc>
              <a:spcBef>
                <a:spcPts val="1800"/>
              </a:spcBef>
              <a:spcAft>
                <a:spcPts val="0"/>
              </a:spcAft>
              <a:buClr>
                <a:schemeClr val="dk1"/>
              </a:buClr>
              <a:buSzPts val="2000"/>
              <a:buChar char="▪"/>
            </a:pPr>
            <a:r>
              <a:rPr lang="en-US"/>
              <a:t>Infrequent, but are costly</a:t>
            </a:r>
            <a:endParaRPr/>
          </a:p>
          <a:p>
            <a:pPr indent="-228600" lvl="0" marL="228600" rtl="0" algn="just">
              <a:lnSpc>
                <a:spcPct val="90000"/>
              </a:lnSpc>
              <a:spcBef>
                <a:spcPts val="1800"/>
              </a:spcBef>
              <a:spcAft>
                <a:spcPts val="0"/>
              </a:spcAft>
              <a:buClr>
                <a:schemeClr val="dk1"/>
              </a:buClr>
              <a:buSzPts val="2000"/>
              <a:buChar char="▪"/>
            </a:pPr>
            <a:r>
              <a:rPr lang="en-US"/>
              <a:t>Bugs result from the totality of interactions among many components such as:</a:t>
            </a:r>
            <a:endParaRPr/>
          </a:p>
          <a:p>
            <a:pPr indent="-228600" lvl="1" marL="685800" rtl="0" algn="just">
              <a:lnSpc>
                <a:spcPct val="90000"/>
              </a:lnSpc>
              <a:spcBef>
                <a:spcPts val="600"/>
              </a:spcBef>
              <a:spcAft>
                <a:spcPts val="0"/>
              </a:spcAft>
              <a:buClr>
                <a:schemeClr val="dk1"/>
              </a:buClr>
              <a:buSzPts val="2000"/>
              <a:buChar char="▪"/>
            </a:pPr>
            <a:r>
              <a:rPr lang="en-US" sz="2000"/>
              <a:t>Programs</a:t>
            </a:r>
            <a:endParaRPr/>
          </a:p>
          <a:p>
            <a:pPr indent="-228600" lvl="1" marL="685800" rtl="0" algn="just">
              <a:lnSpc>
                <a:spcPct val="90000"/>
              </a:lnSpc>
              <a:spcBef>
                <a:spcPts val="600"/>
              </a:spcBef>
              <a:spcAft>
                <a:spcPts val="0"/>
              </a:spcAft>
              <a:buClr>
                <a:schemeClr val="dk1"/>
              </a:buClr>
              <a:buSzPts val="2000"/>
              <a:buChar char="▪"/>
            </a:pPr>
            <a:r>
              <a:rPr lang="en-US" sz="2000"/>
              <a:t>Data</a:t>
            </a:r>
            <a:endParaRPr/>
          </a:p>
          <a:p>
            <a:pPr indent="-228600" lvl="1" marL="685800" rtl="0" algn="just">
              <a:lnSpc>
                <a:spcPct val="90000"/>
              </a:lnSpc>
              <a:spcBef>
                <a:spcPts val="600"/>
              </a:spcBef>
              <a:spcAft>
                <a:spcPts val="0"/>
              </a:spcAft>
              <a:buClr>
                <a:schemeClr val="dk1"/>
              </a:buClr>
              <a:buSzPts val="2000"/>
              <a:buChar char="▪"/>
            </a:pPr>
            <a:r>
              <a:rPr lang="en-US" sz="2000"/>
              <a:t>Hardware</a:t>
            </a:r>
            <a:endParaRPr/>
          </a:p>
          <a:p>
            <a:pPr indent="-228600" lvl="1" marL="685800" rtl="0" algn="just">
              <a:lnSpc>
                <a:spcPct val="90000"/>
              </a:lnSpc>
              <a:spcBef>
                <a:spcPts val="600"/>
              </a:spcBef>
              <a:spcAft>
                <a:spcPts val="0"/>
              </a:spcAft>
              <a:buClr>
                <a:schemeClr val="dk1"/>
              </a:buClr>
              <a:buSzPts val="2000"/>
              <a:buChar char="▪"/>
            </a:pPr>
            <a:r>
              <a:rPr lang="en-US" sz="2000"/>
              <a:t>Operating System</a:t>
            </a:r>
            <a:endParaRPr/>
          </a:p>
        </p:txBody>
      </p:sp>
      <p:sp>
        <p:nvSpPr>
          <p:cNvPr id="631" name="Google Shape;631;p4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4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5.9 System Bugs</a:t>
            </a:r>
            <a:endParaRPr/>
          </a:p>
        </p:txBody>
      </p:sp>
      <p:sp>
        <p:nvSpPr>
          <p:cNvPr id="637" name="Google Shape;637;p4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Some of the system bugs include:</a:t>
            </a:r>
            <a:endParaRPr/>
          </a:p>
          <a:p>
            <a:pPr indent="-228600" lvl="1" marL="685800" rtl="0" algn="just">
              <a:lnSpc>
                <a:spcPct val="90000"/>
              </a:lnSpc>
              <a:spcBef>
                <a:spcPts val="600"/>
              </a:spcBef>
              <a:spcAft>
                <a:spcPts val="0"/>
              </a:spcAft>
              <a:buClr>
                <a:schemeClr val="dk1"/>
              </a:buClr>
              <a:buSzPts val="2000"/>
              <a:buChar char="▪"/>
            </a:pPr>
            <a:r>
              <a:rPr lang="en-US" sz="2000"/>
              <a:t>Missing functionality</a:t>
            </a:r>
            <a:endParaRPr/>
          </a:p>
          <a:p>
            <a:pPr indent="-228600" lvl="1" marL="685800" rtl="0" algn="just">
              <a:lnSpc>
                <a:spcPct val="90000"/>
              </a:lnSpc>
              <a:spcBef>
                <a:spcPts val="600"/>
              </a:spcBef>
              <a:spcAft>
                <a:spcPts val="0"/>
              </a:spcAft>
              <a:buClr>
                <a:schemeClr val="dk1"/>
              </a:buClr>
              <a:buSzPts val="2000"/>
              <a:buChar char="▪"/>
            </a:pPr>
            <a:r>
              <a:rPr lang="en-US" sz="2000"/>
              <a:t>Wrong functionality</a:t>
            </a:r>
            <a:endParaRPr/>
          </a:p>
          <a:p>
            <a:pPr indent="-228600" lvl="1" marL="685800" rtl="0" algn="just">
              <a:lnSpc>
                <a:spcPct val="90000"/>
              </a:lnSpc>
              <a:spcBef>
                <a:spcPts val="600"/>
              </a:spcBef>
              <a:spcAft>
                <a:spcPts val="0"/>
              </a:spcAft>
              <a:buClr>
                <a:schemeClr val="dk1"/>
              </a:buClr>
              <a:buSzPts val="2000"/>
              <a:buChar char="▪"/>
            </a:pPr>
            <a:r>
              <a:rPr lang="en-US" sz="2000"/>
              <a:t>Extra functionality</a:t>
            </a:r>
            <a:endParaRPr/>
          </a:p>
          <a:p>
            <a:pPr indent="-228600" lvl="1" marL="685800" rtl="0" algn="just">
              <a:lnSpc>
                <a:spcPct val="90000"/>
              </a:lnSpc>
              <a:spcBef>
                <a:spcPts val="600"/>
              </a:spcBef>
              <a:spcAft>
                <a:spcPts val="0"/>
              </a:spcAft>
              <a:buClr>
                <a:schemeClr val="dk1"/>
              </a:buClr>
              <a:buSzPts val="2000"/>
              <a:buChar char="▪"/>
            </a:pPr>
            <a:r>
              <a:rPr lang="en-US" sz="2000"/>
              <a:t>Failure to meet required performance</a:t>
            </a:r>
            <a:endParaRPr/>
          </a:p>
          <a:p>
            <a:pPr indent="-228600" lvl="1" marL="685800" rtl="0" algn="just">
              <a:lnSpc>
                <a:spcPct val="90000"/>
              </a:lnSpc>
              <a:spcBef>
                <a:spcPts val="600"/>
              </a:spcBef>
              <a:spcAft>
                <a:spcPts val="0"/>
              </a:spcAft>
              <a:buClr>
                <a:schemeClr val="dk1"/>
              </a:buClr>
              <a:buSzPts val="2000"/>
              <a:buChar char="▪"/>
            </a:pPr>
            <a:r>
              <a:rPr lang="en-US" sz="2000"/>
              <a:t>Failure to handle large volumes of information</a:t>
            </a:r>
            <a:endParaRPr/>
          </a:p>
          <a:p>
            <a:pPr indent="-228600" lvl="1" marL="685800" rtl="0" algn="just">
              <a:lnSpc>
                <a:spcPct val="90000"/>
              </a:lnSpc>
              <a:spcBef>
                <a:spcPts val="600"/>
              </a:spcBef>
              <a:spcAft>
                <a:spcPts val="0"/>
              </a:spcAft>
              <a:buClr>
                <a:schemeClr val="dk1"/>
              </a:buClr>
              <a:buSzPts val="2000"/>
              <a:buChar char="▪"/>
            </a:pPr>
            <a:r>
              <a:rPr lang="en-US" sz="2000"/>
              <a:t>Failure to handle peak volumes of information</a:t>
            </a:r>
            <a:endParaRPr/>
          </a:p>
          <a:p>
            <a:pPr indent="-228600" lvl="1" marL="685800" rtl="0" algn="just">
              <a:lnSpc>
                <a:spcPct val="90000"/>
              </a:lnSpc>
              <a:spcBef>
                <a:spcPts val="600"/>
              </a:spcBef>
              <a:spcAft>
                <a:spcPts val="0"/>
              </a:spcAft>
              <a:buClr>
                <a:schemeClr val="dk1"/>
              </a:buClr>
              <a:buSzPts val="2000"/>
              <a:buChar char="▪"/>
            </a:pPr>
            <a:r>
              <a:rPr lang="en-US" sz="2000"/>
              <a:t>Inappropriate documentation</a:t>
            </a:r>
            <a:endParaRPr/>
          </a:p>
          <a:p>
            <a:pPr indent="-228600" lvl="1" marL="685800" rtl="0" algn="just">
              <a:lnSpc>
                <a:spcPct val="90000"/>
              </a:lnSpc>
              <a:spcBef>
                <a:spcPts val="600"/>
              </a:spcBef>
              <a:spcAft>
                <a:spcPts val="0"/>
              </a:spcAft>
              <a:buClr>
                <a:schemeClr val="dk1"/>
              </a:buClr>
              <a:buSzPts val="2000"/>
              <a:buChar char="▪"/>
            </a:pPr>
            <a:r>
              <a:rPr lang="en-US" sz="2000"/>
              <a:t>System that is not stable</a:t>
            </a:r>
            <a:endParaRPr/>
          </a:p>
          <a:p>
            <a:pPr indent="-228600" lvl="0" marL="228600" rtl="0" algn="just">
              <a:lnSpc>
                <a:spcPct val="90000"/>
              </a:lnSpc>
              <a:spcBef>
                <a:spcPts val="1800"/>
              </a:spcBef>
              <a:spcAft>
                <a:spcPts val="0"/>
              </a:spcAft>
              <a:buClr>
                <a:schemeClr val="dk1"/>
              </a:buClr>
              <a:buSzPts val="2000"/>
              <a:buChar char="▪"/>
            </a:pPr>
            <a:r>
              <a:rPr lang="en-US"/>
              <a:t>These bugs are directly related to customer and user satisfaction</a:t>
            </a:r>
            <a:endParaRPr/>
          </a:p>
        </p:txBody>
      </p:sp>
      <p:sp>
        <p:nvSpPr>
          <p:cNvPr id="638" name="Google Shape;638;p4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6. Test and Test Design Bugs</a:t>
            </a:r>
            <a:endParaRPr/>
          </a:p>
        </p:txBody>
      </p:sp>
      <p:grpSp>
        <p:nvGrpSpPr>
          <p:cNvPr id="645" name="Google Shape;645;p44"/>
          <p:cNvGrpSpPr/>
          <p:nvPr/>
        </p:nvGrpSpPr>
        <p:grpSpPr>
          <a:xfrm>
            <a:off x="1109803" y="2658469"/>
            <a:ext cx="9972392" cy="2455460"/>
            <a:chOff x="4903" y="1058269"/>
            <a:chExt cx="9972392" cy="2455460"/>
          </a:xfrm>
        </p:grpSpPr>
        <p:sp>
          <p:nvSpPr>
            <p:cNvPr id="646" name="Google Shape;646;p44"/>
            <p:cNvSpPr/>
            <p:nvPr/>
          </p:nvSpPr>
          <p:spPr>
            <a:xfrm>
              <a:off x="4991100" y="1977987"/>
              <a:ext cx="3801843" cy="614139"/>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647" name="Google Shape;647;p44"/>
            <p:cNvSpPr/>
            <p:nvPr/>
          </p:nvSpPr>
          <p:spPr>
            <a:xfrm>
              <a:off x="4991100" y="1977987"/>
              <a:ext cx="630545" cy="614139"/>
            </a:xfrm>
            <a:custGeom>
              <a:rect b="b" l="l" r="r" t="t"/>
              <a:pathLst>
                <a:path extrusionOk="0" h="120000" w="120000">
                  <a:moveTo>
                    <a:pt x="0" y="0"/>
                  </a:moveTo>
                  <a:lnTo>
                    <a:pt x="0" y="60000"/>
                  </a:lnTo>
                  <a:lnTo>
                    <a:pt x="120000" y="60000"/>
                  </a:lnTo>
                  <a:lnTo>
                    <a:pt x="120000" y="120000"/>
                  </a:lnTo>
                </a:path>
              </a:pathLst>
            </a:custGeom>
            <a:noFill/>
            <a:ln cap="flat" cmpd="thickThin" w="48000">
              <a:solidFill>
                <a:srgbClr val="403934"/>
              </a:solidFill>
              <a:prstDash val="solid"/>
              <a:round/>
              <a:headEnd len="sm" w="sm" type="none"/>
              <a:tailEnd len="sm" w="sm" type="none"/>
            </a:ln>
          </p:spPr>
        </p:sp>
        <p:sp>
          <p:nvSpPr>
            <p:cNvPr id="648" name="Google Shape;648;p44"/>
            <p:cNvSpPr/>
            <p:nvPr/>
          </p:nvSpPr>
          <p:spPr>
            <a:xfrm>
              <a:off x="1819801" y="1977987"/>
              <a:ext cx="3171298" cy="614139"/>
            </a:xfrm>
            <a:custGeom>
              <a:rect b="b" l="l" r="r" t="t"/>
              <a:pathLst>
                <a:path extrusionOk="0" h="120000" w="120000">
                  <a:moveTo>
                    <a:pt x="120000" y="0"/>
                  </a:moveTo>
                  <a:lnTo>
                    <a:pt x="120000" y="60000"/>
                  </a:lnTo>
                  <a:lnTo>
                    <a:pt x="0" y="60000"/>
                  </a:lnTo>
                  <a:lnTo>
                    <a:pt x="0" y="120000"/>
                  </a:lnTo>
                </a:path>
              </a:pathLst>
            </a:custGeom>
            <a:noFill/>
            <a:ln cap="flat" cmpd="thickThin" w="48000">
              <a:solidFill>
                <a:srgbClr val="403934"/>
              </a:solidFill>
              <a:prstDash val="solid"/>
              <a:round/>
              <a:headEnd len="sm" w="sm" type="none"/>
              <a:tailEnd len="sm" w="sm" type="none"/>
            </a:ln>
          </p:spPr>
        </p:sp>
        <p:sp>
          <p:nvSpPr>
            <p:cNvPr id="649" name="Google Shape;649;p44"/>
            <p:cNvSpPr/>
            <p:nvPr/>
          </p:nvSpPr>
          <p:spPr>
            <a:xfrm>
              <a:off x="2070414" y="1058269"/>
              <a:ext cx="5841370" cy="919717"/>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4"/>
            <p:cNvSpPr txBox="1"/>
            <p:nvPr/>
          </p:nvSpPr>
          <p:spPr>
            <a:xfrm>
              <a:off x="2070414" y="1058269"/>
              <a:ext cx="5841370" cy="919717"/>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Clr>
                  <a:schemeClr val="lt1"/>
                </a:buClr>
                <a:buSzPts val="3600"/>
                <a:buFont typeface="Arial"/>
                <a:buNone/>
              </a:pPr>
              <a:r>
                <a:rPr b="0" i="0" lang="en-US" sz="3600" u="none" cap="none" strike="noStrike">
                  <a:solidFill>
                    <a:schemeClr val="lt1"/>
                  </a:solidFill>
                  <a:latin typeface="Arial"/>
                  <a:ea typeface="Arial"/>
                  <a:cs typeface="Arial"/>
                  <a:sym typeface="Arial"/>
                </a:rPr>
                <a:t>Test and Test Design Bugs</a:t>
              </a:r>
              <a:endParaRPr b="0" i="0" sz="3600" u="none" cap="none" strike="noStrike">
                <a:solidFill>
                  <a:schemeClr val="lt1"/>
                </a:solidFill>
                <a:latin typeface="Arial"/>
                <a:ea typeface="Arial"/>
                <a:cs typeface="Arial"/>
                <a:sym typeface="Arial"/>
              </a:endParaRPr>
            </a:p>
          </p:txBody>
        </p:sp>
        <p:sp>
          <p:nvSpPr>
            <p:cNvPr id="651" name="Google Shape;651;p44"/>
            <p:cNvSpPr/>
            <p:nvPr/>
          </p:nvSpPr>
          <p:spPr>
            <a:xfrm>
              <a:off x="4903" y="2592126"/>
              <a:ext cx="3629796" cy="921603"/>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4"/>
            <p:cNvSpPr txBox="1"/>
            <p:nvPr/>
          </p:nvSpPr>
          <p:spPr>
            <a:xfrm>
              <a:off x="4903" y="2592126"/>
              <a:ext cx="3629796" cy="921603"/>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Clr>
                  <a:schemeClr val="lt1"/>
                </a:buClr>
                <a:buSzPts val="3600"/>
                <a:buFont typeface="Arial"/>
                <a:buNone/>
              </a:pPr>
              <a:r>
                <a:rPr b="0" i="0" lang="en-US" sz="3600" u="none" cap="none" strike="noStrike">
                  <a:solidFill>
                    <a:schemeClr val="lt1"/>
                  </a:solidFill>
                  <a:latin typeface="Arial"/>
                  <a:ea typeface="Arial"/>
                  <a:cs typeface="Arial"/>
                  <a:sym typeface="Arial"/>
                </a:rPr>
                <a:t>Testing Method</a:t>
              </a:r>
              <a:endParaRPr b="0" i="0" sz="3600" u="none" cap="none" strike="noStrike">
                <a:solidFill>
                  <a:schemeClr val="lt1"/>
                </a:solidFill>
                <a:latin typeface="Arial"/>
                <a:ea typeface="Arial"/>
                <a:cs typeface="Arial"/>
                <a:sym typeface="Arial"/>
              </a:endParaRPr>
            </a:p>
          </p:txBody>
        </p:sp>
        <p:sp>
          <p:nvSpPr>
            <p:cNvPr id="653" name="Google Shape;653;p44"/>
            <p:cNvSpPr/>
            <p:nvPr/>
          </p:nvSpPr>
          <p:spPr>
            <a:xfrm>
              <a:off x="4248839" y="2592126"/>
              <a:ext cx="2745611" cy="921603"/>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4"/>
            <p:cNvSpPr txBox="1"/>
            <p:nvPr/>
          </p:nvSpPr>
          <p:spPr>
            <a:xfrm>
              <a:off x="4248839" y="2592126"/>
              <a:ext cx="2745611" cy="921603"/>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Clr>
                  <a:schemeClr val="lt1"/>
                </a:buClr>
                <a:buSzPts val="3600"/>
                <a:buFont typeface="Arial"/>
                <a:buNone/>
              </a:pPr>
              <a:r>
                <a:rPr b="0" i="0" lang="en-US" sz="3600" u="none" cap="none" strike="noStrike">
                  <a:solidFill>
                    <a:schemeClr val="lt1"/>
                  </a:solidFill>
                  <a:latin typeface="Arial"/>
                  <a:ea typeface="Arial"/>
                  <a:cs typeface="Arial"/>
                  <a:sym typeface="Arial"/>
                </a:rPr>
                <a:t>Test Criteria</a:t>
              </a:r>
              <a:endParaRPr b="0" i="0" sz="3600" u="none" cap="none" strike="noStrike">
                <a:solidFill>
                  <a:schemeClr val="lt1"/>
                </a:solidFill>
                <a:latin typeface="Arial"/>
                <a:ea typeface="Arial"/>
                <a:cs typeface="Arial"/>
                <a:sym typeface="Arial"/>
              </a:endParaRPr>
            </a:p>
          </p:txBody>
        </p:sp>
        <p:sp>
          <p:nvSpPr>
            <p:cNvPr id="655" name="Google Shape;655;p44"/>
            <p:cNvSpPr/>
            <p:nvPr/>
          </p:nvSpPr>
          <p:spPr>
            <a:xfrm>
              <a:off x="7608590" y="2592126"/>
              <a:ext cx="2368705" cy="921603"/>
            </a:xfrm>
            <a:prstGeom prst="rect">
              <a:avLst/>
            </a:prstGeom>
            <a:solidFill>
              <a:schemeClr val="accent1"/>
            </a:solidFill>
            <a:ln cap="flat" cmpd="thickThin" w="480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4"/>
            <p:cNvSpPr txBox="1"/>
            <p:nvPr/>
          </p:nvSpPr>
          <p:spPr>
            <a:xfrm>
              <a:off x="7608590" y="2592126"/>
              <a:ext cx="2368705" cy="921603"/>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Clr>
                  <a:schemeClr val="lt1"/>
                </a:buClr>
                <a:buSzPts val="3600"/>
                <a:buFont typeface="Arial"/>
                <a:buNone/>
              </a:pPr>
              <a:r>
                <a:rPr b="0" i="0" lang="en-US" sz="3600" u="none" cap="none" strike="noStrike">
                  <a:solidFill>
                    <a:schemeClr val="lt1"/>
                  </a:solidFill>
                  <a:latin typeface="Arial"/>
                  <a:ea typeface="Arial"/>
                  <a:cs typeface="Arial"/>
                  <a:sym typeface="Arial"/>
                </a:rPr>
                <a:t>Testing</a:t>
              </a:r>
              <a:endParaRPr b="0" i="0" sz="3600" u="none" cap="none" strike="noStrike">
                <a:solidFill>
                  <a:schemeClr val="lt1"/>
                </a:solidFill>
                <a:latin typeface="Arial"/>
                <a:ea typeface="Arial"/>
                <a:cs typeface="Arial"/>
                <a:sym typeface="Arial"/>
              </a:endParaRPr>
            </a:p>
          </p:txBody>
        </p:sp>
      </p:grpSp>
      <p:sp>
        <p:nvSpPr>
          <p:cNvPr id="657" name="Google Shape;657;p4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4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6.1 Testing Method</a:t>
            </a:r>
            <a:endParaRPr/>
          </a:p>
        </p:txBody>
      </p:sp>
      <p:sp>
        <p:nvSpPr>
          <p:cNvPr id="663" name="Google Shape;663;p45"/>
          <p:cNvSpPr txBox="1"/>
          <p:nvPr>
            <p:ph idx="1" type="body"/>
          </p:nvPr>
        </p:nvSpPr>
        <p:spPr>
          <a:xfrm>
            <a:off x="1110342" y="1502229"/>
            <a:ext cx="9993087" cy="4741818"/>
          </a:xfrm>
          <a:prstGeom prst="rect">
            <a:avLst/>
          </a:prstGeom>
          <a:noFill/>
          <a:ln>
            <a:noFill/>
          </a:ln>
        </p:spPr>
        <p:txBody>
          <a:bodyPr anchorCtr="0" anchor="t" bIns="45700" lIns="0" spcFirstLastPara="1" rIns="0" wrap="square" tIns="45700">
            <a:normAutofit/>
          </a:bodyPr>
          <a:lstStyle/>
          <a:p>
            <a:pPr indent="-228600" lvl="0" marL="228600" rtl="0" algn="l">
              <a:lnSpc>
                <a:spcPct val="90000"/>
              </a:lnSpc>
              <a:spcBef>
                <a:spcPts val="0"/>
              </a:spcBef>
              <a:spcAft>
                <a:spcPts val="0"/>
              </a:spcAft>
              <a:buClr>
                <a:schemeClr val="dk1"/>
              </a:buClr>
              <a:buSzPts val="2000"/>
              <a:buChar char="▪"/>
            </a:pPr>
            <a:r>
              <a:rPr lang="en-US"/>
              <a:t>Testing method bugs are due to:</a:t>
            </a:r>
            <a:endParaRPr/>
          </a:p>
          <a:p>
            <a:pPr indent="-228600" lvl="1" marL="685800" rtl="0" algn="l">
              <a:lnSpc>
                <a:spcPct val="90000"/>
              </a:lnSpc>
              <a:spcBef>
                <a:spcPts val="600"/>
              </a:spcBef>
              <a:spcAft>
                <a:spcPts val="0"/>
              </a:spcAft>
              <a:buClr>
                <a:schemeClr val="dk1"/>
              </a:buClr>
              <a:buSzPts val="2000"/>
              <a:buChar char="▪"/>
            </a:pPr>
            <a:r>
              <a:rPr lang="en-US" sz="2000"/>
              <a:t>Testers have no immunity to bugs</a:t>
            </a:r>
            <a:endParaRPr/>
          </a:p>
          <a:p>
            <a:pPr indent="-228600" lvl="1" marL="685800" rtl="0" algn="l">
              <a:lnSpc>
                <a:spcPct val="90000"/>
              </a:lnSpc>
              <a:spcBef>
                <a:spcPts val="600"/>
              </a:spcBef>
              <a:spcAft>
                <a:spcPts val="0"/>
              </a:spcAft>
              <a:buClr>
                <a:schemeClr val="dk1"/>
              </a:buClr>
              <a:buSzPts val="2000"/>
              <a:buChar char="▪"/>
            </a:pPr>
            <a:r>
              <a:rPr lang="en-US" sz="2000"/>
              <a:t>Testing requires code to execute, and consequently they can have bugs</a:t>
            </a:r>
            <a:endParaRPr/>
          </a:p>
          <a:p>
            <a:pPr indent="-228600" lvl="0" marL="228600" rtl="0" algn="l">
              <a:lnSpc>
                <a:spcPct val="90000"/>
              </a:lnSpc>
              <a:spcBef>
                <a:spcPts val="1800"/>
              </a:spcBef>
              <a:spcAft>
                <a:spcPts val="0"/>
              </a:spcAft>
              <a:buClr>
                <a:schemeClr val="dk1"/>
              </a:buClr>
              <a:buSzPts val="2000"/>
              <a:buChar char="▪"/>
            </a:pPr>
            <a:r>
              <a:rPr lang="en-US"/>
              <a:t>Test bugs are not software bugs</a:t>
            </a:r>
            <a:endParaRPr/>
          </a:p>
          <a:p>
            <a:pPr indent="-228600" lvl="0" marL="228600" rtl="0" algn="l">
              <a:lnSpc>
                <a:spcPct val="90000"/>
              </a:lnSpc>
              <a:spcBef>
                <a:spcPts val="1800"/>
              </a:spcBef>
              <a:spcAft>
                <a:spcPts val="0"/>
              </a:spcAft>
              <a:buClr>
                <a:schemeClr val="dk1"/>
              </a:buClr>
              <a:buSzPts val="2000"/>
              <a:buChar char="▪"/>
            </a:pPr>
            <a:r>
              <a:rPr lang="en-US"/>
              <a:t>Test bugs may be due to faulty test specification</a:t>
            </a:r>
            <a:endParaRPr/>
          </a:p>
        </p:txBody>
      </p:sp>
      <p:sp>
        <p:nvSpPr>
          <p:cNvPr id="664" name="Google Shape;664;p4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6.2 Test Criteria</a:t>
            </a:r>
            <a:endParaRPr/>
          </a:p>
        </p:txBody>
      </p:sp>
      <p:sp>
        <p:nvSpPr>
          <p:cNvPr id="670" name="Google Shape;670;p4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Test criteria bugs can be due to the following reasons.</a:t>
            </a:r>
            <a:endParaRPr/>
          </a:p>
          <a:p>
            <a:pPr indent="-228600" lvl="1" marL="685800" rtl="0" algn="just">
              <a:lnSpc>
                <a:spcPct val="90000"/>
              </a:lnSpc>
              <a:spcBef>
                <a:spcPts val="600"/>
              </a:spcBef>
              <a:spcAft>
                <a:spcPts val="0"/>
              </a:spcAft>
              <a:buClr>
                <a:schemeClr val="dk1"/>
              </a:buClr>
              <a:buSzPts val="2000"/>
              <a:buChar char="▪"/>
            </a:pPr>
            <a:r>
              <a:rPr lang="en-US" sz="2000"/>
              <a:t>Criteria by which software behavior is judged is incorrect or impossible</a:t>
            </a:r>
            <a:endParaRPr/>
          </a:p>
          <a:p>
            <a:pPr indent="-228600" lvl="1" marL="685800" rtl="0" algn="just">
              <a:lnSpc>
                <a:spcPct val="90000"/>
              </a:lnSpc>
              <a:spcBef>
                <a:spcPts val="600"/>
              </a:spcBef>
              <a:spcAft>
                <a:spcPts val="0"/>
              </a:spcAft>
              <a:buClr>
                <a:schemeClr val="dk1"/>
              </a:buClr>
              <a:buSzPts val="2000"/>
              <a:buChar char="▪"/>
            </a:pPr>
            <a:r>
              <a:rPr lang="en-US" sz="2000"/>
              <a:t>If the criteria is quantitative such as in case of performance,  throughput or processing delay, the performance can be measured</a:t>
            </a:r>
            <a:endParaRPr/>
          </a:p>
          <a:p>
            <a:pPr indent="-228600" lvl="0" marL="228600" rtl="0" algn="just">
              <a:lnSpc>
                <a:spcPct val="90000"/>
              </a:lnSpc>
              <a:spcBef>
                <a:spcPts val="1800"/>
              </a:spcBef>
              <a:spcAft>
                <a:spcPts val="0"/>
              </a:spcAft>
              <a:buClr>
                <a:schemeClr val="dk1"/>
              </a:buClr>
              <a:buSzPts val="2000"/>
              <a:buChar char="▪"/>
            </a:pPr>
            <a:r>
              <a:rPr lang="en-US"/>
              <a:t>The more complicated the criteria, the more likely they are to have bugs</a:t>
            </a:r>
            <a:endParaRPr/>
          </a:p>
          <a:p>
            <a:pPr indent="-101600" lvl="0" marL="228600" rtl="0" algn="l">
              <a:lnSpc>
                <a:spcPct val="90000"/>
              </a:lnSpc>
              <a:spcBef>
                <a:spcPts val="1800"/>
              </a:spcBef>
              <a:spcAft>
                <a:spcPts val="0"/>
              </a:spcAft>
              <a:buClr>
                <a:schemeClr val="dk1"/>
              </a:buClr>
              <a:buSzPts val="2000"/>
              <a:buNone/>
            </a:pPr>
            <a:r>
              <a:t/>
            </a:r>
            <a:endParaRPr/>
          </a:p>
        </p:txBody>
      </p:sp>
      <p:sp>
        <p:nvSpPr>
          <p:cNvPr id="671" name="Google Shape;671;p4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6.3 Testing/ Remedies</a:t>
            </a:r>
            <a:endParaRPr/>
          </a:p>
        </p:txBody>
      </p:sp>
      <p:sp>
        <p:nvSpPr>
          <p:cNvPr id="677" name="Google Shape;677;p47"/>
          <p:cNvSpPr txBox="1"/>
          <p:nvPr>
            <p:ph idx="1" type="body"/>
          </p:nvPr>
        </p:nvSpPr>
        <p:spPr>
          <a:xfrm>
            <a:off x="1104900" y="1436914"/>
            <a:ext cx="9982200" cy="5421085"/>
          </a:xfrm>
          <a:prstGeom prst="rect">
            <a:avLst/>
          </a:prstGeom>
          <a:noFill/>
          <a:ln>
            <a:noFill/>
          </a:ln>
        </p:spPr>
        <p:txBody>
          <a:bodyPr anchorCtr="0" anchor="t" bIns="45700" lIns="0" spcFirstLastPara="1" rIns="0" wrap="square" tIns="45700">
            <a:normAutofit lnSpcReduction="10000"/>
          </a:bodyPr>
          <a:lstStyle/>
          <a:p>
            <a:pPr indent="-228600" lvl="0" marL="228600" rtl="0" algn="just">
              <a:lnSpc>
                <a:spcPct val="90000"/>
              </a:lnSpc>
              <a:spcBef>
                <a:spcPts val="0"/>
              </a:spcBef>
              <a:spcAft>
                <a:spcPts val="0"/>
              </a:spcAft>
              <a:buClr>
                <a:schemeClr val="dk1"/>
              </a:buClr>
              <a:buSzPts val="2000"/>
              <a:buChar char="▪"/>
            </a:pPr>
            <a:r>
              <a:rPr b="1" lang="en-US"/>
              <a:t>Test Debugging: </a:t>
            </a:r>
            <a:endParaRPr/>
          </a:p>
          <a:p>
            <a:pPr indent="-228600" lvl="0" marL="228600" rtl="0" algn="just">
              <a:lnSpc>
                <a:spcPct val="90000"/>
              </a:lnSpc>
              <a:spcBef>
                <a:spcPts val="1800"/>
              </a:spcBef>
              <a:spcAft>
                <a:spcPts val="0"/>
              </a:spcAft>
              <a:buClr>
                <a:schemeClr val="dk1"/>
              </a:buClr>
              <a:buSzPts val="2000"/>
              <a:buNone/>
            </a:pPr>
            <a:r>
              <a:rPr b="1" lang="en-US"/>
              <a:t>	</a:t>
            </a:r>
            <a:r>
              <a:rPr lang="en-US"/>
              <a:t>It is all about finding any issues related to test cases, test coverage and trying to address these issues in order to increase efficiency.</a:t>
            </a:r>
            <a:endParaRPr/>
          </a:p>
          <a:p>
            <a:pPr indent="-228600" lvl="0" marL="228600" rtl="0" algn="just">
              <a:lnSpc>
                <a:spcPct val="90000"/>
              </a:lnSpc>
              <a:spcBef>
                <a:spcPts val="1800"/>
              </a:spcBef>
              <a:spcAft>
                <a:spcPts val="0"/>
              </a:spcAft>
              <a:buClr>
                <a:schemeClr val="dk1"/>
              </a:buClr>
              <a:buSzPts val="2000"/>
              <a:buChar char="▪"/>
            </a:pPr>
            <a:r>
              <a:rPr b="1" lang="en-US"/>
              <a:t>Test Quality Assurance: </a:t>
            </a:r>
            <a:endParaRPr/>
          </a:p>
          <a:p>
            <a:pPr indent="-228600" lvl="0" marL="228600" rtl="0" algn="just">
              <a:lnSpc>
                <a:spcPct val="90000"/>
              </a:lnSpc>
              <a:spcBef>
                <a:spcPts val="1800"/>
              </a:spcBef>
              <a:spcAft>
                <a:spcPts val="0"/>
              </a:spcAft>
              <a:buClr>
                <a:schemeClr val="dk1"/>
              </a:buClr>
              <a:buSzPts val="2000"/>
              <a:buNone/>
            </a:pPr>
            <a:r>
              <a:rPr lang="en-US"/>
              <a:t>	To monitor and control skills and competency of testers, capability of test related process and quality of test design.</a:t>
            </a:r>
            <a:endParaRPr/>
          </a:p>
          <a:p>
            <a:pPr indent="-228600" lvl="0" marL="228600" rtl="0" algn="just">
              <a:lnSpc>
                <a:spcPct val="90000"/>
              </a:lnSpc>
              <a:spcBef>
                <a:spcPts val="1800"/>
              </a:spcBef>
              <a:spcAft>
                <a:spcPts val="0"/>
              </a:spcAft>
              <a:buClr>
                <a:schemeClr val="dk1"/>
              </a:buClr>
              <a:buSzPts val="2000"/>
              <a:buChar char="▪"/>
            </a:pPr>
            <a:r>
              <a:rPr b="1" lang="en-US"/>
              <a:t>Text Execution Automation: </a:t>
            </a:r>
            <a:endParaRPr/>
          </a:p>
          <a:p>
            <a:pPr indent="-228600" lvl="0" marL="228600" rtl="0" algn="just">
              <a:lnSpc>
                <a:spcPct val="90000"/>
              </a:lnSpc>
              <a:spcBef>
                <a:spcPts val="1800"/>
              </a:spcBef>
              <a:spcAft>
                <a:spcPts val="0"/>
              </a:spcAft>
              <a:buClr>
                <a:schemeClr val="dk1"/>
              </a:buClr>
              <a:buSzPts val="2000"/>
              <a:buNone/>
            </a:pPr>
            <a:r>
              <a:rPr b="1" lang="en-US"/>
              <a:t>	</a:t>
            </a:r>
            <a:r>
              <a:rPr lang="en-US"/>
              <a:t>Test execution bugs are eliminated by test execution automation tools &amp; not using manual testing. Tests designed by tester can be recorded in these tools and same can be played back to complete testing in a shorter period of time.</a:t>
            </a:r>
            <a:endParaRPr/>
          </a:p>
          <a:p>
            <a:pPr indent="-228600" lvl="0" marL="228600" rtl="0" algn="just">
              <a:lnSpc>
                <a:spcPct val="90000"/>
              </a:lnSpc>
              <a:spcBef>
                <a:spcPts val="1800"/>
              </a:spcBef>
              <a:spcAft>
                <a:spcPts val="0"/>
              </a:spcAft>
              <a:buClr>
                <a:schemeClr val="dk1"/>
              </a:buClr>
              <a:buSzPts val="2000"/>
              <a:buChar char="▪"/>
            </a:pPr>
            <a:r>
              <a:rPr b="1" lang="en-US"/>
              <a:t>Test Design Automation: </a:t>
            </a:r>
            <a:endParaRPr/>
          </a:p>
          <a:p>
            <a:pPr indent="-228600" lvl="0" marL="228600" rtl="0" algn="just">
              <a:lnSpc>
                <a:spcPct val="90000"/>
              </a:lnSpc>
              <a:spcBef>
                <a:spcPts val="1800"/>
              </a:spcBef>
              <a:spcAft>
                <a:spcPts val="0"/>
              </a:spcAft>
              <a:buClr>
                <a:schemeClr val="dk1"/>
              </a:buClr>
              <a:buSzPts val="2000"/>
              <a:buNone/>
            </a:pPr>
            <a:r>
              <a:rPr b="1" lang="en-US"/>
              <a:t>	</a:t>
            </a:r>
            <a:r>
              <a:rPr lang="en-US"/>
              <a:t>Test design is automated like automation of software development. For a given productivity rate, It reduces bug count. These tools are of use in automating test design at code level and also at system level.</a:t>
            </a:r>
            <a:endParaRPr/>
          </a:p>
        </p:txBody>
      </p:sp>
      <p:sp>
        <p:nvSpPr>
          <p:cNvPr id="678" name="Google Shape;678;p4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4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References</a:t>
            </a:r>
            <a:endParaRPr/>
          </a:p>
        </p:txBody>
      </p:sp>
      <p:sp>
        <p:nvSpPr>
          <p:cNvPr id="684" name="Google Shape;684;p4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90000"/>
              </a:lnSpc>
              <a:spcBef>
                <a:spcPts val="0"/>
              </a:spcBef>
              <a:spcAft>
                <a:spcPts val="0"/>
              </a:spcAft>
              <a:buClr>
                <a:schemeClr val="dk1"/>
              </a:buClr>
              <a:buSzPts val="2000"/>
              <a:buChar char="▪"/>
            </a:pPr>
            <a:r>
              <a:rPr lang="en-US"/>
              <a:t>Chapter 2</a:t>
            </a:r>
            <a:endParaRPr/>
          </a:p>
          <a:p>
            <a:pPr indent="-228600" lvl="0" marL="228600" rtl="0" algn="just">
              <a:lnSpc>
                <a:spcPct val="90000"/>
              </a:lnSpc>
              <a:spcBef>
                <a:spcPts val="1800"/>
              </a:spcBef>
              <a:spcAft>
                <a:spcPts val="0"/>
              </a:spcAft>
              <a:buClr>
                <a:schemeClr val="dk1"/>
              </a:buClr>
              <a:buSzPts val="2000"/>
              <a:buChar char="▪"/>
            </a:pPr>
            <a:r>
              <a:rPr lang="en-US"/>
              <a:t>Software Testing Techniques 2nd Edition by Boris Beizer</a:t>
            </a:r>
            <a:endParaRPr/>
          </a:p>
        </p:txBody>
      </p:sp>
      <p:sp>
        <p:nvSpPr>
          <p:cNvPr id="685" name="Google Shape;685;p4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f03431380">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2017-08-27T12:50:00Z</dcterms:created>
  <dc:creator>sabeen amjad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