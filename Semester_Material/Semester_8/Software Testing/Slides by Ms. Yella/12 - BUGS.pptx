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308" r:id="rId5"/>
    <p:sldId id="309" r:id="rId6"/>
    <p:sldId id="256" r:id="rId7"/>
    <p:sldId id="258" r:id="rId8"/>
    <p:sldId id="259" r:id="rId9"/>
    <p:sldId id="260" r:id="rId10"/>
    <p:sldId id="261" r:id="rId11"/>
    <p:sldId id="271" r:id="rId12"/>
    <p:sldId id="262" r:id="rId13"/>
    <p:sldId id="264" r:id="rId14"/>
    <p:sldId id="272" r:id="rId15"/>
    <p:sldId id="265" r:id="rId16"/>
    <p:sldId id="266" r:id="rId17"/>
    <p:sldId id="267" r:id="rId18"/>
    <p:sldId id="268"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9" autoAdjust="0"/>
    <p:restoredTop sz="81720" autoAdjust="0"/>
  </p:normalViewPr>
  <p:slideViewPr>
    <p:cSldViewPr snapToGrid="0" showGuides="1">
      <p:cViewPr varScale="1">
        <p:scale>
          <a:sx n="82" d="100"/>
          <a:sy n="82" d="100"/>
        </p:scale>
        <p:origin x="677"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11/28/2021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11/28/2021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103488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5</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6</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7</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9</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10</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12</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13</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14</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15</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latin typeface="+mn-lt"/>
                <a:ea typeface="+mn-ea"/>
                <a:cs typeface="+mn-cs"/>
              </a:rPr>
              <a:t>The on/off button that </a:t>
            </a:r>
            <a:r>
              <a:rPr lang="en-GB" sz="1200" b="0" i="0" kern="1200" dirty="0" err="1">
                <a:solidFill>
                  <a:schemeClr val="tx1"/>
                </a:solidFill>
                <a:latin typeface="+mn-lt"/>
                <a:ea typeface="+mn-ea"/>
                <a:cs typeface="+mn-cs"/>
              </a:rPr>
              <a:t>swiches</a:t>
            </a:r>
            <a:r>
              <a:rPr lang="en-GB" sz="1200" b="0" i="0" kern="1200" dirty="0">
                <a:solidFill>
                  <a:schemeClr val="tx1"/>
                </a:solidFill>
                <a:latin typeface="+mn-lt"/>
                <a:ea typeface="+mn-ea"/>
                <a:cs typeface="+mn-cs"/>
              </a:rPr>
              <a:t> state, so when the system is off it is green to indicate that you can turn it on and when it is on the button is red to indicate that you can turn it off. To me, this is counterintuitive.</a:t>
            </a:r>
          </a:p>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20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11/28/2021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11/28/2021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11/28/2021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11/28/2021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11/28/2021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11/28/2021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11/28/2021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11/28/2021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11/28/2021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11/28/2021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a:t>CSE 455</a:t>
            </a:r>
            <a:br>
              <a:rPr lang="en-US" dirty="0"/>
            </a:br>
            <a:r>
              <a:rPr lang="en-US" dirty="0"/>
              <a:t>Software Testing</a:t>
            </a:r>
          </a:p>
        </p:txBody>
      </p:sp>
      <p:sp>
        <p:nvSpPr>
          <p:cNvPr id="7" name="Subtitle 6"/>
          <p:cNvSpPr>
            <a:spLocks noGrp="1"/>
          </p:cNvSpPr>
          <p:nvPr>
            <p:ph type="subTitle" idx="1"/>
          </p:nvPr>
        </p:nvSpPr>
        <p:spPr/>
        <p:txBody>
          <a:bodyPr/>
          <a:lstStyle/>
          <a:p>
            <a:r>
              <a:rPr lang="en-US" dirty="0"/>
              <a:t>This course is offered to the students of students of BS Software Engineering who are enrolled in 8</a:t>
            </a:r>
            <a:r>
              <a:rPr lang="en-US" baseline="30000" dirty="0"/>
              <a:t>th</a:t>
            </a:r>
            <a:r>
              <a:rPr lang="en-US" dirty="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fontScale="92500"/>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a:t>Lecture 12</a:t>
            </a:r>
            <a:endParaRPr lang="en-US"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718139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a:latin typeface="Castellar" panose="020A0402060406010301" pitchFamily="18" charset="0"/>
              </a:rPr>
              <a:t>   Course instructor</a:t>
            </a:r>
            <a:br>
              <a:rPr lang="en-US" sz="3000" dirty="0">
                <a:latin typeface="Castellar" panose="020A0402060406010301" pitchFamily="18" charset="0"/>
              </a:rPr>
            </a:br>
            <a:br>
              <a:rPr lang="en-US" sz="3000" dirty="0">
                <a:latin typeface="Castellar" panose="020A0402060406010301" pitchFamily="18" charset="0"/>
              </a:rPr>
            </a:br>
            <a:r>
              <a:rPr lang="en-US" sz="3000" dirty="0">
                <a:latin typeface="Castellar" panose="020A0402060406010301" pitchFamily="18" charset="0"/>
              </a:rPr>
              <a:t>          Yella </a:t>
            </a:r>
            <a:r>
              <a:rPr lang="en-US" sz="3000" dirty="0" err="1">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a:p>
          <a:p>
            <a:r>
              <a:rPr lang="en-US" dirty="0">
                <a:latin typeface="Castellar" panose="020A0402060406010301" pitchFamily="18" charset="0"/>
              </a:rPr>
              <a:t>    </a:t>
            </a:r>
          </a:p>
          <a:p>
            <a:r>
              <a:rPr lang="en-US" dirty="0">
                <a:latin typeface="Castellar" panose="020A0402060406010301" pitchFamily="18" charset="0"/>
              </a:rPr>
              <a:t>yellamehroze@cuilahore.edu.pk</a:t>
            </a:r>
          </a:p>
        </p:txBody>
      </p:sp>
    </p:spTree>
    <p:extLst>
      <p:ext uri="{BB962C8B-B14F-4D97-AF65-F5344CB8AC3E}">
        <p14:creationId xmlns:p14="http://schemas.microsoft.com/office/powerpoint/2010/main" val="3361914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Bugs</a:t>
            </a:r>
          </a:p>
        </p:txBody>
      </p:sp>
      <p:sp>
        <p:nvSpPr>
          <p:cNvPr id="5" name="Picture Placeholder 4"/>
          <p:cNvSpPr>
            <a:spLocks noGrp="1"/>
          </p:cNvSpPr>
          <p:nvPr>
            <p:ph type="pic" sz="quarter" idx="13"/>
          </p:nvPr>
        </p:nvSpPr>
        <p:spPr/>
      </p:sp>
      <p:pic>
        <p:nvPicPr>
          <p:cNvPr id="1026" name="Picture 2" descr="H:\CIIT\software testing\Final Slides\bugs.gif"/>
          <p:cNvPicPr>
            <a:picLocks noChangeAspect="1" noChangeArrowheads="1"/>
          </p:cNvPicPr>
          <p:nvPr/>
        </p:nvPicPr>
        <p:blipFill>
          <a:blip r:embed="rId3"/>
          <a:srcRect/>
          <a:stretch>
            <a:fillRect/>
          </a:stretch>
        </p:blipFill>
        <p:spPr bwMode="auto">
          <a:xfrm>
            <a:off x="5533761" y="1316721"/>
            <a:ext cx="6641409" cy="4211841"/>
          </a:xfrm>
          <a:prstGeom prst="rect">
            <a:avLst/>
          </a:prstGeom>
          <a:noFill/>
        </p:spPr>
      </p:pic>
      <p:sp>
        <p:nvSpPr>
          <p:cNvPr id="3" name="Subtitle 2">
            <a:extLst>
              <a:ext uri="{FF2B5EF4-FFF2-40B4-BE49-F238E27FC236}">
                <a16:creationId xmlns:a16="http://schemas.microsoft.com/office/drawing/2014/main" id="{80EEB861-22D3-4EC5-A8FE-2F43765CADC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Outline</a:t>
            </a:r>
          </a:p>
        </p:txBody>
      </p:sp>
      <p:sp>
        <p:nvSpPr>
          <p:cNvPr id="395267" name="Rectangle 3"/>
          <p:cNvSpPr>
            <a:spLocks noGrp="1" noChangeArrowheads="1"/>
          </p:cNvSpPr>
          <p:nvPr>
            <p:ph idx="1"/>
          </p:nvPr>
        </p:nvSpPr>
        <p:spPr>
          <a:xfrm>
            <a:off x="1136470" y="1447800"/>
            <a:ext cx="9966960" cy="4800600"/>
          </a:xfrm>
        </p:spPr>
        <p:txBody>
          <a:bodyPr>
            <a:normAutofit/>
          </a:bodyPr>
          <a:lstStyle/>
          <a:p>
            <a:r>
              <a:rPr lang="en-US" altLang="en-US" dirty="0"/>
              <a:t>Characteristics of Good Test Cases</a:t>
            </a:r>
          </a:p>
          <a:p>
            <a:r>
              <a:rPr lang="en-US" dirty="0"/>
              <a:t>Fault, Error, Failure</a:t>
            </a:r>
          </a:p>
          <a:p>
            <a:r>
              <a:rPr lang="en-US" altLang="en-US" dirty="0"/>
              <a:t>Causes of Defect and Failure</a:t>
            </a:r>
          </a:p>
          <a:p>
            <a:r>
              <a:rPr lang="en-US" altLang="en-US" dirty="0"/>
              <a:t>Bug’s Lifecycle</a:t>
            </a:r>
          </a:p>
          <a:p>
            <a:r>
              <a:rPr lang="en-US" altLang="en-US" dirty="0"/>
              <a:t>Complicate Bug’s Life Cycle</a:t>
            </a:r>
          </a:p>
          <a:p>
            <a:r>
              <a:rPr lang="en-US" altLang="en-US" dirty="0"/>
              <a:t>Generic Bug’s Life Cycle</a:t>
            </a:r>
          </a:p>
          <a:p>
            <a:r>
              <a:rPr lang="en-US" altLang="en-US" dirty="0"/>
              <a:t>Consequences of Bugs</a:t>
            </a:r>
          </a:p>
          <a:p>
            <a:pPr marL="971550" lvl="1" indent="-514350">
              <a:buFont typeface="+mj-lt"/>
              <a:buAutoNum type="arabicPeriod"/>
            </a:pPr>
            <a:r>
              <a:rPr lang="en-US" dirty="0"/>
              <a:t>The Importance of Bugs</a:t>
            </a:r>
          </a:p>
          <a:p>
            <a:pPr marL="971550" lvl="1" indent="-514350">
              <a:buFont typeface="+mj-lt"/>
              <a:buAutoNum type="arabicPeriod"/>
            </a:pPr>
            <a:r>
              <a:rPr lang="en-US" dirty="0"/>
              <a:t>How Bugs Affect Us- Consequences</a:t>
            </a:r>
          </a:p>
          <a:p>
            <a:pPr marL="971550" lvl="1" indent="-514350">
              <a:buFont typeface="+mj-lt"/>
              <a:buAutoNum type="arabicPeriod"/>
            </a:pPr>
            <a:r>
              <a:rPr lang="en-US" dirty="0"/>
              <a:t>Flexible Severity Rather Than Absolutes</a:t>
            </a:r>
          </a:p>
          <a:p>
            <a:pPr marL="971550" lvl="1" indent="-514350">
              <a:buFont typeface="+mj-lt"/>
              <a:buAutoNum type="arabicPeriod"/>
            </a:pPr>
            <a:r>
              <a:rPr lang="en-US" dirty="0"/>
              <a:t>The Nightmare List and When to Stop Testing</a:t>
            </a:r>
          </a:p>
          <a:p>
            <a:endParaRPr lang="en-US" altLang="en-US" dirty="0"/>
          </a:p>
          <a:p>
            <a:endParaRPr lang="en-US" altLang="en-US" dirty="0"/>
          </a:p>
        </p:txBody>
      </p:sp>
    </p:spTree>
    <p:extLst>
      <p:ext uri="{BB962C8B-B14F-4D97-AF65-F5344CB8AC3E}">
        <p14:creationId xmlns:p14="http://schemas.microsoft.com/office/powerpoint/2010/main" val="244554022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Characteristics of Good Tests</a:t>
            </a:r>
          </a:p>
        </p:txBody>
      </p:sp>
      <p:sp>
        <p:nvSpPr>
          <p:cNvPr id="395267" name="Rectangle 3"/>
          <p:cNvSpPr>
            <a:spLocks noGrp="1" noChangeArrowheads="1"/>
          </p:cNvSpPr>
          <p:nvPr>
            <p:ph idx="1"/>
          </p:nvPr>
        </p:nvSpPr>
        <p:spPr>
          <a:xfrm>
            <a:off x="1097281" y="1369423"/>
            <a:ext cx="9966960" cy="5029200"/>
          </a:xfrm>
        </p:spPr>
        <p:txBody>
          <a:bodyPr>
            <a:noAutofit/>
          </a:bodyPr>
          <a:lstStyle/>
          <a:p>
            <a:r>
              <a:rPr lang="en-US" altLang="en-US" b="1" dirty="0"/>
              <a:t>Power</a:t>
            </a:r>
          </a:p>
          <a:p>
            <a:pPr lvl="1"/>
            <a:r>
              <a:rPr lang="en-US" altLang="en-US" sz="2000" dirty="0"/>
              <a:t>When a problem exists, the test will find it</a:t>
            </a:r>
          </a:p>
          <a:p>
            <a:r>
              <a:rPr lang="en-US" altLang="en-US" b="1" dirty="0"/>
              <a:t>Validity</a:t>
            </a:r>
          </a:p>
          <a:p>
            <a:pPr lvl="1"/>
            <a:r>
              <a:rPr lang="en-US" altLang="en-US" sz="2000" dirty="0"/>
              <a:t>Problems found are genuine problems</a:t>
            </a:r>
          </a:p>
          <a:p>
            <a:r>
              <a:rPr lang="en-US" altLang="en-US" b="1" dirty="0"/>
              <a:t>Value</a:t>
            </a:r>
          </a:p>
          <a:p>
            <a:pPr lvl="1"/>
            <a:r>
              <a:rPr lang="en-US" altLang="en-US" sz="2000" dirty="0"/>
              <a:t>Test reveals things clients want to know</a:t>
            </a:r>
          </a:p>
          <a:p>
            <a:r>
              <a:rPr lang="en-US" altLang="en-US" b="1" dirty="0"/>
              <a:t>Credibility</a:t>
            </a:r>
          </a:p>
          <a:p>
            <a:pPr lvl="1"/>
            <a:r>
              <a:rPr lang="en-US" altLang="en-US" sz="2000" dirty="0"/>
              <a:t>Test is a likely operational scenario</a:t>
            </a:r>
          </a:p>
        </p:txBody>
      </p:sp>
    </p:spTree>
    <p:extLst>
      <p:ext uri="{BB962C8B-B14F-4D97-AF65-F5344CB8AC3E}">
        <p14:creationId xmlns:p14="http://schemas.microsoft.com/office/powerpoint/2010/main" val="73361469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Characteristics of Good Tests</a:t>
            </a:r>
          </a:p>
        </p:txBody>
      </p:sp>
      <p:sp>
        <p:nvSpPr>
          <p:cNvPr id="395267" name="Rectangle 3"/>
          <p:cNvSpPr>
            <a:spLocks noGrp="1" noChangeArrowheads="1"/>
          </p:cNvSpPr>
          <p:nvPr>
            <p:ph idx="1"/>
          </p:nvPr>
        </p:nvSpPr>
        <p:spPr>
          <a:xfrm>
            <a:off x="1123407" y="1447800"/>
            <a:ext cx="9966959" cy="5029200"/>
          </a:xfrm>
        </p:spPr>
        <p:txBody>
          <a:bodyPr>
            <a:noAutofit/>
          </a:bodyPr>
          <a:lstStyle/>
          <a:p>
            <a:r>
              <a:rPr lang="en-US" altLang="en-US" b="1" dirty="0"/>
              <a:t>Non-redundancy</a:t>
            </a:r>
          </a:p>
          <a:p>
            <a:pPr lvl="1"/>
            <a:r>
              <a:rPr lang="en-US" altLang="en-US" sz="2000" dirty="0"/>
              <a:t>Provides new information</a:t>
            </a:r>
          </a:p>
          <a:p>
            <a:r>
              <a:rPr lang="en-US" altLang="en-US" b="1" dirty="0"/>
              <a:t>Repeatability</a:t>
            </a:r>
          </a:p>
          <a:p>
            <a:pPr lvl="1"/>
            <a:r>
              <a:rPr lang="en-US" altLang="en-US" sz="2000" dirty="0"/>
              <a:t>Easy and inexpensive to re-run</a:t>
            </a:r>
          </a:p>
          <a:p>
            <a:r>
              <a:rPr lang="en-US" altLang="en-US" b="1" dirty="0"/>
              <a:t>Maintainability</a:t>
            </a:r>
          </a:p>
          <a:p>
            <a:pPr lvl="1"/>
            <a:r>
              <a:rPr lang="en-US" altLang="en-US" sz="2000" dirty="0"/>
              <a:t>Test can be revised as the product is revised</a:t>
            </a:r>
            <a:endParaRPr lang="en-US" altLang="en-US" sz="2000" b="1" dirty="0"/>
          </a:p>
          <a:p>
            <a:r>
              <a:rPr lang="en-US" altLang="en-US" b="1" dirty="0"/>
              <a:t>Coverage</a:t>
            </a:r>
          </a:p>
          <a:p>
            <a:pPr lvl="1"/>
            <a:r>
              <a:rPr lang="en-US" altLang="en-US" sz="2000" dirty="0"/>
              <a:t>Exercises the product in a way not already tested for</a:t>
            </a:r>
          </a:p>
        </p:txBody>
      </p:sp>
    </p:spTree>
    <p:extLst>
      <p:ext uri="{BB962C8B-B14F-4D97-AF65-F5344CB8AC3E}">
        <p14:creationId xmlns:p14="http://schemas.microsoft.com/office/powerpoint/2010/main" val="230033217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Characteristics of Good Tests</a:t>
            </a:r>
          </a:p>
        </p:txBody>
      </p:sp>
      <p:sp>
        <p:nvSpPr>
          <p:cNvPr id="395267" name="Rectangle 3"/>
          <p:cNvSpPr>
            <a:spLocks noGrp="1" noChangeArrowheads="1"/>
          </p:cNvSpPr>
          <p:nvPr>
            <p:ph idx="1"/>
          </p:nvPr>
        </p:nvSpPr>
        <p:spPr>
          <a:xfrm>
            <a:off x="1110343" y="1447800"/>
            <a:ext cx="9980023" cy="5029200"/>
          </a:xfrm>
        </p:spPr>
        <p:txBody>
          <a:bodyPr>
            <a:normAutofit/>
          </a:bodyPr>
          <a:lstStyle/>
          <a:p>
            <a:r>
              <a:rPr lang="en-US" altLang="en-US" b="1" dirty="0"/>
              <a:t>Ease of evaluation</a:t>
            </a:r>
          </a:p>
          <a:p>
            <a:pPr lvl="1"/>
            <a:r>
              <a:rPr lang="en-US" altLang="en-US" sz="2000" dirty="0"/>
              <a:t>Results are easy to interpret</a:t>
            </a:r>
          </a:p>
          <a:p>
            <a:r>
              <a:rPr lang="en-US" altLang="en-US" b="1" dirty="0"/>
              <a:t>Diagnostic power</a:t>
            </a:r>
          </a:p>
          <a:p>
            <a:pPr lvl="1"/>
            <a:r>
              <a:rPr lang="en-US" altLang="en-US" sz="2000" dirty="0"/>
              <a:t>Helps pinpoint the cause of problems</a:t>
            </a:r>
          </a:p>
          <a:p>
            <a:r>
              <a:rPr lang="en-US" altLang="en-US" b="1" dirty="0"/>
              <a:t>Accountability</a:t>
            </a:r>
          </a:p>
          <a:p>
            <a:pPr lvl="1"/>
            <a:r>
              <a:rPr lang="en-US" altLang="en-US" sz="2000" dirty="0"/>
              <a:t>You can explain, justify and prove you ran it</a:t>
            </a:r>
          </a:p>
          <a:p>
            <a:r>
              <a:rPr lang="en-US" altLang="en-US" b="1" dirty="0"/>
              <a:t>Low cost</a:t>
            </a:r>
          </a:p>
          <a:p>
            <a:pPr lvl="1"/>
            <a:r>
              <a:rPr lang="en-US" altLang="en-US" sz="2000" dirty="0"/>
              <a:t>Time and effort to develop + time to execute</a:t>
            </a:r>
          </a:p>
          <a:p>
            <a:r>
              <a:rPr lang="en-US" altLang="en-US" b="1" dirty="0"/>
              <a:t>Low opportunity cost</a:t>
            </a:r>
          </a:p>
          <a:p>
            <a:pPr lvl="1"/>
            <a:r>
              <a:rPr lang="en-US" altLang="en-US" sz="2000" dirty="0"/>
              <a:t>Is a better use of your time than other things you could be doing…</a:t>
            </a:r>
          </a:p>
          <a:p>
            <a:endParaRPr lang="en-US" altLang="en-US" dirty="0"/>
          </a:p>
        </p:txBody>
      </p:sp>
    </p:spTree>
    <p:extLst>
      <p:ext uri="{BB962C8B-B14F-4D97-AF65-F5344CB8AC3E}">
        <p14:creationId xmlns:p14="http://schemas.microsoft.com/office/powerpoint/2010/main" val="3582415701"/>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Error, Failure</a:t>
            </a:r>
          </a:p>
        </p:txBody>
      </p:sp>
      <p:sp>
        <p:nvSpPr>
          <p:cNvPr id="3" name="Content Placeholder 2"/>
          <p:cNvSpPr>
            <a:spLocks noGrp="1"/>
          </p:cNvSpPr>
          <p:nvPr>
            <p:ph idx="1"/>
          </p:nvPr>
        </p:nvSpPr>
        <p:spPr/>
        <p:txBody>
          <a:bodyPr>
            <a:normAutofit/>
          </a:bodyPr>
          <a:lstStyle/>
          <a:p>
            <a:pPr algn="just"/>
            <a:r>
              <a:rPr lang="en-US" b="1" dirty="0"/>
              <a:t>Fault (): </a:t>
            </a:r>
            <a:r>
              <a:rPr lang="en-US" dirty="0"/>
              <a:t>A fault is the adjudged cause of an error.</a:t>
            </a:r>
            <a:r>
              <a:rPr lang="en-GB" dirty="0"/>
              <a:t> It is a condition that causes the software to </a:t>
            </a:r>
            <a:r>
              <a:rPr lang="en-GB" b="1" dirty="0"/>
              <a:t>fail</a:t>
            </a:r>
            <a:r>
              <a:rPr lang="en-GB" dirty="0"/>
              <a:t> to perform its required function.</a:t>
            </a:r>
            <a:endParaRPr lang="en-US" b="1" dirty="0"/>
          </a:p>
          <a:p>
            <a:pPr algn="just"/>
            <a:r>
              <a:rPr lang="en-US" b="1" dirty="0"/>
              <a:t>Error: </a:t>
            </a:r>
            <a:r>
              <a:rPr lang="en-US" dirty="0"/>
              <a:t>An error is a </a:t>
            </a:r>
            <a:r>
              <a:rPr lang="en-US" i="1" dirty="0"/>
              <a:t>state of the system which </a:t>
            </a:r>
            <a:r>
              <a:rPr lang="en-GB" dirty="0"/>
              <a:t>refers to the difference between Actual Output and Expected output.</a:t>
            </a:r>
            <a:r>
              <a:rPr lang="en-US" dirty="0"/>
              <a:t>In the absence of any corrective action by the system, an error state could lead to a failure</a:t>
            </a:r>
          </a:p>
          <a:p>
            <a:pPr algn="just"/>
            <a:r>
              <a:rPr lang="en-GB" b="1" dirty="0"/>
              <a:t>Defect: </a:t>
            </a:r>
            <a:r>
              <a:rPr lang="en-GB" dirty="0"/>
              <a:t> An error found by tester is called defect.</a:t>
            </a:r>
            <a:endParaRPr lang="en-US" dirty="0"/>
          </a:p>
          <a:p>
            <a:pPr algn="just"/>
            <a:r>
              <a:rPr lang="en-GB" b="1" dirty="0"/>
              <a:t>Bug: </a:t>
            </a:r>
            <a:r>
              <a:rPr lang="en-GB" dirty="0"/>
              <a:t>Defect accepted by development team then it is called Bug.</a:t>
            </a:r>
            <a:endParaRPr lang="en-US" dirty="0"/>
          </a:p>
          <a:p>
            <a:pPr algn="just"/>
            <a:r>
              <a:rPr lang="en-US" b="1" dirty="0"/>
              <a:t>Failure: </a:t>
            </a:r>
            <a:r>
              <a:rPr lang="en-US" dirty="0"/>
              <a:t>A failure is said to occur whenever the external behavior of a system does not conform to that prescribed in the system specification.</a:t>
            </a:r>
          </a:p>
          <a:p>
            <a:pPr algn="just"/>
            <a:r>
              <a:rPr lang="en-US" dirty="0" err="1"/>
              <a:t>fault→error→failure</a:t>
            </a:r>
            <a:r>
              <a:rPr lang="en-US" dirty="0"/>
              <a:t>.</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Causes of Defects and Failure</a:t>
            </a:r>
          </a:p>
        </p:txBody>
      </p:sp>
      <p:sp>
        <p:nvSpPr>
          <p:cNvPr id="395267" name="Rectangle 3"/>
          <p:cNvSpPr>
            <a:spLocks noGrp="1" noChangeArrowheads="1"/>
          </p:cNvSpPr>
          <p:nvPr>
            <p:ph idx="1"/>
          </p:nvPr>
        </p:nvSpPr>
        <p:spPr>
          <a:xfrm>
            <a:off x="1095829" y="1447800"/>
            <a:ext cx="9968411" cy="5029200"/>
          </a:xfrm>
        </p:spPr>
        <p:txBody>
          <a:bodyPr>
            <a:normAutofit/>
          </a:bodyPr>
          <a:lstStyle/>
          <a:p>
            <a:r>
              <a:rPr lang="en-US" altLang="en-US" dirty="0"/>
              <a:t>Causes of defects in software</a:t>
            </a:r>
          </a:p>
          <a:p>
            <a:pPr lvl="1"/>
            <a:r>
              <a:rPr lang="en-US" altLang="en-US" sz="2000" dirty="0"/>
              <a:t>Missing requirements</a:t>
            </a:r>
          </a:p>
          <a:p>
            <a:pPr lvl="1"/>
            <a:r>
              <a:rPr lang="en-US" altLang="en-US" sz="2000" dirty="0"/>
              <a:t>Wrong specification</a:t>
            </a:r>
          </a:p>
          <a:p>
            <a:pPr lvl="1"/>
            <a:r>
              <a:rPr lang="en-US" altLang="en-US" sz="2000" dirty="0"/>
              <a:t>Requirement that was infeasible </a:t>
            </a:r>
          </a:p>
          <a:p>
            <a:pPr lvl="1"/>
            <a:r>
              <a:rPr lang="en-US" altLang="en-US" sz="2000" dirty="0"/>
              <a:t>Faulty system design</a:t>
            </a:r>
          </a:p>
          <a:p>
            <a:pPr lvl="1"/>
            <a:r>
              <a:rPr lang="en-US" altLang="en-US" sz="2000" dirty="0"/>
              <a:t>Wrong algorithms</a:t>
            </a:r>
          </a:p>
          <a:p>
            <a:pPr lvl="1"/>
            <a:r>
              <a:rPr lang="en-US" altLang="en-US" sz="2000" dirty="0"/>
              <a:t>Faulty implementation</a:t>
            </a:r>
          </a:p>
          <a:p>
            <a:r>
              <a:rPr lang="en-US" altLang="en-US" dirty="0"/>
              <a:t>Defects may lead to failures</a:t>
            </a:r>
          </a:p>
          <a:p>
            <a:pPr lvl="1"/>
            <a:r>
              <a:rPr lang="en-US" altLang="en-US" sz="2000" dirty="0"/>
              <a:t>But the failure may show up somewhere else</a:t>
            </a:r>
          </a:p>
          <a:p>
            <a:pPr lvl="1"/>
            <a:r>
              <a:rPr lang="en-US" altLang="en-US" sz="2000" dirty="0"/>
              <a:t>Tracking the failure back to a defect can be hard</a:t>
            </a:r>
          </a:p>
        </p:txBody>
      </p:sp>
      <p:pic>
        <p:nvPicPr>
          <p:cNvPr id="4" name="Picture 2" descr="H:\CIIT\software testing\Final Slides\software bugs6.jpg"/>
          <p:cNvPicPr>
            <a:picLocks noChangeAspect="1" noChangeArrowheads="1"/>
          </p:cNvPicPr>
          <p:nvPr/>
        </p:nvPicPr>
        <p:blipFill>
          <a:blip r:embed="rId3"/>
          <a:srcRect/>
          <a:stretch>
            <a:fillRect/>
          </a:stretch>
        </p:blipFill>
        <p:spPr bwMode="auto">
          <a:xfrm>
            <a:off x="6903939" y="1406874"/>
            <a:ext cx="4166595" cy="3124946"/>
          </a:xfrm>
          <a:prstGeom prst="rect">
            <a:avLst/>
          </a:prstGeom>
          <a:noFill/>
        </p:spPr>
      </p:pic>
    </p:spTree>
    <p:extLst>
      <p:ext uri="{BB962C8B-B14F-4D97-AF65-F5344CB8AC3E}">
        <p14:creationId xmlns:p14="http://schemas.microsoft.com/office/powerpoint/2010/main" val="2793936002"/>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Bug’s Life Cycle</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7273508" y="1534887"/>
            <a:ext cx="2739498"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93429" y="6286919"/>
            <a:ext cx="3251200" cy="369332"/>
          </a:xfrm>
          <a:prstGeom prst="rect">
            <a:avLst/>
          </a:prstGeom>
          <a:noFill/>
        </p:spPr>
        <p:txBody>
          <a:bodyPr wrap="square" rtlCol="0">
            <a:spAutoFit/>
          </a:bodyPr>
          <a:lstStyle/>
          <a:p>
            <a:r>
              <a:rPr lang="en-US" b="1" dirty="0"/>
              <a:t>Bug’s State Diagram</a:t>
            </a:r>
          </a:p>
        </p:txBody>
      </p:sp>
      <p:sp>
        <p:nvSpPr>
          <p:cNvPr id="5" name="Rectangle 4"/>
          <p:cNvSpPr/>
          <p:nvPr/>
        </p:nvSpPr>
        <p:spPr>
          <a:xfrm>
            <a:off x="1127760" y="1642795"/>
            <a:ext cx="5586549" cy="707886"/>
          </a:xfrm>
          <a:prstGeom prst="rect">
            <a:avLst/>
          </a:prstGeom>
        </p:spPr>
        <p:txBody>
          <a:bodyPr wrap="square">
            <a:spAutoFit/>
          </a:bodyPr>
          <a:lstStyle/>
          <a:p>
            <a:r>
              <a:rPr lang="en-US" sz="2000" b="1" dirty="0"/>
              <a:t>Life Cycle- </a:t>
            </a:r>
            <a:r>
              <a:rPr lang="en-US" sz="2000" dirty="0"/>
              <a:t>refers to the various stages that a bug undergoes over its life</a:t>
            </a:r>
          </a:p>
        </p:txBody>
      </p:sp>
    </p:spTree>
    <p:extLst>
      <p:ext uri="{BB962C8B-B14F-4D97-AF65-F5344CB8AC3E}">
        <p14:creationId xmlns:p14="http://schemas.microsoft.com/office/powerpoint/2010/main" val="809744749"/>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Bug’s Life Cycle</a:t>
            </a:r>
          </a:p>
        </p:txBody>
      </p:sp>
      <p:sp>
        <p:nvSpPr>
          <p:cNvPr id="3" name="Content Placeholder 2"/>
          <p:cNvSpPr>
            <a:spLocks noGrp="1"/>
          </p:cNvSpPr>
          <p:nvPr>
            <p:ph idx="1"/>
          </p:nvPr>
        </p:nvSpPr>
        <p:spPr/>
        <p:txBody>
          <a:bodyPr>
            <a:normAutofit/>
          </a:bodyPr>
          <a:lstStyle/>
          <a:p>
            <a:pPr algn="just"/>
            <a:r>
              <a:rPr lang="en-US" b="1" dirty="0"/>
              <a:t>Open State- </a:t>
            </a:r>
            <a:r>
              <a:rPr lang="en-US" dirty="0"/>
              <a:t>in this state a bug is found by a software tester, a report is logged and assigned to a programmer to be fixed</a:t>
            </a:r>
          </a:p>
          <a:p>
            <a:pPr algn="just"/>
            <a:r>
              <a:rPr lang="en-US" b="1" dirty="0"/>
              <a:t>Resolved State- </a:t>
            </a:r>
            <a:r>
              <a:rPr lang="en-US" dirty="0"/>
              <a:t>Once the programmer fixes the code, he assigns the report back to the tester and the bug enters the resolved state</a:t>
            </a:r>
          </a:p>
          <a:p>
            <a:pPr algn="just"/>
            <a:r>
              <a:rPr lang="en-US" b="1" dirty="0"/>
              <a:t>Closed State- </a:t>
            </a:r>
            <a:r>
              <a:rPr lang="en-US" dirty="0"/>
              <a:t>The tester then performs a verification test to confirm that the bug is indeed fixed and, if it is, close the report. The bug then enters its final state, the closed state.</a:t>
            </a:r>
            <a:endParaRPr lang="en-US" b="1"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Complicated Bug’s Life Cycle</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6684" y="1219200"/>
            <a:ext cx="6850099"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901253"/>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Complicated Bug’s Life Cycle</a:t>
            </a:r>
          </a:p>
        </p:txBody>
      </p:sp>
      <p:sp>
        <p:nvSpPr>
          <p:cNvPr id="395267" name="Rectangle 3"/>
          <p:cNvSpPr>
            <a:spLocks noGrp="1" noChangeArrowheads="1"/>
          </p:cNvSpPr>
          <p:nvPr>
            <p:ph idx="1"/>
          </p:nvPr>
        </p:nvSpPr>
        <p:spPr>
          <a:xfrm>
            <a:off x="1110344" y="1447800"/>
            <a:ext cx="9966960" cy="5029200"/>
          </a:xfrm>
        </p:spPr>
        <p:txBody>
          <a:bodyPr>
            <a:normAutofit/>
          </a:bodyPr>
          <a:lstStyle/>
          <a:p>
            <a:pPr algn="just"/>
            <a:r>
              <a:rPr lang="en-US" altLang="en-US" dirty="0"/>
              <a:t>Complicated bug might undergo numerous changes and iterations over its life</a:t>
            </a:r>
          </a:p>
          <a:p>
            <a:pPr lvl="1" algn="just"/>
            <a:r>
              <a:rPr lang="en-US" altLang="en-US" sz="2000" dirty="0"/>
              <a:t>Sometimes looping back </a:t>
            </a:r>
          </a:p>
          <a:p>
            <a:pPr lvl="1" algn="just"/>
            <a:r>
              <a:rPr lang="en-US" altLang="en-US" sz="2000" dirty="0"/>
              <a:t>Starting the life cycle all over again</a:t>
            </a:r>
          </a:p>
          <a:p>
            <a:pPr algn="just"/>
            <a:r>
              <a:rPr lang="en-US" altLang="en-US" dirty="0"/>
              <a:t>Possible decisions, approvals, and looping that can occur in most projects can be shown in generic state diagram</a:t>
            </a:r>
          </a:p>
        </p:txBody>
      </p:sp>
    </p:spTree>
    <p:extLst>
      <p:ext uri="{BB962C8B-B14F-4D97-AF65-F5344CB8AC3E}">
        <p14:creationId xmlns:p14="http://schemas.microsoft.com/office/powerpoint/2010/main" val="219208698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Generic Bug’s Life Cycle</a:t>
            </a:r>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6401" y="1583056"/>
            <a:ext cx="5792805" cy="4747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743270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Generic Bug’s Life Cycle</a:t>
            </a:r>
          </a:p>
        </p:txBody>
      </p:sp>
      <p:sp>
        <p:nvSpPr>
          <p:cNvPr id="395267" name="Rectangle 3"/>
          <p:cNvSpPr>
            <a:spLocks noGrp="1" noChangeArrowheads="1"/>
          </p:cNvSpPr>
          <p:nvPr>
            <p:ph idx="1"/>
          </p:nvPr>
        </p:nvSpPr>
        <p:spPr>
          <a:xfrm>
            <a:off x="1110343" y="1447800"/>
            <a:ext cx="9980023" cy="5029200"/>
          </a:xfrm>
        </p:spPr>
        <p:txBody>
          <a:bodyPr>
            <a:normAutofit/>
          </a:bodyPr>
          <a:lstStyle/>
          <a:p>
            <a:pPr algn="just"/>
            <a:r>
              <a:rPr lang="en-US" altLang="en-US" dirty="0"/>
              <a:t>Generic life cycle has two additional states and extra connecting lines. </a:t>
            </a:r>
          </a:p>
          <a:p>
            <a:pPr algn="just"/>
            <a:r>
              <a:rPr lang="en-US" b="1" dirty="0"/>
              <a:t>Review State:</a:t>
            </a:r>
          </a:p>
          <a:p>
            <a:pPr lvl="1" algn="just"/>
            <a:r>
              <a:rPr lang="en-US" altLang="en-US" sz="2000" dirty="0"/>
              <a:t>The review state is for decision whether bug should be fixed</a:t>
            </a:r>
          </a:p>
          <a:p>
            <a:pPr lvl="2" algn="just"/>
            <a:r>
              <a:rPr lang="en-US" altLang="en-US" sz="2000" dirty="0"/>
              <a:t>Project manager </a:t>
            </a:r>
          </a:p>
          <a:p>
            <a:pPr lvl="2" algn="just"/>
            <a:r>
              <a:rPr lang="en-US" altLang="en-US" sz="2000" dirty="0"/>
              <a:t>Change Control Board</a:t>
            </a:r>
          </a:p>
          <a:p>
            <a:pPr lvl="1" algn="just"/>
            <a:r>
              <a:rPr lang="en-US" altLang="en-US" sz="2000" dirty="0"/>
              <a:t>In some projects all bugs go through the review state</a:t>
            </a:r>
          </a:p>
          <a:p>
            <a:pPr lvl="1" algn="just"/>
            <a:r>
              <a:rPr lang="en-US" altLang="en-US" sz="2000" dirty="0"/>
              <a:t>In other projects, this may not occur until near the end of the project, or not at all. </a:t>
            </a:r>
          </a:p>
          <a:p>
            <a:pPr lvl="1" algn="just"/>
            <a:r>
              <a:rPr lang="en-US" altLang="en-US" sz="2000" dirty="0"/>
              <a:t>The review state can also go directly to the closed state</a:t>
            </a:r>
          </a:p>
          <a:p>
            <a:pPr algn="just"/>
            <a:r>
              <a:rPr lang="en-US" b="1" dirty="0"/>
              <a:t>Deferred:</a:t>
            </a:r>
          </a:p>
          <a:p>
            <a:pPr lvl="1" algn="just"/>
            <a:r>
              <a:rPr lang="en-US" altLang="en-US" sz="2000" dirty="0"/>
              <a:t>In deferred state the review may determine that the bug should be considered for fixing in future but not for this release of the software</a:t>
            </a:r>
          </a:p>
        </p:txBody>
      </p:sp>
    </p:spTree>
    <p:extLst>
      <p:ext uri="{BB962C8B-B14F-4D97-AF65-F5344CB8AC3E}">
        <p14:creationId xmlns:p14="http://schemas.microsoft.com/office/powerpoint/2010/main" val="114529455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Generic Bug’s Life Cycle</a:t>
            </a:r>
          </a:p>
        </p:txBody>
      </p:sp>
      <p:sp>
        <p:nvSpPr>
          <p:cNvPr id="3" name="Content Placeholder 2"/>
          <p:cNvSpPr>
            <a:spLocks noGrp="1"/>
          </p:cNvSpPr>
          <p:nvPr>
            <p:ph idx="1"/>
          </p:nvPr>
        </p:nvSpPr>
        <p:spPr/>
        <p:txBody>
          <a:bodyPr/>
          <a:lstStyle/>
          <a:p>
            <a:pPr marL="228600" lvl="1" algn="just">
              <a:spcBef>
                <a:spcPts val="1800"/>
              </a:spcBef>
            </a:pPr>
            <a:r>
              <a:rPr lang="en-US" sz="2000" dirty="0"/>
              <a:t>A deferred bug could later be proven serious enough to fix immediately.</a:t>
            </a:r>
          </a:p>
          <a:p>
            <a:pPr algn="just"/>
            <a:r>
              <a:rPr lang="en-US" dirty="0"/>
              <a:t>A bug that was thought to be fixed, tested, and closed could reappear. Such bugs are often called </a:t>
            </a:r>
            <a:r>
              <a:rPr lang="en-US" b="1" dirty="0"/>
              <a:t>regressions</a:t>
            </a:r>
          </a:p>
          <a:p>
            <a:pPr algn="just"/>
            <a:r>
              <a:rPr lang="en-US" dirty="0"/>
              <a:t>In above both this cases, the bug is reopened and started through the process again</a:t>
            </a:r>
          </a:p>
          <a:p>
            <a:endParaRPr lang="en-US" b="1"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Consequences of Bug</a:t>
            </a:r>
          </a:p>
        </p:txBody>
      </p:sp>
      <p:sp>
        <p:nvSpPr>
          <p:cNvPr id="6" name="Content Placeholder 5"/>
          <p:cNvSpPr>
            <a:spLocks noGrp="1"/>
          </p:cNvSpPr>
          <p:nvPr>
            <p:ph idx="1"/>
          </p:nvPr>
        </p:nvSpPr>
        <p:spPr/>
        <p:txBody>
          <a:bodyPr/>
          <a:lstStyle/>
          <a:p>
            <a:pPr marL="514350" indent="-514350">
              <a:buFont typeface="+mj-lt"/>
              <a:buAutoNum type="arabicPeriod"/>
            </a:pPr>
            <a:r>
              <a:rPr lang="en-US" dirty="0"/>
              <a:t>The Importance of Bugs</a:t>
            </a:r>
          </a:p>
          <a:p>
            <a:pPr marL="514350" indent="-514350">
              <a:buFont typeface="+mj-lt"/>
              <a:buAutoNum type="arabicPeriod"/>
            </a:pPr>
            <a:r>
              <a:rPr lang="en-US" dirty="0"/>
              <a:t>How Bugs Affect Us- Consequences</a:t>
            </a:r>
          </a:p>
          <a:p>
            <a:pPr marL="514350" indent="-514350">
              <a:buFont typeface="+mj-lt"/>
              <a:buAutoNum type="arabicPeriod"/>
            </a:pPr>
            <a:r>
              <a:rPr lang="en-US" dirty="0"/>
              <a:t>Flexible Severity Rather Than Absolutes</a:t>
            </a:r>
          </a:p>
          <a:p>
            <a:pPr marL="514350" indent="-514350">
              <a:buFont typeface="+mj-lt"/>
              <a:buAutoNum type="arabicPeriod"/>
            </a:pPr>
            <a:r>
              <a:rPr lang="en-US" dirty="0"/>
              <a:t>The Nightmare List and When to Stop Testing</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Importance of Bugs</a:t>
            </a:r>
          </a:p>
        </p:txBody>
      </p:sp>
      <p:sp>
        <p:nvSpPr>
          <p:cNvPr id="3" name="Content Placeholder 2"/>
          <p:cNvSpPr>
            <a:spLocks noGrp="1"/>
          </p:cNvSpPr>
          <p:nvPr>
            <p:ph idx="1"/>
          </p:nvPr>
        </p:nvSpPr>
        <p:spPr/>
        <p:txBody>
          <a:bodyPr>
            <a:normAutofit/>
          </a:bodyPr>
          <a:lstStyle/>
          <a:p>
            <a:pPr algn="just"/>
            <a:r>
              <a:rPr lang="en-US" b="1" dirty="0"/>
              <a:t>Frequency- </a:t>
            </a:r>
            <a:r>
              <a:rPr lang="en-US" dirty="0"/>
              <a:t>How often does a kind of bug occur? You should pay more attention to the more frequent bug types.</a:t>
            </a:r>
          </a:p>
          <a:p>
            <a:pPr algn="just"/>
            <a:r>
              <a:rPr lang="en-US" b="1" dirty="0"/>
              <a:t>Correction Cost- </a:t>
            </a:r>
            <a:r>
              <a:rPr lang="en-US" dirty="0"/>
              <a:t>What does it cost to correct the bug after it has been found? The cost is sum of two factors</a:t>
            </a:r>
          </a:p>
          <a:p>
            <a:pPr lvl="1" algn="just"/>
            <a:r>
              <a:rPr lang="en-US" sz="2000" dirty="0"/>
              <a:t>The cost of discovery</a:t>
            </a:r>
          </a:p>
          <a:p>
            <a:pPr lvl="1" algn="just"/>
            <a:r>
              <a:rPr lang="en-US" sz="2000" dirty="0"/>
              <a:t>The cost of correction (depends on system size)</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Importance of Bugs</a:t>
            </a:r>
          </a:p>
        </p:txBody>
      </p:sp>
      <p:sp>
        <p:nvSpPr>
          <p:cNvPr id="3" name="Content Placeholder 2"/>
          <p:cNvSpPr>
            <a:spLocks noGrp="1"/>
          </p:cNvSpPr>
          <p:nvPr>
            <p:ph idx="1"/>
          </p:nvPr>
        </p:nvSpPr>
        <p:spPr/>
        <p:txBody>
          <a:bodyPr>
            <a:normAutofit/>
          </a:bodyPr>
          <a:lstStyle/>
          <a:p>
            <a:pPr algn="just"/>
            <a:r>
              <a:rPr lang="en-US" b="1" dirty="0"/>
              <a:t>Installation Cost- </a:t>
            </a:r>
            <a:r>
              <a:rPr lang="en-US" dirty="0"/>
              <a:t>Depends on the number of installations</a:t>
            </a:r>
          </a:p>
          <a:p>
            <a:pPr lvl="1" algn="just"/>
            <a:r>
              <a:rPr lang="en-US" sz="2000" dirty="0"/>
              <a:t>Small for a single user program</a:t>
            </a:r>
          </a:p>
          <a:p>
            <a:pPr lvl="1" algn="just"/>
            <a:r>
              <a:rPr lang="en-US" sz="2000" dirty="0"/>
              <a:t>Installation can dominate all other costs- </a:t>
            </a:r>
            <a:r>
              <a:rPr lang="en-US" sz="2000"/>
              <a:t>fixing one </a:t>
            </a:r>
            <a:r>
              <a:rPr lang="en-US" sz="2000" dirty="0"/>
              <a:t>simple bug and distributing the fix could exceed the entire system’s development cost.</a:t>
            </a:r>
          </a:p>
          <a:p>
            <a:pPr algn="just"/>
            <a:r>
              <a:rPr lang="en-US" b="1" dirty="0"/>
              <a:t>Consequences- </a:t>
            </a:r>
            <a:r>
              <a:rPr lang="en-US" dirty="0"/>
              <a:t>What are the consequences of the bug? </a:t>
            </a:r>
          </a:p>
          <a:p>
            <a:pPr algn="just"/>
            <a:r>
              <a:rPr lang="en-US" dirty="0"/>
              <a:t>Bug importance can be computed by</a:t>
            </a:r>
          </a:p>
          <a:p>
            <a:pPr lvl="1" algn="just"/>
            <a:r>
              <a:rPr lang="en-US" sz="2000" dirty="0"/>
              <a:t>Importance ($)=frequency * (</a:t>
            </a:r>
            <a:r>
              <a:rPr lang="en-US" sz="2000" dirty="0" err="1"/>
              <a:t>correction_cost</a:t>
            </a:r>
            <a:r>
              <a:rPr lang="en-US" sz="2000" dirty="0"/>
              <a:t> + </a:t>
            </a:r>
            <a:r>
              <a:rPr lang="en-US" sz="2000" dirty="0" err="1"/>
              <a:t>installation_cost</a:t>
            </a:r>
            <a:r>
              <a:rPr lang="en-US" sz="2000" dirty="0"/>
              <a:t> + consequential cost)</a:t>
            </a:r>
          </a:p>
          <a:p>
            <a:endParaRPr lang="en-US"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How Bugs Affect Us</a:t>
            </a:r>
          </a:p>
        </p:txBody>
      </p:sp>
      <p:sp>
        <p:nvSpPr>
          <p:cNvPr id="3" name="Content Placeholder 2"/>
          <p:cNvSpPr>
            <a:spLocks noGrp="1"/>
          </p:cNvSpPr>
          <p:nvPr>
            <p:ph idx="1"/>
          </p:nvPr>
        </p:nvSpPr>
        <p:spPr>
          <a:xfrm>
            <a:off x="1084216" y="1600200"/>
            <a:ext cx="9966961" cy="4876800"/>
          </a:xfrm>
        </p:spPr>
        <p:txBody>
          <a:bodyPr>
            <a:normAutofit/>
          </a:bodyPr>
          <a:lstStyle/>
          <a:p>
            <a:pPr algn="just"/>
            <a:r>
              <a:rPr lang="en-US" b="1" dirty="0"/>
              <a:t>Mild- </a:t>
            </a:r>
            <a:r>
              <a:rPr lang="en-US" dirty="0"/>
              <a:t>The symptoms of the bug offend us aesthetically. E.g. a misspelled output or a misaligned printout.</a:t>
            </a:r>
            <a:endParaRPr lang="en-US" b="1" dirty="0"/>
          </a:p>
          <a:p>
            <a:pPr algn="just"/>
            <a:r>
              <a:rPr lang="en-US" b="1" dirty="0"/>
              <a:t>Moderate- </a:t>
            </a:r>
            <a:r>
              <a:rPr lang="en-US" dirty="0"/>
              <a:t>Outputs are misleading or redundant. The bug impacts system’s performance</a:t>
            </a:r>
          </a:p>
          <a:p>
            <a:pPr algn="just"/>
            <a:r>
              <a:rPr lang="en-US" b="1" dirty="0"/>
              <a:t>Annoying- </a:t>
            </a:r>
            <a:r>
              <a:rPr lang="en-US" dirty="0"/>
              <a:t>The system’s behavior, because of bug is de-humanizing. E.g. names are truncated or arbitrarily modified. Bill for $0.0 are sent.</a:t>
            </a:r>
            <a:endParaRPr lang="en-US" b="1" dirty="0"/>
          </a:p>
          <a:p>
            <a:pPr algn="just"/>
            <a:r>
              <a:rPr lang="en-US" b="1" dirty="0"/>
              <a:t>Disturbing- </a:t>
            </a:r>
            <a:r>
              <a:rPr lang="en-US" dirty="0"/>
              <a:t>It refuses to handle legitimate transactions. </a:t>
            </a:r>
            <a:r>
              <a:rPr lang="en-US" dirty="0" err="1"/>
              <a:t>E.g</a:t>
            </a:r>
            <a:r>
              <a:rPr lang="en-US" dirty="0"/>
              <a:t> ATM won’t give you money. Your credit card is declared invalid.</a:t>
            </a:r>
            <a:endParaRPr lang="en-US" b="1" dirty="0"/>
          </a:p>
          <a:p>
            <a:pPr algn="just"/>
            <a:r>
              <a:rPr lang="en-US" b="1" dirty="0"/>
              <a:t>Serious- </a:t>
            </a:r>
            <a:r>
              <a:rPr lang="en-US" dirty="0"/>
              <a:t>It loses track of transactions: not just the transaction itself (your paycheck), but the fact that the transaction occurred. Accountability is lost.</a:t>
            </a:r>
            <a:endParaRPr lang="en-US" b="1" dirty="0"/>
          </a:p>
          <a:p>
            <a:endParaRPr lang="en-US" b="1"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How Bugs Affect Us</a:t>
            </a:r>
          </a:p>
        </p:txBody>
      </p:sp>
      <p:sp>
        <p:nvSpPr>
          <p:cNvPr id="3" name="Content Placeholder 2"/>
          <p:cNvSpPr>
            <a:spLocks noGrp="1"/>
          </p:cNvSpPr>
          <p:nvPr>
            <p:ph idx="1"/>
          </p:nvPr>
        </p:nvSpPr>
        <p:spPr>
          <a:xfrm>
            <a:off x="1097280" y="1447800"/>
            <a:ext cx="9993086" cy="5029200"/>
          </a:xfrm>
        </p:spPr>
        <p:txBody>
          <a:bodyPr>
            <a:normAutofit/>
          </a:bodyPr>
          <a:lstStyle/>
          <a:p>
            <a:pPr algn="just"/>
            <a:r>
              <a:rPr lang="en-US" b="1" dirty="0"/>
              <a:t>Very Serious- </a:t>
            </a:r>
            <a:r>
              <a:rPr lang="en-US" dirty="0"/>
              <a:t>The bug causes the system to do wrong calculations, transactions etc. Instead of losing your paycheck, the system credits it to another account.</a:t>
            </a:r>
          </a:p>
          <a:p>
            <a:pPr algn="just"/>
            <a:r>
              <a:rPr lang="en-US" b="1" dirty="0"/>
              <a:t>Extreme- </a:t>
            </a:r>
            <a:r>
              <a:rPr lang="en-US" dirty="0"/>
              <a:t>The problems are not limited to few users or to a few transaction types.</a:t>
            </a:r>
          </a:p>
          <a:p>
            <a:pPr algn="just"/>
            <a:r>
              <a:rPr lang="en-US" b="1" dirty="0"/>
              <a:t>Intolerable- </a:t>
            </a:r>
            <a:r>
              <a:rPr lang="en-US" dirty="0"/>
              <a:t>Long-term, unrecoverable corruption of the database occurs and the corruption is not easily discovered. Serious consideration is given to shutting the system down</a:t>
            </a:r>
            <a:endParaRPr lang="en-US" b="1" dirty="0"/>
          </a:p>
          <a:p>
            <a:pPr algn="just"/>
            <a:r>
              <a:rPr lang="en-US" b="1" dirty="0"/>
              <a:t>Catastrophic- </a:t>
            </a:r>
            <a:r>
              <a:rPr lang="en-US" dirty="0"/>
              <a:t>The decision to shut down is taken out of our hands because the system fails.</a:t>
            </a:r>
          </a:p>
          <a:p>
            <a:pPr algn="just"/>
            <a:r>
              <a:rPr lang="en-US" b="1" dirty="0"/>
              <a:t>Infectious- </a:t>
            </a:r>
            <a:r>
              <a:rPr lang="en-US" dirty="0"/>
              <a:t>A system that corrupts other systems even though it  does not fail in itself that erodes the social or physical environment. </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Flexible Severity Rather than Absolute</a:t>
            </a:r>
          </a:p>
        </p:txBody>
      </p:sp>
      <p:sp>
        <p:nvSpPr>
          <p:cNvPr id="3" name="Content Placeholder 2"/>
          <p:cNvSpPr>
            <a:spLocks noGrp="1"/>
          </p:cNvSpPr>
          <p:nvPr>
            <p:ph idx="1"/>
          </p:nvPr>
        </p:nvSpPr>
        <p:spPr/>
        <p:txBody>
          <a:bodyPr>
            <a:normAutofit/>
          </a:bodyPr>
          <a:lstStyle/>
          <a:p>
            <a:pPr algn="just"/>
            <a:r>
              <a:rPr lang="en-US" dirty="0"/>
              <a:t>We cannot say that software has 0 or 100 % quality</a:t>
            </a:r>
          </a:p>
          <a:p>
            <a:pPr algn="just"/>
            <a:r>
              <a:rPr lang="en-US" dirty="0"/>
              <a:t>Quality can be measured on some scale, say from 0 to 10</a:t>
            </a:r>
          </a:p>
          <a:p>
            <a:pPr algn="just"/>
            <a:r>
              <a:rPr lang="en-US" dirty="0"/>
              <a:t>Quality can be measured as a combination of factors, of which the number of bugs and their severity is only one component</a:t>
            </a:r>
          </a:p>
          <a:p>
            <a:pPr algn="just"/>
            <a:r>
              <a:rPr lang="en-US" dirty="0"/>
              <a:t>Some of the factors on which quality depends may include environment, application, culture etc</a:t>
            </a:r>
          </a:p>
          <a:p>
            <a:endParaRPr lang="en-US"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Flexible Severity Rather than Absolute</a:t>
            </a:r>
          </a:p>
        </p:txBody>
      </p:sp>
      <p:sp>
        <p:nvSpPr>
          <p:cNvPr id="3" name="Content Placeholder 2"/>
          <p:cNvSpPr>
            <a:spLocks noGrp="1"/>
          </p:cNvSpPr>
          <p:nvPr>
            <p:ph idx="1"/>
          </p:nvPr>
        </p:nvSpPr>
        <p:spPr/>
        <p:txBody>
          <a:bodyPr>
            <a:normAutofit/>
          </a:bodyPr>
          <a:lstStyle/>
          <a:p>
            <a:pPr algn="just"/>
            <a:r>
              <a:rPr lang="en-US" b="1" dirty="0"/>
              <a:t>Correction Cost- </a:t>
            </a:r>
            <a:r>
              <a:rPr lang="en-US" dirty="0"/>
              <a:t>The cost of correcting a bug has almost nothing to do with symptom severity.</a:t>
            </a:r>
          </a:p>
          <a:p>
            <a:pPr lvl="1" algn="just"/>
            <a:r>
              <a:rPr lang="en-US" sz="2000" dirty="0"/>
              <a:t>Catastrophic, life threatening bugs could be trivial to fix</a:t>
            </a:r>
          </a:p>
          <a:p>
            <a:pPr lvl="1" algn="just"/>
            <a:r>
              <a:rPr lang="en-US" sz="2000" dirty="0"/>
              <a:t>Minor annoyances could require major rewrites to correct</a:t>
            </a:r>
          </a:p>
          <a:p>
            <a:pPr algn="just"/>
            <a:r>
              <a:rPr lang="en-US" b="1" dirty="0"/>
              <a:t>Context and Application Dependency- </a:t>
            </a:r>
            <a:r>
              <a:rPr lang="en-US" dirty="0"/>
              <a:t>The severity of a bug, for the same bug or same symptoms, depends on context. </a:t>
            </a:r>
          </a:p>
          <a:p>
            <a:pPr lvl="1" algn="just"/>
            <a:r>
              <a:rPr lang="en-US" sz="2000" dirty="0"/>
              <a:t>E.g. a round off error in an orbit calculation doesn't mean much in a spaceship video game but it meters to real astronauts.  </a:t>
            </a:r>
            <a:endParaRPr lang="en-US" sz="2000" b="1"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Flexible Severity Rather than Absolute</a:t>
            </a:r>
          </a:p>
        </p:txBody>
      </p:sp>
      <p:sp>
        <p:nvSpPr>
          <p:cNvPr id="3" name="Content Placeholder 2"/>
          <p:cNvSpPr>
            <a:spLocks noGrp="1"/>
          </p:cNvSpPr>
          <p:nvPr>
            <p:ph idx="1"/>
          </p:nvPr>
        </p:nvSpPr>
        <p:spPr>
          <a:xfrm>
            <a:off x="1110343" y="1524000"/>
            <a:ext cx="9980024" cy="5029200"/>
          </a:xfrm>
        </p:spPr>
        <p:txBody>
          <a:bodyPr>
            <a:normAutofit/>
          </a:bodyPr>
          <a:lstStyle/>
          <a:p>
            <a:pPr algn="just"/>
            <a:r>
              <a:rPr lang="en-US" b="1" dirty="0"/>
              <a:t>Creating Culture Dependency- </a:t>
            </a:r>
            <a:r>
              <a:rPr lang="en-US" dirty="0"/>
              <a:t>What’s important depends on the creators of the software and their cultural aspirations.</a:t>
            </a:r>
          </a:p>
          <a:p>
            <a:pPr algn="just"/>
            <a:r>
              <a:rPr lang="en-US" b="1" dirty="0"/>
              <a:t>User Culture Dependency- </a:t>
            </a:r>
            <a:r>
              <a:rPr lang="en-US" dirty="0"/>
              <a:t>What’s important depends on the user culture.</a:t>
            </a:r>
          </a:p>
          <a:p>
            <a:pPr lvl="1" algn="just"/>
            <a:r>
              <a:rPr lang="en-US" sz="2000" dirty="0"/>
              <a:t>An R &amp; D shop might accept a bug for which there is a workaround. A banker would go to jail for that same bug.</a:t>
            </a:r>
          </a:p>
          <a:p>
            <a:pPr algn="just"/>
            <a:r>
              <a:rPr lang="en-US" b="1" dirty="0"/>
              <a:t>The Software Development Phases- </a:t>
            </a:r>
            <a:r>
              <a:rPr lang="en-US" dirty="0"/>
              <a:t>Severity depends on development phase. A bug gets more severe and correction cost dramatically rises </a:t>
            </a:r>
          </a:p>
          <a:p>
            <a:pPr lvl="1" algn="just"/>
            <a:r>
              <a:rPr lang="en-US" sz="2000" dirty="0"/>
              <a:t>As it gets closure to field use</a:t>
            </a:r>
          </a:p>
          <a:p>
            <a:pPr lvl="1" algn="just"/>
            <a:r>
              <a:rPr lang="en-US" sz="2000" dirty="0"/>
              <a:t>The longer it has been around</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4. The Nightmare List and When to Stop Testing</a:t>
            </a:r>
          </a:p>
        </p:txBody>
      </p:sp>
      <p:sp>
        <p:nvSpPr>
          <p:cNvPr id="3" name="Content Placeholder 2"/>
          <p:cNvSpPr>
            <a:spLocks noGrp="1"/>
          </p:cNvSpPr>
          <p:nvPr>
            <p:ph idx="1"/>
          </p:nvPr>
        </p:nvSpPr>
        <p:spPr/>
        <p:txBody>
          <a:bodyPr>
            <a:normAutofit/>
          </a:bodyPr>
          <a:lstStyle/>
          <a:p>
            <a:pPr algn="just"/>
            <a:r>
              <a:rPr lang="en-US" dirty="0"/>
              <a:t>You and your organization must define their own nightmares</a:t>
            </a:r>
          </a:p>
          <a:p>
            <a:pPr algn="just"/>
            <a:r>
              <a:rPr lang="en-US" dirty="0"/>
              <a:t>Here is a workable procedure to quantify your nightmares</a:t>
            </a:r>
          </a:p>
          <a:p>
            <a:pPr marL="971550" lvl="1" indent="-514350" algn="just">
              <a:buFont typeface="+mj-lt"/>
              <a:buAutoNum type="arabicPeriod"/>
            </a:pPr>
            <a:r>
              <a:rPr lang="en-US" sz="2000" dirty="0"/>
              <a:t>List your worst nightmares. State them in terms of symptoms they produce and how your users will react to those symptoms</a:t>
            </a:r>
          </a:p>
          <a:p>
            <a:pPr marL="971550" lvl="1" indent="-514350" algn="just">
              <a:buFont typeface="+mj-lt"/>
              <a:buAutoNum type="arabicPeriod"/>
            </a:pPr>
            <a:r>
              <a:rPr lang="en-US" sz="2000" dirty="0"/>
              <a:t>Convert consequences of each nightmare into </a:t>
            </a:r>
            <a:r>
              <a:rPr lang="en-US" sz="2000" b="1" dirty="0"/>
              <a:t>cost</a:t>
            </a:r>
          </a:p>
          <a:p>
            <a:pPr marL="971550" lvl="1" indent="-514350" algn="just">
              <a:buFont typeface="+mj-lt"/>
              <a:buAutoNum type="arabicPeriod"/>
            </a:pPr>
            <a:r>
              <a:rPr lang="en-US" sz="2000" b="1" dirty="0"/>
              <a:t>Order list </a:t>
            </a:r>
            <a:r>
              <a:rPr lang="en-US" sz="2000" dirty="0"/>
              <a:t>from costliest to cheapest and then </a:t>
            </a:r>
            <a:r>
              <a:rPr lang="en-US" sz="2000" b="1" dirty="0"/>
              <a:t>discard </a:t>
            </a:r>
            <a:r>
              <a:rPr lang="en-US" sz="2000" dirty="0"/>
              <a:t>the low-concern nightmares</a:t>
            </a:r>
          </a:p>
          <a:p>
            <a:pPr marL="971550" lvl="1" indent="-514350" algn="just">
              <a:buFont typeface="+mj-lt"/>
              <a:buAutoNum type="arabicPeriod"/>
            </a:pPr>
            <a:r>
              <a:rPr lang="en-US" sz="2000" dirty="0"/>
              <a:t>Based on your experience, measured data, intuition and published statistics </a:t>
            </a:r>
            <a:r>
              <a:rPr lang="en-US" sz="2000" b="1" dirty="0"/>
              <a:t>populate the kinds of bugs that are likely to create symptoms </a:t>
            </a:r>
            <a:r>
              <a:rPr lang="en-US" sz="2000" dirty="0"/>
              <a:t>expressed by each nightmare</a:t>
            </a:r>
          </a:p>
          <a:p>
            <a:endParaRPr lang="en-US"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Nightmare List and When to Stop Testing</a:t>
            </a:r>
          </a:p>
        </p:txBody>
      </p:sp>
      <p:sp>
        <p:nvSpPr>
          <p:cNvPr id="3" name="Content Placeholder 2"/>
          <p:cNvSpPr>
            <a:spLocks noGrp="1"/>
          </p:cNvSpPr>
          <p:nvPr>
            <p:ph idx="1"/>
          </p:nvPr>
        </p:nvSpPr>
        <p:spPr>
          <a:xfrm>
            <a:off x="1136468" y="1600200"/>
            <a:ext cx="9953897" cy="4800600"/>
          </a:xfrm>
        </p:spPr>
        <p:txBody>
          <a:bodyPr>
            <a:normAutofit/>
          </a:bodyPr>
          <a:lstStyle/>
          <a:p>
            <a:pPr marL="971550" lvl="1" indent="-514350" algn="just">
              <a:buFont typeface="+mj-lt"/>
              <a:buAutoNum type="arabicPeriod" startAt="5"/>
            </a:pPr>
            <a:r>
              <a:rPr lang="en-US" sz="2000" dirty="0"/>
              <a:t>After developing a list of bugs for each nightmare, order that list by decreasing</a:t>
            </a:r>
            <a:r>
              <a:rPr lang="en-US" sz="2000" b="1" dirty="0"/>
              <a:t> probability</a:t>
            </a:r>
            <a:r>
              <a:rPr lang="en-US" sz="2000" dirty="0"/>
              <a:t>. Calculate the importance of bugs</a:t>
            </a:r>
          </a:p>
          <a:p>
            <a:pPr marL="971550" lvl="1" indent="-514350" algn="just">
              <a:buFont typeface="+mj-lt"/>
              <a:buAutoNum type="arabicPeriod" startAt="5"/>
            </a:pPr>
            <a:r>
              <a:rPr lang="en-US" sz="2000" b="1" dirty="0"/>
              <a:t>Rank </a:t>
            </a:r>
            <a:r>
              <a:rPr lang="en-US" sz="2000" dirty="0"/>
              <a:t>the bug types in order of decreasing </a:t>
            </a:r>
            <a:r>
              <a:rPr lang="en-US" sz="2000" b="1" dirty="0"/>
              <a:t>order of importance </a:t>
            </a:r>
            <a:r>
              <a:rPr lang="en-US" sz="2000" dirty="0"/>
              <a:t>to you.</a:t>
            </a:r>
          </a:p>
          <a:p>
            <a:pPr marL="971550" lvl="1" indent="-514350" algn="just">
              <a:buFont typeface="+mj-lt"/>
              <a:buAutoNum type="arabicPeriod" startAt="5"/>
            </a:pPr>
            <a:r>
              <a:rPr lang="en-US" sz="2000" b="1" dirty="0"/>
              <a:t>Design tests and design your quality assurance </a:t>
            </a:r>
            <a:r>
              <a:rPr lang="en-US" sz="2000" dirty="0"/>
              <a:t>inspection process by using effective methods</a:t>
            </a:r>
          </a:p>
          <a:p>
            <a:pPr marL="971550" lvl="1" indent="-514350" algn="just">
              <a:buFont typeface="+mj-lt"/>
              <a:buAutoNum type="arabicPeriod" startAt="5"/>
            </a:pPr>
            <a:r>
              <a:rPr lang="en-US" sz="2000" dirty="0"/>
              <a:t>If a </a:t>
            </a:r>
            <a:r>
              <a:rPr lang="en-US" sz="2000" b="1" dirty="0"/>
              <a:t>test </a:t>
            </a:r>
            <a:r>
              <a:rPr lang="en-US" sz="2000" dirty="0"/>
              <a:t>is passed, then some nightmares or parts of them go away otherwise nightmare is possible. You have to revise your subsequent test strategy</a:t>
            </a:r>
          </a:p>
          <a:p>
            <a:pPr marL="971550" lvl="1" indent="-514350" algn="just">
              <a:buFont typeface="+mj-lt"/>
              <a:buAutoNum type="arabicPeriod" startAt="5"/>
            </a:pPr>
            <a:r>
              <a:rPr lang="en-US" sz="2000" b="1" dirty="0"/>
              <a:t>Stop testing </a:t>
            </a:r>
            <a:r>
              <a:rPr lang="en-US" sz="2000" dirty="0"/>
              <a:t>when probability of all nightmares reduces to satisfaction level</a:t>
            </a:r>
          </a:p>
        </p:txBody>
      </p:sp>
    </p:spTree>
  </p:cSld>
  <p:clrMapOvr>
    <a:masterClrMapping/>
  </p:clrMapOvr>
  <p:transition spd="med">
    <p:fade/>
  </p:transition>
</p:sld>
</file>

<file path=ppt/theme/theme1.xml><?xml version="1.0" encoding="utf-8"?>
<a:theme xmlns:a="http://schemas.openxmlformats.org/drawingml/2006/main"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tf03431380</Template>
  <TotalTime>383</TotalTime>
  <Words>1668</Words>
  <Application>Microsoft Office PowerPoint</Application>
  <PresentationFormat>Widescreen</PresentationFormat>
  <Paragraphs>171</Paragraphs>
  <Slides>26</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Castellar</vt:lpstr>
      <vt:lpstr>Euphemia</vt:lpstr>
      <vt:lpstr>Plantagenet Cherokee</vt:lpstr>
      <vt:lpstr>Wingdings</vt:lpstr>
      <vt:lpstr>tf03431380</vt:lpstr>
      <vt:lpstr>CSE 455 Software Testing</vt:lpstr>
      <vt:lpstr>   Course instructor            Yella mehroze</vt:lpstr>
      <vt:lpstr>Bugs</vt:lpstr>
      <vt:lpstr>Outline</vt:lpstr>
      <vt:lpstr>Characteristics of Good Tests</vt:lpstr>
      <vt:lpstr>Characteristics of Good Tests</vt:lpstr>
      <vt:lpstr>Characteristics of Good Tests</vt:lpstr>
      <vt:lpstr>Fault, Error, Failure</vt:lpstr>
      <vt:lpstr>Causes of Defects and Failure</vt:lpstr>
      <vt:lpstr>Bug’s Life Cycle</vt:lpstr>
      <vt:lpstr>Bug’s Life Cycle</vt:lpstr>
      <vt:lpstr>Complicated Bug’s Life Cycle</vt:lpstr>
      <vt:lpstr>Complicated Bug’s Life Cycle</vt:lpstr>
      <vt:lpstr>Generic Bug’s Life Cycle</vt:lpstr>
      <vt:lpstr>Generic Bug’s Life Cycle</vt:lpstr>
      <vt:lpstr>Generic Bug’s Life Cycle</vt:lpstr>
      <vt:lpstr>Consequences of Bug</vt:lpstr>
      <vt:lpstr>1. Importance of Bugs</vt:lpstr>
      <vt:lpstr>1. Importance of Bugs</vt:lpstr>
      <vt:lpstr>2. How Bugs Affect Us</vt:lpstr>
      <vt:lpstr>2. How Bugs Affect Us</vt:lpstr>
      <vt:lpstr>3. Flexible Severity Rather than Absolute</vt:lpstr>
      <vt:lpstr>3. Flexible Severity Rather than Absolute</vt:lpstr>
      <vt:lpstr>3. Flexible Severity Rather than Absolute</vt:lpstr>
      <vt:lpstr>4. The Nightmare List and When to Stop Testing</vt:lpstr>
      <vt:lpstr>The Nightmare List and When to Stop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sabeen amjad</dc:creator>
  <cp:lastModifiedBy>Yella</cp:lastModifiedBy>
  <cp:revision>79</cp:revision>
  <dcterms:created xsi:type="dcterms:W3CDTF">2017-08-27T11:24:32Z</dcterms:created>
  <dcterms:modified xsi:type="dcterms:W3CDTF">2021-11-28T13:26:27Z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