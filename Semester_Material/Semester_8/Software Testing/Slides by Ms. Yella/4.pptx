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3"/>
  </p:notesMasterIdLst>
  <p:handoutMasterIdLst>
    <p:handoutMasterId r:id="rId34"/>
  </p:handoutMasterIdLst>
  <p:sldIdLst>
    <p:sldId id="319" r:id="rId5"/>
    <p:sldId id="320" r:id="rId6"/>
    <p:sldId id="256" r:id="rId7"/>
    <p:sldId id="269" r:id="rId8"/>
    <p:sldId id="315" r:id="rId9"/>
    <p:sldId id="317" r:id="rId10"/>
    <p:sldId id="318" r:id="rId11"/>
    <p:sldId id="308" r:id="rId12"/>
    <p:sldId id="273" r:id="rId13"/>
    <p:sldId id="274" r:id="rId14"/>
    <p:sldId id="292" r:id="rId15"/>
    <p:sldId id="277" r:id="rId16"/>
    <p:sldId id="295" r:id="rId17"/>
    <p:sldId id="296" r:id="rId18"/>
    <p:sldId id="310" r:id="rId19"/>
    <p:sldId id="298" r:id="rId20"/>
    <p:sldId id="299" r:id="rId21"/>
    <p:sldId id="305" r:id="rId22"/>
    <p:sldId id="306" r:id="rId23"/>
    <p:sldId id="300" r:id="rId24"/>
    <p:sldId id="302" r:id="rId25"/>
    <p:sldId id="303" r:id="rId26"/>
    <p:sldId id="312" r:id="rId27"/>
    <p:sldId id="285" r:id="rId28"/>
    <p:sldId id="313" r:id="rId29"/>
    <p:sldId id="286" r:id="rId30"/>
    <p:sldId id="314" r:id="rId31"/>
    <p:sldId id="287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69" autoAdjust="0"/>
    <p:restoredTop sz="95400" autoAdjust="0"/>
  </p:normalViewPr>
  <p:slideViewPr>
    <p:cSldViewPr snapToGrid="0" showGuides="1">
      <p:cViewPr varScale="1">
        <p:scale>
          <a:sx n="83" d="100"/>
          <a:sy n="83" d="100"/>
        </p:scale>
        <p:origin x="643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58" d="100"/>
          <a:sy n="58" d="100"/>
        </p:scale>
        <p:origin x="197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CEAAF3-9831-450B-8D59-2C09DB96C8FC}" type="datetimeFigureOut">
              <a:rPr lang="en-US"/>
              <a:pPr/>
              <a:t>9/19/2021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834459-7356-44BF-850D-8B30C4FB3B6B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690165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50CD79-FC16-4410-AB61-17F26E6D3BC8}" type="datetimeFigureOut">
              <a:rPr lang="en-US"/>
              <a:pPr/>
              <a:t>9/19/2021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3C37BE-C303-496D-B5CD-85F2937540FC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50842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i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7744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1" dirty="0">
                <a:latin typeface="Arial" pitchFamily="34" charset="0"/>
                <a:cs typeface="Arial" pitchFamily="34" charset="0"/>
              </a:rPr>
              <a:t>NOTE:</a:t>
            </a:r>
          </a:p>
          <a:p>
            <a:r>
              <a:rPr lang="en-US" i="1" dirty="0">
                <a:latin typeface="Arial" pitchFamily="34" charset="0"/>
                <a:cs typeface="Arial" pitchFamily="34" charset="0"/>
              </a:rPr>
              <a:t>To change the  image on this slide, select the picture and delete it. Then click the Pictures icon in the placeholder to insert your own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1502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04587F-79A6-4172-A9D5-AFC62B482304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0848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04587F-79A6-4172-A9D5-AFC62B482304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0848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04587F-79A6-4172-A9D5-AFC62B482304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0848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04587F-79A6-4172-A9D5-AFC62B482304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0848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Informal Reviews: 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 informal review aims to improve the quality of the tested product through discussions and is usually not documented. In start two to three tea</a:t>
            </a:r>
            <a:r>
              <a:rPr lang="en-GB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members involved.</a:t>
            </a:r>
          </a:p>
          <a:p>
            <a:r>
              <a:rPr lang="en-GB" sz="1200" b="1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Walkthroughs</a:t>
            </a:r>
            <a:r>
              <a:rPr lang="en-US" sz="1200" b="1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Walk through is not a formal process of review and is carried out by authors. </a:t>
            </a:r>
          </a:p>
          <a:p>
            <a:r>
              <a:rPr lang="en-GB" sz="1200" b="1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Technical Reviews: 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technical review is carried out by a trained moderator or technical expert. It is less formal as compared to an inspection.</a:t>
            </a:r>
          </a:p>
          <a:p>
            <a:r>
              <a:rPr lang="en-GB" sz="1200" b="1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Inspection: 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 inspection is the most formal type of review and is conducted by trained moderators.</a:t>
            </a:r>
          </a:p>
          <a:p>
            <a:r>
              <a:rPr lang="en-GB" sz="1200" b="1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Control Flow: 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control flow structure refers to the sequence of execution of instructions.</a:t>
            </a:r>
          </a:p>
          <a:p>
            <a:r>
              <a:rPr lang="en-GB" sz="1200" b="1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 Flow: 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Understanding the fate of each data item as it is accessed and modified by the code.</a:t>
            </a:r>
          </a:p>
          <a:p>
            <a:endParaRPr lang="en-GB" sz="1200" b="1" i="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GB" sz="1200" b="1" i="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GB" sz="1200" b="1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Specification Based (Black Box):</a:t>
            </a:r>
          </a:p>
          <a:p>
            <a:r>
              <a:rPr lang="en-GB" sz="1200" b="1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Structure Based (White Box):</a:t>
            </a:r>
          </a:p>
          <a:p>
            <a:endParaRPr lang="en-GB" sz="1200" b="1" i="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GB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Exploratory Testing:</a:t>
            </a:r>
            <a:r>
              <a:rPr lang="en-GB" sz="1200" b="1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method, generally conducted by business analysts and experts, is followed to test the applications without any documentation.</a:t>
            </a:r>
          </a:p>
          <a:p>
            <a:r>
              <a:rPr lang="en-GB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Error guessing: </a:t>
            </a:r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 a testing technique that makes use of a tester's skill, intuition and experience in testing similar applications to identify defects that may not be easy to capture by the more formal techniques.</a:t>
            </a:r>
            <a:endParaRPr lang="en-GB" sz="1200" b="1" i="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04587F-79A6-4172-A9D5-AFC62B482304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0848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04587F-79A6-4172-A9D5-AFC62B482304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0848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04587F-79A6-4172-A9D5-AFC62B482304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0848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04587F-79A6-4172-A9D5-AFC62B482304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0848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Testware</a:t>
            </a:r>
            <a:r>
              <a:rPr lang="en-US" dirty="0" smtClean="0"/>
              <a:t>:</a:t>
            </a:r>
            <a:r>
              <a:rPr lang="en-US" baseline="0" dirty="0" smtClean="0"/>
              <a:t> Used to describe all of </a:t>
            </a:r>
            <a:r>
              <a:rPr lang="en-US" baseline="0" smtClean="0"/>
              <a:t>the materials </a:t>
            </a:r>
            <a:r>
              <a:rPr lang="en-US" baseline="0" dirty="0" smtClean="0"/>
              <a:t>used to perform a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04587F-79A6-4172-A9D5-AFC62B482304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0848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04587F-79A6-4172-A9D5-AFC62B482304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0848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4445" y="0"/>
            <a:ext cx="1747524" cy="229209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10096500" cy="2219691"/>
          </a:xfrm>
        </p:spPr>
        <p:txBody>
          <a:bodyPr anchor="ctr">
            <a:normAutofit/>
          </a:bodyPr>
          <a:lstStyle>
            <a:lvl1pPr algn="l">
              <a:defRPr sz="4400" cap="all" baseline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4898" y="4511784"/>
            <a:ext cx="10096501" cy="95556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fld id="{402B9795-92DC-40DC-A1CA-9A4B349D7824}" type="datetimeFigureOut">
              <a:rPr lang="en-US" smtClean="0"/>
              <a:pPr/>
              <a:t>9/19/2021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756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pPr/>
              <a:t>9/19/2021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86876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anchor="ctr">
            <a:normAutofit/>
          </a:bodyPr>
          <a:lstStyle>
            <a:lvl1pPr algn="l">
              <a:defRPr sz="4400" cap="all" baseline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4900" y="4511784"/>
            <a:ext cx="5734050" cy="95556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11" name="Picture Placeholder 10" descr="An empty placeholder to add an image. Click on the placeholder and select the image that you wish to add."/>
          <p:cNvSpPr>
            <a:spLocks noGrp="1"/>
          </p:cNvSpPr>
          <p:nvPr>
            <p:ph type="pic" sz="quarter" idx="13"/>
          </p:nvPr>
        </p:nvSpPr>
        <p:spPr>
          <a:xfrm>
            <a:off x="6981063" y="1310656"/>
            <a:ext cx="5210937" cy="4208604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/>
          <a:lstStyle>
            <a:lvl1pPr marL="0" indent="0" algn="ctr">
              <a:buNone/>
              <a:defRPr/>
            </a:lvl1pPr>
          </a:lstStyle>
          <a:p>
            <a:r>
              <a:rPr lang="en-US" smtClean="0"/>
              <a:t>Click icon to add picture</a:t>
            </a:r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4" name="Group 13"/>
          <p:cNvGrpSpPr/>
          <p:nvPr/>
        </p:nvGrpSpPr>
        <p:grpSpPr>
          <a:xfrm>
            <a:off x="0" y="1143000"/>
            <a:ext cx="12192000" cy="63125"/>
            <a:chOff x="507492" y="1501519"/>
            <a:chExt cx="8129016" cy="63125"/>
          </a:xfrm>
        </p:grpSpPr>
        <p:cxnSp>
          <p:nvCxnSpPr>
            <p:cNvPr id="15" name="Straight Connector 14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5880" y="0"/>
            <a:ext cx="1747524" cy="2292094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 rot="10800000">
            <a:off x="0" y="5645510"/>
            <a:ext cx="12192000" cy="63125"/>
            <a:chOff x="507492" y="1501519"/>
            <a:chExt cx="8129016" cy="6312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Rectangle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673943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9" name="Group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Straight Connector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Rectangle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11" name="Group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Straight Connector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0" y="0"/>
            <a:ext cx="1783188" cy="2971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</p:spPr>
        <p:txBody>
          <a:bodyPr anchor="ctr">
            <a:normAutofit/>
          </a:bodyPr>
          <a:lstStyle>
            <a:lvl1pPr>
              <a:defRPr sz="4400" cap="all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899" y="4655956"/>
            <a:ext cx="10071099" cy="50975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pPr/>
              <a:t>9/19/2021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02678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914900" cy="4571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4914900" cy="4571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pPr/>
              <a:t>9/19/2021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27791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4919472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4900" y="2424112"/>
            <a:ext cx="4919472" cy="37480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66110" y="1600200"/>
            <a:ext cx="4919472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66110" y="2424112"/>
            <a:ext cx="4919472" cy="37480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pPr/>
              <a:t>9/19/2021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71016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pPr/>
              <a:t>9/19/2021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58111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pPr/>
              <a:t>9/19/2021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416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4384548" cy="45720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41848" y="1600199"/>
            <a:ext cx="5445252" cy="4572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pPr/>
              <a:t>9/19/2021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69764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3396996" cy="45720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654671" y="1600199"/>
            <a:ext cx="6430912" cy="4572001"/>
          </a:xfrm>
        </p:spPr>
        <p:txBody>
          <a:bodyPr tIns="118872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pPr/>
              <a:t>9/19/2021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9637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pPr/>
              <a:t>9/19/2021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2076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372600" y="365125"/>
            <a:ext cx="17145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04900" y="365125"/>
            <a:ext cx="8098896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pPr/>
              <a:t>9/19/2021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pPr/>
              <a:t>‹#›</a:t>
            </a:fld>
            <a:endParaRPr/>
          </a:p>
        </p:txBody>
      </p:sp>
      <p:grpSp>
        <p:nvGrpSpPr>
          <p:cNvPr id="7" name="Group 6"/>
          <p:cNvGrpSpPr/>
          <p:nvPr/>
        </p:nvGrpSpPr>
        <p:grpSpPr>
          <a:xfrm rot="5400000">
            <a:off x="6514047" y="3228843"/>
            <a:ext cx="5632704" cy="84403"/>
            <a:chOff x="1073150" y="1219201"/>
            <a:chExt cx="10058400" cy="63125"/>
          </a:xfrm>
        </p:grpSpPr>
        <p:cxnSp>
          <p:nvCxnSpPr>
            <p:cNvPr id="8" name="Straight Connector 7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45927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402B9795-92DC-40DC-A1CA-9A4B349D7824}" type="datetimeFigureOut">
              <a:rPr lang="en-US" smtClean="0"/>
              <a:pPr/>
              <a:t>9/19/2021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5" name="Group 14"/>
          <p:cNvGrpSpPr/>
          <p:nvPr/>
        </p:nvGrpSpPr>
        <p:grpSpPr>
          <a:xfrm>
            <a:off x="1103376" y="1219201"/>
            <a:ext cx="9985248" cy="84403"/>
            <a:chOff x="1073150" y="1219201"/>
            <a:chExt cx="10058400" cy="63125"/>
          </a:xfrm>
        </p:grpSpPr>
        <p:cxnSp>
          <p:nvCxnSpPr>
            <p:cNvPr id="13" name="Straight Connector 12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46251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696">
          <p15:clr>
            <a:srgbClr val="F26B43"/>
          </p15:clr>
        </p15:guide>
        <p15:guide id="2" pos="6984">
          <p15:clr>
            <a:srgbClr val="F26B43"/>
          </p15:clr>
        </p15:guide>
        <p15:guide id="3" orient="horz" pos="1008">
          <p15:clr>
            <a:srgbClr val="F26B43"/>
          </p15:clr>
        </p15:guide>
        <p15:guide id="4" orient="horz" pos="38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822798" y="1310656"/>
            <a:ext cx="5734050" cy="2219691"/>
          </a:xfrm>
        </p:spPr>
        <p:txBody>
          <a:bodyPr anchor="ctr"/>
          <a:lstStyle/>
          <a:p>
            <a:r>
              <a:rPr lang="en-US" dirty="0" smtClean="0"/>
              <a:t>CSE 455</a:t>
            </a:r>
            <a:br>
              <a:rPr lang="en-US" dirty="0" smtClean="0"/>
            </a:br>
            <a:r>
              <a:rPr lang="en-US" dirty="0" smtClean="0"/>
              <a:t>Software Testing</a:t>
            </a:r>
            <a:endParaRPr lang="en-US" dirty="0"/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This course is offered to the students of students of BS Software Engineering who are enrolled in 8</a:t>
            </a:r>
            <a:r>
              <a:rPr lang="en-US" baseline="30000" dirty="0" smtClean="0"/>
              <a:t>th</a:t>
            </a:r>
            <a:r>
              <a:rPr lang="en-US" dirty="0" smtClean="0"/>
              <a:t> semester</a:t>
            </a:r>
          </a:p>
        </p:txBody>
      </p:sp>
      <p:pic>
        <p:nvPicPr>
          <p:cNvPr id="4" name="Picture Placeholder 3" descr="Open book on table, blurred shelves of books in background"/>
          <p:cNvPicPr>
            <a:picLocks noGrp="1" noChangeAspect="1"/>
          </p:cNvPicPr>
          <p:nvPr>
            <p:ph type="pic" sz="quarter" idx="13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0" r="8890"/>
          <a:stretch>
            <a:fillRect/>
          </a:stretch>
        </p:blipFill>
        <p:spPr/>
      </p:pic>
      <p:sp>
        <p:nvSpPr>
          <p:cNvPr id="5" name="Subtitle 6"/>
          <p:cNvSpPr txBox="1">
            <a:spLocks/>
          </p:cNvSpPr>
          <p:nvPr/>
        </p:nvSpPr>
        <p:spPr>
          <a:xfrm>
            <a:off x="1466850" y="3655068"/>
            <a:ext cx="1045441" cy="454605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Wingdings" panose="05000000000000000000" pitchFamily="2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mtClean="0"/>
              <a:t>Lecture </a:t>
            </a:r>
            <a:r>
              <a:rPr lang="en-US" smtClean="0"/>
              <a:t>4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1085" y="0"/>
            <a:ext cx="1090915" cy="1089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48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06618" y="1830275"/>
            <a:ext cx="5301673" cy="2219691"/>
          </a:xfr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sz="3000" dirty="0" smtClean="0">
                <a:latin typeface="Castellar" panose="020A0402060406010301" pitchFamily="18" charset="0"/>
              </a:rPr>
              <a:t>   Course instructor</a:t>
            </a:r>
            <a:br>
              <a:rPr lang="en-US" sz="3000" dirty="0" smtClean="0">
                <a:latin typeface="Castellar" panose="020A0402060406010301" pitchFamily="18" charset="0"/>
              </a:rPr>
            </a:br>
            <a:r>
              <a:rPr lang="en-US" sz="3000" dirty="0" smtClean="0">
                <a:latin typeface="Castellar" panose="020A0402060406010301" pitchFamily="18" charset="0"/>
              </a:rPr>
              <a:t/>
            </a:r>
            <a:br>
              <a:rPr lang="en-US" sz="3000" dirty="0" smtClean="0">
                <a:latin typeface="Castellar" panose="020A0402060406010301" pitchFamily="18" charset="0"/>
              </a:rPr>
            </a:br>
            <a:r>
              <a:rPr lang="en-US" sz="3000" dirty="0" smtClean="0">
                <a:latin typeface="Castellar" panose="020A0402060406010301" pitchFamily="18" charset="0"/>
              </a:rPr>
              <a:t>          Yella </a:t>
            </a:r>
            <a:r>
              <a:rPr lang="en-US" sz="3000" dirty="0" err="1" smtClean="0">
                <a:latin typeface="Castellar" panose="020A0402060406010301" pitchFamily="18" charset="0"/>
              </a:rPr>
              <a:t>mehroze</a:t>
            </a:r>
            <a:endParaRPr lang="en-US" sz="3000" dirty="0">
              <a:latin typeface="Castellar" panose="020A0402060406010301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46765" y="4230255"/>
            <a:ext cx="4895272" cy="1126835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endParaRPr lang="en-US" dirty="0" smtClean="0"/>
          </a:p>
          <a:p>
            <a:r>
              <a:rPr lang="en-US" dirty="0">
                <a:latin typeface="Castellar" panose="020A0402060406010301" pitchFamily="18" charset="0"/>
              </a:rPr>
              <a:t> </a:t>
            </a:r>
            <a:r>
              <a:rPr lang="en-US" dirty="0" smtClean="0">
                <a:latin typeface="Castellar" panose="020A0402060406010301" pitchFamily="18" charset="0"/>
              </a:rPr>
              <a:t>   </a:t>
            </a:r>
          </a:p>
          <a:p>
            <a:r>
              <a:rPr lang="en-US" dirty="0" smtClean="0">
                <a:latin typeface="Castellar" panose="020A0402060406010301" pitchFamily="18" charset="0"/>
              </a:rPr>
              <a:t>yellamehroze@cuilahore.edu.pk</a:t>
            </a:r>
            <a:endParaRPr lang="en-US" dirty="0">
              <a:latin typeface="Castellar" panose="020A0402060406010301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5118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537882" y="2292094"/>
            <a:ext cx="3160059" cy="2219691"/>
          </a:xfrm>
        </p:spPr>
        <p:txBody>
          <a:bodyPr anchor="ctr"/>
          <a:lstStyle/>
          <a:p>
            <a:r>
              <a:rPr lang="en-US" dirty="0" smtClean="0"/>
              <a:t>Software </a:t>
            </a:r>
            <a:br>
              <a:rPr lang="en-US" dirty="0" smtClean="0"/>
            </a:br>
            <a:r>
              <a:rPr lang="en-US" dirty="0" smtClean="0"/>
              <a:t>testing </a:t>
            </a:r>
            <a:br>
              <a:rPr lang="en-US" dirty="0" smtClean="0"/>
            </a:br>
            <a:r>
              <a:rPr lang="en-US" dirty="0" smtClean="0"/>
              <a:t>process</a:t>
            </a:r>
            <a:endParaRPr lang="en-US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3592286" y="1310656"/>
            <a:ext cx="8599715" cy="4208604"/>
          </a:xfrm>
        </p:spPr>
      </p:sp>
      <p:sp>
        <p:nvSpPr>
          <p:cNvPr id="8" name="Subtitle 7"/>
          <p:cNvSpPr>
            <a:spLocks noGrp="1"/>
          </p:cNvSpPr>
          <p:nvPr>
            <p:ph type="subTitle" idx="1"/>
          </p:nvPr>
        </p:nvSpPr>
        <p:spPr>
          <a:xfrm>
            <a:off x="714935" y="4525231"/>
            <a:ext cx="2041712" cy="955565"/>
          </a:xfrm>
        </p:spPr>
        <p:txBody>
          <a:bodyPr/>
          <a:lstStyle/>
          <a:p>
            <a:endParaRPr lang="en-GB" dirty="0"/>
          </a:p>
        </p:txBody>
      </p:sp>
      <p:pic>
        <p:nvPicPr>
          <p:cNvPr id="1027" name="Picture 3" descr="H:\CIIT\software testing\Final Slides\Test-process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636373" y="1358536"/>
            <a:ext cx="8502636" cy="412298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52133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Outline</a:t>
            </a:r>
          </a:p>
        </p:txBody>
      </p:sp>
      <p:sp>
        <p:nvSpPr>
          <p:cNvPr id="395267" name="Rectangle 3"/>
          <p:cNvSpPr>
            <a:spLocks noGrp="1" noChangeArrowheads="1"/>
          </p:cNvSpPr>
          <p:nvPr>
            <p:ph idx="1"/>
          </p:nvPr>
        </p:nvSpPr>
        <p:spPr>
          <a:xfrm>
            <a:off x="1422401" y="1447800"/>
            <a:ext cx="10490201" cy="4800600"/>
          </a:xfrm>
        </p:spPr>
        <p:txBody>
          <a:bodyPr/>
          <a:lstStyle/>
          <a:p>
            <a:r>
              <a:rPr lang="en-US" altLang="en-US" dirty="0" smtClean="0"/>
              <a:t>Basic Definitions</a:t>
            </a:r>
          </a:p>
          <a:p>
            <a:r>
              <a:rPr lang="en-US" altLang="en-US" dirty="0" smtClean="0"/>
              <a:t>Fundamental of test processes</a:t>
            </a:r>
          </a:p>
          <a:p>
            <a:r>
              <a:rPr lang="en-US" altLang="en-US" dirty="0" smtClean="0"/>
              <a:t>Requirement Traceability Matrix</a:t>
            </a:r>
            <a:endParaRPr lang="en-US" alt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E3D392-04F5-4B0D-A6AE-9776003166EE}" type="datetime12">
              <a:rPr lang="en-US" smtClean="0"/>
              <a:pPr>
                <a:defRPr/>
              </a:pPr>
              <a:t>11:33 AM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540227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Basic Definitions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36468" y="1430382"/>
            <a:ext cx="9966961" cy="5218612"/>
          </a:xfrm>
        </p:spPr>
        <p:txBody>
          <a:bodyPr>
            <a:noAutofit/>
          </a:bodyPr>
          <a:lstStyle/>
          <a:p>
            <a:pPr algn="just"/>
            <a:r>
              <a:rPr lang="en-US" altLang="en-US" b="1" dirty="0" smtClean="0"/>
              <a:t>Test basis </a:t>
            </a:r>
          </a:p>
          <a:p>
            <a:pPr lvl="1" algn="just"/>
            <a:r>
              <a:rPr lang="en-US" altLang="en-US" sz="2000" dirty="0" smtClean="0"/>
              <a:t>It is the information or the document that we need to create our own test cases and start the test analysis. </a:t>
            </a:r>
          </a:p>
          <a:p>
            <a:pPr algn="just"/>
            <a:r>
              <a:rPr lang="en-US" altLang="en-US" b="1" dirty="0" smtClean="0"/>
              <a:t>Test analysis </a:t>
            </a:r>
          </a:p>
          <a:p>
            <a:pPr lvl="1" algn="just"/>
            <a:r>
              <a:rPr lang="en-US" altLang="en-US" sz="2000" dirty="0" smtClean="0"/>
              <a:t>It is the process of looking at something that can be used to derive test information.</a:t>
            </a:r>
          </a:p>
          <a:p>
            <a:pPr algn="just"/>
            <a:r>
              <a:rPr lang="en-US" b="1" dirty="0" smtClean="0"/>
              <a:t>Test Condition</a:t>
            </a:r>
          </a:p>
          <a:p>
            <a:pPr lvl="1" algn="just"/>
            <a:r>
              <a:rPr lang="en-US" sz="2000" dirty="0" smtClean="0"/>
              <a:t>An item or event of a component or system that could be verified by one or more test cases, e.g., a function, transaction, feature, quality attribute, or structural element.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Basic Definitions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 smtClean="0"/>
              <a:t>Test Procedure Specification</a:t>
            </a:r>
          </a:p>
          <a:p>
            <a:pPr lvl="1" algn="just"/>
            <a:r>
              <a:rPr lang="en-US" sz="2000" dirty="0" smtClean="0"/>
              <a:t>A document specifying a sequence of actions for the execution of a test. Also known as manual test script.</a:t>
            </a:r>
          </a:p>
          <a:p>
            <a:pPr algn="just"/>
            <a:r>
              <a:rPr lang="en-US" b="1" dirty="0" smtClean="0"/>
              <a:t>Test Script</a:t>
            </a:r>
          </a:p>
          <a:p>
            <a:pPr lvl="1" algn="just"/>
            <a:r>
              <a:rPr lang="en-US" sz="2000" dirty="0" smtClean="0"/>
              <a:t>Commonly used to refer to a test procedure specification, especially an automated one.</a:t>
            </a:r>
          </a:p>
          <a:p>
            <a:pPr algn="just"/>
            <a:r>
              <a:rPr lang="en-US" altLang="en-US" b="1" dirty="0" smtClean="0"/>
              <a:t>Test Suites</a:t>
            </a:r>
            <a:r>
              <a:rPr lang="en-US" altLang="en-US" dirty="0" smtClean="0"/>
              <a:t> </a:t>
            </a:r>
          </a:p>
          <a:p>
            <a:pPr lvl="1" algn="just"/>
            <a:r>
              <a:rPr lang="en-US" altLang="en-US" sz="2000" dirty="0" smtClean="0"/>
              <a:t>Are collection of test cases that are used to test a software program to show that it has some specified set of behaviors</a:t>
            </a:r>
            <a:endParaRPr lang="en-US" sz="2000" dirty="0" smtClean="0"/>
          </a:p>
          <a:p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Basic Definitions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2050" name="Picture 2" descr="H:\CIIT\software testing\Final Slides\m13ppt8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05344" y="1557157"/>
            <a:ext cx="7918515" cy="4645318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Testing Process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40973" y="1600200"/>
            <a:ext cx="10438228" cy="43454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Fundamental of Test Processes</a:t>
            </a:r>
            <a:endParaRPr lang="en-US" altLang="en-US" dirty="0"/>
          </a:p>
        </p:txBody>
      </p:sp>
      <p:sp>
        <p:nvSpPr>
          <p:cNvPr id="395267" name="Rectangle 3"/>
          <p:cNvSpPr>
            <a:spLocks noGrp="1" noChangeArrowheads="1"/>
          </p:cNvSpPr>
          <p:nvPr>
            <p:ph idx="1"/>
          </p:nvPr>
        </p:nvSpPr>
        <p:spPr>
          <a:xfrm>
            <a:off x="1422401" y="1447800"/>
            <a:ext cx="10490201" cy="4800600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altLang="en-US" dirty="0" smtClean="0"/>
              <a:t>Test </a:t>
            </a:r>
            <a:r>
              <a:rPr lang="en-US" altLang="en-US" dirty="0"/>
              <a:t>Planning and Control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dirty="0" smtClean="0"/>
              <a:t>Test </a:t>
            </a:r>
            <a:r>
              <a:rPr lang="en-US" altLang="en-US" dirty="0"/>
              <a:t>Analysis and Design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dirty="0" smtClean="0"/>
              <a:t>Test </a:t>
            </a:r>
            <a:r>
              <a:rPr lang="en-US" altLang="en-US" dirty="0"/>
              <a:t>implementation and execution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dirty="0" smtClean="0"/>
              <a:t>Evaluating </a:t>
            </a:r>
            <a:r>
              <a:rPr lang="en-US" altLang="en-US" dirty="0"/>
              <a:t>exit criteria and Reporting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dirty="0" smtClean="0"/>
              <a:t>Test </a:t>
            </a:r>
            <a:r>
              <a:rPr lang="en-US" altLang="en-US" dirty="0"/>
              <a:t>closure activities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57786F7-427C-494D-9F58-A921573638DF}" type="datetime12">
              <a:rPr lang="en-US" smtClean="0"/>
              <a:pPr>
                <a:defRPr/>
              </a:pPr>
              <a:t>11:33 AM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019373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1. Test </a:t>
            </a:r>
            <a:r>
              <a:rPr lang="en-US" altLang="en-US" dirty="0"/>
              <a:t>Planning and Control</a:t>
            </a:r>
          </a:p>
        </p:txBody>
      </p:sp>
      <p:sp>
        <p:nvSpPr>
          <p:cNvPr id="395267" name="Rectangle 3"/>
          <p:cNvSpPr>
            <a:spLocks noGrp="1" noChangeArrowheads="1"/>
          </p:cNvSpPr>
          <p:nvPr>
            <p:ph idx="1"/>
          </p:nvPr>
        </p:nvSpPr>
        <p:spPr>
          <a:xfrm>
            <a:off x="1149531" y="1447800"/>
            <a:ext cx="9940835" cy="4800600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b="1" dirty="0" smtClean="0"/>
              <a:t>Test plan:</a:t>
            </a:r>
          </a:p>
          <a:p>
            <a:pPr lvl="1" algn="just"/>
            <a:r>
              <a:rPr lang="en-US" sz="2000" dirty="0" smtClean="0"/>
              <a:t>A document describing the scope, approach, resources and schedule of intended test activities. </a:t>
            </a:r>
          </a:p>
          <a:p>
            <a:pPr lvl="1" algn="just"/>
            <a:r>
              <a:rPr lang="en-US" sz="2000" dirty="0" smtClean="0"/>
              <a:t>It consists of the following:</a:t>
            </a:r>
          </a:p>
          <a:p>
            <a:pPr lvl="2" algn="just"/>
            <a:r>
              <a:rPr lang="en-US" altLang="en-US" sz="2000" dirty="0" smtClean="0"/>
              <a:t>The </a:t>
            </a:r>
            <a:r>
              <a:rPr lang="en-US" altLang="en-US" sz="2000" b="1" dirty="0" smtClean="0"/>
              <a:t>scope</a:t>
            </a:r>
            <a:r>
              <a:rPr lang="en-US" altLang="en-US" sz="2000" dirty="0" smtClean="0"/>
              <a:t>, </a:t>
            </a:r>
            <a:r>
              <a:rPr lang="en-US" altLang="en-US" sz="2000" b="1" dirty="0" smtClean="0"/>
              <a:t>risk</a:t>
            </a:r>
            <a:r>
              <a:rPr lang="en-US" altLang="en-US" sz="2000" dirty="0" smtClean="0"/>
              <a:t> and </a:t>
            </a:r>
            <a:r>
              <a:rPr lang="en-US" altLang="en-US" sz="2000" b="1" dirty="0" smtClean="0"/>
              <a:t>objective</a:t>
            </a:r>
            <a:r>
              <a:rPr lang="en-US" altLang="en-US" sz="2000" dirty="0" smtClean="0"/>
              <a:t> of testing</a:t>
            </a:r>
          </a:p>
          <a:p>
            <a:pPr lvl="2" algn="just"/>
            <a:r>
              <a:rPr lang="en-US" altLang="en-US" sz="2000" dirty="0" smtClean="0"/>
              <a:t>The test </a:t>
            </a:r>
            <a:r>
              <a:rPr lang="en-US" altLang="en-US" sz="2000" b="1" dirty="0" smtClean="0"/>
              <a:t>policy</a:t>
            </a:r>
            <a:r>
              <a:rPr lang="en-US" altLang="en-US" sz="2000" dirty="0" smtClean="0"/>
              <a:t> and/or the test </a:t>
            </a:r>
            <a:r>
              <a:rPr lang="en-US" altLang="en-US" sz="2000" b="1" dirty="0" smtClean="0"/>
              <a:t>strategy</a:t>
            </a:r>
            <a:endParaRPr lang="en-US" sz="2000" b="1" dirty="0" smtClean="0"/>
          </a:p>
          <a:p>
            <a:pPr lvl="2" algn="just"/>
            <a:r>
              <a:rPr lang="en-US" sz="2000" dirty="0" smtClean="0"/>
              <a:t>List of the </a:t>
            </a:r>
            <a:r>
              <a:rPr lang="en-US" sz="2000" b="1" dirty="0" smtClean="0"/>
              <a:t>features</a:t>
            </a:r>
            <a:r>
              <a:rPr lang="en-US" sz="2000" dirty="0" smtClean="0"/>
              <a:t> to be tested</a:t>
            </a:r>
          </a:p>
          <a:p>
            <a:pPr lvl="2" algn="just"/>
            <a:r>
              <a:rPr lang="en-US" sz="2000" dirty="0" smtClean="0"/>
              <a:t>Details of the testing </a:t>
            </a:r>
            <a:r>
              <a:rPr lang="en-US" sz="2000" b="1" dirty="0" smtClean="0"/>
              <a:t>tasks</a:t>
            </a:r>
          </a:p>
          <a:p>
            <a:pPr lvl="2" algn="just"/>
            <a:r>
              <a:rPr lang="en-US" sz="2000" dirty="0" smtClean="0"/>
              <a:t>Who will do each task (</a:t>
            </a:r>
            <a:r>
              <a:rPr lang="en-US" sz="2000" b="1" dirty="0" smtClean="0"/>
              <a:t>Resource </a:t>
            </a:r>
            <a:r>
              <a:rPr lang="en-US" sz="2000" dirty="0" smtClean="0"/>
              <a:t>Allocation)</a:t>
            </a:r>
          </a:p>
          <a:p>
            <a:pPr lvl="2" algn="just"/>
            <a:r>
              <a:rPr lang="en-US" sz="2000" dirty="0" smtClean="0"/>
              <a:t>The test </a:t>
            </a:r>
            <a:r>
              <a:rPr lang="en-US" sz="2000" b="1" dirty="0" smtClean="0"/>
              <a:t>environment </a:t>
            </a:r>
          </a:p>
          <a:p>
            <a:pPr lvl="2" algn="just"/>
            <a:r>
              <a:rPr lang="en-US" sz="2000" dirty="0" smtClean="0"/>
              <a:t>The test </a:t>
            </a:r>
            <a:r>
              <a:rPr lang="en-US" sz="2000" b="1" dirty="0" smtClean="0"/>
              <a:t>design techniques</a:t>
            </a:r>
          </a:p>
          <a:p>
            <a:pPr lvl="2" algn="just"/>
            <a:r>
              <a:rPr lang="en-US" sz="2000" b="1" dirty="0" smtClean="0"/>
              <a:t>Entry and exit criteria </a:t>
            </a:r>
            <a:r>
              <a:rPr lang="en-US" sz="2000" dirty="0" smtClean="0"/>
              <a:t>to be used</a:t>
            </a:r>
          </a:p>
          <a:p>
            <a:pPr lvl="2" algn="just"/>
            <a:r>
              <a:rPr lang="en-US" sz="2000" b="1" dirty="0" smtClean="0"/>
              <a:t>Test Schedule</a:t>
            </a:r>
          </a:p>
          <a:p>
            <a:pPr lvl="2" algn="just"/>
            <a:r>
              <a:rPr lang="en-US" sz="2000" dirty="0" smtClean="0"/>
              <a:t>Any </a:t>
            </a:r>
            <a:r>
              <a:rPr lang="en-US" sz="2000" b="1" dirty="0" smtClean="0"/>
              <a:t>risks</a:t>
            </a:r>
            <a:r>
              <a:rPr lang="en-US" sz="2000" dirty="0" smtClean="0"/>
              <a:t> requiring contingency planning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234AB74-8E73-44E9-B22F-2CFF787DEEB3}" type="datetime12">
              <a:rPr lang="en-US" smtClean="0"/>
              <a:pPr>
                <a:defRPr/>
              </a:pPr>
              <a:t>11:33 AM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148772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1. Test Planning and Control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b="1" dirty="0" smtClean="0"/>
              <a:t>Test Planning </a:t>
            </a:r>
          </a:p>
          <a:p>
            <a:pPr lvl="1" algn="just"/>
            <a:r>
              <a:rPr lang="en-US" sz="2000" dirty="0" smtClean="0"/>
              <a:t>The activity of establishing or updating a test plan. </a:t>
            </a:r>
          </a:p>
          <a:p>
            <a:pPr lvl="1" algn="just"/>
            <a:r>
              <a:rPr lang="en-US" altLang="en-US" sz="2000" dirty="0" smtClean="0"/>
              <a:t>Continuous process and performed in all project life cycles</a:t>
            </a:r>
          </a:p>
          <a:p>
            <a:pPr algn="just"/>
            <a:r>
              <a:rPr lang="en-US" b="1" dirty="0" smtClean="0"/>
              <a:t>Test control </a:t>
            </a:r>
            <a:r>
              <a:rPr lang="en-US" dirty="0" smtClean="0"/>
              <a:t>has the following major tasks:</a:t>
            </a:r>
          </a:p>
          <a:p>
            <a:pPr lvl="1" algn="just"/>
            <a:r>
              <a:rPr lang="en-US" sz="2000" dirty="0" smtClean="0"/>
              <a:t>To measure and analyze the </a:t>
            </a:r>
            <a:r>
              <a:rPr lang="en-US" sz="2000" b="1" dirty="0" smtClean="0"/>
              <a:t>results of reviews and testing</a:t>
            </a:r>
          </a:p>
          <a:p>
            <a:pPr lvl="1" algn="just"/>
            <a:r>
              <a:rPr lang="en-US" sz="2000" dirty="0" smtClean="0"/>
              <a:t>To monitor and </a:t>
            </a:r>
            <a:r>
              <a:rPr lang="en-US" sz="2000" b="1" dirty="0" smtClean="0"/>
              <a:t>document progress</a:t>
            </a:r>
            <a:r>
              <a:rPr lang="en-US" sz="2000" dirty="0" smtClean="0"/>
              <a:t>, </a:t>
            </a:r>
            <a:r>
              <a:rPr lang="en-US" sz="2000" b="1" dirty="0" smtClean="0"/>
              <a:t>test coverage </a:t>
            </a:r>
            <a:r>
              <a:rPr lang="en-US" sz="2000" dirty="0" smtClean="0"/>
              <a:t>and </a:t>
            </a:r>
            <a:r>
              <a:rPr lang="en-US" sz="2000" b="1" dirty="0" smtClean="0"/>
              <a:t>exit criteria</a:t>
            </a:r>
          </a:p>
          <a:p>
            <a:pPr lvl="1" algn="just"/>
            <a:r>
              <a:rPr lang="en-US" sz="2000" dirty="0" smtClean="0"/>
              <a:t>To provide overall </a:t>
            </a:r>
            <a:r>
              <a:rPr lang="en-US" sz="2000" b="1" dirty="0" smtClean="0"/>
              <a:t>information</a:t>
            </a:r>
            <a:r>
              <a:rPr lang="en-US" sz="2000" dirty="0" smtClean="0"/>
              <a:t> on testing</a:t>
            </a:r>
          </a:p>
          <a:p>
            <a:pPr lvl="1" algn="just"/>
            <a:r>
              <a:rPr lang="en-US" sz="2000" dirty="0" smtClean="0"/>
              <a:t>To initiate </a:t>
            </a:r>
            <a:r>
              <a:rPr lang="en-US" sz="2000" b="1" dirty="0" smtClean="0"/>
              <a:t>corrective actions</a:t>
            </a:r>
          </a:p>
          <a:p>
            <a:pPr lvl="1" algn="just"/>
            <a:r>
              <a:rPr lang="en-US" sz="2000" dirty="0" smtClean="0"/>
              <a:t>To make </a:t>
            </a:r>
            <a:r>
              <a:rPr lang="en-US" sz="2000" b="1" dirty="0" smtClean="0"/>
              <a:t>decisions</a:t>
            </a:r>
            <a:endParaRPr lang="en-US" altLang="en-US" sz="2000" b="1" dirty="0" smtClean="0"/>
          </a:p>
          <a:p>
            <a:pPr lvl="1" algn="just">
              <a:buNone/>
            </a:pPr>
            <a:endParaRPr lang="en-US" sz="2000" dirty="0" smtClean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2. Test </a:t>
            </a:r>
            <a:r>
              <a:rPr lang="en-US" altLang="en-US" dirty="0"/>
              <a:t>Analysis and Design</a:t>
            </a:r>
          </a:p>
        </p:txBody>
      </p:sp>
      <p:sp>
        <p:nvSpPr>
          <p:cNvPr id="395267" name="Rectangle 3"/>
          <p:cNvSpPr>
            <a:spLocks noGrp="1" noChangeArrowheads="1"/>
          </p:cNvSpPr>
          <p:nvPr>
            <p:ph idx="1"/>
          </p:nvPr>
        </p:nvSpPr>
        <p:spPr>
          <a:xfrm>
            <a:off x="1123407" y="1447799"/>
            <a:ext cx="9953896" cy="5148943"/>
          </a:xfrm>
        </p:spPr>
        <p:txBody>
          <a:bodyPr>
            <a:normAutofit/>
          </a:bodyPr>
          <a:lstStyle/>
          <a:p>
            <a:pPr algn="just"/>
            <a:r>
              <a:rPr lang="en-US" dirty="0" smtClean="0"/>
              <a:t>The test objectives are a major deliverable for technical test analysts to know what to test.</a:t>
            </a:r>
          </a:p>
          <a:p>
            <a:pPr algn="just"/>
            <a:r>
              <a:rPr lang="en-US" dirty="0" smtClean="0"/>
              <a:t>We use test objectives as our guide to</a:t>
            </a:r>
          </a:p>
          <a:p>
            <a:pPr lvl="1" algn="just"/>
            <a:r>
              <a:rPr lang="en-US" sz="2000" dirty="0" smtClean="0"/>
              <a:t>Identify and refine the test conditions for each test objective</a:t>
            </a:r>
          </a:p>
          <a:p>
            <a:pPr lvl="1" algn="just"/>
            <a:r>
              <a:rPr lang="en-US" sz="2000" dirty="0" smtClean="0"/>
              <a:t>Create test cases that exercise the identified test conditions</a:t>
            </a:r>
            <a:endParaRPr lang="en-US" altLang="en-US" dirty="0" smtClean="0"/>
          </a:p>
          <a:p>
            <a:pPr algn="just"/>
            <a:r>
              <a:rPr lang="en-US" dirty="0" smtClean="0"/>
              <a:t>We need to prioritize the test conditions on the basis of likelihood and impact associated with each quality risk item </a:t>
            </a:r>
            <a:r>
              <a:rPr lang="en-GB" dirty="0" smtClean="0"/>
              <a:t>as we know that testing everything is an impractical goal.</a:t>
            </a:r>
            <a:endParaRPr lang="en-US" dirty="0" smtClean="0"/>
          </a:p>
          <a:p>
            <a:pPr algn="just"/>
            <a:r>
              <a:rPr lang="en-US" dirty="0" smtClean="0"/>
              <a:t>Following steps are followed for analysis and design phase:</a:t>
            </a:r>
          </a:p>
          <a:p>
            <a:pPr lvl="1" algn="just"/>
            <a:r>
              <a:rPr lang="en-US" sz="2000" dirty="0" smtClean="0"/>
              <a:t>Non-functional Test Objectives</a:t>
            </a:r>
          </a:p>
          <a:p>
            <a:pPr lvl="1" algn="just"/>
            <a:r>
              <a:rPr lang="en-US" sz="2000" dirty="0" smtClean="0"/>
              <a:t>Identifying and Documenting Test Conditions</a:t>
            </a:r>
          </a:p>
          <a:p>
            <a:pPr lvl="1" algn="just"/>
            <a:r>
              <a:rPr lang="en-US" sz="2000" dirty="0" smtClean="0"/>
              <a:t>Test Oracles</a:t>
            </a:r>
          </a:p>
          <a:p>
            <a:pPr lvl="1" algn="just"/>
            <a:r>
              <a:rPr lang="en-US" sz="2000" dirty="0" smtClean="0"/>
              <a:t>Standards</a:t>
            </a:r>
            <a:endParaRPr lang="en-US" sz="20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FAFCD96-F1E5-45D3-8244-8BBC2DC33AEA}" type="datetime12">
              <a:rPr lang="en-US" smtClean="0"/>
              <a:pPr>
                <a:defRPr/>
              </a:pPr>
              <a:t>11:33 AM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649651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 algn="l" rtl="0">
              <a:spcBef>
                <a:spcPct val="0"/>
              </a:spcBef>
            </a:pPr>
            <a:r>
              <a:rPr lang="en-US" sz="2800" dirty="0" smtClean="0">
                <a:latin typeface="+mj-lt"/>
              </a:rPr>
              <a:t>2.1 Non-functional Test Objectives</a:t>
            </a:r>
            <a:endParaRPr lang="en-US" sz="2800" dirty="0"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600200"/>
            <a:ext cx="10006149" cy="4876800"/>
          </a:xfrm>
        </p:spPr>
        <p:txBody>
          <a:bodyPr>
            <a:normAutofit/>
          </a:bodyPr>
          <a:lstStyle/>
          <a:p>
            <a:pPr algn="just"/>
            <a:r>
              <a:rPr lang="en-US" dirty="0" smtClean="0"/>
              <a:t>Non-functional </a:t>
            </a:r>
            <a:r>
              <a:rPr lang="en-US" dirty="0"/>
              <a:t>test objectives </a:t>
            </a:r>
            <a:r>
              <a:rPr lang="en-US" dirty="0" smtClean="0"/>
              <a:t>can apply </a:t>
            </a:r>
            <a:r>
              <a:rPr lang="en-US" dirty="0"/>
              <a:t>to any test level and exist throughout the </a:t>
            </a:r>
            <a:r>
              <a:rPr lang="en-US" dirty="0" smtClean="0"/>
              <a:t>lifecycle</a:t>
            </a:r>
          </a:p>
          <a:p>
            <a:pPr algn="just"/>
            <a:r>
              <a:rPr lang="en-US" dirty="0" smtClean="0"/>
              <a:t>Major non-functional </a:t>
            </a:r>
            <a:r>
              <a:rPr lang="en-US" dirty="0"/>
              <a:t>test objectives </a:t>
            </a:r>
            <a:r>
              <a:rPr lang="en-US" dirty="0" smtClean="0"/>
              <a:t>are </a:t>
            </a:r>
            <a:r>
              <a:rPr lang="en-US" dirty="0"/>
              <a:t>addressed </a:t>
            </a:r>
            <a:r>
              <a:rPr lang="en-US" dirty="0" smtClean="0"/>
              <a:t>at the </a:t>
            </a:r>
            <a:r>
              <a:rPr lang="en-US" dirty="0"/>
              <a:t>end of </a:t>
            </a:r>
            <a:r>
              <a:rPr lang="en-US" dirty="0" smtClean="0"/>
              <a:t>the project</a:t>
            </a:r>
          </a:p>
          <a:p>
            <a:pPr algn="just"/>
            <a:r>
              <a:rPr lang="en-US" dirty="0" smtClean="0"/>
              <a:t>If test execution is not possible to start at any level, reviews of requirements, design and code can be conducted</a:t>
            </a:r>
          </a:p>
          <a:p>
            <a:pPr algn="just"/>
            <a:r>
              <a:rPr lang="en-US" dirty="0" smtClean="0"/>
              <a:t>Performance testing should </a:t>
            </a:r>
            <a:r>
              <a:rPr lang="en-US" dirty="0"/>
              <a:t>be performed as </a:t>
            </a:r>
            <a:r>
              <a:rPr lang="en-US" dirty="0" smtClean="0"/>
              <a:t>early as possible</a:t>
            </a:r>
          </a:p>
          <a:p>
            <a:pPr algn="just"/>
            <a:r>
              <a:rPr lang="en-US" dirty="0" smtClean="0"/>
              <a:t>Performance testing should be done at unit and component level and also at the time of integration</a:t>
            </a:r>
            <a:endParaRPr lang="en-US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1" algn="l" rtl="0">
              <a:spcBef>
                <a:spcPct val="0"/>
              </a:spcBef>
            </a:pPr>
            <a:r>
              <a:rPr lang="en-US" sz="2800" dirty="0" smtClean="0">
                <a:latin typeface="+mj-lt"/>
              </a:rPr>
              <a:t>2.2 Identifying and Documenting Test Conditions</a:t>
            </a:r>
            <a:endParaRPr lang="en-US" sz="2800" dirty="0"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4900" y="1600199"/>
            <a:ext cx="9982200" cy="4813663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I</a:t>
            </a:r>
            <a:r>
              <a:rPr lang="en-US" dirty="0" smtClean="0"/>
              <a:t>dentify </a:t>
            </a:r>
            <a:r>
              <a:rPr lang="en-US" dirty="0"/>
              <a:t>functional and non-functional test </a:t>
            </a:r>
            <a:r>
              <a:rPr lang="en-US" dirty="0" smtClean="0"/>
              <a:t>conditions</a:t>
            </a:r>
          </a:p>
          <a:p>
            <a:pPr algn="just"/>
            <a:r>
              <a:rPr lang="en-US" dirty="0"/>
              <a:t>T</a:t>
            </a:r>
            <a:r>
              <a:rPr lang="en-US" dirty="0" smtClean="0"/>
              <a:t>wo </a:t>
            </a:r>
            <a:r>
              <a:rPr lang="en-US" dirty="0"/>
              <a:t>important </a:t>
            </a:r>
            <a:r>
              <a:rPr lang="en-US" dirty="0" smtClean="0"/>
              <a:t>choices while </a:t>
            </a:r>
            <a:r>
              <a:rPr lang="en-US" dirty="0"/>
              <a:t>Identifying and Documenting Test </a:t>
            </a:r>
            <a:r>
              <a:rPr lang="en-US" dirty="0" smtClean="0"/>
              <a:t>Conditions are:</a:t>
            </a:r>
          </a:p>
          <a:p>
            <a:pPr algn="just">
              <a:buNone/>
            </a:pPr>
            <a:endParaRPr lang="en-US" dirty="0" smtClean="0"/>
          </a:p>
          <a:p>
            <a:pPr marL="914400" lvl="1" indent="-457200" algn="just">
              <a:buFont typeface="+mj-lt"/>
              <a:buAutoNum type="arabicPeriod"/>
            </a:pPr>
            <a:r>
              <a:rPr lang="en-US" sz="2000" dirty="0"/>
              <a:t>The </a:t>
            </a:r>
            <a:r>
              <a:rPr lang="en-US" sz="2000" b="1" dirty="0"/>
              <a:t>structure</a:t>
            </a:r>
            <a:r>
              <a:rPr lang="en-US" sz="2000" dirty="0"/>
              <a:t> of the documentation for the test </a:t>
            </a:r>
            <a:r>
              <a:rPr lang="en-US" sz="2000" dirty="0" smtClean="0"/>
              <a:t>conditions</a:t>
            </a:r>
          </a:p>
          <a:p>
            <a:pPr marL="914400" lvl="1" indent="-457200" algn="just">
              <a:buNone/>
            </a:pPr>
            <a:endParaRPr lang="en-US" sz="2000" dirty="0" smtClean="0"/>
          </a:p>
          <a:p>
            <a:pPr lvl="2" algn="just"/>
            <a:r>
              <a:rPr lang="en-US" sz="2000" dirty="0" smtClean="0"/>
              <a:t>Work in </a:t>
            </a:r>
            <a:r>
              <a:rPr lang="en-US" sz="2000" b="1" dirty="0" smtClean="0"/>
              <a:t>parallel with the test basis </a:t>
            </a:r>
            <a:r>
              <a:rPr lang="en-US" sz="2000" dirty="0" smtClean="0"/>
              <a:t>documents. </a:t>
            </a:r>
          </a:p>
          <a:p>
            <a:pPr lvl="2" algn="just"/>
            <a:r>
              <a:rPr lang="en-US" sz="2000" dirty="0" smtClean="0"/>
              <a:t>Generate the </a:t>
            </a:r>
            <a:r>
              <a:rPr lang="en-US" sz="2000" b="1" dirty="0" smtClean="0"/>
              <a:t>high-level </a:t>
            </a:r>
            <a:r>
              <a:rPr lang="en-US" sz="2000" dirty="0" smtClean="0"/>
              <a:t>test conditions</a:t>
            </a:r>
          </a:p>
          <a:p>
            <a:pPr lvl="2" algn="just"/>
            <a:r>
              <a:rPr lang="en-US" sz="2000" dirty="0" smtClean="0"/>
              <a:t>Elaborate into one or more </a:t>
            </a:r>
            <a:r>
              <a:rPr lang="en-US" sz="2000" b="1" dirty="0" smtClean="0"/>
              <a:t>low-level </a:t>
            </a:r>
            <a:r>
              <a:rPr lang="en-US" sz="2000" dirty="0" smtClean="0"/>
              <a:t>test conditions underneath each high-level test condition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2.2 Identifying and Documenting Test Conditions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914400" lvl="1" indent="-457200" algn="just">
              <a:buFont typeface="+mj-lt"/>
              <a:buAutoNum type="arabicPeriod" startAt="2"/>
            </a:pPr>
            <a:r>
              <a:rPr lang="en-US" sz="2000" dirty="0" smtClean="0"/>
              <a:t>The </a:t>
            </a:r>
            <a:r>
              <a:rPr lang="en-US" sz="2000" b="1" dirty="0" smtClean="0"/>
              <a:t>level of detail </a:t>
            </a:r>
            <a:r>
              <a:rPr lang="en-US" sz="2000" dirty="0" smtClean="0"/>
              <a:t>we need to describe the test conditions in the documentation</a:t>
            </a:r>
          </a:p>
          <a:p>
            <a:pPr lvl="2" algn="just"/>
            <a:r>
              <a:rPr lang="en-US" sz="2000" b="1" dirty="0" smtClean="0"/>
              <a:t>Outline</a:t>
            </a:r>
            <a:r>
              <a:rPr lang="en-US" sz="2000" dirty="0" smtClean="0"/>
              <a:t> the key features and quality characteristics at a </a:t>
            </a:r>
            <a:r>
              <a:rPr lang="en-US" sz="2000" b="1" dirty="0" smtClean="0"/>
              <a:t>high level</a:t>
            </a:r>
            <a:r>
              <a:rPr lang="en-US" sz="2000" dirty="0" smtClean="0"/>
              <a:t>. </a:t>
            </a:r>
          </a:p>
          <a:p>
            <a:pPr lvl="2" algn="just"/>
            <a:r>
              <a:rPr lang="en-US" sz="2000" dirty="0" smtClean="0"/>
              <a:t>Identify one or more </a:t>
            </a:r>
            <a:r>
              <a:rPr lang="en-US" sz="2000" b="1" dirty="0" smtClean="0"/>
              <a:t>detailed quality risk items</a:t>
            </a:r>
            <a:r>
              <a:rPr lang="en-US" sz="2000" dirty="0" smtClean="0"/>
              <a:t> for each feature or characteristic</a:t>
            </a:r>
          </a:p>
          <a:p>
            <a:pPr lvl="2" algn="just"/>
            <a:r>
              <a:rPr lang="en-US" sz="2000" dirty="0" smtClean="0"/>
              <a:t>If you have detailed requirements, go directly to the </a:t>
            </a:r>
            <a:r>
              <a:rPr lang="en-US" sz="2000" b="1" dirty="0" smtClean="0"/>
              <a:t>low-level requirements</a:t>
            </a:r>
            <a:r>
              <a:rPr lang="en-US" sz="2000" dirty="0" smtClean="0"/>
              <a:t>.</a:t>
            </a:r>
          </a:p>
          <a:p>
            <a:pPr lvl="2" algn="just"/>
            <a:r>
              <a:rPr lang="en-US" sz="2000" b="1" dirty="0" smtClean="0"/>
              <a:t>Traceability</a:t>
            </a:r>
            <a:r>
              <a:rPr lang="en-US" sz="2000" dirty="0" smtClean="0"/>
              <a:t> from the detailed test conditions to the requirements is ensured</a:t>
            </a:r>
          </a:p>
          <a:p>
            <a:pPr lvl="2" algn="just"/>
            <a:r>
              <a:rPr lang="en-US" sz="2000" dirty="0" smtClean="0"/>
              <a:t>Another approach is to identify </a:t>
            </a:r>
            <a:r>
              <a:rPr lang="en-US" sz="2000" b="1" dirty="0" smtClean="0"/>
              <a:t>high-level test conditions only</a:t>
            </a:r>
          </a:p>
          <a:p>
            <a:pPr lvl="1" algn="just"/>
            <a:r>
              <a:rPr lang="en-US" sz="2000" dirty="0" smtClean="0"/>
              <a:t>Chosen level of detail and the structure must align with the test strategy or strategies, and those strategies should align with the test plan or plans</a:t>
            </a:r>
          </a:p>
          <a:p>
            <a:pPr lvl="2">
              <a:buNone/>
            </a:pPr>
            <a:endParaRPr lang="en-US" sz="2000" dirty="0" smtClean="0"/>
          </a:p>
          <a:p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2.2 </a:t>
            </a:r>
            <a:r>
              <a:rPr lang="en-US" dirty="0" smtClean="0"/>
              <a:t>Identifying and Documenting Test Conditions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1838" y="1600200"/>
            <a:ext cx="9982200" cy="5257800"/>
          </a:xfrm>
        </p:spPr>
        <p:txBody>
          <a:bodyPr>
            <a:noAutofit/>
          </a:bodyPr>
          <a:lstStyle/>
          <a:p>
            <a:pPr algn="just"/>
            <a:r>
              <a:rPr lang="en-US" dirty="0" smtClean="0"/>
              <a:t>The next step is to elaborate test conditions into test cases.</a:t>
            </a:r>
            <a:endParaRPr lang="en-US" b="1" dirty="0" smtClean="0"/>
          </a:p>
          <a:p>
            <a:pPr algn="just"/>
            <a:r>
              <a:rPr lang="en-US" b="1" dirty="0" smtClean="0"/>
              <a:t>High-level </a:t>
            </a:r>
            <a:r>
              <a:rPr lang="en-US" b="1" dirty="0"/>
              <a:t>test </a:t>
            </a:r>
            <a:r>
              <a:rPr lang="en-US" b="1" dirty="0" smtClean="0"/>
              <a:t>case</a:t>
            </a:r>
          </a:p>
          <a:p>
            <a:pPr lvl="1" algn="just"/>
            <a:r>
              <a:rPr lang="en-US" sz="2000" dirty="0" smtClean="0"/>
              <a:t>A </a:t>
            </a:r>
            <a:r>
              <a:rPr lang="en-US" sz="2000" dirty="0"/>
              <a:t>test case without concrete (</a:t>
            </a:r>
            <a:r>
              <a:rPr lang="en-US" sz="2000" dirty="0" smtClean="0"/>
              <a:t>implementation-level) values </a:t>
            </a:r>
            <a:r>
              <a:rPr lang="en-US" sz="2000" dirty="0"/>
              <a:t>for input data and expected </a:t>
            </a:r>
            <a:r>
              <a:rPr lang="en-US" sz="2000" dirty="0" smtClean="0"/>
              <a:t>results</a:t>
            </a:r>
          </a:p>
          <a:p>
            <a:pPr lvl="1"/>
            <a:r>
              <a:rPr lang="en-GB" sz="2000" dirty="0" smtClean="0"/>
              <a:t>These include test cases for</a:t>
            </a:r>
          </a:p>
          <a:p>
            <a:pPr lvl="2"/>
            <a:r>
              <a:rPr lang="en-GB" sz="2000" dirty="0" smtClean="0"/>
              <a:t>Functional testing</a:t>
            </a:r>
          </a:p>
          <a:p>
            <a:pPr lvl="2"/>
            <a:r>
              <a:rPr lang="en-GB" sz="2000" dirty="0" smtClean="0"/>
              <a:t>System Testing</a:t>
            </a:r>
          </a:p>
          <a:p>
            <a:pPr lvl="2"/>
            <a:r>
              <a:rPr lang="en-GB" sz="2000" dirty="0" smtClean="0"/>
              <a:t>Acceptance Testing </a:t>
            </a:r>
            <a:endParaRPr lang="en-US" sz="2000" dirty="0" smtClean="0"/>
          </a:p>
          <a:p>
            <a:pPr algn="just"/>
            <a:r>
              <a:rPr lang="en-US" b="1" dirty="0" smtClean="0"/>
              <a:t>Low-level </a:t>
            </a:r>
            <a:r>
              <a:rPr lang="en-US" b="1" dirty="0"/>
              <a:t>test </a:t>
            </a:r>
            <a:r>
              <a:rPr lang="en-US" b="1" dirty="0" smtClean="0"/>
              <a:t>case</a:t>
            </a:r>
          </a:p>
          <a:p>
            <a:pPr lvl="1" algn="just"/>
            <a:r>
              <a:rPr lang="en-US" sz="2000" dirty="0" smtClean="0"/>
              <a:t>A </a:t>
            </a:r>
            <a:r>
              <a:rPr lang="en-US" sz="2000" dirty="0"/>
              <a:t>test case with concrete (implementation-level) values </a:t>
            </a:r>
            <a:r>
              <a:rPr lang="en-US" sz="2000" dirty="0" smtClean="0"/>
              <a:t>for input </a:t>
            </a:r>
            <a:r>
              <a:rPr lang="en-US" sz="2000" dirty="0"/>
              <a:t>data and </a:t>
            </a:r>
            <a:r>
              <a:rPr lang="en-US" sz="2000" dirty="0" smtClean="0"/>
              <a:t>expected </a:t>
            </a:r>
            <a:r>
              <a:rPr lang="en-US" sz="2000" dirty="0"/>
              <a:t>results</a:t>
            </a:r>
            <a:r>
              <a:rPr lang="en-US" sz="2000" dirty="0" smtClean="0"/>
              <a:t>.</a:t>
            </a:r>
          </a:p>
          <a:p>
            <a:pPr lvl="1"/>
            <a:r>
              <a:rPr lang="en-GB" sz="2000" dirty="0" smtClean="0"/>
              <a:t>These include test cases for </a:t>
            </a:r>
          </a:p>
          <a:p>
            <a:pPr lvl="2"/>
            <a:r>
              <a:rPr lang="en-GB" sz="2000" dirty="0" smtClean="0"/>
              <a:t>Unit testing </a:t>
            </a:r>
          </a:p>
          <a:p>
            <a:pPr lvl="2"/>
            <a:r>
              <a:rPr lang="en-GB" sz="2000" dirty="0" smtClean="0"/>
              <a:t>Integration testing </a:t>
            </a:r>
            <a:endParaRPr lang="en-US" sz="2000" dirty="0" smtClean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2.2 </a:t>
            </a:r>
            <a:r>
              <a:rPr lang="en-US" dirty="0" smtClean="0"/>
              <a:t>Identifying and Documenting Test Conditions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altLang="en-US" b="1" dirty="0" smtClean="0"/>
              <a:t>Test Design </a:t>
            </a:r>
            <a:r>
              <a:rPr lang="en-US" altLang="en-US" dirty="0" smtClean="0"/>
              <a:t>is b</a:t>
            </a:r>
            <a:r>
              <a:rPr lang="en-US" dirty="0" smtClean="0"/>
              <a:t>asically the act of creating and writing </a:t>
            </a:r>
            <a:r>
              <a:rPr lang="en-US" b="1" dirty="0" smtClean="0"/>
              <a:t>test</a:t>
            </a:r>
            <a:r>
              <a:rPr lang="en-US" dirty="0" smtClean="0"/>
              <a:t> suites for </a:t>
            </a:r>
            <a:r>
              <a:rPr lang="en-US" b="1" dirty="0" smtClean="0"/>
              <a:t>testing</a:t>
            </a:r>
            <a:r>
              <a:rPr lang="en-US" dirty="0" smtClean="0"/>
              <a:t> a </a:t>
            </a:r>
            <a:r>
              <a:rPr lang="en-US" b="1" dirty="0" smtClean="0"/>
              <a:t>software</a:t>
            </a:r>
            <a:r>
              <a:rPr lang="en-US" dirty="0" smtClean="0"/>
              <a:t>. </a:t>
            </a:r>
          </a:p>
          <a:p>
            <a:pPr algn="just"/>
            <a:r>
              <a:rPr lang="en-US" b="1" dirty="0" smtClean="0"/>
              <a:t>Test</a:t>
            </a:r>
            <a:r>
              <a:rPr lang="en-US" dirty="0" smtClean="0"/>
              <a:t> analysis and identifying </a:t>
            </a:r>
            <a:r>
              <a:rPr lang="en-US" b="1" dirty="0" smtClean="0"/>
              <a:t>test</a:t>
            </a:r>
            <a:r>
              <a:rPr lang="en-US" dirty="0" smtClean="0"/>
              <a:t> conditions gives us a generic idea for </a:t>
            </a:r>
            <a:r>
              <a:rPr lang="en-US" b="1" dirty="0" smtClean="0"/>
              <a:t>testing</a:t>
            </a:r>
            <a:r>
              <a:rPr lang="en-US" dirty="0" smtClean="0"/>
              <a:t> which covers quite a large range of possibilities</a:t>
            </a:r>
            <a:endParaRPr lang="en-US" sz="2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2.2 Identifying and Documenting Test Conditions</a:t>
            </a:r>
            <a:endParaRPr lang="en-US" altLang="en-US" dirty="0"/>
          </a:p>
        </p:txBody>
      </p:sp>
      <p:sp>
        <p:nvSpPr>
          <p:cNvPr id="395267" name="Rectangle 3"/>
          <p:cNvSpPr>
            <a:spLocks noGrp="1" noChangeArrowheads="1"/>
          </p:cNvSpPr>
          <p:nvPr>
            <p:ph idx="1"/>
          </p:nvPr>
        </p:nvSpPr>
        <p:spPr>
          <a:xfrm>
            <a:off x="1123407" y="1447800"/>
            <a:ext cx="9953896" cy="4800600"/>
          </a:xfrm>
        </p:spPr>
        <p:txBody>
          <a:bodyPr>
            <a:normAutofit/>
          </a:bodyPr>
          <a:lstStyle/>
          <a:p>
            <a:pPr algn="just"/>
            <a:r>
              <a:rPr lang="en-US" altLang="en-US" dirty="0" smtClean="0"/>
              <a:t>Test Design Techniques</a:t>
            </a:r>
          </a:p>
          <a:p>
            <a:pPr lvl="1" algn="just"/>
            <a:r>
              <a:rPr lang="en-US" altLang="en-US" sz="2000" b="1" dirty="0" smtClean="0"/>
              <a:t>Static Techniques/Testing</a:t>
            </a:r>
          </a:p>
          <a:p>
            <a:pPr lvl="2" algn="just"/>
            <a:r>
              <a:rPr lang="en-GB" sz="2000" dirty="0" smtClean="0"/>
              <a:t>Static testing is software testing technique where testing is carried out without executing the code. </a:t>
            </a:r>
          </a:p>
          <a:p>
            <a:pPr lvl="2" algn="just"/>
            <a:r>
              <a:rPr lang="en-GB" sz="2000" dirty="0" smtClean="0"/>
              <a:t>This type of testing comes under Verification.</a:t>
            </a:r>
            <a:endParaRPr lang="en-US" altLang="en-US" sz="2000" dirty="0" smtClean="0"/>
          </a:p>
          <a:p>
            <a:pPr lvl="1" algn="just"/>
            <a:r>
              <a:rPr lang="en-US" altLang="en-US" sz="2000" b="1" dirty="0" smtClean="0"/>
              <a:t>Dynamic Techniques/Testing</a:t>
            </a:r>
          </a:p>
          <a:p>
            <a:pPr lvl="2" algn="just"/>
            <a:r>
              <a:rPr lang="en-GB" sz="2000" dirty="0" smtClean="0"/>
              <a:t>Dynamic testing is software testing technique where testing is carried out with executing the code. </a:t>
            </a:r>
          </a:p>
          <a:p>
            <a:pPr lvl="2" algn="just"/>
            <a:r>
              <a:rPr lang="en-GB" sz="2000" dirty="0" smtClean="0"/>
              <a:t>This type of </a:t>
            </a:r>
            <a:r>
              <a:rPr lang="en-GB" sz="2000" b="1" dirty="0" smtClean="0"/>
              <a:t>testing</a:t>
            </a:r>
            <a:r>
              <a:rPr lang="en-GB" sz="2000" dirty="0" smtClean="0"/>
              <a:t> comes under Validation.</a:t>
            </a:r>
            <a:endParaRPr lang="en-US" altLang="en-US" sz="2000" dirty="0" smtClean="0"/>
          </a:p>
          <a:p>
            <a:pPr lvl="1" algn="just"/>
            <a:endParaRPr lang="en-US" altLang="en-US" sz="20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74DC6C4-16D5-4264-9B04-5192D1CE694E}" type="datetime12">
              <a:rPr lang="en-US" smtClean="0"/>
              <a:pPr>
                <a:defRPr/>
              </a:pPr>
              <a:t>11:33 AM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374772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2.2 Identifying and Documenting Test Conditions</a:t>
            </a:r>
            <a:endParaRPr lang="en-US" alt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7005" y="1381476"/>
            <a:ext cx="9510842" cy="52936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1100D38-B241-44C9-8CE0-2691D7CEDA27}" type="datetime12">
              <a:rPr lang="en-US" smtClean="0"/>
              <a:pPr>
                <a:defRPr/>
              </a:pPr>
              <a:t>11:33 AM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318346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2.3 Test </a:t>
            </a:r>
            <a:r>
              <a:rPr lang="en-US" dirty="0"/>
              <a:t>Oracles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A test oracle is a source we use to determine the expected results of a </a:t>
            </a:r>
            <a:r>
              <a:rPr lang="en-US" dirty="0" smtClean="0"/>
              <a:t>test</a:t>
            </a:r>
          </a:p>
          <a:p>
            <a:pPr algn="just"/>
            <a:r>
              <a:rPr lang="en-US" dirty="0" smtClean="0"/>
              <a:t>Oracle can be</a:t>
            </a:r>
          </a:p>
          <a:p>
            <a:pPr lvl="1" algn="just"/>
            <a:r>
              <a:rPr lang="en-US" sz="2000" dirty="0"/>
              <a:t>E</a:t>
            </a:r>
            <a:r>
              <a:rPr lang="en-US" sz="2000" dirty="0" smtClean="0"/>
              <a:t>xisting system</a:t>
            </a:r>
          </a:p>
          <a:p>
            <a:pPr lvl="1" algn="just"/>
            <a:r>
              <a:rPr lang="en-US" sz="2000" dirty="0"/>
              <a:t>U</a:t>
            </a:r>
            <a:r>
              <a:rPr lang="en-US" sz="2000" dirty="0" smtClean="0"/>
              <a:t>ser manual</a:t>
            </a:r>
          </a:p>
          <a:p>
            <a:pPr lvl="1" algn="just"/>
            <a:r>
              <a:rPr lang="en-US" sz="2000" dirty="0"/>
              <a:t>I</a:t>
            </a:r>
            <a:r>
              <a:rPr lang="en-US" sz="2000" dirty="0" smtClean="0"/>
              <a:t>ndividual’s </a:t>
            </a:r>
            <a:r>
              <a:rPr lang="en-US" sz="2000" dirty="0"/>
              <a:t>specialized </a:t>
            </a:r>
            <a:r>
              <a:rPr lang="en-US" sz="2000" dirty="0" smtClean="0"/>
              <a:t>knowledge</a:t>
            </a:r>
          </a:p>
          <a:p>
            <a:pPr algn="just"/>
            <a:r>
              <a:rPr lang="en-US" dirty="0"/>
              <a:t>N</a:t>
            </a:r>
            <a:r>
              <a:rPr lang="en-US" dirty="0" smtClean="0"/>
              <a:t>ever </a:t>
            </a:r>
            <a:r>
              <a:rPr lang="en-US" dirty="0"/>
              <a:t>use the code itself as an </a:t>
            </a:r>
            <a:r>
              <a:rPr lang="en-US" dirty="0" smtClean="0"/>
              <a:t>oracle </a:t>
            </a:r>
            <a:r>
              <a:rPr lang="en-US" dirty="0"/>
              <a:t>because that’s simply testing that the compiler, operating system, and </a:t>
            </a:r>
            <a:r>
              <a:rPr lang="en-US" dirty="0" smtClean="0"/>
              <a:t>hardware work</a:t>
            </a:r>
          </a:p>
          <a:p>
            <a:pPr algn="just"/>
            <a:r>
              <a:rPr lang="en-US" dirty="0" smtClean="0"/>
              <a:t>Higher test levels like user acceptance test and system test rely more on requirements specification, use cases, and defined business processes. </a:t>
            </a:r>
          </a:p>
          <a:p>
            <a:pPr algn="just"/>
            <a:r>
              <a:rPr lang="en-US" dirty="0" smtClean="0"/>
              <a:t>Lower test levels like component test and integration test rely more on low-level design specification</a:t>
            </a:r>
          </a:p>
          <a:p>
            <a:endParaRPr lang="en-US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2.4 Standards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3406" y="1600200"/>
            <a:ext cx="9993085" cy="4876800"/>
          </a:xfrm>
        </p:spPr>
        <p:txBody>
          <a:bodyPr>
            <a:normAutofit/>
          </a:bodyPr>
          <a:lstStyle/>
          <a:p>
            <a:pPr algn="just"/>
            <a:r>
              <a:rPr lang="en-US" sz="2400" dirty="0"/>
              <a:t>The </a:t>
            </a:r>
            <a:r>
              <a:rPr lang="en-US" sz="2400" dirty="0" smtClean="0"/>
              <a:t>test design </a:t>
            </a:r>
            <a:r>
              <a:rPr lang="en-US" sz="2400" dirty="0"/>
              <a:t>specification template </a:t>
            </a:r>
            <a:r>
              <a:rPr lang="en-US" sz="2400" dirty="0" smtClean="0"/>
              <a:t>includes</a:t>
            </a:r>
            <a:endParaRPr lang="en-US" sz="2400" dirty="0"/>
          </a:p>
          <a:p>
            <a:pPr lvl="1" algn="just"/>
            <a:r>
              <a:rPr lang="en-US" sz="2400" dirty="0" smtClean="0"/>
              <a:t>Test </a:t>
            </a:r>
            <a:r>
              <a:rPr lang="en-US" sz="2400" dirty="0"/>
              <a:t>design specification identifier (following whatever standard </a:t>
            </a:r>
            <a:r>
              <a:rPr lang="en-US" sz="2400" dirty="0" smtClean="0"/>
              <a:t>your company </a:t>
            </a:r>
            <a:r>
              <a:rPr lang="en-US" sz="2400" dirty="0"/>
              <a:t>uses for document </a:t>
            </a:r>
            <a:r>
              <a:rPr lang="en-US" sz="2400" dirty="0" smtClean="0"/>
              <a:t>identification)</a:t>
            </a:r>
          </a:p>
          <a:p>
            <a:pPr lvl="1" algn="just"/>
            <a:r>
              <a:rPr lang="en-US" sz="2400" dirty="0" smtClean="0"/>
              <a:t>Features </a:t>
            </a:r>
            <a:r>
              <a:rPr lang="en-US" sz="2400" dirty="0"/>
              <a:t>to be tested (in this test suite)</a:t>
            </a:r>
          </a:p>
          <a:p>
            <a:pPr lvl="1" algn="just"/>
            <a:r>
              <a:rPr lang="en-US" sz="2400" dirty="0" smtClean="0"/>
              <a:t>Approach </a:t>
            </a:r>
            <a:r>
              <a:rPr lang="en-US" sz="2400" dirty="0"/>
              <a:t>refinements (specific techniques, tools, etc.)</a:t>
            </a:r>
          </a:p>
          <a:p>
            <a:pPr lvl="1" algn="just"/>
            <a:r>
              <a:rPr lang="en-US" sz="2400" dirty="0" smtClean="0"/>
              <a:t>Test </a:t>
            </a:r>
            <a:r>
              <a:rPr lang="en-US" sz="2400" dirty="0"/>
              <a:t>identification (tracing to test cases in suites)</a:t>
            </a:r>
          </a:p>
          <a:p>
            <a:pPr lvl="1" algn="just"/>
            <a:r>
              <a:rPr lang="en-US" sz="2400" dirty="0" smtClean="0"/>
              <a:t>Feature </a:t>
            </a:r>
            <a:r>
              <a:rPr lang="en-US" sz="2400" dirty="0"/>
              <a:t>pass/fail criteria (e.g., how we intend to determine whether a </a:t>
            </a:r>
            <a:r>
              <a:rPr lang="en-US" sz="2400" dirty="0" smtClean="0"/>
              <a:t>feature works</a:t>
            </a:r>
            <a:r>
              <a:rPr lang="en-US" sz="2400" dirty="0"/>
              <a:t>, such as via a test oracle, a test basis document, or a legacy system</a:t>
            </a:r>
            <a:r>
              <a:rPr lang="en-US" sz="2400" dirty="0" smtClean="0"/>
              <a:t>)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2.4 Standards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/>
              <a:t>The test case specification template includes</a:t>
            </a:r>
          </a:p>
          <a:p>
            <a:pPr lvl="1" algn="just"/>
            <a:r>
              <a:rPr lang="en-US" sz="2000" dirty="0"/>
              <a:t>Test case specification identifier</a:t>
            </a:r>
          </a:p>
          <a:p>
            <a:pPr lvl="1" algn="just"/>
            <a:r>
              <a:rPr lang="en-US" sz="2000" dirty="0" smtClean="0"/>
              <a:t>Test </a:t>
            </a:r>
            <a:r>
              <a:rPr lang="en-US" sz="2000" dirty="0"/>
              <a:t>items (what is to be delivered and tested)</a:t>
            </a:r>
          </a:p>
          <a:p>
            <a:pPr lvl="1" algn="just"/>
            <a:r>
              <a:rPr lang="fr-FR" sz="2000" dirty="0" smtClean="0"/>
              <a:t>Input spécifications </a:t>
            </a:r>
            <a:r>
              <a:rPr lang="fr-FR" sz="2000" dirty="0"/>
              <a:t>(user inputs, files, etc.)</a:t>
            </a:r>
          </a:p>
          <a:p>
            <a:pPr lvl="1" algn="just"/>
            <a:r>
              <a:rPr lang="en-US" sz="2000" dirty="0" smtClean="0"/>
              <a:t>Output </a:t>
            </a:r>
            <a:r>
              <a:rPr lang="en-US" sz="2000" dirty="0"/>
              <a:t>specifications (expected results, including screens, files, </a:t>
            </a:r>
            <a:r>
              <a:rPr lang="en-US" sz="2000" dirty="0" smtClean="0"/>
              <a:t>timing, behaviors </a:t>
            </a:r>
            <a:r>
              <a:rPr lang="en-US" sz="2000" dirty="0"/>
              <a:t>of various sorts, etc.)</a:t>
            </a:r>
          </a:p>
          <a:p>
            <a:pPr lvl="1" algn="just"/>
            <a:r>
              <a:rPr lang="en-US" sz="2000" dirty="0" smtClean="0"/>
              <a:t>Environmental </a:t>
            </a:r>
            <a:r>
              <a:rPr lang="en-US" sz="2000" dirty="0"/>
              <a:t>needs (hardware, software, people, </a:t>
            </a:r>
            <a:r>
              <a:rPr lang="en-US" sz="2000" dirty="0" smtClean="0"/>
              <a:t>props (Other supporting things), </a:t>
            </a:r>
            <a:r>
              <a:rPr lang="en-US" sz="2000" dirty="0"/>
              <a:t>and so forth)</a:t>
            </a:r>
          </a:p>
          <a:p>
            <a:pPr lvl="1" algn="just"/>
            <a:r>
              <a:rPr lang="en-US" sz="2000" dirty="0" smtClean="0"/>
              <a:t>Special </a:t>
            </a:r>
            <a:r>
              <a:rPr lang="en-US" sz="2000" dirty="0"/>
              <a:t>procedural requirements (operator intervention, permissions, etc.)</a:t>
            </a:r>
          </a:p>
          <a:p>
            <a:pPr lvl="1" algn="just"/>
            <a:r>
              <a:rPr lang="en-US" sz="2000" dirty="0" smtClean="0"/>
              <a:t>Inter-case </a:t>
            </a:r>
            <a:r>
              <a:rPr lang="en-US" sz="2000" dirty="0"/>
              <a:t>dependencies (if needed to set up preconditions)</a:t>
            </a:r>
            <a:endParaRPr lang="en-US" sz="2000" dirty="0" smtClean="0"/>
          </a:p>
          <a:p>
            <a:pPr algn="just"/>
            <a:endParaRPr lang="en-US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2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 smtClean="0"/>
              <a:t>3. Test Implementation </a:t>
            </a:r>
            <a:r>
              <a:rPr lang="en-US" altLang="en-US" dirty="0"/>
              <a:t>and </a:t>
            </a:r>
            <a:r>
              <a:rPr lang="en-US" altLang="en-US" dirty="0" smtClean="0"/>
              <a:t>Execution</a:t>
            </a:r>
            <a:endParaRPr lang="en-US" altLang="en-US" dirty="0"/>
          </a:p>
        </p:txBody>
      </p:sp>
      <p:sp>
        <p:nvSpPr>
          <p:cNvPr id="395267" name="Rectangle 3"/>
          <p:cNvSpPr>
            <a:spLocks noGrp="1" noChangeArrowheads="1"/>
          </p:cNvSpPr>
          <p:nvPr>
            <p:ph idx="1"/>
          </p:nvPr>
        </p:nvSpPr>
        <p:spPr>
          <a:xfrm>
            <a:off x="1123407" y="1447800"/>
            <a:ext cx="9940833" cy="4800600"/>
          </a:xfrm>
        </p:spPr>
        <p:txBody>
          <a:bodyPr>
            <a:normAutofit/>
          </a:bodyPr>
          <a:lstStyle/>
          <a:p>
            <a:pPr algn="just"/>
            <a:r>
              <a:rPr lang="en-US" altLang="en-US" b="1" dirty="0"/>
              <a:t>Test implementation </a:t>
            </a:r>
            <a:r>
              <a:rPr lang="en-US" altLang="en-US" dirty="0"/>
              <a:t>has </a:t>
            </a:r>
            <a:r>
              <a:rPr lang="en-US" altLang="en-US" dirty="0" smtClean="0"/>
              <a:t>following task</a:t>
            </a:r>
            <a:r>
              <a:rPr lang="en-US" altLang="en-US" dirty="0"/>
              <a:t>:</a:t>
            </a:r>
          </a:p>
          <a:p>
            <a:pPr lvl="1" algn="just"/>
            <a:r>
              <a:rPr lang="en-US" altLang="en-US" sz="2000" b="1" dirty="0" smtClean="0"/>
              <a:t>Develop </a:t>
            </a:r>
            <a:r>
              <a:rPr lang="en-US" altLang="en-US" sz="2000" b="1" dirty="0"/>
              <a:t>and prioritize </a:t>
            </a:r>
            <a:r>
              <a:rPr lang="en-US" altLang="en-US" sz="2000" b="1" dirty="0" smtClean="0"/>
              <a:t>the </a:t>
            </a:r>
            <a:r>
              <a:rPr lang="en-US" altLang="en-US" sz="2000" b="1" dirty="0"/>
              <a:t>test cases </a:t>
            </a:r>
            <a:r>
              <a:rPr lang="en-US" altLang="en-US" sz="2000" dirty="0"/>
              <a:t>by using techniques and create test data for those tests. </a:t>
            </a:r>
          </a:p>
          <a:p>
            <a:pPr lvl="1" algn="just"/>
            <a:r>
              <a:rPr lang="en-US" altLang="en-US" sz="2000" dirty="0" smtClean="0"/>
              <a:t>Write </a:t>
            </a:r>
            <a:r>
              <a:rPr lang="en-US" altLang="en-US" sz="2000" b="1" dirty="0" smtClean="0"/>
              <a:t>test </a:t>
            </a:r>
            <a:r>
              <a:rPr lang="en-US" altLang="en-US" sz="2000" b="1" dirty="0"/>
              <a:t>procedures</a:t>
            </a:r>
            <a:r>
              <a:rPr lang="en-US" altLang="en-US" sz="2000" dirty="0" smtClean="0"/>
              <a:t>.</a:t>
            </a:r>
          </a:p>
          <a:p>
            <a:pPr lvl="1" algn="just"/>
            <a:r>
              <a:rPr lang="en-US" altLang="en-US" sz="2000" dirty="0"/>
              <a:t>C</a:t>
            </a:r>
            <a:r>
              <a:rPr lang="en-US" altLang="en-US" sz="2000" dirty="0" smtClean="0"/>
              <a:t>reate </a:t>
            </a:r>
            <a:r>
              <a:rPr lang="en-US" altLang="en-US" sz="2000" b="1" dirty="0"/>
              <a:t>test </a:t>
            </a:r>
            <a:r>
              <a:rPr lang="en-US" altLang="en-US" sz="2000" b="1" dirty="0" smtClean="0"/>
              <a:t>suites </a:t>
            </a:r>
            <a:r>
              <a:rPr lang="en-US" altLang="en-US" sz="2000" dirty="0" smtClean="0"/>
              <a:t>from </a:t>
            </a:r>
            <a:r>
              <a:rPr lang="en-US" altLang="en-US" sz="2000" dirty="0"/>
              <a:t>the test cases for efficient test execution.</a:t>
            </a:r>
          </a:p>
          <a:p>
            <a:pPr lvl="1" algn="just"/>
            <a:r>
              <a:rPr lang="en-US" altLang="en-US" sz="2000" dirty="0"/>
              <a:t>I</a:t>
            </a:r>
            <a:r>
              <a:rPr lang="en-US" altLang="en-US" sz="2000" dirty="0" smtClean="0"/>
              <a:t>mplement </a:t>
            </a:r>
            <a:r>
              <a:rPr lang="en-US" altLang="en-US" sz="2000" dirty="0"/>
              <a:t>and verify the </a:t>
            </a:r>
            <a:r>
              <a:rPr lang="en-US" altLang="en-US" sz="2000" b="1" dirty="0"/>
              <a:t>environment</a:t>
            </a:r>
            <a:r>
              <a:rPr lang="en-US" altLang="en-US" sz="2000" dirty="0" smtClean="0"/>
              <a:t>.</a:t>
            </a:r>
          </a:p>
          <a:p>
            <a:pPr lvl="1" algn="just"/>
            <a:r>
              <a:rPr lang="en-US" altLang="en-US" sz="2000" b="1" dirty="0" smtClean="0"/>
              <a:t>Schedule</a:t>
            </a:r>
            <a:r>
              <a:rPr lang="en-US" altLang="en-US" sz="2000" dirty="0" smtClean="0"/>
              <a:t> test execution</a:t>
            </a:r>
            <a:endParaRPr lang="en-US" altLang="en-US" sz="2000" dirty="0"/>
          </a:p>
          <a:p>
            <a:pPr marL="403225" lvl="1" indent="0" algn="just">
              <a:buNone/>
            </a:pPr>
            <a:endParaRPr lang="en-US" altLang="en-US" sz="2000" dirty="0" smtClean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796317-7D22-4373-A22A-2F269B81C659}" type="datetime12">
              <a:rPr lang="en-US" smtClean="0"/>
              <a:pPr>
                <a:defRPr/>
              </a:pPr>
              <a:t>11:33 AM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65113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2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 smtClean="0"/>
              <a:t>3. Test Implementation </a:t>
            </a:r>
            <a:r>
              <a:rPr lang="en-US" altLang="en-US" dirty="0"/>
              <a:t>and </a:t>
            </a:r>
            <a:r>
              <a:rPr lang="en-US" altLang="en-US" dirty="0" smtClean="0"/>
              <a:t>Execution</a:t>
            </a:r>
            <a:endParaRPr lang="en-US" altLang="en-US" dirty="0"/>
          </a:p>
        </p:txBody>
      </p:sp>
      <p:sp>
        <p:nvSpPr>
          <p:cNvPr id="395267" name="Rectangle 3"/>
          <p:cNvSpPr>
            <a:spLocks noGrp="1" noChangeArrowheads="1"/>
          </p:cNvSpPr>
          <p:nvPr>
            <p:ph idx="1"/>
          </p:nvPr>
        </p:nvSpPr>
        <p:spPr>
          <a:xfrm>
            <a:off x="1097281" y="1447800"/>
            <a:ext cx="10019210" cy="4800600"/>
          </a:xfrm>
        </p:spPr>
        <p:txBody>
          <a:bodyPr>
            <a:normAutofit/>
          </a:bodyPr>
          <a:lstStyle/>
          <a:p>
            <a:pPr algn="just"/>
            <a:r>
              <a:rPr lang="en-US" altLang="en-US" b="1" dirty="0"/>
              <a:t>Test execution </a:t>
            </a:r>
            <a:r>
              <a:rPr lang="en-US" altLang="en-US" dirty="0"/>
              <a:t>has the following major task:</a:t>
            </a:r>
          </a:p>
          <a:p>
            <a:pPr lvl="1" algn="just"/>
            <a:r>
              <a:rPr lang="en-US" altLang="en-US" sz="2000" dirty="0" smtClean="0"/>
              <a:t>To check test </a:t>
            </a:r>
            <a:r>
              <a:rPr lang="en-US" altLang="en-US" sz="2000" b="1" dirty="0" smtClean="0"/>
              <a:t>environments</a:t>
            </a:r>
          </a:p>
          <a:p>
            <a:pPr lvl="1" algn="just"/>
            <a:r>
              <a:rPr lang="en-US" altLang="en-US" sz="2000" dirty="0" smtClean="0"/>
              <a:t>To check </a:t>
            </a:r>
            <a:r>
              <a:rPr lang="en-US" altLang="en-US" sz="2000" b="1" dirty="0" smtClean="0"/>
              <a:t>traceability</a:t>
            </a:r>
            <a:r>
              <a:rPr lang="en-US" altLang="en-US" sz="2000" dirty="0" smtClean="0"/>
              <a:t> between test basis and test cases</a:t>
            </a:r>
          </a:p>
          <a:p>
            <a:pPr lvl="1" algn="just"/>
            <a:r>
              <a:rPr lang="en-US" altLang="en-US" sz="2000" dirty="0" smtClean="0"/>
              <a:t>To </a:t>
            </a:r>
            <a:r>
              <a:rPr lang="en-US" altLang="en-US" sz="2000" b="1" dirty="0"/>
              <a:t>execute test suites and individual test cases </a:t>
            </a:r>
            <a:r>
              <a:rPr lang="en-US" altLang="en-US" sz="2000" dirty="0"/>
              <a:t>following the test </a:t>
            </a:r>
            <a:r>
              <a:rPr lang="en-US" altLang="en-US" sz="2000" dirty="0" smtClean="0"/>
              <a:t>procedures using execution tools.</a:t>
            </a:r>
            <a:endParaRPr lang="en-US" altLang="en-US" sz="2000" dirty="0"/>
          </a:p>
          <a:p>
            <a:pPr lvl="1" algn="just"/>
            <a:r>
              <a:rPr lang="en-US" altLang="en-US" sz="2000" dirty="0" smtClean="0"/>
              <a:t>To </a:t>
            </a:r>
            <a:r>
              <a:rPr lang="en-US" altLang="en-US" sz="2000" b="1" dirty="0"/>
              <a:t>re-execute the tests </a:t>
            </a:r>
            <a:r>
              <a:rPr lang="en-US" altLang="en-US" sz="2000" dirty="0"/>
              <a:t>that previously failed in order to confirm a fix. This is known as confirmation testing or re-testing.</a:t>
            </a:r>
          </a:p>
          <a:p>
            <a:pPr lvl="1" algn="just"/>
            <a:r>
              <a:rPr lang="en-US" altLang="en-US" sz="2000" dirty="0" smtClean="0"/>
              <a:t>To </a:t>
            </a:r>
            <a:r>
              <a:rPr lang="en-US" altLang="en-US" sz="2000" b="1" dirty="0"/>
              <a:t>log the outcome </a:t>
            </a:r>
            <a:r>
              <a:rPr lang="en-US" altLang="en-US" sz="2000" dirty="0"/>
              <a:t>of the test execution and record the identities and versions of the software under tests. The test log is used for the audit trial</a:t>
            </a:r>
            <a:r>
              <a:rPr lang="en-US" altLang="en-US" sz="2000" dirty="0" smtClean="0"/>
              <a:t>..</a:t>
            </a:r>
            <a:endParaRPr lang="en-US" altLang="en-US" sz="2000" dirty="0"/>
          </a:p>
          <a:p>
            <a:pPr lvl="1" algn="just"/>
            <a:r>
              <a:rPr lang="en-US" altLang="en-US" sz="2000" dirty="0" smtClean="0"/>
              <a:t>To </a:t>
            </a:r>
            <a:r>
              <a:rPr lang="en-US" altLang="en-US" sz="2000" b="1" dirty="0"/>
              <a:t>Compare actual results with expected results</a:t>
            </a:r>
            <a:r>
              <a:rPr lang="en-US" altLang="en-US" sz="2000" dirty="0"/>
              <a:t>.</a:t>
            </a:r>
          </a:p>
          <a:p>
            <a:pPr lvl="1" algn="just"/>
            <a:r>
              <a:rPr lang="en-US" altLang="en-US" sz="2000" dirty="0" smtClean="0"/>
              <a:t>Where </a:t>
            </a:r>
            <a:r>
              <a:rPr lang="en-US" altLang="en-US" sz="2000" dirty="0"/>
              <a:t>there are differences between actual and expected results, it </a:t>
            </a:r>
            <a:r>
              <a:rPr lang="en-US" altLang="en-US" sz="2000" b="1" dirty="0"/>
              <a:t>report discrepancies as Incidents</a:t>
            </a:r>
            <a:r>
              <a:rPr lang="en-US" altLang="en-US" sz="2000" dirty="0"/>
              <a:t>.</a:t>
            </a:r>
            <a:endParaRPr lang="en-US" altLang="en-US" sz="2000" dirty="0" smtClean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53C6E67-B195-4CF8-B3EA-E7DECAAADD1F}" type="datetime12">
              <a:rPr lang="en-US" smtClean="0"/>
              <a:pPr>
                <a:defRPr/>
              </a:pPr>
              <a:t>11:33 AM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299423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4. Evaluating exit criteria and Reporting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dirty="0" smtClean="0"/>
              <a:t>Evaluating exit criteria is a process defining when to stop testing. </a:t>
            </a:r>
          </a:p>
          <a:p>
            <a:pPr algn="just"/>
            <a:r>
              <a:rPr lang="en-GB" dirty="0" smtClean="0"/>
              <a:t>The criteria vary from project to project.</a:t>
            </a:r>
            <a:endParaRPr lang="en-US" altLang="en-US" dirty="0" smtClean="0"/>
          </a:p>
          <a:p>
            <a:pPr algn="just"/>
            <a:r>
              <a:rPr lang="en-GB" dirty="0" smtClean="0"/>
              <a:t>Evaluating exit criteria has the following major tasks:</a:t>
            </a:r>
          </a:p>
          <a:p>
            <a:pPr lvl="1" algn="just"/>
            <a:r>
              <a:rPr lang="en-GB" sz="2000" dirty="0" smtClean="0"/>
              <a:t>To check the test logs against the exit criteria specified in test planning.</a:t>
            </a:r>
          </a:p>
          <a:p>
            <a:pPr lvl="1" algn="just"/>
            <a:r>
              <a:rPr lang="en-GB" sz="2000" dirty="0" smtClean="0"/>
              <a:t>To assess if more tests are needed or if the exit criteria specified should be changed</a:t>
            </a:r>
          </a:p>
          <a:p>
            <a:pPr lvl="1" algn="just"/>
            <a:r>
              <a:rPr lang="en-GB" sz="2000" dirty="0" smtClean="0"/>
              <a:t>To write a test summary report for the stakeholders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2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 smtClean="0"/>
              <a:t>4. Evaluating exit criteria and Reporting</a:t>
            </a:r>
            <a:endParaRPr lang="en-US" altLang="en-US" dirty="0"/>
          </a:p>
        </p:txBody>
      </p:sp>
      <p:sp>
        <p:nvSpPr>
          <p:cNvPr id="395267" name="Rectangle 3"/>
          <p:cNvSpPr>
            <a:spLocks noGrp="1" noChangeArrowheads="1"/>
          </p:cNvSpPr>
          <p:nvPr>
            <p:ph idx="1"/>
          </p:nvPr>
        </p:nvSpPr>
        <p:spPr>
          <a:xfrm>
            <a:off x="1110344" y="1447800"/>
            <a:ext cx="9993086" cy="4800600"/>
          </a:xfrm>
        </p:spPr>
        <p:txBody>
          <a:bodyPr>
            <a:normAutofit/>
          </a:bodyPr>
          <a:lstStyle/>
          <a:p>
            <a:pPr algn="just"/>
            <a:r>
              <a:rPr lang="en-US" dirty="0" smtClean="0"/>
              <a:t>We can measure properties of the test execution process such as the following:</a:t>
            </a:r>
          </a:p>
          <a:p>
            <a:pPr lvl="1" algn="just"/>
            <a:r>
              <a:rPr lang="en-US" sz="2000" dirty="0" smtClean="0"/>
              <a:t>Number of test conditions, cases, or test procedures that are planned, executed, passed, and failed</a:t>
            </a:r>
          </a:p>
          <a:p>
            <a:pPr lvl="1" algn="just"/>
            <a:r>
              <a:rPr lang="en-US" sz="2000" dirty="0" smtClean="0"/>
              <a:t>Total defects, classified by severity, priority, status, or some other factor</a:t>
            </a:r>
          </a:p>
          <a:p>
            <a:pPr lvl="1" algn="just"/>
            <a:r>
              <a:rPr lang="en-US" sz="2000" dirty="0" smtClean="0"/>
              <a:t>Change requests proposed, accepted, and tested</a:t>
            </a:r>
          </a:p>
          <a:p>
            <a:pPr lvl="1" algn="just"/>
            <a:r>
              <a:rPr lang="en-US" sz="2000" dirty="0" smtClean="0"/>
              <a:t>Planned versus actual costs, schedule, effort</a:t>
            </a:r>
          </a:p>
          <a:p>
            <a:pPr lvl="1" algn="just"/>
            <a:r>
              <a:rPr lang="en-US" sz="2000" dirty="0" smtClean="0"/>
              <a:t>Quality risks, both mitigated and residual</a:t>
            </a:r>
          </a:p>
          <a:p>
            <a:pPr lvl="1" algn="just"/>
            <a:r>
              <a:rPr lang="en-US" sz="2000" dirty="0" smtClean="0"/>
              <a:t>Lost test time due to blocking events</a:t>
            </a:r>
          </a:p>
          <a:p>
            <a:pPr lvl="1" algn="just"/>
            <a:r>
              <a:rPr lang="en-US" sz="2000" dirty="0" smtClean="0"/>
              <a:t>Confirmation and regression test results</a:t>
            </a:r>
          </a:p>
          <a:p>
            <a:endParaRPr lang="en-US" alt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F00EE8D-2BA8-42C8-8E25-F521894A2074}" type="datetime12">
              <a:rPr lang="en-US" smtClean="0"/>
              <a:pPr>
                <a:defRPr/>
              </a:pPr>
              <a:t>11:33 AM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219299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5. Test </a:t>
            </a:r>
            <a:r>
              <a:rPr lang="en-US" altLang="en-US" dirty="0"/>
              <a:t>C</a:t>
            </a:r>
            <a:r>
              <a:rPr lang="en-US" altLang="en-US" dirty="0" smtClean="0"/>
              <a:t>losure Activities</a:t>
            </a:r>
            <a:endParaRPr lang="en-US" altLang="en-US" dirty="0"/>
          </a:p>
        </p:txBody>
      </p:sp>
      <p:sp>
        <p:nvSpPr>
          <p:cNvPr id="395267" name="Rectangle 3"/>
          <p:cNvSpPr>
            <a:spLocks noGrp="1" noChangeArrowheads="1"/>
          </p:cNvSpPr>
          <p:nvPr>
            <p:ph idx="1"/>
          </p:nvPr>
        </p:nvSpPr>
        <p:spPr>
          <a:xfrm>
            <a:off x="1084218" y="1447800"/>
            <a:ext cx="9993086" cy="4800600"/>
          </a:xfrm>
        </p:spPr>
        <p:txBody>
          <a:bodyPr>
            <a:normAutofit/>
          </a:bodyPr>
          <a:lstStyle/>
          <a:p>
            <a:pPr algn="just"/>
            <a:r>
              <a:rPr lang="en-US" altLang="en-US" dirty="0" smtClean="0"/>
              <a:t>Test closure activities are done when the software is delivered</a:t>
            </a:r>
          </a:p>
          <a:p>
            <a:pPr algn="just"/>
            <a:r>
              <a:rPr lang="en-US" altLang="en-US" dirty="0" smtClean="0"/>
              <a:t>This process collects data from completed test process and test wares.</a:t>
            </a:r>
          </a:p>
          <a:p>
            <a:pPr algn="just"/>
            <a:r>
              <a:rPr lang="en-US" altLang="en-US" dirty="0" smtClean="0"/>
              <a:t>The </a:t>
            </a:r>
            <a:r>
              <a:rPr lang="en-US" altLang="en-US" dirty="0"/>
              <a:t>testing can be closed for the other reasons </a:t>
            </a:r>
            <a:r>
              <a:rPr lang="en-US" altLang="en-US" dirty="0" smtClean="0"/>
              <a:t>like:</a:t>
            </a:r>
            <a:endParaRPr lang="en-US" altLang="en-US" dirty="0"/>
          </a:p>
          <a:p>
            <a:pPr lvl="1" algn="just"/>
            <a:r>
              <a:rPr lang="en-US" altLang="en-US" sz="2000" dirty="0" smtClean="0"/>
              <a:t>When </a:t>
            </a:r>
            <a:r>
              <a:rPr lang="en-US" altLang="en-US" sz="2000" dirty="0"/>
              <a:t>all the </a:t>
            </a:r>
            <a:r>
              <a:rPr lang="en-US" altLang="en-US" sz="2000" b="1" dirty="0"/>
              <a:t>information</a:t>
            </a:r>
            <a:r>
              <a:rPr lang="en-US" altLang="en-US" sz="2000" dirty="0"/>
              <a:t> has been gathered which are needed for the testing.</a:t>
            </a:r>
          </a:p>
          <a:p>
            <a:pPr lvl="1" algn="just"/>
            <a:r>
              <a:rPr lang="en-US" altLang="en-US" sz="2000" dirty="0" smtClean="0"/>
              <a:t>When </a:t>
            </a:r>
            <a:r>
              <a:rPr lang="en-US" altLang="en-US" sz="2000" dirty="0"/>
              <a:t>a project is </a:t>
            </a:r>
            <a:r>
              <a:rPr lang="en-US" altLang="en-US" sz="2000" b="1" dirty="0"/>
              <a:t>cancelled</a:t>
            </a:r>
            <a:r>
              <a:rPr lang="en-US" altLang="en-US" sz="2000" dirty="0"/>
              <a:t>.</a:t>
            </a:r>
          </a:p>
          <a:p>
            <a:pPr lvl="1" algn="just"/>
            <a:r>
              <a:rPr lang="en-US" altLang="en-US" sz="2000" dirty="0" smtClean="0"/>
              <a:t>When </a:t>
            </a:r>
            <a:r>
              <a:rPr lang="en-US" altLang="en-US" sz="2000" dirty="0"/>
              <a:t>some </a:t>
            </a:r>
            <a:r>
              <a:rPr lang="en-US" altLang="en-US" sz="2000" b="1" dirty="0"/>
              <a:t>target</a:t>
            </a:r>
            <a:r>
              <a:rPr lang="en-US" altLang="en-US" sz="2000" dirty="0"/>
              <a:t> is achieved.</a:t>
            </a:r>
          </a:p>
          <a:p>
            <a:pPr lvl="1" algn="just"/>
            <a:r>
              <a:rPr lang="en-US" altLang="en-US" sz="2000" dirty="0" smtClean="0"/>
              <a:t>When </a:t>
            </a:r>
            <a:r>
              <a:rPr lang="en-US" altLang="en-US" sz="2000" dirty="0"/>
              <a:t>a </a:t>
            </a:r>
            <a:r>
              <a:rPr lang="en-US" altLang="en-US" sz="2000" b="1" dirty="0"/>
              <a:t>maintenance</a:t>
            </a:r>
            <a:r>
              <a:rPr lang="en-US" altLang="en-US" sz="2000" dirty="0"/>
              <a:t> release or update is done.</a:t>
            </a:r>
          </a:p>
          <a:p>
            <a:pPr algn="just"/>
            <a:endParaRPr lang="en-US" alt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A149F62-E52E-46BA-85C9-B72E0FDC10DB}" type="datetime12">
              <a:rPr lang="en-US" smtClean="0"/>
              <a:pPr>
                <a:defRPr/>
              </a:pPr>
              <a:t>11:33 AM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339442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5. Test </a:t>
            </a:r>
            <a:r>
              <a:rPr lang="en-US" altLang="en-US" dirty="0"/>
              <a:t>C</a:t>
            </a:r>
            <a:r>
              <a:rPr lang="en-US" altLang="en-US" dirty="0" smtClean="0"/>
              <a:t>losure Activities</a:t>
            </a:r>
            <a:endParaRPr lang="en-US" altLang="en-US" dirty="0"/>
          </a:p>
        </p:txBody>
      </p:sp>
      <p:sp>
        <p:nvSpPr>
          <p:cNvPr id="395267" name="Rectangle 3"/>
          <p:cNvSpPr>
            <a:spLocks noGrp="1" noChangeArrowheads="1"/>
          </p:cNvSpPr>
          <p:nvPr>
            <p:ph idx="1"/>
          </p:nvPr>
        </p:nvSpPr>
        <p:spPr>
          <a:xfrm>
            <a:off x="1097281" y="1447800"/>
            <a:ext cx="10006148" cy="4800600"/>
          </a:xfrm>
        </p:spPr>
        <p:txBody>
          <a:bodyPr>
            <a:normAutofit/>
          </a:bodyPr>
          <a:lstStyle/>
          <a:p>
            <a:pPr algn="just"/>
            <a:r>
              <a:rPr lang="en-US" altLang="en-US" dirty="0" smtClean="0"/>
              <a:t>It has following major tasks.</a:t>
            </a:r>
          </a:p>
          <a:p>
            <a:pPr lvl="1" algn="just"/>
            <a:r>
              <a:rPr lang="en-US" altLang="en-US" sz="2000" dirty="0" smtClean="0"/>
              <a:t>Ensure deliverable has been </a:t>
            </a:r>
            <a:r>
              <a:rPr lang="en-US" altLang="en-US" sz="2000" b="1" dirty="0" smtClean="0"/>
              <a:t>delivered</a:t>
            </a:r>
            <a:r>
              <a:rPr lang="en-US" altLang="en-US" sz="2000" dirty="0" smtClean="0"/>
              <a:t> or not</a:t>
            </a:r>
          </a:p>
          <a:p>
            <a:pPr lvl="1" algn="just"/>
            <a:r>
              <a:rPr lang="en-US" altLang="en-US" sz="2000" dirty="0" smtClean="0"/>
              <a:t>Ensure </a:t>
            </a:r>
            <a:r>
              <a:rPr lang="en-US" altLang="en-US" sz="2000" b="1" dirty="0" smtClean="0"/>
              <a:t>closing incident report</a:t>
            </a:r>
          </a:p>
          <a:p>
            <a:pPr lvl="1" algn="just"/>
            <a:r>
              <a:rPr lang="en-US" altLang="en-US" sz="2000" b="1" dirty="0" smtClean="0"/>
              <a:t>Documenting</a:t>
            </a:r>
            <a:r>
              <a:rPr lang="en-US" altLang="en-US" sz="2000" dirty="0" smtClean="0"/>
              <a:t> all the systems</a:t>
            </a:r>
          </a:p>
          <a:p>
            <a:pPr lvl="1" algn="just"/>
            <a:r>
              <a:rPr lang="en-US" altLang="en-US" sz="2000" b="1" dirty="0" smtClean="0"/>
              <a:t>Archiving</a:t>
            </a:r>
            <a:r>
              <a:rPr lang="en-US" altLang="en-US" sz="2000" dirty="0" smtClean="0"/>
              <a:t> all the test ware, test environment and infrastructure for later reuse.</a:t>
            </a:r>
          </a:p>
          <a:p>
            <a:pPr lvl="1" algn="just"/>
            <a:r>
              <a:rPr lang="en-US" altLang="en-US" sz="2000" b="1" dirty="0" smtClean="0"/>
              <a:t>Handover</a:t>
            </a:r>
            <a:r>
              <a:rPr lang="en-US" altLang="en-US" sz="2000" dirty="0" smtClean="0"/>
              <a:t> the </a:t>
            </a:r>
            <a:r>
              <a:rPr lang="en-US" altLang="en-US" sz="2000" dirty="0" err="1" smtClean="0"/>
              <a:t>testware</a:t>
            </a:r>
            <a:r>
              <a:rPr lang="en-US" altLang="en-US" sz="2000" dirty="0" smtClean="0"/>
              <a:t> to the </a:t>
            </a:r>
            <a:r>
              <a:rPr lang="en-US" altLang="en-US" sz="2000" b="1" dirty="0" smtClean="0"/>
              <a:t>maintenance</a:t>
            </a:r>
            <a:r>
              <a:rPr lang="en-US" altLang="en-US" sz="2000" dirty="0" smtClean="0"/>
              <a:t> organization. They will give support to the software.</a:t>
            </a:r>
          </a:p>
          <a:p>
            <a:pPr lvl="1" algn="just"/>
            <a:r>
              <a:rPr lang="en-US" altLang="en-US" sz="2000" dirty="0" smtClean="0"/>
              <a:t>To </a:t>
            </a:r>
            <a:r>
              <a:rPr lang="en-US" altLang="en-US" sz="2000" b="1" dirty="0" smtClean="0"/>
              <a:t>evaluate</a:t>
            </a:r>
            <a:r>
              <a:rPr lang="en-US" altLang="en-US" sz="2000" dirty="0" smtClean="0"/>
              <a:t> how the testing went and </a:t>
            </a:r>
            <a:r>
              <a:rPr lang="en-US" altLang="en-US" sz="2000" b="1" dirty="0" smtClean="0"/>
              <a:t>learn</a:t>
            </a:r>
            <a:r>
              <a:rPr lang="en-US" altLang="en-US" sz="2000" dirty="0" smtClean="0"/>
              <a:t> </a:t>
            </a:r>
            <a:r>
              <a:rPr lang="en-US" altLang="en-US" sz="2000" b="1" dirty="0" smtClean="0"/>
              <a:t>lessons</a:t>
            </a:r>
            <a:r>
              <a:rPr lang="en-US" altLang="en-US" sz="2000" dirty="0" smtClean="0"/>
              <a:t> for future releases and projects.</a:t>
            </a:r>
            <a:endParaRPr lang="en-US" altLang="en-US" sz="20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82C00DD-24B8-451B-9CA0-1B6428006D7A}" type="datetime12">
              <a:rPr lang="en-US" smtClean="0"/>
              <a:pPr>
                <a:defRPr/>
              </a:pPr>
              <a:t>11:33 AM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806240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f03431380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F03431380.potx" id="{B573BD99-E105-4D2A-964B-B901A176567A}" vid="{B1D363B9-18DE-4874-9E2B-FD69B5C6548D}"/>
    </a:ext>
  </a:extLst>
</a:theme>
</file>

<file path=ppt/theme/theme2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PDescription xmlns="4873beb7-5857-4685-be1f-d57550cc96cc" xsi:nil="true"/>
    <AssetExpire xmlns="4873beb7-5857-4685-be1f-d57550cc96cc">2029-01-01T08:00:00+00:00</AssetExpire>
    <CampaignTagsTaxHTField0 xmlns="4873beb7-5857-4685-be1f-d57550cc96cc">
      <Terms xmlns="http://schemas.microsoft.com/office/infopath/2007/PartnerControls"/>
    </CampaignTagsTaxHTField0>
    <IntlLangReviewDate xmlns="4873beb7-5857-4685-be1f-d57550cc96cc" xsi:nil="true"/>
    <TPFriendlyName xmlns="4873beb7-5857-4685-be1f-d57550cc96cc" xsi:nil="true"/>
    <IntlLangReview xmlns="4873beb7-5857-4685-be1f-d57550cc96cc">false</IntlLangReview>
    <LocLastLocAttemptVersionLookup xmlns="4873beb7-5857-4685-be1f-d57550cc96cc">855024</LocLastLocAttemptVersionLookup>
    <PolicheckWords xmlns="4873beb7-5857-4685-be1f-d57550cc96cc" xsi:nil="true"/>
    <SubmitterId xmlns="4873beb7-5857-4685-be1f-d57550cc96cc" xsi:nil="true"/>
    <AcquiredFrom xmlns="4873beb7-5857-4685-be1f-d57550cc96cc">Internal MS</AcquiredFrom>
    <EditorialStatus xmlns="4873beb7-5857-4685-be1f-d57550cc96cc">Complete</EditorialStatus>
    <Markets xmlns="4873beb7-5857-4685-be1f-d57550cc96cc"/>
    <OriginAsset xmlns="4873beb7-5857-4685-be1f-d57550cc96cc" xsi:nil="true"/>
    <AssetStart xmlns="4873beb7-5857-4685-be1f-d57550cc96cc">2012-08-31T08:50:00+00:00</AssetStart>
    <FriendlyTitle xmlns="4873beb7-5857-4685-be1f-d57550cc96cc" xsi:nil="true"/>
    <MarketSpecific xmlns="4873beb7-5857-4685-be1f-d57550cc96cc">false</MarketSpecific>
    <TPNamespace xmlns="4873beb7-5857-4685-be1f-d57550cc96cc" xsi:nil="true"/>
    <PublishStatusLookup xmlns="4873beb7-5857-4685-be1f-d57550cc96cc">
      <Value>1616423</Value>
    </PublishStatusLookup>
    <APAuthor xmlns="4873beb7-5857-4685-be1f-d57550cc96cc">
      <UserInfo>
        <DisplayName>REDMOND\kristaa</DisplayName>
        <AccountId>136</AccountId>
        <AccountType/>
      </UserInfo>
    </APAuthor>
    <TPCommandLine xmlns="4873beb7-5857-4685-be1f-d57550cc96cc" xsi:nil="true"/>
    <IntlLangReviewer xmlns="4873beb7-5857-4685-be1f-d57550cc96cc" xsi:nil="true"/>
    <OpenTemplate xmlns="4873beb7-5857-4685-be1f-d57550cc96cc">true</OpenTemplate>
    <CSXSubmissionDate xmlns="4873beb7-5857-4685-be1f-d57550cc96cc" xsi:nil="true"/>
    <TaxCatchAll xmlns="4873beb7-5857-4685-be1f-d57550cc96cc"/>
    <Manager xmlns="4873beb7-5857-4685-be1f-d57550cc96cc" xsi:nil="true"/>
    <NumericId xmlns="4873beb7-5857-4685-be1f-d57550cc96cc" xsi:nil="true"/>
    <ParentAssetId xmlns="4873beb7-5857-4685-be1f-d57550cc96cc" xsi:nil="true"/>
    <OriginalSourceMarket xmlns="4873beb7-5857-4685-be1f-d57550cc96cc" xsi:nil="true"/>
    <ApprovalStatus xmlns="4873beb7-5857-4685-be1f-d57550cc96cc">InProgress</ApprovalStatus>
    <TPComponent xmlns="4873beb7-5857-4685-be1f-d57550cc96cc" xsi:nil="true"/>
    <EditorialTags xmlns="4873beb7-5857-4685-be1f-d57550cc96cc" xsi:nil="true"/>
    <TPExecutable xmlns="4873beb7-5857-4685-be1f-d57550cc96cc" xsi:nil="true"/>
    <TPLaunchHelpLink xmlns="4873beb7-5857-4685-be1f-d57550cc96cc" xsi:nil="true"/>
    <LocComments xmlns="4873beb7-5857-4685-be1f-d57550cc96cc" xsi:nil="true"/>
    <LocRecommendedHandoff xmlns="4873beb7-5857-4685-be1f-d57550cc96cc" xsi:nil="true"/>
    <SourceTitle xmlns="4873beb7-5857-4685-be1f-d57550cc96cc" xsi:nil="true"/>
    <CSXUpdate xmlns="4873beb7-5857-4685-be1f-d57550cc96cc">false</CSXUpdate>
    <IntlLocPriority xmlns="4873beb7-5857-4685-be1f-d57550cc96cc" xsi:nil="true"/>
    <UAProjectedTotalWords xmlns="4873beb7-5857-4685-be1f-d57550cc96cc" xsi:nil="true"/>
    <AssetType xmlns="4873beb7-5857-4685-be1f-d57550cc96cc">TP</AssetType>
    <MachineTranslated xmlns="4873beb7-5857-4685-be1f-d57550cc96cc">false</MachineTranslated>
    <OutputCachingOn xmlns="4873beb7-5857-4685-be1f-d57550cc96cc">false</OutputCachingOn>
    <TemplateStatus xmlns="4873beb7-5857-4685-be1f-d57550cc96cc">Complete</TemplateStatus>
    <IsSearchable xmlns="4873beb7-5857-4685-be1f-d57550cc96cc">true</IsSearchable>
    <ContentItem xmlns="4873beb7-5857-4685-be1f-d57550cc96cc" xsi:nil="true"/>
    <HandoffToMSDN xmlns="4873beb7-5857-4685-be1f-d57550cc96cc" xsi:nil="true"/>
    <ShowIn xmlns="4873beb7-5857-4685-be1f-d57550cc96cc">Show everywhere</ShowIn>
    <ThumbnailAssetId xmlns="4873beb7-5857-4685-be1f-d57550cc96cc" xsi:nil="true"/>
    <UALocComments xmlns="4873beb7-5857-4685-be1f-d57550cc96cc" xsi:nil="true"/>
    <UALocRecommendation xmlns="4873beb7-5857-4685-be1f-d57550cc96cc">Localize</UALocRecommendation>
    <LastModifiedDateTime xmlns="4873beb7-5857-4685-be1f-d57550cc96cc" xsi:nil="true"/>
    <LegacyData xmlns="4873beb7-5857-4685-be1f-d57550cc96cc" xsi:nil="true"/>
    <LocManualTestRequired xmlns="4873beb7-5857-4685-be1f-d57550cc96cc">false</LocManualTestRequired>
    <LocMarketGroupTiers2 xmlns="4873beb7-5857-4685-be1f-d57550cc96cc" xsi:nil="true"/>
    <ClipArtFilename xmlns="4873beb7-5857-4685-be1f-d57550cc96cc" xsi:nil="true"/>
    <TPApplication xmlns="4873beb7-5857-4685-be1f-d57550cc96cc" xsi:nil="true"/>
    <CSXHash xmlns="4873beb7-5857-4685-be1f-d57550cc96cc" xsi:nil="true"/>
    <DirectSourceMarket xmlns="4873beb7-5857-4685-be1f-d57550cc96cc" xsi:nil="true"/>
    <PrimaryImageGen xmlns="4873beb7-5857-4685-be1f-d57550cc96cc">true</PrimaryImageGen>
    <PlannedPubDate xmlns="4873beb7-5857-4685-be1f-d57550cc96cc" xsi:nil="true"/>
    <CSXSubmissionMarket xmlns="4873beb7-5857-4685-be1f-d57550cc96cc" xsi:nil="true"/>
    <Downloads xmlns="4873beb7-5857-4685-be1f-d57550cc96cc">0</Downloads>
    <ArtSampleDocs xmlns="4873beb7-5857-4685-be1f-d57550cc96cc" xsi:nil="true"/>
    <TrustLevel xmlns="4873beb7-5857-4685-be1f-d57550cc96cc">1 Microsoft Managed Content</TrustLevel>
    <BlockPublish xmlns="4873beb7-5857-4685-be1f-d57550cc96cc">false</BlockPublish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  <BusinessGroup xmlns="4873beb7-5857-4685-be1f-d57550cc96cc" xsi:nil="true"/>
    <Providers xmlns="4873beb7-5857-4685-be1f-d57550cc96cc" xsi:nil="true"/>
    <TemplateTemplateType xmlns="4873beb7-5857-4685-be1f-d57550cc96cc">PowerPoint Presentation Template</TemplateTemplateType>
    <TimesCloned xmlns="4873beb7-5857-4685-be1f-d57550cc96cc" xsi:nil="true"/>
    <TPAppVersion xmlns="4873beb7-5857-4685-be1f-d57550cc96cc" xsi:nil="true"/>
    <VoteCount xmlns="4873beb7-5857-4685-be1f-d57550cc96cc" xsi:nil="true"/>
    <AverageRating xmlns="4873beb7-5857-4685-be1f-d57550cc96cc" xsi:nil="true"/>
    <FeatureTagsTaxHTField0 xmlns="4873beb7-5857-4685-be1f-d57550cc96cc">
      <Terms xmlns="http://schemas.microsoft.com/office/infopath/2007/PartnerControls"/>
    </FeatureTagsTaxHTField0>
    <Provider xmlns="4873beb7-5857-4685-be1f-d57550cc96cc" xsi:nil="true"/>
    <UACurrentWords xmlns="4873beb7-5857-4685-be1f-d57550cc96cc" xsi:nil="true"/>
    <AssetId xmlns="4873beb7-5857-4685-be1f-d57550cc96cc">TP103431361</AssetId>
    <TPClientViewer xmlns="4873beb7-5857-4685-be1f-d57550cc96cc" xsi:nil="true"/>
    <DSATActionTaken xmlns="4873beb7-5857-4685-be1f-d57550cc96cc" xsi:nil="true"/>
    <APEditor xmlns="4873beb7-5857-4685-be1f-d57550cc96cc">
      <UserInfo>
        <DisplayName/>
        <AccountId xsi:nil="true"/>
        <AccountType/>
      </UserInfo>
    </APEditor>
    <TPInstallLocation xmlns="4873beb7-5857-4685-be1f-d57550cc96cc" xsi:nil="true"/>
    <OOCacheId xmlns="4873beb7-5857-4685-be1f-d57550cc96cc" xsi:nil="true"/>
    <IsDeleted xmlns="4873beb7-5857-4685-be1f-d57550cc96cc">false</IsDeleted>
    <PublishTargets xmlns="4873beb7-5857-4685-be1f-d57550cc96cc">OfficeOnlineVNext</PublishTargets>
    <ApprovalLog xmlns="4873beb7-5857-4685-be1f-d57550cc96cc" xsi:nil="true"/>
    <BugNumber xmlns="4873beb7-5857-4685-be1f-d57550cc96cc" xsi:nil="true"/>
    <CrawlForDependencies xmlns="4873beb7-5857-4685-be1f-d57550cc96cc">false</CrawlForDependencies>
    <InternalTagsTaxHTField0 xmlns="4873beb7-5857-4685-be1f-d57550cc96cc">
      <Terms xmlns="http://schemas.microsoft.com/office/infopath/2007/PartnerControls"/>
    </InternalTagsTaxHTField0>
    <LastHandOff xmlns="4873beb7-5857-4685-be1f-d57550cc96cc" xsi:nil="true"/>
    <Milestone xmlns="4873beb7-5857-4685-be1f-d57550cc96cc" xsi:nil="true"/>
    <OriginalRelease xmlns="4873beb7-5857-4685-be1f-d57550cc96cc">15</OriginalRelease>
    <RecommendationsModifier xmlns="4873beb7-5857-4685-be1f-d57550cc96cc" xsi:nil="true"/>
    <ScenarioTagsTaxHTField0 xmlns="4873beb7-5857-4685-be1f-d57550cc96cc">
      <Terms xmlns="http://schemas.microsoft.com/office/infopath/2007/PartnerControls"/>
    </ScenarioTagsTaxHTField0>
    <UANotes xmlns="4873beb7-5857-4685-be1f-d57550cc96c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CDDBB83-77C1-4099-A0AA-289882E745E2}">
  <ds:schemaRefs>
    <ds:schemaRef ds:uri="http://purl.org/dc/elements/1.1/"/>
    <ds:schemaRef ds:uri="http://schemas.microsoft.com/office/2006/metadata/properties"/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561E720F-F05D-4536-9C34-0CFCED65D3B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8C8B9CA-0273-4370-889A-FC05DA5C2FA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tf03431380</Template>
  <TotalTime>1936</TotalTime>
  <Words>1647</Words>
  <Application>Microsoft Office PowerPoint</Application>
  <PresentationFormat>Widescreen</PresentationFormat>
  <Paragraphs>229</Paragraphs>
  <Slides>28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Castellar</vt:lpstr>
      <vt:lpstr>Euphemia</vt:lpstr>
      <vt:lpstr>Plantagenet Cherokee</vt:lpstr>
      <vt:lpstr>Wingdings</vt:lpstr>
      <vt:lpstr>tf03431380</vt:lpstr>
      <vt:lpstr>CSE 455 Software Testing</vt:lpstr>
      <vt:lpstr>   Course instructor            Yella mehroze</vt:lpstr>
      <vt:lpstr>Software  testing  process</vt:lpstr>
      <vt:lpstr>Outline</vt:lpstr>
      <vt:lpstr>Basic Definitions</vt:lpstr>
      <vt:lpstr>Basic Definitions</vt:lpstr>
      <vt:lpstr>Basic Definitions</vt:lpstr>
      <vt:lpstr>Software Testing Process</vt:lpstr>
      <vt:lpstr>Fundamental of Test Processes</vt:lpstr>
      <vt:lpstr>1. Test Planning and Control</vt:lpstr>
      <vt:lpstr>1. Test Planning and Control</vt:lpstr>
      <vt:lpstr>2. Test Analysis and Design</vt:lpstr>
      <vt:lpstr>2.1 Non-functional Test Objectives</vt:lpstr>
      <vt:lpstr>2.2 Identifying and Documenting Test Conditions</vt:lpstr>
      <vt:lpstr>2.2 Identifying and Documenting Test Conditions</vt:lpstr>
      <vt:lpstr>2.2 Identifying and Documenting Test Conditions</vt:lpstr>
      <vt:lpstr>2.2 Identifying and Documenting Test Conditions</vt:lpstr>
      <vt:lpstr>2.2 Identifying and Documenting Test Conditions</vt:lpstr>
      <vt:lpstr>2.2 Identifying and Documenting Test Conditions</vt:lpstr>
      <vt:lpstr>2.3 Test Oracles</vt:lpstr>
      <vt:lpstr>2.4 Standards</vt:lpstr>
      <vt:lpstr>2.4 Standards</vt:lpstr>
      <vt:lpstr>3. Test Implementation and Execution</vt:lpstr>
      <vt:lpstr>3. Test Implementation and Execution</vt:lpstr>
      <vt:lpstr>4. Evaluating exit criteria and Reporting</vt:lpstr>
      <vt:lpstr>4. Evaluating exit criteria and Reporting</vt:lpstr>
      <vt:lpstr>5. Test Closure Activities</vt:lpstr>
      <vt:lpstr>5. Test Closure Activities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With Picture Layout</dc:title>
  <dc:creator>sabeen amjad</dc:creator>
  <cp:lastModifiedBy>Yella</cp:lastModifiedBy>
  <cp:revision>193</cp:revision>
  <dcterms:created xsi:type="dcterms:W3CDTF">2017-08-14T08:49:42Z</dcterms:created>
  <dcterms:modified xsi:type="dcterms:W3CDTF">2021-09-19T06:34:07Z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0x0101006EDDDB5EE6D98C44930B742096920B300400F5B6D36B3EF94B4E9A635CDF2A18F5B8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