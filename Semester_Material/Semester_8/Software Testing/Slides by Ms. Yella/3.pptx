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handoutMasterIdLst>
    <p:handoutMasterId r:id="rId56"/>
  </p:handoutMasterIdLst>
  <p:sldIdLst>
    <p:sldId id="333" r:id="rId5"/>
    <p:sldId id="334" r:id="rId6"/>
    <p:sldId id="335" r:id="rId7"/>
    <p:sldId id="269" r:id="rId8"/>
    <p:sldId id="309" r:id="rId9"/>
    <p:sldId id="311" r:id="rId10"/>
    <p:sldId id="325" r:id="rId11"/>
    <p:sldId id="326" r:id="rId12"/>
    <p:sldId id="327" r:id="rId13"/>
    <p:sldId id="312" r:id="rId14"/>
    <p:sldId id="313" r:id="rId15"/>
    <p:sldId id="314" r:id="rId16"/>
    <p:sldId id="315" r:id="rId17"/>
    <p:sldId id="322" r:id="rId18"/>
    <p:sldId id="323" r:id="rId19"/>
    <p:sldId id="324" r:id="rId20"/>
    <p:sldId id="316" r:id="rId21"/>
    <p:sldId id="317" r:id="rId22"/>
    <p:sldId id="318" r:id="rId23"/>
    <p:sldId id="319" r:id="rId24"/>
    <p:sldId id="320" r:id="rId25"/>
    <p:sldId id="321" r:id="rId26"/>
    <p:sldId id="280" r:id="rId27"/>
    <p:sldId id="329" r:id="rId28"/>
    <p:sldId id="330" r:id="rId29"/>
    <p:sldId id="282" r:id="rId30"/>
    <p:sldId id="284" r:id="rId31"/>
    <p:sldId id="285" r:id="rId32"/>
    <p:sldId id="286" r:id="rId33"/>
    <p:sldId id="287" r:id="rId34"/>
    <p:sldId id="289" r:id="rId35"/>
    <p:sldId id="291" r:id="rId36"/>
    <p:sldId id="292" r:id="rId37"/>
    <p:sldId id="293" r:id="rId38"/>
    <p:sldId id="294" r:id="rId39"/>
    <p:sldId id="296" r:id="rId40"/>
    <p:sldId id="297" r:id="rId41"/>
    <p:sldId id="299" r:id="rId42"/>
    <p:sldId id="298" r:id="rId43"/>
    <p:sldId id="300" r:id="rId44"/>
    <p:sldId id="306" r:id="rId45"/>
    <p:sldId id="301" r:id="rId46"/>
    <p:sldId id="302" r:id="rId47"/>
    <p:sldId id="303" r:id="rId48"/>
    <p:sldId id="304" r:id="rId49"/>
    <p:sldId id="331" r:id="rId50"/>
    <p:sldId id="332" r:id="rId51"/>
    <p:sldId id="305" r:id="rId52"/>
    <p:sldId id="307" r:id="rId53"/>
    <p:sldId id="30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0502" autoAdjust="0"/>
  </p:normalViewPr>
  <p:slideViewPr>
    <p:cSldViewPr snapToGrid="0" showGuides="1">
      <p:cViewPr varScale="1">
        <p:scale>
          <a:sx n="75" d="100"/>
          <a:sy n="75" d="100"/>
        </p:scale>
        <p:origin x="931" y="6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9/19/2021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9/19/2021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1207314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3405555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26</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27</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28</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32</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33</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34</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35</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36</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37</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39</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40</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42</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43</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44</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45</a:t>
            </a:fld>
            <a:endParaRPr lang="en-US"/>
          </a:p>
        </p:txBody>
      </p:sp>
    </p:spTree>
    <p:extLst>
      <p:ext uri="{BB962C8B-B14F-4D97-AF65-F5344CB8AC3E}">
        <p14:creationId xmlns:p14="http://schemas.microsoft.com/office/powerpoint/2010/main" val="1885084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48</a:t>
            </a:fld>
            <a:endParaRPr lang="en-US"/>
          </a:p>
        </p:txBody>
      </p:sp>
    </p:spTree>
    <p:extLst>
      <p:ext uri="{BB962C8B-B14F-4D97-AF65-F5344CB8AC3E}">
        <p14:creationId xmlns:p14="http://schemas.microsoft.com/office/powerpoint/2010/main" val="188508488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9/19/2021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smtClean="0"/>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9/19/2021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9/19/2021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9/19/2021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9/19/2021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smtClean="0"/>
              <a:t>CSE 455</a:t>
            </a:r>
            <a:br>
              <a:rPr lang="en-US" dirty="0" smtClean="0"/>
            </a:br>
            <a:r>
              <a:rPr lang="en-US" dirty="0" smtClean="0"/>
              <a:t>Software Testing</a:t>
            </a:r>
            <a:endParaRPr lang="en-US" dirty="0"/>
          </a:p>
        </p:txBody>
      </p:sp>
      <p:sp>
        <p:nvSpPr>
          <p:cNvPr id="7" name="Subtitle 6"/>
          <p:cNvSpPr>
            <a:spLocks noGrp="1"/>
          </p:cNvSpPr>
          <p:nvPr>
            <p:ph type="subTitle" idx="1"/>
          </p:nvPr>
        </p:nvSpPr>
        <p:spPr/>
        <p:txBody>
          <a:bodyPr/>
          <a:lstStyle/>
          <a:p>
            <a:r>
              <a:rPr lang="en-US" dirty="0" smtClean="0"/>
              <a:t>This course is offered to the students of students of BS Software Engineering who are enrolled in 8</a:t>
            </a:r>
            <a:r>
              <a:rPr lang="en-US" baseline="30000" dirty="0" smtClean="0"/>
              <a:t>th</a:t>
            </a:r>
            <a:r>
              <a:rPr lang="en-US" dirty="0" smtClean="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smtClean="0"/>
              <a:t>Lecture 3</a:t>
            </a:r>
            <a:endParaRPr lang="en-US"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136338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smtClean="0">
                <a:latin typeface="Castellar" panose="020A0402060406010301" pitchFamily="18" charset="0"/>
              </a:rPr>
              <a:t>   Course instructor</a:t>
            </a:r>
            <a:br>
              <a:rPr lang="en-US" sz="3000" dirty="0" smtClean="0">
                <a:latin typeface="Castellar" panose="020A0402060406010301" pitchFamily="18" charset="0"/>
              </a:rPr>
            </a:br>
            <a:r>
              <a:rPr lang="en-US" sz="3000" dirty="0" smtClean="0">
                <a:latin typeface="Castellar" panose="020A0402060406010301" pitchFamily="18" charset="0"/>
              </a:rPr>
              <a:t/>
            </a:r>
            <a:br>
              <a:rPr lang="en-US" sz="3000" dirty="0" smtClean="0">
                <a:latin typeface="Castellar" panose="020A0402060406010301" pitchFamily="18" charset="0"/>
              </a:rPr>
            </a:br>
            <a:r>
              <a:rPr lang="en-US" sz="3000" dirty="0" smtClean="0">
                <a:latin typeface="Castellar" panose="020A0402060406010301" pitchFamily="18" charset="0"/>
              </a:rPr>
              <a:t>          Yella </a:t>
            </a:r>
            <a:r>
              <a:rPr lang="en-US" sz="3000" dirty="0" err="1" smtClean="0">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smtClean="0"/>
          </a:p>
          <a:p>
            <a:r>
              <a:rPr lang="en-US" dirty="0">
                <a:latin typeface="Castellar" panose="020A0402060406010301" pitchFamily="18" charset="0"/>
              </a:rPr>
              <a:t> </a:t>
            </a:r>
            <a:r>
              <a:rPr lang="en-US" dirty="0" smtClean="0">
                <a:latin typeface="Castellar" panose="020A0402060406010301" pitchFamily="18" charset="0"/>
              </a:rPr>
              <a:t>   </a:t>
            </a:r>
          </a:p>
          <a:p>
            <a:r>
              <a:rPr lang="en-US" dirty="0" smtClean="0">
                <a:latin typeface="Castellar" panose="020A0402060406010301" pitchFamily="18" charset="0"/>
              </a:rPr>
              <a:t>yellamehroze@cuilahore.edu.pk</a:t>
            </a:r>
            <a:endParaRPr lang="en-US" dirty="0">
              <a:latin typeface="Castellar" panose="020A0402060406010301" pitchFamily="18" charset="0"/>
            </a:endParaRPr>
          </a:p>
        </p:txBody>
      </p:sp>
    </p:spTree>
    <p:extLst>
      <p:ext uri="{BB962C8B-B14F-4D97-AF65-F5344CB8AC3E}">
        <p14:creationId xmlns:p14="http://schemas.microsoft.com/office/powerpoint/2010/main" val="288070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smtClean="0"/>
              <a:t>TEST CASES</a:t>
            </a:r>
            <a:endParaRPr lang="en-US" dirty="0"/>
          </a:p>
        </p:txBody>
      </p:sp>
      <p:sp>
        <p:nvSpPr>
          <p:cNvPr id="5" name="Picture Placeholder 4"/>
          <p:cNvSpPr>
            <a:spLocks noGrp="1"/>
          </p:cNvSpPr>
          <p:nvPr>
            <p:ph type="pic" sz="quarter" idx="13"/>
          </p:nvPr>
        </p:nvSpPr>
        <p:spPr/>
      </p:sp>
      <p:pic>
        <p:nvPicPr>
          <p:cNvPr id="1028" name="Picture 4" descr="H:\CIIT\software testing\Final Slides\writting_test_cases_in_software_testing_with_sample (1).png"/>
          <p:cNvPicPr>
            <a:picLocks noChangeAspect="1" noChangeArrowheads="1"/>
          </p:cNvPicPr>
          <p:nvPr/>
        </p:nvPicPr>
        <p:blipFill>
          <a:blip r:embed="rId3"/>
          <a:srcRect/>
          <a:stretch>
            <a:fillRect/>
          </a:stretch>
        </p:blipFill>
        <p:spPr bwMode="auto">
          <a:xfrm>
            <a:off x="6934587" y="1110406"/>
            <a:ext cx="5275246" cy="4622260"/>
          </a:xfrm>
          <a:prstGeom prst="rect">
            <a:avLst/>
          </a:prstGeom>
          <a:noFill/>
        </p:spPr>
      </p:pic>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504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Outline</a:t>
            </a:r>
          </a:p>
        </p:txBody>
      </p:sp>
      <p:sp>
        <p:nvSpPr>
          <p:cNvPr id="395267" name="Rectangle 3"/>
          <p:cNvSpPr>
            <a:spLocks noGrp="1" noChangeArrowheads="1"/>
          </p:cNvSpPr>
          <p:nvPr>
            <p:ph idx="1"/>
          </p:nvPr>
        </p:nvSpPr>
        <p:spPr>
          <a:xfrm>
            <a:off x="1110343" y="1447800"/>
            <a:ext cx="9980023" cy="5070566"/>
          </a:xfrm>
        </p:spPr>
        <p:txBody>
          <a:bodyPr>
            <a:normAutofit fontScale="92500" lnSpcReduction="10000"/>
          </a:bodyPr>
          <a:lstStyle/>
          <a:p>
            <a:r>
              <a:rPr lang="en-US" altLang="en-US" dirty="0" smtClean="0"/>
              <a:t>Test Case</a:t>
            </a:r>
          </a:p>
          <a:p>
            <a:r>
              <a:rPr lang="en-US" altLang="en-US" dirty="0" smtClean="0"/>
              <a:t>Test Case Template</a:t>
            </a:r>
          </a:p>
          <a:p>
            <a:r>
              <a:rPr lang="en-GB" dirty="0" smtClean="0"/>
              <a:t>Level of Detail For Test Case</a:t>
            </a:r>
          </a:p>
          <a:p>
            <a:r>
              <a:rPr lang="en-US" dirty="0" smtClean="0"/>
              <a:t>Good Test Cases</a:t>
            </a:r>
          </a:p>
          <a:p>
            <a:r>
              <a:rPr lang="en-US" dirty="0" smtClean="0"/>
              <a:t>Bad Test Cases</a:t>
            </a:r>
          </a:p>
          <a:p>
            <a:r>
              <a:rPr lang="en-GB" dirty="0" smtClean="0"/>
              <a:t>Test Case Organization and Tracking</a:t>
            </a:r>
            <a:endParaRPr lang="en-US" dirty="0" smtClean="0"/>
          </a:p>
          <a:p>
            <a:r>
              <a:rPr lang="en-US" altLang="en-US" dirty="0" smtClean="0"/>
              <a:t>Software Testing Life Cycle</a:t>
            </a:r>
          </a:p>
          <a:p>
            <a:r>
              <a:rPr lang="en-US" altLang="en-US" dirty="0" smtClean="0"/>
              <a:t>SDLC Models and Testing</a:t>
            </a:r>
          </a:p>
          <a:p>
            <a:r>
              <a:rPr lang="en-US" altLang="en-US" dirty="0" smtClean="0"/>
              <a:t>V-Model</a:t>
            </a:r>
          </a:p>
          <a:p>
            <a:r>
              <a:rPr lang="en-US" altLang="en-US" dirty="0" smtClean="0"/>
              <a:t>Modified V-Model</a:t>
            </a:r>
          </a:p>
          <a:p>
            <a:r>
              <a:rPr lang="en-US" altLang="en-US" dirty="0" smtClean="0"/>
              <a:t>Test Driven Development</a:t>
            </a:r>
          </a:p>
          <a:p>
            <a:endParaRPr lang="en-US" altLang="en-US" dirty="0" smtClean="0"/>
          </a:p>
        </p:txBody>
      </p:sp>
      <p:sp>
        <p:nvSpPr>
          <p:cNvPr id="2" name="Date Placeholder 1"/>
          <p:cNvSpPr>
            <a:spLocks noGrp="1"/>
          </p:cNvSpPr>
          <p:nvPr>
            <p:ph type="dt" sz="half" idx="10"/>
          </p:nvPr>
        </p:nvSpPr>
        <p:spPr/>
        <p:txBody>
          <a:bodyPr/>
          <a:lstStyle/>
          <a:p>
            <a:pPr>
              <a:defRPr/>
            </a:pPr>
            <a:fld id="{CFA1C9F6-59C5-4587-938F-B528A4A85DA8}" type="datetime8">
              <a:rPr lang="en-US" smtClean="0"/>
              <a:pPr>
                <a:defRPr/>
              </a:pPr>
              <a:t>9/19/2021 11:34 AM</a:t>
            </a:fld>
            <a:endParaRPr lang="en-US" dirty="0"/>
          </a:p>
        </p:txBody>
      </p:sp>
    </p:spTree>
    <p:extLst>
      <p:ext uri="{BB962C8B-B14F-4D97-AF65-F5344CB8AC3E}">
        <p14:creationId xmlns:p14="http://schemas.microsoft.com/office/powerpoint/2010/main" val="2445540227"/>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a:t>
            </a:r>
            <a:endParaRPr lang="en-GB" dirty="0"/>
          </a:p>
        </p:txBody>
      </p:sp>
      <p:sp>
        <p:nvSpPr>
          <p:cNvPr id="3" name="Content Placeholder 2"/>
          <p:cNvSpPr>
            <a:spLocks noGrp="1"/>
          </p:cNvSpPr>
          <p:nvPr>
            <p:ph idx="1"/>
          </p:nvPr>
        </p:nvSpPr>
        <p:spPr/>
        <p:txBody>
          <a:bodyPr/>
          <a:lstStyle/>
          <a:p>
            <a:r>
              <a:rPr lang="en-US" b="1" dirty="0" smtClean="0"/>
              <a:t>Test Case</a:t>
            </a:r>
            <a:endParaRPr lang="en-US" dirty="0" smtClean="0"/>
          </a:p>
          <a:p>
            <a:pPr lvl="1"/>
            <a:r>
              <a:rPr lang="en-US" sz="2000" dirty="0" smtClean="0"/>
              <a:t>A set of </a:t>
            </a:r>
          </a:p>
          <a:p>
            <a:pPr lvl="2"/>
            <a:r>
              <a:rPr lang="en-US" sz="2000" dirty="0" smtClean="0"/>
              <a:t>Input values</a:t>
            </a:r>
          </a:p>
          <a:p>
            <a:pPr lvl="2"/>
            <a:r>
              <a:rPr lang="en-US" sz="2000" dirty="0" smtClean="0"/>
              <a:t>Execution preconditions</a:t>
            </a:r>
          </a:p>
          <a:p>
            <a:pPr lvl="2"/>
            <a:r>
              <a:rPr lang="en-US" sz="2000" dirty="0" smtClean="0"/>
              <a:t>Expected results</a:t>
            </a:r>
          </a:p>
          <a:p>
            <a:pPr lvl="2"/>
            <a:r>
              <a:rPr lang="en-US" sz="2000" dirty="0" smtClean="0"/>
              <a:t>Execution post conditions </a:t>
            </a:r>
          </a:p>
          <a:p>
            <a:pPr lvl="1"/>
            <a:r>
              <a:rPr lang="en-US" sz="2000" dirty="0" smtClean="0"/>
              <a:t>Developed for a particular objective or test condition, such as </a:t>
            </a:r>
          </a:p>
          <a:p>
            <a:pPr lvl="2"/>
            <a:r>
              <a:rPr lang="en-US" sz="2000" dirty="0" smtClean="0"/>
              <a:t>To exercise a particular program path 	</a:t>
            </a:r>
          </a:p>
          <a:p>
            <a:pPr lvl="2"/>
            <a:r>
              <a:rPr lang="en-US" sz="2000" dirty="0" smtClean="0"/>
              <a:t>To verify compliance with a specific requirement.</a:t>
            </a:r>
          </a:p>
          <a:p>
            <a:pPr lvl="2"/>
            <a:endParaRPr lang="en-US" sz="2000" dirty="0" smtClean="0"/>
          </a:p>
          <a:p>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a:xfrm>
            <a:off x="1104900" y="1435100"/>
            <a:ext cx="9982200" cy="5245100"/>
          </a:xfrm>
        </p:spPr>
        <p:txBody>
          <a:bodyPr>
            <a:noAutofit/>
          </a:bodyPr>
          <a:lstStyle/>
          <a:p>
            <a:pPr algn="just"/>
            <a:r>
              <a:rPr lang="en-GB" dirty="0" smtClean="0"/>
              <a:t>Below are the standard fields of sample test case template</a:t>
            </a:r>
          </a:p>
          <a:p>
            <a:pPr algn="just"/>
            <a:r>
              <a:rPr lang="en-GB" b="1" u="sng" dirty="0" smtClean="0"/>
              <a:t>Test case ID</a:t>
            </a:r>
            <a:r>
              <a:rPr lang="en-GB" b="1" dirty="0" smtClean="0"/>
              <a:t>:</a:t>
            </a:r>
          </a:p>
          <a:p>
            <a:pPr lvl="1" algn="just"/>
            <a:r>
              <a:rPr lang="en-GB" sz="2000" dirty="0" smtClean="0"/>
              <a:t>Unique ID for each test case. </a:t>
            </a:r>
          </a:p>
          <a:p>
            <a:pPr lvl="1" algn="just"/>
            <a:r>
              <a:rPr lang="en-GB" sz="2000" dirty="0" smtClean="0"/>
              <a:t>Follow some convention to indicate types of test. E.g. ‘TC_UI_1’ indicating ‘user interface test case #1’.</a:t>
            </a:r>
          </a:p>
          <a:p>
            <a:pPr algn="just"/>
            <a:r>
              <a:rPr lang="en-US" b="1" dirty="0" smtClean="0"/>
              <a:t>Product / Ver./ Module:</a:t>
            </a:r>
          </a:p>
          <a:p>
            <a:pPr lvl="1" algn="just"/>
            <a:r>
              <a:rPr lang="en-GB" sz="2000" dirty="0" smtClean="0"/>
              <a:t>Mention product name.</a:t>
            </a:r>
          </a:p>
          <a:p>
            <a:pPr lvl="1" algn="just"/>
            <a:r>
              <a:rPr lang="en-GB" sz="2000" dirty="0" smtClean="0"/>
              <a:t>Mention name of main module or sub module.</a:t>
            </a:r>
          </a:p>
          <a:p>
            <a:pPr lvl="1" algn="just"/>
            <a:r>
              <a:rPr lang="en-GB" sz="2000" dirty="0" smtClean="0"/>
              <a:t>Mention version information of the product.</a:t>
            </a:r>
          </a:p>
          <a:p>
            <a:pPr algn="just"/>
            <a:r>
              <a:rPr lang="en-GB" b="1" dirty="0" smtClean="0"/>
              <a:t>Test case Version: (Optional)</a:t>
            </a:r>
          </a:p>
          <a:p>
            <a:pPr lvl="1" algn="just"/>
            <a:r>
              <a:rPr lang="en-GB" sz="2000" dirty="0" smtClean="0"/>
              <a:t>Mention the test case version number.</a:t>
            </a:r>
          </a:p>
          <a:p>
            <a:pPr algn="just"/>
            <a:r>
              <a:rPr lang="en-US" b="1" dirty="0" smtClean="0"/>
              <a:t>Use Case Reference(s):</a:t>
            </a:r>
          </a:p>
          <a:p>
            <a:pPr lvl="1" algn="just"/>
            <a:r>
              <a:rPr lang="en-US" sz="2000" dirty="0" smtClean="0"/>
              <a:t>Mention the use case reference for which the test case is written.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a:xfrm>
            <a:off x="1104900" y="1447800"/>
            <a:ext cx="9982200" cy="5168900"/>
          </a:xfrm>
        </p:spPr>
        <p:txBody>
          <a:bodyPr>
            <a:noAutofit/>
          </a:bodyPr>
          <a:lstStyle/>
          <a:p>
            <a:pPr algn="just"/>
            <a:r>
              <a:rPr lang="en-US" b="1" dirty="0" smtClean="0"/>
              <a:t>GUI Reference(s) :(Optional)</a:t>
            </a:r>
          </a:p>
          <a:p>
            <a:pPr marL="685800" lvl="2" algn="just">
              <a:spcBef>
                <a:spcPts val="1800"/>
              </a:spcBef>
            </a:pPr>
            <a:r>
              <a:rPr lang="en-US" sz="2000" dirty="0" smtClean="0"/>
              <a:t>Mention the GUI reference for which the test case is written.</a:t>
            </a:r>
            <a:endParaRPr lang="en-US" sz="2000" b="1" dirty="0" smtClean="0"/>
          </a:p>
          <a:p>
            <a:pPr algn="just"/>
            <a:r>
              <a:rPr lang="en-US" b="1" dirty="0" smtClean="0"/>
              <a:t>QA Test Engineer  / </a:t>
            </a:r>
            <a:r>
              <a:rPr lang="en-GB" b="1" dirty="0" smtClean="0"/>
              <a:t>Test Designed By</a:t>
            </a:r>
            <a:r>
              <a:rPr lang="en-US" b="1" dirty="0" smtClean="0"/>
              <a:t>:</a:t>
            </a:r>
          </a:p>
          <a:p>
            <a:pPr lvl="1" algn="just"/>
            <a:r>
              <a:rPr lang="en-GB" sz="2000" dirty="0" smtClean="0"/>
              <a:t>Name of the tester</a:t>
            </a:r>
          </a:p>
          <a:p>
            <a:pPr algn="just"/>
            <a:r>
              <a:rPr lang="en-GB" b="1" dirty="0" smtClean="0"/>
              <a:t>Test Designed Date:</a:t>
            </a:r>
          </a:p>
          <a:p>
            <a:pPr lvl="1" algn="just"/>
            <a:r>
              <a:rPr lang="en-GB" sz="2000" dirty="0" smtClean="0"/>
              <a:t>Date when test case is written.</a:t>
            </a:r>
          </a:p>
          <a:p>
            <a:pPr algn="just"/>
            <a:r>
              <a:rPr lang="en-GB" b="1" dirty="0" smtClean="0"/>
              <a:t>Test Executed By:</a:t>
            </a:r>
          </a:p>
          <a:p>
            <a:pPr lvl="1" algn="just"/>
            <a:r>
              <a:rPr lang="en-GB" sz="2000" dirty="0" smtClean="0"/>
              <a:t>Name of tester who executed this test.</a:t>
            </a:r>
          </a:p>
          <a:p>
            <a:pPr lvl="1" algn="just"/>
            <a:r>
              <a:rPr lang="en-GB" sz="2000" dirty="0" smtClean="0"/>
              <a:t>To be filled after test execution.</a:t>
            </a:r>
          </a:p>
          <a:p>
            <a:pPr algn="just"/>
            <a:r>
              <a:rPr lang="en-GB" b="1" dirty="0" smtClean="0"/>
              <a:t>Test Execution Date: </a:t>
            </a:r>
          </a:p>
          <a:p>
            <a:pPr lvl="1"/>
            <a:r>
              <a:rPr lang="en-GB" sz="2000" dirty="0" smtClean="0"/>
              <a:t>Date when test case is executed.</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a:xfrm>
            <a:off x="1104900" y="1460500"/>
            <a:ext cx="9982200" cy="5397500"/>
          </a:xfrm>
        </p:spPr>
        <p:txBody>
          <a:bodyPr>
            <a:normAutofit/>
          </a:bodyPr>
          <a:lstStyle/>
          <a:p>
            <a:pPr algn="just"/>
            <a:r>
              <a:rPr lang="en-GB" b="1" dirty="0" smtClean="0"/>
              <a:t>Test Title/Name: </a:t>
            </a:r>
          </a:p>
          <a:p>
            <a:pPr lvl="1" algn="just"/>
            <a:r>
              <a:rPr lang="en-GB" sz="2000" dirty="0" smtClean="0"/>
              <a:t>Test case title. E.g. verify login page with valid username and password.</a:t>
            </a:r>
          </a:p>
          <a:p>
            <a:pPr algn="just"/>
            <a:r>
              <a:rPr lang="en-GB" b="1" dirty="0" smtClean="0"/>
              <a:t>Test Case Summary/Description</a:t>
            </a:r>
            <a:r>
              <a:rPr lang="en-GB" dirty="0" smtClean="0"/>
              <a:t>:</a:t>
            </a:r>
            <a:r>
              <a:rPr lang="en-GB" b="1" dirty="0" smtClean="0"/>
              <a:t> </a:t>
            </a:r>
          </a:p>
          <a:p>
            <a:pPr lvl="1" algn="just"/>
            <a:r>
              <a:rPr lang="en-GB" sz="2000" dirty="0" smtClean="0"/>
              <a:t>Describe test objective.</a:t>
            </a:r>
            <a:endParaRPr lang="en-US" sz="2000" b="1" dirty="0" smtClean="0"/>
          </a:p>
          <a:p>
            <a:pPr algn="just"/>
            <a:r>
              <a:rPr lang="en-US" b="1" dirty="0" smtClean="0"/>
              <a:t>Pre-Requisite/</a:t>
            </a:r>
            <a:r>
              <a:rPr lang="en-GB" b="1" dirty="0" smtClean="0"/>
              <a:t>Pre-condition: </a:t>
            </a:r>
          </a:p>
          <a:p>
            <a:pPr lvl="1" algn="just"/>
            <a:r>
              <a:rPr lang="en-GB" sz="2000" dirty="0" smtClean="0"/>
              <a:t>Any prerequisite that must be fulfilled before execution of this test case. </a:t>
            </a:r>
          </a:p>
          <a:p>
            <a:pPr lvl="1" algn="just"/>
            <a:r>
              <a:rPr lang="en-GB" sz="2000" dirty="0" smtClean="0"/>
              <a:t>List all pre-conditions in order to successfully execute this test case.</a:t>
            </a:r>
            <a:endParaRPr lang="en-US" sz="2000" b="1" dirty="0" smtClean="0"/>
          </a:p>
          <a:p>
            <a:r>
              <a:rPr lang="en-GB" b="1" dirty="0" smtClean="0"/>
              <a:t>Dependencies: (Optional)</a:t>
            </a:r>
          </a:p>
          <a:p>
            <a:pPr lvl="1"/>
            <a:r>
              <a:rPr lang="en-GB" sz="2000" dirty="0" smtClean="0"/>
              <a:t>Mention any dependencies on other test cases or test requirement.</a:t>
            </a:r>
          </a:p>
          <a:p>
            <a:r>
              <a:rPr lang="en-GB" b="1" dirty="0" smtClean="0"/>
              <a:t>Test Steps</a:t>
            </a:r>
            <a:r>
              <a:rPr lang="en-GB" dirty="0" smtClean="0"/>
              <a:t>:</a:t>
            </a:r>
          </a:p>
          <a:p>
            <a:pPr lvl="1"/>
            <a:r>
              <a:rPr lang="en-GB" sz="2000" dirty="0" smtClean="0"/>
              <a:t>List all test execution steps in detail. </a:t>
            </a:r>
          </a:p>
          <a:p>
            <a:pPr lvl="1"/>
            <a:r>
              <a:rPr lang="en-GB" sz="2000" dirty="0" smtClean="0"/>
              <a:t>Write test steps in the order in which these should be executed. </a:t>
            </a:r>
          </a:p>
          <a:p>
            <a:pPr lvl="1"/>
            <a:r>
              <a:rPr lang="en-GB" sz="2000" dirty="0" smtClean="0"/>
              <a:t>Make sure to provide as much details as you can.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a:xfrm>
            <a:off x="1104900" y="1409700"/>
            <a:ext cx="9982200" cy="5257800"/>
          </a:xfrm>
        </p:spPr>
        <p:txBody>
          <a:bodyPr>
            <a:noAutofit/>
          </a:bodyPr>
          <a:lstStyle/>
          <a:p>
            <a:r>
              <a:rPr lang="en-GB" b="1" u="sng" dirty="0" smtClean="0"/>
              <a:t>Test Data/Input Specification</a:t>
            </a:r>
            <a:r>
              <a:rPr lang="en-GB" b="1" dirty="0" smtClean="0"/>
              <a:t>: </a:t>
            </a:r>
          </a:p>
          <a:p>
            <a:pPr lvl="1"/>
            <a:r>
              <a:rPr lang="en-GB" sz="2000" dirty="0" smtClean="0"/>
              <a:t>Use of test data as an input for the test case. </a:t>
            </a:r>
          </a:p>
          <a:p>
            <a:pPr lvl="1"/>
            <a:r>
              <a:rPr lang="en-GB" sz="2000" dirty="0" smtClean="0"/>
              <a:t>You can provide different data sets with exact values to be used as an input.</a:t>
            </a:r>
          </a:p>
          <a:p>
            <a:pPr lvl="1" algn="just"/>
            <a:r>
              <a:rPr lang="en-GB" sz="2000" b="1" dirty="0" smtClean="0"/>
              <a:t>Examples: </a:t>
            </a:r>
            <a:r>
              <a:rPr lang="en-GB" sz="2000" dirty="0" smtClean="0"/>
              <a:t>If you’re testing Calculator, this may be as simple as 1+1.</a:t>
            </a:r>
          </a:p>
          <a:p>
            <a:pPr lvl="1" algn="just"/>
            <a:r>
              <a:rPr lang="en-GB" sz="2000" dirty="0" smtClean="0"/>
              <a:t>If you’re testing cellular telephone switching software, there could be hundreds or thousands of input conditions. </a:t>
            </a:r>
          </a:p>
          <a:p>
            <a:pPr lvl="1" algn="just"/>
            <a:r>
              <a:rPr lang="en-GB" sz="2000" dirty="0" smtClean="0"/>
              <a:t>If you’re testing a file-based product, it would be the name of the file and a description of its contents.</a:t>
            </a:r>
          </a:p>
          <a:p>
            <a:r>
              <a:rPr lang="en-GB" b="1" u="sng" dirty="0" smtClean="0"/>
              <a:t>Expected Result/ Output Specification</a:t>
            </a:r>
            <a:r>
              <a:rPr lang="en-GB" b="1" dirty="0" smtClean="0"/>
              <a:t>: </a:t>
            </a:r>
            <a:r>
              <a:rPr lang="en-GB" dirty="0" smtClean="0"/>
              <a:t> </a:t>
            </a:r>
          </a:p>
          <a:p>
            <a:pPr lvl="1"/>
            <a:r>
              <a:rPr lang="en-GB" sz="2000" dirty="0" smtClean="0"/>
              <a:t>What should be the system output after test execution? </a:t>
            </a:r>
          </a:p>
          <a:p>
            <a:pPr lvl="1"/>
            <a:r>
              <a:rPr lang="en-GB" sz="2000" dirty="0" smtClean="0"/>
              <a:t>Describe the expected result in detail including message/error that should be displayed on screen.</a:t>
            </a:r>
          </a:p>
          <a:p>
            <a:pPr lvl="1" algn="just"/>
            <a:r>
              <a:rPr lang="en-GB" sz="2000" b="1" dirty="0" smtClean="0"/>
              <a:t>Examples: </a:t>
            </a:r>
            <a:r>
              <a:rPr lang="en-GB" sz="2000" dirty="0" smtClean="0"/>
              <a:t>Did 1+1 equal 2? </a:t>
            </a:r>
          </a:p>
          <a:p>
            <a:pPr lvl="1" algn="just"/>
            <a:r>
              <a:rPr lang="en-GB" sz="2000" dirty="0" smtClean="0"/>
              <a:t>Were the thousands of output variables set correctly in the cell phone software?</a:t>
            </a:r>
          </a:p>
          <a:p>
            <a:pPr lvl="1" algn="just"/>
            <a:r>
              <a:rPr lang="en-GB" sz="2000" dirty="0" smtClean="0"/>
              <a:t>Did all the contents of the file load as expected?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p:txBody>
          <a:bodyPr>
            <a:normAutofit/>
          </a:bodyPr>
          <a:lstStyle/>
          <a:p>
            <a:r>
              <a:rPr lang="en-GB" b="1" u="sng" dirty="0" smtClean="0"/>
              <a:t>Actual result</a:t>
            </a:r>
            <a:r>
              <a:rPr lang="en-GB" b="1" dirty="0" smtClean="0"/>
              <a:t>: </a:t>
            </a:r>
          </a:p>
          <a:p>
            <a:pPr lvl="1"/>
            <a:r>
              <a:rPr lang="en-GB" sz="2000" dirty="0" smtClean="0"/>
              <a:t>Actual test result should be filled after test execution. </a:t>
            </a:r>
          </a:p>
          <a:p>
            <a:pPr lvl="1"/>
            <a:r>
              <a:rPr lang="en-GB" sz="2000" dirty="0" smtClean="0"/>
              <a:t>Describe system behaviour after test execution.</a:t>
            </a:r>
            <a:endParaRPr lang="en-GB" b="1" u="sng" dirty="0" smtClean="0"/>
          </a:p>
          <a:p>
            <a:r>
              <a:rPr lang="en-GB" b="1" u="sng" dirty="0" smtClean="0"/>
              <a:t>Status (Pass/Fail)</a:t>
            </a:r>
            <a:r>
              <a:rPr lang="en-GB" b="1" dirty="0" smtClean="0"/>
              <a:t>: </a:t>
            </a:r>
          </a:p>
          <a:p>
            <a:pPr lvl="1"/>
            <a:r>
              <a:rPr lang="en-GB" sz="2000" dirty="0" smtClean="0"/>
              <a:t>If actual result is not as per the expected result mark this test as failed. </a:t>
            </a:r>
          </a:p>
          <a:p>
            <a:pPr lvl="1"/>
            <a:r>
              <a:rPr lang="en-GB" sz="2000" dirty="0" smtClean="0"/>
              <a:t>Otherwise update as passed.</a:t>
            </a:r>
          </a:p>
          <a:p>
            <a:pPr algn="just"/>
            <a:r>
              <a:rPr lang="en-GB" b="1" u="sng" dirty="0" smtClean="0"/>
              <a:t>Notes/Comments/Questions</a:t>
            </a:r>
            <a:r>
              <a:rPr lang="en-GB" dirty="0" smtClean="0"/>
              <a:t>:</a:t>
            </a:r>
            <a:r>
              <a:rPr lang="en-GB" b="1" dirty="0" smtClean="0"/>
              <a:t> </a:t>
            </a:r>
            <a:r>
              <a:rPr lang="en-GB" dirty="0" smtClean="0"/>
              <a:t>To support above fields if there are some special conditions which can’t be described in any of the above fields or there are questions related to the expected or actual results, mention those here.</a:t>
            </a:r>
          </a:p>
          <a:p>
            <a:pPr algn="just"/>
            <a:r>
              <a:rPr lang="en-GB" b="1" dirty="0" smtClean="0"/>
              <a:t>Post-condition: </a:t>
            </a:r>
          </a:p>
          <a:p>
            <a:pPr lvl="1" algn="just"/>
            <a:r>
              <a:rPr lang="en-GB" sz="2000" dirty="0" smtClean="0"/>
              <a:t>What should be the state of the system after executing this test case?</a:t>
            </a:r>
            <a:endParaRPr lang="en-GB" sz="2000" b="1" dirty="0" smtClean="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Template</a:t>
            </a:r>
            <a:endParaRPr lang="en-GB" dirty="0"/>
          </a:p>
        </p:txBody>
      </p:sp>
      <p:sp>
        <p:nvSpPr>
          <p:cNvPr id="3" name="Content Placeholder 2"/>
          <p:cNvSpPr>
            <a:spLocks noGrp="1"/>
          </p:cNvSpPr>
          <p:nvPr>
            <p:ph idx="1"/>
          </p:nvPr>
        </p:nvSpPr>
        <p:spPr>
          <a:xfrm>
            <a:off x="1104900" y="1469571"/>
            <a:ext cx="9982200" cy="5166360"/>
          </a:xfrm>
        </p:spPr>
        <p:txBody>
          <a:bodyPr>
            <a:noAutofit/>
          </a:bodyPr>
          <a:lstStyle/>
          <a:p>
            <a:pPr algn="just"/>
            <a:r>
              <a:rPr lang="en-GB" b="1" dirty="0" smtClean="0"/>
              <a:t>Environmental needs: (Optional)</a:t>
            </a:r>
          </a:p>
          <a:p>
            <a:pPr lvl="1" algn="just"/>
            <a:r>
              <a:rPr lang="en-GB" sz="2000" dirty="0" smtClean="0"/>
              <a:t>Environmental needs that are necessary to run the test case include:</a:t>
            </a:r>
          </a:p>
          <a:p>
            <a:pPr lvl="2" algn="just"/>
            <a:r>
              <a:rPr lang="en-GB" sz="2000" dirty="0" smtClean="0"/>
              <a:t>Hardware</a:t>
            </a:r>
          </a:p>
          <a:p>
            <a:pPr lvl="2" algn="just"/>
            <a:r>
              <a:rPr lang="en-GB" sz="2000" dirty="0" smtClean="0"/>
              <a:t>Software</a:t>
            </a:r>
          </a:p>
          <a:p>
            <a:pPr lvl="2" algn="just"/>
            <a:r>
              <a:rPr lang="en-GB" sz="2000" dirty="0" smtClean="0"/>
              <a:t>Test tools</a:t>
            </a:r>
          </a:p>
          <a:p>
            <a:pPr lvl="2" algn="just"/>
            <a:r>
              <a:rPr lang="en-GB" sz="2000" dirty="0" smtClean="0"/>
              <a:t>Facilities</a:t>
            </a:r>
          </a:p>
          <a:p>
            <a:pPr lvl="2" algn="just"/>
            <a:r>
              <a:rPr lang="en-GB" sz="2000" dirty="0" smtClean="0"/>
              <a:t>Staff and so on.</a:t>
            </a:r>
          </a:p>
          <a:p>
            <a:pPr algn="just"/>
            <a:r>
              <a:rPr lang="en-GB" b="1" dirty="0" smtClean="0"/>
              <a:t>Special procedural requirements: (Optional)</a:t>
            </a:r>
          </a:p>
          <a:p>
            <a:pPr lvl="1" algn="just"/>
            <a:r>
              <a:rPr lang="en-GB" sz="2000" dirty="0" smtClean="0"/>
              <a:t>This section describes anything unusual that must be done to perform the test.</a:t>
            </a:r>
          </a:p>
          <a:p>
            <a:pPr lvl="1" algn="just"/>
            <a:r>
              <a:rPr lang="en-GB" sz="2000" b="1" dirty="0" smtClean="0"/>
              <a:t>Example: </a:t>
            </a:r>
            <a:r>
              <a:rPr lang="en-GB" sz="2000" dirty="0" smtClean="0"/>
              <a:t>Testing WordPad probably doesn’t need anything special, but testing nuclear power plant software might.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Level of Detail For Test Case</a:t>
            </a:r>
            <a:endParaRPr lang="en-GB" dirty="0"/>
          </a:p>
        </p:txBody>
      </p:sp>
      <p:sp>
        <p:nvSpPr>
          <p:cNvPr id="3" name="Content Placeholder 2"/>
          <p:cNvSpPr>
            <a:spLocks noGrp="1"/>
          </p:cNvSpPr>
          <p:nvPr>
            <p:ph idx="1"/>
          </p:nvPr>
        </p:nvSpPr>
        <p:spPr/>
        <p:txBody>
          <a:bodyPr/>
          <a:lstStyle/>
          <a:p>
            <a:pPr algn="just"/>
            <a:r>
              <a:rPr lang="en-GB" dirty="0" smtClean="0"/>
              <a:t>If you follow this level of documentation, you could be writing at least a page of descriptive text for each test case you identify.</a:t>
            </a:r>
          </a:p>
          <a:p>
            <a:pPr algn="just"/>
            <a:r>
              <a:rPr lang="en-GB" dirty="0" smtClean="0"/>
              <a:t>Thousands of test cases could take thousands of pages of documentation.</a:t>
            </a:r>
          </a:p>
          <a:p>
            <a:pPr algn="just"/>
            <a:r>
              <a:rPr lang="en-GB" dirty="0" smtClean="0"/>
              <a:t>The project could be outdated by the time you finish writing.</a:t>
            </a:r>
          </a:p>
          <a:p>
            <a:pPr algn="just"/>
            <a:r>
              <a:rPr lang="en-GB" dirty="0" smtClean="0"/>
              <a:t>Many government projects and industries are required to document their test cases to this level.</a:t>
            </a:r>
          </a:p>
          <a:p>
            <a:pPr algn="just"/>
            <a:r>
              <a:rPr lang="en-GB" dirty="0" smtClean="0"/>
              <a:t>In other cases, you can take some shortcuts.</a:t>
            </a:r>
          </a:p>
          <a:p>
            <a:pPr algn="just"/>
            <a:r>
              <a:rPr lang="en-GB" dirty="0" smtClean="0"/>
              <a:t>Taking a shortcut doesn’t mean dismissing or neglecting important information.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Level of Detail For Test Case</a:t>
            </a:r>
            <a:endParaRPr lang="en-GB" dirty="0"/>
          </a:p>
        </p:txBody>
      </p:sp>
      <p:sp>
        <p:nvSpPr>
          <p:cNvPr id="3" name="Content Placeholder 2"/>
          <p:cNvSpPr>
            <a:spLocks noGrp="1"/>
          </p:cNvSpPr>
          <p:nvPr>
            <p:ph idx="1"/>
          </p:nvPr>
        </p:nvSpPr>
        <p:spPr/>
        <p:txBody>
          <a:bodyPr/>
          <a:lstStyle/>
          <a:p>
            <a:pPr algn="just"/>
            <a:r>
              <a:rPr lang="en-GB" dirty="0" smtClean="0"/>
              <a:t>You can use the following test case format for printer compatibility matrix</a:t>
            </a:r>
          </a:p>
          <a:p>
            <a:pPr algn="just"/>
            <a:r>
              <a:rPr lang="en-GB" dirty="0" smtClean="0"/>
              <a:t>All the other information that goes with a test case are most likely common to all these cases and could be written once and attached to the table</a:t>
            </a:r>
            <a:endParaRPr lang="en-GB" dirty="0"/>
          </a:p>
        </p:txBody>
      </p:sp>
      <p:pic>
        <p:nvPicPr>
          <p:cNvPr id="1026" name="Picture 2"/>
          <p:cNvPicPr>
            <a:picLocks noChangeAspect="1" noChangeArrowheads="1"/>
          </p:cNvPicPr>
          <p:nvPr/>
        </p:nvPicPr>
        <p:blipFill>
          <a:blip r:embed="rId2"/>
          <a:srcRect/>
          <a:stretch>
            <a:fillRect/>
          </a:stretch>
        </p:blipFill>
        <p:spPr bwMode="auto">
          <a:xfrm>
            <a:off x="1748382" y="2865257"/>
            <a:ext cx="8304465" cy="3730578"/>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Test Cases</a:t>
            </a:r>
            <a:endParaRPr lang="en-US" dirty="0"/>
          </a:p>
        </p:txBody>
      </p:sp>
      <p:sp>
        <p:nvSpPr>
          <p:cNvPr id="5" name="Content Placeholder 4"/>
          <p:cNvSpPr>
            <a:spLocks noGrp="1"/>
          </p:cNvSpPr>
          <p:nvPr>
            <p:ph idx="1"/>
          </p:nvPr>
        </p:nvSpPr>
        <p:spPr>
          <a:xfrm>
            <a:off x="1097280" y="1600200"/>
            <a:ext cx="9993086" cy="4876800"/>
          </a:xfrm>
        </p:spPr>
        <p:txBody>
          <a:bodyPr>
            <a:normAutofit/>
          </a:bodyPr>
          <a:lstStyle/>
          <a:p>
            <a:pPr marL="514350" indent="-514350" algn="just">
              <a:buNone/>
            </a:pPr>
            <a:r>
              <a:rPr lang="en-US" dirty="0"/>
              <a:t>A good test case has certain characteristics which are</a:t>
            </a:r>
            <a:r>
              <a:rPr lang="en-US" dirty="0" smtClean="0"/>
              <a:t>:</a:t>
            </a:r>
          </a:p>
          <a:p>
            <a:pPr marL="514350" indent="-514350" algn="just">
              <a:buFont typeface="+mj-lt"/>
              <a:buAutoNum type="arabicPeriod"/>
            </a:pPr>
            <a:r>
              <a:rPr lang="en-US" dirty="0" smtClean="0"/>
              <a:t>Should </a:t>
            </a:r>
            <a:r>
              <a:rPr lang="en-US" dirty="0"/>
              <a:t>be accurate and tests what it is intended to </a:t>
            </a:r>
            <a:r>
              <a:rPr lang="en-US" dirty="0" smtClean="0"/>
              <a:t>test.</a:t>
            </a:r>
          </a:p>
          <a:p>
            <a:pPr marL="514350" indent="-514350" algn="just">
              <a:buAutoNum type="arabicPeriod"/>
            </a:pPr>
            <a:r>
              <a:rPr lang="en-US" dirty="0" smtClean="0"/>
              <a:t>No </a:t>
            </a:r>
            <a:r>
              <a:rPr lang="en-US" dirty="0"/>
              <a:t>unnecessary steps should be included in </a:t>
            </a:r>
            <a:r>
              <a:rPr lang="en-US" dirty="0" smtClean="0"/>
              <a:t>it.</a:t>
            </a:r>
            <a:endParaRPr lang="en-US" dirty="0"/>
          </a:p>
          <a:p>
            <a:pPr marL="514350" indent="-514350" algn="just">
              <a:buAutoNum type="arabicPeriod"/>
            </a:pPr>
            <a:r>
              <a:rPr lang="en-US" dirty="0" smtClean="0"/>
              <a:t>It </a:t>
            </a:r>
            <a:r>
              <a:rPr lang="en-US" dirty="0"/>
              <a:t>should be </a:t>
            </a:r>
            <a:r>
              <a:rPr lang="en-US" dirty="0" smtClean="0"/>
              <a:t>reusable.</a:t>
            </a:r>
            <a:endParaRPr lang="en-US" dirty="0"/>
          </a:p>
          <a:p>
            <a:pPr marL="514350" indent="-514350" algn="just">
              <a:buAutoNum type="arabicPeriod"/>
            </a:pPr>
            <a:r>
              <a:rPr lang="en-US" dirty="0" smtClean="0"/>
              <a:t>It </a:t>
            </a:r>
            <a:r>
              <a:rPr lang="en-US" dirty="0"/>
              <a:t>should be traceable to </a:t>
            </a:r>
            <a:r>
              <a:rPr lang="en-US" dirty="0" smtClean="0"/>
              <a:t>requirements.</a:t>
            </a:r>
            <a:endParaRPr lang="en-US" dirty="0"/>
          </a:p>
          <a:p>
            <a:pPr marL="514350" indent="-514350" algn="just">
              <a:buAutoNum type="arabicPeriod"/>
            </a:pPr>
            <a:r>
              <a:rPr lang="en-US" dirty="0" smtClean="0"/>
              <a:t>It </a:t>
            </a:r>
            <a:r>
              <a:rPr lang="en-US" dirty="0"/>
              <a:t>should be compliant to </a:t>
            </a:r>
            <a:r>
              <a:rPr lang="en-US" dirty="0" smtClean="0"/>
              <a:t>regulations.</a:t>
            </a:r>
            <a:endParaRPr lang="en-US" dirty="0"/>
          </a:p>
          <a:p>
            <a:pPr marL="514350" indent="-514350" algn="just">
              <a:buAutoNum type="arabicPeriod"/>
            </a:pPr>
            <a:r>
              <a:rPr lang="en-US" smtClean="0"/>
              <a:t>It </a:t>
            </a:r>
            <a:r>
              <a:rPr lang="en-US" dirty="0"/>
              <a:t>should be simple and clear, any tester should be able to understand it by reading </a:t>
            </a:r>
            <a:r>
              <a:rPr lang="en-US" dirty="0" smtClean="0"/>
              <a:t>once.</a:t>
            </a:r>
            <a:endParaRPr lang="en-US"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TIPS for writing good test cases</a:t>
            </a:r>
            <a:endParaRPr lang="en-US" dirty="0"/>
          </a:p>
        </p:txBody>
      </p:sp>
      <p:sp>
        <p:nvSpPr>
          <p:cNvPr id="3" name="Content Placeholder 2"/>
          <p:cNvSpPr>
            <a:spLocks noGrp="1"/>
          </p:cNvSpPr>
          <p:nvPr>
            <p:ph idx="1"/>
          </p:nvPr>
        </p:nvSpPr>
        <p:spPr>
          <a:xfrm>
            <a:off x="1104900" y="1600200"/>
            <a:ext cx="9982200" cy="4724400"/>
          </a:xfrm>
        </p:spPr>
        <p:txBody>
          <a:bodyPr>
            <a:normAutofit/>
          </a:bodyPr>
          <a:lstStyle/>
          <a:p>
            <a:pPr algn="just"/>
            <a:r>
              <a:rPr lang="en-US" b="1" dirty="0" smtClean="0"/>
              <a:t>Tests </a:t>
            </a:r>
            <a:r>
              <a:rPr lang="en-US" b="1" dirty="0"/>
              <a:t>only one </a:t>
            </a:r>
            <a:r>
              <a:rPr lang="en-US" b="1" dirty="0" smtClean="0"/>
              <a:t>thing </a:t>
            </a:r>
          </a:p>
          <a:p>
            <a:pPr lvl="1" algn="just"/>
            <a:r>
              <a:rPr lang="en-US" sz="2000" dirty="0" smtClean="0"/>
              <a:t>Always </a:t>
            </a:r>
            <a:r>
              <a:rPr lang="en-US" sz="2000" dirty="0"/>
              <a:t>make sure that your test case tests only one thing, if you try to test multiple conditions in one test case it becomes very difficult to track results and errors.</a:t>
            </a:r>
          </a:p>
          <a:p>
            <a:pPr algn="just"/>
            <a:r>
              <a:rPr lang="en-US" b="1" dirty="0"/>
              <a:t>Organize your test cases </a:t>
            </a:r>
            <a:r>
              <a:rPr lang="en-US" b="1" dirty="0" smtClean="0"/>
              <a:t>consistently </a:t>
            </a:r>
          </a:p>
          <a:p>
            <a:pPr lvl="1" algn="just"/>
            <a:r>
              <a:rPr lang="en-US" sz="2000" dirty="0" smtClean="0"/>
              <a:t>You </a:t>
            </a:r>
            <a:r>
              <a:rPr lang="en-US" sz="2000" dirty="0"/>
              <a:t>can organize your test cases in many ways however you should always follow the same pattern to organize you test cases.</a:t>
            </a:r>
          </a:p>
          <a:p>
            <a:pPr algn="just"/>
            <a:r>
              <a:rPr lang="en-US" b="1" dirty="0"/>
              <a:t>Write independent test </a:t>
            </a:r>
            <a:r>
              <a:rPr lang="en-US" b="1" dirty="0" smtClean="0"/>
              <a:t>cases </a:t>
            </a:r>
          </a:p>
          <a:p>
            <a:pPr lvl="1" algn="just"/>
            <a:r>
              <a:rPr lang="en-US" sz="2000" dirty="0" smtClean="0"/>
              <a:t>Your </a:t>
            </a:r>
            <a:r>
              <a:rPr lang="en-US" sz="2000" dirty="0"/>
              <a:t>test cases should not have dependency on other test cases, </a:t>
            </a:r>
            <a:r>
              <a:rPr lang="en-US" sz="2000" dirty="0" smtClean="0"/>
              <a:t>i.e. </a:t>
            </a:r>
            <a:r>
              <a:rPr lang="en-US" sz="2000" dirty="0"/>
              <a:t>you should be able to execute your test case </a:t>
            </a:r>
            <a:r>
              <a:rPr lang="en-US" sz="2000" dirty="0" smtClean="0"/>
              <a:t>in any order without any dependency on other test cases</a:t>
            </a:r>
            <a:endParaRPr lang="en-US" sz="2000" dirty="0"/>
          </a:p>
          <a:p>
            <a:pPr algn="just"/>
            <a:r>
              <a:rPr lang="en-US" b="1" dirty="0"/>
              <a:t>Write small test </a:t>
            </a:r>
            <a:r>
              <a:rPr lang="en-US" b="1" dirty="0" smtClean="0"/>
              <a:t>cases </a:t>
            </a:r>
          </a:p>
          <a:p>
            <a:pPr lvl="1" algn="just"/>
            <a:r>
              <a:rPr lang="en-US" sz="2000" dirty="0" smtClean="0"/>
              <a:t>Always </a:t>
            </a:r>
            <a:r>
              <a:rPr lang="en-US" sz="2000" dirty="0"/>
              <a:t>mention purpose of each test case </a:t>
            </a:r>
            <a:r>
              <a:rPr lang="en-US" sz="2000" dirty="0" smtClean="0"/>
              <a:t>clearly.</a:t>
            </a:r>
          </a:p>
          <a:p>
            <a:pPr lvl="1" algn="just"/>
            <a:r>
              <a:rPr lang="en-US" sz="2000" dirty="0" smtClean="0"/>
              <a:t>Be precise.</a:t>
            </a:r>
            <a:endParaRPr lang="en-US" sz="2000" dirty="0"/>
          </a:p>
          <a:p>
            <a:endParaRPr lang="en-US"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Test Cases</a:t>
            </a:r>
            <a:endParaRPr lang="en-US" dirty="0"/>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dirty="0" smtClean="0"/>
              <a:t>Test passes but not testing the actual feature</a:t>
            </a:r>
          </a:p>
          <a:p>
            <a:pPr marL="514350" indent="-514350" algn="just">
              <a:buFont typeface="+mj-lt"/>
              <a:buAutoNum type="arabicPeriod"/>
            </a:pPr>
            <a:r>
              <a:rPr lang="en-US" dirty="0" smtClean="0"/>
              <a:t>Testing irrelevant things </a:t>
            </a:r>
          </a:p>
          <a:p>
            <a:pPr marL="514350" indent="-514350" algn="just">
              <a:buFont typeface="+mj-lt"/>
              <a:buAutoNum type="arabicPeriod"/>
            </a:pPr>
            <a:r>
              <a:rPr lang="en-US" dirty="0" smtClean="0"/>
              <a:t>Testing multiple things in assertions </a:t>
            </a:r>
          </a:p>
          <a:p>
            <a:pPr marL="514350" indent="-514350" algn="just">
              <a:buFont typeface="+mj-lt"/>
              <a:buAutoNum type="arabicPeriod"/>
            </a:pPr>
            <a:r>
              <a:rPr lang="en-US" dirty="0" smtClean="0"/>
              <a:t>Tests swallowing exceptions </a:t>
            </a:r>
          </a:p>
          <a:p>
            <a:pPr marL="514350" indent="-514350" algn="just">
              <a:buFont typeface="+mj-lt"/>
              <a:buAutoNum type="arabicPeriod"/>
            </a:pPr>
            <a:r>
              <a:rPr lang="en-US" dirty="0" smtClean="0"/>
              <a:t>Test which depends on excessive setup </a:t>
            </a:r>
          </a:p>
          <a:p>
            <a:pPr marL="514350" indent="-514350" algn="just">
              <a:buFont typeface="+mj-lt"/>
              <a:buAutoNum type="arabicPeriod"/>
            </a:pPr>
            <a:r>
              <a:rPr lang="en-US" dirty="0" smtClean="0"/>
              <a:t>Test compatible to only developer's machine</a:t>
            </a:r>
          </a:p>
          <a:p>
            <a:pPr marL="514350" indent="-514350" algn="just">
              <a:buFont typeface="+mj-lt"/>
              <a:buAutoNum type="arabicPeriod"/>
            </a:pPr>
            <a:r>
              <a:rPr lang="en-US" dirty="0" smtClean="0"/>
              <a:t>Test filling log files with load of texts</a:t>
            </a:r>
            <a:endParaRPr lang="en-US"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Procedure </a:t>
            </a:r>
            <a:endParaRPr lang="en-GB" dirty="0"/>
          </a:p>
        </p:txBody>
      </p:sp>
      <p:sp>
        <p:nvSpPr>
          <p:cNvPr id="3" name="Content Placeholder 2"/>
          <p:cNvSpPr>
            <a:spLocks noGrp="1"/>
          </p:cNvSpPr>
          <p:nvPr>
            <p:ph idx="1"/>
          </p:nvPr>
        </p:nvSpPr>
        <p:spPr>
          <a:xfrm>
            <a:off x="1104900" y="1600199"/>
            <a:ext cx="9982200" cy="4839789"/>
          </a:xfrm>
        </p:spPr>
        <p:txBody>
          <a:bodyPr>
            <a:normAutofit/>
          </a:bodyPr>
          <a:lstStyle/>
          <a:p>
            <a:pPr algn="just"/>
            <a:r>
              <a:rPr lang="en-US" dirty="0" smtClean="0"/>
              <a:t>A standardized and documented process that represent the sequence of actions for the </a:t>
            </a:r>
            <a:r>
              <a:rPr lang="en-US" smtClean="0"/>
              <a:t>execution of </a:t>
            </a:r>
            <a:r>
              <a:rPr lang="en-US" dirty="0" smtClean="0"/>
              <a:t>test cases. Also known as manual test script.</a:t>
            </a:r>
          </a:p>
          <a:p>
            <a:pPr algn="just"/>
            <a:r>
              <a:rPr lang="en-GB" dirty="0" smtClean="0"/>
              <a:t>The ANSI/IEEE 829 standard lists some important information that need to be defined</a:t>
            </a:r>
          </a:p>
          <a:p>
            <a:pPr algn="just"/>
            <a:r>
              <a:rPr lang="en-GB" b="1" dirty="0" smtClean="0"/>
              <a:t>Identifier</a:t>
            </a:r>
          </a:p>
          <a:p>
            <a:pPr lvl="1" algn="just"/>
            <a:r>
              <a:rPr lang="en-GB" sz="2000" dirty="0" smtClean="0"/>
              <a:t>A unique identifier that ties the test procedure to the associated test cases and test design.</a:t>
            </a:r>
          </a:p>
          <a:p>
            <a:pPr algn="just"/>
            <a:r>
              <a:rPr lang="en-GB" b="1" dirty="0" smtClean="0"/>
              <a:t>Purpose</a:t>
            </a:r>
          </a:p>
          <a:p>
            <a:pPr lvl="1" algn="just"/>
            <a:r>
              <a:rPr lang="en-GB" sz="2000" dirty="0" smtClean="0"/>
              <a:t>The purpose of the procedure and reference to the test cases that it will execute.</a:t>
            </a:r>
          </a:p>
          <a:p>
            <a:pPr algn="just"/>
            <a:r>
              <a:rPr lang="en-GB" b="1" dirty="0" smtClean="0"/>
              <a:t>Special requirements</a:t>
            </a:r>
          </a:p>
          <a:p>
            <a:pPr lvl="1" algn="just"/>
            <a:r>
              <a:rPr lang="en-GB" sz="2000" dirty="0" smtClean="0"/>
              <a:t>Other procedures, special testing skills, or special equipment needed to run the procedure.</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Procedure </a:t>
            </a:r>
            <a:endParaRPr lang="en-GB" dirty="0"/>
          </a:p>
        </p:txBody>
      </p:sp>
      <p:sp>
        <p:nvSpPr>
          <p:cNvPr id="3" name="Content Placeholder 2"/>
          <p:cNvSpPr>
            <a:spLocks noGrp="1"/>
          </p:cNvSpPr>
          <p:nvPr>
            <p:ph idx="1"/>
          </p:nvPr>
        </p:nvSpPr>
        <p:spPr>
          <a:xfrm>
            <a:off x="1104900" y="1410789"/>
            <a:ext cx="9982200" cy="5251267"/>
          </a:xfrm>
        </p:spPr>
        <p:txBody>
          <a:bodyPr>
            <a:normAutofit/>
          </a:bodyPr>
          <a:lstStyle/>
          <a:p>
            <a:pPr algn="just"/>
            <a:r>
              <a:rPr lang="en-GB" b="1" dirty="0" smtClean="0"/>
              <a:t>Procedure steps</a:t>
            </a:r>
          </a:p>
          <a:p>
            <a:pPr lvl="1" algn="just"/>
            <a:r>
              <a:rPr lang="en-GB" sz="2000" dirty="0" smtClean="0"/>
              <a:t>Detailed description of how the tests are to be run:</a:t>
            </a:r>
          </a:p>
          <a:p>
            <a:pPr lvl="1" algn="just"/>
            <a:r>
              <a:rPr lang="en-GB" sz="2000" b="1" dirty="0" smtClean="0"/>
              <a:t>Log-</a:t>
            </a:r>
            <a:r>
              <a:rPr lang="en-GB" sz="2000" dirty="0" smtClean="0"/>
              <a:t> Tells how and by what method the results and observations will be recorded.</a:t>
            </a:r>
          </a:p>
          <a:p>
            <a:pPr lvl="1" algn="just"/>
            <a:r>
              <a:rPr lang="en-GB" sz="2000" b="1" dirty="0" smtClean="0"/>
              <a:t>Setup-</a:t>
            </a:r>
            <a:r>
              <a:rPr lang="en-GB" sz="2000" dirty="0" smtClean="0"/>
              <a:t> Explains how to prepare for the test.</a:t>
            </a:r>
          </a:p>
          <a:p>
            <a:pPr lvl="1" algn="just"/>
            <a:r>
              <a:rPr lang="en-GB" sz="2000" b="1" dirty="0" smtClean="0"/>
              <a:t>Start-</a:t>
            </a:r>
            <a:r>
              <a:rPr lang="en-GB" sz="2000" dirty="0" smtClean="0"/>
              <a:t> Explains the steps used to start the test.</a:t>
            </a:r>
          </a:p>
          <a:p>
            <a:pPr lvl="1" algn="just"/>
            <a:r>
              <a:rPr lang="en-GB" sz="2000" b="1" dirty="0" smtClean="0"/>
              <a:t>Procedure-</a:t>
            </a:r>
            <a:r>
              <a:rPr lang="en-GB" sz="2000" dirty="0" smtClean="0"/>
              <a:t> Describes the steps used to run the tests.</a:t>
            </a:r>
          </a:p>
          <a:p>
            <a:pPr lvl="1" algn="just"/>
            <a:r>
              <a:rPr lang="en-GB" sz="2000" b="1" dirty="0" smtClean="0"/>
              <a:t>Measure-</a:t>
            </a:r>
            <a:r>
              <a:rPr lang="en-GB" sz="2000" dirty="0" smtClean="0"/>
              <a:t> Describes how the results are to be determined—for example, with a stopwatch or visual determination.</a:t>
            </a:r>
          </a:p>
          <a:p>
            <a:pPr lvl="1" algn="just"/>
            <a:r>
              <a:rPr lang="en-GB" sz="2000" b="1" dirty="0" smtClean="0"/>
              <a:t>Shut down-</a:t>
            </a:r>
            <a:r>
              <a:rPr lang="en-GB" sz="2000" dirty="0" smtClean="0"/>
              <a:t> Explains the steps for suspending the test for unexpected reasons.</a:t>
            </a:r>
          </a:p>
          <a:p>
            <a:pPr lvl="1" algn="just"/>
            <a:r>
              <a:rPr lang="en-GB" sz="2000" b="1" dirty="0" smtClean="0"/>
              <a:t>Restart-</a:t>
            </a:r>
            <a:r>
              <a:rPr lang="en-GB" sz="2000" dirty="0" smtClean="0"/>
              <a:t> Tells the tester how to pick up the test at a certain point if there’s a failure or after shutting down.</a:t>
            </a:r>
          </a:p>
          <a:p>
            <a:pPr lvl="1" algn="just"/>
            <a:r>
              <a:rPr lang="en-GB" sz="2000" b="1" dirty="0" smtClean="0"/>
              <a:t>Stop-</a:t>
            </a:r>
            <a:r>
              <a:rPr lang="en-GB" sz="2000" dirty="0" smtClean="0"/>
              <a:t> Describes the steps for an orderly halt to the test.</a:t>
            </a:r>
          </a:p>
          <a:p>
            <a:pPr lvl="1" algn="just"/>
            <a:r>
              <a:rPr lang="en-GB" sz="2000" b="1" dirty="0" smtClean="0"/>
              <a:t>Wrap up-</a:t>
            </a:r>
            <a:r>
              <a:rPr lang="en-GB" sz="2000" dirty="0" smtClean="0"/>
              <a:t> Explains how to restore the environment to its pre-test condition.</a:t>
            </a:r>
          </a:p>
          <a:p>
            <a:pPr lvl="1" algn="just"/>
            <a:r>
              <a:rPr lang="en-GB" sz="2000" b="1" dirty="0" smtClean="0"/>
              <a:t>Contingencies-</a:t>
            </a:r>
            <a:r>
              <a:rPr lang="en-GB" sz="2000" dirty="0" smtClean="0"/>
              <a:t> Explains what to do if things don’t go as planned.</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0"/>
            <a:ext cx="9980682" cy="1096962"/>
          </a:xfrm>
        </p:spPr>
        <p:txBody>
          <a:bodyPr/>
          <a:lstStyle/>
          <a:p>
            <a:r>
              <a:rPr lang="en-GB" dirty="0" smtClean="0"/>
              <a:t>Test Procedure Showing How Much Detail Should Be Involved</a:t>
            </a:r>
            <a:endParaRPr lang="en-GB" dirty="0"/>
          </a:p>
        </p:txBody>
      </p:sp>
      <p:sp>
        <p:nvSpPr>
          <p:cNvPr id="3" name="Content Placeholder 2"/>
          <p:cNvSpPr>
            <a:spLocks noGrp="1"/>
          </p:cNvSpPr>
          <p:nvPr>
            <p:ph idx="1"/>
          </p:nvPr>
        </p:nvSpPr>
        <p:spPr/>
        <p:txBody>
          <a:bodyPr/>
          <a:lstStyle/>
          <a:p>
            <a:endParaRPr lang="en-GB" dirty="0"/>
          </a:p>
        </p:txBody>
      </p:sp>
      <p:pic>
        <p:nvPicPr>
          <p:cNvPr id="2050" name="Picture 2"/>
          <p:cNvPicPr>
            <a:picLocks noChangeAspect="1" noChangeArrowheads="1"/>
          </p:cNvPicPr>
          <p:nvPr/>
        </p:nvPicPr>
        <p:blipFill>
          <a:blip r:embed="rId2"/>
          <a:srcRect/>
          <a:stretch>
            <a:fillRect/>
          </a:stretch>
        </p:blipFill>
        <p:spPr bwMode="auto">
          <a:xfrm>
            <a:off x="3649577" y="1271542"/>
            <a:ext cx="4377849" cy="5586458"/>
          </a:xfrm>
          <a:prstGeom prst="rect">
            <a:avLst/>
          </a:prstGeom>
          <a:noFill/>
          <a:ln w="9525">
            <a:noFill/>
            <a:miter lim="800000"/>
            <a:headEnd/>
            <a:tailEnd/>
          </a:ln>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Organization and Tracking</a:t>
            </a:r>
            <a:endParaRPr lang="en-GB" dirty="0"/>
          </a:p>
        </p:txBody>
      </p:sp>
      <p:sp>
        <p:nvSpPr>
          <p:cNvPr id="3" name="Content Placeholder 2"/>
          <p:cNvSpPr>
            <a:spLocks noGrp="1"/>
          </p:cNvSpPr>
          <p:nvPr>
            <p:ph idx="1"/>
          </p:nvPr>
        </p:nvSpPr>
        <p:spPr/>
        <p:txBody>
          <a:bodyPr>
            <a:normAutofit/>
          </a:bodyPr>
          <a:lstStyle/>
          <a:p>
            <a:pPr algn="just"/>
            <a:r>
              <a:rPr lang="en-GB" dirty="0" smtClean="0"/>
              <a:t>While considering how the information will be organized and tracked think about the questions:</a:t>
            </a:r>
          </a:p>
          <a:p>
            <a:pPr lvl="1" algn="just"/>
            <a:r>
              <a:rPr lang="en-GB" sz="2000" dirty="0" smtClean="0"/>
              <a:t>Which test cases do you plan to run?</a:t>
            </a:r>
          </a:p>
          <a:p>
            <a:pPr lvl="1" algn="just"/>
            <a:r>
              <a:rPr lang="en-GB" sz="2000" dirty="0" smtClean="0"/>
              <a:t>How many test cases do you plan to run? </a:t>
            </a:r>
          </a:p>
          <a:p>
            <a:pPr lvl="1" algn="just"/>
            <a:r>
              <a:rPr lang="en-GB" sz="2000" dirty="0" smtClean="0"/>
              <a:t>How long will it take to run them?</a:t>
            </a:r>
          </a:p>
          <a:p>
            <a:pPr lvl="1" algn="just"/>
            <a:r>
              <a:rPr lang="en-GB" sz="2000" dirty="0" smtClean="0"/>
              <a:t>Can you pick and choose </a:t>
            </a:r>
            <a:r>
              <a:rPr lang="en-GB" sz="2000" i="1" dirty="0" smtClean="0"/>
              <a:t>test suites (groups of related test cases) to run on particular features </a:t>
            </a:r>
            <a:r>
              <a:rPr lang="en-GB" sz="2000" dirty="0" smtClean="0"/>
              <a:t>or areas of the software?</a:t>
            </a:r>
          </a:p>
          <a:p>
            <a:pPr lvl="1" algn="just"/>
            <a:r>
              <a:rPr lang="en-GB" sz="2000" dirty="0" smtClean="0"/>
              <a:t>When you run the cases, will you be able to record which ones pass and which ones fail?</a:t>
            </a:r>
          </a:p>
          <a:p>
            <a:pPr lvl="1" algn="just"/>
            <a:r>
              <a:rPr lang="en-GB" sz="2000" dirty="0" smtClean="0"/>
              <a:t>Of the ones that failed, which ones also failed the last time you ran them?</a:t>
            </a:r>
          </a:p>
          <a:p>
            <a:pPr lvl="1" algn="just"/>
            <a:r>
              <a:rPr lang="en-GB" sz="2000" dirty="0" smtClean="0"/>
              <a:t>What percentage of the cases passed the last time you ran them?</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Organization and Tracking</a:t>
            </a:r>
            <a:endParaRPr lang="en-GB" dirty="0"/>
          </a:p>
        </p:txBody>
      </p:sp>
      <p:sp>
        <p:nvSpPr>
          <p:cNvPr id="3" name="Content Placeholder 2"/>
          <p:cNvSpPr>
            <a:spLocks noGrp="1"/>
          </p:cNvSpPr>
          <p:nvPr>
            <p:ph idx="1"/>
          </p:nvPr>
        </p:nvSpPr>
        <p:spPr>
          <a:xfrm>
            <a:off x="1104900" y="1600200"/>
            <a:ext cx="9982200" cy="5257800"/>
          </a:xfrm>
        </p:spPr>
        <p:txBody>
          <a:bodyPr>
            <a:normAutofit fontScale="92500" lnSpcReduction="10000"/>
          </a:bodyPr>
          <a:lstStyle/>
          <a:p>
            <a:pPr algn="just"/>
            <a:r>
              <a:rPr lang="en-GB" sz="2200" dirty="0" smtClean="0"/>
              <a:t>To manage your test cases and track their results, there are essentially four possible systems</a:t>
            </a:r>
          </a:p>
          <a:p>
            <a:pPr algn="just"/>
            <a:r>
              <a:rPr lang="en-GB" sz="2200" b="1" dirty="0" smtClean="0"/>
              <a:t>In your head</a:t>
            </a:r>
          </a:p>
          <a:p>
            <a:pPr lvl="1" algn="just"/>
            <a:r>
              <a:rPr lang="en-GB" sz="2200" dirty="0" smtClean="0"/>
              <a:t>Don’t even consider this one even for the simplest projects</a:t>
            </a:r>
          </a:p>
          <a:p>
            <a:pPr algn="just"/>
            <a:r>
              <a:rPr lang="en-GB" sz="2200" b="1" dirty="0" smtClean="0"/>
              <a:t>Paper/documents </a:t>
            </a:r>
          </a:p>
          <a:p>
            <a:pPr lvl="1" algn="just"/>
            <a:r>
              <a:rPr lang="en-GB" sz="2200" dirty="0" smtClean="0"/>
              <a:t>It’s possible to manage the test cases for very small projects on paper. </a:t>
            </a:r>
          </a:p>
          <a:p>
            <a:pPr lvl="1" algn="just"/>
            <a:r>
              <a:rPr lang="en-GB" sz="2200" dirty="0" smtClean="0"/>
              <a:t>Tables and charts of checklists have been used effectively.</a:t>
            </a:r>
          </a:p>
          <a:p>
            <a:pPr algn="just"/>
            <a:r>
              <a:rPr lang="en-GB" sz="2200" b="1" dirty="0" smtClean="0"/>
              <a:t>Spreadsheet. </a:t>
            </a:r>
          </a:p>
          <a:p>
            <a:pPr lvl="1" algn="just"/>
            <a:r>
              <a:rPr lang="en-GB" sz="2200" dirty="0" smtClean="0"/>
              <a:t>A popular and very workable method of tracking test cases is by using a spreadsheet</a:t>
            </a:r>
          </a:p>
          <a:p>
            <a:pPr lvl="1" algn="just"/>
            <a:r>
              <a:rPr lang="en-GB" sz="2200" dirty="0" smtClean="0"/>
              <a:t>They’re </a:t>
            </a:r>
          </a:p>
          <a:p>
            <a:pPr lvl="2" algn="just"/>
            <a:r>
              <a:rPr lang="en-GB" sz="2200" dirty="0" smtClean="0"/>
              <a:t>easy to use</a:t>
            </a:r>
          </a:p>
          <a:p>
            <a:pPr lvl="2" algn="just"/>
            <a:r>
              <a:rPr lang="en-GB" sz="2200" dirty="0" smtClean="0"/>
              <a:t>relatively easy to set up</a:t>
            </a:r>
          </a:p>
          <a:p>
            <a:pPr lvl="2" algn="just"/>
            <a:r>
              <a:rPr lang="en-GB" sz="2200" dirty="0" smtClean="0"/>
              <a:t>provide good tracking and proof of testing</a:t>
            </a:r>
          </a:p>
          <a:p>
            <a:pPr lvl="2" algn="just"/>
            <a:r>
              <a:rPr lang="en-GB" sz="2200" dirty="0" smtClean="0"/>
              <a:t>Give quick overview</a:t>
            </a:r>
          </a:p>
          <a:p>
            <a:pPr lvl="1"/>
            <a:endParaRPr lang="en-GB" sz="2000" dirty="0" smtClean="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Case Organization and Tracking</a:t>
            </a:r>
            <a:endParaRPr lang="en-GB" dirty="0"/>
          </a:p>
        </p:txBody>
      </p:sp>
      <p:sp>
        <p:nvSpPr>
          <p:cNvPr id="3" name="Content Placeholder 2"/>
          <p:cNvSpPr>
            <a:spLocks noGrp="1"/>
          </p:cNvSpPr>
          <p:nvPr>
            <p:ph idx="1"/>
          </p:nvPr>
        </p:nvSpPr>
        <p:spPr>
          <a:xfrm>
            <a:off x="1097280" y="1449977"/>
            <a:ext cx="9914710" cy="4624252"/>
          </a:xfrm>
        </p:spPr>
        <p:txBody>
          <a:bodyPr>
            <a:noAutofit/>
          </a:bodyPr>
          <a:lstStyle/>
          <a:p>
            <a:pPr algn="just"/>
            <a:r>
              <a:rPr lang="en-GB" b="1" dirty="0" smtClean="0"/>
              <a:t>Custom Database.</a:t>
            </a:r>
          </a:p>
          <a:p>
            <a:pPr lvl="1" algn="just"/>
            <a:r>
              <a:rPr lang="en-GB" sz="2000" dirty="0" smtClean="0"/>
              <a:t>The ideal method for tracking test cases</a:t>
            </a:r>
          </a:p>
          <a:p>
            <a:pPr lvl="1" algn="just"/>
            <a:r>
              <a:rPr lang="en-GB" sz="2000" dirty="0" smtClean="0"/>
              <a:t>Many commercial applications available to perform this specific task</a:t>
            </a:r>
          </a:p>
          <a:p>
            <a:pPr lvl="1" algn="just"/>
            <a:r>
              <a:rPr lang="en-GB" sz="2000" dirty="0" smtClean="0"/>
              <a:t>You can set up reports and queries that would allow you to answer any question regarding the test cases.</a:t>
            </a:r>
          </a:p>
          <a:p>
            <a:pPr algn="just"/>
            <a:r>
              <a:rPr lang="en-GB" dirty="0" smtClean="0"/>
              <a:t>The important thing to remember is that the number of test cases can easily be in the thousands and without a means to manage them, you and the other testers could quickly be lost in a sea of documentation</a:t>
            </a:r>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ChangeArrowheads="1"/>
          </p:cNvSpPr>
          <p:nvPr/>
        </p:nvSpPr>
        <p:spPr bwMode="auto">
          <a:xfrm>
            <a:off x="1117600" y="838200"/>
            <a:ext cx="3962400" cy="533400"/>
          </a:xfrm>
          <a:prstGeom prst="rect">
            <a:avLst/>
          </a:prstGeom>
          <a:noFill/>
          <a:ln w="57150" cmpd="thinThick">
            <a:solidFill>
              <a:schemeClr val="hlink"/>
            </a:solidFill>
            <a:miter lim="800000"/>
            <a:headEnd/>
            <a:tailEnd/>
          </a:ln>
        </p:spPr>
        <p:txBody>
          <a:bodyPr wrap="none" anchor="ctr"/>
          <a:lstStyle/>
          <a:p>
            <a:pPr algn="ctr"/>
            <a:r>
              <a:rPr lang="en-US" sz="2600" dirty="0">
                <a:latin typeface="+mn-lt"/>
              </a:rPr>
              <a:t>Project Initiation</a:t>
            </a:r>
          </a:p>
        </p:txBody>
      </p:sp>
      <p:sp>
        <p:nvSpPr>
          <p:cNvPr id="11267" name="Rectangle 4"/>
          <p:cNvSpPr>
            <a:spLocks noChangeArrowheads="1"/>
          </p:cNvSpPr>
          <p:nvPr/>
        </p:nvSpPr>
        <p:spPr bwMode="auto">
          <a:xfrm>
            <a:off x="812800" y="1752600"/>
            <a:ext cx="2946400" cy="533400"/>
          </a:xfrm>
          <a:prstGeom prst="rect">
            <a:avLst/>
          </a:prstGeom>
          <a:noFill/>
          <a:ln w="57150" cmpd="thinThick">
            <a:solidFill>
              <a:schemeClr val="hlink"/>
            </a:solidFill>
            <a:miter lim="800000"/>
            <a:headEnd/>
            <a:tailEnd/>
          </a:ln>
        </p:spPr>
        <p:txBody>
          <a:bodyPr wrap="none" anchor="ctr"/>
          <a:lstStyle/>
          <a:p>
            <a:pPr algn="ctr"/>
            <a:r>
              <a:rPr lang="en-US" sz="2600" dirty="0">
                <a:latin typeface="+mn-lt"/>
              </a:rPr>
              <a:t>System Study</a:t>
            </a:r>
          </a:p>
        </p:txBody>
      </p:sp>
      <p:sp>
        <p:nvSpPr>
          <p:cNvPr id="11268" name="Rectangle 5"/>
          <p:cNvSpPr>
            <a:spLocks noChangeArrowheads="1"/>
          </p:cNvSpPr>
          <p:nvPr/>
        </p:nvSpPr>
        <p:spPr bwMode="auto">
          <a:xfrm>
            <a:off x="6908800" y="838200"/>
            <a:ext cx="37592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Summary Reports</a:t>
            </a:r>
          </a:p>
        </p:txBody>
      </p:sp>
      <p:sp>
        <p:nvSpPr>
          <p:cNvPr id="11269" name="Rectangle 6"/>
          <p:cNvSpPr>
            <a:spLocks noChangeArrowheads="1"/>
          </p:cNvSpPr>
          <p:nvPr/>
        </p:nvSpPr>
        <p:spPr bwMode="auto">
          <a:xfrm>
            <a:off x="8432800" y="1752600"/>
            <a:ext cx="29464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Analysis</a:t>
            </a:r>
          </a:p>
        </p:txBody>
      </p:sp>
      <p:sp>
        <p:nvSpPr>
          <p:cNvPr id="11270" name="Rectangle 7"/>
          <p:cNvSpPr>
            <a:spLocks noChangeArrowheads="1"/>
          </p:cNvSpPr>
          <p:nvPr/>
        </p:nvSpPr>
        <p:spPr bwMode="auto">
          <a:xfrm>
            <a:off x="8331200" y="2819400"/>
            <a:ext cx="33528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Regression Test</a:t>
            </a:r>
          </a:p>
        </p:txBody>
      </p:sp>
      <p:sp>
        <p:nvSpPr>
          <p:cNvPr id="11271" name="Rectangle 8"/>
          <p:cNvSpPr>
            <a:spLocks noChangeArrowheads="1"/>
          </p:cNvSpPr>
          <p:nvPr/>
        </p:nvSpPr>
        <p:spPr bwMode="auto">
          <a:xfrm>
            <a:off x="7620000" y="4191000"/>
            <a:ext cx="34544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Report Defects</a:t>
            </a:r>
          </a:p>
        </p:txBody>
      </p:sp>
      <p:sp>
        <p:nvSpPr>
          <p:cNvPr id="11272" name="Rectangle 9"/>
          <p:cNvSpPr>
            <a:spLocks noChangeArrowheads="1"/>
          </p:cNvSpPr>
          <p:nvPr/>
        </p:nvSpPr>
        <p:spPr bwMode="auto">
          <a:xfrm>
            <a:off x="6908800" y="5562600"/>
            <a:ext cx="4267200" cy="914400"/>
          </a:xfrm>
          <a:prstGeom prst="rect">
            <a:avLst/>
          </a:prstGeom>
          <a:noFill/>
          <a:ln w="57150" cmpd="thinThick">
            <a:solidFill>
              <a:schemeClr val="hlink"/>
            </a:solidFill>
            <a:miter lim="800000"/>
            <a:headEnd/>
            <a:tailEnd/>
          </a:ln>
        </p:spPr>
        <p:txBody>
          <a:bodyPr wrap="none" anchor="ctr"/>
          <a:lstStyle/>
          <a:p>
            <a:pPr algn="ctr"/>
            <a:r>
              <a:rPr lang="en-US" sz="2600" dirty="0">
                <a:latin typeface="+mn-lt"/>
              </a:rPr>
              <a:t>Execute Test Cases</a:t>
            </a:r>
          </a:p>
          <a:p>
            <a:pPr algn="ctr"/>
            <a:r>
              <a:rPr lang="en-US" sz="2600" dirty="0">
                <a:latin typeface="+mn-lt"/>
              </a:rPr>
              <a:t>( manual /automated )</a:t>
            </a:r>
          </a:p>
        </p:txBody>
      </p:sp>
      <p:sp>
        <p:nvSpPr>
          <p:cNvPr id="11273" name="Rectangle 11"/>
          <p:cNvSpPr>
            <a:spLocks noChangeArrowheads="1"/>
          </p:cNvSpPr>
          <p:nvPr/>
        </p:nvSpPr>
        <p:spPr bwMode="auto">
          <a:xfrm>
            <a:off x="812800" y="4191000"/>
            <a:ext cx="38608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Design Test Cases</a:t>
            </a:r>
          </a:p>
        </p:txBody>
      </p:sp>
      <p:sp>
        <p:nvSpPr>
          <p:cNvPr id="11274" name="Rectangle 12"/>
          <p:cNvSpPr>
            <a:spLocks noChangeArrowheads="1"/>
          </p:cNvSpPr>
          <p:nvPr/>
        </p:nvSpPr>
        <p:spPr bwMode="auto">
          <a:xfrm>
            <a:off x="508000" y="2895600"/>
            <a:ext cx="2235200" cy="533400"/>
          </a:xfrm>
          <a:prstGeom prst="rect">
            <a:avLst/>
          </a:prstGeom>
          <a:noFill/>
          <a:ln w="57150" cmpd="thinThick">
            <a:solidFill>
              <a:schemeClr val="hlink"/>
            </a:solidFill>
            <a:miter lim="800000"/>
            <a:headEnd/>
            <a:tailEnd/>
          </a:ln>
        </p:spPr>
        <p:txBody>
          <a:bodyPr wrap="none" anchor="ctr"/>
          <a:lstStyle/>
          <a:p>
            <a:pPr algn="ctr"/>
            <a:r>
              <a:rPr lang="en-US" sz="2600">
                <a:latin typeface="+mn-lt"/>
              </a:rPr>
              <a:t>Test Plan</a:t>
            </a:r>
          </a:p>
        </p:txBody>
      </p:sp>
      <p:sp>
        <p:nvSpPr>
          <p:cNvPr id="11" name="Rectangle 13"/>
          <p:cNvSpPr txBox="1">
            <a:spLocks noChangeArrowheads="1"/>
          </p:cNvSpPr>
          <p:nvPr/>
        </p:nvSpPr>
        <p:spPr>
          <a:xfrm>
            <a:off x="1117600" y="0"/>
            <a:ext cx="9347200" cy="533400"/>
          </a:xfrm>
          <a:prstGeom prst="rect">
            <a:avLst/>
          </a:prstGeom>
          <a:noFill/>
        </p:spPr>
        <p:txBody>
          <a:bodyPr/>
          <a:lstStyle/>
          <a:p>
            <a:pPr algn="ctr" fontAlgn="auto">
              <a:spcAft>
                <a:spcPts val="0"/>
              </a:spcAft>
              <a:defRPr/>
            </a:pPr>
            <a:r>
              <a:rPr lang="en-US" sz="4800" b="1" dirty="0" smtClean="0">
                <a:solidFill>
                  <a:schemeClr val="accent5">
                    <a:lumMod val="50000"/>
                  </a:schemeClr>
                </a:solidFill>
                <a:latin typeface="+mn-lt"/>
                <a:ea typeface="+mj-ea"/>
                <a:cs typeface="+mj-cs"/>
              </a:rPr>
              <a:t>    </a:t>
            </a:r>
            <a:r>
              <a:rPr lang="en-US" sz="4300" dirty="0">
                <a:solidFill>
                  <a:srgbClr val="572314"/>
                </a:solidFill>
                <a:effectLst>
                  <a:outerShdw blurRad="50000" dist="30000" dir="5400000" algn="tl" rotWithShape="0">
                    <a:srgbClr val="000000">
                      <a:alpha val="30000"/>
                    </a:srgbClr>
                  </a:outerShdw>
                </a:effectLst>
                <a:latin typeface="+mn-lt"/>
                <a:ea typeface="+mj-ea"/>
                <a:cs typeface="+mj-cs"/>
              </a:rPr>
              <a:t>Testing Life Cycle</a:t>
            </a:r>
          </a:p>
        </p:txBody>
      </p:sp>
      <p:sp>
        <p:nvSpPr>
          <p:cNvPr id="11276" name="AutoShape 14"/>
          <p:cNvSpPr>
            <a:spLocks noChangeArrowheads="1"/>
          </p:cNvSpPr>
          <p:nvPr/>
        </p:nvSpPr>
        <p:spPr bwMode="auto">
          <a:xfrm>
            <a:off x="3556000" y="2133600"/>
            <a:ext cx="1016000" cy="2057400"/>
          </a:xfrm>
          <a:prstGeom prst="curvedRightArrow">
            <a:avLst>
              <a:gd name="adj1" fmla="val 54000"/>
              <a:gd name="adj2" fmla="val 108000"/>
              <a:gd name="adj3" fmla="val 33333"/>
            </a:avLst>
          </a:prstGeom>
          <a:solidFill>
            <a:srgbClr val="99FFCC"/>
          </a:solidFill>
          <a:ln w="38100">
            <a:solidFill>
              <a:srgbClr val="333333"/>
            </a:solidFill>
            <a:miter lim="800000"/>
            <a:headEnd/>
            <a:tailEnd/>
          </a:ln>
        </p:spPr>
        <p:txBody>
          <a:bodyPr wrap="none" anchor="ctr"/>
          <a:lstStyle/>
          <a:p>
            <a:pPr algn="ctr"/>
            <a:endParaRPr lang="en-US">
              <a:latin typeface="+mn-lt"/>
            </a:endParaRPr>
          </a:p>
        </p:txBody>
      </p:sp>
      <p:sp>
        <p:nvSpPr>
          <p:cNvPr id="11277" name="Line 18"/>
          <p:cNvSpPr>
            <a:spLocks noChangeShapeType="1"/>
          </p:cNvSpPr>
          <p:nvPr/>
        </p:nvSpPr>
        <p:spPr bwMode="auto">
          <a:xfrm flipH="1">
            <a:off x="2133600" y="1371600"/>
            <a:ext cx="508000" cy="3810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78" name="Line 19"/>
          <p:cNvSpPr>
            <a:spLocks noChangeShapeType="1"/>
          </p:cNvSpPr>
          <p:nvPr/>
        </p:nvSpPr>
        <p:spPr bwMode="auto">
          <a:xfrm flipH="1">
            <a:off x="1524000" y="2362200"/>
            <a:ext cx="203200" cy="4572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79" name="Line 20"/>
          <p:cNvSpPr>
            <a:spLocks noChangeShapeType="1"/>
          </p:cNvSpPr>
          <p:nvPr/>
        </p:nvSpPr>
        <p:spPr bwMode="auto">
          <a:xfrm>
            <a:off x="1524000" y="3505200"/>
            <a:ext cx="203200" cy="6096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80" name="Line 21"/>
          <p:cNvSpPr>
            <a:spLocks noChangeShapeType="1"/>
          </p:cNvSpPr>
          <p:nvPr/>
        </p:nvSpPr>
        <p:spPr bwMode="auto">
          <a:xfrm>
            <a:off x="2286000" y="4800600"/>
            <a:ext cx="1016000" cy="6858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81" name="Line 22"/>
          <p:cNvSpPr>
            <a:spLocks noChangeShapeType="1"/>
          </p:cNvSpPr>
          <p:nvPr/>
        </p:nvSpPr>
        <p:spPr bwMode="auto">
          <a:xfrm flipV="1">
            <a:off x="8636000" y="4800600"/>
            <a:ext cx="508000" cy="6096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82" name="Line 23"/>
          <p:cNvSpPr>
            <a:spLocks noChangeShapeType="1"/>
          </p:cNvSpPr>
          <p:nvPr/>
        </p:nvSpPr>
        <p:spPr bwMode="auto">
          <a:xfrm flipV="1">
            <a:off x="9652000" y="3505200"/>
            <a:ext cx="304800" cy="5334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83" name="Line 24"/>
          <p:cNvSpPr>
            <a:spLocks noChangeShapeType="1"/>
          </p:cNvSpPr>
          <p:nvPr/>
        </p:nvSpPr>
        <p:spPr bwMode="auto">
          <a:xfrm flipV="1">
            <a:off x="10058400" y="2362200"/>
            <a:ext cx="0" cy="4572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11284" name="Line 25"/>
          <p:cNvSpPr>
            <a:spLocks noChangeShapeType="1"/>
          </p:cNvSpPr>
          <p:nvPr/>
        </p:nvSpPr>
        <p:spPr bwMode="auto">
          <a:xfrm flipH="1" flipV="1">
            <a:off x="9042400" y="1371600"/>
            <a:ext cx="609600" cy="30480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21" name="Rectangle 11"/>
          <p:cNvSpPr>
            <a:spLocks noChangeArrowheads="1"/>
          </p:cNvSpPr>
          <p:nvPr/>
        </p:nvSpPr>
        <p:spPr bwMode="auto">
          <a:xfrm>
            <a:off x="1117600" y="5562600"/>
            <a:ext cx="4368800" cy="533400"/>
          </a:xfrm>
          <a:prstGeom prst="rect">
            <a:avLst/>
          </a:prstGeom>
          <a:noFill/>
          <a:ln w="57150" cmpd="thinThick">
            <a:solidFill>
              <a:schemeClr val="hlink"/>
            </a:solidFill>
            <a:miter lim="800000"/>
            <a:headEnd/>
            <a:tailEnd/>
          </a:ln>
        </p:spPr>
        <p:txBody>
          <a:bodyPr wrap="none" anchor="ctr"/>
          <a:lstStyle/>
          <a:p>
            <a:pPr algn="ctr"/>
            <a:r>
              <a:rPr lang="en-US" sz="2600" dirty="0" smtClean="0">
                <a:latin typeface="+mn-lt"/>
              </a:rPr>
              <a:t>Test Environment Setup</a:t>
            </a:r>
            <a:endParaRPr lang="en-US" sz="2600" dirty="0">
              <a:latin typeface="+mn-lt"/>
            </a:endParaRPr>
          </a:p>
        </p:txBody>
      </p:sp>
      <p:sp>
        <p:nvSpPr>
          <p:cNvPr id="22" name="Line 22"/>
          <p:cNvSpPr>
            <a:spLocks noChangeShapeType="1"/>
          </p:cNvSpPr>
          <p:nvPr/>
        </p:nvSpPr>
        <p:spPr bwMode="auto">
          <a:xfrm>
            <a:off x="5689600" y="5924550"/>
            <a:ext cx="914400" cy="95250"/>
          </a:xfrm>
          <a:prstGeom prst="line">
            <a:avLst/>
          </a:prstGeom>
          <a:noFill/>
          <a:ln w="57150">
            <a:solidFill>
              <a:schemeClr val="folHlink"/>
            </a:solidFill>
            <a:round/>
            <a:headEnd/>
            <a:tailEnd type="triangle" w="med" len="med"/>
          </a:ln>
        </p:spPr>
        <p:txBody>
          <a:bodyPr/>
          <a:lstStyle/>
          <a:p>
            <a:endParaRPr lang="en-US">
              <a:latin typeface="+mn-lt"/>
            </a:endParaRPr>
          </a:p>
        </p:txBody>
      </p:sp>
      <p:sp>
        <p:nvSpPr>
          <p:cNvPr id="2" name="Date Placeholder 1"/>
          <p:cNvSpPr>
            <a:spLocks noGrp="1"/>
          </p:cNvSpPr>
          <p:nvPr>
            <p:ph type="dt" sz="half" idx="10"/>
          </p:nvPr>
        </p:nvSpPr>
        <p:spPr/>
        <p:txBody>
          <a:bodyPr/>
          <a:lstStyle/>
          <a:p>
            <a:pPr>
              <a:defRPr/>
            </a:pPr>
            <a:fld id="{D0C2F885-1CA5-4759-81AB-C1F7E476AB54}" type="datetime8">
              <a:rPr lang="en-US" smtClean="0"/>
              <a:pPr>
                <a:defRPr/>
              </a:pPr>
              <a:t>9/19/2021 11:34 AM</a:t>
            </a:fld>
            <a:endParaRPr lang="en-US"/>
          </a:p>
        </p:txBody>
      </p:sp>
    </p:spTree>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72314"/>
                </a:solidFill>
                <a:effectLst>
                  <a:outerShdw blurRad="50000" dist="30000" dir="5400000" algn="tl" rotWithShape="0">
                    <a:srgbClr val="000000">
                      <a:alpha val="30000"/>
                    </a:srgbClr>
                  </a:outerShdw>
                </a:effectLst>
              </a:rPr>
              <a:t>Testing Life Cycle</a:t>
            </a:r>
            <a:endParaRPr lang="en-GB" dirty="0"/>
          </a:p>
        </p:txBody>
      </p:sp>
      <p:sp>
        <p:nvSpPr>
          <p:cNvPr id="3" name="Content Placeholder 2"/>
          <p:cNvSpPr>
            <a:spLocks noGrp="1"/>
          </p:cNvSpPr>
          <p:nvPr>
            <p:ph idx="1"/>
          </p:nvPr>
        </p:nvSpPr>
        <p:spPr>
          <a:xfrm>
            <a:off x="1104900" y="1409700"/>
            <a:ext cx="9982200" cy="5257800"/>
          </a:xfrm>
        </p:spPr>
        <p:txBody>
          <a:bodyPr>
            <a:noAutofit/>
          </a:bodyPr>
          <a:lstStyle/>
          <a:p>
            <a:pPr algn="just"/>
            <a:r>
              <a:rPr lang="en-GB" b="1" dirty="0" smtClean="0"/>
              <a:t>Project Initiation</a:t>
            </a:r>
          </a:p>
          <a:p>
            <a:pPr lvl="1" algn="just"/>
            <a:r>
              <a:rPr lang="en-GB" sz="2000" dirty="0" smtClean="0"/>
              <a:t>All the necessary </a:t>
            </a:r>
            <a:r>
              <a:rPr lang="en-GB" sz="2000" b="1" dirty="0" smtClean="0"/>
              <a:t>analysis</a:t>
            </a:r>
            <a:r>
              <a:rPr lang="en-GB" sz="2000" dirty="0" smtClean="0"/>
              <a:t> is undertaken to allow the project to be planned.</a:t>
            </a:r>
          </a:p>
          <a:p>
            <a:pPr algn="just"/>
            <a:r>
              <a:rPr lang="en-GB" b="1" dirty="0" smtClean="0"/>
              <a:t>System Study</a:t>
            </a:r>
          </a:p>
          <a:p>
            <a:pPr lvl="1" algn="just"/>
            <a:r>
              <a:rPr lang="en-GB" sz="2000" dirty="0" smtClean="0"/>
              <a:t>To test, we need to </a:t>
            </a:r>
            <a:r>
              <a:rPr lang="en-GB" sz="2000" b="1" dirty="0" smtClean="0"/>
              <a:t>know</a:t>
            </a:r>
            <a:r>
              <a:rPr lang="en-GB" sz="2000" dirty="0" smtClean="0"/>
              <a:t> the product functionality(Understanding the product)</a:t>
            </a:r>
          </a:p>
          <a:p>
            <a:pPr algn="just"/>
            <a:r>
              <a:rPr lang="en-GB" b="1" dirty="0" smtClean="0"/>
              <a:t>Test Plan</a:t>
            </a:r>
          </a:p>
          <a:p>
            <a:pPr lvl="1" algn="just"/>
            <a:r>
              <a:rPr lang="en-GB" sz="2000" dirty="0" smtClean="0"/>
              <a:t>It is a </a:t>
            </a:r>
            <a:r>
              <a:rPr lang="en-GB" sz="2000" b="1" dirty="0" smtClean="0"/>
              <a:t>Systematic approach </a:t>
            </a:r>
            <a:r>
              <a:rPr lang="en-GB" sz="2000" dirty="0" smtClean="0"/>
              <a:t>to test a system or s/w.</a:t>
            </a:r>
          </a:p>
          <a:p>
            <a:pPr lvl="1" algn="just"/>
            <a:r>
              <a:rPr lang="en-GB" sz="2000" dirty="0" smtClean="0"/>
              <a:t>Contains a detailed understanding of what the eventual testing </a:t>
            </a:r>
            <a:r>
              <a:rPr lang="en-GB" sz="2000" b="1" dirty="0" smtClean="0"/>
              <a:t>workflow</a:t>
            </a:r>
            <a:r>
              <a:rPr lang="en-GB" sz="2000" dirty="0" smtClean="0"/>
              <a:t> will be or should be.</a:t>
            </a:r>
          </a:p>
          <a:p>
            <a:pPr algn="just"/>
            <a:r>
              <a:rPr lang="en-GB" b="1" dirty="0" smtClean="0"/>
              <a:t>Design Test Cases:</a:t>
            </a:r>
          </a:p>
          <a:p>
            <a:pPr lvl="1" algn="just"/>
            <a:r>
              <a:rPr lang="en-GB" sz="2000" dirty="0" smtClean="0"/>
              <a:t>Test case is the </a:t>
            </a:r>
            <a:r>
              <a:rPr lang="en-GB" sz="2000" b="1" dirty="0" smtClean="0"/>
              <a:t>specific procedure </a:t>
            </a:r>
            <a:r>
              <a:rPr lang="en-GB" sz="2000" dirty="0" smtClean="0"/>
              <a:t>of testing a particular requirement by giving specific input to the system and defining the </a:t>
            </a:r>
            <a:r>
              <a:rPr lang="en-GB" sz="2000" smtClean="0"/>
              <a:t>expected results.</a:t>
            </a:r>
            <a:endParaRPr lang="en-GB" sz="2000" dirty="0" smtClean="0"/>
          </a:p>
          <a:p>
            <a:pPr algn="just"/>
            <a:r>
              <a:rPr lang="en-GB" b="1" dirty="0" smtClean="0"/>
              <a:t>Executing(Manual):</a:t>
            </a:r>
            <a:endParaRPr lang="en-GB" dirty="0" smtClean="0"/>
          </a:p>
          <a:p>
            <a:pPr lvl="1" algn="just"/>
            <a:r>
              <a:rPr lang="en-GB" sz="2000" dirty="0" smtClean="0"/>
              <a:t>Usually Test cases will be written by person A and will be executed by person B and vice-versa so that there are more chances to find bugs.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72314"/>
                </a:solidFill>
                <a:effectLst>
                  <a:outerShdw blurRad="50000" dist="30000" dir="5400000" algn="tl" rotWithShape="0">
                    <a:srgbClr val="000000">
                      <a:alpha val="30000"/>
                    </a:srgbClr>
                  </a:outerShdw>
                </a:effectLst>
              </a:rPr>
              <a:t>Testing Life Cycle</a:t>
            </a:r>
            <a:endParaRPr lang="en-GB" dirty="0"/>
          </a:p>
        </p:txBody>
      </p:sp>
      <p:sp>
        <p:nvSpPr>
          <p:cNvPr id="3" name="Content Placeholder 2"/>
          <p:cNvSpPr>
            <a:spLocks noGrp="1"/>
          </p:cNvSpPr>
          <p:nvPr>
            <p:ph idx="1"/>
          </p:nvPr>
        </p:nvSpPr>
        <p:spPr>
          <a:xfrm>
            <a:off x="1104900" y="1460500"/>
            <a:ext cx="9982200" cy="4953000"/>
          </a:xfrm>
        </p:spPr>
        <p:txBody>
          <a:bodyPr>
            <a:noAutofit/>
          </a:bodyPr>
          <a:lstStyle/>
          <a:p>
            <a:pPr algn="just"/>
            <a:r>
              <a:rPr lang="en-GB" b="1" dirty="0" smtClean="0"/>
              <a:t>Report defects:</a:t>
            </a:r>
          </a:p>
          <a:p>
            <a:pPr lvl="1" algn="just"/>
            <a:r>
              <a:rPr lang="en-GB" sz="2000" dirty="0" smtClean="0"/>
              <a:t>Reporting defects in </a:t>
            </a:r>
            <a:r>
              <a:rPr lang="en-GB" sz="2000" b="1" dirty="0" smtClean="0"/>
              <a:t>Issue Logger </a:t>
            </a:r>
            <a:r>
              <a:rPr lang="en-GB" sz="2000" dirty="0" smtClean="0"/>
              <a:t>(Ex: JIRA, HP-QC)</a:t>
            </a:r>
          </a:p>
          <a:p>
            <a:pPr lvl="1" algn="just"/>
            <a:r>
              <a:rPr lang="en-GB" sz="2000" dirty="0" smtClean="0"/>
              <a:t>Issues will be fixed by the DEV team.</a:t>
            </a:r>
          </a:p>
          <a:p>
            <a:pPr algn="just"/>
            <a:r>
              <a:rPr lang="en-GB" b="1" dirty="0" smtClean="0"/>
              <a:t>Regression testing:</a:t>
            </a:r>
          </a:p>
          <a:p>
            <a:pPr lvl="1" algn="just"/>
            <a:r>
              <a:rPr lang="en-GB" sz="2000" dirty="0" smtClean="0"/>
              <a:t>Verify whether the new functionality or bug correction affected the previous behaviour</a:t>
            </a:r>
          </a:p>
          <a:p>
            <a:pPr algn="just"/>
            <a:r>
              <a:rPr lang="en-GB" b="1" dirty="0" smtClean="0"/>
              <a:t>Analysis:</a:t>
            </a:r>
            <a:endParaRPr lang="en-GB" dirty="0" smtClean="0"/>
          </a:p>
          <a:p>
            <a:pPr lvl="1" algn="just"/>
            <a:r>
              <a:rPr lang="en-GB" sz="2000" dirty="0" smtClean="0"/>
              <a:t>Analysis about the Testing is Done here.</a:t>
            </a:r>
          </a:p>
          <a:p>
            <a:pPr algn="just"/>
            <a:r>
              <a:rPr lang="en-GB" b="1" dirty="0" smtClean="0"/>
              <a:t>Test Summary Report</a:t>
            </a:r>
          </a:p>
          <a:p>
            <a:pPr lvl="1" algn="just"/>
            <a:r>
              <a:rPr lang="en-GB" sz="2000" dirty="0" smtClean="0"/>
              <a:t>An important deliverable which is prepared after Testing is completed.</a:t>
            </a:r>
          </a:p>
          <a:p>
            <a:pPr lvl="1" algn="just"/>
            <a:r>
              <a:rPr lang="en-GB" sz="2000" dirty="0" smtClean="0"/>
              <a:t>This document is to explain various details and activities about the Testing performed for the Project, to the respective stakeholders like Senior Management, Client etc.</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SDLC Models and Testing</a:t>
            </a:r>
            <a:endParaRPr lang="en-US" altLang="en-US" dirty="0"/>
          </a:p>
        </p:txBody>
      </p:sp>
      <p:sp>
        <p:nvSpPr>
          <p:cNvPr id="395267" name="Rectangle 3"/>
          <p:cNvSpPr>
            <a:spLocks noGrp="1" noChangeArrowheads="1"/>
          </p:cNvSpPr>
          <p:nvPr>
            <p:ph idx="1"/>
          </p:nvPr>
        </p:nvSpPr>
        <p:spPr>
          <a:xfrm>
            <a:off x="1123407" y="1447800"/>
            <a:ext cx="9966959" cy="4800600"/>
          </a:xfrm>
        </p:spPr>
        <p:txBody>
          <a:bodyPr>
            <a:normAutofit/>
          </a:bodyPr>
          <a:lstStyle/>
          <a:p>
            <a:pPr eaLnBrk="1" hangingPunct="1"/>
            <a:r>
              <a:rPr lang="en-US" altLang="en-US" dirty="0" smtClean="0"/>
              <a:t>Waterfall Model</a:t>
            </a:r>
            <a:endParaRPr lang="en-US" altLang="en-US" dirty="0"/>
          </a:p>
          <a:p>
            <a:pPr lvl="1" eaLnBrk="1" hangingPunct="1"/>
            <a:r>
              <a:rPr lang="en-US" altLang="en-US" sz="2000" dirty="0" smtClean="0"/>
              <a:t>Sees testing as </a:t>
            </a:r>
            <a:r>
              <a:rPr lang="en-US" altLang="en-US" sz="2000" dirty="0"/>
              <a:t>P</a:t>
            </a:r>
            <a:r>
              <a:rPr lang="en-US" altLang="en-US" sz="2000" dirty="0" smtClean="0"/>
              <a:t>ost </a:t>
            </a:r>
            <a:r>
              <a:rPr lang="en-US" altLang="en-US" sz="2000" dirty="0"/>
              <a:t>D</a:t>
            </a:r>
            <a:r>
              <a:rPr lang="en-US" altLang="en-US" sz="2000" dirty="0" smtClean="0"/>
              <a:t>evelopment (Post Coding) activity</a:t>
            </a:r>
          </a:p>
          <a:p>
            <a:pPr eaLnBrk="1" hangingPunct="1"/>
            <a:r>
              <a:rPr lang="en-US" altLang="en-US" dirty="0" smtClean="0"/>
              <a:t>Spiral Model</a:t>
            </a:r>
          </a:p>
          <a:p>
            <a:pPr lvl="1" eaLnBrk="1" hangingPunct="1"/>
            <a:r>
              <a:rPr lang="en-US" altLang="en-US" sz="2000" dirty="0" smtClean="0"/>
              <a:t>Tried to Breakup product in increments</a:t>
            </a:r>
          </a:p>
          <a:p>
            <a:pPr lvl="1" eaLnBrk="1" hangingPunct="1"/>
            <a:r>
              <a:rPr lang="en-US" altLang="en-US" sz="2000" dirty="0" smtClean="0"/>
              <a:t>Each of the increment can be tested separately</a:t>
            </a:r>
          </a:p>
          <a:p>
            <a:pPr eaLnBrk="1" hangingPunct="1"/>
            <a:r>
              <a:rPr lang="en-US" altLang="en-US" dirty="0" smtClean="0"/>
              <a:t>V-Model</a:t>
            </a:r>
          </a:p>
          <a:p>
            <a:pPr lvl="1" eaLnBrk="1" hangingPunct="1"/>
            <a:r>
              <a:rPr lang="en-US" altLang="en-US" sz="2000" dirty="0" smtClean="0"/>
              <a:t>Similar to Waterfall Model</a:t>
            </a:r>
          </a:p>
          <a:p>
            <a:pPr lvl="1" eaLnBrk="1" hangingPunct="1"/>
            <a:r>
              <a:rPr lang="en-US" altLang="en-US" sz="2000" dirty="0" smtClean="0"/>
              <a:t>Sees product development to be made up of number of phases or levels</a:t>
            </a:r>
          </a:p>
          <a:p>
            <a:pPr lvl="1"/>
            <a:r>
              <a:rPr lang="en-US" altLang="en-US" sz="2000" dirty="0" smtClean="0"/>
              <a:t>Different types of testing is applied to different phases or levels</a:t>
            </a:r>
          </a:p>
        </p:txBody>
      </p:sp>
    </p:spTree>
    <p:extLst>
      <p:ext uri="{BB962C8B-B14F-4D97-AF65-F5344CB8AC3E}">
        <p14:creationId xmlns:p14="http://schemas.microsoft.com/office/powerpoint/2010/main" val="2526361488"/>
      </p:ext>
    </p:extLst>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Product development activity represented as Waterfall Model</a:t>
            </a:r>
          </a:p>
        </p:txBody>
      </p:sp>
      <p:sp>
        <p:nvSpPr>
          <p:cNvPr id="2" name="Rectangle 1"/>
          <p:cNvSpPr/>
          <p:nvPr/>
        </p:nvSpPr>
        <p:spPr>
          <a:xfrm>
            <a:off x="1370148" y="14412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Overall Business Requirements</a:t>
            </a:r>
            <a:endParaRPr lang="en-US" dirty="0"/>
          </a:p>
        </p:txBody>
      </p:sp>
      <p:sp>
        <p:nvSpPr>
          <p:cNvPr id="5" name="Rectangle 4"/>
          <p:cNvSpPr/>
          <p:nvPr/>
        </p:nvSpPr>
        <p:spPr>
          <a:xfrm>
            <a:off x="1979748" y="23556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Software Requirements</a:t>
            </a:r>
            <a:endParaRPr lang="en-US" dirty="0"/>
          </a:p>
        </p:txBody>
      </p:sp>
      <p:sp>
        <p:nvSpPr>
          <p:cNvPr id="6" name="Rectangle 5"/>
          <p:cNvSpPr/>
          <p:nvPr/>
        </p:nvSpPr>
        <p:spPr>
          <a:xfrm>
            <a:off x="2589348" y="32700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High Level Design</a:t>
            </a:r>
            <a:endParaRPr lang="en-US" dirty="0"/>
          </a:p>
        </p:txBody>
      </p:sp>
      <p:sp>
        <p:nvSpPr>
          <p:cNvPr id="7" name="Rectangle 6"/>
          <p:cNvSpPr/>
          <p:nvPr/>
        </p:nvSpPr>
        <p:spPr>
          <a:xfrm>
            <a:off x="3198948" y="41844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Low Level Design</a:t>
            </a:r>
            <a:endParaRPr lang="en-US" dirty="0"/>
          </a:p>
        </p:txBody>
      </p:sp>
      <p:sp>
        <p:nvSpPr>
          <p:cNvPr id="8" name="Rectangle 7"/>
          <p:cNvSpPr/>
          <p:nvPr/>
        </p:nvSpPr>
        <p:spPr>
          <a:xfrm>
            <a:off x="3808548" y="50988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Coding</a:t>
            </a:r>
            <a:endParaRPr lang="en-US" dirty="0"/>
          </a:p>
        </p:txBody>
      </p:sp>
      <p:sp>
        <p:nvSpPr>
          <p:cNvPr id="9" name="Rectangle 8"/>
          <p:cNvSpPr/>
          <p:nvPr/>
        </p:nvSpPr>
        <p:spPr>
          <a:xfrm>
            <a:off x="5230948" y="6013269"/>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cxnSp>
        <p:nvCxnSpPr>
          <p:cNvPr id="12" name="Straight Arrow Connector 11"/>
          <p:cNvCxnSpPr>
            <a:stCxn id="2" idx="2"/>
          </p:cNvCxnSpPr>
          <p:nvPr/>
        </p:nvCxnSpPr>
        <p:spPr>
          <a:xfrm>
            <a:off x="2538548" y="2050869"/>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2"/>
          </p:cNvCxnSpPr>
          <p:nvPr/>
        </p:nvCxnSpPr>
        <p:spPr>
          <a:xfrm>
            <a:off x="3148148" y="2965269"/>
            <a:ext cx="228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2"/>
          </p:cNvCxnSpPr>
          <p:nvPr/>
        </p:nvCxnSpPr>
        <p:spPr>
          <a:xfrm>
            <a:off x="3757748" y="3879669"/>
            <a:ext cx="25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2"/>
          </p:cNvCxnSpPr>
          <p:nvPr/>
        </p:nvCxnSpPr>
        <p:spPr>
          <a:xfrm>
            <a:off x="4367348" y="4794069"/>
            <a:ext cx="25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2"/>
          </p:cNvCxnSpPr>
          <p:nvPr/>
        </p:nvCxnSpPr>
        <p:spPr>
          <a:xfrm>
            <a:off x="4976948" y="5708469"/>
            <a:ext cx="863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07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ppt_w</p:attrName>
                                        </p:attrNameLst>
                                      </p:cBhvr>
                                      <p:tavLst>
                                        <p:tav tm="0">
                                          <p:val>
                                            <p:fltVal val="0"/>
                                          </p:val>
                                        </p:tav>
                                        <p:tav tm="100000">
                                          <p:val>
                                            <p:strVal val="#ppt_w"/>
                                          </p:val>
                                        </p:tav>
                                      </p:tavLst>
                                    </p:anim>
                                    <p:anim calcmode="lin" valueType="num">
                                      <p:cBhvr>
                                        <p:cTn id="30" dur="500" fill="hold"/>
                                        <p:tgtEl>
                                          <p:spTgt spid="6"/>
                                        </p:tgtEl>
                                        <p:attrNameLst>
                                          <p:attrName>ppt_h</p:attrName>
                                        </p:attrNameLst>
                                      </p:cBhvr>
                                      <p:tavLst>
                                        <p:tav tm="0">
                                          <p:val>
                                            <p:fltVal val="0"/>
                                          </p:val>
                                        </p:tav>
                                        <p:tav tm="100000">
                                          <p:val>
                                            <p:strVal val="#ppt_h"/>
                                          </p:val>
                                        </p:tav>
                                      </p:tavLst>
                                    </p:anim>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p:cTn id="36" dur="500" fill="hold"/>
                                        <p:tgtEl>
                                          <p:spTgt spid="19"/>
                                        </p:tgtEl>
                                        <p:attrNameLst>
                                          <p:attrName>ppt_w</p:attrName>
                                        </p:attrNameLst>
                                      </p:cBhvr>
                                      <p:tavLst>
                                        <p:tav tm="0">
                                          <p:val>
                                            <p:fltVal val="0"/>
                                          </p:val>
                                        </p:tav>
                                        <p:tav tm="100000">
                                          <p:val>
                                            <p:strVal val="#ppt_w"/>
                                          </p:val>
                                        </p:tav>
                                      </p:tavLst>
                                    </p:anim>
                                    <p:anim calcmode="lin" valueType="num">
                                      <p:cBhvr>
                                        <p:cTn id="37" dur="500" fill="hold"/>
                                        <p:tgtEl>
                                          <p:spTgt spid="19"/>
                                        </p:tgtEl>
                                        <p:attrNameLst>
                                          <p:attrName>ppt_h</p:attrName>
                                        </p:attrNameLst>
                                      </p:cBhvr>
                                      <p:tavLst>
                                        <p:tav tm="0">
                                          <p:val>
                                            <p:fltVal val="0"/>
                                          </p:val>
                                        </p:tav>
                                        <p:tav tm="100000">
                                          <p:val>
                                            <p:strVal val="#ppt_h"/>
                                          </p:val>
                                        </p:tav>
                                      </p:tavLst>
                                    </p:anim>
                                    <p:animEffect transition="in" filter="fade">
                                      <p:cBhvr>
                                        <p:cTn id="38" dur="500"/>
                                        <p:tgtEl>
                                          <p:spTgt spid="1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500" fill="hold"/>
                                        <p:tgtEl>
                                          <p:spTgt spid="7"/>
                                        </p:tgtEl>
                                        <p:attrNameLst>
                                          <p:attrName>ppt_w</p:attrName>
                                        </p:attrNameLst>
                                      </p:cBhvr>
                                      <p:tavLst>
                                        <p:tav tm="0">
                                          <p:val>
                                            <p:fltVal val="0"/>
                                          </p:val>
                                        </p:tav>
                                        <p:tav tm="100000">
                                          <p:val>
                                            <p:strVal val="#ppt_w"/>
                                          </p:val>
                                        </p:tav>
                                      </p:tavLst>
                                    </p:anim>
                                    <p:anim calcmode="lin" valueType="num">
                                      <p:cBhvr>
                                        <p:cTn id="42" dur="500" fill="hold"/>
                                        <p:tgtEl>
                                          <p:spTgt spid="7"/>
                                        </p:tgtEl>
                                        <p:attrNameLst>
                                          <p:attrName>ppt_h</p:attrName>
                                        </p:attrNameLst>
                                      </p:cBhvr>
                                      <p:tavLst>
                                        <p:tav tm="0">
                                          <p:val>
                                            <p:fltVal val="0"/>
                                          </p:val>
                                        </p:tav>
                                        <p:tav tm="100000">
                                          <p:val>
                                            <p:strVal val="#ppt_h"/>
                                          </p:val>
                                        </p:tav>
                                      </p:tavLst>
                                    </p:anim>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500" fill="hold"/>
                                        <p:tgtEl>
                                          <p:spTgt spid="21"/>
                                        </p:tgtEl>
                                        <p:attrNameLst>
                                          <p:attrName>ppt_w</p:attrName>
                                        </p:attrNameLst>
                                      </p:cBhvr>
                                      <p:tavLst>
                                        <p:tav tm="0">
                                          <p:val>
                                            <p:fltVal val="0"/>
                                          </p:val>
                                        </p:tav>
                                        <p:tav tm="100000">
                                          <p:val>
                                            <p:strVal val="#ppt_w"/>
                                          </p:val>
                                        </p:tav>
                                      </p:tavLst>
                                    </p:anim>
                                    <p:anim calcmode="lin" valueType="num">
                                      <p:cBhvr>
                                        <p:cTn id="49" dur="500" fill="hold"/>
                                        <p:tgtEl>
                                          <p:spTgt spid="21"/>
                                        </p:tgtEl>
                                        <p:attrNameLst>
                                          <p:attrName>ppt_h</p:attrName>
                                        </p:attrNameLst>
                                      </p:cBhvr>
                                      <p:tavLst>
                                        <p:tav tm="0">
                                          <p:val>
                                            <p:fltVal val="0"/>
                                          </p:val>
                                        </p:tav>
                                        <p:tav tm="100000">
                                          <p:val>
                                            <p:strVal val="#ppt_h"/>
                                          </p:val>
                                        </p:tav>
                                      </p:tavLst>
                                    </p:anim>
                                    <p:animEffect transition="in" filter="fade">
                                      <p:cBhvr>
                                        <p:cTn id="50" dur="500"/>
                                        <p:tgtEl>
                                          <p:spTgt spid="2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p:cTn id="53" dur="500" fill="hold"/>
                                        <p:tgtEl>
                                          <p:spTgt spid="8"/>
                                        </p:tgtEl>
                                        <p:attrNameLst>
                                          <p:attrName>ppt_w</p:attrName>
                                        </p:attrNameLst>
                                      </p:cBhvr>
                                      <p:tavLst>
                                        <p:tav tm="0">
                                          <p:val>
                                            <p:fltVal val="0"/>
                                          </p:val>
                                        </p:tav>
                                        <p:tav tm="100000">
                                          <p:val>
                                            <p:strVal val="#ppt_w"/>
                                          </p:val>
                                        </p:tav>
                                      </p:tavLst>
                                    </p:anim>
                                    <p:anim calcmode="lin" valueType="num">
                                      <p:cBhvr>
                                        <p:cTn id="54" dur="500" fill="hold"/>
                                        <p:tgtEl>
                                          <p:spTgt spid="8"/>
                                        </p:tgtEl>
                                        <p:attrNameLst>
                                          <p:attrName>ppt_h</p:attrName>
                                        </p:attrNameLst>
                                      </p:cBhvr>
                                      <p:tavLst>
                                        <p:tav tm="0">
                                          <p:val>
                                            <p:fltVal val="0"/>
                                          </p:val>
                                        </p:tav>
                                        <p:tav tm="100000">
                                          <p:val>
                                            <p:strVal val="#ppt_h"/>
                                          </p:val>
                                        </p:tav>
                                      </p:tavLst>
                                    </p:anim>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 calcmode="lin" valueType="num">
                                      <p:cBhvr>
                                        <p:cTn id="60" dur="500" fill="hold"/>
                                        <p:tgtEl>
                                          <p:spTgt spid="23"/>
                                        </p:tgtEl>
                                        <p:attrNameLst>
                                          <p:attrName>ppt_w</p:attrName>
                                        </p:attrNameLst>
                                      </p:cBhvr>
                                      <p:tavLst>
                                        <p:tav tm="0">
                                          <p:val>
                                            <p:fltVal val="0"/>
                                          </p:val>
                                        </p:tav>
                                        <p:tav tm="100000">
                                          <p:val>
                                            <p:strVal val="#ppt_w"/>
                                          </p:val>
                                        </p:tav>
                                      </p:tavLst>
                                    </p:anim>
                                    <p:anim calcmode="lin" valueType="num">
                                      <p:cBhvr>
                                        <p:cTn id="61" dur="500" fill="hold"/>
                                        <p:tgtEl>
                                          <p:spTgt spid="23"/>
                                        </p:tgtEl>
                                        <p:attrNameLst>
                                          <p:attrName>ppt_h</p:attrName>
                                        </p:attrNameLst>
                                      </p:cBhvr>
                                      <p:tavLst>
                                        <p:tav tm="0">
                                          <p:val>
                                            <p:fltVal val="0"/>
                                          </p:val>
                                        </p:tav>
                                        <p:tav tm="100000">
                                          <p:val>
                                            <p:strVal val="#ppt_h"/>
                                          </p:val>
                                        </p:tav>
                                      </p:tavLst>
                                    </p:anim>
                                    <p:animEffect transition="in" filter="fade">
                                      <p:cBhvr>
                                        <p:cTn id="62" dur="500"/>
                                        <p:tgtEl>
                                          <p:spTgt spid="23"/>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p:cTn id="65" dur="500" fill="hold"/>
                                        <p:tgtEl>
                                          <p:spTgt spid="9"/>
                                        </p:tgtEl>
                                        <p:attrNameLst>
                                          <p:attrName>ppt_w</p:attrName>
                                        </p:attrNameLst>
                                      </p:cBhvr>
                                      <p:tavLst>
                                        <p:tav tm="0">
                                          <p:val>
                                            <p:fltVal val="0"/>
                                          </p:val>
                                        </p:tav>
                                        <p:tav tm="100000">
                                          <p:val>
                                            <p:strVal val="#ppt_w"/>
                                          </p:val>
                                        </p:tav>
                                      </p:tavLst>
                                    </p:anim>
                                    <p:anim calcmode="lin" valueType="num">
                                      <p:cBhvr>
                                        <p:cTn id="66" dur="500" fill="hold"/>
                                        <p:tgtEl>
                                          <p:spTgt spid="9"/>
                                        </p:tgtEl>
                                        <p:attrNameLst>
                                          <p:attrName>ppt_h</p:attrName>
                                        </p:attrNameLst>
                                      </p:cBhvr>
                                      <p:tavLst>
                                        <p:tav tm="0">
                                          <p:val>
                                            <p:fltVal val="0"/>
                                          </p:val>
                                        </p:tav>
                                        <p:tav tm="100000">
                                          <p:val>
                                            <p:strVal val="#ppt_h"/>
                                          </p:val>
                                        </p:tav>
                                      </p:tavLst>
                                    </p:anim>
                                    <p:animEffect transition="in" filter="fade">
                                      <p:cBhvr>
                                        <p:cTn id="6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283200" y="62484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a:t>
            </a:r>
            <a:endParaRPr lang="en-US" dirty="0"/>
          </a:p>
        </p:txBody>
      </p:sp>
      <p:sp>
        <p:nvSpPr>
          <p:cNvPr id="395266" name="Rectangle 2"/>
          <p:cNvSpPr>
            <a:spLocks noGrp="1" noChangeArrowheads="1"/>
          </p:cNvSpPr>
          <p:nvPr>
            <p:ph type="title"/>
          </p:nvPr>
        </p:nvSpPr>
        <p:spPr/>
        <p:txBody>
          <a:bodyPr>
            <a:normAutofit/>
          </a:bodyPr>
          <a:lstStyle/>
          <a:p>
            <a:pPr eaLnBrk="1" hangingPunct="1"/>
            <a:r>
              <a:rPr lang="en-US" altLang="en-US" dirty="0"/>
              <a:t>Phases of testing for different development </a:t>
            </a:r>
            <a:r>
              <a:rPr lang="en-US" altLang="en-US" dirty="0" smtClean="0"/>
              <a:t>phases</a:t>
            </a:r>
            <a:endParaRPr lang="en-US" altLang="en-US" dirty="0"/>
          </a:p>
        </p:txBody>
      </p:sp>
      <p:sp>
        <p:nvSpPr>
          <p:cNvPr id="2" name="Rectangle 1"/>
          <p:cNvSpPr/>
          <p:nvPr/>
        </p:nvSpPr>
        <p:spPr>
          <a:xfrm>
            <a:off x="1357086" y="15065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Overall Business Requirements</a:t>
            </a:r>
            <a:endParaRPr lang="en-US" dirty="0"/>
          </a:p>
        </p:txBody>
      </p:sp>
      <p:sp>
        <p:nvSpPr>
          <p:cNvPr id="5" name="Rectangle 4"/>
          <p:cNvSpPr/>
          <p:nvPr/>
        </p:nvSpPr>
        <p:spPr>
          <a:xfrm>
            <a:off x="1966686" y="24209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Software Requirements</a:t>
            </a:r>
            <a:endParaRPr lang="en-US" dirty="0"/>
          </a:p>
        </p:txBody>
      </p:sp>
      <p:sp>
        <p:nvSpPr>
          <p:cNvPr id="6" name="Rectangle 5"/>
          <p:cNvSpPr/>
          <p:nvPr/>
        </p:nvSpPr>
        <p:spPr>
          <a:xfrm>
            <a:off x="2576286" y="33353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High Level Design</a:t>
            </a:r>
            <a:endParaRPr lang="en-US" dirty="0"/>
          </a:p>
        </p:txBody>
      </p:sp>
      <p:sp>
        <p:nvSpPr>
          <p:cNvPr id="7" name="Rectangle 6"/>
          <p:cNvSpPr/>
          <p:nvPr/>
        </p:nvSpPr>
        <p:spPr>
          <a:xfrm>
            <a:off x="3185886" y="42497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Low Level Design</a:t>
            </a:r>
            <a:endParaRPr lang="en-US" dirty="0"/>
          </a:p>
        </p:txBody>
      </p:sp>
      <p:sp>
        <p:nvSpPr>
          <p:cNvPr id="8" name="Rectangle 7"/>
          <p:cNvSpPr/>
          <p:nvPr/>
        </p:nvSpPr>
        <p:spPr>
          <a:xfrm>
            <a:off x="3795486" y="51641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Coding</a:t>
            </a:r>
            <a:endParaRPr lang="en-US" dirty="0"/>
          </a:p>
        </p:txBody>
      </p:sp>
      <p:cxnSp>
        <p:nvCxnSpPr>
          <p:cNvPr id="12" name="Straight Arrow Connector 11"/>
          <p:cNvCxnSpPr>
            <a:stCxn id="2" idx="2"/>
          </p:cNvCxnSpPr>
          <p:nvPr/>
        </p:nvCxnSpPr>
        <p:spPr>
          <a:xfrm>
            <a:off x="2525486" y="211618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2"/>
          </p:cNvCxnSpPr>
          <p:nvPr/>
        </p:nvCxnSpPr>
        <p:spPr>
          <a:xfrm>
            <a:off x="3135086" y="3030583"/>
            <a:ext cx="228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2"/>
          </p:cNvCxnSpPr>
          <p:nvPr/>
        </p:nvCxnSpPr>
        <p:spPr>
          <a:xfrm>
            <a:off x="3744686" y="3944983"/>
            <a:ext cx="25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2"/>
          </p:cNvCxnSpPr>
          <p:nvPr/>
        </p:nvCxnSpPr>
        <p:spPr>
          <a:xfrm>
            <a:off x="4354286" y="4859383"/>
            <a:ext cx="254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2"/>
          </p:cNvCxnSpPr>
          <p:nvPr/>
        </p:nvCxnSpPr>
        <p:spPr>
          <a:xfrm>
            <a:off x="4963886" y="5773783"/>
            <a:ext cx="863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6640286" y="51641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Unit Testing</a:t>
            </a:r>
            <a:endParaRPr lang="en-US" dirty="0"/>
          </a:p>
        </p:txBody>
      </p:sp>
      <p:sp>
        <p:nvSpPr>
          <p:cNvPr id="27" name="Rectangle 26"/>
          <p:cNvSpPr/>
          <p:nvPr/>
        </p:nvSpPr>
        <p:spPr>
          <a:xfrm>
            <a:off x="7249886" y="42497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 Testing</a:t>
            </a:r>
            <a:endParaRPr lang="en-US" dirty="0"/>
          </a:p>
        </p:txBody>
      </p:sp>
      <p:sp>
        <p:nvSpPr>
          <p:cNvPr id="28" name="Rectangle 27"/>
          <p:cNvSpPr/>
          <p:nvPr/>
        </p:nvSpPr>
        <p:spPr>
          <a:xfrm>
            <a:off x="7859486" y="33353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Integration Testing</a:t>
            </a:r>
            <a:endParaRPr lang="en-US" dirty="0"/>
          </a:p>
        </p:txBody>
      </p:sp>
      <p:sp>
        <p:nvSpPr>
          <p:cNvPr id="29" name="Rectangle 28"/>
          <p:cNvSpPr/>
          <p:nvPr/>
        </p:nvSpPr>
        <p:spPr>
          <a:xfrm>
            <a:off x="8469086" y="24209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Testing</a:t>
            </a:r>
            <a:endParaRPr lang="en-US" dirty="0"/>
          </a:p>
        </p:txBody>
      </p:sp>
      <p:sp>
        <p:nvSpPr>
          <p:cNvPr id="30" name="Rectangle 29"/>
          <p:cNvSpPr/>
          <p:nvPr/>
        </p:nvSpPr>
        <p:spPr>
          <a:xfrm>
            <a:off x="9078686" y="1506583"/>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Acceptance Testing</a:t>
            </a:r>
            <a:endParaRPr lang="en-US" dirty="0"/>
          </a:p>
        </p:txBody>
      </p:sp>
      <p:cxnSp>
        <p:nvCxnSpPr>
          <p:cNvPr id="25" name="Straight Arrow Connector 24"/>
          <p:cNvCxnSpPr>
            <a:endCxn id="26" idx="2"/>
          </p:cNvCxnSpPr>
          <p:nvPr/>
        </p:nvCxnSpPr>
        <p:spPr>
          <a:xfrm flipV="1">
            <a:off x="6945086" y="5773783"/>
            <a:ext cx="863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64" name="Straight Arrow Connector 395263"/>
          <p:cNvCxnSpPr>
            <a:endCxn id="27" idx="2"/>
          </p:cNvCxnSpPr>
          <p:nvPr/>
        </p:nvCxnSpPr>
        <p:spPr>
          <a:xfrm flipV="1">
            <a:off x="8265886" y="4859383"/>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0" name="Straight Arrow Connector 395269"/>
          <p:cNvCxnSpPr/>
          <p:nvPr/>
        </p:nvCxnSpPr>
        <p:spPr>
          <a:xfrm flipV="1">
            <a:off x="8788110" y="3944983"/>
            <a:ext cx="119888"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2" name="Straight Arrow Connector 395271"/>
          <p:cNvCxnSpPr/>
          <p:nvPr/>
        </p:nvCxnSpPr>
        <p:spPr>
          <a:xfrm flipV="1">
            <a:off x="9281886" y="3030583"/>
            <a:ext cx="177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5" name="Straight Arrow Connector 395274"/>
          <p:cNvCxnSpPr/>
          <p:nvPr/>
        </p:nvCxnSpPr>
        <p:spPr>
          <a:xfrm flipV="1">
            <a:off x="9789886" y="2116183"/>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Flowchart: Manual Operation 3"/>
          <p:cNvSpPr/>
          <p:nvPr/>
        </p:nvSpPr>
        <p:spPr>
          <a:xfrm rot="1807345">
            <a:off x="7063015" y="365084"/>
            <a:ext cx="3167783" cy="7308915"/>
          </a:xfrm>
          <a:prstGeom prst="flowChartManualOperation">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1519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95275"/>
                                        </p:tgtEl>
                                        <p:attrNameLst>
                                          <p:attrName>style.visibility</p:attrName>
                                        </p:attrNameLst>
                                      </p:cBhvr>
                                      <p:to>
                                        <p:strVal val="visible"/>
                                      </p:to>
                                    </p:set>
                                    <p:anim calcmode="lin" valueType="num">
                                      <p:cBhvr>
                                        <p:cTn id="12" dur="500" fill="hold"/>
                                        <p:tgtEl>
                                          <p:spTgt spid="395275"/>
                                        </p:tgtEl>
                                        <p:attrNameLst>
                                          <p:attrName>ppt_w</p:attrName>
                                        </p:attrNameLst>
                                      </p:cBhvr>
                                      <p:tavLst>
                                        <p:tav tm="0">
                                          <p:val>
                                            <p:fltVal val="0"/>
                                          </p:val>
                                        </p:tav>
                                        <p:tav tm="100000">
                                          <p:val>
                                            <p:strVal val="#ppt_w"/>
                                          </p:val>
                                        </p:tav>
                                      </p:tavLst>
                                    </p:anim>
                                    <p:anim calcmode="lin" valueType="num">
                                      <p:cBhvr>
                                        <p:cTn id="13" dur="500" fill="hold"/>
                                        <p:tgtEl>
                                          <p:spTgt spid="395275"/>
                                        </p:tgtEl>
                                        <p:attrNameLst>
                                          <p:attrName>ppt_h</p:attrName>
                                        </p:attrNameLst>
                                      </p:cBhvr>
                                      <p:tavLst>
                                        <p:tav tm="0">
                                          <p:val>
                                            <p:fltVal val="0"/>
                                          </p:val>
                                        </p:tav>
                                        <p:tav tm="100000">
                                          <p:val>
                                            <p:strVal val="#ppt_h"/>
                                          </p:val>
                                        </p:tav>
                                      </p:tavLst>
                                    </p:anim>
                                    <p:animEffect transition="in" filter="fade">
                                      <p:cBhvr>
                                        <p:cTn id="14" dur="500"/>
                                        <p:tgtEl>
                                          <p:spTgt spid="39527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p:cTn id="24" dur="500" fill="hold"/>
                                        <p:tgtEl>
                                          <p:spTgt spid="28"/>
                                        </p:tgtEl>
                                        <p:attrNameLst>
                                          <p:attrName>ppt_w</p:attrName>
                                        </p:attrNameLst>
                                      </p:cBhvr>
                                      <p:tavLst>
                                        <p:tav tm="0">
                                          <p:val>
                                            <p:fltVal val="0"/>
                                          </p:val>
                                        </p:tav>
                                        <p:tav tm="100000">
                                          <p:val>
                                            <p:strVal val="#ppt_w"/>
                                          </p:val>
                                        </p:tav>
                                      </p:tavLst>
                                    </p:anim>
                                    <p:anim calcmode="lin" valueType="num">
                                      <p:cBhvr>
                                        <p:cTn id="25" dur="500" fill="hold"/>
                                        <p:tgtEl>
                                          <p:spTgt spid="28"/>
                                        </p:tgtEl>
                                        <p:attrNameLst>
                                          <p:attrName>ppt_h</p:attrName>
                                        </p:attrNameLst>
                                      </p:cBhvr>
                                      <p:tavLst>
                                        <p:tav tm="0">
                                          <p:val>
                                            <p:fltVal val="0"/>
                                          </p:val>
                                        </p:tav>
                                        <p:tav tm="100000">
                                          <p:val>
                                            <p:strVal val="#ppt_h"/>
                                          </p:val>
                                        </p:tav>
                                      </p:tavLst>
                                    </p:anim>
                                    <p:animEffect transition="in" filter="fade">
                                      <p:cBhvr>
                                        <p:cTn id="26" dur="500"/>
                                        <p:tgtEl>
                                          <p:spTgt spid="28"/>
                                        </p:tgtEl>
                                      </p:cBhvr>
                                    </p:animEffect>
                                  </p:childTnLst>
                                </p:cTn>
                              </p:par>
                              <p:par>
                                <p:cTn id="27" presetID="53" presetClass="entr" presetSubtype="16" fill="hold" nodeType="withEffect">
                                  <p:stCondLst>
                                    <p:cond delay="0"/>
                                  </p:stCondLst>
                                  <p:childTnLst>
                                    <p:set>
                                      <p:cBhvr>
                                        <p:cTn id="28" dur="1" fill="hold">
                                          <p:stCondLst>
                                            <p:cond delay="0"/>
                                          </p:stCondLst>
                                        </p:cTn>
                                        <p:tgtEl>
                                          <p:spTgt spid="395272"/>
                                        </p:tgtEl>
                                        <p:attrNameLst>
                                          <p:attrName>style.visibility</p:attrName>
                                        </p:attrNameLst>
                                      </p:cBhvr>
                                      <p:to>
                                        <p:strVal val="visible"/>
                                      </p:to>
                                    </p:set>
                                    <p:anim calcmode="lin" valueType="num">
                                      <p:cBhvr>
                                        <p:cTn id="29" dur="500" fill="hold"/>
                                        <p:tgtEl>
                                          <p:spTgt spid="395272"/>
                                        </p:tgtEl>
                                        <p:attrNameLst>
                                          <p:attrName>ppt_w</p:attrName>
                                        </p:attrNameLst>
                                      </p:cBhvr>
                                      <p:tavLst>
                                        <p:tav tm="0">
                                          <p:val>
                                            <p:fltVal val="0"/>
                                          </p:val>
                                        </p:tav>
                                        <p:tav tm="100000">
                                          <p:val>
                                            <p:strVal val="#ppt_w"/>
                                          </p:val>
                                        </p:tav>
                                      </p:tavLst>
                                    </p:anim>
                                    <p:anim calcmode="lin" valueType="num">
                                      <p:cBhvr>
                                        <p:cTn id="30" dur="500" fill="hold"/>
                                        <p:tgtEl>
                                          <p:spTgt spid="395272"/>
                                        </p:tgtEl>
                                        <p:attrNameLst>
                                          <p:attrName>ppt_h</p:attrName>
                                        </p:attrNameLst>
                                      </p:cBhvr>
                                      <p:tavLst>
                                        <p:tav tm="0">
                                          <p:val>
                                            <p:fltVal val="0"/>
                                          </p:val>
                                        </p:tav>
                                        <p:tav tm="100000">
                                          <p:val>
                                            <p:strVal val="#ppt_h"/>
                                          </p:val>
                                        </p:tav>
                                      </p:tavLst>
                                    </p:anim>
                                    <p:animEffect transition="in" filter="fade">
                                      <p:cBhvr>
                                        <p:cTn id="31" dur="500"/>
                                        <p:tgtEl>
                                          <p:spTgt spid="395272"/>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fltVal val="0"/>
                                          </p:val>
                                        </p:tav>
                                        <p:tav tm="100000">
                                          <p:val>
                                            <p:strVal val="#ppt_w"/>
                                          </p:val>
                                        </p:tav>
                                      </p:tavLst>
                                    </p:anim>
                                    <p:anim calcmode="lin" valueType="num">
                                      <p:cBhvr>
                                        <p:cTn id="37" dur="500" fill="hold"/>
                                        <p:tgtEl>
                                          <p:spTgt spid="27"/>
                                        </p:tgtEl>
                                        <p:attrNameLst>
                                          <p:attrName>ppt_h</p:attrName>
                                        </p:attrNameLst>
                                      </p:cBhvr>
                                      <p:tavLst>
                                        <p:tav tm="0">
                                          <p:val>
                                            <p:fltVal val="0"/>
                                          </p:val>
                                        </p:tav>
                                        <p:tav tm="100000">
                                          <p:val>
                                            <p:strVal val="#ppt_h"/>
                                          </p:val>
                                        </p:tav>
                                      </p:tavLst>
                                    </p:anim>
                                    <p:animEffect transition="in" filter="fade">
                                      <p:cBhvr>
                                        <p:cTn id="38" dur="500"/>
                                        <p:tgtEl>
                                          <p:spTgt spid="27"/>
                                        </p:tgtEl>
                                      </p:cBhvr>
                                    </p:animEffect>
                                  </p:childTnLst>
                                </p:cTn>
                              </p:par>
                              <p:par>
                                <p:cTn id="39" presetID="53" presetClass="entr" presetSubtype="16" fill="hold" nodeType="withEffect">
                                  <p:stCondLst>
                                    <p:cond delay="0"/>
                                  </p:stCondLst>
                                  <p:childTnLst>
                                    <p:set>
                                      <p:cBhvr>
                                        <p:cTn id="40" dur="1" fill="hold">
                                          <p:stCondLst>
                                            <p:cond delay="0"/>
                                          </p:stCondLst>
                                        </p:cTn>
                                        <p:tgtEl>
                                          <p:spTgt spid="395270"/>
                                        </p:tgtEl>
                                        <p:attrNameLst>
                                          <p:attrName>style.visibility</p:attrName>
                                        </p:attrNameLst>
                                      </p:cBhvr>
                                      <p:to>
                                        <p:strVal val="visible"/>
                                      </p:to>
                                    </p:set>
                                    <p:anim calcmode="lin" valueType="num">
                                      <p:cBhvr>
                                        <p:cTn id="41" dur="500" fill="hold"/>
                                        <p:tgtEl>
                                          <p:spTgt spid="395270"/>
                                        </p:tgtEl>
                                        <p:attrNameLst>
                                          <p:attrName>ppt_w</p:attrName>
                                        </p:attrNameLst>
                                      </p:cBhvr>
                                      <p:tavLst>
                                        <p:tav tm="0">
                                          <p:val>
                                            <p:fltVal val="0"/>
                                          </p:val>
                                        </p:tav>
                                        <p:tav tm="100000">
                                          <p:val>
                                            <p:strVal val="#ppt_w"/>
                                          </p:val>
                                        </p:tav>
                                      </p:tavLst>
                                    </p:anim>
                                    <p:anim calcmode="lin" valueType="num">
                                      <p:cBhvr>
                                        <p:cTn id="42" dur="500" fill="hold"/>
                                        <p:tgtEl>
                                          <p:spTgt spid="395270"/>
                                        </p:tgtEl>
                                        <p:attrNameLst>
                                          <p:attrName>ppt_h</p:attrName>
                                        </p:attrNameLst>
                                      </p:cBhvr>
                                      <p:tavLst>
                                        <p:tav tm="0">
                                          <p:val>
                                            <p:fltVal val="0"/>
                                          </p:val>
                                        </p:tav>
                                        <p:tav tm="100000">
                                          <p:val>
                                            <p:strVal val="#ppt_h"/>
                                          </p:val>
                                        </p:tav>
                                      </p:tavLst>
                                    </p:anim>
                                    <p:animEffect transition="in" filter="fade">
                                      <p:cBhvr>
                                        <p:cTn id="43" dur="500"/>
                                        <p:tgtEl>
                                          <p:spTgt spid="39527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par>
                                <p:cTn id="51" presetID="53" presetClass="entr" presetSubtype="16" fill="hold" nodeType="withEffect">
                                  <p:stCondLst>
                                    <p:cond delay="0"/>
                                  </p:stCondLst>
                                  <p:childTnLst>
                                    <p:set>
                                      <p:cBhvr>
                                        <p:cTn id="52" dur="1" fill="hold">
                                          <p:stCondLst>
                                            <p:cond delay="0"/>
                                          </p:stCondLst>
                                        </p:cTn>
                                        <p:tgtEl>
                                          <p:spTgt spid="395264"/>
                                        </p:tgtEl>
                                        <p:attrNameLst>
                                          <p:attrName>style.visibility</p:attrName>
                                        </p:attrNameLst>
                                      </p:cBhvr>
                                      <p:to>
                                        <p:strVal val="visible"/>
                                      </p:to>
                                    </p:set>
                                    <p:anim calcmode="lin" valueType="num">
                                      <p:cBhvr>
                                        <p:cTn id="53" dur="500" fill="hold"/>
                                        <p:tgtEl>
                                          <p:spTgt spid="395264"/>
                                        </p:tgtEl>
                                        <p:attrNameLst>
                                          <p:attrName>ppt_w</p:attrName>
                                        </p:attrNameLst>
                                      </p:cBhvr>
                                      <p:tavLst>
                                        <p:tav tm="0">
                                          <p:val>
                                            <p:fltVal val="0"/>
                                          </p:val>
                                        </p:tav>
                                        <p:tav tm="100000">
                                          <p:val>
                                            <p:strVal val="#ppt_w"/>
                                          </p:val>
                                        </p:tav>
                                      </p:tavLst>
                                    </p:anim>
                                    <p:anim calcmode="lin" valueType="num">
                                      <p:cBhvr>
                                        <p:cTn id="54" dur="500" fill="hold"/>
                                        <p:tgtEl>
                                          <p:spTgt spid="395264"/>
                                        </p:tgtEl>
                                        <p:attrNameLst>
                                          <p:attrName>ppt_h</p:attrName>
                                        </p:attrNameLst>
                                      </p:cBhvr>
                                      <p:tavLst>
                                        <p:tav tm="0">
                                          <p:val>
                                            <p:fltVal val="0"/>
                                          </p:val>
                                        </p:tav>
                                        <p:tav tm="100000">
                                          <p:val>
                                            <p:strVal val="#ppt_h"/>
                                          </p:val>
                                        </p:tav>
                                      </p:tavLst>
                                    </p:anim>
                                    <p:animEffect transition="in" filter="fade">
                                      <p:cBhvr>
                                        <p:cTn id="55" dur="500"/>
                                        <p:tgtEl>
                                          <p:spTgt spid="395264"/>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p:cTn id="60" dur="500" fill="hold"/>
                                        <p:tgtEl>
                                          <p:spTgt spid="25"/>
                                        </p:tgtEl>
                                        <p:attrNameLst>
                                          <p:attrName>ppt_w</p:attrName>
                                        </p:attrNameLst>
                                      </p:cBhvr>
                                      <p:tavLst>
                                        <p:tav tm="0">
                                          <p:val>
                                            <p:fltVal val="0"/>
                                          </p:val>
                                        </p:tav>
                                        <p:tav tm="100000">
                                          <p:val>
                                            <p:strVal val="#ppt_w"/>
                                          </p:val>
                                        </p:tav>
                                      </p:tavLst>
                                    </p:anim>
                                    <p:anim calcmode="lin" valueType="num">
                                      <p:cBhvr>
                                        <p:cTn id="61" dur="500" fill="hold"/>
                                        <p:tgtEl>
                                          <p:spTgt spid="25"/>
                                        </p:tgtEl>
                                        <p:attrNameLst>
                                          <p:attrName>ppt_h</p:attrName>
                                        </p:attrNameLst>
                                      </p:cBhvr>
                                      <p:tavLst>
                                        <p:tav tm="0">
                                          <p:val>
                                            <p:fltVal val="0"/>
                                          </p:val>
                                        </p:tav>
                                        <p:tav tm="100000">
                                          <p:val>
                                            <p:strVal val="#ppt_h"/>
                                          </p:val>
                                        </p:tav>
                                      </p:tavLst>
                                    </p:anim>
                                    <p:animEffect transition="in" filter="fade">
                                      <p:cBhvr>
                                        <p:cTn id="62" dur="500"/>
                                        <p:tgtEl>
                                          <p:spTgt spid="25"/>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4"/>
                                        </p:tgtEl>
                                        <p:attrNameLst>
                                          <p:attrName>style.visibility</p:attrName>
                                        </p:attrNameLst>
                                      </p:cBhvr>
                                      <p:to>
                                        <p:strVal val="visible"/>
                                      </p:to>
                                    </p:set>
                                    <p:anim calcmode="lin" valueType="num">
                                      <p:cBhvr>
                                        <p:cTn id="65" dur="500" fill="hold"/>
                                        <p:tgtEl>
                                          <p:spTgt spid="4"/>
                                        </p:tgtEl>
                                        <p:attrNameLst>
                                          <p:attrName>ppt_w</p:attrName>
                                        </p:attrNameLst>
                                      </p:cBhvr>
                                      <p:tavLst>
                                        <p:tav tm="0">
                                          <p:val>
                                            <p:fltVal val="0"/>
                                          </p:val>
                                        </p:tav>
                                        <p:tav tm="100000">
                                          <p:val>
                                            <p:strVal val="#ppt_w"/>
                                          </p:val>
                                        </p:tav>
                                      </p:tavLst>
                                    </p:anim>
                                    <p:anim calcmode="lin" valueType="num">
                                      <p:cBhvr>
                                        <p:cTn id="66" dur="500" fill="hold"/>
                                        <p:tgtEl>
                                          <p:spTgt spid="4"/>
                                        </p:tgtEl>
                                        <p:attrNameLst>
                                          <p:attrName>ppt_h</p:attrName>
                                        </p:attrNameLst>
                                      </p:cBhvr>
                                      <p:tavLst>
                                        <p:tav tm="0">
                                          <p:val>
                                            <p:fltVal val="0"/>
                                          </p:val>
                                        </p:tav>
                                        <p:tav tm="100000">
                                          <p:val>
                                            <p:strVal val="#ppt_h"/>
                                          </p:val>
                                        </p:tav>
                                      </p:tavLst>
                                    </p:anim>
                                    <p:animEffect transition="in" filter="fade">
                                      <p:cBhvr>
                                        <p:cTn id="6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V Model</a:t>
            </a:r>
            <a:endParaRPr lang="en-US" dirty="0"/>
          </a:p>
        </p:txBody>
      </p:sp>
      <p:sp>
        <p:nvSpPr>
          <p:cNvPr id="3" name="Content Placeholder 2"/>
          <p:cNvSpPr>
            <a:spLocks noGrp="1"/>
          </p:cNvSpPr>
          <p:nvPr>
            <p:ph idx="1"/>
          </p:nvPr>
        </p:nvSpPr>
        <p:spPr>
          <a:xfrm>
            <a:off x="1104900" y="1600200"/>
            <a:ext cx="9982200" cy="4865914"/>
          </a:xfrm>
        </p:spPr>
        <p:txBody>
          <a:bodyPr>
            <a:normAutofit/>
          </a:bodyPr>
          <a:lstStyle/>
          <a:p>
            <a:pPr algn="just"/>
            <a:r>
              <a:rPr lang="en-US" b="1" dirty="0" smtClean="0"/>
              <a:t>Overall Business Requirement </a:t>
            </a:r>
          </a:p>
          <a:p>
            <a:pPr lvl="1" algn="just"/>
            <a:r>
              <a:rPr lang="en-US" sz="2000" dirty="0" smtClean="0"/>
              <a:t>These requirements cover hardware, software, and operational requirements</a:t>
            </a:r>
          </a:p>
          <a:p>
            <a:pPr algn="just"/>
            <a:r>
              <a:rPr lang="en-US" b="1" dirty="0" smtClean="0"/>
              <a:t>Software Requirements </a:t>
            </a:r>
          </a:p>
          <a:p>
            <a:pPr lvl="1" algn="just"/>
            <a:r>
              <a:rPr lang="en-US" sz="2000" dirty="0" smtClean="0"/>
              <a:t>Next step is moving from overall requirements to software requirements. </a:t>
            </a:r>
          </a:p>
          <a:p>
            <a:pPr algn="just"/>
            <a:r>
              <a:rPr lang="en-US" b="1" dirty="0" smtClean="0"/>
              <a:t>High Level Design</a:t>
            </a:r>
            <a:r>
              <a:rPr lang="en-US" dirty="0" smtClean="0"/>
              <a:t> </a:t>
            </a:r>
          </a:p>
          <a:p>
            <a:pPr lvl="1" algn="just"/>
            <a:r>
              <a:rPr lang="en-US" sz="2000" dirty="0" smtClean="0"/>
              <a:t>Software system is imagined as a set of sub systems that work together</a:t>
            </a:r>
          </a:p>
          <a:p>
            <a:pPr algn="just"/>
            <a:r>
              <a:rPr lang="en-US" b="1" dirty="0" smtClean="0"/>
              <a:t>Low Level Design </a:t>
            </a:r>
          </a:p>
          <a:p>
            <a:pPr lvl="1" algn="just"/>
            <a:r>
              <a:rPr lang="en-US" sz="2000" dirty="0" smtClean="0"/>
              <a:t>High level design gets translated to a more detailed or low level design. In this data structures, algorithms choices, table layouts, processing logics and exception conditions etc are decided</a:t>
            </a:r>
          </a:p>
          <a:p>
            <a:pPr algn="just"/>
            <a:r>
              <a:rPr lang="en-US" b="1" dirty="0" smtClean="0"/>
              <a:t>Coding </a:t>
            </a:r>
          </a:p>
          <a:p>
            <a:pPr lvl="1" algn="just"/>
            <a:r>
              <a:rPr lang="en-US" sz="2000" dirty="0" smtClean="0"/>
              <a:t>Program code is written in appropriate languages</a:t>
            </a:r>
          </a:p>
          <a:p>
            <a:pPr lvl="1" algn="just">
              <a:buNone/>
            </a:pPr>
            <a:endParaRPr lang="en-US" sz="2000" dirty="0" smtClean="0"/>
          </a:p>
          <a:p>
            <a:endParaRPr lang="en-US" dirty="0" smtClean="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V Model</a:t>
            </a:r>
            <a:endParaRPr lang="en-US" dirty="0"/>
          </a:p>
        </p:txBody>
      </p:sp>
      <p:sp>
        <p:nvSpPr>
          <p:cNvPr id="3" name="Content Placeholder 2"/>
          <p:cNvSpPr>
            <a:spLocks noGrp="1"/>
          </p:cNvSpPr>
          <p:nvPr>
            <p:ph idx="1"/>
          </p:nvPr>
        </p:nvSpPr>
        <p:spPr>
          <a:xfrm>
            <a:off x="1136468" y="1600200"/>
            <a:ext cx="9950631" cy="4572000"/>
          </a:xfrm>
        </p:spPr>
        <p:txBody>
          <a:bodyPr>
            <a:normAutofit/>
          </a:bodyPr>
          <a:lstStyle/>
          <a:p>
            <a:pPr algn="just"/>
            <a:r>
              <a:rPr lang="en-US" b="1" dirty="0" smtClean="0"/>
              <a:t>Acceptance Testing </a:t>
            </a:r>
          </a:p>
          <a:p>
            <a:pPr lvl="1" algn="just"/>
            <a:r>
              <a:rPr lang="en-US" sz="2000" dirty="0" smtClean="0"/>
              <a:t>For overall business requirements, eventually whatever software is developed should fit into and work in overall context and should be accepted by end user. This testing is acceptance testing</a:t>
            </a:r>
          </a:p>
          <a:p>
            <a:pPr algn="just"/>
            <a:r>
              <a:rPr lang="en-US" b="1" dirty="0" smtClean="0"/>
              <a:t>System Testing </a:t>
            </a:r>
          </a:p>
          <a:p>
            <a:pPr lvl="1" algn="just"/>
            <a:r>
              <a:rPr lang="en-US" sz="2000" dirty="0" smtClean="0"/>
              <a:t>Before product deployment, the product tested as an entire unit to make sure that all the software requirements are satisfied by the product. This testing of entire software system is system testing</a:t>
            </a:r>
          </a:p>
          <a:p>
            <a:pPr algn="just"/>
            <a:r>
              <a:rPr lang="en-US" b="1" dirty="0" smtClean="0"/>
              <a:t>Integration Testing </a:t>
            </a:r>
          </a:p>
          <a:p>
            <a:pPr lvl="1" algn="just"/>
            <a:r>
              <a:rPr lang="en-US" sz="2000" dirty="0" smtClean="0"/>
              <a:t>High level design views the system as being made up of interoperating and integrated subsystems. The individual subsystems should be integrated and tested. This type of testing corresponds to integration testing</a:t>
            </a:r>
          </a:p>
          <a:p>
            <a:pPr lvl="1" algn="just">
              <a:buNone/>
            </a:pPr>
            <a:endParaRPr lang="en-US"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V Model</a:t>
            </a:r>
            <a:endParaRPr lang="en-US" dirty="0"/>
          </a:p>
        </p:txBody>
      </p:sp>
      <p:sp>
        <p:nvSpPr>
          <p:cNvPr id="3" name="Content Placeholder 2"/>
          <p:cNvSpPr>
            <a:spLocks noGrp="1"/>
          </p:cNvSpPr>
          <p:nvPr>
            <p:ph idx="1"/>
          </p:nvPr>
        </p:nvSpPr>
        <p:spPr>
          <a:xfrm>
            <a:off x="1097280" y="1600200"/>
            <a:ext cx="9993086" cy="4724400"/>
          </a:xfrm>
        </p:spPr>
        <p:txBody>
          <a:bodyPr>
            <a:normAutofit/>
          </a:bodyPr>
          <a:lstStyle/>
          <a:p>
            <a:pPr algn="just"/>
            <a:r>
              <a:rPr lang="en-US" b="1" dirty="0" smtClean="0"/>
              <a:t>Component Testing </a:t>
            </a:r>
          </a:p>
          <a:p>
            <a:pPr lvl="1" algn="just"/>
            <a:r>
              <a:rPr lang="en-US" sz="2000" dirty="0" smtClean="0"/>
              <a:t>The components that are the outputs of low level design have to be tested independently before being integrated. This type of testing is component level testing</a:t>
            </a:r>
          </a:p>
          <a:p>
            <a:pPr algn="just"/>
            <a:r>
              <a:rPr lang="en-US" b="1" dirty="0" smtClean="0"/>
              <a:t>Unit Testing </a:t>
            </a:r>
          </a:p>
          <a:p>
            <a:pPr lvl="1" algn="just"/>
            <a:r>
              <a:rPr lang="en-US" sz="2000" dirty="0" smtClean="0"/>
              <a:t>Coding produces several program units, each of these units have to be tested independently before combining them to form components. The testing of program units form the unit testing</a:t>
            </a:r>
            <a:endParaRPr lang="en-US" sz="2000" b="1"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dirty="0" smtClean="0"/>
              <a:t>The V Model</a:t>
            </a:r>
            <a:endParaRPr lang="en-US" altLang="en-US" dirty="0"/>
          </a:p>
        </p:txBody>
      </p:sp>
      <p:sp>
        <p:nvSpPr>
          <p:cNvPr id="395267" name="Rectangle 3"/>
          <p:cNvSpPr>
            <a:spLocks noGrp="1" noChangeArrowheads="1"/>
          </p:cNvSpPr>
          <p:nvPr>
            <p:ph idx="1"/>
          </p:nvPr>
        </p:nvSpPr>
        <p:spPr>
          <a:xfrm>
            <a:off x="1097281" y="1447800"/>
            <a:ext cx="10032273" cy="4800600"/>
          </a:xfrm>
        </p:spPr>
        <p:txBody>
          <a:bodyPr>
            <a:normAutofit/>
          </a:bodyPr>
          <a:lstStyle/>
          <a:p>
            <a:pPr algn="just"/>
            <a:r>
              <a:rPr lang="en-US" altLang="en-US" b="1" dirty="0" smtClean="0"/>
              <a:t>Planning of testing for different development phases</a:t>
            </a:r>
          </a:p>
          <a:p>
            <a:pPr lvl="1" algn="just"/>
            <a:r>
              <a:rPr lang="en-US" altLang="en-US" sz="2000" dirty="0" smtClean="0"/>
              <a:t>Planning </a:t>
            </a:r>
            <a:r>
              <a:rPr lang="en-US" altLang="en-US" sz="2000" dirty="0"/>
              <a:t>phase </a:t>
            </a:r>
            <a:r>
              <a:rPr lang="en-US" altLang="en-US" sz="2000" dirty="0" smtClean="0"/>
              <a:t>is not shown as </a:t>
            </a:r>
            <a:r>
              <a:rPr lang="en-US" altLang="en-US" sz="2000" dirty="0"/>
              <a:t>a separate entity since it is common for all testing phases. </a:t>
            </a:r>
          </a:p>
          <a:p>
            <a:pPr lvl="1" algn="just"/>
            <a:r>
              <a:rPr lang="en-US" altLang="en-US" sz="2000" dirty="0" smtClean="0"/>
              <a:t>It is still </a:t>
            </a:r>
            <a:r>
              <a:rPr lang="en-US" altLang="en-US" sz="2000" dirty="0"/>
              <a:t>not possible to execute any of these tests until the product is actually built. </a:t>
            </a:r>
          </a:p>
          <a:p>
            <a:pPr lvl="1" algn="just"/>
            <a:r>
              <a:rPr lang="en-US" altLang="en-US" sz="2000" dirty="0"/>
              <a:t>In other words, the step called "testing" is now broken down into different </a:t>
            </a:r>
            <a:r>
              <a:rPr lang="en-US" altLang="en-US" sz="2000" dirty="0" smtClean="0"/>
              <a:t>sub-steps. </a:t>
            </a:r>
            <a:endParaRPr lang="en-US" altLang="en-US" sz="2000" dirty="0"/>
          </a:p>
          <a:p>
            <a:pPr lvl="1" algn="just"/>
            <a:r>
              <a:rPr lang="en-US" altLang="en-US" sz="2000" dirty="0"/>
              <a:t>I</a:t>
            </a:r>
            <a:r>
              <a:rPr lang="en-US" altLang="en-US" sz="2000" dirty="0" smtClean="0"/>
              <a:t>t </a:t>
            </a:r>
            <a:r>
              <a:rPr lang="en-US" altLang="en-US" sz="2000" dirty="0"/>
              <a:t>is still the case that all the testing execution related activities are done only at the end of the life cycle.</a:t>
            </a:r>
          </a:p>
        </p:txBody>
      </p:sp>
    </p:spTree>
    <p:extLst>
      <p:ext uri="{BB962C8B-B14F-4D97-AF65-F5344CB8AC3E}">
        <p14:creationId xmlns:p14="http://schemas.microsoft.com/office/powerpoint/2010/main" val="558451244"/>
      </p:ext>
    </p:extLst>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dirty="0" smtClean="0"/>
              <a:t>The V Model</a:t>
            </a:r>
            <a:endParaRPr lang="en-US" altLang="en-US" dirty="0"/>
          </a:p>
        </p:txBody>
      </p:sp>
      <p:sp>
        <p:nvSpPr>
          <p:cNvPr id="395267" name="Rectangle 3"/>
          <p:cNvSpPr>
            <a:spLocks noGrp="1" noChangeArrowheads="1"/>
          </p:cNvSpPr>
          <p:nvPr>
            <p:ph idx="1"/>
          </p:nvPr>
        </p:nvSpPr>
        <p:spPr>
          <a:xfrm>
            <a:off x="1110344" y="1447800"/>
            <a:ext cx="9993086" cy="4800600"/>
          </a:xfrm>
        </p:spPr>
        <p:txBody>
          <a:bodyPr>
            <a:normAutofit/>
          </a:bodyPr>
          <a:lstStyle/>
          <a:p>
            <a:pPr algn="just"/>
            <a:r>
              <a:rPr lang="en-US" altLang="en-US" b="1" dirty="0" smtClean="0"/>
              <a:t>Who should design test</a:t>
            </a:r>
          </a:p>
          <a:p>
            <a:pPr algn="just" eaLnBrk="1" hangingPunct="1"/>
            <a:r>
              <a:rPr lang="en-US" altLang="en-US" dirty="0" smtClean="0"/>
              <a:t>Execution </a:t>
            </a:r>
            <a:r>
              <a:rPr lang="en-US" altLang="en-US" dirty="0"/>
              <a:t>of the tests cannot be done till the product is built, </a:t>
            </a:r>
            <a:r>
              <a:rPr lang="en-US" altLang="en-US" dirty="0" smtClean="0"/>
              <a:t>but the </a:t>
            </a:r>
            <a:r>
              <a:rPr lang="en-US" altLang="en-US" dirty="0"/>
              <a:t>design of tests can be carried out much earlier. </a:t>
            </a:r>
          </a:p>
          <a:p>
            <a:pPr algn="just" eaLnBrk="1" hangingPunct="1"/>
            <a:r>
              <a:rPr lang="en-US" altLang="en-US" dirty="0" smtClean="0"/>
              <a:t>Skill </a:t>
            </a:r>
            <a:r>
              <a:rPr lang="en-US" altLang="en-US" dirty="0"/>
              <a:t>sets required for designing each type of tests, </a:t>
            </a:r>
            <a:endParaRPr lang="en-US" altLang="en-US" dirty="0" smtClean="0"/>
          </a:p>
          <a:p>
            <a:pPr lvl="1" algn="just" eaLnBrk="1" hangingPunct="1"/>
            <a:r>
              <a:rPr lang="en-US" altLang="en-US" sz="2000" dirty="0" smtClean="0"/>
              <a:t>The </a:t>
            </a:r>
            <a:r>
              <a:rPr lang="en-US" altLang="en-US" sz="2000" dirty="0"/>
              <a:t>people </a:t>
            </a:r>
            <a:r>
              <a:rPr lang="en-US" altLang="en-US" sz="2000" dirty="0" smtClean="0"/>
              <a:t>who </a:t>
            </a:r>
            <a:r>
              <a:rPr lang="en-US" altLang="en-US" sz="2000" dirty="0"/>
              <a:t>are actually performing the function of creating the corresponding artifact. </a:t>
            </a:r>
            <a:endParaRPr lang="en-US" altLang="en-US" sz="2000" dirty="0" smtClean="0"/>
          </a:p>
          <a:p>
            <a:pPr algn="just" eaLnBrk="1" hangingPunct="1"/>
            <a:r>
              <a:rPr lang="en-US" altLang="en-US" dirty="0"/>
              <a:t>For example, </a:t>
            </a:r>
            <a:endParaRPr lang="en-US" altLang="en-US" dirty="0" smtClean="0"/>
          </a:p>
          <a:p>
            <a:pPr lvl="1" algn="just" eaLnBrk="1" hangingPunct="1"/>
            <a:r>
              <a:rPr lang="en-US" altLang="en-US" sz="2000" dirty="0"/>
              <a:t>A</a:t>
            </a:r>
            <a:r>
              <a:rPr lang="en-US" altLang="en-US" sz="2000" dirty="0" smtClean="0"/>
              <a:t>cceptance </a:t>
            </a:r>
            <a:r>
              <a:rPr lang="en-US" altLang="en-US" sz="2000" dirty="0"/>
              <a:t>tests should </a:t>
            </a:r>
            <a:r>
              <a:rPr lang="en-US" altLang="en-US" sz="2000" dirty="0" smtClean="0"/>
              <a:t>be designed by those </a:t>
            </a:r>
            <a:r>
              <a:rPr lang="en-US" altLang="en-US" sz="2000" dirty="0"/>
              <a:t>who formulate the overall business requirements </a:t>
            </a:r>
            <a:r>
              <a:rPr lang="en-US" altLang="en-US" sz="2000" dirty="0" smtClean="0"/>
              <a:t>(the </a:t>
            </a:r>
            <a:r>
              <a:rPr lang="en-US" altLang="en-US" sz="2000" dirty="0"/>
              <a:t>customers, where possible). </a:t>
            </a:r>
          </a:p>
          <a:p>
            <a:pPr lvl="1" algn="just" eaLnBrk="1" hangingPunct="1"/>
            <a:r>
              <a:rPr lang="en-US" altLang="en-US" sz="2000" dirty="0" smtClean="0"/>
              <a:t>Those should design </a:t>
            </a:r>
            <a:r>
              <a:rPr lang="en-US" altLang="en-US" sz="2000" dirty="0"/>
              <a:t>the integration tests </a:t>
            </a:r>
            <a:r>
              <a:rPr lang="en-US" altLang="en-US" sz="2000" dirty="0" smtClean="0"/>
              <a:t>who </a:t>
            </a:r>
            <a:r>
              <a:rPr lang="en-US" altLang="en-US" sz="2000" dirty="0"/>
              <a:t>know how the system is broken into </a:t>
            </a:r>
            <a:r>
              <a:rPr lang="en-US" altLang="en-US" sz="2000" dirty="0" smtClean="0"/>
              <a:t>subsystems i.e. </a:t>
            </a:r>
            <a:r>
              <a:rPr lang="en-US" altLang="en-US" sz="2000" dirty="0"/>
              <a:t>those who perform the </a:t>
            </a:r>
            <a:r>
              <a:rPr lang="en-US" altLang="en-US" sz="2000" dirty="0" smtClean="0"/>
              <a:t>high level </a:t>
            </a:r>
            <a:r>
              <a:rPr lang="en-US" altLang="en-US" sz="2000" dirty="0"/>
              <a:t>design. </a:t>
            </a:r>
          </a:p>
          <a:p>
            <a:pPr lvl="1" algn="just" eaLnBrk="1" hangingPunct="1"/>
            <a:r>
              <a:rPr lang="en-US" altLang="en-US" sz="2000" dirty="0"/>
              <a:t>Again, the people doing development know the innards of the program code and thus are best equipped to design the unit tests.</a:t>
            </a:r>
          </a:p>
        </p:txBody>
      </p:sp>
    </p:spTree>
    <p:extLst>
      <p:ext uri="{BB962C8B-B14F-4D97-AF65-F5344CB8AC3E}">
        <p14:creationId xmlns:p14="http://schemas.microsoft.com/office/powerpoint/2010/main" val="2742222711"/>
      </p:ext>
    </p:extLst>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dirty="0" smtClean="0"/>
              <a:t>The V Model</a:t>
            </a:r>
            <a:endParaRPr lang="en-US" altLang="en-US" dirty="0"/>
          </a:p>
        </p:txBody>
      </p:sp>
      <p:sp>
        <p:nvSpPr>
          <p:cNvPr id="395267" name="Rectangle 3"/>
          <p:cNvSpPr>
            <a:spLocks noGrp="1" noChangeArrowheads="1"/>
          </p:cNvSpPr>
          <p:nvPr>
            <p:ph idx="1"/>
          </p:nvPr>
        </p:nvSpPr>
        <p:spPr>
          <a:xfrm>
            <a:off x="1123407" y="1447800"/>
            <a:ext cx="9980022" cy="4800600"/>
          </a:xfrm>
        </p:spPr>
        <p:txBody>
          <a:bodyPr>
            <a:normAutofit/>
          </a:bodyPr>
          <a:lstStyle/>
          <a:p>
            <a:pPr algn="just"/>
            <a:r>
              <a:rPr lang="en-US" altLang="en-US" b="1" dirty="0" smtClean="0"/>
              <a:t>Benefits of early design</a:t>
            </a:r>
          </a:p>
          <a:p>
            <a:pPr algn="just" eaLnBrk="1" hangingPunct="1"/>
            <a:r>
              <a:rPr lang="en-US" altLang="en-US" dirty="0" smtClean="0"/>
              <a:t>We </a:t>
            </a:r>
            <a:r>
              <a:rPr lang="en-US" altLang="en-US" dirty="0"/>
              <a:t>achieve more parallelism and reduce the end-of-cycle time taken for testing.</a:t>
            </a:r>
          </a:p>
          <a:p>
            <a:pPr algn="just" eaLnBrk="1" hangingPunct="1"/>
            <a:r>
              <a:rPr lang="en-US" altLang="en-US" dirty="0" smtClean="0"/>
              <a:t>By </a:t>
            </a:r>
            <a:r>
              <a:rPr lang="en-US" altLang="en-US" dirty="0"/>
              <a:t>designing tests for each activity upfront, we are building in better upfront validation, thus again reducing last-minute surprises.</a:t>
            </a:r>
          </a:p>
          <a:p>
            <a:pPr algn="just" eaLnBrk="1" hangingPunct="1"/>
            <a:r>
              <a:rPr lang="en-US" altLang="en-US" dirty="0" smtClean="0"/>
              <a:t>Tests </a:t>
            </a:r>
            <a:r>
              <a:rPr lang="en-US" altLang="en-US" dirty="0"/>
              <a:t>are designed by people with appropriate skill sets.</a:t>
            </a:r>
          </a:p>
        </p:txBody>
      </p:sp>
    </p:spTree>
    <p:extLst>
      <p:ext uri="{BB962C8B-B14F-4D97-AF65-F5344CB8AC3E}">
        <p14:creationId xmlns:p14="http://schemas.microsoft.com/office/powerpoint/2010/main" val="2286152158"/>
      </p:ext>
    </p:extLst>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pPr eaLnBrk="1" hangingPunct="1"/>
            <a:r>
              <a:rPr lang="en-US" altLang="en-US" dirty="0" smtClean="0"/>
              <a:t>V-Model</a:t>
            </a:r>
            <a:endParaRPr lang="en-US" altLang="en-US" dirty="0"/>
          </a:p>
        </p:txBody>
      </p:sp>
      <p:cxnSp>
        <p:nvCxnSpPr>
          <p:cNvPr id="12" name="Straight Arrow Connector 11"/>
          <p:cNvCxnSpPr>
            <a:stCxn id="3" idx="2"/>
          </p:cNvCxnSpPr>
          <p:nvPr/>
        </p:nvCxnSpPr>
        <p:spPr>
          <a:xfrm>
            <a:off x="2977896" y="2325624"/>
            <a:ext cx="92456" cy="2255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37" idx="2"/>
          </p:cNvCxnSpPr>
          <p:nvPr/>
        </p:nvCxnSpPr>
        <p:spPr>
          <a:xfrm>
            <a:off x="3296920" y="3236976"/>
            <a:ext cx="111760" cy="2682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38" idx="2"/>
          </p:cNvCxnSpPr>
          <p:nvPr/>
        </p:nvCxnSpPr>
        <p:spPr>
          <a:xfrm>
            <a:off x="3601720" y="4154424"/>
            <a:ext cx="60960" cy="265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39" idx="2"/>
          </p:cNvCxnSpPr>
          <p:nvPr/>
        </p:nvCxnSpPr>
        <p:spPr>
          <a:xfrm>
            <a:off x="3908552" y="5068824"/>
            <a:ext cx="86360" cy="2255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40" idx="2"/>
          </p:cNvCxnSpPr>
          <p:nvPr/>
        </p:nvCxnSpPr>
        <p:spPr>
          <a:xfrm>
            <a:off x="4227576" y="5980176"/>
            <a:ext cx="222504" cy="4206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6990080" y="53340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Unit Testing</a:t>
            </a:r>
            <a:endParaRPr lang="en-US" dirty="0"/>
          </a:p>
        </p:txBody>
      </p:sp>
      <p:sp>
        <p:nvSpPr>
          <p:cNvPr id="27" name="Rectangle 26"/>
          <p:cNvSpPr/>
          <p:nvPr/>
        </p:nvSpPr>
        <p:spPr>
          <a:xfrm>
            <a:off x="7599680" y="44196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 Testing</a:t>
            </a:r>
            <a:endParaRPr lang="en-US" dirty="0"/>
          </a:p>
        </p:txBody>
      </p:sp>
      <p:sp>
        <p:nvSpPr>
          <p:cNvPr id="28" name="Rectangle 27"/>
          <p:cNvSpPr/>
          <p:nvPr/>
        </p:nvSpPr>
        <p:spPr>
          <a:xfrm>
            <a:off x="8209280" y="35052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Integration Testing</a:t>
            </a:r>
            <a:endParaRPr lang="en-US" dirty="0"/>
          </a:p>
        </p:txBody>
      </p:sp>
      <p:sp>
        <p:nvSpPr>
          <p:cNvPr id="29" name="Rectangle 28"/>
          <p:cNvSpPr/>
          <p:nvPr/>
        </p:nvSpPr>
        <p:spPr>
          <a:xfrm>
            <a:off x="8818880" y="25908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Testing</a:t>
            </a:r>
            <a:endParaRPr lang="en-US" dirty="0"/>
          </a:p>
        </p:txBody>
      </p:sp>
      <p:sp>
        <p:nvSpPr>
          <p:cNvPr id="30" name="Rectangle 29"/>
          <p:cNvSpPr/>
          <p:nvPr/>
        </p:nvSpPr>
        <p:spPr>
          <a:xfrm>
            <a:off x="9428480" y="1676400"/>
            <a:ext cx="2336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Acceptance Testing</a:t>
            </a:r>
            <a:endParaRPr lang="en-US" dirty="0"/>
          </a:p>
        </p:txBody>
      </p:sp>
      <p:cxnSp>
        <p:nvCxnSpPr>
          <p:cNvPr id="25" name="Straight Arrow Connector 24"/>
          <p:cNvCxnSpPr>
            <a:endCxn id="26" idx="2"/>
          </p:cNvCxnSpPr>
          <p:nvPr/>
        </p:nvCxnSpPr>
        <p:spPr>
          <a:xfrm flipV="1">
            <a:off x="7802880" y="5943600"/>
            <a:ext cx="355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64" name="Straight Arrow Connector 395263"/>
          <p:cNvCxnSpPr>
            <a:endCxn id="27" idx="2"/>
          </p:cNvCxnSpPr>
          <p:nvPr/>
        </p:nvCxnSpPr>
        <p:spPr>
          <a:xfrm flipV="1">
            <a:off x="8615680" y="5029200"/>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0" name="Straight Arrow Connector 395269"/>
          <p:cNvCxnSpPr/>
          <p:nvPr/>
        </p:nvCxnSpPr>
        <p:spPr>
          <a:xfrm flipV="1">
            <a:off x="9137904" y="4114800"/>
            <a:ext cx="119888"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2" name="Straight Arrow Connector 395271"/>
          <p:cNvCxnSpPr/>
          <p:nvPr/>
        </p:nvCxnSpPr>
        <p:spPr>
          <a:xfrm flipV="1">
            <a:off x="9631680" y="3200400"/>
            <a:ext cx="177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5275" name="Straight Arrow Connector 395274"/>
          <p:cNvCxnSpPr/>
          <p:nvPr/>
        </p:nvCxnSpPr>
        <p:spPr>
          <a:xfrm flipV="1">
            <a:off x="10139680" y="2286000"/>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 name="Group 9"/>
          <p:cNvGrpSpPr/>
          <p:nvPr/>
        </p:nvGrpSpPr>
        <p:grpSpPr>
          <a:xfrm>
            <a:off x="487680" y="1639824"/>
            <a:ext cx="4980432" cy="685800"/>
            <a:chOff x="152400" y="1639824"/>
            <a:chExt cx="3735324" cy="685800"/>
          </a:xfrm>
        </p:grpSpPr>
        <p:sp>
          <p:nvSpPr>
            <p:cNvPr id="2" name="Rectangle 1"/>
            <p:cNvSpPr/>
            <p:nvPr/>
          </p:nvSpPr>
          <p:spPr>
            <a:xfrm>
              <a:off x="228600" y="16764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Overall Business Requirements</a:t>
              </a:r>
              <a:endParaRPr lang="en-US" dirty="0"/>
            </a:p>
          </p:txBody>
        </p:sp>
        <p:sp>
          <p:nvSpPr>
            <p:cNvPr id="31" name="Rectangle 30"/>
            <p:cNvSpPr/>
            <p:nvPr/>
          </p:nvSpPr>
          <p:spPr>
            <a:xfrm>
              <a:off x="2089404" y="16764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Acceptance Test Design</a:t>
              </a:r>
              <a:endParaRPr lang="en-US" dirty="0"/>
            </a:p>
          </p:txBody>
        </p:sp>
        <p:sp>
          <p:nvSpPr>
            <p:cNvPr id="3" name="Rounded Rectangle 2"/>
            <p:cNvSpPr/>
            <p:nvPr/>
          </p:nvSpPr>
          <p:spPr>
            <a:xfrm>
              <a:off x="152400" y="1639824"/>
              <a:ext cx="3735324" cy="68580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10"/>
          <p:cNvGrpSpPr/>
          <p:nvPr/>
        </p:nvGrpSpPr>
        <p:grpSpPr>
          <a:xfrm>
            <a:off x="806704" y="2551176"/>
            <a:ext cx="4980432" cy="685800"/>
            <a:chOff x="391668" y="2551176"/>
            <a:chExt cx="3735324" cy="685800"/>
          </a:xfrm>
        </p:grpSpPr>
        <p:sp>
          <p:nvSpPr>
            <p:cNvPr id="5" name="Rectangle 4"/>
            <p:cNvSpPr/>
            <p:nvPr/>
          </p:nvSpPr>
          <p:spPr>
            <a:xfrm>
              <a:off x="457200" y="25908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Software Requirements</a:t>
              </a:r>
              <a:endParaRPr lang="en-US" dirty="0"/>
            </a:p>
          </p:txBody>
        </p:sp>
        <p:sp>
          <p:nvSpPr>
            <p:cNvPr id="32" name="Rectangle 31"/>
            <p:cNvSpPr/>
            <p:nvPr/>
          </p:nvSpPr>
          <p:spPr>
            <a:xfrm>
              <a:off x="2306574" y="25908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System Testing Design</a:t>
              </a:r>
              <a:endParaRPr lang="en-US" dirty="0"/>
            </a:p>
          </p:txBody>
        </p:sp>
        <p:sp>
          <p:nvSpPr>
            <p:cNvPr id="37" name="Rounded Rectangle 36"/>
            <p:cNvSpPr/>
            <p:nvPr/>
          </p:nvSpPr>
          <p:spPr>
            <a:xfrm>
              <a:off x="391668" y="2551176"/>
              <a:ext cx="3735324" cy="68580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19"/>
          <p:cNvGrpSpPr/>
          <p:nvPr/>
        </p:nvGrpSpPr>
        <p:grpSpPr>
          <a:xfrm>
            <a:off x="1111504" y="3468624"/>
            <a:ext cx="4980432" cy="685800"/>
            <a:chOff x="620268" y="3468624"/>
            <a:chExt cx="3735324" cy="685800"/>
          </a:xfrm>
        </p:grpSpPr>
        <p:sp>
          <p:nvSpPr>
            <p:cNvPr id="6" name="Rectangle 5"/>
            <p:cNvSpPr/>
            <p:nvPr/>
          </p:nvSpPr>
          <p:spPr>
            <a:xfrm>
              <a:off x="685800" y="35052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High Level Design</a:t>
              </a:r>
              <a:endParaRPr lang="en-US" dirty="0"/>
            </a:p>
          </p:txBody>
        </p:sp>
        <p:sp>
          <p:nvSpPr>
            <p:cNvPr id="33" name="Rectangle 32"/>
            <p:cNvSpPr/>
            <p:nvPr/>
          </p:nvSpPr>
          <p:spPr>
            <a:xfrm>
              <a:off x="2533650" y="35052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Integration Test Design</a:t>
              </a:r>
              <a:endParaRPr lang="en-US" dirty="0"/>
            </a:p>
          </p:txBody>
        </p:sp>
        <p:sp>
          <p:nvSpPr>
            <p:cNvPr id="38" name="Rounded Rectangle 37"/>
            <p:cNvSpPr/>
            <p:nvPr/>
          </p:nvSpPr>
          <p:spPr>
            <a:xfrm>
              <a:off x="620268" y="3468624"/>
              <a:ext cx="3735324" cy="68580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21"/>
          <p:cNvGrpSpPr/>
          <p:nvPr/>
        </p:nvGrpSpPr>
        <p:grpSpPr>
          <a:xfrm>
            <a:off x="1418336" y="4383024"/>
            <a:ext cx="4980432" cy="685800"/>
            <a:chOff x="850392" y="4383024"/>
            <a:chExt cx="3735324" cy="685800"/>
          </a:xfrm>
        </p:grpSpPr>
        <p:sp>
          <p:nvSpPr>
            <p:cNvPr id="7" name="Rectangle 6"/>
            <p:cNvSpPr/>
            <p:nvPr/>
          </p:nvSpPr>
          <p:spPr>
            <a:xfrm>
              <a:off x="914400" y="44196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Low Level Design</a:t>
              </a:r>
              <a:endParaRPr lang="en-US" dirty="0"/>
            </a:p>
          </p:txBody>
        </p:sp>
        <p:sp>
          <p:nvSpPr>
            <p:cNvPr id="34" name="Rectangle 33"/>
            <p:cNvSpPr/>
            <p:nvPr/>
          </p:nvSpPr>
          <p:spPr>
            <a:xfrm>
              <a:off x="2782824" y="44196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 Test Design</a:t>
              </a:r>
              <a:endParaRPr lang="en-US" dirty="0"/>
            </a:p>
          </p:txBody>
        </p:sp>
        <p:sp>
          <p:nvSpPr>
            <p:cNvPr id="39" name="Rounded Rectangle 38"/>
            <p:cNvSpPr/>
            <p:nvPr/>
          </p:nvSpPr>
          <p:spPr>
            <a:xfrm>
              <a:off x="850392" y="4383024"/>
              <a:ext cx="3735324" cy="68580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40"/>
          <p:cNvGrpSpPr/>
          <p:nvPr/>
        </p:nvGrpSpPr>
        <p:grpSpPr>
          <a:xfrm>
            <a:off x="1737360" y="5294376"/>
            <a:ext cx="4980432" cy="685800"/>
            <a:chOff x="1089660" y="5294376"/>
            <a:chExt cx="3735324" cy="685800"/>
          </a:xfrm>
        </p:grpSpPr>
        <p:sp>
          <p:nvSpPr>
            <p:cNvPr id="8" name="Rectangle 7"/>
            <p:cNvSpPr/>
            <p:nvPr/>
          </p:nvSpPr>
          <p:spPr>
            <a:xfrm>
              <a:off x="1143000" y="53340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Coding</a:t>
              </a:r>
              <a:endParaRPr lang="en-US" dirty="0"/>
            </a:p>
          </p:txBody>
        </p:sp>
        <p:sp>
          <p:nvSpPr>
            <p:cNvPr id="36" name="Rectangle 35"/>
            <p:cNvSpPr/>
            <p:nvPr/>
          </p:nvSpPr>
          <p:spPr>
            <a:xfrm>
              <a:off x="3011424" y="5334000"/>
              <a:ext cx="1752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Unit Test Design</a:t>
              </a:r>
              <a:endParaRPr lang="en-US" dirty="0"/>
            </a:p>
          </p:txBody>
        </p:sp>
        <p:sp>
          <p:nvSpPr>
            <p:cNvPr id="40" name="Rounded Rectangle 39"/>
            <p:cNvSpPr/>
            <p:nvPr/>
          </p:nvSpPr>
          <p:spPr>
            <a:xfrm>
              <a:off x="1089660" y="5294376"/>
              <a:ext cx="3735324" cy="68580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0" name="Straight Arrow Connector 49"/>
          <p:cNvCxnSpPr/>
          <p:nvPr/>
        </p:nvCxnSpPr>
        <p:spPr>
          <a:xfrm>
            <a:off x="4450080" y="6400800"/>
            <a:ext cx="3352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406400" y="1447800"/>
            <a:ext cx="6400800" cy="5257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908800" y="1447800"/>
            <a:ext cx="4978400" cy="525780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914400" y="6216134"/>
            <a:ext cx="3100832" cy="369332"/>
          </a:xfrm>
          <a:prstGeom prst="rect">
            <a:avLst/>
          </a:prstGeom>
          <a:noFill/>
        </p:spPr>
        <p:txBody>
          <a:bodyPr wrap="square" rtlCol="0">
            <a:spAutoFit/>
          </a:bodyPr>
          <a:lstStyle/>
          <a:p>
            <a:r>
              <a:rPr lang="en-US" dirty="0" smtClean="0">
                <a:solidFill>
                  <a:srgbClr val="FF0000"/>
                </a:solidFill>
              </a:rPr>
              <a:t>Verification</a:t>
            </a:r>
            <a:endParaRPr lang="en-US" dirty="0">
              <a:solidFill>
                <a:srgbClr val="FF0000"/>
              </a:solidFill>
            </a:endParaRPr>
          </a:p>
        </p:txBody>
      </p:sp>
      <p:sp>
        <p:nvSpPr>
          <p:cNvPr id="56" name="TextBox 55"/>
          <p:cNvSpPr txBox="1"/>
          <p:nvPr/>
        </p:nvSpPr>
        <p:spPr>
          <a:xfrm>
            <a:off x="9809480" y="6172200"/>
            <a:ext cx="1752600" cy="381000"/>
          </a:xfrm>
          <a:prstGeom prst="rect">
            <a:avLst/>
          </a:prstGeom>
          <a:noFill/>
        </p:spPr>
        <p:txBody>
          <a:bodyPr wrap="square" rtlCol="0">
            <a:spAutoFit/>
          </a:bodyPr>
          <a:lstStyle/>
          <a:p>
            <a:r>
              <a:rPr lang="en-US" dirty="0" smtClean="0"/>
              <a:t>Validation</a:t>
            </a:r>
            <a:endParaRPr lang="en-US" dirty="0"/>
          </a:p>
        </p:txBody>
      </p:sp>
    </p:spTree>
    <p:extLst>
      <p:ext uri="{BB962C8B-B14F-4D97-AF65-F5344CB8AC3E}">
        <p14:creationId xmlns:p14="http://schemas.microsoft.com/office/powerpoint/2010/main" val="2840543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fade">
                                      <p:cBhvr>
                                        <p:cTn id="14" dur="500"/>
                                        <p:tgtEl>
                                          <p:spTgt spid="5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p:bldP spid="5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V-Model</a:t>
            </a:r>
            <a:endParaRPr lang="en-US" altLang="en-US" dirty="0"/>
          </a:p>
        </p:txBody>
      </p:sp>
      <p:sp>
        <p:nvSpPr>
          <p:cNvPr id="395267" name="Rectangle 3"/>
          <p:cNvSpPr>
            <a:spLocks noGrp="1" noChangeArrowheads="1"/>
          </p:cNvSpPr>
          <p:nvPr>
            <p:ph idx="1"/>
          </p:nvPr>
        </p:nvSpPr>
        <p:spPr>
          <a:xfrm>
            <a:off x="1110344" y="1447800"/>
            <a:ext cx="9966960" cy="4800600"/>
          </a:xfrm>
        </p:spPr>
        <p:txBody>
          <a:bodyPr>
            <a:normAutofit/>
          </a:bodyPr>
          <a:lstStyle/>
          <a:p>
            <a:pPr algn="just" eaLnBrk="1" hangingPunct="1"/>
            <a:r>
              <a:rPr lang="en-US" dirty="0"/>
              <a:t>Advantages of V- Model</a:t>
            </a:r>
          </a:p>
          <a:p>
            <a:pPr lvl="1" algn="just" eaLnBrk="1" hangingPunct="1"/>
            <a:r>
              <a:rPr lang="en-US" sz="2000" dirty="0"/>
              <a:t>Testing activities like planning, test designing happens well before coding. </a:t>
            </a:r>
            <a:endParaRPr lang="en-US" sz="2000" dirty="0" smtClean="0"/>
          </a:p>
          <a:p>
            <a:pPr lvl="2" algn="just" eaLnBrk="1" hangingPunct="1"/>
            <a:r>
              <a:rPr lang="en-US" sz="2000" dirty="0" smtClean="0"/>
              <a:t>This </a:t>
            </a:r>
            <a:r>
              <a:rPr lang="en-US" sz="2000" dirty="0"/>
              <a:t>saves a lot of time hence higher </a:t>
            </a:r>
            <a:r>
              <a:rPr lang="en-US" sz="2000" dirty="0" smtClean="0"/>
              <a:t>chances </a:t>
            </a:r>
            <a:r>
              <a:rPr lang="en-US" sz="2000" dirty="0"/>
              <a:t>of success over the waterfall model.</a:t>
            </a:r>
          </a:p>
          <a:p>
            <a:pPr lvl="1" algn="just" eaLnBrk="1" hangingPunct="1"/>
            <a:r>
              <a:rPr lang="en-US" sz="2000" dirty="0"/>
              <a:t>Proactive defect tracking – that is defects are found at early </a:t>
            </a:r>
            <a:r>
              <a:rPr lang="en-US" sz="2000" dirty="0" smtClean="0"/>
              <a:t>stage</a:t>
            </a:r>
          </a:p>
          <a:p>
            <a:pPr lvl="2" algn="just" eaLnBrk="1" hangingPunct="1"/>
            <a:r>
              <a:rPr lang="en-US" sz="2000" dirty="0" smtClean="0"/>
              <a:t>it </a:t>
            </a:r>
            <a:r>
              <a:rPr lang="en-US" sz="2000" dirty="0"/>
              <a:t>avoids the downward flow of the defects.</a:t>
            </a:r>
          </a:p>
          <a:p>
            <a:pPr algn="just" eaLnBrk="1" hangingPunct="1"/>
            <a:r>
              <a:rPr lang="en-US" dirty="0"/>
              <a:t>Dis-advantages of V-Model</a:t>
            </a:r>
          </a:p>
          <a:p>
            <a:pPr lvl="1" algn="just" eaLnBrk="1" hangingPunct="1"/>
            <a:r>
              <a:rPr lang="en-US" sz="2000" dirty="0"/>
              <a:t>It is Very rigid and least flexible. </a:t>
            </a:r>
            <a:endParaRPr lang="en-US" sz="2000" dirty="0" smtClean="0"/>
          </a:p>
          <a:p>
            <a:pPr lvl="1" algn="just" eaLnBrk="1" hangingPunct="1"/>
            <a:r>
              <a:rPr lang="en-US" sz="2000" dirty="0" smtClean="0"/>
              <a:t>No </a:t>
            </a:r>
            <a:r>
              <a:rPr lang="en-US" sz="2000" dirty="0"/>
              <a:t>early prototypes of the software are produced.</a:t>
            </a:r>
          </a:p>
          <a:p>
            <a:pPr lvl="1" algn="just" eaLnBrk="1" hangingPunct="1"/>
            <a:r>
              <a:rPr lang="en-US" sz="2000" dirty="0"/>
              <a:t>If any changes happen in midway, then the test documents along with requirement documents has to be updated.</a:t>
            </a:r>
          </a:p>
        </p:txBody>
      </p:sp>
    </p:spTree>
    <p:extLst>
      <p:ext uri="{BB962C8B-B14F-4D97-AF65-F5344CB8AC3E}">
        <p14:creationId xmlns:p14="http://schemas.microsoft.com/office/powerpoint/2010/main" val="1020344389"/>
      </p:ext>
    </p:extLst>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Modified V-Model</a:t>
            </a:r>
            <a:endParaRPr lang="en-US" altLang="en-US" dirty="0"/>
          </a:p>
        </p:txBody>
      </p:sp>
      <p:sp>
        <p:nvSpPr>
          <p:cNvPr id="395267" name="Rectangle 3"/>
          <p:cNvSpPr>
            <a:spLocks noGrp="1" noChangeArrowheads="1"/>
          </p:cNvSpPr>
          <p:nvPr>
            <p:ph idx="1"/>
          </p:nvPr>
        </p:nvSpPr>
        <p:spPr>
          <a:xfrm>
            <a:off x="1110343" y="1447800"/>
            <a:ext cx="9980023" cy="4800600"/>
          </a:xfrm>
        </p:spPr>
        <p:txBody>
          <a:bodyPr>
            <a:noAutofit/>
          </a:bodyPr>
          <a:lstStyle/>
          <a:p>
            <a:pPr algn="just"/>
            <a:r>
              <a:rPr lang="en-US" dirty="0"/>
              <a:t>In the V-Model there is an </a:t>
            </a:r>
            <a:r>
              <a:rPr lang="en-US" dirty="0" smtClean="0"/>
              <a:t>assumption</a:t>
            </a:r>
          </a:p>
          <a:p>
            <a:pPr lvl="1" algn="just"/>
            <a:r>
              <a:rPr lang="en-US" sz="2000" dirty="0" smtClean="0"/>
              <a:t>Even </a:t>
            </a:r>
            <a:r>
              <a:rPr lang="en-US" sz="2000" dirty="0"/>
              <a:t>the activity of test execution was split into execution of tests of different types, the execution cannot happen until the entire product is built. </a:t>
            </a:r>
            <a:endParaRPr lang="en-US" sz="2000" dirty="0" smtClean="0"/>
          </a:p>
          <a:p>
            <a:pPr lvl="1" algn="just"/>
            <a:r>
              <a:rPr lang="en-US" sz="2000" dirty="0" smtClean="0"/>
              <a:t>For a given product, the different units and components can be in different stages of evolution</a:t>
            </a:r>
          </a:p>
          <a:p>
            <a:pPr lvl="1" algn="just"/>
            <a:r>
              <a:rPr lang="en-US" sz="2000" dirty="0" smtClean="0"/>
              <a:t>For example one unit may be in development and thus subject to unit testing whereas another unit may be ready for component testing  </a:t>
            </a:r>
          </a:p>
          <a:p>
            <a:pPr lvl="1" algn="just"/>
            <a:r>
              <a:rPr lang="en-US" sz="2000" dirty="0" smtClean="0"/>
              <a:t>The V model does not explicitly address this parallelism commonly found in the product development</a:t>
            </a:r>
          </a:p>
        </p:txBody>
      </p:sp>
    </p:spTree>
    <p:extLst>
      <p:ext uri="{BB962C8B-B14F-4D97-AF65-F5344CB8AC3E}">
        <p14:creationId xmlns:p14="http://schemas.microsoft.com/office/powerpoint/2010/main" val="1691992662"/>
      </p:ext>
    </p:extLst>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Modified V-Model</a:t>
            </a:r>
            <a:endParaRPr lang="en-GB" dirty="0"/>
          </a:p>
        </p:txBody>
      </p:sp>
      <p:sp>
        <p:nvSpPr>
          <p:cNvPr id="3" name="Content Placeholder 2"/>
          <p:cNvSpPr>
            <a:spLocks noGrp="1"/>
          </p:cNvSpPr>
          <p:nvPr>
            <p:ph idx="1"/>
          </p:nvPr>
        </p:nvSpPr>
        <p:spPr/>
        <p:txBody>
          <a:bodyPr/>
          <a:lstStyle/>
          <a:p>
            <a:pPr algn="just"/>
            <a:r>
              <a:rPr lang="en-US" dirty="0" smtClean="0"/>
              <a:t>In the modified V Model, </a:t>
            </a:r>
          </a:p>
          <a:p>
            <a:pPr lvl="1" algn="just"/>
            <a:r>
              <a:rPr lang="en-US" sz="2000" dirty="0" smtClean="0"/>
              <a:t>Each unit or component or module is given explicit exit criteria to pass on to the subsequent stage</a:t>
            </a:r>
          </a:p>
          <a:p>
            <a:pPr lvl="1" algn="just"/>
            <a:r>
              <a:rPr lang="en-US" sz="2000" dirty="0" smtClean="0"/>
              <a:t>The units or components or modules that satisfy a given phase of testing move to the next phase of testing where possible.</a:t>
            </a:r>
          </a:p>
          <a:p>
            <a:pPr lvl="2" algn="just"/>
            <a:r>
              <a:rPr lang="en-US" sz="2000" dirty="0" smtClean="0"/>
              <a:t>They do not wait for all the units or components or modules to move from one phase of testing to another.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Modified V-Model</a:t>
            </a:r>
            <a:endParaRPr lang="en-US" altLang="en-US" dirty="0"/>
          </a:p>
        </p:txBody>
      </p:sp>
      <p:sp>
        <p:nvSpPr>
          <p:cNvPr id="2" name="Content Placeholder 1"/>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3"/>
          <a:srcRect/>
          <a:stretch>
            <a:fillRect/>
          </a:stretch>
        </p:blipFill>
        <p:spPr bwMode="auto">
          <a:xfrm>
            <a:off x="1096963" y="1576388"/>
            <a:ext cx="9999697" cy="4373584"/>
          </a:xfrm>
          <a:prstGeom prst="rect">
            <a:avLst/>
          </a:prstGeom>
          <a:noFill/>
          <a:ln w="9525">
            <a:noFill/>
            <a:miter lim="800000"/>
            <a:headEnd/>
            <a:tailEnd/>
          </a:ln>
          <a:effectLst/>
        </p:spPr>
      </p:pic>
    </p:spTree>
    <p:extLst>
      <p:ext uri="{BB962C8B-B14F-4D97-AF65-F5344CB8AC3E}">
        <p14:creationId xmlns:p14="http://schemas.microsoft.com/office/powerpoint/2010/main" val="2130330030"/>
      </p:ext>
    </p:extLst>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sp>
        <p:nvSpPr>
          <p:cNvPr id="395267" name="Rectangle 3"/>
          <p:cNvSpPr>
            <a:spLocks noGrp="1" noChangeArrowheads="1"/>
          </p:cNvSpPr>
          <p:nvPr>
            <p:ph idx="1"/>
          </p:nvPr>
        </p:nvSpPr>
        <p:spPr>
          <a:xfrm>
            <a:off x="1097281" y="1447800"/>
            <a:ext cx="9980022" cy="5018314"/>
          </a:xfrm>
        </p:spPr>
        <p:txBody>
          <a:bodyPr>
            <a:normAutofit/>
          </a:bodyPr>
          <a:lstStyle/>
          <a:p>
            <a:pPr algn="just"/>
            <a:r>
              <a:rPr lang="en-US" dirty="0"/>
              <a:t>Test-driven development (</a:t>
            </a:r>
            <a:r>
              <a:rPr lang="en-US" dirty="0" smtClean="0"/>
              <a:t>TDD) is </a:t>
            </a:r>
            <a:r>
              <a:rPr lang="en-US" dirty="0"/>
              <a:t>a method of software </a:t>
            </a:r>
            <a:r>
              <a:rPr lang="en-US" dirty="0" smtClean="0"/>
              <a:t>development</a:t>
            </a:r>
          </a:p>
          <a:p>
            <a:pPr algn="just"/>
            <a:r>
              <a:rPr lang="en-US" dirty="0" smtClean="0"/>
              <a:t>The </a:t>
            </a:r>
            <a:r>
              <a:rPr lang="en-US" dirty="0"/>
              <a:t>concept is to "get something working now and perfect it later." </a:t>
            </a:r>
            <a:endParaRPr lang="en-US" dirty="0" smtClean="0"/>
          </a:p>
          <a:p>
            <a:pPr algn="just"/>
            <a:r>
              <a:rPr lang="en-US" dirty="0" smtClean="0"/>
              <a:t>You develop the code incrementally, along with a test for that increment</a:t>
            </a:r>
          </a:p>
          <a:p>
            <a:pPr algn="just"/>
            <a:r>
              <a:rPr lang="en-US" dirty="0" smtClean="0"/>
              <a:t>Test-driven development was introduced as part of agile methods such as Extreme Programming</a:t>
            </a:r>
          </a:p>
          <a:p>
            <a:pPr algn="just"/>
            <a:r>
              <a:rPr lang="en-US" dirty="0" smtClean="0"/>
              <a:t>You don’t move on to the next increment until the code that you have developed passes its test</a:t>
            </a:r>
          </a:p>
          <a:p>
            <a:endParaRPr lang="en-US" dirty="0"/>
          </a:p>
        </p:txBody>
      </p:sp>
    </p:spTree>
    <p:extLst>
      <p:ext uri="{BB962C8B-B14F-4D97-AF65-F5344CB8AC3E}">
        <p14:creationId xmlns:p14="http://schemas.microsoft.com/office/powerpoint/2010/main" val="2554458810"/>
      </p:ext>
    </p:extLst>
  </p:cSld>
  <p:clrMapOvr>
    <a:masterClrMapping/>
  </p:clrMapOvr>
  <p:transition spd="med">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Test Driven Development</a:t>
            </a:r>
            <a:endParaRPr lang="en-GB" dirty="0"/>
          </a:p>
        </p:txBody>
      </p:sp>
      <p:sp>
        <p:nvSpPr>
          <p:cNvPr id="3" name="Content Placeholder 2"/>
          <p:cNvSpPr>
            <a:spLocks noGrp="1"/>
          </p:cNvSpPr>
          <p:nvPr>
            <p:ph idx="1"/>
          </p:nvPr>
        </p:nvSpPr>
        <p:spPr>
          <a:xfrm>
            <a:off x="1104900" y="1600200"/>
            <a:ext cx="9982200" cy="4940300"/>
          </a:xfrm>
        </p:spPr>
        <p:txBody>
          <a:bodyPr>
            <a:normAutofit/>
          </a:bodyPr>
          <a:lstStyle/>
          <a:p>
            <a:pPr algn="just"/>
            <a:r>
              <a:rPr lang="en-US" dirty="0" smtClean="0"/>
              <a:t>After each test, refactoring is done and then the same or a similar test is performed again. </a:t>
            </a:r>
          </a:p>
          <a:p>
            <a:pPr algn="just"/>
            <a:r>
              <a:rPr lang="en-US" b="1" dirty="0" smtClean="0"/>
              <a:t>Refactoring</a:t>
            </a:r>
            <a:endParaRPr lang="en-US" dirty="0" smtClean="0"/>
          </a:p>
          <a:p>
            <a:pPr lvl="1" algn="just"/>
            <a:r>
              <a:rPr lang="en-US" sz="2000" dirty="0" smtClean="0"/>
              <a:t>Refactoring is the process of changing a software system in such a way that it does not alter the external behavior of the code yet improves its internal structure</a:t>
            </a:r>
            <a:r>
              <a:rPr lang="en-US" dirty="0" smtClean="0"/>
              <a:t>.</a:t>
            </a:r>
          </a:p>
          <a:p>
            <a:pPr algn="just"/>
            <a:r>
              <a:rPr lang="en-US" dirty="0" smtClean="0"/>
              <a:t>The testing is usually performed by an automated tool because:</a:t>
            </a:r>
          </a:p>
          <a:p>
            <a:pPr lvl="1" algn="just"/>
            <a:r>
              <a:rPr lang="en-US" sz="2000" dirty="0" smtClean="0"/>
              <a:t>You have to be able to run every test each time that you add functionality or </a:t>
            </a:r>
            <a:r>
              <a:rPr lang="en-US" sz="2000" dirty="0" err="1" smtClean="0"/>
              <a:t>refactor</a:t>
            </a:r>
            <a:r>
              <a:rPr lang="en-US" sz="2000" dirty="0" smtClean="0"/>
              <a:t> the program</a:t>
            </a:r>
          </a:p>
          <a:p>
            <a:pPr lvl="1" algn="just"/>
            <a:r>
              <a:rPr lang="en-US" sz="2000" dirty="0" smtClean="0"/>
              <a:t>The process is iterated as many times as necessary until each unit is functioning according to the desired specifications.</a:t>
            </a:r>
          </a:p>
          <a:p>
            <a:pPr lvl="1" algn="just"/>
            <a:r>
              <a:rPr lang="en-US" sz="2000" dirty="0" smtClean="0"/>
              <a:t>The tests are embedded in a separate program that runs the tests and invokes the system that is being tested</a:t>
            </a:r>
          </a:p>
          <a:p>
            <a:pPr lvl="1" algn="just"/>
            <a:r>
              <a:rPr lang="en-US" sz="2000" dirty="0" smtClean="0"/>
              <a:t>It is possible to run hundreds of separate tests in a few seconds</a:t>
            </a:r>
            <a:endParaRPr lang="en-US" sz="2000" b="1" dirty="0" smtClean="0"/>
          </a:p>
          <a:p>
            <a:pPr algn="just"/>
            <a:endParaRPr lang="en-US" dirty="0" smtClean="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sp>
        <p:nvSpPr>
          <p:cNvPr id="395267" name="Rectangle 3"/>
          <p:cNvSpPr>
            <a:spLocks noGrp="1" noChangeArrowheads="1"/>
          </p:cNvSpPr>
          <p:nvPr>
            <p:ph idx="1"/>
          </p:nvPr>
        </p:nvSpPr>
        <p:spPr>
          <a:xfrm>
            <a:off x="1097281" y="1447800"/>
            <a:ext cx="10019210" cy="4800600"/>
          </a:xfrm>
        </p:spPr>
        <p:txBody>
          <a:bodyPr>
            <a:normAutofit/>
          </a:bodyPr>
          <a:lstStyle/>
          <a:p>
            <a:pPr algn="just"/>
            <a:r>
              <a:rPr lang="en-US" dirty="0" smtClean="0"/>
              <a:t>Procedure</a:t>
            </a:r>
          </a:p>
          <a:p>
            <a:pPr lvl="1" algn="just"/>
            <a:r>
              <a:rPr lang="en-US" sz="2000" dirty="0" smtClean="0"/>
              <a:t>Think </a:t>
            </a:r>
            <a:r>
              <a:rPr lang="en-US" sz="2000" dirty="0"/>
              <a:t>about what you want to do.</a:t>
            </a:r>
          </a:p>
          <a:p>
            <a:pPr lvl="1" algn="just"/>
            <a:r>
              <a:rPr lang="en-US" sz="2000" dirty="0"/>
              <a:t>Think about how to test it.</a:t>
            </a:r>
          </a:p>
          <a:p>
            <a:pPr lvl="1" algn="just"/>
            <a:r>
              <a:rPr lang="en-US" sz="2000" dirty="0"/>
              <a:t>Write a small test</a:t>
            </a:r>
            <a:r>
              <a:rPr lang="en-US" sz="2000" dirty="0" smtClean="0"/>
              <a:t>.</a:t>
            </a:r>
            <a:endParaRPr lang="en-US" sz="2000" dirty="0"/>
          </a:p>
          <a:p>
            <a:pPr lvl="1" algn="just"/>
            <a:r>
              <a:rPr lang="en-US" sz="2000" dirty="0"/>
              <a:t>Write just enough code to fail the test.</a:t>
            </a:r>
          </a:p>
          <a:p>
            <a:pPr lvl="1" algn="just"/>
            <a:r>
              <a:rPr lang="en-US" sz="2000" dirty="0" smtClean="0"/>
              <a:t>Run and watch the test fail. </a:t>
            </a:r>
          </a:p>
          <a:p>
            <a:pPr lvl="1" algn="just"/>
            <a:r>
              <a:rPr lang="en-US" sz="2000" dirty="0" smtClean="0"/>
              <a:t>Write </a:t>
            </a:r>
            <a:r>
              <a:rPr lang="en-US" sz="2000" dirty="0"/>
              <a:t>just enough code to pass the test (and pass all your previous tests).</a:t>
            </a:r>
          </a:p>
          <a:p>
            <a:pPr lvl="1" algn="just"/>
            <a:r>
              <a:rPr lang="en-US" sz="2000" dirty="0"/>
              <a:t>Run and watch all of the tests pass</a:t>
            </a:r>
            <a:r>
              <a:rPr lang="en-US" sz="2000" dirty="0" smtClean="0"/>
              <a:t>.</a:t>
            </a:r>
            <a:endParaRPr lang="en-US" sz="2000" dirty="0"/>
          </a:p>
          <a:p>
            <a:pPr lvl="1" algn="just"/>
            <a:r>
              <a:rPr lang="en-US" sz="2000" dirty="0" smtClean="0"/>
              <a:t>If </a:t>
            </a:r>
            <a:r>
              <a:rPr lang="en-US" sz="2000" dirty="0"/>
              <a:t>you have any duplicate logic, or inexpressive code, refactor to remove duplication and increase </a:t>
            </a:r>
            <a:r>
              <a:rPr lang="en-US" sz="2000" dirty="0" smtClean="0"/>
              <a:t>expressiveness.</a:t>
            </a:r>
            <a:endParaRPr lang="en-US" sz="2000" dirty="0"/>
          </a:p>
          <a:p>
            <a:pPr lvl="1" algn="just"/>
            <a:r>
              <a:rPr lang="en-US" sz="2000" dirty="0"/>
              <a:t>Run the tests again, </a:t>
            </a:r>
            <a:r>
              <a:rPr lang="en-US" sz="2000" dirty="0" smtClean="0"/>
              <a:t>It should Pass. </a:t>
            </a:r>
            <a:r>
              <a:rPr lang="en-US" sz="2000" dirty="0"/>
              <a:t>If </a:t>
            </a:r>
            <a:r>
              <a:rPr lang="en-US" sz="2000" dirty="0" smtClean="0"/>
              <a:t>it Fails, </a:t>
            </a:r>
            <a:r>
              <a:rPr lang="en-US" sz="2000" dirty="0"/>
              <a:t>then </a:t>
            </a:r>
            <a:r>
              <a:rPr lang="en-US" sz="2000" dirty="0" smtClean="0"/>
              <a:t>you made </a:t>
            </a:r>
            <a:r>
              <a:rPr lang="en-US" sz="2000" dirty="0"/>
              <a:t>a mistake in your refactoring. Fix it now and re-run.</a:t>
            </a:r>
          </a:p>
          <a:p>
            <a:pPr lvl="1" algn="just"/>
            <a:r>
              <a:rPr lang="en-US" sz="2000" dirty="0"/>
              <a:t>Repeat the steps above until you can't find any more tests that drive writing new code.</a:t>
            </a:r>
          </a:p>
        </p:txBody>
      </p:sp>
    </p:spTree>
    <p:extLst>
      <p:ext uri="{BB962C8B-B14F-4D97-AF65-F5344CB8AC3E}">
        <p14:creationId xmlns:p14="http://schemas.microsoft.com/office/powerpoint/2010/main" val="1510612923"/>
      </p:ext>
    </p:extLst>
  </p:cSld>
  <p:clrMapOvr>
    <a:masterClrMapping/>
  </p:clrMapOvr>
  <p:transition spd="med">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pic>
        <p:nvPicPr>
          <p:cNvPr id="1026" name="Picture 2"/>
          <p:cNvPicPr>
            <a:picLocks noChangeAspect="1" noChangeArrowheads="1"/>
          </p:cNvPicPr>
          <p:nvPr/>
        </p:nvPicPr>
        <p:blipFill>
          <a:blip r:embed="rId3"/>
          <a:srcRect/>
          <a:stretch>
            <a:fillRect/>
          </a:stretch>
        </p:blipFill>
        <p:spPr bwMode="auto">
          <a:xfrm>
            <a:off x="4167188" y="1370013"/>
            <a:ext cx="3857625" cy="5210175"/>
          </a:xfrm>
          <a:prstGeom prst="rect">
            <a:avLst/>
          </a:prstGeom>
          <a:noFill/>
          <a:ln w="9525">
            <a:noFill/>
            <a:miter lim="800000"/>
            <a:headEnd/>
            <a:tailEnd/>
          </a:ln>
          <a:effectLst/>
        </p:spPr>
      </p:pic>
    </p:spTree>
    <p:extLst>
      <p:ext uri="{BB962C8B-B14F-4D97-AF65-F5344CB8AC3E}">
        <p14:creationId xmlns:p14="http://schemas.microsoft.com/office/powerpoint/2010/main" val="1061298791"/>
      </p:ext>
    </p:extLst>
  </p:cSld>
  <p:clrMapOvr>
    <a:masterClrMapping/>
  </p:clrMapOvr>
  <p:transition spd="med">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sp>
        <p:nvSpPr>
          <p:cNvPr id="395267" name="Rectangle 3"/>
          <p:cNvSpPr>
            <a:spLocks noGrp="1" noChangeArrowheads="1"/>
          </p:cNvSpPr>
          <p:nvPr>
            <p:ph idx="1"/>
          </p:nvPr>
        </p:nvSpPr>
        <p:spPr>
          <a:xfrm>
            <a:off x="1123406" y="1447800"/>
            <a:ext cx="9953897" cy="4800600"/>
          </a:xfrm>
        </p:spPr>
        <p:txBody>
          <a:bodyPr>
            <a:normAutofit/>
          </a:bodyPr>
          <a:lstStyle/>
          <a:p>
            <a:r>
              <a:rPr lang="en-US" dirty="0" smtClean="0"/>
              <a:t>There are two levels of TDD</a:t>
            </a:r>
          </a:p>
          <a:p>
            <a:pPr lvl="1"/>
            <a:r>
              <a:rPr lang="en-US" sz="2000" dirty="0" smtClean="0"/>
              <a:t>Acceptance TDD</a:t>
            </a:r>
          </a:p>
          <a:p>
            <a:pPr lvl="2"/>
            <a:r>
              <a:rPr lang="en-US" sz="2000" dirty="0" smtClean="0"/>
              <a:t>Write </a:t>
            </a:r>
            <a:r>
              <a:rPr lang="en-US" sz="2000" dirty="0"/>
              <a:t>a single acceptance test, or behavioral </a:t>
            </a:r>
            <a:r>
              <a:rPr lang="en-US" sz="2000" dirty="0" smtClean="0"/>
              <a:t>specification.</a:t>
            </a:r>
          </a:p>
          <a:p>
            <a:pPr lvl="2"/>
            <a:r>
              <a:rPr lang="en-US" sz="2000" dirty="0" smtClean="0"/>
              <a:t>Produce functionality/code </a:t>
            </a:r>
            <a:r>
              <a:rPr lang="en-US" sz="2000" dirty="0"/>
              <a:t>to fulfill that </a:t>
            </a:r>
            <a:r>
              <a:rPr lang="en-US" sz="2000" dirty="0" smtClean="0"/>
              <a:t>test.</a:t>
            </a:r>
          </a:p>
          <a:p>
            <a:pPr lvl="2"/>
            <a:r>
              <a:rPr lang="en-US" sz="2000" dirty="0" smtClean="0"/>
              <a:t>Also known as Behavior </a:t>
            </a:r>
            <a:r>
              <a:rPr lang="en-US" sz="2000" dirty="0"/>
              <a:t>Driven Development (BDD</a:t>
            </a:r>
            <a:r>
              <a:rPr lang="en-US" sz="2000" dirty="0" smtClean="0"/>
              <a:t>).</a:t>
            </a:r>
          </a:p>
          <a:p>
            <a:pPr lvl="1"/>
            <a:r>
              <a:rPr lang="en-US" sz="2000" dirty="0" smtClean="0"/>
              <a:t>Developer TDD</a:t>
            </a:r>
          </a:p>
          <a:p>
            <a:pPr lvl="2"/>
            <a:r>
              <a:rPr lang="en-US" sz="2000" dirty="0" smtClean="0"/>
              <a:t>Write single developer test</a:t>
            </a:r>
          </a:p>
          <a:p>
            <a:pPr lvl="2"/>
            <a:r>
              <a:rPr lang="en-US" sz="2000" dirty="0" smtClean="0"/>
              <a:t>Produce code to fulfill that test.</a:t>
            </a:r>
          </a:p>
          <a:p>
            <a:pPr lvl="2"/>
            <a:r>
              <a:rPr lang="en-US" sz="2000" dirty="0" smtClean="0"/>
              <a:t>Simply called as TDD</a:t>
            </a:r>
            <a:endParaRPr lang="en-US" sz="2000" dirty="0"/>
          </a:p>
        </p:txBody>
      </p:sp>
    </p:spTree>
    <p:extLst>
      <p:ext uri="{BB962C8B-B14F-4D97-AF65-F5344CB8AC3E}">
        <p14:creationId xmlns:p14="http://schemas.microsoft.com/office/powerpoint/2010/main" val="3157653754"/>
      </p:ext>
    </p:extLst>
  </p:cSld>
  <p:clrMapOvr>
    <a:masterClrMapping/>
  </p:clrMapOvr>
  <p:transition spd="med">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sp>
        <p:nvSpPr>
          <p:cNvPr id="72" name="TextBox 71"/>
          <p:cNvSpPr txBox="1"/>
          <p:nvPr/>
        </p:nvSpPr>
        <p:spPr>
          <a:xfrm>
            <a:off x="711201" y="1203269"/>
            <a:ext cx="2757761" cy="369332"/>
          </a:xfrm>
          <a:prstGeom prst="rect">
            <a:avLst/>
          </a:prstGeom>
          <a:noFill/>
          <a:ln>
            <a:noFill/>
          </a:ln>
        </p:spPr>
        <p:txBody>
          <a:bodyPr wrap="square" rtlCol="0">
            <a:spAutoFit/>
          </a:bodyPr>
          <a:lstStyle/>
          <a:p>
            <a:r>
              <a:rPr lang="en-US" b="1" dirty="0" smtClean="0">
                <a:solidFill>
                  <a:srgbClr val="FF0000"/>
                </a:solidFill>
              </a:rPr>
              <a:t>Acceptance TDD</a:t>
            </a:r>
            <a:endParaRPr lang="en-US" b="1" dirty="0">
              <a:solidFill>
                <a:srgbClr val="FF0000"/>
              </a:solidFill>
            </a:endParaRPr>
          </a:p>
        </p:txBody>
      </p:sp>
      <p:sp>
        <p:nvSpPr>
          <p:cNvPr id="108" name="TextBox 107"/>
          <p:cNvSpPr txBox="1"/>
          <p:nvPr/>
        </p:nvSpPr>
        <p:spPr>
          <a:xfrm>
            <a:off x="8700688" y="1219200"/>
            <a:ext cx="2757761" cy="369332"/>
          </a:xfrm>
          <a:prstGeom prst="rect">
            <a:avLst/>
          </a:prstGeom>
          <a:noFill/>
          <a:ln>
            <a:noFill/>
          </a:ln>
        </p:spPr>
        <p:txBody>
          <a:bodyPr wrap="square" rtlCol="0">
            <a:spAutoFit/>
          </a:bodyPr>
          <a:lstStyle/>
          <a:p>
            <a:r>
              <a:rPr lang="en-US" b="1" dirty="0" smtClean="0">
                <a:solidFill>
                  <a:srgbClr val="00B050"/>
                </a:solidFill>
              </a:rPr>
              <a:t>Developer TDD</a:t>
            </a:r>
            <a:endParaRPr lang="en-US" b="1" dirty="0">
              <a:solidFill>
                <a:srgbClr val="00B050"/>
              </a:solidFill>
            </a:endParaRPr>
          </a:p>
        </p:txBody>
      </p:sp>
      <p:pic>
        <p:nvPicPr>
          <p:cNvPr id="2050" name="Picture 2"/>
          <p:cNvPicPr>
            <a:picLocks noChangeAspect="1" noChangeArrowheads="1"/>
          </p:cNvPicPr>
          <p:nvPr/>
        </p:nvPicPr>
        <p:blipFill>
          <a:blip r:embed="rId3"/>
          <a:srcRect/>
          <a:stretch>
            <a:fillRect/>
          </a:stretch>
        </p:blipFill>
        <p:spPr bwMode="auto">
          <a:xfrm>
            <a:off x="722313" y="1190625"/>
            <a:ext cx="10593387" cy="5487356"/>
          </a:xfrm>
          <a:prstGeom prst="rect">
            <a:avLst/>
          </a:prstGeom>
          <a:noFill/>
          <a:ln w="9525">
            <a:noFill/>
            <a:miter lim="800000"/>
            <a:headEnd/>
            <a:tailEnd/>
          </a:ln>
          <a:effectLst/>
        </p:spPr>
      </p:pic>
      <p:sp>
        <p:nvSpPr>
          <p:cNvPr id="52" name="Rectangle 51"/>
          <p:cNvSpPr/>
          <p:nvPr/>
        </p:nvSpPr>
        <p:spPr>
          <a:xfrm>
            <a:off x="406400" y="1143000"/>
            <a:ext cx="5892800" cy="5638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836832" y="1143000"/>
            <a:ext cx="4847169" cy="56388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270283"/>
      </p:ext>
    </p:extLst>
  </p:cSld>
  <p:clrMapOvr>
    <a:masterClrMapping/>
  </p:clrMapOvr>
  <p:transition spd="med">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Acceptance TDD vs. Developer TDD</a:t>
            </a:r>
            <a:endParaRPr lang="en-GB" dirty="0"/>
          </a:p>
        </p:txBody>
      </p:sp>
      <p:sp>
        <p:nvSpPr>
          <p:cNvPr id="3" name="Content Placeholder 2"/>
          <p:cNvSpPr>
            <a:spLocks noGrp="1"/>
          </p:cNvSpPr>
          <p:nvPr>
            <p:ph idx="1"/>
          </p:nvPr>
        </p:nvSpPr>
        <p:spPr/>
        <p:txBody>
          <a:bodyPr/>
          <a:lstStyle/>
          <a:p>
            <a:pPr algn="just">
              <a:buNone/>
            </a:pPr>
            <a:r>
              <a:rPr lang="en-GB" b="1" dirty="0" smtClean="0"/>
              <a:t>The scenario: </a:t>
            </a:r>
          </a:p>
          <a:p>
            <a:pPr algn="just"/>
            <a:r>
              <a:rPr lang="en-GB" dirty="0" smtClean="0"/>
              <a:t>You’re a developer on a team responsible for the company accounting system, implemented in Rails. One day, a business person asks you to implement a reminder system to remind clients of their pending invoices. Because you’re practicing BDD, you sit down with that business person and start defining behaviours.</a:t>
            </a:r>
          </a:p>
          <a:p>
            <a:pPr algn="just"/>
            <a:r>
              <a:rPr lang="en-GB" dirty="0" smtClean="0"/>
              <a:t>You open your text editor and start creating pending specs for the behaviours the business user wants:</a:t>
            </a:r>
          </a:p>
          <a:p>
            <a:pPr lvl="1" algn="just"/>
            <a:r>
              <a:rPr lang="en-GB" sz="2000" dirty="0" smtClean="0"/>
              <a:t>It "adds a reminder date when an invoice is created" </a:t>
            </a:r>
          </a:p>
          <a:p>
            <a:pPr lvl="1" algn="just"/>
            <a:r>
              <a:rPr lang="en-GB" sz="2000" dirty="0" smtClean="0"/>
              <a:t>It "sends an email to the invoice's account's primary contact after the reminder date has passed" </a:t>
            </a:r>
          </a:p>
          <a:p>
            <a:pPr lvl="1" algn="just"/>
            <a:r>
              <a:rPr lang="en-GB" sz="2000" dirty="0" smtClean="0"/>
              <a:t>It "marks that the user has read the email"</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Acceptance TDD vs. Developer TDD</a:t>
            </a:r>
            <a:endParaRPr lang="en-GB" dirty="0"/>
          </a:p>
        </p:txBody>
      </p:sp>
      <p:sp>
        <p:nvSpPr>
          <p:cNvPr id="3" name="Content Placeholder 2"/>
          <p:cNvSpPr>
            <a:spLocks noGrp="1"/>
          </p:cNvSpPr>
          <p:nvPr>
            <p:ph idx="1"/>
          </p:nvPr>
        </p:nvSpPr>
        <p:spPr/>
        <p:txBody>
          <a:bodyPr>
            <a:normAutofit/>
          </a:bodyPr>
          <a:lstStyle/>
          <a:p>
            <a:r>
              <a:rPr lang="en-GB" dirty="0" smtClean="0"/>
              <a:t>Some developers prefer to write test cases on the spot, calling methods in the system, setting up expectations, like so:</a:t>
            </a:r>
          </a:p>
          <a:p>
            <a:pPr lvl="1"/>
            <a:r>
              <a:rPr lang="en-GB" sz="2000" dirty="0" smtClean="0"/>
              <a:t>it "adds a reminder date when an invoice is created</a:t>
            </a:r>
            <a:r>
              <a:rPr lang="en-GB" sz="2000" smtClean="0"/>
              <a:t>" </a:t>
            </a:r>
          </a:p>
          <a:p>
            <a:pPr lvl="1"/>
            <a:r>
              <a:rPr lang="en-GB" sz="2000" smtClean="0"/>
              <a:t>do </a:t>
            </a:r>
            <a:endParaRPr lang="en-GB" sz="2000" dirty="0" smtClean="0"/>
          </a:p>
          <a:p>
            <a:pPr lvl="1"/>
            <a:r>
              <a:rPr lang="en-GB" sz="2000" dirty="0" err="1" smtClean="0"/>
              <a:t>current_invoice</a:t>
            </a:r>
            <a:r>
              <a:rPr lang="en-GB" sz="2000" dirty="0" smtClean="0"/>
              <a:t> = create :invoice </a:t>
            </a:r>
          </a:p>
          <a:p>
            <a:pPr lvl="1"/>
            <a:r>
              <a:rPr lang="en-GB" sz="2000" dirty="0" err="1" smtClean="0"/>
              <a:t>current_invoice.reminder_date.should</a:t>
            </a:r>
            <a:r>
              <a:rPr lang="en-GB" sz="2000" dirty="0" smtClean="0"/>
              <a:t> == 20.days.from_now </a:t>
            </a:r>
          </a:p>
          <a:p>
            <a:pPr lvl="1"/>
            <a:r>
              <a:rPr lang="en-GB" sz="2000" dirty="0" smtClean="0"/>
              <a:t>End</a:t>
            </a:r>
          </a:p>
          <a:p>
            <a:r>
              <a:rPr lang="en-GB" dirty="0" smtClean="0"/>
              <a:t>Let’s look at this a different way, with a Test-Driven Development approach, and write out pending tests:</a:t>
            </a:r>
          </a:p>
          <a:p>
            <a:pPr lvl="1"/>
            <a:r>
              <a:rPr lang="en-GB" sz="2000" dirty="0" smtClean="0"/>
              <a:t>it "</a:t>
            </a:r>
            <a:r>
              <a:rPr lang="en-GB" sz="2000" dirty="0" err="1" smtClean="0"/>
              <a:t>after_create</a:t>
            </a:r>
            <a:r>
              <a:rPr lang="en-GB" sz="2000" dirty="0" smtClean="0"/>
              <a:t> an Invoice sets a reminder date to be creation + 20 business days" </a:t>
            </a:r>
          </a:p>
          <a:p>
            <a:pPr lvl="1"/>
            <a:r>
              <a:rPr lang="en-GB" sz="2000" dirty="0" smtClean="0"/>
              <a:t>it "</a:t>
            </a:r>
            <a:r>
              <a:rPr lang="en-GB" sz="2000" dirty="0" err="1" smtClean="0"/>
              <a:t>Account#primary_payment_contact</a:t>
            </a:r>
            <a:r>
              <a:rPr lang="en-GB" sz="2000" dirty="0" smtClean="0"/>
              <a:t> returns the current payment contact or the client project manager" </a:t>
            </a:r>
          </a:p>
          <a:p>
            <a:pPr lvl="1"/>
            <a:r>
              <a:rPr lang="en-GB" sz="2000" dirty="0" smtClean="0"/>
              <a:t>it "</a:t>
            </a:r>
            <a:r>
              <a:rPr lang="en-GB" sz="2000" dirty="0" err="1" smtClean="0"/>
              <a:t>InvoiceChecker#mailer</a:t>
            </a:r>
            <a:r>
              <a:rPr lang="en-GB" sz="2000" dirty="0" smtClean="0"/>
              <a:t> finds invoices that are overdue and sends the email"</a:t>
            </a:r>
            <a:endParaRPr lang="en-GB"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smtClean="0"/>
              <a:t>Test Driven Development</a:t>
            </a:r>
            <a:endParaRPr lang="en-US" altLang="en-US" dirty="0"/>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598769953"/>
              </p:ext>
            </p:extLst>
          </p:nvPr>
        </p:nvGraphicFramePr>
        <p:xfrm>
          <a:off x="873754" y="1682934"/>
          <a:ext cx="10490200" cy="4079240"/>
        </p:xfrm>
        <a:graphic>
          <a:graphicData uri="http://schemas.openxmlformats.org/drawingml/2006/table">
            <a:tbl>
              <a:tblPr firstRow="1" bandRow="1">
                <a:tableStyleId>{5C22544A-7EE6-4342-B048-85BDC9FD1C3A}</a:tableStyleId>
              </a:tblPr>
              <a:tblGrid>
                <a:gridCol w="1117600"/>
                <a:gridCol w="4165600"/>
                <a:gridCol w="1016000"/>
                <a:gridCol w="1016000"/>
                <a:gridCol w="1016000"/>
                <a:gridCol w="1016000"/>
                <a:gridCol w="1143000"/>
              </a:tblGrid>
              <a:tr h="370840">
                <a:tc>
                  <a:txBody>
                    <a:bodyPr/>
                    <a:lstStyle/>
                    <a:p>
                      <a:pPr marL="0" marR="0" algn="ctr">
                        <a:spcBef>
                          <a:spcPts val="0"/>
                        </a:spcBef>
                        <a:spcAft>
                          <a:spcPts val="0"/>
                        </a:spcAft>
                      </a:pPr>
                      <a:r>
                        <a:rPr lang="en-US" sz="1100" b="1" dirty="0">
                          <a:effectLst/>
                          <a:latin typeface="Times New Roman"/>
                          <a:ea typeface="Times New Roman"/>
                        </a:rPr>
                        <a:t>Test Case ID</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Description</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Input Data</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Expected Results</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Actual Results</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Pass / Fail</a:t>
                      </a:r>
                      <a:endParaRPr lang="en-US" sz="1200" dirty="0">
                        <a:effectLst/>
                        <a:latin typeface="Times New Roman"/>
                        <a:ea typeface="Times New Roman"/>
                      </a:endParaRPr>
                    </a:p>
                  </a:txBody>
                  <a:tcPr marT="0" marB="0"/>
                </a:tc>
                <a:tc>
                  <a:txBody>
                    <a:bodyPr/>
                    <a:lstStyle/>
                    <a:p>
                      <a:pPr marL="0" marR="0" algn="ctr">
                        <a:spcBef>
                          <a:spcPts val="0"/>
                        </a:spcBef>
                        <a:spcAft>
                          <a:spcPts val="0"/>
                        </a:spcAft>
                      </a:pPr>
                      <a:r>
                        <a:rPr lang="en-US" sz="1100" b="1" dirty="0">
                          <a:effectLst/>
                          <a:latin typeface="Times New Roman"/>
                          <a:ea typeface="Times New Roman"/>
                        </a:rPr>
                        <a:t>Remarks</a:t>
                      </a:r>
                      <a:endParaRPr lang="en-US" sz="1200" dirty="0">
                        <a:effectLst/>
                        <a:latin typeface="Times New Roman"/>
                        <a:ea typeface="Times New Roman"/>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UT001</a:t>
                      </a:r>
                      <a:endParaRPr kumimoji="0" lang="en-US" sz="1100" kern="1200" baseline="0" dirty="0">
                        <a:solidFill>
                          <a:schemeClr val="dk1"/>
                        </a:solidFill>
                        <a:effectLst/>
                        <a:latin typeface="Times New Roman"/>
                        <a:ea typeface="Times New Roman"/>
                        <a:cs typeface="+mn-cs"/>
                      </a:endParaRPr>
                    </a:p>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isDivisibleByThree</a:t>
                      </a:r>
                      <a:r>
                        <a:rPr kumimoji="0" lang="en-US" sz="1100" kern="1200" baseline="0" dirty="0" smtClean="0">
                          <a:solidFill>
                            <a:schemeClr val="dk1"/>
                          </a:solidFill>
                          <a:effectLst/>
                          <a:latin typeface="Times New Roman"/>
                          <a:ea typeface="Times New Roman"/>
                          <a:cs typeface="+mn-cs"/>
                        </a:rPr>
                        <a:t> returns true if any number is divisible by 3</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3</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True</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UT002</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isDivisibleByThree</a:t>
                      </a:r>
                      <a:r>
                        <a:rPr kumimoji="0" lang="en-US" sz="1100" kern="1200" baseline="0" dirty="0" smtClean="0">
                          <a:solidFill>
                            <a:schemeClr val="dk1"/>
                          </a:solidFill>
                          <a:effectLst/>
                          <a:latin typeface="Times New Roman"/>
                          <a:ea typeface="Times New Roman"/>
                          <a:cs typeface="+mn-cs"/>
                        </a:rPr>
                        <a:t> returns false if any number is not divisible by 3</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2</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False</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UT003</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isDivisibleByFive</a:t>
                      </a:r>
                      <a:r>
                        <a:rPr kumimoji="0" lang="en-US" sz="1100" kern="1200" baseline="0" dirty="0" smtClean="0">
                          <a:solidFill>
                            <a:schemeClr val="dk1"/>
                          </a:solidFill>
                          <a:effectLst/>
                          <a:latin typeface="Times New Roman"/>
                          <a:ea typeface="Times New Roman"/>
                          <a:cs typeface="+mn-cs"/>
                        </a:rPr>
                        <a:t> returns true if any number is divisible by 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5</a:t>
                      </a: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True</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c>
                  <a:txBody>
                    <a:bodyPr/>
                    <a:lstStyle/>
                    <a:p>
                      <a:pPr marL="0" marR="0">
                        <a:spcBef>
                          <a:spcPts val="0"/>
                        </a:spcBef>
                        <a:spcAft>
                          <a:spcPts val="0"/>
                        </a:spcAft>
                      </a:pPr>
                      <a:r>
                        <a:rPr kumimoji="0" lang="en-US" sz="1100" kern="1200" baseline="0" dirty="0">
                          <a:solidFill>
                            <a:schemeClr val="dk1"/>
                          </a:solidFill>
                          <a:effectLst/>
                          <a:latin typeface="Times New Roman"/>
                          <a:ea typeface="Times New Roman"/>
                          <a:cs typeface="+mn-cs"/>
                        </a:rPr>
                        <a:t> </a:t>
                      </a: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UT004</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isDivisibleByFive</a:t>
                      </a:r>
                      <a:r>
                        <a:rPr kumimoji="0" lang="en-US" sz="1100" kern="1200" baseline="0" dirty="0" smtClean="0">
                          <a:solidFill>
                            <a:schemeClr val="dk1"/>
                          </a:solidFill>
                          <a:effectLst/>
                          <a:latin typeface="Times New Roman"/>
                          <a:ea typeface="Times New Roman"/>
                          <a:cs typeface="+mn-cs"/>
                        </a:rPr>
                        <a:t> returns false if any number is not divisible by 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6</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False</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isDivisibleByFifteen</a:t>
                      </a:r>
                      <a:r>
                        <a:rPr kumimoji="0" lang="en-US" sz="1100" kern="1200" baseline="0" dirty="0" smtClean="0">
                          <a:solidFill>
                            <a:schemeClr val="dk1"/>
                          </a:solidFill>
                          <a:effectLst/>
                          <a:latin typeface="Times New Roman"/>
                          <a:ea typeface="Times New Roman"/>
                          <a:cs typeface="+mn-cs"/>
                        </a:rPr>
                        <a:t> returns true if any number is divisible by 15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30</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True</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UT006</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the function </a:t>
                      </a:r>
                      <a:r>
                        <a:rPr kumimoji="0" lang="en-US" sz="1100" kern="1200" baseline="0" dirty="0" err="1" smtClean="0">
                          <a:solidFill>
                            <a:schemeClr val="dk1"/>
                          </a:solidFill>
                          <a:effectLst/>
                          <a:latin typeface="Times New Roman"/>
                          <a:ea typeface="Times New Roman"/>
                          <a:cs typeface="+mn-cs"/>
                        </a:rPr>
                        <a:t>isDivisibleByFifteen</a:t>
                      </a:r>
                      <a:r>
                        <a:rPr kumimoji="0" lang="en-US" sz="1100" kern="1200" baseline="0" dirty="0" smtClean="0">
                          <a:solidFill>
                            <a:schemeClr val="dk1"/>
                          </a:solidFill>
                          <a:effectLst/>
                          <a:latin typeface="Times New Roman"/>
                          <a:ea typeface="Times New Roman"/>
                          <a:cs typeface="+mn-cs"/>
                        </a:rPr>
                        <a:t> returns false if any number is not divisible by 15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25</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False</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UT007</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function </a:t>
                      </a:r>
                      <a:r>
                        <a:rPr kumimoji="0" lang="en-US" sz="1100" kern="1200" baseline="0" dirty="0" err="1" smtClean="0">
                          <a:solidFill>
                            <a:schemeClr val="dk1"/>
                          </a:solidFill>
                          <a:effectLst/>
                          <a:latin typeface="Times New Roman"/>
                          <a:ea typeface="Times New Roman"/>
                          <a:cs typeface="+mn-cs"/>
                        </a:rPr>
                        <a:t>fizzBuzz</a:t>
                      </a:r>
                      <a:r>
                        <a:rPr kumimoji="0" lang="en-US" sz="1100" kern="1200" baseline="0" dirty="0" smtClean="0">
                          <a:solidFill>
                            <a:schemeClr val="dk1"/>
                          </a:solidFill>
                          <a:effectLst/>
                          <a:latin typeface="Times New Roman"/>
                          <a:ea typeface="Times New Roman"/>
                          <a:cs typeface="+mn-cs"/>
                        </a:rPr>
                        <a:t> returns number if a number is passed to it</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1</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1</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UT008</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function </a:t>
                      </a:r>
                      <a:r>
                        <a:rPr kumimoji="0" lang="en-US" sz="1100" kern="1200" baseline="0" dirty="0" err="1" smtClean="0">
                          <a:solidFill>
                            <a:schemeClr val="dk1"/>
                          </a:solidFill>
                          <a:effectLst/>
                          <a:latin typeface="Times New Roman"/>
                          <a:ea typeface="Times New Roman"/>
                          <a:cs typeface="+mn-cs"/>
                        </a:rPr>
                        <a:t>fizzBuzz</a:t>
                      </a:r>
                      <a:r>
                        <a:rPr kumimoji="0" lang="en-US" sz="1100" kern="1200" baseline="0" dirty="0" smtClean="0">
                          <a:solidFill>
                            <a:schemeClr val="dk1"/>
                          </a:solidFill>
                          <a:effectLst/>
                          <a:latin typeface="Times New Roman"/>
                          <a:ea typeface="Times New Roman"/>
                          <a:cs typeface="+mn-cs"/>
                        </a:rPr>
                        <a:t> returns </a:t>
                      </a:r>
                      <a:r>
                        <a:rPr kumimoji="0" lang="en-US" sz="1100" kern="1200" baseline="0" dirty="0" err="1" smtClean="0">
                          <a:solidFill>
                            <a:schemeClr val="dk1"/>
                          </a:solidFill>
                          <a:effectLst/>
                          <a:latin typeface="Times New Roman"/>
                          <a:ea typeface="Times New Roman"/>
                          <a:cs typeface="+mn-cs"/>
                        </a:rPr>
                        <a:t>FizzBuzz</a:t>
                      </a:r>
                      <a:r>
                        <a:rPr kumimoji="0" lang="en-US" sz="1100" kern="1200" baseline="0" dirty="0" smtClean="0">
                          <a:solidFill>
                            <a:schemeClr val="dk1"/>
                          </a:solidFill>
                          <a:effectLst/>
                          <a:latin typeface="Times New Roman"/>
                          <a:ea typeface="Times New Roman"/>
                          <a:cs typeface="+mn-cs"/>
                        </a:rPr>
                        <a:t> if a number divisible by 15 is passed to it </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30</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err="1" smtClean="0">
                          <a:solidFill>
                            <a:schemeClr val="dk1"/>
                          </a:solidFill>
                          <a:effectLst/>
                          <a:latin typeface="Times New Roman"/>
                          <a:ea typeface="Times New Roman"/>
                          <a:cs typeface="+mn-cs"/>
                        </a:rPr>
                        <a:t>FizzBuzz</a:t>
                      </a:r>
                      <a:endParaRPr kumimoji="0" lang="en-US" sz="1100" kern="1200" baseline="0" dirty="0" smtClean="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UT009</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function </a:t>
                      </a:r>
                      <a:r>
                        <a:rPr kumimoji="0" lang="en-US" sz="1100" kern="1200" baseline="0" dirty="0" err="1" smtClean="0">
                          <a:solidFill>
                            <a:schemeClr val="dk1"/>
                          </a:solidFill>
                          <a:effectLst/>
                          <a:latin typeface="Times New Roman"/>
                          <a:ea typeface="Times New Roman"/>
                          <a:cs typeface="+mn-cs"/>
                        </a:rPr>
                        <a:t>fizzBuzz</a:t>
                      </a:r>
                      <a:r>
                        <a:rPr kumimoji="0" lang="en-US" sz="1100" kern="1200" baseline="0" dirty="0" smtClean="0">
                          <a:solidFill>
                            <a:schemeClr val="dk1"/>
                          </a:solidFill>
                          <a:effectLst/>
                          <a:latin typeface="Times New Roman"/>
                          <a:ea typeface="Times New Roman"/>
                          <a:cs typeface="+mn-cs"/>
                        </a:rPr>
                        <a:t> returns Fizz if a number divisible by 3 is passed to it </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9</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Fizz</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r h="370840">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UT010</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To test that function </a:t>
                      </a:r>
                      <a:r>
                        <a:rPr kumimoji="0" lang="en-US" sz="1100" kern="1200" baseline="0" dirty="0" err="1" smtClean="0">
                          <a:solidFill>
                            <a:schemeClr val="dk1"/>
                          </a:solidFill>
                          <a:effectLst/>
                          <a:latin typeface="Times New Roman"/>
                          <a:ea typeface="Times New Roman"/>
                          <a:cs typeface="+mn-cs"/>
                        </a:rPr>
                        <a:t>fizzBuzz</a:t>
                      </a:r>
                      <a:r>
                        <a:rPr kumimoji="0" lang="en-US" sz="1100" kern="1200" baseline="0" dirty="0" smtClean="0">
                          <a:solidFill>
                            <a:schemeClr val="dk1"/>
                          </a:solidFill>
                          <a:effectLst/>
                          <a:latin typeface="Times New Roman"/>
                          <a:ea typeface="Times New Roman"/>
                          <a:cs typeface="+mn-cs"/>
                        </a:rPr>
                        <a:t> returns Buzz if a number divisible by 5 is passed to it </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r>
                        <a:rPr kumimoji="0" lang="en-US" sz="1100" kern="1200" baseline="0" dirty="0" smtClean="0">
                          <a:solidFill>
                            <a:schemeClr val="dk1"/>
                          </a:solidFill>
                          <a:effectLst/>
                          <a:latin typeface="Times New Roman"/>
                          <a:ea typeface="Times New Roman"/>
                          <a:cs typeface="+mn-cs"/>
                        </a:rPr>
                        <a:t>20</a:t>
                      </a: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kern="1200" baseline="0" dirty="0" smtClean="0">
                          <a:solidFill>
                            <a:schemeClr val="dk1"/>
                          </a:solidFill>
                          <a:effectLst/>
                          <a:latin typeface="Times New Roman"/>
                          <a:ea typeface="Times New Roman"/>
                          <a:cs typeface="+mn-cs"/>
                        </a:rPr>
                        <a:t>Buzz</a:t>
                      </a: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c>
                  <a:txBody>
                    <a:bodyPr/>
                    <a:lstStyle/>
                    <a:p>
                      <a:pPr marL="0" marR="0">
                        <a:spcBef>
                          <a:spcPts val="0"/>
                        </a:spcBef>
                        <a:spcAft>
                          <a:spcPts val="0"/>
                        </a:spcAft>
                      </a:pPr>
                      <a:endParaRPr kumimoji="0" lang="en-US" sz="1100" kern="1200" baseline="0" dirty="0">
                        <a:solidFill>
                          <a:schemeClr val="dk1"/>
                        </a:solidFill>
                        <a:effectLst/>
                        <a:latin typeface="Times New Roman"/>
                        <a:ea typeface="Times New Roman"/>
                        <a:cs typeface="+mn-cs"/>
                      </a:endParaRPr>
                    </a:p>
                  </a:txBody>
                  <a:tcPr marT="0" marB="0"/>
                </a:tc>
              </a:tr>
            </a:tbl>
          </a:graphicData>
        </a:graphic>
      </p:graphicFrame>
    </p:spTree>
    <p:extLst>
      <p:ext uri="{BB962C8B-B14F-4D97-AF65-F5344CB8AC3E}">
        <p14:creationId xmlns:p14="http://schemas.microsoft.com/office/powerpoint/2010/main" val="3332354712"/>
      </p:ext>
    </p:extLst>
  </p:cSld>
  <p:clrMapOvr>
    <a:masterClrMapping/>
  </p:clrMapOvr>
  <p:transition spd="med">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Test Driven Development</a:t>
            </a:r>
            <a:endParaRPr lang="en-US" dirty="0"/>
          </a:p>
        </p:txBody>
      </p:sp>
      <p:sp>
        <p:nvSpPr>
          <p:cNvPr id="3" name="Content Placeholder 2"/>
          <p:cNvSpPr>
            <a:spLocks noGrp="1"/>
          </p:cNvSpPr>
          <p:nvPr>
            <p:ph idx="1"/>
          </p:nvPr>
        </p:nvSpPr>
        <p:spPr>
          <a:xfrm>
            <a:off x="1104900" y="1600199"/>
            <a:ext cx="9982200" cy="4996543"/>
          </a:xfrm>
        </p:spPr>
        <p:txBody>
          <a:bodyPr>
            <a:noAutofit/>
          </a:bodyPr>
          <a:lstStyle/>
          <a:p>
            <a:pPr algn="just"/>
            <a:r>
              <a:rPr lang="en-US" b="1" dirty="0" smtClean="0"/>
              <a:t>Code coverage</a:t>
            </a:r>
          </a:p>
          <a:p>
            <a:pPr lvl="1" algn="just"/>
            <a:r>
              <a:rPr lang="en-US" sz="2000" dirty="0" smtClean="0"/>
              <a:t>Every </a:t>
            </a:r>
            <a:r>
              <a:rPr lang="en-US" sz="2000" dirty="0"/>
              <a:t>code segment that you write should have </a:t>
            </a:r>
            <a:r>
              <a:rPr lang="en-US" sz="2000" dirty="0" smtClean="0"/>
              <a:t>at least </a:t>
            </a:r>
            <a:r>
              <a:rPr lang="en-US" sz="2000" dirty="0"/>
              <a:t>one associated </a:t>
            </a:r>
            <a:r>
              <a:rPr lang="en-US" sz="2000" dirty="0" smtClean="0"/>
              <a:t>test. You </a:t>
            </a:r>
            <a:r>
              <a:rPr lang="en-US" sz="2000" dirty="0"/>
              <a:t>can be confident that all of the code </a:t>
            </a:r>
            <a:r>
              <a:rPr lang="en-US" sz="2000" dirty="0" smtClean="0"/>
              <a:t>in </a:t>
            </a:r>
            <a:r>
              <a:rPr lang="en-US" sz="2000" dirty="0"/>
              <a:t>the system has actually been </a:t>
            </a:r>
            <a:r>
              <a:rPr lang="en-US" sz="2000" dirty="0" smtClean="0"/>
              <a:t>executed</a:t>
            </a:r>
          </a:p>
          <a:p>
            <a:pPr algn="just"/>
            <a:r>
              <a:rPr lang="en-US" b="1" dirty="0"/>
              <a:t>Regression </a:t>
            </a:r>
            <a:r>
              <a:rPr lang="en-US" b="1" dirty="0" smtClean="0"/>
              <a:t>testing</a:t>
            </a:r>
          </a:p>
          <a:p>
            <a:pPr lvl="1" algn="just"/>
            <a:r>
              <a:rPr lang="en-US" sz="2000" dirty="0" smtClean="0"/>
              <a:t>Run </a:t>
            </a:r>
            <a:r>
              <a:rPr lang="en-US" sz="2000" dirty="0"/>
              <a:t>regression tests to check that changes to the </a:t>
            </a:r>
            <a:r>
              <a:rPr lang="en-US" sz="2000" dirty="0" smtClean="0"/>
              <a:t>program have </a:t>
            </a:r>
            <a:r>
              <a:rPr lang="en-US" sz="2000" dirty="0"/>
              <a:t>not introduced new bugs</a:t>
            </a:r>
            <a:r>
              <a:rPr lang="en-US" sz="2000" dirty="0" smtClean="0"/>
              <a:t>.</a:t>
            </a:r>
          </a:p>
          <a:p>
            <a:pPr algn="just"/>
            <a:r>
              <a:rPr lang="en-US" b="1" dirty="0" smtClean="0"/>
              <a:t>Simplified debugging</a:t>
            </a:r>
          </a:p>
          <a:p>
            <a:pPr lvl="1" algn="just"/>
            <a:r>
              <a:rPr lang="en-US" sz="2000" dirty="0" smtClean="0"/>
              <a:t>When a test fails, it should be obvious where the problem lies. The newly written code needs to be checked and modified. You do not need to use debugging tools to locate the problem</a:t>
            </a:r>
          </a:p>
          <a:p>
            <a:pPr algn="just"/>
            <a:r>
              <a:rPr lang="en-US" b="1" dirty="0" smtClean="0"/>
              <a:t>System documentation</a:t>
            </a:r>
          </a:p>
          <a:p>
            <a:pPr lvl="1" algn="just"/>
            <a:r>
              <a:rPr lang="en-US" sz="2000" dirty="0" smtClean="0"/>
              <a:t>The tests themselves act as a form of documentation that describe what the code should be doing.</a:t>
            </a:r>
          </a:p>
          <a:p>
            <a:pPr lvl="1" algn="just">
              <a:buNone/>
            </a:pPr>
            <a:endParaRPr lang="en-US" sz="2000" dirty="0" smtClean="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Driven Development Using Standard Libraries</a:t>
            </a:r>
            <a:endParaRPr lang="en-US" dirty="0"/>
          </a:p>
        </p:txBody>
      </p:sp>
      <p:sp>
        <p:nvSpPr>
          <p:cNvPr id="3" name="Content Placeholder 2"/>
          <p:cNvSpPr>
            <a:spLocks noGrp="1"/>
          </p:cNvSpPr>
          <p:nvPr>
            <p:ph idx="1"/>
          </p:nvPr>
        </p:nvSpPr>
        <p:spPr/>
        <p:txBody>
          <a:bodyPr>
            <a:normAutofit/>
          </a:bodyPr>
          <a:lstStyle/>
          <a:p>
            <a:pPr algn="just"/>
            <a:r>
              <a:rPr lang="en-US" dirty="0" smtClean="0"/>
              <a:t>Test-driven </a:t>
            </a:r>
            <a:r>
              <a:rPr lang="en-US" dirty="0"/>
              <a:t>development </a:t>
            </a:r>
            <a:r>
              <a:rPr lang="en-US" dirty="0" smtClean="0"/>
              <a:t>is of most use when development is done by </a:t>
            </a:r>
            <a:r>
              <a:rPr lang="en-US" dirty="0"/>
              <a:t>using well-tested </a:t>
            </a:r>
            <a:r>
              <a:rPr lang="en-US" dirty="0" smtClean="0"/>
              <a:t>standard libraries.</a:t>
            </a:r>
          </a:p>
          <a:p>
            <a:pPr algn="just"/>
            <a:r>
              <a:rPr lang="en-US" dirty="0" smtClean="0"/>
              <a:t>In case of you use libraries, </a:t>
            </a:r>
            <a:r>
              <a:rPr lang="en-US" dirty="0"/>
              <a:t>you </a:t>
            </a:r>
            <a:r>
              <a:rPr lang="en-US" dirty="0" smtClean="0"/>
              <a:t>need to </a:t>
            </a:r>
            <a:r>
              <a:rPr lang="en-US" dirty="0"/>
              <a:t>write tests for these systems as a whole</a:t>
            </a:r>
            <a:r>
              <a:rPr lang="en-US" dirty="0" smtClean="0"/>
              <a:t> </a:t>
            </a:r>
          </a:p>
          <a:p>
            <a:pPr algn="just"/>
            <a:r>
              <a:rPr lang="en-US" dirty="0" smtClean="0"/>
              <a:t>If you use test-driven development, you still need a system testing process to check that it meets the requirements of all of the system stakeholders</a:t>
            </a:r>
          </a:p>
          <a:p>
            <a:pPr algn="just"/>
            <a:r>
              <a:rPr lang="en-US" dirty="0" smtClean="0"/>
              <a:t>System testing also tests performance, reliability, and checks that the system does not do things that it shouldn’t do</a:t>
            </a:r>
          </a:p>
          <a:p>
            <a:pPr algn="just"/>
            <a:r>
              <a:rPr lang="en-US" dirty="0" smtClean="0"/>
              <a:t>Test-driven development is a successful approach for small and medium-sized projects</a:t>
            </a:r>
          </a:p>
        </p:txBody>
      </p:sp>
    </p:spTree>
  </p:cSld>
  <p:clrMapOvr>
    <a:masterClrMapping/>
  </p:clrMapOvr>
  <p:transition spd="med">
    <p:fade/>
  </p:transition>
</p:sld>
</file>

<file path=ppt/theme/theme1.xml><?xml version="1.0" encoding="utf-8"?>
<a:theme xmlns:a="http://schemas.openxmlformats.org/drawingml/2006/main" name="tf03431380">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tf03431380</Template>
  <TotalTime>1102</TotalTime>
  <Words>3846</Words>
  <Application>Microsoft Office PowerPoint</Application>
  <PresentationFormat>Widescreen</PresentationFormat>
  <Paragraphs>515</Paragraphs>
  <Slides>50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Castellar</vt:lpstr>
      <vt:lpstr>Euphemia</vt:lpstr>
      <vt:lpstr>Plantagenet Cherokee</vt:lpstr>
      <vt:lpstr>Times New Roman</vt:lpstr>
      <vt:lpstr>Wingdings</vt:lpstr>
      <vt:lpstr>tf03431380</vt:lpstr>
      <vt:lpstr>CSE 455 Software Testing</vt:lpstr>
      <vt:lpstr>   Course instructor            Yella mehroze</vt:lpstr>
      <vt:lpstr>TEST CASES</vt:lpstr>
      <vt:lpstr>Outline</vt:lpstr>
      <vt:lpstr>Test Case</vt:lpstr>
      <vt:lpstr>Test Case Template</vt:lpstr>
      <vt:lpstr>Test Case Template</vt:lpstr>
      <vt:lpstr>Test Case Template</vt:lpstr>
      <vt:lpstr>Test Case Template</vt:lpstr>
      <vt:lpstr>Test Case Template</vt:lpstr>
      <vt:lpstr>Test Case Template</vt:lpstr>
      <vt:lpstr>Level of Detail For Test Case</vt:lpstr>
      <vt:lpstr>Level of Detail For Test Case</vt:lpstr>
      <vt:lpstr>Good Test Cases</vt:lpstr>
      <vt:lpstr>TIPS for writing good test cases</vt:lpstr>
      <vt:lpstr>Bad Test Cases</vt:lpstr>
      <vt:lpstr>Test Procedure </vt:lpstr>
      <vt:lpstr>Test Procedure </vt:lpstr>
      <vt:lpstr>Test Procedure Showing How Much Detail Should Be Involved</vt:lpstr>
      <vt:lpstr>Test Case Organization and Tracking</vt:lpstr>
      <vt:lpstr>Test Case Organization and Tracking</vt:lpstr>
      <vt:lpstr>Test Case Organization and Tracking</vt:lpstr>
      <vt:lpstr>PowerPoint Presentation</vt:lpstr>
      <vt:lpstr>Testing Life Cycle</vt:lpstr>
      <vt:lpstr>Testing Life Cycle</vt:lpstr>
      <vt:lpstr>SDLC Models and Testing</vt:lpstr>
      <vt:lpstr>Product development activity represented as Waterfall Model</vt:lpstr>
      <vt:lpstr>Phases of testing for different development phases</vt:lpstr>
      <vt:lpstr>The V Model</vt:lpstr>
      <vt:lpstr>The V Model</vt:lpstr>
      <vt:lpstr>The V Model</vt:lpstr>
      <vt:lpstr>The V Model</vt:lpstr>
      <vt:lpstr>The V Model</vt:lpstr>
      <vt:lpstr>The V Model</vt:lpstr>
      <vt:lpstr>V-Model</vt:lpstr>
      <vt:lpstr>V-Model</vt:lpstr>
      <vt:lpstr>Modified V-Model</vt:lpstr>
      <vt:lpstr>Modified V-Model</vt:lpstr>
      <vt:lpstr>Modified V-Model</vt:lpstr>
      <vt:lpstr>Test Driven Development</vt:lpstr>
      <vt:lpstr>Test Driven Development</vt:lpstr>
      <vt:lpstr>Test Driven Development</vt:lpstr>
      <vt:lpstr>Test Driven Development</vt:lpstr>
      <vt:lpstr>Test Driven Development</vt:lpstr>
      <vt:lpstr>Test Driven Development</vt:lpstr>
      <vt:lpstr>Acceptance TDD vs. Developer TDD</vt:lpstr>
      <vt:lpstr>Acceptance TDD vs. Developer TDD</vt:lpstr>
      <vt:lpstr>Test Driven Development</vt:lpstr>
      <vt:lpstr>Benefits of Test Driven Development</vt:lpstr>
      <vt:lpstr>Test Driven Development Using Standard Libraries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sabeen amjad</dc:creator>
  <cp:lastModifiedBy>Yella</cp:lastModifiedBy>
  <cp:revision>196</cp:revision>
  <dcterms:created xsi:type="dcterms:W3CDTF">2017-08-14T06:59:46Z</dcterms:created>
  <dcterms:modified xsi:type="dcterms:W3CDTF">2021-09-19T06:35:28Z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