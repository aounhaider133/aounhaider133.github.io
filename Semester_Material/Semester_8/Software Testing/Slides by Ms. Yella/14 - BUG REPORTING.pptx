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Jacques Francois Shadow"/>
      <p:regular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http://customooxmlschemas.google.com/">
      <go:slidesCustomData xmlns:go="http://customooxmlschemas.google.com/" r:id="rId37" roundtripDataSignature="AMtx7mis+8pEDMOF30SCY0VUwWr4SfpN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JacquesFrancoisShadow-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i="1">
              <a:latin typeface="Arial"/>
              <a:ea typeface="Arial"/>
              <a:cs typeface="Arial"/>
              <a:sym typeface="Arial"/>
            </a:endParaRPr>
          </a:p>
        </p:txBody>
      </p:sp>
      <p:sp>
        <p:nvSpPr>
          <p:cNvPr id="118" name="Google Shape;1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i="1">
              <a:latin typeface="Arial"/>
              <a:ea typeface="Arial"/>
              <a:cs typeface="Arial"/>
              <a:sym typeface="Arial"/>
            </a:endParaRPr>
          </a:p>
        </p:txBody>
      </p:sp>
      <p:sp>
        <p:nvSpPr>
          <p:cNvPr id="134" name="Google Shape;13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t>Deferred</a:t>
            </a:r>
            <a:r>
              <a:rPr lang="en-US"/>
              <a:t> means </a:t>
            </a:r>
            <a:r>
              <a:rPr lang="en-US" sz="1200"/>
              <a:t>postponed for fixing in next release</a:t>
            </a:r>
            <a:endParaRPr/>
          </a:p>
          <a:p>
            <a:pPr indent="0" lvl="0" marL="0" marR="0" rtl="0" algn="l">
              <a:lnSpc>
                <a:spcPct val="100000"/>
              </a:lnSpc>
              <a:spcBef>
                <a:spcPts val="0"/>
              </a:spcBef>
              <a:spcAft>
                <a:spcPts val="0"/>
              </a:spcAft>
              <a:buClr>
                <a:schemeClr val="dk1"/>
              </a:buClr>
              <a:buSzPts val="1200"/>
              <a:buFont typeface="Arial"/>
              <a:buNone/>
            </a:pPr>
            <a:r>
              <a:rPr lang="en-US" sz="1200"/>
              <a:t>The reasons for not fixing a bug include:</a:t>
            </a:r>
            <a:endParaRPr sz="1200"/>
          </a:p>
          <a:p>
            <a:pPr indent="0" lvl="0" marL="0" rtl="0" algn="l">
              <a:spcBef>
                <a:spcPts val="0"/>
              </a:spcBef>
              <a:spcAft>
                <a:spcPts val="0"/>
              </a:spcAft>
              <a:buNone/>
            </a:pPr>
            <a:r>
              <a:rPr lang="en-US" sz="1200"/>
              <a:t>There’s not enough time (Already Discussed)</a:t>
            </a:r>
            <a:endParaRPr sz="1200"/>
          </a:p>
          <a:p>
            <a:pPr indent="0" lvl="0" marL="0" rtl="0" algn="l">
              <a:spcBef>
                <a:spcPts val="0"/>
              </a:spcBef>
              <a:spcAft>
                <a:spcPts val="0"/>
              </a:spcAft>
              <a:buNone/>
            </a:pPr>
            <a:r>
              <a:rPr lang="en-US" sz="1200"/>
              <a:t>It’s really not a bug (Already Discussed)</a:t>
            </a:r>
            <a:endParaRPr sz="1200"/>
          </a:p>
          <a:p>
            <a:pPr indent="0" lvl="0" marL="0" rtl="0" algn="l">
              <a:spcBef>
                <a:spcPts val="0"/>
              </a:spcBef>
              <a:spcAft>
                <a:spcPts val="0"/>
              </a:spcAft>
              <a:buNone/>
            </a:pPr>
            <a:r>
              <a:rPr lang="en-US" sz="1200"/>
              <a:t>Its too risky to fix (Already Discussed)</a:t>
            </a:r>
            <a:endParaRPr sz="1200"/>
          </a:p>
          <a:p>
            <a:pPr indent="0" lvl="0" marL="0" rtl="0" algn="l">
              <a:spcBef>
                <a:spcPts val="0"/>
              </a:spcBef>
              <a:spcAft>
                <a:spcPts val="0"/>
              </a:spcAft>
              <a:buNone/>
            </a:pPr>
            <a:r>
              <a:rPr lang="en-US" sz="1200"/>
              <a:t>It’s just not worth it (Already Discussed)</a:t>
            </a:r>
            <a:endParaRPr sz="1200"/>
          </a:p>
          <a:p>
            <a:pPr indent="0" lvl="0" marL="0" rtl="0" algn="l">
              <a:spcBef>
                <a:spcPts val="0"/>
              </a:spcBef>
              <a:spcAft>
                <a:spcPts val="0"/>
              </a:spcAft>
              <a:buNone/>
            </a:pPr>
            <a:r>
              <a:rPr lang="en-US" sz="1200"/>
              <a:t>Ineffective bug reporting (We will study it in the next slide)</a:t>
            </a:r>
            <a:endParaRPr sz="1200"/>
          </a:p>
          <a:p>
            <a:pPr indent="0" lvl="0" marL="0" rtl="0" algn="l">
              <a:spcBef>
                <a:spcPts val="0"/>
              </a:spcBef>
              <a:spcAft>
                <a:spcPts val="0"/>
              </a:spcAft>
              <a:buNone/>
            </a:pPr>
            <a:r>
              <a:t/>
            </a:r>
            <a:endParaRPr/>
          </a:p>
        </p:txBody>
      </p:sp>
      <p:sp>
        <p:nvSpPr>
          <p:cNvPr id="176" name="Google Shape;1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this graph you can see Time on x axis and Likelihood of Bug Being Fixed on y axis. When project has just started, the likelihood of bug being fixed for serious bugs is very high and for minor bugs is also high. But at the end of project the likelihood of minor bug being fixed is very low or you can say you will have to ignore these bugs at this time. However at this time the likelihood of serious bugs being fixed is comparatively much high compared to the minor bugs.</a:t>
            </a:r>
            <a:endParaRPr/>
          </a:p>
        </p:txBody>
      </p:sp>
      <p:sp>
        <p:nvSpPr>
          <p:cNvPr id="297" name="Google Shape;29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Non-judgmental </a:t>
            </a:r>
            <a:r>
              <a:rPr b="0" lang="en-US"/>
              <a:t>-&gt; means </a:t>
            </a:r>
            <a:r>
              <a:rPr b="0" i="0" lang="en-US" sz="1200">
                <a:solidFill>
                  <a:schemeClr val="dk1"/>
                </a:solidFill>
                <a:latin typeface="Arial"/>
                <a:ea typeface="Arial"/>
                <a:cs typeface="Arial"/>
                <a:sym typeface="Arial"/>
              </a:rPr>
              <a:t>not creating a biased perception about a person.</a:t>
            </a:r>
            <a:endParaRPr/>
          </a:p>
          <a:p>
            <a:pPr indent="0" lvl="0" marL="0" rtl="0" algn="l">
              <a:spcBef>
                <a:spcPts val="0"/>
              </a:spcBef>
              <a:spcAft>
                <a:spcPts val="0"/>
              </a:spcAft>
              <a:buNone/>
            </a:pPr>
            <a:r>
              <a:rPr b="1" i="0" lang="en-US" sz="1200">
                <a:solidFill>
                  <a:schemeClr val="dk1"/>
                </a:solidFill>
                <a:latin typeface="Arial"/>
                <a:ea typeface="Arial"/>
                <a:cs typeface="Arial"/>
                <a:sym typeface="Arial"/>
              </a:rPr>
              <a:t>Non-personal</a:t>
            </a:r>
            <a:r>
              <a:rPr b="0" i="0" lang="en-US" sz="1200">
                <a:solidFill>
                  <a:schemeClr val="dk1"/>
                </a:solidFill>
                <a:latin typeface="Arial"/>
                <a:ea typeface="Arial"/>
                <a:cs typeface="Arial"/>
                <a:sym typeface="Arial"/>
              </a:rPr>
              <a:t> -&gt; Means not writing anything that is biased in the report. </a:t>
            </a:r>
            <a:endParaRPr b="0" i="0" sz="1200">
              <a:solidFill>
                <a:schemeClr val="dk1"/>
              </a:solidFill>
              <a:latin typeface="Arial"/>
              <a:ea typeface="Arial"/>
              <a:cs typeface="Arial"/>
              <a:sym typeface="Arial"/>
            </a:endParaRPr>
          </a:p>
          <a:p>
            <a:pPr indent="0" lvl="0" marL="0" rtl="0" algn="l">
              <a:spcBef>
                <a:spcPts val="0"/>
              </a:spcBef>
              <a:spcAft>
                <a:spcPts val="0"/>
              </a:spcAft>
              <a:buNone/>
            </a:pPr>
            <a:r>
              <a:rPr b="0" i="0" lang="en-US" sz="1200">
                <a:solidFill>
                  <a:schemeClr val="dk1"/>
                </a:solidFill>
                <a:latin typeface="Arial"/>
                <a:ea typeface="Arial"/>
                <a:cs typeface="Arial"/>
                <a:sym typeface="Arial"/>
              </a:rPr>
              <a:t>The difference between judgmental and personal is that judgmental is more perceptual while personal is more towards vocal. </a:t>
            </a:r>
            <a:endParaRPr/>
          </a:p>
          <a:p>
            <a:pPr indent="0" lvl="0" marL="0" rtl="0" algn="l">
              <a:spcBef>
                <a:spcPts val="0"/>
              </a:spcBef>
              <a:spcAft>
                <a:spcPts val="0"/>
              </a:spcAft>
              <a:buNone/>
            </a:pPr>
            <a:r>
              <a:rPr b="1" i="0" lang="en-US" sz="1200">
                <a:solidFill>
                  <a:schemeClr val="dk1"/>
                </a:solidFill>
                <a:latin typeface="Arial"/>
                <a:ea typeface="Arial"/>
                <a:cs typeface="Arial"/>
                <a:sym typeface="Arial"/>
              </a:rPr>
              <a:t>Non-inflammatory</a:t>
            </a:r>
            <a:r>
              <a:rPr b="0" i="0" lang="en-US" sz="1200">
                <a:solidFill>
                  <a:schemeClr val="dk1"/>
                </a:solidFill>
                <a:latin typeface="Arial"/>
                <a:ea typeface="Arial"/>
                <a:cs typeface="Arial"/>
                <a:sym typeface="Arial"/>
              </a:rPr>
              <a:t> -&gt; Being proud at what he has found.</a:t>
            </a:r>
            <a:endParaRPr b="1"/>
          </a:p>
          <a:p>
            <a:pPr indent="0" lvl="0" marL="0" rtl="0" algn="l">
              <a:spcBef>
                <a:spcPts val="0"/>
              </a:spcBef>
              <a:spcAft>
                <a:spcPts val="0"/>
              </a:spcAft>
              <a:buNone/>
            </a:pPr>
            <a:r>
              <a:rPr b="1" lang="en-US"/>
              <a:t>Gloating</a:t>
            </a:r>
            <a:r>
              <a:rPr lang="en-US"/>
              <a:t>-&gt; Means you should not </a:t>
            </a:r>
            <a:r>
              <a:rPr b="0" i="0" lang="en-US" sz="1200">
                <a:solidFill>
                  <a:schemeClr val="dk1"/>
                </a:solidFill>
                <a:latin typeface="Arial"/>
                <a:ea typeface="Arial"/>
                <a:cs typeface="Arial"/>
                <a:sym typeface="Arial"/>
              </a:rPr>
              <a:t>enjoy your finding of bugs</a:t>
            </a:r>
            <a:endParaRPr b="0" i="0" sz="1200">
              <a:solidFill>
                <a:schemeClr val="dk1"/>
              </a:solidFill>
              <a:latin typeface="Arial"/>
              <a:ea typeface="Arial"/>
              <a:cs typeface="Arial"/>
              <a:sym typeface="Arial"/>
            </a:endParaRPr>
          </a:p>
          <a:p>
            <a:pPr indent="0" lvl="0" marL="0" rtl="0" algn="l">
              <a:spcBef>
                <a:spcPts val="0"/>
              </a:spcBef>
              <a:spcAft>
                <a:spcPts val="0"/>
              </a:spcAft>
              <a:buNone/>
            </a:pPr>
            <a:r>
              <a:rPr b="1" lang="en-US" sz="1200"/>
              <a:t>Egos</a:t>
            </a:r>
            <a:r>
              <a:rPr lang="en-US" sz="1200"/>
              <a:t>-&gt; </a:t>
            </a:r>
            <a:r>
              <a:rPr b="0" i="0" lang="en-US" sz="1200">
                <a:solidFill>
                  <a:schemeClr val="dk1"/>
                </a:solidFill>
                <a:latin typeface="Arial"/>
                <a:ea typeface="Arial"/>
                <a:cs typeface="Arial"/>
                <a:sym typeface="Arial"/>
              </a:rPr>
              <a:t>The most important point that a tester should keep in mind is </a:t>
            </a:r>
            <a:r>
              <a:rPr b="1" i="0" lang="en-US" sz="1200">
                <a:solidFill>
                  <a:schemeClr val="dk1"/>
                </a:solidFill>
                <a:latin typeface="Arial"/>
                <a:ea typeface="Arial"/>
                <a:cs typeface="Arial"/>
                <a:sym typeface="Arial"/>
              </a:rPr>
              <a:t>not to use a commanding tone</a:t>
            </a:r>
            <a:r>
              <a:rPr b="0" i="0" lang="en-US" sz="1200">
                <a:solidFill>
                  <a:schemeClr val="dk1"/>
                </a:solidFill>
                <a:latin typeface="Arial"/>
                <a:ea typeface="Arial"/>
                <a:cs typeface="Arial"/>
                <a:sym typeface="Arial"/>
              </a:rPr>
              <a:t> in the report. This breaks the morale and creates an unhealthy work relationship. Use a suggestive tone.</a:t>
            </a:r>
            <a:endParaRPr/>
          </a:p>
          <a:p>
            <a:pPr indent="0" lvl="0" marL="0" marR="0" rtl="0" algn="l">
              <a:lnSpc>
                <a:spcPct val="100000"/>
              </a:lnSpc>
              <a:spcBef>
                <a:spcPts val="0"/>
              </a:spcBef>
              <a:spcAft>
                <a:spcPts val="0"/>
              </a:spcAft>
              <a:buClr>
                <a:schemeClr val="dk1"/>
              </a:buClr>
              <a:buSzPts val="1200"/>
              <a:buFont typeface="Arial"/>
              <a:buNone/>
            </a:pPr>
            <a:r>
              <a:rPr b="1" lang="en-US" sz="1200"/>
              <a:t>Accusations</a:t>
            </a:r>
            <a:r>
              <a:rPr lang="en-US" sz="1200"/>
              <a:t>-&gt; Don’t assume </a:t>
            </a:r>
            <a:r>
              <a:rPr b="0" i="0" lang="en-US" sz="1200">
                <a:solidFill>
                  <a:schemeClr val="dk1"/>
                </a:solidFill>
                <a:latin typeface="Arial"/>
                <a:ea typeface="Arial"/>
                <a:cs typeface="Arial"/>
                <a:sym typeface="Arial"/>
              </a:rPr>
              <a:t>that the developer has done a mistake and hence you can use harsh words. </a:t>
            </a:r>
            <a:endParaRPr sz="1200"/>
          </a:p>
        </p:txBody>
      </p:sp>
      <p:sp>
        <p:nvSpPr>
          <p:cNvPr id="325" name="Google Shape;32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Step 1: </a:t>
            </a:r>
            <a:r>
              <a:rPr b="0" i="0" lang="en-US" sz="1200">
                <a:solidFill>
                  <a:schemeClr val="dk1"/>
                </a:solidFill>
                <a:latin typeface="Arial"/>
                <a:ea typeface="Arial"/>
                <a:cs typeface="Arial"/>
                <a:sym typeface="Arial"/>
              </a:rPr>
              <a:t>Use a recording program so that you can record and playback your steps exactly. Use a video camera to record your test session if necessary. The goal is to make sure that every detail of the steps necessary to cause the bug are visible and can be analysed.</a:t>
            </a:r>
            <a:endParaRPr/>
          </a:p>
          <a:p>
            <a:pPr indent="0" lvl="0" marL="0" rtl="0" algn="l">
              <a:spcBef>
                <a:spcPts val="0"/>
              </a:spcBef>
              <a:spcAft>
                <a:spcPts val="0"/>
              </a:spcAft>
              <a:buNone/>
            </a:pPr>
            <a:r>
              <a:rPr b="1" i="0" lang="en-US" sz="1200">
                <a:solidFill>
                  <a:schemeClr val="dk1"/>
                </a:solidFill>
                <a:latin typeface="Arial"/>
                <a:ea typeface="Arial"/>
                <a:cs typeface="Arial"/>
                <a:sym typeface="Arial"/>
              </a:rPr>
              <a:t>Step 2: Time dependent</a:t>
            </a:r>
            <a:r>
              <a:rPr b="0" i="0" lang="en-US" sz="1200">
                <a:solidFill>
                  <a:schemeClr val="dk1"/>
                </a:solidFill>
                <a:latin typeface="Arial"/>
                <a:ea typeface="Arial"/>
                <a:cs typeface="Arial"/>
                <a:sym typeface="Arial"/>
              </a:rPr>
              <a:t> means does the bug occur only at a certain time of day? Maybe it depends on how quickly you enter the data or the fact that you're saving data to a slower floppy instead of a fast hard drive. Was the network busy when you saw the bug? Try your test case on slower or faster hardware. Think timing.</a:t>
            </a:r>
            <a:endParaRPr b="1" i="0" sz="1200">
              <a:solidFill>
                <a:schemeClr val="dk1"/>
              </a:solidFill>
              <a:latin typeface="Arial"/>
              <a:ea typeface="Arial"/>
              <a:cs typeface="Arial"/>
              <a:sym typeface="Arial"/>
            </a:endParaRPr>
          </a:p>
          <a:p>
            <a:pPr indent="0" lvl="0" marL="0" rtl="0" algn="l">
              <a:spcBef>
                <a:spcPts val="0"/>
              </a:spcBef>
              <a:spcAft>
                <a:spcPts val="0"/>
              </a:spcAft>
              <a:buNone/>
            </a:pPr>
            <a:r>
              <a:rPr b="0" i="0" lang="en-US" sz="1200">
                <a:solidFill>
                  <a:schemeClr val="dk1"/>
                </a:solidFill>
                <a:latin typeface="Arial"/>
                <a:ea typeface="Arial"/>
                <a:cs typeface="Arial"/>
                <a:sym typeface="Arial"/>
              </a:rPr>
              <a:t>Whereas </a:t>
            </a:r>
            <a:r>
              <a:rPr b="1" i="0" lang="en-US" sz="1200">
                <a:solidFill>
                  <a:schemeClr val="dk1"/>
                </a:solidFill>
                <a:latin typeface="Arial"/>
                <a:ea typeface="Arial"/>
                <a:cs typeface="Arial"/>
                <a:sym typeface="Arial"/>
              </a:rPr>
              <a:t>race condition</a:t>
            </a:r>
            <a:r>
              <a:rPr b="0" i="0" lang="en-US" sz="1200">
                <a:solidFill>
                  <a:schemeClr val="dk1"/>
                </a:solidFill>
                <a:latin typeface="Arial"/>
                <a:ea typeface="Arial"/>
                <a:cs typeface="Arial"/>
                <a:sym typeface="Arial"/>
              </a:rPr>
              <a:t> is an undesirable situation that occurs when a device or system attempts to perform two or more operations at the same time, but because of the nature of the device or system, the operations must be done in the proper sequence in order to be done correctly.</a:t>
            </a:r>
            <a:endParaRPr/>
          </a:p>
          <a:p>
            <a:pPr indent="0" lvl="0" marL="0" rtl="0" algn="l">
              <a:spcBef>
                <a:spcPts val="0"/>
              </a:spcBef>
              <a:spcAft>
                <a:spcPts val="0"/>
              </a:spcAft>
              <a:buNone/>
            </a:pPr>
            <a:r>
              <a:rPr b="1" lang="en-US"/>
              <a:t>Step 5: </a:t>
            </a:r>
            <a:r>
              <a:rPr b="0" i="0" lang="en-US" sz="1200">
                <a:solidFill>
                  <a:schemeClr val="dk1"/>
                </a:solidFill>
                <a:latin typeface="Arial"/>
                <a:ea typeface="Arial"/>
                <a:cs typeface="Arial"/>
                <a:sym typeface="Arial"/>
              </a:rPr>
              <a:t>Does the bug occur only on a "busy" system that is running other software and communicating with other hardware?</a:t>
            </a:r>
            <a:endParaRPr/>
          </a:p>
          <a:p>
            <a:pPr indent="0" lvl="0" marL="0" rtl="0" algn="l">
              <a:spcBef>
                <a:spcPts val="0"/>
              </a:spcBef>
              <a:spcAft>
                <a:spcPts val="0"/>
              </a:spcAft>
              <a:buNone/>
            </a:pPr>
            <a:r>
              <a:rPr b="1" i="0" lang="en-US" sz="1200">
                <a:solidFill>
                  <a:schemeClr val="dk1"/>
                </a:solidFill>
                <a:latin typeface="Arial"/>
                <a:ea typeface="Arial"/>
                <a:cs typeface="Arial"/>
                <a:sym typeface="Arial"/>
              </a:rPr>
              <a:t>Step 6: </a:t>
            </a:r>
            <a:r>
              <a:rPr b="0" i="0" lang="en-US" sz="1200">
                <a:solidFill>
                  <a:schemeClr val="dk1"/>
                </a:solidFill>
                <a:latin typeface="Arial"/>
                <a:ea typeface="Arial"/>
                <a:cs typeface="Arial"/>
                <a:sym typeface="Arial"/>
              </a:rPr>
              <a:t>Try to reproduce your bugs on different hardware. This is especially important if you're performing configuration or compatibility testing. You'll want to know if the bug shows up on one system or many.</a:t>
            </a:r>
            <a:endParaRPr b="1"/>
          </a:p>
        </p:txBody>
      </p:sp>
      <p:sp>
        <p:nvSpPr>
          <p:cNvPr id="340" name="Google Shape;34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this graph you can see that when probability is low and impact is low the severity of the bug is also low. When probability is high and impact is low the severity of the bug is medium. When probability is low and impact is high the severity of the bug is also medium. When probability is high and impact is high the severity of the bug is also high.</a:t>
            </a:r>
            <a:endParaRPr/>
          </a:p>
        </p:txBody>
      </p:sp>
      <p:sp>
        <p:nvSpPr>
          <p:cNvPr id="365" name="Google Shape;36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You Agree? Off course you will agree.</a:t>
            </a:r>
            <a:endParaRPr/>
          </a:p>
          <a:p>
            <a:pPr indent="0" lvl="0" marL="0" rtl="0" algn="l">
              <a:spcBef>
                <a:spcPts val="0"/>
              </a:spcBef>
              <a:spcAft>
                <a:spcPts val="0"/>
              </a:spcAft>
              <a:buNone/>
            </a:pPr>
            <a:r>
              <a:rPr lang="en-US"/>
              <a:t>What if? In terms of data severity the probability of data corruption error is low but its impact is high the defect severity is medium. Misspelling has high probability of occurrence and its impact in this scenario is also high so the defect severity is high.</a:t>
            </a:r>
            <a:endParaRPr/>
          </a:p>
        </p:txBody>
      </p:sp>
      <p:sp>
        <p:nvSpPr>
          <p:cNvPr id="373" name="Google Shape;37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b="0" lang="en-US"/>
              <a:t>There are four sections of the bug report separated by lines.</a:t>
            </a:r>
            <a:endParaRPr/>
          </a:p>
          <a:p>
            <a:pPr indent="0" lvl="0" marL="0" rtl="0" algn="just">
              <a:spcBef>
                <a:spcPts val="0"/>
              </a:spcBef>
              <a:spcAft>
                <a:spcPts val="0"/>
              </a:spcAft>
              <a:buNone/>
            </a:pPr>
            <a:r>
              <a:rPr b="0" lang="en-US"/>
              <a:t>First section contains the following features and it should be filled by tester.</a:t>
            </a:r>
            <a:endParaRPr b="0"/>
          </a:p>
          <a:p>
            <a:pPr indent="0" lvl="0" marL="0" rtl="0" algn="just">
              <a:spcBef>
                <a:spcPts val="0"/>
              </a:spcBef>
              <a:spcAft>
                <a:spcPts val="0"/>
              </a:spcAft>
              <a:buNone/>
            </a:pPr>
            <a:r>
              <a:rPr b="1" lang="en-US"/>
              <a:t>Bug#:</a:t>
            </a:r>
            <a:r>
              <a:rPr lang="en-US" sz="2000"/>
              <a:t>Specifies an ID that’s unique to the bug report that can be used to locate and refer to it.</a:t>
            </a:r>
            <a:endParaRPr/>
          </a:p>
          <a:p>
            <a:pPr indent="0" lvl="0" marL="0" rtl="0" algn="just">
              <a:spcBef>
                <a:spcPts val="0"/>
              </a:spcBef>
              <a:spcAft>
                <a:spcPts val="0"/>
              </a:spcAft>
              <a:buNone/>
            </a:pPr>
            <a:r>
              <a:rPr b="1" lang="en-US"/>
              <a:t>Release: </a:t>
            </a:r>
            <a:r>
              <a:rPr b="0" i="0" lang="en-US" sz="1200">
                <a:solidFill>
                  <a:schemeClr val="dk1"/>
                </a:solidFill>
                <a:latin typeface="Arial"/>
                <a:ea typeface="Arial"/>
                <a:cs typeface="Arial"/>
                <a:sym typeface="Arial"/>
              </a:rPr>
              <a:t> is the distribution of the final version of an application. A software release may be either public or private.</a:t>
            </a:r>
            <a:endParaRPr/>
          </a:p>
          <a:p>
            <a:pPr indent="0" lvl="0" marL="0" rtl="0" algn="just">
              <a:spcBef>
                <a:spcPts val="0"/>
              </a:spcBef>
              <a:spcAft>
                <a:spcPts val="0"/>
              </a:spcAft>
              <a:buNone/>
            </a:pPr>
            <a:r>
              <a:rPr b="1" i="0" lang="en-US" sz="1200">
                <a:solidFill>
                  <a:schemeClr val="dk1"/>
                </a:solidFill>
                <a:latin typeface="Arial"/>
                <a:ea typeface="Arial"/>
                <a:cs typeface="Arial"/>
                <a:sym typeface="Arial"/>
              </a:rPr>
              <a:t>Version: </a:t>
            </a:r>
            <a:r>
              <a:rPr b="0" i="0" lang="en-US" sz="1200">
                <a:solidFill>
                  <a:schemeClr val="dk1"/>
                </a:solidFill>
                <a:latin typeface="Arial"/>
                <a:ea typeface="Arial"/>
                <a:cs typeface="Arial"/>
                <a:sym typeface="Arial"/>
              </a:rPr>
              <a:t>Version number of the module or software that is tested.</a:t>
            </a:r>
            <a:endParaRPr/>
          </a:p>
          <a:p>
            <a:pPr indent="0" lvl="0" marL="0" rtl="0" algn="just">
              <a:spcBef>
                <a:spcPts val="0"/>
              </a:spcBef>
              <a:spcAft>
                <a:spcPts val="0"/>
              </a:spcAft>
              <a:buNone/>
            </a:pPr>
            <a:r>
              <a:rPr b="1" i="0" lang="en-US" sz="1200">
                <a:solidFill>
                  <a:schemeClr val="dk1"/>
                </a:solidFill>
                <a:latin typeface="Arial"/>
                <a:ea typeface="Arial"/>
                <a:cs typeface="Arial"/>
                <a:sym typeface="Arial"/>
              </a:rPr>
              <a:t>Tester: </a:t>
            </a:r>
            <a:r>
              <a:rPr b="0" i="0" lang="en-US" sz="1200">
                <a:solidFill>
                  <a:schemeClr val="dk1"/>
                </a:solidFill>
                <a:latin typeface="Arial"/>
                <a:ea typeface="Arial"/>
                <a:cs typeface="Arial"/>
                <a:sym typeface="Arial"/>
              </a:rPr>
              <a:t>Here you will write the name of the tester.</a:t>
            </a:r>
            <a:endParaRPr/>
          </a:p>
          <a:p>
            <a:pPr indent="0" lvl="0" marL="0" rtl="0" algn="just">
              <a:spcBef>
                <a:spcPts val="0"/>
              </a:spcBef>
              <a:spcAft>
                <a:spcPts val="0"/>
              </a:spcAft>
              <a:buNone/>
            </a:pPr>
            <a:r>
              <a:rPr b="1" i="0" lang="en-US" sz="1200">
                <a:solidFill>
                  <a:schemeClr val="dk1"/>
                </a:solidFill>
                <a:latin typeface="Arial"/>
                <a:ea typeface="Arial"/>
                <a:cs typeface="Arial"/>
                <a:sym typeface="Arial"/>
              </a:rPr>
              <a:t>Date:</a:t>
            </a:r>
            <a:r>
              <a:rPr b="0" i="0" lang="en-US" sz="1200">
                <a:solidFill>
                  <a:schemeClr val="dk1"/>
                </a:solidFill>
                <a:latin typeface="Arial"/>
                <a:ea typeface="Arial"/>
                <a:cs typeface="Arial"/>
                <a:sym typeface="Arial"/>
              </a:rPr>
              <a:t> at which the bug is being reported.</a:t>
            </a:r>
            <a:endParaRPr/>
          </a:p>
          <a:p>
            <a:pPr indent="0" lvl="0" marL="0" rtl="0" algn="just">
              <a:spcBef>
                <a:spcPts val="0"/>
              </a:spcBef>
              <a:spcAft>
                <a:spcPts val="0"/>
              </a:spcAft>
              <a:buNone/>
            </a:pPr>
            <a:r>
              <a:rPr b="1" i="0" lang="en-US" sz="1200">
                <a:solidFill>
                  <a:schemeClr val="dk1"/>
                </a:solidFill>
                <a:latin typeface="Arial"/>
                <a:ea typeface="Arial"/>
                <a:cs typeface="Arial"/>
                <a:sym typeface="Arial"/>
              </a:rPr>
              <a:t>Assigned to: </a:t>
            </a:r>
            <a:r>
              <a:rPr b="0" i="0" lang="en-US" sz="1200">
                <a:solidFill>
                  <a:schemeClr val="dk1"/>
                </a:solidFill>
                <a:latin typeface="Arial"/>
                <a:ea typeface="Arial"/>
                <a:cs typeface="Arial"/>
                <a:sym typeface="Arial"/>
              </a:rPr>
              <a:t> Mention the name of the developer who is assigned to the bug for correction.</a:t>
            </a:r>
            <a:endParaRPr/>
          </a:p>
          <a:p>
            <a:pPr indent="0" lvl="0" marL="0" rtl="0" algn="just">
              <a:spcBef>
                <a:spcPts val="0"/>
              </a:spcBef>
              <a:spcAft>
                <a:spcPts val="0"/>
              </a:spcAft>
              <a:buNone/>
            </a:pPr>
            <a:r>
              <a:rPr b="1" lang="en-US"/>
              <a:t>Severity: </a:t>
            </a:r>
            <a:r>
              <a:rPr b="0" lang="en-US"/>
              <a:t>Based on the severity levels and examples discussed in the previous slides, you select the severity of the bug.</a:t>
            </a:r>
            <a:endParaRPr/>
          </a:p>
          <a:p>
            <a:pPr indent="0" lvl="0" marL="0" marR="0" rtl="0" algn="just">
              <a:lnSpc>
                <a:spcPct val="100000"/>
              </a:lnSpc>
              <a:spcBef>
                <a:spcPts val="0"/>
              </a:spcBef>
              <a:spcAft>
                <a:spcPts val="0"/>
              </a:spcAft>
              <a:buClr>
                <a:schemeClr val="dk1"/>
              </a:buClr>
              <a:buSzPts val="1200"/>
              <a:buFont typeface="Arial"/>
              <a:buNone/>
            </a:pPr>
            <a:r>
              <a:rPr b="1" lang="en-US"/>
              <a:t>Priority: </a:t>
            </a:r>
            <a:r>
              <a:rPr b="0" lang="en-US"/>
              <a:t>Based on the priority levels and examples discussed in the previous slides, you select the priority of the bug.</a:t>
            </a:r>
            <a:endParaRPr/>
          </a:p>
          <a:p>
            <a:pPr indent="0" lvl="0" marL="0" marR="0" rtl="0" algn="just">
              <a:lnSpc>
                <a:spcPct val="100000"/>
              </a:lnSpc>
              <a:spcBef>
                <a:spcPts val="0"/>
              </a:spcBef>
              <a:spcAft>
                <a:spcPts val="0"/>
              </a:spcAft>
              <a:buClr>
                <a:schemeClr val="dk1"/>
              </a:buClr>
              <a:buSzPts val="1200"/>
              <a:buFont typeface="Arial"/>
              <a:buNone/>
            </a:pPr>
            <a:r>
              <a:rPr b="1" lang="en-US"/>
              <a:t>Reproducible: </a:t>
            </a:r>
            <a:r>
              <a:rPr b="0" lang="en-US"/>
              <a:t>You select Y if the bug is reproducible otherwise N.</a:t>
            </a:r>
            <a:endParaRPr/>
          </a:p>
          <a:p>
            <a:pPr indent="0" lvl="0" marL="0" marR="0" rtl="0" algn="just">
              <a:lnSpc>
                <a:spcPct val="100000"/>
              </a:lnSpc>
              <a:spcBef>
                <a:spcPts val="0"/>
              </a:spcBef>
              <a:spcAft>
                <a:spcPts val="0"/>
              </a:spcAft>
              <a:buClr>
                <a:schemeClr val="dk1"/>
              </a:buClr>
              <a:buSzPts val="1200"/>
              <a:buFont typeface="Arial"/>
              <a:buNone/>
            </a:pPr>
            <a:r>
              <a:rPr b="1" lang="en-US"/>
              <a:t>Title: </a:t>
            </a:r>
            <a:r>
              <a:rPr b="0" lang="en-US"/>
              <a:t>Mention the title of the bug. </a:t>
            </a:r>
            <a:r>
              <a:rPr b="0" i="0" lang="en-US" sz="1200">
                <a:solidFill>
                  <a:schemeClr val="dk1"/>
                </a:solidFill>
                <a:latin typeface="Arial"/>
                <a:ea typeface="Arial"/>
                <a:cs typeface="Arial"/>
                <a:sym typeface="Arial"/>
              </a:rPr>
              <a:t>It should say all about what comes in the bug.</a:t>
            </a:r>
            <a:endParaRPr b="1"/>
          </a:p>
          <a:p>
            <a:pPr indent="0" lvl="0" marL="0" rtl="0" algn="just">
              <a:spcBef>
                <a:spcPts val="0"/>
              </a:spcBef>
              <a:spcAft>
                <a:spcPts val="0"/>
              </a:spcAft>
              <a:buNone/>
            </a:pPr>
            <a:r>
              <a:rPr b="1" lang="en-US"/>
              <a:t>Description:</a:t>
            </a:r>
            <a:endParaRPr/>
          </a:p>
          <a:p>
            <a:pPr indent="0" lvl="1" marL="457200" rtl="0" algn="just">
              <a:spcBef>
                <a:spcPts val="0"/>
              </a:spcBef>
              <a:spcAft>
                <a:spcPts val="0"/>
              </a:spcAft>
              <a:buNone/>
            </a:pPr>
            <a:r>
              <a:rPr b="0" i="0" lang="en-US" sz="1200">
                <a:solidFill>
                  <a:schemeClr val="dk1"/>
                </a:solidFill>
                <a:latin typeface="Arial"/>
                <a:ea typeface="Arial"/>
                <a:cs typeface="Arial"/>
                <a:sym typeface="Arial"/>
              </a:rPr>
              <a:t>Detailed description of the defect. Describe as much as possible but without repeating anything or using complex words. Keep it simple but comprehensive. It also includes: </a:t>
            </a:r>
            <a:endParaRPr sz="2000"/>
          </a:p>
          <a:p>
            <a:pPr indent="0" lvl="2" marL="914400" marR="0" rtl="0" algn="just">
              <a:lnSpc>
                <a:spcPct val="100000"/>
              </a:lnSpc>
              <a:spcBef>
                <a:spcPts val="0"/>
              </a:spcBef>
              <a:spcAft>
                <a:spcPts val="0"/>
              </a:spcAft>
              <a:buClr>
                <a:schemeClr val="dk1"/>
              </a:buClr>
              <a:buSzPts val="2000"/>
              <a:buFont typeface="Arial"/>
              <a:buNone/>
            </a:pPr>
            <a:r>
              <a:rPr lang="en-US" sz="2000"/>
              <a:t>Procedure steps</a:t>
            </a:r>
            <a:endParaRPr/>
          </a:p>
          <a:p>
            <a:pPr indent="0" lvl="2" marL="914400" marR="0" rtl="0" algn="just">
              <a:lnSpc>
                <a:spcPct val="100000"/>
              </a:lnSpc>
              <a:spcBef>
                <a:spcPts val="0"/>
              </a:spcBef>
              <a:spcAft>
                <a:spcPts val="0"/>
              </a:spcAft>
              <a:buClr>
                <a:schemeClr val="dk1"/>
              </a:buClr>
              <a:buSzPts val="2000"/>
              <a:buFont typeface="Arial"/>
              <a:buNone/>
            </a:pPr>
            <a:r>
              <a:rPr lang="en-US" sz="2000"/>
              <a:t>Example:</a:t>
            </a:r>
            <a:endParaRPr/>
          </a:p>
          <a:p>
            <a:pPr indent="0" lvl="0" marL="0" rtl="0" algn="l">
              <a:spcBef>
                <a:spcPts val="0"/>
              </a:spcBef>
              <a:spcAft>
                <a:spcPts val="0"/>
              </a:spcAft>
              <a:buNone/>
            </a:pPr>
            <a:r>
              <a:rPr lang="en-US" sz="2000"/>
              <a:t>		</a:t>
            </a:r>
            <a:r>
              <a:rPr b="0" i="0" lang="en-US" sz="1200">
                <a:solidFill>
                  <a:schemeClr val="dk1"/>
                </a:solidFill>
                <a:latin typeface="Arial"/>
                <a:ea typeface="Arial"/>
                <a:cs typeface="Arial"/>
                <a:sym typeface="Arial"/>
              </a:rPr>
              <a:t>Select product Abc01.</a:t>
            </a:r>
            <a:endParaRPr/>
          </a:p>
          <a:p>
            <a:pPr indent="0" lvl="2" marL="914400" rtl="0" algn="l">
              <a:spcBef>
                <a:spcPts val="0"/>
              </a:spcBef>
              <a:spcAft>
                <a:spcPts val="0"/>
              </a:spcAft>
              <a:buNone/>
            </a:pPr>
            <a:r>
              <a:rPr b="0" i="0" lang="en-US" sz="1200">
                <a:solidFill>
                  <a:schemeClr val="dk1"/>
                </a:solidFill>
                <a:latin typeface="Arial"/>
                <a:ea typeface="Arial"/>
                <a:cs typeface="Arial"/>
                <a:sym typeface="Arial"/>
              </a:rPr>
              <a:t>	Click on Add to cart.</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		Click Remove to remove the product from the cart.</a:t>
            </a:r>
            <a:endParaRPr sz="2000"/>
          </a:p>
          <a:p>
            <a:pPr indent="0" lvl="2" marL="914400" rtl="0" algn="just">
              <a:spcBef>
                <a:spcPts val="0"/>
              </a:spcBef>
              <a:spcAft>
                <a:spcPts val="0"/>
              </a:spcAft>
              <a:buNone/>
            </a:pPr>
            <a:r>
              <a:rPr lang="en-US" sz="2000"/>
              <a:t>Inputs Details</a:t>
            </a:r>
            <a:endParaRPr/>
          </a:p>
          <a:p>
            <a:pPr indent="0" lvl="2" marL="914400" rtl="0" algn="just">
              <a:spcBef>
                <a:spcPts val="0"/>
              </a:spcBef>
              <a:spcAft>
                <a:spcPts val="0"/>
              </a:spcAft>
              <a:buNone/>
            </a:pPr>
            <a:r>
              <a:rPr lang="en-US" sz="2000"/>
              <a:t>Expected results</a:t>
            </a:r>
            <a:endParaRPr/>
          </a:p>
          <a:p>
            <a:pPr indent="0" lvl="2" marL="914400" rtl="0" algn="just">
              <a:spcBef>
                <a:spcPts val="0"/>
              </a:spcBef>
              <a:spcAft>
                <a:spcPts val="0"/>
              </a:spcAft>
              <a:buNone/>
            </a:pPr>
            <a:r>
              <a:rPr lang="en-US" sz="2000"/>
              <a:t>Actual results</a:t>
            </a:r>
            <a:endParaRPr/>
          </a:p>
          <a:p>
            <a:pPr indent="0" lvl="0" marL="0" rtl="0" algn="l">
              <a:spcBef>
                <a:spcPts val="0"/>
              </a:spcBef>
              <a:spcAft>
                <a:spcPts val="0"/>
              </a:spcAft>
              <a:buNone/>
            </a:pPr>
            <a:r>
              <a:rPr lang="en-US"/>
              <a:t>	Attachments</a:t>
            </a:r>
            <a:endParaRPr/>
          </a:p>
          <a:p>
            <a:pPr indent="0" lvl="0" marL="0" rtl="0" algn="l">
              <a:spcBef>
                <a:spcPts val="0"/>
              </a:spcBef>
              <a:spcAft>
                <a:spcPts val="0"/>
              </a:spcAft>
              <a:buNone/>
            </a:pPr>
            <a:r>
              <a:rPr b="0" lang="en-US"/>
              <a:t>Second section contains the following features and should be filled by programmer after he resolves the bug.</a:t>
            </a:r>
            <a:endParaRPr b="0"/>
          </a:p>
          <a:p>
            <a:pPr indent="0" lvl="0" marL="0" rtl="0" algn="l">
              <a:spcBef>
                <a:spcPts val="0"/>
              </a:spcBef>
              <a:spcAft>
                <a:spcPts val="0"/>
              </a:spcAft>
              <a:buNone/>
            </a:pPr>
            <a:r>
              <a:rPr b="1" lang="en-US"/>
              <a:t>Resolution: </a:t>
            </a:r>
            <a:r>
              <a:rPr b="0" lang="en-US"/>
              <a:t>Programmer can select any of the given options.</a:t>
            </a:r>
            <a:endParaRPr/>
          </a:p>
          <a:p>
            <a:pPr indent="0" lvl="0" marL="0" rtl="0" algn="l">
              <a:spcBef>
                <a:spcPts val="0"/>
              </a:spcBef>
              <a:spcAft>
                <a:spcPts val="0"/>
              </a:spcAft>
              <a:buNone/>
            </a:pPr>
            <a:r>
              <a:rPr b="1" lang="en-US"/>
              <a:t>Date Resolved: </a:t>
            </a:r>
            <a:r>
              <a:rPr b="0" lang="en-US"/>
              <a:t>The date at which the bug is resolved by the programmer.</a:t>
            </a:r>
            <a:endParaRPr/>
          </a:p>
          <a:p>
            <a:pPr indent="0" lvl="0" marL="0" rtl="0" algn="l">
              <a:spcBef>
                <a:spcPts val="0"/>
              </a:spcBef>
              <a:spcAft>
                <a:spcPts val="0"/>
              </a:spcAft>
              <a:buNone/>
            </a:pPr>
            <a:r>
              <a:rPr b="1" lang="en-US"/>
              <a:t>Resolved By: </a:t>
            </a:r>
            <a:r>
              <a:rPr b="0" lang="en-US"/>
              <a:t>Here the programmer who resolved the bug, mentions his name.</a:t>
            </a:r>
            <a:endParaRPr/>
          </a:p>
          <a:p>
            <a:pPr indent="0" lvl="0" marL="0" rtl="0" algn="l">
              <a:spcBef>
                <a:spcPts val="0"/>
              </a:spcBef>
              <a:spcAft>
                <a:spcPts val="0"/>
              </a:spcAft>
              <a:buNone/>
            </a:pPr>
            <a:r>
              <a:rPr b="1" lang="en-US"/>
              <a:t>Version: </a:t>
            </a:r>
            <a:r>
              <a:rPr b="0" lang="en-US"/>
              <a:t>If the correction of bug results in a new version of the software or module, mention it here.</a:t>
            </a:r>
            <a:endParaRPr/>
          </a:p>
          <a:p>
            <a:pPr indent="0" lvl="0" marL="0" rtl="0" algn="l">
              <a:spcBef>
                <a:spcPts val="0"/>
              </a:spcBef>
              <a:spcAft>
                <a:spcPts val="0"/>
              </a:spcAft>
              <a:buNone/>
            </a:pPr>
            <a:r>
              <a:rPr b="1" lang="en-US"/>
              <a:t>Resolution Comments: </a:t>
            </a:r>
            <a:r>
              <a:rPr b="0" lang="en-US"/>
              <a:t>The programmer gives his comments on the bug he has to resolve or he has resolved. </a:t>
            </a:r>
            <a:endParaRPr/>
          </a:p>
          <a:p>
            <a:pPr indent="0" lvl="0" marL="0" rtl="0" algn="l">
              <a:spcBef>
                <a:spcPts val="0"/>
              </a:spcBef>
              <a:spcAft>
                <a:spcPts val="0"/>
              </a:spcAft>
              <a:buNone/>
            </a:pPr>
            <a:r>
              <a:rPr b="0" lang="en-US"/>
              <a:t>Third section contains the following features and should be filled by tester when he has to confirm the fix.</a:t>
            </a:r>
            <a:endParaRPr/>
          </a:p>
          <a:p>
            <a:pPr indent="0" lvl="0" marL="0" rtl="0" algn="l">
              <a:spcBef>
                <a:spcPts val="0"/>
              </a:spcBef>
              <a:spcAft>
                <a:spcPts val="0"/>
              </a:spcAft>
              <a:buNone/>
            </a:pPr>
            <a:r>
              <a:rPr b="1" lang="en-US"/>
              <a:t>Retested By: </a:t>
            </a:r>
            <a:r>
              <a:rPr b="0" lang="en-US"/>
              <a:t>Name of the tester who retested the product feature to make sure the bug is fixed.</a:t>
            </a:r>
            <a:endParaRPr/>
          </a:p>
          <a:p>
            <a:pPr indent="0" lvl="0" marL="0" rtl="0" algn="l">
              <a:spcBef>
                <a:spcPts val="0"/>
              </a:spcBef>
              <a:spcAft>
                <a:spcPts val="0"/>
              </a:spcAft>
              <a:buNone/>
            </a:pPr>
            <a:r>
              <a:rPr b="1" lang="en-US"/>
              <a:t>Version Tested: </a:t>
            </a:r>
            <a:r>
              <a:rPr b="0" lang="en-US"/>
              <a:t>Mention the version of the product or module which is being retested by tester</a:t>
            </a:r>
            <a:r>
              <a:rPr b="1" lang="en-US"/>
              <a:t>.</a:t>
            </a:r>
            <a:endParaRPr/>
          </a:p>
          <a:p>
            <a:pPr indent="0" lvl="0" marL="0" rtl="0" algn="l">
              <a:spcBef>
                <a:spcPts val="0"/>
              </a:spcBef>
              <a:spcAft>
                <a:spcPts val="0"/>
              </a:spcAft>
              <a:buNone/>
            </a:pPr>
            <a:r>
              <a:rPr b="1" lang="en-US"/>
              <a:t>Date Tested: </a:t>
            </a:r>
            <a:r>
              <a:rPr b="0" lang="en-US"/>
              <a:t>Mention the date when it is retested.</a:t>
            </a:r>
            <a:endParaRPr/>
          </a:p>
          <a:p>
            <a:pPr indent="0" lvl="0" marL="0" rtl="0" algn="l">
              <a:spcBef>
                <a:spcPts val="0"/>
              </a:spcBef>
              <a:spcAft>
                <a:spcPts val="0"/>
              </a:spcAft>
              <a:buNone/>
            </a:pPr>
            <a:r>
              <a:rPr b="1" lang="en-US"/>
              <a:t>Retest Comments: </a:t>
            </a:r>
            <a:r>
              <a:rPr b="0" lang="en-US"/>
              <a:t>The tester gives his comments about the product or module, after he retests it.</a:t>
            </a:r>
            <a:endParaRPr/>
          </a:p>
          <a:p>
            <a:pPr indent="0" lvl="0" marL="0" rtl="0" algn="l">
              <a:spcBef>
                <a:spcPts val="0"/>
              </a:spcBef>
              <a:spcAft>
                <a:spcPts val="0"/>
              </a:spcAft>
              <a:buNone/>
            </a:pPr>
            <a:r>
              <a:rPr b="0" lang="en-US"/>
              <a:t>Fourth section is the signature section. To close the bug report signature of all stakeholders are mandatory.</a:t>
            </a:r>
            <a:endParaRPr/>
          </a:p>
          <a:p>
            <a:pPr indent="0" lvl="0" marL="0" rtl="0" algn="l">
              <a:spcBef>
                <a:spcPts val="0"/>
              </a:spcBef>
              <a:spcAft>
                <a:spcPts val="0"/>
              </a:spcAft>
              <a:buNone/>
            </a:pPr>
            <a:r>
              <a:t/>
            </a:r>
            <a:endParaRPr b="1"/>
          </a:p>
        </p:txBody>
      </p:sp>
      <p:sp>
        <p:nvSpPr>
          <p:cNvPr id="418" name="Google Shape;41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showMasterSp="0">
  <p:cSld name="Title Slide with Picture">
    <p:spTree>
      <p:nvGrpSpPr>
        <p:cNvPr id="18" name="Shape 18"/>
        <p:cNvGrpSpPr/>
        <p:nvPr/>
      </p:nvGrpSpPr>
      <p:grpSpPr>
        <a:xfrm>
          <a:off x="0" y="0"/>
          <a:ext cx="0" cy="0"/>
          <a:chOff x="0" y="0"/>
          <a:chExt cx="0" cy="0"/>
        </a:xfrm>
      </p:grpSpPr>
      <p:sp>
        <p:nvSpPr>
          <p:cNvPr id="19" name="Google Shape;19;p32"/>
          <p:cNvSpPr txBox="1"/>
          <p:nvPr>
            <p:ph type="ctrTitle"/>
          </p:nvPr>
        </p:nvSpPr>
        <p:spPr>
          <a:xfrm>
            <a:off x="1104900" y="2292094"/>
            <a:ext cx="573405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2"/>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dk1"/>
              </a:buClr>
              <a:buSzPts val="1800"/>
              <a:buNone/>
              <a:defRPr sz="1800"/>
            </a:lvl1pPr>
            <a:lvl2pPr lvl="1" algn="ctr">
              <a:lnSpc>
                <a:spcPct val="90000"/>
              </a:lnSpc>
              <a:spcBef>
                <a:spcPts val="600"/>
              </a:spcBef>
              <a:spcAft>
                <a:spcPts val="0"/>
              </a:spcAft>
              <a:buClr>
                <a:schemeClr val="dk1"/>
              </a:buClr>
              <a:buSzPts val="2000"/>
              <a:buNone/>
              <a:defRPr sz="2000"/>
            </a:lvl2pPr>
            <a:lvl3pPr lvl="2" algn="ctr">
              <a:lnSpc>
                <a:spcPct val="90000"/>
              </a:lnSpc>
              <a:spcBef>
                <a:spcPts val="600"/>
              </a:spcBef>
              <a:spcAft>
                <a:spcPts val="0"/>
              </a:spcAft>
              <a:buClr>
                <a:schemeClr val="dk1"/>
              </a:buClr>
              <a:buSzPts val="1800"/>
              <a:buNone/>
              <a:defRPr sz="1800"/>
            </a:lvl3pPr>
            <a:lvl4pPr lvl="3" algn="ctr">
              <a:lnSpc>
                <a:spcPct val="90000"/>
              </a:lnSpc>
              <a:spcBef>
                <a:spcPts val="600"/>
              </a:spcBef>
              <a:spcAft>
                <a:spcPts val="0"/>
              </a:spcAft>
              <a:buClr>
                <a:schemeClr val="dk1"/>
              </a:buClr>
              <a:buSzPts val="1600"/>
              <a:buNone/>
              <a:defRPr sz="1600"/>
            </a:lvl4pPr>
            <a:lvl5pPr lvl="4" algn="ctr">
              <a:lnSpc>
                <a:spcPct val="9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descr="An empty placeholder to add an image. Click on the placeholder and select the image that you wish to add." id="21" name="Google Shape;21;p32"/>
          <p:cNvSpPr/>
          <p:nvPr>
            <p:ph idx="2" type="pic"/>
          </p:nvPr>
        </p:nvSpPr>
        <p:spPr>
          <a:xfrm>
            <a:off x="6981063" y="1310656"/>
            <a:ext cx="5210937" cy="4208604"/>
          </a:xfrm>
          <a:prstGeom prst="rect">
            <a:avLst/>
          </a:prstGeom>
          <a:solidFill>
            <a:srgbClr val="DED9D6"/>
          </a:solidFill>
          <a:ln>
            <a:noFill/>
          </a:ln>
        </p:spPr>
      </p:sp>
      <p:sp>
        <p:nvSpPr>
          <p:cNvPr id="22" name="Google Shape;22;p32"/>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3" name="Google Shape;23;p32"/>
          <p:cNvGrpSpPr/>
          <p:nvPr/>
        </p:nvGrpSpPr>
        <p:grpSpPr>
          <a:xfrm>
            <a:off x="0" y="1143000"/>
            <a:ext cx="12192000" cy="63125"/>
            <a:chOff x="507492" y="1501519"/>
            <a:chExt cx="8129016" cy="63125"/>
          </a:xfrm>
        </p:grpSpPr>
        <p:cxnSp>
          <p:nvCxnSpPr>
            <p:cNvPr id="24" name="Google Shape;24;p32"/>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5" name="Google Shape;25;p32"/>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pic>
        <p:nvPicPr>
          <p:cNvPr id="26" name="Google Shape;26;p32"/>
          <p:cNvPicPr preferRelativeResize="0"/>
          <p:nvPr/>
        </p:nvPicPr>
        <p:blipFill rotWithShape="1">
          <a:blip r:embed="rId2">
            <a:alphaModFix/>
          </a:blip>
          <a:srcRect b="0" l="0" r="0" t="0"/>
          <a:stretch/>
        </p:blipFill>
        <p:spPr>
          <a:xfrm>
            <a:off x="1325880" y="0"/>
            <a:ext cx="1747524" cy="2292094"/>
          </a:xfrm>
          <a:prstGeom prst="rect">
            <a:avLst/>
          </a:prstGeom>
          <a:noFill/>
          <a:ln>
            <a:noFill/>
          </a:ln>
        </p:spPr>
      </p:pic>
      <p:grpSp>
        <p:nvGrpSpPr>
          <p:cNvPr id="27" name="Google Shape;27;p32"/>
          <p:cNvGrpSpPr/>
          <p:nvPr/>
        </p:nvGrpSpPr>
        <p:grpSpPr>
          <a:xfrm rot="10800000">
            <a:off x="1" y="5645510"/>
            <a:ext cx="12192000" cy="63125"/>
            <a:chOff x="507492" y="1501519"/>
            <a:chExt cx="8129016" cy="63125"/>
          </a:xfrm>
        </p:grpSpPr>
        <p:cxnSp>
          <p:nvCxnSpPr>
            <p:cNvPr id="28" name="Google Shape;28;p32"/>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9" name="Google Shape;29;p32"/>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30" name="Google Shape;30;p32"/>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3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3"/>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3"/>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7" name="Shape 37"/>
        <p:cNvGrpSpPr/>
        <p:nvPr/>
      </p:nvGrpSpPr>
      <p:grpSpPr>
        <a:xfrm>
          <a:off x="0" y="0"/>
          <a:ext cx="0" cy="0"/>
          <a:chOff x="0" y="0"/>
          <a:chExt cx="0" cy="0"/>
        </a:xfrm>
      </p:grpSpPr>
      <p:sp>
        <p:nvSpPr>
          <p:cNvPr id="38" name="Google Shape;38;p34"/>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39" name="Google Shape;39;p34"/>
          <p:cNvPicPr preferRelativeResize="0"/>
          <p:nvPr/>
        </p:nvPicPr>
        <p:blipFill rotWithShape="1">
          <a:blip r:embed="rId2">
            <a:alphaModFix/>
          </a:blip>
          <a:srcRect b="0" l="0" r="0" t="0"/>
          <a:stretch/>
        </p:blipFill>
        <p:spPr>
          <a:xfrm>
            <a:off x="1324445" y="0"/>
            <a:ext cx="1747524" cy="2292094"/>
          </a:xfrm>
          <a:prstGeom prst="rect">
            <a:avLst/>
          </a:prstGeom>
          <a:noFill/>
          <a:ln>
            <a:noFill/>
          </a:ln>
        </p:spPr>
      </p:pic>
      <p:sp>
        <p:nvSpPr>
          <p:cNvPr id="40" name="Google Shape;40;p34"/>
          <p:cNvSpPr txBox="1"/>
          <p:nvPr>
            <p:ph type="ctrTitle"/>
          </p:nvPr>
        </p:nvSpPr>
        <p:spPr>
          <a:xfrm>
            <a:off x="1104900" y="2292094"/>
            <a:ext cx="1009650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34"/>
          <p:cNvSpPr txBox="1"/>
          <p:nvPr>
            <p:ph idx="1" type="subTitle"/>
          </p:nvPr>
        </p:nvSpPr>
        <p:spPr>
          <a:xfrm>
            <a:off x="1104898" y="4511784"/>
            <a:ext cx="10096501" cy="955565"/>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dk1"/>
              </a:buClr>
              <a:buSzPts val="1800"/>
              <a:buNone/>
              <a:defRPr sz="1800"/>
            </a:lvl1pPr>
            <a:lvl2pPr lvl="1" algn="ctr">
              <a:lnSpc>
                <a:spcPct val="90000"/>
              </a:lnSpc>
              <a:spcBef>
                <a:spcPts val="600"/>
              </a:spcBef>
              <a:spcAft>
                <a:spcPts val="0"/>
              </a:spcAft>
              <a:buClr>
                <a:schemeClr val="dk1"/>
              </a:buClr>
              <a:buSzPts val="2000"/>
              <a:buNone/>
              <a:defRPr sz="2000"/>
            </a:lvl2pPr>
            <a:lvl3pPr lvl="2" algn="ctr">
              <a:lnSpc>
                <a:spcPct val="90000"/>
              </a:lnSpc>
              <a:spcBef>
                <a:spcPts val="600"/>
              </a:spcBef>
              <a:spcAft>
                <a:spcPts val="0"/>
              </a:spcAft>
              <a:buClr>
                <a:schemeClr val="dk1"/>
              </a:buClr>
              <a:buSzPts val="1800"/>
              <a:buNone/>
              <a:defRPr sz="1800"/>
            </a:lvl3pPr>
            <a:lvl4pPr lvl="3" algn="ctr">
              <a:lnSpc>
                <a:spcPct val="90000"/>
              </a:lnSpc>
              <a:spcBef>
                <a:spcPts val="600"/>
              </a:spcBef>
              <a:spcAft>
                <a:spcPts val="0"/>
              </a:spcAft>
              <a:buClr>
                <a:schemeClr val="dk1"/>
              </a:buClr>
              <a:buSzPts val="1600"/>
              <a:buNone/>
              <a:defRPr sz="1600"/>
            </a:lvl4pPr>
            <a:lvl5pPr lvl="4" algn="ctr">
              <a:lnSpc>
                <a:spcPct val="9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2" name="Google Shape;42;p34"/>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3" name="Google Shape;43;p34"/>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4"/>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b="0" i="0" sz="1200" u="none" cap="none" strike="noStrike">
                <a:solidFill>
                  <a:srgbClr val="DED9D6"/>
                </a:solidFill>
                <a:latin typeface="Arial"/>
                <a:ea typeface="Arial"/>
                <a:cs typeface="Arial"/>
                <a:sym typeface="Arial"/>
              </a:defRPr>
            </a:lvl1pPr>
            <a:lvl2pPr indent="0" lvl="1" marL="0" algn="r">
              <a:spcBef>
                <a:spcPts val="0"/>
              </a:spcBef>
              <a:buNone/>
              <a:defRPr b="0" i="0" sz="1200" u="none" cap="none" strike="noStrike">
                <a:solidFill>
                  <a:srgbClr val="DED9D6"/>
                </a:solidFill>
                <a:latin typeface="Arial"/>
                <a:ea typeface="Arial"/>
                <a:cs typeface="Arial"/>
                <a:sym typeface="Arial"/>
              </a:defRPr>
            </a:lvl2pPr>
            <a:lvl3pPr indent="0" lvl="2" marL="0" algn="r">
              <a:spcBef>
                <a:spcPts val="0"/>
              </a:spcBef>
              <a:buNone/>
              <a:defRPr b="0" i="0" sz="1200" u="none" cap="none" strike="noStrike">
                <a:solidFill>
                  <a:srgbClr val="DED9D6"/>
                </a:solidFill>
                <a:latin typeface="Arial"/>
                <a:ea typeface="Arial"/>
                <a:cs typeface="Arial"/>
                <a:sym typeface="Arial"/>
              </a:defRPr>
            </a:lvl3pPr>
            <a:lvl4pPr indent="0" lvl="3" marL="0" algn="r">
              <a:spcBef>
                <a:spcPts val="0"/>
              </a:spcBef>
              <a:buNone/>
              <a:defRPr b="0" i="0" sz="1200" u="none" cap="none" strike="noStrike">
                <a:solidFill>
                  <a:srgbClr val="DED9D6"/>
                </a:solidFill>
                <a:latin typeface="Arial"/>
                <a:ea typeface="Arial"/>
                <a:cs typeface="Arial"/>
                <a:sym typeface="Arial"/>
              </a:defRPr>
            </a:lvl4pPr>
            <a:lvl5pPr indent="0" lvl="4" marL="0" algn="r">
              <a:spcBef>
                <a:spcPts val="0"/>
              </a:spcBef>
              <a:buNone/>
              <a:defRPr b="0" i="0" sz="1200" u="none" cap="none" strike="noStrike">
                <a:solidFill>
                  <a:srgbClr val="DED9D6"/>
                </a:solidFill>
                <a:latin typeface="Arial"/>
                <a:ea typeface="Arial"/>
                <a:cs typeface="Arial"/>
                <a:sym typeface="Arial"/>
              </a:defRPr>
            </a:lvl5pPr>
            <a:lvl6pPr indent="0" lvl="5" marL="0" algn="r">
              <a:spcBef>
                <a:spcPts val="0"/>
              </a:spcBef>
              <a:buNone/>
              <a:defRPr b="0" i="0" sz="1200" u="none" cap="none" strike="noStrike">
                <a:solidFill>
                  <a:srgbClr val="DED9D6"/>
                </a:solidFill>
                <a:latin typeface="Arial"/>
                <a:ea typeface="Arial"/>
                <a:cs typeface="Arial"/>
                <a:sym typeface="Arial"/>
              </a:defRPr>
            </a:lvl6pPr>
            <a:lvl7pPr indent="0" lvl="6" marL="0" algn="r">
              <a:spcBef>
                <a:spcPts val="0"/>
              </a:spcBef>
              <a:buNone/>
              <a:defRPr b="0" i="0" sz="1200" u="none" cap="none" strike="noStrike">
                <a:solidFill>
                  <a:srgbClr val="DED9D6"/>
                </a:solidFill>
                <a:latin typeface="Arial"/>
                <a:ea typeface="Arial"/>
                <a:cs typeface="Arial"/>
                <a:sym typeface="Arial"/>
              </a:defRPr>
            </a:lvl7pPr>
            <a:lvl8pPr indent="0" lvl="7" marL="0" algn="r">
              <a:spcBef>
                <a:spcPts val="0"/>
              </a:spcBef>
              <a:buNone/>
              <a:defRPr b="0" i="0" sz="1200" u="none" cap="none" strike="noStrike">
                <a:solidFill>
                  <a:srgbClr val="DED9D6"/>
                </a:solidFill>
                <a:latin typeface="Arial"/>
                <a:ea typeface="Arial"/>
                <a:cs typeface="Arial"/>
                <a:sym typeface="Arial"/>
              </a:defRPr>
            </a:lvl8pPr>
            <a:lvl9pPr indent="0" lvl="8" marL="0" algn="r">
              <a:spcBef>
                <a:spcPts val="0"/>
              </a:spcBef>
              <a:buNone/>
              <a:defRPr b="0" i="0" sz="1200" u="none" cap="none" strike="noStrike">
                <a:solidFill>
                  <a:srgbClr val="DED9D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6" name="Shape 46"/>
        <p:cNvGrpSpPr/>
        <p:nvPr/>
      </p:nvGrpSpPr>
      <p:grpSpPr>
        <a:xfrm>
          <a:off x="0" y="0"/>
          <a:ext cx="0" cy="0"/>
          <a:chOff x="0" y="0"/>
          <a:chExt cx="0" cy="0"/>
        </a:xfrm>
      </p:grpSpPr>
      <p:grpSp>
        <p:nvGrpSpPr>
          <p:cNvPr id="47" name="Google Shape;47;p35"/>
          <p:cNvGrpSpPr/>
          <p:nvPr/>
        </p:nvGrpSpPr>
        <p:grpSpPr>
          <a:xfrm>
            <a:off x="0" y="2514600"/>
            <a:ext cx="12192000" cy="3194035"/>
            <a:chOff x="647402" y="2514600"/>
            <a:chExt cx="10838688" cy="3194035"/>
          </a:xfrm>
        </p:grpSpPr>
        <p:grpSp>
          <p:nvGrpSpPr>
            <p:cNvPr id="48" name="Google Shape;48;p35"/>
            <p:cNvGrpSpPr/>
            <p:nvPr/>
          </p:nvGrpSpPr>
          <p:grpSpPr>
            <a:xfrm>
              <a:off x="647402" y="2514600"/>
              <a:ext cx="10838688" cy="63125"/>
              <a:chOff x="507492" y="1501519"/>
              <a:chExt cx="8129016" cy="63125"/>
            </a:xfrm>
          </p:grpSpPr>
          <p:cxnSp>
            <p:nvCxnSpPr>
              <p:cNvPr id="49" name="Google Shape;49;p35"/>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50" name="Google Shape;50;p35"/>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51" name="Google Shape;51;p35"/>
            <p:cNvSpPr/>
            <p:nvPr/>
          </p:nvSpPr>
          <p:spPr>
            <a:xfrm>
              <a:off x="647402" y="2640850"/>
              <a:ext cx="10838688" cy="29415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52" name="Google Shape;52;p35"/>
            <p:cNvGrpSpPr/>
            <p:nvPr/>
          </p:nvGrpSpPr>
          <p:grpSpPr>
            <a:xfrm rot="10800000">
              <a:off x="647402" y="5645510"/>
              <a:ext cx="10838688" cy="63125"/>
              <a:chOff x="507492" y="1501519"/>
              <a:chExt cx="8129016" cy="63125"/>
            </a:xfrm>
          </p:grpSpPr>
          <p:cxnSp>
            <p:nvCxnSpPr>
              <p:cNvPr id="53" name="Google Shape;53;p35"/>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54" name="Google Shape;54;p35"/>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grpSp>
      <p:pic>
        <p:nvPicPr>
          <p:cNvPr id="55" name="Google Shape;55;p35"/>
          <p:cNvPicPr preferRelativeResize="0"/>
          <p:nvPr/>
        </p:nvPicPr>
        <p:blipFill rotWithShape="1">
          <a:blip r:embed="rId2">
            <a:alphaModFix/>
          </a:blip>
          <a:srcRect b="0" l="0" r="0" t="0"/>
          <a:stretch/>
        </p:blipFill>
        <p:spPr>
          <a:xfrm>
            <a:off x="1325880" y="0"/>
            <a:ext cx="1783188" cy="2971806"/>
          </a:xfrm>
          <a:prstGeom prst="rect">
            <a:avLst/>
          </a:prstGeom>
          <a:noFill/>
          <a:ln>
            <a:noFill/>
          </a:ln>
        </p:spPr>
      </p:pic>
      <p:sp>
        <p:nvSpPr>
          <p:cNvPr id="56" name="Google Shape;56;p35"/>
          <p:cNvSpPr txBox="1"/>
          <p:nvPr>
            <p:ph type="title"/>
          </p:nvPr>
        </p:nvSpPr>
        <p:spPr>
          <a:xfrm>
            <a:off x="1104899" y="2971806"/>
            <a:ext cx="10071099" cy="168415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lt1"/>
              </a:buClr>
              <a:buSzPts val="4400"/>
              <a:buFont typeface="Arial"/>
              <a:buNone/>
              <a:defRPr sz="4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5"/>
          <p:cNvSpPr txBox="1"/>
          <p:nvPr>
            <p:ph idx="1" type="body"/>
          </p:nvPr>
        </p:nvSpPr>
        <p:spPr>
          <a:xfrm>
            <a:off x="1104899" y="4655956"/>
            <a:ext cx="10071099" cy="50975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0"/>
              </a:spcBef>
              <a:spcAft>
                <a:spcPts val="0"/>
              </a:spcAft>
              <a:buClr>
                <a:schemeClr val="lt1"/>
              </a:buClr>
              <a:buSzPts val="1600"/>
              <a:buNone/>
              <a:defRPr sz="1600">
                <a:solidFill>
                  <a:schemeClr val="lt1"/>
                </a:solidFill>
              </a:defRPr>
            </a:lvl1pPr>
            <a:lvl2pPr indent="-228600" lvl="1" marL="914400" algn="l">
              <a:lnSpc>
                <a:spcPct val="90000"/>
              </a:lnSpc>
              <a:spcBef>
                <a:spcPts val="600"/>
              </a:spcBef>
              <a:spcAft>
                <a:spcPts val="0"/>
              </a:spcAft>
              <a:buClr>
                <a:srgbClr val="969391"/>
              </a:buClr>
              <a:buSzPts val="2000"/>
              <a:buNone/>
              <a:defRPr sz="2000">
                <a:solidFill>
                  <a:srgbClr val="969391"/>
                </a:solidFill>
              </a:defRPr>
            </a:lvl2pPr>
            <a:lvl3pPr indent="-228600" lvl="2" marL="1371600" algn="l">
              <a:lnSpc>
                <a:spcPct val="90000"/>
              </a:lnSpc>
              <a:spcBef>
                <a:spcPts val="600"/>
              </a:spcBef>
              <a:spcAft>
                <a:spcPts val="0"/>
              </a:spcAft>
              <a:buClr>
                <a:srgbClr val="969391"/>
              </a:buClr>
              <a:buSzPts val="1800"/>
              <a:buNone/>
              <a:defRPr sz="1800">
                <a:solidFill>
                  <a:srgbClr val="969391"/>
                </a:solidFill>
              </a:defRPr>
            </a:lvl3pPr>
            <a:lvl4pPr indent="-228600" lvl="3" marL="1828800" algn="l">
              <a:lnSpc>
                <a:spcPct val="90000"/>
              </a:lnSpc>
              <a:spcBef>
                <a:spcPts val="600"/>
              </a:spcBef>
              <a:spcAft>
                <a:spcPts val="0"/>
              </a:spcAft>
              <a:buClr>
                <a:srgbClr val="969391"/>
              </a:buClr>
              <a:buSzPts val="1600"/>
              <a:buNone/>
              <a:defRPr sz="1600">
                <a:solidFill>
                  <a:srgbClr val="969391"/>
                </a:solidFill>
              </a:defRPr>
            </a:lvl4pPr>
            <a:lvl5pPr indent="-228600" lvl="4" marL="2286000" algn="l">
              <a:lnSpc>
                <a:spcPct val="90000"/>
              </a:lnSpc>
              <a:spcBef>
                <a:spcPts val="600"/>
              </a:spcBef>
              <a:spcAft>
                <a:spcPts val="0"/>
              </a:spcAft>
              <a:buClr>
                <a:srgbClr val="969391"/>
              </a:buClr>
              <a:buSzPts val="1600"/>
              <a:buNone/>
              <a:defRPr sz="1600">
                <a:solidFill>
                  <a:srgbClr val="969391"/>
                </a:solidFill>
              </a:defRPr>
            </a:lvl5pPr>
            <a:lvl6pPr indent="-228600" lvl="5" marL="2743200" algn="l">
              <a:lnSpc>
                <a:spcPct val="90000"/>
              </a:lnSpc>
              <a:spcBef>
                <a:spcPts val="500"/>
              </a:spcBef>
              <a:spcAft>
                <a:spcPts val="0"/>
              </a:spcAft>
              <a:buClr>
                <a:srgbClr val="969391"/>
              </a:buClr>
              <a:buSzPts val="1600"/>
              <a:buNone/>
              <a:defRPr sz="1600">
                <a:solidFill>
                  <a:srgbClr val="969391"/>
                </a:solidFill>
              </a:defRPr>
            </a:lvl6pPr>
            <a:lvl7pPr indent="-228600" lvl="6" marL="3200400" algn="l">
              <a:lnSpc>
                <a:spcPct val="90000"/>
              </a:lnSpc>
              <a:spcBef>
                <a:spcPts val="500"/>
              </a:spcBef>
              <a:spcAft>
                <a:spcPts val="0"/>
              </a:spcAft>
              <a:buClr>
                <a:srgbClr val="969391"/>
              </a:buClr>
              <a:buSzPts val="1600"/>
              <a:buNone/>
              <a:defRPr sz="1600">
                <a:solidFill>
                  <a:srgbClr val="969391"/>
                </a:solidFill>
              </a:defRPr>
            </a:lvl7pPr>
            <a:lvl8pPr indent="-228600" lvl="7" marL="3657600" algn="l">
              <a:lnSpc>
                <a:spcPct val="90000"/>
              </a:lnSpc>
              <a:spcBef>
                <a:spcPts val="500"/>
              </a:spcBef>
              <a:spcAft>
                <a:spcPts val="0"/>
              </a:spcAft>
              <a:buClr>
                <a:srgbClr val="969391"/>
              </a:buClr>
              <a:buSzPts val="1600"/>
              <a:buNone/>
              <a:defRPr sz="1600">
                <a:solidFill>
                  <a:srgbClr val="969391"/>
                </a:solidFill>
              </a:defRPr>
            </a:lvl8pPr>
            <a:lvl9pPr indent="-228600" lvl="8" marL="4114800" algn="l">
              <a:lnSpc>
                <a:spcPct val="90000"/>
              </a:lnSpc>
              <a:spcBef>
                <a:spcPts val="500"/>
              </a:spcBef>
              <a:spcAft>
                <a:spcPts val="0"/>
              </a:spcAft>
              <a:buClr>
                <a:srgbClr val="969391"/>
              </a:buClr>
              <a:buSzPts val="1600"/>
              <a:buNone/>
              <a:defRPr sz="1600">
                <a:solidFill>
                  <a:srgbClr val="969391"/>
                </a:solidFill>
              </a:defRPr>
            </a:lvl9pPr>
          </a:lstStyle>
          <a:p/>
        </p:txBody>
      </p:sp>
      <p:sp>
        <p:nvSpPr>
          <p:cNvPr id="58" name="Google Shape;58;p35"/>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3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txBox="1"/>
          <p:nvPr>
            <p:ph idx="1" type="body"/>
          </p:nvPr>
        </p:nvSpPr>
        <p:spPr>
          <a:xfrm>
            <a:off x="11049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17500" lvl="4" marL="2286000" algn="l">
              <a:lnSpc>
                <a:spcPct val="90000"/>
              </a:lnSpc>
              <a:spcBef>
                <a:spcPts val="600"/>
              </a:spcBef>
              <a:spcAft>
                <a:spcPts val="0"/>
              </a:spcAft>
              <a:buClr>
                <a:schemeClr val="dk1"/>
              </a:buClr>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17500" lvl="8" marL="4114800" algn="l">
              <a:lnSpc>
                <a:spcPct val="90000"/>
              </a:lnSpc>
              <a:spcBef>
                <a:spcPts val="500"/>
              </a:spcBef>
              <a:spcAft>
                <a:spcPts val="0"/>
              </a:spcAft>
              <a:buClr>
                <a:schemeClr val="dk1"/>
              </a:buClr>
              <a:buSzPts val="1400"/>
              <a:buChar char="▪"/>
              <a:defRPr/>
            </a:lvl9pPr>
          </a:lstStyle>
          <a:p/>
        </p:txBody>
      </p:sp>
      <p:sp>
        <p:nvSpPr>
          <p:cNvPr id="64" name="Google Shape;64;p36"/>
          <p:cNvSpPr txBox="1"/>
          <p:nvPr>
            <p:ph idx="2" type="body"/>
          </p:nvPr>
        </p:nvSpPr>
        <p:spPr>
          <a:xfrm>
            <a:off x="61722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17500" lvl="4" marL="2286000" algn="l">
              <a:lnSpc>
                <a:spcPct val="90000"/>
              </a:lnSpc>
              <a:spcBef>
                <a:spcPts val="600"/>
              </a:spcBef>
              <a:spcAft>
                <a:spcPts val="0"/>
              </a:spcAft>
              <a:buClr>
                <a:schemeClr val="dk1"/>
              </a:buClr>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6"/>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sp>
        <p:nvSpPr>
          <p:cNvPr id="69" name="Google Shape;69;p3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7"/>
          <p:cNvSpPr txBox="1"/>
          <p:nvPr>
            <p:ph idx="1" type="body"/>
          </p:nvPr>
        </p:nvSpPr>
        <p:spPr>
          <a:xfrm>
            <a:off x="110490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1" name="Google Shape;71;p37"/>
          <p:cNvSpPr txBox="1"/>
          <p:nvPr>
            <p:ph idx="2" type="body"/>
          </p:nvPr>
        </p:nvSpPr>
        <p:spPr>
          <a:xfrm>
            <a:off x="110490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7"/>
          <p:cNvSpPr txBox="1"/>
          <p:nvPr>
            <p:ph idx="3" type="body"/>
          </p:nvPr>
        </p:nvSpPr>
        <p:spPr>
          <a:xfrm>
            <a:off x="616611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3" name="Google Shape;73;p37"/>
          <p:cNvSpPr txBox="1"/>
          <p:nvPr>
            <p:ph idx="4" type="body"/>
          </p:nvPr>
        </p:nvSpPr>
        <p:spPr>
          <a:xfrm>
            <a:off x="616611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37"/>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7"/>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3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8"/>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8"/>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2" name="Shape 82"/>
        <p:cNvGrpSpPr/>
        <p:nvPr/>
      </p:nvGrpSpPr>
      <p:grpSpPr>
        <a:xfrm>
          <a:off x="0" y="0"/>
          <a:ext cx="0" cy="0"/>
          <a:chOff x="0" y="0"/>
          <a:chExt cx="0" cy="0"/>
        </a:xfrm>
      </p:grpSpPr>
      <p:sp>
        <p:nvSpPr>
          <p:cNvPr id="83" name="Google Shape;83;p39"/>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9"/>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6" name="Shape 86"/>
        <p:cNvGrpSpPr/>
        <p:nvPr/>
      </p:nvGrpSpPr>
      <p:grpSpPr>
        <a:xfrm>
          <a:off x="0" y="0"/>
          <a:ext cx="0" cy="0"/>
          <a:chOff x="0" y="0"/>
          <a:chExt cx="0" cy="0"/>
        </a:xfrm>
      </p:grpSpPr>
      <p:sp>
        <p:nvSpPr>
          <p:cNvPr id="87" name="Google Shape;87;p4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40"/>
          <p:cNvSpPr txBox="1"/>
          <p:nvPr>
            <p:ph idx="1" type="body"/>
          </p:nvPr>
        </p:nvSpPr>
        <p:spPr>
          <a:xfrm>
            <a:off x="1104900" y="1600200"/>
            <a:ext cx="4384548" cy="45720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200"/>
              </a:spcBef>
              <a:spcAft>
                <a:spcPts val="0"/>
              </a:spcAft>
              <a:buClr>
                <a:schemeClr val="dk1"/>
              </a:buClr>
              <a:buSzPts val="1800"/>
              <a:buNone/>
              <a:defRPr sz="1800"/>
            </a:lvl1pPr>
            <a:lvl2pPr indent="-228600" lvl="1" marL="914400" algn="l">
              <a:lnSpc>
                <a:spcPct val="90000"/>
              </a:lnSpc>
              <a:spcBef>
                <a:spcPts val="600"/>
              </a:spcBef>
              <a:spcAft>
                <a:spcPts val="0"/>
              </a:spcAft>
              <a:buClr>
                <a:schemeClr val="dk1"/>
              </a:buClr>
              <a:buSzPts val="1400"/>
              <a:buNone/>
              <a:defRPr sz="1400"/>
            </a:lvl2pPr>
            <a:lvl3pPr indent="-228600" lvl="2" marL="1371600" algn="l">
              <a:lnSpc>
                <a:spcPct val="90000"/>
              </a:lnSpc>
              <a:spcBef>
                <a:spcPts val="600"/>
              </a:spcBef>
              <a:spcAft>
                <a:spcPts val="0"/>
              </a:spcAft>
              <a:buClr>
                <a:schemeClr val="dk1"/>
              </a:buClr>
              <a:buSzPts val="1200"/>
              <a:buNone/>
              <a:defRPr sz="1200"/>
            </a:lvl3pPr>
            <a:lvl4pPr indent="-228600" lvl="3" marL="1828800" algn="l">
              <a:lnSpc>
                <a:spcPct val="90000"/>
              </a:lnSpc>
              <a:spcBef>
                <a:spcPts val="600"/>
              </a:spcBef>
              <a:spcAft>
                <a:spcPts val="0"/>
              </a:spcAft>
              <a:buClr>
                <a:schemeClr val="dk1"/>
              </a:buClr>
              <a:buSzPts val="1000"/>
              <a:buNone/>
              <a:defRPr sz="1000"/>
            </a:lvl4pPr>
            <a:lvl5pPr indent="-228600" lvl="4" marL="2286000" algn="l">
              <a:lnSpc>
                <a:spcPct val="9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40"/>
          <p:cNvSpPr txBox="1"/>
          <p:nvPr>
            <p:ph idx="2" type="body"/>
          </p:nvPr>
        </p:nvSpPr>
        <p:spPr>
          <a:xfrm>
            <a:off x="5641848" y="1600199"/>
            <a:ext cx="5445252" cy="4572001"/>
          </a:xfrm>
          <a:prstGeom prst="rect">
            <a:avLst/>
          </a:prstGeom>
          <a:noFill/>
          <a:ln>
            <a:noFill/>
          </a:ln>
        </p:spPr>
        <p:txBody>
          <a:bodyPr anchorCtr="0" anchor="t" bIns="45700" lIns="0" spcFirstLastPara="1" rIns="0" wrap="square" tIns="45700">
            <a:normAutofit/>
          </a:bodyPr>
          <a:lstStyle>
            <a:lvl1pPr indent="-355600" lvl="0" marL="457200" algn="l">
              <a:lnSpc>
                <a:spcPct val="90000"/>
              </a:lnSpc>
              <a:spcBef>
                <a:spcPts val="1800"/>
              </a:spcBef>
              <a:spcAft>
                <a:spcPts val="0"/>
              </a:spcAft>
              <a:buClr>
                <a:schemeClr val="dk1"/>
              </a:buClr>
              <a:buSzPts val="2000"/>
              <a:buChar char="▪"/>
              <a:defRPr sz="2000"/>
            </a:lvl1pPr>
            <a:lvl2pPr indent="-330200" lvl="1" marL="914400" algn="l">
              <a:lnSpc>
                <a:spcPct val="90000"/>
              </a:lnSpc>
              <a:spcBef>
                <a:spcPts val="600"/>
              </a:spcBef>
              <a:spcAft>
                <a:spcPts val="0"/>
              </a:spcAft>
              <a:buClr>
                <a:schemeClr val="dk1"/>
              </a:buClr>
              <a:buSzPts val="1600"/>
              <a:buChar char="▪"/>
              <a:defRPr sz="1600"/>
            </a:lvl2pPr>
            <a:lvl3pPr indent="-330200" lvl="2" marL="1371600" algn="l">
              <a:lnSpc>
                <a:spcPct val="90000"/>
              </a:lnSpc>
              <a:spcBef>
                <a:spcPts val="600"/>
              </a:spcBef>
              <a:spcAft>
                <a:spcPts val="0"/>
              </a:spcAft>
              <a:buClr>
                <a:schemeClr val="dk1"/>
              </a:buClr>
              <a:buSzPts val="1600"/>
              <a:buChar char="▪"/>
              <a:defRPr sz="1600"/>
            </a:lvl3pPr>
            <a:lvl4pPr indent="-317500" lvl="3" marL="1828800" algn="l">
              <a:lnSpc>
                <a:spcPct val="90000"/>
              </a:lnSpc>
              <a:spcBef>
                <a:spcPts val="600"/>
              </a:spcBef>
              <a:spcAft>
                <a:spcPts val="0"/>
              </a:spcAft>
              <a:buClr>
                <a:schemeClr val="dk1"/>
              </a:buClr>
              <a:buSzPts val="1400"/>
              <a:buChar char="▪"/>
              <a:defRPr sz="1400"/>
            </a:lvl4pPr>
            <a:lvl5pPr indent="-317500" lvl="4" marL="2286000" algn="l">
              <a:lnSpc>
                <a:spcPct val="90000"/>
              </a:lnSpc>
              <a:spcBef>
                <a:spcPts val="600"/>
              </a:spcBef>
              <a:spcAft>
                <a:spcPts val="0"/>
              </a:spcAft>
              <a:buClr>
                <a:schemeClr val="dk1"/>
              </a:buClr>
              <a:buSzPts val="1400"/>
              <a:buChar char="▪"/>
              <a:defRPr sz="14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90" name="Google Shape;90;p40"/>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0"/>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3" name="Shape 93"/>
        <p:cNvGrpSpPr/>
        <p:nvPr/>
      </p:nvGrpSpPr>
      <p:grpSpPr>
        <a:xfrm>
          <a:off x="0" y="0"/>
          <a:ext cx="0" cy="0"/>
          <a:chOff x="0" y="0"/>
          <a:chExt cx="0" cy="0"/>
        </a:xfrm>
      </p:grpSpPr>
      <p:sp>
        <p:nvSpPr>
          <p:cNvPr id="94" name="Google Shape;94;p4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41"/>
          <p:cNvSpPr txBox="1"/>
          <p:nvPr>
            <p:ph idx="1" type="body"/>
          </p:nvPr>
        </p:nvSpPr>
        <p:spPr>
          <a:xfrm>
            <a:off x="1104900" y="1600200"/>
            <a:ext cx="3396996" cy="45720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200"/>
              </a:spcBef>
              <a:spcAft>
                <a:spcPts val="0"/>
              </a:spcAft>
              <a:buClr>
                <a:schemeClr val="dk1"/>
              </a:buClr>
              <a:buSzPts val="1800"/>
              <a:buNone/>
              <a:defRPr sz="1800"/>
            </a:lvl1pPr>
            <a:lvl2pPr indent="-228600" lvl="1" marL="914400" algn="l">
              <a:lnSpc>
                <a:spcPct val="90000"/>
              </a:lnSpc>
              <a:spcBef>
                <a:spcPts val="600"/>
              </a:spcBef>
              <a:spcAft>
                <a:spcPts val="0"/>
              </a:spcAft>
              <a:buClr>
                <a:schemeClr val="dk1"/>
              </a:buClr>
              <a:buSzPts val="1400"/>
              <a:buNone/>
              <a:defRPr sz="1400"/>
            </a:lvl2pPr>
            <a:lvl3pPr indent="-228600" lvl="2" marL="1371600" algn="l">
              <a:lnSpc>
                <a:spcPct val="90000"/>
              </a:lnSpc>
              <a:spcBef>
                <a:spcPts val="600"/>
              </a:spcBef>
              <a:spcAft>
                <a:spcPts val="0"/>
              </a:spcAft>
              <a:buClr>
                <a:schemeClr val="dk1"/>
              </a:buClr>
              <a:buSzPts val="1200"/>
              <a:buNone/>
              <a:defRPr sz="1200"/>
            </a:lvl3pPr>
            <a:lvl4pPr indent="-228600" lvl="3" marL="1828800" algn="l">
              <a:lnSpc>
                <a:spcPct val="90000"/>
              </a:lnSpc>
              <a:spcBef>
                <a:spcPts val="600"/>
              </a:spcBef>
              <a:spcAft>
                <a:spcPts val="0"/>
              </a:spcAft>
              <a:buClr>
                <a:schemeClr val="dk1"/>
              </a:buClr>
              <a:buSzPts val="1000"/>
              <a:buNone/>
              <a:defRPr sz="1000"/>
            </a:lvl4pPr>
            <a:lvl5pPr indent="-228600" lvl="4" marL="2286000" algn="l">
              <a:lnSpc>
                <a:spcPct val="9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descr="An empty placeholder to add an image. Click on the placeholder and select the image that you wish to add." id="96" name="Google Shape;96;p41"/>
          <p:cNvSpPr/>
          <p:nvPr>
            <p:ph idx="2" type="pic"/>
          </p:nvPr>
        </p:nvSpPr>
        <p:spPr>
          <a:xfrm>
            <a:off x="4654671" y="1600199"/>
            <a:ext cx="6430912" cy="4572001"/>
          </a:xfrm>
          <a:prstGeom prst="rect">
            <a:avLst/>
          </a:prstGeom>
          <a:noFill/>
          <a:ln>
            <a:noFill/>
          </a:ln>
        </p:spPr>
      </p:sp>
      <p:sp>
        <p:nvSpPr>
          <p:cNvPr id="97" name="Google Shape;97;p4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0" name="Shape 100"/>
        <p:cNvGrpSpPr/>
        <p:nvPr/>
      </p:nvGrpSpPr>
      <p:grpSpPr>
        <a:xfrm>
          <a:off x="0" y="0"/>
          <a:ext cx="0" cy="0"/>
          <a:chOff x="0" y="0"/>
          <a:chExt cx="0" cy="0"/>
        </a:xfrm>
      </p:grpSpPr>
      <p:sp>
        <p:nvSpPr>
          <p:cNvPr id="101" name="Google Shape;101;p4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42"/>
          <p:cNvSpPr txBox="1"/>
          <p:nvPr>
            <p:ph idx="1" type="body"/>
          </p:nvPr>
        </p:nvSpPr>
        <p:spPr>
          <a:xfrm rot="5400000">
            <a:off x="3810000" y="-1104900"/>
            <a:ext cx="4572000" cy="9982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4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4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06" name="Shape 106"/>
        <p:cNvGrpSpPr/>
        <p:nvPr/>
      </p:nvGrpSpPr>
      <p:grpSpPr>
        <a:xfrm>
          <a:off x="0" y="0"/>
          <a:ext cx="0" cy="0"/>
          <a:chOff x="0" y="0"/>
          <a:chExt cx="0" cy="0"/>
        </a:xfrm>
      </p:grpSpPr>
      <p:sp>
        <p:nvSpPr>
          <p:cNvPr id="107" name="Google Shape;107;p43"/>
          <p:cNvSpPr txBox="1"/>
          <p:nvPr>
            <p:ph type="title"/>
          </p:nvPr>
        </p:nvSpPr>
        <p:spPr>
          <a:xfrm rot="5400000">
            <a:off x="7323931" y="2413794"/>
            <a:ext cx="5811838" cy="17145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43"/>
          <p:cNvSpPr txBox="1"/>
          <p:nvPr>
            <p:ph idx="1" type="body"/>
          </p:nvPr>
        </p:nvSpPr>
        <p:spPr>
          <a:xfrm rot="5400000">
            <a:off x="2248429" y="-778404"/>
            <a:ext cx="5811838" cy="8098896"/>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43"/>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43"/>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4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12" name="Google Shape;112;p43"/>
          <p:cNvGrpSpPr/>
          <p:nvPr/>
        </p:nvGrpSpPr>
        <p:grpSpPr>
          <a:xfrm rot="5400000">
            <a:off x="6514047" y="3228843"/>
            <a:ext cx="5632704" cy="84403"/>
            <a:chOff x="1073150" y="1219201"/>
            <a:chExt cx="10058400" cy="63125"/>
          </a:xfrm>
        </p:grpSpPr>
        <p:cxnSp>
          <p:nvCxnSpPr>
            <p:cNvPr id="113" name="Google Shape;113;p43"/>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14" name="Google Shape;114;p43"/>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marR="0" rtl="0" algn="l">
              <a:lnSpc>
                <a:spcPct val="9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8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1pPr>
            <a:lvl2pPr indent="-330200" lvl="1" marL="914400" marR="0" rtl="0" algn="l">
              <a:lnSpc>
                <a:spcPct val="90000"/>
              </a:lnSpc>
              <a:spcBef>
                <a:spcPts val="60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2pPr>
            <a:lvl3pPr indent="-317500" lvl="2" marL="1371600" marR="0" rtl="0" algn="l">
              <a:lnSpc>
                <a:spcPct val="90000"/>
              </a:lnSpc>
              <a:spcBef>
                <a:spcPts val="6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6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6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12" name="Google Shape;12;p3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marR="0" rtl="0" algn="ctr">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rtl="0" algn="r">
              <a:spcBef>
                <a:spcPts val="0"/>
              </a:spcBef>
              <a:buNone/>
              <a:defRPr b="0" i="0" sz="1200" u="none" cap="none" strike="noStrike">
                <a:solidFill>
                  <a:srgbClr val="3C3632"/>
                </a:solidFill>
                <a:latin typeface="Arial"/>
                <a:ea typeface="Arial"/>
                <a:cs typeface="Arial"/>
                <a:sym typeface="Arial"/>
              </a:defRPr>
            </a:lvl1pPr>
            <a:lvl2pPr indent="0" lvl="1" marL="0" marR="0" rtl="0" algn="r">
              <a:spcBef>
                <a:spcPts val="0"/>
              </a:spcBef>
              <a:buNone/>
              <a:defRPr b="0" i="0" sz="1200" u="none" cap="none" strike="noStrike">
                <a:solidFill>
                  <a:srgbClr val="3C3632"/>
                </a:solidFill>
                <a:latin typeface="Arial"/>
                <a:ea typeface="Arial"/>
                <a:cs typeface="Arial"/>
                <a:sym typeface="Arial"/>
              </a:defRPr>
            </a:lvl2pPr>
            <a:lvl3pPr indent="0" lvl="2" marL="0" marR="0" rtl="0" algn="r">
              <a:spcBef>
                <a:spcPts val="0"/>
              </a:spcBef>
              <a:buNone/>
              <a:defRPr b="0" i="0" sz="1200" u="none" cap="none" strike="noStrike">
                <a:solidFill>
                  <a:srgbClr val="3C3632"/>
                </a:solidFill>
                <a:latin typeface="Arial"/>
                <a:ea typeface="Arial"/>
                <a:cs typeface="Arial"/>
                <a:sym typeface="Arial"/>
              </a:defRPr>
            </a:lvl3pPr>
            <a:lvl4pPr indent="0" lvl="3" marL="0" marR="0" rtl="0" algn="r">
              <a:spcBef>
                <a:spcPts val="0"/>
              </a:spcBef>
              <a:buNone/>
              <a:defRPr b="0" i="0" sz="1200" u="none" cap="none" strike="noStrike">
                <a:solidFill>
                  <a:srgbClr val="3C3632"/>
                </a:solidFill>
                <a:latin typeface="Arial"/>
                <a:ea typeface="Arial"/>
                <a:cs typeface="Arial"/>
                <a:sym typeface="Arial"/>
              </a:defRPr>
            </a:lvl4pPr>
            <a:lvl5pPr indent="0" lvl="4" marL="0" marR="0" rtl="0" algn="r">
              <a:spcBef>
                <a:spcPts val="0"/>
              </a:spcBef>
              <a:buNone/>
              <a:defRPr b="0" i="0" sz="1200" u="none" cap="none" strike="noStrike">
                <a:solidFill>
                  <a:srgbClr val="3C3632"/>
                </a:solidFill>
                <a:latin typeface="Arial"/>
                <a:ea typeface="Arial"/>
                <a:cs typeface="Arial"/>
                <a:sym typeface="Arial"/>
              </a:defRPr>
            </a:lvl5pPr>
            <a:lvl6pPr indent="0" lvl="5" marL="0" marR="0" rtl="0" algn="r">
              <a:spcBef>
                <a:spcPts val="0"/>
              </a:spcBef>
              <a:buNone/>
              <a:defRPr b="0" i="0" sz="1200" u="none" cap="none" strike="noStrike">
                <a:solidFill>
                  <a:srgbClr val="3C3632"/>
                </a:solidFill>
                <a:latin typeface="Arial"/>
                <a:ea typeface="Arial"/>
                <a:cs typeface="Arial"/>
                <a:sym typeface="Arial"/>
              </a:defRPr>
            </a:lvl6pPr>
            <a:lvl7pPr indent="0" lvl="6" marL="0" marR="0" rtl="0" algn="r">
              <a:spcBef>
                <a:spcPts val="0"/>
              </a:spcBef>
              <a:buNone/>
              <a:defRPr b="0" i="0" sz="1200" u="none" cap="none" strike="noStrike">
                <a:solidFill>
                  <a:srgbClr val="3C3632"/>
                </a:solidFill>
                <a:latin typeface="Arial"/>
                <a:ea typeface="Arial"/>
                <a:cs typeface="Arial"/>
                <a:sym typeface="Arial"/>
              </a:defRPr>
            </a:lvl7pPr>
            <a:lvl8pPr indent="0" lvl="7" marL="0" marR="0" rtl="0" algn="r">
              <a:spcBef>
                <a:spcPts val="0"/>
              </a:spcBef>
              <a:buNone/>
              <a:defRPr b="0" i="0" sz="1200" u="none" cap="none" strike="noStrike">
                <a:solidFill>
                  <a:srgbClr val="3C3632"/>
                </a:solidFill>
                <a:latin typeface="Arial"/>
                <a:ea typeface="Arial"/>
                <a:cs typeface="Arial"/>
                <a:sym typeface="Arial"/>
              </a:defRPr>
            </a:lvl8pPr>
            <a:lvl9pPr indent="0" lvl="8" marL="0" marR="0" rtl="0" algn="r">
              <a:spcBef>
                <a:spcPts val="0"/>
              </a:spcBef>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5" name="Google Shape;15;p31"/>
          <p:cNvGrpSpPr/>
          <p:nvPr/>
        </p:nvGrpSpPr>
        <p:grpSpPr>
          <a:xfrm>
            <a:off x="1103376" y="1219201"/>
            <a:ext cx="9985248" cy="84403"/>
            <a:chOff x="1073150" y="1219201"/>
            <a:chExt cx="10058400" cy="63125"/>
          </a:xfrm>
        </p:grpSpPr>
        <p:cxnSp>
          <p:nvCxnSpPr>
            <p:cNvPr id="16" name="Google Shape;16;p31"/>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7" name="Google Shape;17;p31"/>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
          <p:cNvSpPr txBox="1"/>
          <p:nvPr>
            <p:ph type="ctrTitle"/>
          </p:nvPr>
        </p:nvSpPr>
        <p:spPr>
          <a:xfrm>
            <a:off x="822798" y="1310656"/>
            <a:ext cx="5734050" cy="2219691"/>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CSE 455</a:t>
            </a:r>
            <a:br>
              <a:rPr lang="en-US"/>
            </a:br>
            <a:r>
              <a:rPr lang="en-US"/>
              <a:t>SOFTWARE TESTING</a:t>
            </a:r>
            <a:endParaRPr/>
          </a:p>
        </p:txBody>
      </p:sp>
      <p:sp>
        <p:nvSpPr>
          <p:cNvPr id="121" name="Google Shape;121;p1"/>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US"/>
              <a:t>This course is offered to the students of students of BS Software Engineering who are enrolled in 8</a:t>
            </a:r>
            <a:r>
              <a:rPr baseline="30000" lang="en-US"/>
              <a:t>th</a:t>
            </a:r>
            <a:r>
              <a:rPr lang="en-US"/>
              <a:t> semester</a:t>
            </a:r>
            <a:endParaRPr/>
          </a:p>
        </p:txBody>
      </p:sp>
      <p:pic>
        <p:nvPicPr>
          <p:cNvPr descr="Open book on table, blurred shelves of books in background" id="122" name="Google Shape;122;p1"/>
          <p:cNvPicPr preferRelativeResize="0"/>
          <p:nvPr>
            <p:ph idx="2" type="pic"/>
          </p:nvPr>
        </p:nvPicPr>
        <p:blipFill rotWithShape="1">
          <a:blip r:embed="rId3">
            <a:alphaModFix/>
          </a:blip>
          <a:srcRect b="0" l="8890" r="8889" t="0"/>
          <a:stretch/>
        </p:blipFill>
        <p:spPr>
          <a:xfrm>
            <a:off x="6981063" y="1310656"/>
            <a:ext cx="5210937" cy="4208604"/>
          </a:xfrm>
          <a:prstGeom prst="rect">
            <a:avLst/>
          </a:prstGeom>
          <a:solidFill>
            <a:srgbClr val="DED9D6"/>
          </a:solidFill>
          <a:ln>
            <a:noFill/>
          </a:ln>
        </p:spPr>
      </p:pic>
      <p:sp>
        <p:nvSpPr>
          <p:cNvPr id="123" name="Google Shape;123;p1"/>
          <p:cNvSpPr txBox="1"/>
          <p:nvPr/>
        </p:nvSpPr>
        <p:spPr>
          <a:xfrm>
            <a:off x="1466850" y="3655068"/>
            <a:ext cx="1045441" cy="454605"/>
          </a:xfrm>
          <a:prstGeom prst="rect">
            <a:avLst/>
          </a:prstGeom>
          <a:noFill/>
          <a:ln>
            <a:noFill/>
          </a:ln>
        </p:spPr>
        <p:txBody>
          <a:bodyPr anchorCtr="0" anchor="t" bIns="45700" lIns="0" spcFirstLastPara="1" rIns="0" wrap="square" tIns="45700">
            <a:normAutofit fontScale="92500"/>
          </a:bodyPr>
          <a:lstStyle/>
          <a:p>
            <a:pPr indent="0" lvl="0" marL="0" marR="0" rtl="0" algn="l">
              <a:lnSpc>
                <a:spcPct val="90000"/>
              </a:lnSpc>
              <a:spcBef>
                <a:spcPts val="0"/>
              </a:spcBef>
              <a:spcAft>
                <a:spcPts val="0"/>
              </a:spcAft>
              <a:buClr>
                <a:schemeClr val="dk1"/>
              </a:buClr>
              <a:buSzPct val="100000"/>
              <a:buFont typeface="Noto Sans Symbols"/>
              <a:buNone/>
            </a:pPr>
            <a:r>
              <a:rPr b="0" i="0" lang="en-US" sz="1800" u="none" cap="none" strike="noStrike">
                <a:solidFill>
                  <a:schemeClr val="dk1"/>
                </a:solidFill>
                <a:latin typeface="Arial"/>
                <a:ea typeface="Arial"/>
                <a:cs typeface="Arial"/>
                <a:sym typeface="Arial"/>
              </a:rPr>
              <a:t>Lecture 14</a:t>
            </a:r>
            <a:endParaRPr/>
          </a:p>
        </p:txBody>
      </p:sp>
      <p:pic>
        <p:nvPicPr>
          <p:cNvPr id="124" name="Google Shape;124;p1"/>
          <p:cNvPicPr preferRelativeResize="0"/>
          <p:nvPr/>
        </p:nvPicPr>
        <p:blipFill rotWithShape="1">
          <a:blip r:embed="rId4">
            <a:alphaModFix/>
          </a:blip>
          <a:srcRect b="0" l="0" r="0" t="0"/>
          <a:stretch/>
        </p:blipFill>
        <p:spPr>
          <a:xfrm>
            <a:off x="11101085" y="0"/>
            <a:ext cx="1090915" cy="108949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
          <p:cNvSpPr txBox="1"/>
          <p:nvPr>
            <p:ph type="ctrTitle"/>
          </p:nvPr>
        </p:nvSpPr>
        <p:spPr>
          <a:xfrm>
            <a:off x="3306618" y="1830275"/>
            <a:ext cx="5301673" cy="2219691"/>
          </a:xfrm>
          <a:prstGeom prst="rect">
            <a:avLst/>
          </a:prstGeom>
          <a:solidFill>
            <a:schemeClr val="accent3"/>
          </a:solidFill>
          <a:ln cap="flat" cmpd="thickThin" w="48500">
            <a:solidFill>
              <a:schemeClr val="lt1"/>
            </a:solidFill>
            <a:prstDash val="solid"/>
            <a:round/>
            <a:headEnd len="sm" w="sm" type="none"/>
            <a:tailEnd len="sm" w="sm" type="none"/>
          </a:ln>
          <a:effectLst>
            <a:outerShdw blurRad="45000" rotWithShape="0" dir="5400000" dist="25000">
              <a:srgbClr val="000000">
                <a:alpha val="37647"/>
              </a:srgbClr>
            </a:outerShdw>
          </a:effectLst>
        </p:spPr>
        <p:txBody>
          <a:bodyPr anchorCtr="0" anchor="ctr" bIns="45700" lIns="0" spcFirstLastPara="1" rIns="0" wrap="square" tIns="45700">
            <a:normAutofit/>
          </a:bodyPr>
          <a:lstStyle/>
          <a:p>
            <a:pPr indent="0" lvl="0" marL="0" rtl="0" algn="l">
              <a:lnSpc>
                <a:spcPct val="90000"/>
              </a:lnSpc>
              <a:spcBef>
                <a:spcPts val="0"/>
              </a:spcBef>
              <a:spcAft>
                <a:spcPts val="0"/>
              </a:spcAft>
              <a:buClr>
                <a:schemeClr val="lt1"/>
              </a:buClr>
              <a:buSzPts val="3000"/>
              <a:buFont typeface="Jacques Francois Shadow"/>
              <a:buNone/>
            </a:pPr>
            <a:r>
              <a:rPr lang="en-US" sz="3000">
                <a:solidFill>
                  <a:schemeClr val="lt1"/>
                </a:solidFill>
                <a:latin typeface="Jacques Francois Shadow"/>
                <a:ea typeface="Jacques Francois Shadow"/>
                <a:cs typeface="Jacques Francois Shadow"/>
                <a:sym typeface="Jacques Francois Shadow"/>
              </a:rPr>
              <a:t>   COURSE INSTRUCTOR</a:t>
            </a:r>
            <a:br>
              <a:rPr lang="en-US" sz="3000">
                <a:solidFill>
                  <a:schemeClr val="lt1"/>
                </a:solidFill>
                <a:latin typeface="Jacques Francois Shadow"/>
                <a:ea typeface="Jacques Francois Shadow"/>
                <a:cs typeface="Jacques Francois Shadow"/>
                <a:sym typeface="Jacques Francois Shadow"/>
              </a:rPr>
            </a:br>
            <a:br>
              <a:rPr lang="en-US" sz="3000">
                <a:solidFill>
                  <a:schemeClr val="lt1"/>
                </a:solidFill>
                <a:latin typeface="Jacques Francois Shadow"/>
                <a:ea typeface="Jacques Francois Shadow"/>
                <a:cs typeface="Jacques Francois Shadow"/>
                <a:sym typeface="Jacques Francois Shadow"/>
              </a:rPr>
            </a:br>
            <a:r>
              <a:rPr lang="en-US" sz="3000">
                <a:solidFill>
                  <a:schemeClr val="lt1"/>
                </a:solidFill>
                <a:latin typeface="Jacques Francois Shadow"/>
                <a:ea typeface="Jacques Francois Shadow"/>
                <a:cs typeface="Jacques Francois Shadow"/>
                <a:sym typeface="Jacques Francois Shadow"/>
              </a:rPr>
              <a:t>          YELLA MEHROZE</a:t>
            </a:r>
            <a:endParaRPr sz="3000">
              <a:latin typeface="Jacques Francois Shadow"/>
              <a:ea typeface="Jacques Francois Shadow"/>
              <a:cs typeface="Jacques Francois Shadow"/>
              <a:sym typeface="Jacques Francois Shadow"/>
            </a:endParaRPr>
          </a:p>
        </p:txBody>
      </p:sp>
      <p:sp>
        <p:nvSpPr>
          <p:cNvPr id="130" name="Google Shape;130;p2"/>
          <p:cNvSpPr txBox="1"/>
          <p:nvPr>
            <p:ph idx="1" type="subTitle"/>
          </p:nvPr>
        </p:nvSpPr>
        <p:spPr>
          <a:xfrm>
            <a:off x="3546765" y="4230255"/>
            <a:ext cx="4895272" cy="1126835"/>
          </a:xfrm>
          <a:prstGeom prst="rect">
            <a:avLst/>
          </a:prstGeom>
          <a:gradFill>
            <a:gsLst>
              <a:gs pos="0">
                <a:srgbClr val="AFB2C1"/>
              </a:gs>
              <a:gs pos="100000">
                <a:srgbClr val="9AA3B4"/>
              </a:gs>
            </a:gsLst>
            <a:path path="circle">
              <a:fillToRect b="50%" l="50%" r="50%" t="50%"/>
            </a:path>
            <a:tileRect/>
          </a:gradFill>
          <a:ln cap="rnd" cmpd="sng" w="9525">
            <a:solidFill>
              <a:srgbClr val="4F5667"/>
            </a:solidFill>
            <a:prstDash val="solid"/>
            <a:round/>
            <a:headEnd len="sm" w="sm" type="none"/>
            <a:tailEnd len="sm" w="sm" type="none"/>
          </a:ln>
          <a:effectLst>
            <a:outerShdw blurRad="45000" rotWithShape="0" dir="5400000" dist="25000">
              <a:srgbClr val="000000">
                <a:alpha val="37647"/>
              </a:srgbClr>
            </a:outerShdw>
          </a:effectLst>
        </p:spPr>
        <p:txBody>
          <a:bodyPr anchorCtr="0" anchor="t"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t/>
            </a:r>
            <a:endParaRPr/>
          </a:p>
          <a:p>
            <a:pPr indent="0" lvl="0" marL="0" rtl="0" algn="l">
              <a:lnSpc>
                <a:spcPct val="90000"/>
              </a:lnSpc>
              <a:spcBef>
                <a:spcPts val="0"/>
              </a:spcBef>
              <a:spcAft>
                <a:spcPts val="0"/>
              </a:spcAft>
              <a:buClr>
                <a:schemeClr val="dk1"/>
              </a:buClr>
              <a:buSzPts val="1800"/>
              <a:buNone/>
            </a:pPr>
            <a:r>
              <a:rPr lang="en-US">
                <a:solidFill>
                  <a:schemeClr val="dk1"/>
                </a:solidFill>
                <a:latin typeface="Jacques Francois Shadow"/>
                <a:ea typeface="Jacques Francois Shadow"/>
                <a:cs typeface="Jacques Francois Shadow"/>
                <a:sym typeface="Jacques Francois Shadow"/>
              </a:rPr>
              <a:t>    </a:t>
            </a:r>
            <a:endParaRPr/>
          </a:p>
          <a:p>
            <a:pPr indent="0" lvl="0" marL="0" rtl="0" algn="l">
              <a:lnSpc>
                <a:spcPct val="90000"/>
              </a:lnSpc>
              <a:spcBef>
                <a:spcPts val="0"/>
              </a:spcBef>
              <a:spcAft>
                <a:spcPts val="0"/>
              </a:spcAft>
              <a:buClr>
                <a:schemeClr val="dk1"/>
              </a:buClr>
              <a:buSzPts val="1800"/>
              <a:buNone/>
            </a:pPr>
            <a:r>
              <a:rPr lang="en-US">
                <a:solidFill>
                  <a:schemeClr val="dk1"/>
                </a:solidFill>
                <a:latin typeface="Jacques Francois Shadow"/>
                <a:ea typeface="Jacques Francois Shadow"/>
                <a:cs typeface="Jacques Francois Shadow"/>
                <a:sym typeface="Jacques Francois Shadow"/>
              </a:rPr>
              <a:t>yellamehroze@cuilahore.edu.pk</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ph type="ctrTitle"/>
          </p:nvPr>
        </p:nvSpPr>
        <p:spPr>
          <a:xfrm>
            <a:off x="116777" y="2292093"/>
            <a:ext cx="6729222" cy="2750044"/>
          </a:xfrm>
          <a:prstGeom prst="rect">
            <a:avLst/>
          </a:prstGeom>
          <a:noFill/>
          <a:ln>
            <a:noFill/>
          </a:ln>
        </p:spPr>
        <p:txBody>
          <a:bodyPr anchorCtr="0" anchor="ctr" bIns="45700" lIns="0" spcFirstLastPara="1" rIns="0" wrap="square" tIns="45700">
            <a:normAutofit/>
          </a:bodyPr>
          <a:lstStyle/>
          <a:p>
            <a:pPr indent="0" lvl="0" marL="0" rtl="0" algn="ctr">
              <a:lnSpc>
                <a:spcPct val="90000"/>
              </a:lnSpc>
              <a:spcBef>
                <a:spcPts val="0"/>
              </a:spcBef>
              <a:spcAft>
                <a:spcPts val="0"/>
              </a:spcAft>
              <a:buClr>
                <a:schemeClr val="dk1"/>
              </a:buClr>
              <a:buSzPts val="4400"/>
              <a:buFont typeface="Arial"/>
              <a:buNone/>
            </a:pPr>
            <a:br>
              <a:rPr lang="en-US"/>
            </a:br>
            <a:br>
              <a:rPr lang="en-US"/>
            </a:br>
            <a:r>
              <a:rPr lang="en-US" sz="3800"/>
              <a:t>TOPIC: BUG’S REPORTING</a:t>
            </a:r>
            <a:endParaRPr/>
          </a:p>
        </p:txBody>
      </p:sp>
      <p:sp>
        <p:nvSpPr>
          <p:cNvPr id="137" name="Google Shape;137;p3"/>
          <p:cNvSpPr/>
          <p:nvPr>
            <p:ph idx="2" type="pic"/>
          </p:nvPr>
        </p:nvSpPr>
        <p:spPr>
          <a:xfrm>
            <a:off x="6981063" y="1310656"/>
            <a:ext cx="5210937" cy="4208604"/>
          </a:xfrm>
          <a:prstGeom prst="rect">
            <a:avLst/>
          </a:prstGeom>
          <a:solidFill>
            <a:srgbClr val="DED9D6"/>
          </a:solidFill>
          <a:ln>
            <a:noFill/>
          </a:ln>
        </p:spPr>
      </p:sp>
      <p:pic>
        <p:nvPicPr>
          <p:cNvPr descr="H:\CIIT\software testing\Final Slides\thumb-defect-management-key-features.png" id="138" name="Google Shape;138;p3"/>
          <p:cNvPicPr preferRelativeResize="0"/>
          <p:nvPr/>
        </p:nvPicPr>
        <p:blipFill rotWithShape="1">
          <a:blip r:embed="rId3">
            <a:alphaModFix/>
          </a:blip>
          <a:srcRect b="0" l="0" r="0" t="0"/>
          <a:stretch/>
        </p:blipFill>
        <p:spPr>
          <a:xfrm>
            <a:off x="7001147" y="1309778"/>
            <a:ext cx="5180145" cy="4210158"/>
          </a:xfrm>
          <a:prstGeom prst="rect">
            <a:avLst/>
          </a:prstGeom>
          <a:noFill/>
          <a:ln>
            <a:noFill/>
          </a:ln>
        </p:spPr>
      </p:pic>
      <p:sp>
        <p:nvSpPr>
          <p:cNvPr id="139" name="Google Shape;139;p3"/>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Outline</a:t>
            </a:r>
            <a:endParaRPr/>
          </a:p>
        </p:txBody>
      </p:sp>
      <p:sp>
        <p:nvSpPr>
          <p:cNvPr id="145" name="Google Shape;145;p4"/>
          <p:cNvSpPr txBox="1"/>
          <p:nvPr>
            <p:ph idx="1" type="body"/>
          </p:nvPr>
        </p:nvSpPr>
        <p:spPr>
          <a:xfrm>
            <a:off x="1110344" y="1447800"/>
            <a:ext cx="9993086" cy="4800600"/>
          </a:xfrm>
          <a:prstGeom prst="rect">
            <a:avLst/>
          </a:prstGeom>
          <a:noFill/>
          <a:ln>
            <a:noFill/>
          </a:ln>
        </p:spPr>
        <p:txBody>
          <a:bodyPr anchorCtr="0" anchor="t" bIns="45700" lIns="0" spcFirstLastPara="1" rIns="0" wrap="square" tIns="45700">
            <a:normAutofit lnSpcReduction="10000"/>
          </a:bodyPr>
          <a:lstStyle/>
          <a:p>
            <a:pPr indent="-228600" lvl="0" marL="228600" rtl="0" algn="l">
              <a:lnSpc>
                <a:spcPct val="90000"/>
              </a:lnSpc>
              <a:spcBef>
                <a:spcPts val="0"/>
              </a:spcBef>
              <a:spcAft>
                <a:spcPts val="0"/>
              </a:spcAft>
              <a:buClr>
                <a:schemeClr val="dk1"/>
              </a:buClr>
              <a:buSzPts val="2000"/>
              <a:buChar char="▪"/>
            </a:pPr>
            <a:r>
              <a:rPr lang="en-US"/>
              <a:t>Objectives of Bug Reporting</a:t>
            </a:r>
            <a:endParaRPr/>
          </a:p>
          <a:p>
            <a:pPr indent="-228600" lvl="0" marL="228600" rtl="0" algn="l">
              <a:lnSpc>
                <a:spcPct val="90000"/>
              </a:lnSpc>
              <a:spcBef>
                <a:spcPts val="1800"/>
              </a:spcBef>
              <a:spcAft>
                <a:spcPts val="0"/>
              </a:spcAft>
              <a:buClr>
                <a:schemeClr val="dk1"/>
              </a:buClr>
              <a:buSzPts val="2000"/>
              <a:buChar char="▪"/>
            </a:pPr>
            <a:r>
              <a:rPr lang="en-US"/>
              <a:t>Introduction</a:t>
            </a:r>
            <a:endParaRPr/>
          </a:p>
          <a:p>
            <a:pPr indent="-228600" lvl="0" marL="228600" rtl="0" algn="l">
              <a:lnSpc>
                <a:spcPct val="90000"/>
              </a:lnSpc>
              <a:spcBef>
                <a:spcPts val="1800"/>
              </a:spcBef>
              <a:spcAft>
                <a:spcPts val="0"/>
              </a:spcAft>
              <a:buClr>
                <a:schemeClr val="dk1"/>
              </a:buClr>
              <a:buSzPts val="2000"/>
              <a:buChar char="▪"/>
            </a:pPr>
            <a:r>
              <a:rPr lang="en-US"/>
              <a:t>Getting Your Bugs Fixed</a:t>
            </a:r>
            <a:endParaRPr/>
          </a:p>
          <a:p>
            <a:pPr indent="-228600" lvl="0" marL="228600" rtl="0" algn="l">
              <a:lnSpc>
                <a:spcPct val="90000"/>
              </a:lnSpc>
              <a:spcBef>
                <a:spcPts val="1800"/>
              </a:spcBef>
              <a:spcAft>
                <a:spcPts val="0"/>
              </a:spcAft>
              <a:buClr>
                <a:schemeClr val="dk1"/>
              </a:buClr>
              <a:buSzPts val="2000"/>
              <a:buChar char="▪"/>
            </a:pPr>
            <a:r>
              <a:rPr lang="en-US"/>
              <a:t>Importance of Good Bug Reporting</a:t>
            </a:r>
            <a:endParaRPr/>
          </a:p>
          <a:p>
            <a:pPr indent="-228600" lvl="0" marL="228600" rtl="0" algn="l">
              <a:lnSpc>
                <a:spcPct val="90000"/>
              </a:lnSpc>
              <a:spcBef>
                <a:spcPts val="1800"/>
              </a:spcBef>
              <a:spcAft>
                <a:spcPts val="0"/>
              </a:spcAft>
              <a:buClr>
                <a:schemeClr val="dk1"/>
              </a:buClr>
              <a:buSzPts val="2000"/>
              <a:buChar char="▪"/>
            </a:pPr>
            <a:r>
              <a:rPr lang="en-US"/>
              <a:t>Characteristics of Good Bug Reporting</a:t>
            </a:r>
            <a:endParaRPr/>
          </a:p>
          <a:p>
            <a:pPr indent="-228600" lvl="0" marL="228600" rtl="0" algn="l">
              <a:lnSpc>
                <a:spcPct val="90000"/>
              </a:lnSpc>
              <a:spcBef>
                <a:spcPts val="1800"/>
              </a:spcBef>
              <a:spcAft>
                <a:spcPts val="0"/>
              </a:spcAft>
              <a:buClr>
                <a:schemeClr val="dk1"/>
              </a:buClr>
              <a:buSzPts val="2000"/>
              <a:buChar char="▪"/>
            </a:pPr>
            <a:r>
              <a:rPr lang="en-US"/>
              <a:t>Fundamental Principles for Reporting Bugs</a:t>
            </a:r>
            <a:endParaRPr/>
          </a:p>
          <a:p>
            <a:pPr indent="-228600" lvl="0" marL="228600" rtl="0" algn="l">
              <a:lnSpc>
                <a:spcPct val="90000"/>
              </a:lnSpc>
              <a:spcBef>
                <a:spcPts val="1800"/>
              </a:spcBef>
              <a:spcAft>
                <a:spcPts val="0"/>
              </a:spcAft>
              <a:buClr>
                <a:schemeClr val="dk1"/>
              </a:buClr>
              <a:buSzPts val="2000"/>
              <a:buChar char="▪"/>
            </a:pPr>
            <a:r>
              <a:rPr lang="en-US"/>
              <a:t>Isolating and Reproducing Bugs</a:t>
            </a:r>
            <a:endParaRPr/>
          </a:p>
          <a:p>
            <a:pPr indent="-228600" lvl="0" marL="228600" rtl="0" algn="l">
              <a:lnSpc>
                <a:spcPct val="90000"/>
              </a:lnSpc>
              <a:spcBef>
                <a:spcPts val="1800"/>
              </a:spcBef>
              <a:spcAft>
                <a:spcPts val="0"/>
              </a:spcAft>
              <a:buClr>
                <a:schemeClr val="dk1"/>
              </a:buClr>
              <a:buSzPts val="2000"/>
              <a:buChar char="▪"/>
            </a:pPr>
            <a:r>
              <a:rPr lang="en-US"/>
              <a:t>Bug’s Severity</a:t>
            </a:r>
            <a:endParaRPr/>
          </a:p>
          <a:p>
            <a:pPr indent="-228600" lvl="0" marL="228600" rtl="0" algn="l">
              <a:lnSpc>
                <a:spcPct val="90000"/>
              </a:lnSpc>
              <a:spcBef>
                <a:spcPts val="1800"/>
              </a:spcBef>
              <a:spcAft>
                <a:spcPts val="0"/>
              </a:spcAft>
              <a:buClr>
                <a:schemeClr val="dk1"/>
              </a:buClr>
              <a:buSzPts val="2000"/>
              <a:buChar char="▪"/>
            </a:pPr>
            <a:r>
              <a:rPr lang="en-US"/>
              <a:t>Bug’s Severity and Priority</a:t>
            </a:r>
            <a:endParaRPr/>
          </a:p>
          <a:p>
            <a:pPr indent="-228600" lvl="0" marL="228600" rtl="0" algn="l">
              <a:lnSpc>
                <a:spcPct val="90000"/>
              </a:lnSpc>
              <a:spcBef>
                <a:spcPts val="1800"/>
              </a:spcBef>
              <a:spcAft>
                <a:spcPts val="0"/>
              </a:spcAft>
              <a:buClr>
                <a:schemeClr val="dk1"/>
              </a:buClr>
              <a:buSzPts val="2000"/>
              <a:buChar char="▪"/>
            </a:pPr>
            <a:r>
              <a:rPr lang="en-US"/>
              <a:t>Test Incident Report</a:t>
            </a:r>
            <a:endParaRPr/>
          </a:p>
        </p:txBody>
      </p:sp>
      <p:sp>
        <p:nvSpPr>
          <p:cNvPr id="146" name="Google Shape;146;p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Objectives of Bug Reporting</a:t>
            </a:r>
            <a:endParaRPr/>
          </a:p>
        </p:txBody>
      </p:sp>
      <p:sp>
        <p:nvSpPr>
          <p:cNvPr id="152" name="Google Shape;152;p5"/>
          <p:cNvSpPr txBox="1"/>
          <p:nvPr>
            <p:ph idx="1" type="body"/>
          </p:nvPr>
        </p:nvSpPr>
        <p:spPr>
          <a:xfrm>
            <a:off x="1110344" y="1447800"/>
            <a:ext cx="9993086" cy="4800600"/>
          </a:xfrm>
          <a:prstGeom prst="rect">
            <a:avLst/>
          </a:prstGeom>
          <a:noFill/>
          <a:ln>
            <a:noFill/>
          </a:ln>
        </p:spPr>
        <p:txBody>
          <a:bodyPr anchorCtr="0" anchor="t" bIns="45700" lIns="0" spcFirstLastPara="1" rIns="0" wrap="square" tIns="45700">
            <a:normAutofit/>
          </a:bodyPr>
          <a:lstStyle/>
          <a:p>
            <a:pPr indent="-228600" lvl="0" marL="228600" rtl="0" algn="l">
              <a:lnSpc>
                <a:spcPct val="90000"/>
              </a:lnSpc>
              <a:spcBef>
                <a:spcPts val="0"/>
              </a:spcBef>
              <a:spcAft>
                <a:spcPts val="0"/>
              </a:spcAft>
              <a:buClr>
                <a:schemeClr val="dk1"/>
              </a:buClr>
              <a:buSzPts val="2000"/>
              <a:buChar char="▪"/>
            </a:pPr>
            <a:r>
              <a:rPr lang="en-US"/>
              <a:t>To provide the ability to track bugs/problems</a:t>
            </a:r>
            <a:endParaRPr/>
          </a:p>
          <a:p>
            <a:pPr indent="-228600" lvl="0" marL="228600" rtl="0" algn="l">
              <a:lnSpc>
                <a:spcPct val="90000"/>
              </a:lnSpc>
              <a:spcBef>
                <a:spcPts val="1800"/>
              </a:spcBef>
              <a:spcAft>
                <a:spcPts val="0"/>
              </a:spcAft>
              <a:buClr>
                <a:schemeClr val="dk1"/>
              </a:buClr>
              <a:buSzPts val="2000"/>
              <a:buChar char="▪"/>
            </a:pPr>
            <a:r>
              <a:rPr lang="en-US"/>
              <a:t>To state the problem as clearly as possible so that developers can replicate the bug easily and fix it.</a:t>
            </a:r>
            <a:endParaRPr/>
          </a:p>
          <a:p>
            <a:pPr indent="-228600" lvl="0" marL="228600" rtl="0" algn="l">
              <a:lnSpc>
                <a:spcPct val="90000"/>
              </a:lnSpc>
              <a:spcBef>
                <a:spcPts val="1800"/>
              </a:spcBef>
              <a:spcAft>
                <a:spcPts val="0"/>
              </a:spcAft>
              <a:buClr>
                <a:schemeClr val="dk1"/>
              </a:buClr>
              <a:buSzPts val="2000"/>
              <a:buChar char="▪"/>
            </a:pPr>
            <a:r>
              <a:rPr lang="en-US"/>
              <a:t>To provide standardized and custom query/reporting capabilities</a:t>
            </a:r>
            <a:endParaRPr/>
          </a:p>
          <a:p>
            <a:pPr indent="-228600" lvl="0" marL="228600" rtl="0" algn="l">
              <a:lnSpc>
                <a:spcPct val="90000"/>
              </a:lnSpc>
              <a:spcBef>
                <a:spcPts val="1800"/>
              </a:spcBef>
              <a:spcAft>
                <a:spcPts val="0"/>
              </a:spcAft>
              <a:buClr>
                <a:schemeClr val="dk1"/>
              </a:buClr>
              <a:buSzPts val="2000"/>
              <a:buChar char="▪"/>
            </a:pPr>
            <a:r>
              <a:rPr lang="en-US"/>
              <a:t>To provide integration to software Version Management system</a:t>
            </a:r>
            <a:endParaRPr/>
          </a:p>
        </p:txBody>
      </p:sp>
      <p:sp>
        <p:nvSpPr>
          <p:cNvPr id="153" name="Google Shape;153;p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Introduction</a:t>
            </a:r>
            <a:endParaRPr/>
          </a:p>
        </p:txBody>
      </p:sp>
      <p:grpSp>
        <p:nvGrpSpPr>
          <p:cNvPr id="159" name="Google Shape;159;p6"/>
          <p:cNvGrpSpPr/>
          <p:nvPr/>
        </p:nvGrpSpPr>
        <p:grpSpPr>
          <a:xfrm>
            <a:off x="2171993" y="1601425"/>
            <a:ext cx="7848013" cy="2270609"/>
            <a:chOff x="1067093" y="1225"/>
            <a:chExt cx="7848013" cy="2270609"/>
          </a:xfrm>
        </p:grpSpPr>
        <p:sp>
          <p:nvSpPr>
            <p:cNvPr id="160" name="Google Shape;160;p6"/>
            <p:cNvSpPr/>
            <p:nvPr/>
          </p:nvSpPr>
          <p:spPr>
            <a:xfrm>
              <a:off x="4991100" y="939493"/>
              <a:ext cx="2300361" cy="394072"/>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161" name="Google Shape;161;p6"/>
            <p:cNvSpPr/>
            <p:nvPr/>
          </p:nvSpPr>
          <p:spPr>
            <a:xfrm>
              <a:off x="4305723" y="939493"/>
              <a:ext cx="685376" cy="394072"/>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162" name="Google Shape;162;p6"/>
            <p:cNvSpPr/>
            <p:nvPr/>
          </p:nvSpPr>
          <p:spPr>
            <a:xfrm>
              <a:off x="2005361" y="939493"/>
              <a:ext cx="2985738" cy="394072"/>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163" name="Google Shape;163;p6"/>
            <p:cNvSpPr/>
            <p:nvPr/>
          </p:nvSpPr>
          <p:spPr>
            <a:xfrm>
              <a:off x="3518863" y="1225"/>
              <a:ext cx="2944473" cy="938268"/>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txBox="1"/>
            <p:nvPr/>
          </p:nvSpPr>
          <p:spPr>
            <a:xfrm>
              <a:off x="3518863" y="1225"/>
              <a:ext cx="2944473" cy="93826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Software Testing Tasks</a:t>
              </a:r>
              <a:endParaRPr b="0" i="0" sz="2000" u="none" cap="none" strike="noStrike">
                <a:solidFill>
                  <a:schemeClr val="lt1"/>
                </a:solidFill>
                <a:latin typeface="Arial"/>
                <a:ea typeface="Arial"/>
                <a:cs typeface="Arial"/>
                <a:sym typeface="Arial"/>
              </a:endParaRPr>
            </a:p>
          </p:txBody>
        </p:sp>
        <p:sp>
          <p:nvSpPr>
            <p:cNvPr id="165" name="Google Shape;165;p6"/>
            <p:cNvSpPr/>
            <p:nvPr/>
          </p:nvSpPr>
          <p:spPr>
            <a:xfrm>
              <a:off x="1067093" y="1333566"/>
              <a:ext cx="1876536" cy="938268"/>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txBox="1"/>
            <p:nvPr/>
          </p:nvSpPr>
          <p:spPr>
            <a:xfrm>
              <a:off x="1067093" y="1333566"/>
              <a:ext cx="1876536" cy="93826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Test Planning</a:t>
              </a:r>
              <a:endParaRPr b="0" i="0" sz="2000" u="none" cap="none" strike="noStrike">
                <a:solidFill>
                  <a:schemeClr val="lt1"/>
                </a:solidFill>
                <a:latin typeface="Arial"/>
                <a:ea typeface="Arial"/>
                <a:cs typeface="Arial"/>
                <a:sym typeface="Arial"/>
              </a:endParaRPr>
            </a:p>
          </p:txBody>
        </p:sp>
        <p:sp>
          <p:nvSpPr>
            <p:cNvPr id="167" name="Google Shape;167;p6"/>
            <p:cNvSpPr/>
            <p:nvPr/>
          </p:nvSpPr>
          <p:spPr>
            <a:xfrm>
              <a:off x="3337702" y="1333566"/>
              <a:ext cx="1936041" cy="938268"/>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txBox="1"/>
            <p:nvPr/>
          </p:nvSpPr>
          <p:spPr>
            <a:xfrm>
              <a:off x="3337702" y="1333566"/>
              <a:ext cx="1936041" cy="93826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Actual Testing</a:t>
              </a:r>
              <a:endParaRPr b="0" i="0" sz="2000" u="none" cap="none" strike="noStrike">
                <a:solidFill>
                  <a:schemeClr val="lt1"/>
                </a:solidFill>
                <a:latin typeface="Arial"/>
                <a:ea typeface="Arial"/>
                <a:cs typeface="Arial"/>
                <a:sym typeface="Arial"/>
              </a:endParaRPr>
            </a:p>
          </p:txBody>
        </p:sp>
        <p:sp>
          <p:nvSpPr>
            <p:cNvPr id="169" name="Google Shape;169;p6"/>
            <p:cNvSpPr/>
            <p:nvPr/>
          </p:nvSpPr>
          <p:spPr>
            <a:xfrm>
              <a:off x="5667816" y="1333566"/>
              <a:ext cx="3247290" cy="938268"/>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txBox="1"/>
            <p:nvPr/>
          </p:nvSpPr>
          <p:spPr>
            <a:xfrm>
              <a:off x="5667816" y="1333566"/>
              <a:ext cx="3247290" cy="93826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Reporting What You Find</a:t>
              </a:r>
              <a:endParaRPr b="0" i="0" sz="2000" u="none" cap="none" strike="noStrike">
                <a:solidFill>
                  <a:schemeClr val="lt1"/>
                </a:solidFill>
                <a:latin typeface="Arial"/>
                <a:ea typeface="Arial"/>
                <a:cs typeface="Arial"/>
                <a:sym typeface="Arial"/>
              </a:endParaRPr>
            </a:p>
          </p:txBody>
        </p:sp>
      </p:grpSp>
      <p:sp>
        <p:nvSpPr>
          <p:cNvPr id="171" name="Google Shape;171;p6"/>
          <p:cNvSpPr txBox="1"/>
          <p:nvPr/>
        </p:nvSpPr>
        <p:spPr>
          <a:xfrm>
            <a:off x="1103382" y="4459856"/>
            <a:ext cx="9982200" cy="1367286"/>
          </a:xfrm>
          <a:prstGeom prst="rect">
            <a:avLst/>
          </a:prstGeom>
          <a:noFill/>
          <a:ln>
            <a:noFill/>
          </a:ln>
        </p:spPr>
        <p:txBody>
          <a:bodyPr anchorCtr="0" anchor="t" bIns="45700" lIns="0" spcFirstLastPara="1" rIns="0" wrap="square" tIns="45700">
            <a:normAutofit/>
          </a:bodyPr>
          <a:lstStyle/>
          <a:p>
            <a:pPr indent="-228600" lvl="0" marL="228600" marR="0" rtl="0" algn="l">
              <a:lnSpc>
                <a:spcPct val="9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It seems that reporting what you find is simple and less time-consuming job but sometimes it is the most difficult task you perform as a tester</a:t>
            </a:r>
            <a:endParaRPr/>
          </a:p>
        </p:txBody>
      </p:sp>
      <p:sp>
        <p:nvSpPr>
          <p:cNvPr id="172" name="Google Shape;172;p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Getting Your Bugs Fixed</a:t>
            </a:r>
            <a:endParaRPr/>
          </a:p>
        </p:txBody>
      </p:sp>
      <p:grpSp>
        <p:nvGrpSpPr>
          <p:cNvPr id="179" name="Google Shape;179;p7"/>
          <p:cNvGrpSpPr/>
          <p:nvPr/>
        </p:nvGrpSpPr>
        <p:grpSpPr>
          <a:xfrm>
            <a:off x="1097281" y="1603966"/>
            <a:ext cx="6925286" cy="4335867"/>
            <a:chOff x="0" y="3766"/>
            <a:chExt cx="6925286" cy="4335867"/>
          </a:xfrm>
        </p:grpSpPr>
        <p:sp>
          <p:nvSpPr>
            <p:cNvPr id="180" name="Google Shape;180;p7"/>
            <p:cNvSpPr/>
            <p:nvPr/>
          </p:nvSpPr>
          <p:spPr>
            <a:xfrm>
              <a:off x="0" y="3766"/>
              <a:ext cx="6925286" cy="581651"/>
            </a:xfrm>
            <a:prstGeom prst="roundRect">
              <a:avLst>
                <a:gd fmla="val 16667"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txBox="1"/>
            <p:nvPr/>
          </p:nvSpPr>
          <p:spPr>
            <a:xfrm>
              <a:off x="28394" y="32160"/>
              <a:ext cx="6868498" cy="524863"/>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All bugs are not fixed and are normally</a:t>
              </a:r>
              <a:endParaRPr b="0" i="0" sz="2400" u="none" cap="none" strike="noStrike">
                <a:solidFill>
                  <a:schemeClr val="lt1"/>
                </a:solidFill>
                <a:latin typeface="Arial"/>
                <a:ea typeface="Arial"/>
                <a:cs typeface="Arial"/>
                <a:sym typeface="Arial"/>
              </a:endParaRPr>
            </a:p>
          </p:txBody>
        </p:sp>
        <p:sp>
          <p:nvSpPr>
            <p:cNvPr id="182" name="Google Shape;182;p7"/>
            <p:cNvSpPr/>
            <p:nvPr/>
          </p:nvSpPr>
          <p:spPr>
            <a:xfrm>
              <a:off x="0" y="585418"/>
              <a:ext cx="6925286" cy="91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txBox="1"/>
            <p:nvPr/>
          </p:nvSpPr>
          <p:spPr>
            <a:xfrm>
              <a:off x="0" y="585418"/>
              <a:ext cx="6925286" cy="910800"/>
            </a:xfrm>
            <a:prstGeom prst="rect">
              <a:avLst/>
            </a:prstGeom>
            <a:noFill/>
            <a:ln>
              <a:noFill/>
            </a:ln>
          </p:spPr>
          <p:txBody>
            <a:bodyPr anchorCtr="0" anchor="t" bIns="30475" lIns="219875" spcFirstLastPara="1" rIns="170675" wrap="square" tIns="30475">
              <a:noAutofit/>
            </a:bodyPr>
            <a:lstStyle/>
            <a:p>
              <a:pPr indent="-228600" lvl="1" marL="2286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Dismissed</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Deferred</a:t>
              </a:r>
              <a:endParaRPr b="0" i="0" sz="2400" u="none" cap="none" strike="noStrike">
                <a:solidFill>
                  <a:schemeClr val="dk1"/>
                </a:solidFill>
                <a:latin typeface="Arial"/>
                <a:ea typeface="Arial"/>
                <a:cs typeface="Arial"/>
                <a:sym typeface="Arial"/>
              </a:endParaRPr>
            </a:p>
          </p:txBody>
        </p:sp>
        <p:sp>
          <p:nvSpPr>
            <p:cNvPr id="184" name="Google Shape;184;p7"/>
            <p:cNvSpPr/>
            <p:nvPr/>
          </p:nvSpPr>
          <p:spPr>
            <a:xfrm>
              <a:off x="0" y="1496218"/>
              <a:ext cx="6925286" cy="623340"/>
            </a:xfrm>
            <a:prstGeom prst="roundRect">
              <a:avLst>
                <a:gd fmla="val 16667"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txBox="1"/>
            <p:nvPr/>
          </p:nvSpPr>
          <p:spPr>
            <a:xfrm>
              <a:off x="30429" y="1526647"/>
              <a:ext cx="6864428" cy="562482"/>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The reasons for not fixing a bug</a:t>
              </a:r>
              <a:endParaRPr b="0" i="0" sz="2400" u="none" cap="none" strike="noStrike">
                <a:solidFill>
                  <a:schemeClr val="lt1"/>
                </a:solidFill>
                <a:latin typeface="Arial"/>
                <a:ea typeface="Arial"/>
                <a:cs typeface="Arial"/>
                <a:sym typeface="Arial"/>
              </a:endParaRPr>
            </a:p>
          </p:txBody>
        </p:sp>
        <p:sp>
          <p:nvSpPr>
            <p:cNvPr id="186" name="Google Shape;186;p7"/>
            <p:cNvSpPr/>
            <p:nvPr/>
          </p:nvSpPr>
          <p:spPr>
            <a:xfrm>
              <a:off x="0" y="2119558"/>
              <a:ext cx="6925286" cy="222007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txBox="1"/>
            <p:nvPr/>
          </p:nvSpPr>
          <p:spPr>
            <a:xfrm>
              <a:off x="0" y="2119558"/>
              <a:ext cx="6925286" cy="2220075"/>
            </a:xfrm>
            <a:prstGeom prst="rect">
              <a:avLst/>
            </a:prstGeom>
            <a:noFill/>
            <a:ln>
              <a:noFill/>
            </a:ln>
          </p:spPr>
          <p:txBody>
            <a:bodyPr anchorCtr="0" anchor="t" bIns="30475" lIns="219875" spcFirstLastPara="1" rIns="170675" wrap="square" tIns="30475">
              <a:noAutofit/>
            </a:bodyPr>
            <a:lstStyle/>
            <a:p>
              <a:pPr indent="-228600" lvl="1" marL="2286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There’s not enough time</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It’s really not a bug</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Its too risky to fix</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It’s just not worth it</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Ineffective bug reporting</a:t>
              </a:r>
              <a:endParaRPr b="0" i="0" sz="2400" u="none" cap="none" strike="noStrike">
                <a:solidFill>
                  <a:schemeClr val="dk1"/>
                </a:solidFill>
                <a:latin typeface="Arial"/>
                <a:ea typeface="Arial"/>
                <a:cs typeface="Arial"/>
                <a:sym typeface="Arial"/>
              </a:endParaRPr>
            </a:p>
          </p:txBody>
        </p:sp>
      </p:grpSp>
      <p:pic>
        <p:nvPicPr>
          <p:cNvPr id="188" name="Google Shape;188;p7"/>
          <p:cNvPicPr preferRelativeResize="0"/>
          <p:nvPr/>
        </p:nvPicPr>
        <p:blipFill rotWithShape="1">
          <a:blip r:embed="rId3">
            <a:alphaModFix/>
          </a:blip>
          <a:srcRect b="0" l="0" r="0" t="0"/>
          <a:stretch/>
        </p:blipFill>
        <p:spPr>
          <a:xfrm>
            <a:off x="8033417" y="2743200"/>
            <a:ext cx="3052165" cy="2534849"/>
          </a:xfrm>
          <a:prstGeom prst="rect">
            <a:avLst/>
          </a:prstGeom>
          <a:noFill/>
          <a:ln>
            <a:noFill/>
          </a:ln>
        </p:spPr>
      </p:pic>
      <p:sp>
        <p:nvSpPr>
          <p:cNvPr id="189" name="Google Shape;189;p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Getting Your Bugs Fixed</a:t>
            </a:r>
            <a:endParaRPr/>
          </a:p>
        </p:txBody>
      </p:sp>
      <p:sp>
        <p:nvSpPr>
          <p:cNvPr id="195" name="Google Shape;195;p8"/>
          <p:cNvSpPr txBox="1"/>
          <p:nvPr>
            <p:ph idx="1" type="body"/>
          </p:nvPr>
        </p:nvSpPr>
        <p:spPr>
          <a:xfrm>
            <a:off x="1110343" y="1489166"/>
            <a:ext cx="9980024" cy="4232365"/>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b="1" lang="en-US"/>
              <a:t>Ineffective bug reporting- </a:t>
            </a:r>
            <a:r>
              <a:rPr lang="en-US"/>
              <a:t>The tester did not make a strong enough case that a particular bug should be fixed. </a:t>
            </a:r>
            <a:endParaRPr/>
          </a:p>
          <a:p>
            <a:pPr indent="-228600" lvl="0" marL="228600" rtl="0" algn="just">
              <a:lnSpc>
                <a:spcPct val="90000"/>
              </a:lnSpc>
              <a:spcBef>
                <a:spcPts val="1800"/>
              </a:spcBef>
              <a:spcAft>
                <a:spcPts val="0"/>
              </a:spcAft>
              <a:buClr>
                <a:schemeClr val="dk1"/>
              </a:buClr>
              <a:buSzPts val="2000"/>
              <a:buChar char="▪"/>
            </a:pPr>
            <a:r>
              <a:rPr lang="en-US"/>
              <a:t>So the bug was misunderstood as </a:t>
            </a:r>
            <a:endParaRPr/>
          </a:p>
          <a:p>
            <a:pPr indent="-228600" lvl="1" marL="685800" rtl="0" algn="just">
              <a:lnSpc>
                <a:spcPct val="90000"/>
              </a:lnSpc>
              <a:spcBef>
                <a:spcPts val="600"/>
              </a:spcBef>
              <a:spcAft>
                <a:spcPts val="0"/>
              </a:spcAft>
              <a:buClr>
                <a:schemeClr val="dk1"/>
              </a:buClr>
              <a:buSzPts val="2000"/>
              <a:buChar char="▪"/>
            </a:pPr>
            <a:r>
              <a:rPr lang="en-US" sz="2000"/>
              <a:t>Not being a bug</a:t>
            </a:r>
            <a:endParaRPr/>
          </a:p>
          <a:p>
            <a:pPr indent="-228600" lvl="1" marL="685800" rtl="0" algn="just">
              <a:lnSpc>
                <a:spcPct val="90000"/>
              </a:lnSpc>
              <a:spcBef>
                <a:spcPts val="600"/>
              </a:spcBef>
              <a:spcAft>
                <a:spcPts val="0"/>
              </a:spcAft>
              <a:buClr>
                <a:schemeClr val="dk1"/>
              </a:buClr>
              <a:buSzPts val="2000"/>
              <a:buChar char="▪"/>
            </a:pPr>
            <a:r>
              <a:rPr lang="en-US" sz="2000"/>
              <a:t>Was deemed not important enough to delay the product</a:t>
            </a:r>
            <a:endParaRPr/>
          </a:p>
          <a:p>
            <a:pPr indent="-228600" lvl="1" marL="685800" rtl="0" algn="just">
              <a:lnSpc>
                <a:spcPct val="90000"/>
              </a:lnSpc>
              <a:spcBef>
                <a:spcPts val="600"/>
              </a:spcBef>
              <a:spcAft>
                <a:spcPts val="0"/>
              </a:spcAft>
              <a:buClr>
                <a:schemeClr val="dk1"/>
              </a:buClr>
              <a:buSzPts val="2000"/>
              <a:buChar char="▪"/>
            </a:pPr>
            <a:r>
              <a:rPr lang="en-US" sz="2000"/>
              <a:t>Was thought to be too risky to fix </a:t>
            </a:r>
            <a:endParaRPr/>
          </a:p>
          <a:p>
            <a:pPr indent="-228600" lvl="1" marL="685800" rtl="0" algn="just">
              <a:lnSpc>
                <a:spcPct val="90000"/>
              </a:lnSpc>
              <a:spcBef>
                <a:spcPts val="600"/>
              </a:spcBef>
              <a:spcAft>
                <a:spcPts val="0"/>
              </a:spcAft>
              <a:buClr>
                <a:schemeClr val="dk1"/>
              </a:buClr>
              <a:buSzPts val="2000"/>
              <a:buChar char="▪"/>
            </a:pPr>
            <a:r>
              <a:rPr lang="en-US" sz="2000"/>
              <a:t>Was just plain considered to be not worth fixing</a:t>
            </a:r>
            <a:endParaRPr/>
          </a:p>
        </p:txBody>
      </p:sp>
      <p:sp>
        <p:nvSpPr>
          <p:cNvPr id="196" name="Google Shape;196;p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Importance of Good Bug Reporting</a:t>
            </a:r>
            <a:endParaRPr/>
          </a:p>
        </p:txBody>
      </p:sp>
      <p:sp>
        <p:nvSpPr>
          <p:cNvPr id="203" name="Google Shape;203;p9"/>
          <p:cNvSpPr txBox="1"/>
          <p:nvPr>
            <p:ph idx="1" type="body"/>
          </p:nvPr>
        </p:nvSpPr>
        <p:spPr>
          <a:xfrm>
            <a:off x="1123407" y="1447800"/>
            <a:ext cx="9966959" cy="5029200"/>
          </a:xfrm>
          <a:prstGeom prst="rect">
            <a:avLst/>
          </a:prstGeom>
          <a:noFill/>
          <a:ln>
            <a:noFill/>
          </a:ln>
        </p:spPr>
        <p:txBody>
          <a:bodyPr anchorCtr="0" anchor="t" bIns="45700" lIns="0" spcFirstLastPara="1" rIns="0" wrap="square" tIns="45700">
            <a:normAutofit/>
          </a:bodyPr>
          <a:lstStyle/>
          <a:p>
            <a:pPr indent="0" lvl="0" marL="82550" rtl="0" algn="l">
              <a:lnSpc>
                <a:spcPct val="90000"/>
              </a:lnSpc>
              <a:spcBef>
                <a:spcPts val="0"/>
              </a:spcBef>
              <a:spcAft>
                <a:spcPts val="0"/>
              </a:spcAft>
              <a:buClr>
                <a:schemeClr val="dk1"/>
              </a:buClr>
              <a:buSzPts val="4400"/>
              <a:buNone/>
            </a:pPr>
            <a:r>
              <a:t/>
            </a:r>
            <a:endParaRPr sz="4400"/>
          </a:p>
          <a:p>
            <a:pPr indent="0" lvl="0" marL="82550" rtl="0" algn="ctr">
              <a:lnSpc>
                <a:spcPct val="90000"/>
              </a:lnSpc>
              <a:spcBef>
                <a:spcPts val="1800"/>
              </a:spcBef>
              <a:spcAft>
                <a:spcPts val="0"/>
              </a:spcAft>
              <a:buClr>
                <a:schemeClr val="dk1"/>
              </a:buClr>
              <a:buSzPts val="4400"/>
              <a:buNone/>
            </a:pPr>
            <a:r>
              <a:rPr lang="en-US" sz="4400"/>
              <a:t>“The purpose of reporting a defect is to get it fixed.”</a:t>
            </a:r>
            <a:endParaRPr/>
          </a:p>
          <a:p>
            <a:pPr indent="0" lvl="0" marL="82550" rtl="0" algn="r">
              <a:lnSpc>
                <a:spcPct val="90000"/>
              </a:lnSpc>
              <a:spcBef>
                <a:spcPts val="1800"/>
              </a:spcBef>
              <a:spcAft>
                <a:spcPts val="0"/>
              </a:spcAft>
              <a:buClr>
                <a:schemeClr val="dk1"/>
              </a:buClr>
              <a:buSzPts val="2000"/>
              <a:buNone/>
            </a:pPr>
            <a:r>
              <a:t/>
            </a:r>
            <a:endParaRPr/>
          </a:p>
          <a:p>
            <a:pPr indent="0" lvl="0" marL="82550" rtl="0" algn="r">
              <a:lnSpc>
                <a:spcPct val="90000"/>
              </a:lnSpc>
              <a:spcBef>
                <a:spcPts val="1800"/>
              </a:spcBef>
              <a:spcAft>
                <a:spcPts val="0"/>
              </a:spcAft>
              <a:buClr>
                <a:schemeClr val="dk1"/>
              </a:buClr>
              <a:buSzPts val="2000"/>
              <a:buNone/>
            </a:pPr>
            <a:r>
              <a:rPr lang="en-US"/>
              <a:t>Cem Kaner</a:t>
            </a:r>
            <a:endParaRPr/>
          </a:p>
        </p:txBody>
      </p:sp>
      <p:sp>
        <p:nvSpPr>
          <p:cNvPr id="204" name="Google Shape;204;p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Importance of Good Bug Reporting</a:t>
            </a:r>
            <a:endParaRPr/>
          </a:p>
        </p:txBody>
      </p:sp>
      <p:sp>
        <p:nvSpPr>
          <p:cNvPr id="211" name="Google Shape;211;p10"/>
          <p:cNvSpPr txBox="1"/>
          <p:nvPr>
            <p:ph idx="1" type="body"/>
          </p:nvPr>
        </p:nvSpPr>
        <p:spPr>
          <a:xfrm>
            <a:off x="1097281" y="1447800"/>
            <a:ext cx="9993085"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A badly written bug report wastes time and effort for many people</a:t>
            </a:r>
            <a:endParaRPr/>
          </a:p>
          <a:p>
            <a:pPr indent="-228600" lvl="0" marL="228600" rtl="0" algn="just">
              <a:lnSpc>
                <a:spcPct val="90000"/>
              </a:lnSpc>
              <a:spcBef>
                <a:spcPts val="1800"/>
              </a:spcBef>
              <a:spcAft>
                <a:spcPts val="0"/>
              </a:spcAft>
              <a:buClr>
                <a:schemeClr val="dk1"/>
              </a:buClr>
              <a:buSzPts val="2000"/>
              <a:buChar char="▪"/>
            </a:pPr>
            <a:r>
              <a:rPr lang="en-US"/>
              <a:t>A concisely written, descriptive report results in the elimination of a bug in the easiest possible manner</a:t>
            </a:r>
            <a:endParaRPr/>
          </a:p>
          <a:p>
            <a:pPr indent="-228600" lvl="0" marL="228600" rtl="0" algn="just">
              <a:lnSpc>
                <a:spcPct val="90000"/>
              </a:lnSpc>
              <a:spcBef>
                <a:spcPts val="1800"/>
              </a:spcBef>
              <a:spcAft>
                <a:spcPts val="0"/>
              </a:spcAft>
              <a:buClr>
                <a:schemeClr val="dk1"/>
              </a:buClr>
              <a:buSzPts val="2000"/>
              <a:buChar char="▪"/>
            </a:pPr>
            <a:r>
              <a:rPr lang="en-US"/>
              <a:t>For testers, bug reports are primary deliverable for their work</a:t>
            </a:r>
            <a:endParaRPr/>
          </a:p>
          <a:p>
            <a:pPr indent="-228600" lvl="1" marL="685800" rtl="0" algn="just">
              <a:lnSpc>
                <a:spcPct val="90000"/>
              </a:lnSpc>
              <a:spcBef>
                <a:spcPts val="600"/>
              </a:spcBef>
              <a:spcAft>
                <a:spcPts val="0"/>
              </a:spcAft>
              <a:buClr>
                <a:schemeClr val="dk1"/>
              </a:buClr>
              <a:buSzPts val="2000"/>
              <a:buChar char="▪"/>
            </a:pPr>
            <a:r>
              <a:rPr lang="en-US" sz="2000"/>
              <a:t>The quality of a bug report is a direct representation of the quality of testers’ skills</a:t>
            </a:r>
            <a:endParaRPr/>
          </a:p>
          <a:p>
            <a:pPr indent="-228600" lvl="0" marL="228600" rtl="0" algn="just">
              <a:lnSpc>
                <a:spcPct val="90000"/>
              </a:lnSpc>
              <a:spcBef>
                <a:spcPts val="1800"/>
              </a:spcBef>
              <a:spcAft>
                <a:spcPts val="0"/>
              </a:spcAft>
              <a:buClr>
                <a:schemeClr val="dk1"/>
              </a:buClr>
              <a:buSzPts val="2000"/>
              <a:buChar char="▪"/>
            </a:pPr>
            <a:r>
              <a:rPr lang="en-US"/>
              <a:t>Bug report should be good enough because it may be distributed beyond the immediate project team </a:t>
            </a:r>
            <a:endParaRPr/>
          </a:p>
          <a:p>
            <a:pPr indent="-228600" lvl="1" marL="685800" rtl="0" algn="just">
              <a:lnSpc>
                <a:spcPct val="90000"/>
              </a:lnSpc>
              <a:spcBef>
                <a:spcPts val="600"/>
              </a:spcBef>
              <a:spcAft>
                <a:spcPts val="0"/>
              </a:spcAft>
              <a:buClr>
                <a:schemeClr val="dk1"/>
              </a:buClr>
              <a:buSzPts val="2000"/>
              <a:buChar char="▪"/>
            </a:pPr>
            <a:r>
              <a:rPr lang="en-US" sz="2000"/>
              <a:t>i.e. various levels of management within different organizations</a:t>
            </a:r>
            <a:endParaRPr/>
          </a:p>
        </p:txBody>
      </p:sp>
      <p:sp>
        <p:nvSpPr>
          <p:cNvPr id="212" name="Google Shape;212;p1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Characteristics of Good Bug Reporting</a:t>
            </a:r>
            <a:endParaRPr/>
          </a:p>
        </p:txBody>
      </p:sp>
      <p:grpSp>
        <p:nvGrpSpPr>
          <p:cNvPr id="218" name="Google Shape;218;p11"/>
          <p:cNvGrpSpPr/>
          <p:nvPr/>
        </p:nvGrpSpPr>
        <p:grpSpPr>
          <a:xfrm>
            <a:off x="1109463" y="2041804"/>
            <a:ext cx="9973073" cy="2698191"/>
            <a:chOff x="4563" y="441604"/>
            <a:chExt cx="9973073" cy="2698191"/>
          </a:xfrm>
        </p:grpSpPr>
        <p:sp>
          <p:nvSpPr>
            <p:cNvPr id="219" name="Google Shape;219;p11"/>
            <p:cNvSpPr/>
            <p:nvPr/>
          </p:nvSpPr>
          <p:spPr>
            <a:xfrm>
              <a:off x="4991100" y="1556559"/>
              <a:ext cx="3871581" cy="468281"/>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220" name="Google Shape;220;p11"/>
            <p:cNvSpPr/>
            <p:nvPr/>
          </p:nvSpPr>
          <p:spPr>
            <a:xfrm>
              <a:off x="4991100" y="1556559"/>
              <a:ext cx="591617" cy="468281"/>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221" name="Google Shape;221;p11"/>
            <p:cNvSpPr/>
            <p:nvPr/>
          </p:nvSpPr>
          <p:spPr>
            <a:xfrm>
              <a:off x="2668481" y="1556559"/>
              <a:ext cx="2322618" cy="468281"/>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222" name="Google Shape;222;p11"/>
            <p:cNvSpPr/>
            <p:nvPr/>
          </p:nvSpPr>
          <p:spPr>
            <a:xfrm>
              <a:off x="727767" y="1556559"/>
              <a:ext cx="4263332" cy="468281"/>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223" name="Google Shape;223;p11"/>
            <p:cNvSpPr/>
            <p:nvPr/>
          </p:nvSpPr>
          <p:spPr>
            <a:xfrm>
              <a:off x="2141508" y="441604"/>
              <a:ext cx="5699182" cy="1114955"/>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txBox="1"/>
            <p:nvPr/>
          </p:nvSpPr>
          <p:spPr>
            <a:xfrm>
              <a:off x="2141508" y="441604"/>
              <a:ext cx="5699182" cy="1114955"/>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Characteristics of Good Bug Reporting</a:t>
              </a:r>
              <a:endParaRPr b="0" i="0" sz="2400" u="none" cap="none" strike="noStrike">
                <a:solidFill>
                  <a:schemeClr val="lt1"/>
                </a:solidFill>
                <a:latin typeface="Arial"/>
                <a:ea typeface="Arial"/>
                <a:cs typeface="Arial"/>
                <a:sym typeface="Arial"/>
              </a:endParaRPr>
            </a:p>
          </p:txBody>
        </p:sp>
        <p:sp>
          <p:nvSpPr>
            <p:cNvPr id="225" name="Google Shape;225;p11"/>
            <p:cNvSpPr/>
            <p:nvPr/>
          </p:nvSpPr>
          <p:spPr>
            <a:xfrm>
              <a:off x="4563" y="2024840"/>
              <a:ext cx="1446409" cy="1114955"/>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txBox="1"/>
            <p:nvPr/>
          </p:nvSpPr>
          <p:spPr>
            <a:xfrm>
              <a:off x="4563" y="2024840"/>
              <a:ext cx="1446409" cy="1114955"/>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Minimal</a:t>
              </a:r>
              <a:endParaRPr b="0" i="0" sz="2400" u="none" cap="none" strike="noStrike">
                <a:solidFill>
                  <a:schemeClr val="lt1"/>
                </a:solidFill>
                <a:latin typeface="Arial"/>
                <a:ea typeface="Arial"/>
                <a:cs typeface="Arial"/>
                <a:sym typeface="Arial"/>
              </a:endParaRPr>
            </a:p>
          </p:txBody>
        </p:sp>
        <p:sp>
          <p:nvSpPr>
            <p:cNvPr id="227" name="Google Shape;227;p11"/>
            <p:cNvSpPr/>
            <p:nvPr/>
          </p:nvSpPr>
          <p:spPr>
            <a:xfrm>
              <a:off x="1919253" y="2024840"/>
              <a:ext cx="1498455" cy="1114955"/>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txBox="1"/>
            <p:nvPr/>
          </p:nvSpPr>
          <p:spPr>
            <a:xfrm>
              <a:off x="1919253" y="2024840"/>
              <a:ext cx="1498455" cy="1114955"/>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Singular</a:t>
              </a:r>
              <a:endParaRPr b="0" i="0" sz="2400" u="none" cap="none" strike="noStrike">
                <a:solidFill>
                  <a:schemeClr val="lt1"/>
                </a:solidFill>
                <a:latin typeface="Arial"/>
                <a:ea typeface="Arial"/>
                <a:cs typeface="Arial"/>
                <a:sym typeface="Arial"/>
              </a:endParaRPr>
            </a:p>
          </p:txBody>
        </p:sp>
        <p:sp>
          <p:nvSpPr>
            <p:cNvPr id="229" name="Google Shape;229;p11"/>
            <p:cNvSpPr/>
            <p:nvPr/>
          </p:nvSpPr>
          <p:spPr>
            <a:xfrm>
              <a:off x="3885989" y="2024840"/>
              <a:ext cx="3393455" cy="1114955"/>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txBox="1"/>
            <p:nvPr/>
          </p:nvSpPr>
          <p:spPr>
            <a:xfrm>
              <a:off x="3885989" y="2024840"/>
              <a:ext cx="3393455" cy="1114955"/>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Obvious and General</a:t>
              </a:r>
              <a:endParaRPr b="0" i="0" sz="2400" u="none" cap="none" strike="noStrike">
                <a:solidFill>
                  <a:schemeClr val="lt1"/>
                </a:solidFill>
                <a:latin typeface="Arial"/>
                <a:ea typeface="Arial"/>
                <a:cs typeface="Arial"/>
                <a:sym typeface="Arial"/>
              </a:endParaRPr>
            </a:p>
          </p:txBody>
        </p:sp>
        <p:sp>
          <p:nvSpPr>
            <p:cNvPr id="231" name="Google Shape;231;p11"/>
            <p:cNvSpPr/>
            <p:nvPr/>
          </p:nvSpPr>
          <p:spPr>
            <a:xfrm>
              <a:off x="7747726" y="2024840"/>
              <a:ext cx="2229910" cy="1114955"/>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txBox="1"/>
            <p:nvPr/>
          </p:nvSpPr>
          <p:spPr>
            <a:xfrm>
              <a:off x="7747726" y="2024840"/>
              <a:ext cx="2229910" cy="1114955"/>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Reproducible</a:t>
              </a:r>
              <a:endParaRPr b="0" i="0" sz="2400" u="none" cap="none" strike="noStrike">
                <a:solidFill>
                  <a:schemeClr val="lt1"/>
                </a:solidFill>
                <a:latin typeface="Arial"/>
                <a:ea typeface="Arial"/>
                <a:cs typeface="Arial"/>
                <a:sym typeface="Arial"/>
              </a:endParaRPr>
            </a:p>
          </p:txBody>
        </p:sp>
      </p:grpSp>
      <p:sp>
        <p:nvSpPr>
          <p:cNvPr id="233" name="Google Shape;233;p1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Characteristics of Good Bug Reporting</a:t>
            </a:r>
            <a:endParaRPr/>
          </a:p>
        </p:txBody>
      </p:sp>
      <p:sp>
        <p:nvSpPr>
          <p:cNvPr id="240" name="Google Shape;240;p12"/>
          <p:cNvSpPr txBox="1"/>
          <p:nvPr>
            <p:ph idx="1" type="body"/>
          </p:nvPr>
        </p:nvSpPr>
        <p:spPr>
          <a:xfrm>
            <a:off x="1110343" y="1447800"/>
            <a:ext cx="9980023"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None/>
            </a:pPr>
            <a:r>
              <a:rPr b="1" lang="en-US"/>
              <a:t>Minimal</a:t>
            </a:r>
            <a:endParaRPr/>
          </a:p>
          <a:p>
            <a:pPr indent="-228600" lvl="0" marL="228600" rtl="0" algn="just">
              <a:lnSpc>
                <a:spcPct val="90000"/>
              </a:lnSpc>
              <a:spcBef>
                <a:spcPts val="1800"/>
              </a:spcBef>
              <a:spcAft>
                <a:spcPts val="0"/>
              </a:spcAft>
              <a:buClr>
                <a:schemeClr val="dk1"/>
              </a:buClr>
              <a:buSzPts val="2000"/>
              <a:buChar char="▪"/>
            </a:pPr>
            <a:r>
              <a:rPr lang="en-US"/>
              <a:t>It explains just the facts and details necessary to demonstrate and describe the bug. </a:t>
            </a:r>
            <a:endParaRPr/>
          </a:p>
          <a:p>
            <a:pPr indent="-228600" lvl="0" marL="228600" rtl="0" algn="just">
              <a:lnSpc>
                <a:spcPct val="90000"/>
              </a:lnSpc>
              <a:spcBef>
                <a:spcPts val="1800"/>
              </a:spcBef>
              <a:spcAft>
                <a:spcPts val="0"/>
              </a:spcAft>
              <a:buClr>
                <a:schemeClr val="dk1"/>
              </a:buClr>
              <a:buSzPts val="2000"/>
              <a:buChar char="▪"/>
            </a:pPr>
            <a:r>
              <a:rPr lang="en-US"/>
              <a:t>Give an exact sequence of steps that show the problem. </a:t>
            </a:r>
            <a:endParaRPr/>
          </a:p>
          <a:p>
            <a:pPr indent="-228600" lvl="0" marL="228600" rtl="0" algn="just">
              <a:lnSpc>
                <a:spcPct val="90000"/>
              </a:lnSpc>
              <a:spcBef>
                <a:spcPts val="1800"/>
              </a:spcBef>
              <a:spcAft>
                <a:spcPts val="0"/>
              </a:spcAft>
              <a:buClr>
                <a:schemeClr val="dk1"/>
              </a:buClr>
              <a:buSzPts val="2000"/>
              <a:buChar char="▪"/>
            </a:pPr>
            <a:r>
              <a:rPr lang="en-US"/>
              <a:t>If more than one set of inputs or actions cause the bug, cite a couple of examples. </a:t>
            </a:r>
            <a:endParaRPr/>
          </a:p>
          <a:p>
            <a:pPr indent="-228600" lvl="0" marL="228600" rtl="0" algn="just">
              <a:lnSpc>
                <a:spcPct val="90000"/>
              </a:lnSpc>
              <a:spcBef>
                <a:spcPts val="1800"/>
              </a:spcBef>
              <a:spcAft>
                <a:spcPts val="0"/>
              </a:spcAft>
              <a:buClr>
                <a:schemeClr val="dk1"/>
              </a:buClr>
              <a:buSzPts val="2000"/>
              <a:buChar char="▪"/>
            </a:pPr>
            <a:r>
              <a:rPr lang="en-US"/>
              <a:t>Be short and to the point.</a:t>
            </a:r>
            <a:endParaRPr/>
          </a:p>
          <a:p>
            <a:pPr indent="-228600" lvl="0" marL="228600" rtl="0" algn="just">
              <a:lnSpc>
                <a:spcPct val="90000"/>
              </a:lnSpc>
              <a:spcBef>
                <a:spcPts val="1800"/>
              </a:spcBef>
              <a:spcAft>
                <a:spcPts val="0"/>
              </a:spcAft>
              <a:buClr>
                <a:schemeClr val="dk1"/>
              </a:buClr>
              <a:buSzPts val="2000"/>
              <a:buChar char="▪"/>
            </a:pPr>
            <a:r>
              <a:rPr b="1" lang="en-US"/>
              <a:t>Example:</a:t>
            </a:r>
            <a:r>
              <a:rPr lang="en-US"/>
              <a:t> In case of multiple paths, mention the exact path you followed: Let’s say A, B, C and X, Y, Z are paths. Do not say something like “If you do ‘A and X’ or ‘B and Y’ or ‘C and Z’, you get D.” Understanding all the paths at once will be difficult. Instead, say “Do ‘A and X’ and you get D.” You can, of course, mention elsewhere in the report that “D can also be got if you do ‘B and Y’ or ‘C and Z’.”</a:t>
            </a:r>
            <a:endParaRPr/>
          </a:p>
          <a:p>
            <a:pPr indent="-101600" lvl="0" marL="228600" rtl="0" algn="just">
              <a:lnSpc>
                <a:spcPct val="90000"/>
              </a:lnSpc>
              <a:spcBef>
                <a:spcPts val="1800"/>
              </a:spcBef>
              <a:spcAft>
                <a:spcPts val="0"/>
              </a:spcAft>
              <a:buClr>
                <a:schemeClr val="dk1"/>
              </a:buClr>
              <a:buSzPts val="2000"/>
              <a:buNone/>
            </a:pPr>
            <a:r>
              <a:t/>
            </a:r>
            <a:endParaRPr/>
          </a:p>
          <a:p>
            <a:pPr indent="-101600" lvl="0" marL="228600" rtl="0" algn="l">
              <a:lnSpc>
                <a:spcPct val="90000"/>
              </a:lnSpc>
              <a:spcBef>
                <a:spcPts val="1800"/>
              </a:spcBef>
              <a:spcAft>
                <a:spcPts val="0"/>
              </a:spcAft>
              <a:buClr>
                <a:schemeClr val="dk1"/>
              </a:buClr>
              <a:buSzPts val="2000"/>
              <a:buNone/>
            </a:pPr>
            <a:r>
              <a:t/>
            </a:r>
            <a:endParaRPr/>
          </a:p>
        </p:txBody>
      </p:sp>
      <p:sp>
        <p:nvSpPr>
          <p:cNvPr id="241" name="Google Shape;241;p1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Characteristics of Good Bug Reporting</a:t>
            </a:r>
            <a:endParaRPr/>
          </a:p>
        </p:txBody>
      </p:sp>
      <p:sp>
        <p:nvSpPr>
          <p:cNvPr id="248" name="Google Shape;248;p13"/>
          <p:cNvSpPr txBox="1"/>
          <p:nvPr>
            <p:ph idx="1" type="body"/>
          </p:nvPr>
        </p:nvSpPr>
        <p:spPr>
          <a:xfrm>
            <a:off x="1110343" y="1447800"/>
            <a:ext cx="9980023" cy="5029200"/>
          </a:xfrm>
          <a:prstGeom prst="rect">
            <a:avLst/>
          </a:prstGeom>
          <a:noFill/>
          <a:ln>
            <a:noFill/>
          </a:ln>
        </p:spPr>
        <p:txBody>
          <a:bodyPr anchorCtr="0" anchor="t" bIns="45700" lIns="0" spcFirstLastPara="1" rIns="0" wrap="square" tIns="45700">
            <a:normAutofit lnSpcReduction="10000"/>
          </a:bodyPr>
          <a:lstStyle/>
          <a:p>
            <a:pPr indent="-228600" lvl="0" marL="228600" rtl="0" algn="just">
              <a:lnSpc>
                <a:spcPct val="90000"/>
              </a:lnSpc>
              <a:spcBef>
                <a:spcPts val="0"/>
              </a:spcBef>
              <a:spcAft>
                <a:spcPts val="0"/>
              </a:spcAft>
              <a:buClr>
                <a:schemeClr val="dk1"/>
              </a:buClr>
              <a:buSzPts val="2000"/>
              <a:buNone/>
            </a:pPr>
            <a:r>
              <a:rPr b="1" lang="en-US"/>
              <a:t>Singular</a:t>
            </a:r>
            <a:endParaRPr/>
          </a:p>
          <a:p>
            <a:pPr indent="-228600" lvl="0" marL="228600" rtl="0" algn="just">
              <a:lnSpc>
                <a:spcPct val="90000"/>
              </a:lnSpc>
              <a:spcBef>
                <a:spcPts val="1800"/>
              </a:spcBef>
              <a:spcAft>
                <a:spcPts val="0"/>
              </a:spcAft>
              <a:buClr>
                <a:schemeClr val="dk1"/>
              </a:buClr>
              <a:buSzPts val="2000"/>
              <a:buChar char="▪"/>
            </a:pPr>
            <a:r>
              <a:rPr lang="en-US"/>
              <a:t>There should be only one bug per report. </a:t>
            </a:r>
            <a:endParaRPr/>
          </a:p>
          <a:p>
            <a:pPr indent="-228600" lvl="0" marL="228600" rtl="0" algn="just">
              <a:lnSpc>
                <a:spcPct val="90000"/>
              </a:lnSpc>
              <a:spcBef>
                <a:spcPts val="1800"/>
              </a:spcBef>
              <a:spcAft>
                <a:spcPts val="0"/>
              </a:spcAft>
              <a:buClr>
                <a:schemeClr val="dk1"/>
              </a:buClr>
              <a:buSzPts val="2000"/>
              <a:buChar char="▪"/>
            </a:pPr>
            <a:r>
              <a:rPr lang="en-US"/>
              <a:t>It is sometimes difficult to differentiate between similar looking bugs</a:t>
            </a:r>
            <a:endParaRPr/>
          </a:p>
          <a:p>
            <a:pPr indent="-228600" lvl="1" marL="685800" rtl="0" algn="just">
              <a:lnSpc>
                <a:spcPct val="90000"/>
              </a:lnSpc>
              <a:spcBef>
                <a:spcPts val="600"/>
              </a:spcBef>
              <a:spcAft>
                <a:spcPts val="0"/>
              </a:spcAft>
              <a:buClr>
                <a:schemeClr val="dk1"/>
              </a:buClr>
              <a:buSzPts val="2000"/>
              <a:buChar char="▪"/>
            </a:pPr>
            <a:r>
              <a:rPr lang="en-US" sz="2000"/>
              <a:t>Misspelled words on 15 different pages</a:t>
            </a:r>
            <a:endParaRPr/>
          </a:p>
          <a:p>
            <a:pPr indent="-228600" lvl="1" marL="685800" rtl="0" algn="just">
              <a:lnSpc>
                <a:spcPct val="90000"/>
              </a:lnSpc>
              <a:spcBef>
                <a:spcPts val="600"/>
              </a:spcBef>
              <a:spcAft>
                <a:spcPts val="0"/>
              </a:spcAft>
              <a:buClr>
                <a:schemeClr val="dk1"/>
              </a:buClr>
              <a:buSzPts val="2000"/>
              <a:buChar char="▪"/>
            </a:pPr>
            <a:r>
              <a:rPr lang="en-US" sz="2000"/>
              <a:t>The login dialog won’t accept passwords or login IDs with upper case characters</a:t>
            </a:r>
            <a:endParaRPr/>
          </a:p>
          <a:p>
            <a:pPr indent="-228600" lvl="0" marL="228600" rtl="0" algn="just">
              <a:lnSpc>
                <a:spcPct val="90000"/>
              </a:lnSpc>
              <a:spcBef>
                <a:spcPts val="1800"/>
              </a:spcBef>
              <a:spcAft>
                <a:spcPts val="0"/>
              </a:spcAft>
              <a:buClr>
                <a:schemeClr val="dk1"/>
              </a:buClr>
              <a:buSzPts val="2000"/>
              <a:buChar char="▪"/>
            </a:pPr>
            <a:r>
              <a:rPr lang="en-US"/>
              <a:t>The problem with reporting more than one bug in a single report is that </a:t>
            </a:r>
            <a:endParaRPr/>
          </a:p>
          <a:p>
            <a:pPr indent="-228600" lvl="1" marL="685800" rtl="0" algn="just">
              <a:lnSpc>
                <a:spcPct val="90000"/>
              </a:lnSpc>
              <a:spcBef>
                <a:spcPts val="600"/>
              </a:spcBef>
              <a:spcAft>
                <a:spcPts val="0"/>
              </a:spcAft>
              <a:buClr>
                <a:schemeClr val="dk1"/>
              </a:buClr>
              <a:buSzPts val="2000"/>
              <a:buChar char="▪"/>
            </a:pPr>
            <a:r>
              <a:rPr lang="en-US" sz="2000"/>
              <a:t>It’s only the first bug that gets attention and is fixed</a:t>
            </a:r>
            <a:endParaRPr/>
          </a:p>
          <a:p>
            <a:pPr indent="-228600" lvl="1" marL="685800" rtl="0" algn="just">
              <a:lnSpc>
                <a:spcPct val="90000"/>
              </a:lnSpc>
              <a:spcBef>
                <a:spcPts val="600"/>
              </a:spcBef>
              <a:spcAft>
                <a:spcPts val="0"/>
              </a:spcAft>
              <a:buClr>
                <a:schemeClr val="dk1"/>
              </a:buClr>
              <a:buSzPts val="2000"/>
              <a:buChar char="▪"/>
            </a:pPr>
            <a:r>
              <a:rPr lang="en-US" sz="2000"/>
              <a:t>Other become forgotten or ignored</a:t>
            </a:r>
            <a:endParaRPr/>
          </a:p>
          <a:p>
            <a:pPr indent="-228600" lvl="0" marL="228600" rtl="0" algn="just">
              <a:lnSpc>
                <a:spcPct val="90000"/>
              </a:lnSpc>
              <a:spcBef>
                <a:spcPts val="1800"/>
              </a:spcBef>
              <a:spcAft>
                <a:spcPts val="0"/>
              </a:spcAft>
              <a:buClr>
                <a:schemeClr val="dk1"/>
              </a:buClr>
              <a:buSzPts val="2000"/>
              <a:buChar char="▪"/>
            </a:pPr>
            <a:r>
              <a:rPr b="1" lang="en-US"/>
              <a:t>Tips: </a:t>
            </a:r>
            <a:endParaRPr/>
          </a:p>
          <a:p>
            <a:pPr indent="-228600" lvl="1" marL="685800" rtl="0" algn="just">
              <a:lnSpc>
                <a:spcPct val="90000"/>
              </a:lnSpc>
              <a:spcBef>
                <a:spcPts val="600"/>
              </a:spcBef>
              <a:spcAft>
                <a:spcPts val="0"/>
              </a:spcAft>
              <a:buClr>
                <a:schemeClr val="dk1"/>
              </a:buClr>
              <a:buSzPts val="2000"/>
              <a:buChar char="▪"/>
            </a:pPr>
            <a:r>
              <a:rPr lang="en-US" sz="2000"/>
              <a:t>When in doubt, enter individual bugs</a:t>
            </a:r>
            <a:endParaRPr/>
          </a:p>
          <a:p>
            <a:pPr indent="-228600" lvl="1" marL="685800" rtl="0" algn="just">
              <a:lnSpc>
                <a:spcPct val="90000"/>
              </a:lnSpc>
              <a:spcBef>
                <a:spcPts val="600"/>
              </a:spcBef>
              <a:spcAft>
                <a:spcPts val="0"/>
              </a:spcAft>
              <a:buClr>
                <a:schemeClr val="dk1"/>
              </a:buClr>
              <a:buSzPts val="2000"/>
              <a:buChar char="▪"/>
            </a:pPr>
            <a:r>
              <a:rPr lang="en-US" sz="2000"/>
              <a:t>You are looking for symptoms, not causes.</a:t>
            </a:r>
            <a:endParaRPr/>
          </a:p>
          <a:p>
            <a:pPr indent="-228600" lvl="1" marL="685800" rtl="0" algn="just">
              <a:lnSpc>
                <a:spcPct val="90000"/>
              </a:lnSpc>
              <a:spcBef>
                <a:spcPts val="600"/>
              </a:spcBef>
              <a:spcAft>
                <a:spcPts val="0"/>
              </a:spcAft>
              <a:buClr>
                <a:schemeClr val="dk1"/>
              </a:buClr>
              <a:buSzPts val="2000"/>
              <a:buChar char="▪"/>
            </a:pPr>
            <a:r>
              <a:rPr lang="en-US" sz="2000"/>
              <a:t>Several bugs may turn out to have same cause, but you cannot know that until the bug is fixed.</a:t>
            </a:r>
            <a:endParaRPr/>
          </a:p>
        </p:txBody>
      </p:sp>
      <p:sp>
        <p:nvSpPr>
          <p:cNvPr id="249" name="Google Shape;249;p1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Characteristics of Good Bug Reporting</a:t>
            </a:r>
            <a:endParaRPr/>
          </a:p>
        </p:txBody>
      </p:sp>
      <p:sp>
        <p:nvSpPr>
          <p:cNvPr id="256" name="Google Shape;256;p14"/>
          <p:cNvSpPr txBox="1"/>
          <p:nvPr>
            <p:ph idx="1" type="body"/>
          </p:nvPr>
        </p:nvSpPr>
        <p:spPr>
          <a:xfrm>
            <a:off x="1136469" y="1447800"/>
            <a:ext cx="9940834"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None/>
            </a:pPr>
            <a:r>
              <a:rPr b="1" lang="en-US"/>
              <a:t>Obvious and General</a:t>
            </a:r>
            <a:endParaRPr/>
          </a:p>
          <a:p>
            <a:pPr indent="-228600" lvl="0" marL="228600" rtl="0" algn="just">
              <a:lnSpc>
                <a:spcPct val="90000"/>
              </a:lnSpc>
              <a:spcBef>
                <a:spcPts val="1800"/>
              </a:spcBef>
              <a:spcAft>
                <a:spcPts val="0"/>
              </a:spcAft>
              <a:buClr>
                <a:schemeClr val="dk1"/>
              </a:buClr>
              <a:buSzPts val="2000"/>
              <a:buChar char="▪"/>
            </a:pPr>
            <a:r>
              <a:rPr lang="en-US"/>
              <a:t>A bug described with numerous complex steps that shows a very specific instance of a bug is less likely to get fixed </a:t>
            </a:r>
            <a:endParaRPr/>
          </a:p>
          <a:p>
            <a:pPr indent="-228600" lvl="0" marL="228600" rtl="0" algn="just">
              <a:lnSpc>
                <a:spcPct val="90000"/>
              </a:lnSpc>
              <a:spcBef>
                <a:spcPts val="1800"/>
              </a:spcBef>
              <a:spcAft>
                <a:spcPts val="0"/>
              </a:spcAft>
              <a:buClr>
                <a:schemeClr val="dk1"/>
              </a:buClr>
              <a:buSzPts val="2000"/>
              <a:buChar char="▪"/>
            </a:pPr>
            <a:r>
              <a:rPr lang="en-US"/>
              <a:t>A bug described with easily performed steps that show the bug to be very general and readily seen by a user is most likely to get fixed</a:t>
            </a:r>
            <a:endParaRPr/>
          </a:p>
          <a:p>
            <a:pPr indent="-228600" lvl="0" marL="228600" rtl="0" algn="just">
              <a:lnSpc>
                <a:spcPct val="90000"/>
              </a:lnSpc>
              <a:spcBef>
                <a:spcPts val="1800"/>
              </a:spcBef>
              <a:spcAft>
                <a:spcPts val="0"/>
              </a:spcAft>
              <a:buClr>
                <a:schemeClr val="dk1"/>
              </a:buClr>
              <a:buSzPts val="2000"/>
              <a:buChar char="▪"/>
            </a:pPr>
            <a:r>
              <a:rPr lang="en-US"/>
              <a:t>Bug isolation should be done and identify the keystrokes on which bugs occur</a:t>
            </a:r>
            <a:endParaRPr/>
          </a:p>
          <a:p>
            <a:pPr indent="-228600" lvl="0" marL="228600" rtl="0" algn="just">
              <a:lnSpc>
                <a:spcPct val="90000"/>
              </a:lnSpc>
              <a:spcBef>
                <a:spcPts val="1800"/>
              </a:spcBef>
              <a:spcAft>
                <a:spcPts val="0"/>
              </a:spcAft>
              <a:buClr>
                <a:schemeClr val="dk1"/>
              </a:buClr>
              <a:buSzPts val="2000"/>
              <a:buChar char="▪"/>
            </a:pPr>
            <a:r>
              <a:rPr b="1" lang="en-US"/>
              <a:t>Example: </a:t>
            </a:r>
            <a:r>
              <a:rPr lang="en-US"/>
              <a:t>Specify the exact action: Do not say something like ‘Select ButtonB’. Do you mean ‘Click ButtonB’ or ‘Press ALT+B’ or ‘Focus on ButtonB and click ENTER’? Of course, if the defect can be arrived at by using all the three ways, it’s okay to use a generic term as ‘Select’ but bear in mind that you might just get the fix for the ‘Click ButtonB’ scenario</a:t>
            </a:r>
            <a:endParaRPr/>
          </a:p>
        </p:txBody>
      </p:sp>
      <p:sp>
        <p:nvSpPr>
          <p:cNvPr id="257" name="Google Shape;257;p1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Characteristics of Good Bug Reporting</a:t>
            </a:r>
            <a:endParaRPr/>
          </a:p>
        </p:txBody>
      </p:sp>
      <p:sp>
        <p:nvSpPr>
          <p:cNvPr id="264" name="Google Shape;264;p15"/>
          <p:cNvSpPr txBox="1"/>
          <p:nvPr>
            <p:ph idx="1" type="body"/>
          </p:nvPr>
        </p:nvSpPr>
        <p:spPr>
          <a:xfrm>
            <a:off x="1136469" y="1447800"/>
            <a:ext cx="9953897" cy="5029200"/>
          </a:xfrm>
          <a:prstGeom prst="rect">
            <a:avLst/>
          </a:prstGeom>
          <a:noFill/>
          <a:ln>
            <a:noFill/>
          </a:ln>
        </p:spPr>
        <p:txBody>
          <a:bodyPr anchorCtr="0" anchor="t" bIns="45700" lIns="0" spcFirstLastPara="1" rIns="0"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None/>
            </a:pPr>
            <a:r>
              <a:rPr b="1" lang="en-US"/>
              <a:t>Reproducible</a:t>
            </a:r>
            <a:endParaRPr/>
          </a:p>
          <a:p>
            <a:pPr indent="-228600" lvl="0" marL="228600" rtl="0" algn="just">
              <a:lnSpc>
                <a:spcPct val="90000"/>
              </a:lnSpc>
              <a:spcBef>
                <a:spcPts val="1800"/>
              </a:spcBef>
              <a:spcAft>
                <a:spcPts val="0"/>
              </a:spcAft>
              <a:buClr>
                <a:schemeClr val="dk1"/>
              </a:buClr>
              <a:buSzPct val="100000"/>
              <a:buChar char="▪"/>
            </a:pPr>
            <a:r>
              <a:rPr lang="en-US"/>
              <a:t>Put on your detective hat and follow a predefined set of steps that will cause the software to achieve the same states and the bug to occur again. </a:t>
            </a:r>
            <a:endParaRPr/>
          </a:p>
          <a:p>
            <a:pPr indent="-228600" lvl="0" marL="228600" rtl="0" algn="just">
              <a:lnSpc>
                <a:spcPct val="90000"/>
              </a:lnSpc>
              <a:spcBef>
                <a:spcPts val="1800"/>
              </a:spcBef>
              <a:spcAft>
                <a:spcPts val="0"/>
              </a:spcAft>
              <a:buClr>
                <a:schemeClr val="dk1"/>
              </a:buClr>
              <a:buSzPct val="100000"/>
              <a:buChar char="▪"/>
            </a:pPr>
            <a:r>
              <a:rPr lang="en-US"/>
              <a:t>There is no such thing as a random software bug.</a:t>
            </a:r>
            <a:endParaRPr/>
          </a:p>
          <a:p>
            <a:pPr indent="-228600" lvl="0" marL="228600" rtl="0" algn="just">
              <a:lnSpc>
                <a:spcPct val="90000"/>
              </a:lnSpc>
              <a:spcBef>
                <a:spcPts val="1800"/>
              </a:spcBef>
              <a:spcAft>
                <a:spcPts val="0"/>
              </a:spcAft>
              <a:buClr>
                <a:schemeClr val="dk1"/>
              </a:buClr>
              <a:buSzPct val="100000"/>
              <a:buChar char="▪"/>
            </a:pPr>
            <a:r>
              <a:rPr lang="en-US"/>
              <a:t>If you create the exact same situation, with exact same inputs, the bug will reoccur</a:t>
            </a:r>
            <a:endParaRPr/>
          </a:p>
          <a:p>
            <a:pPr indent="-228600" lvl="0" marL="228600" rtl="0" algn="just">
              <a:lnSpc>
                <a:spcPct val="90000"/>
              </a:lnSpc>
              <a:spcBef>
                <a:spcPts val="1800"/>
              </a:spcBef>
              <a:spcAft>
                <a:spcPts val="0"/>
              </a:spcAft>
              <a:buClr>
                <a:schemeClr val="dk1"/>
              </a:buClr>
              <a:buSzPct val="100000"/>
              <a:buChar char="▪"/>
            </a:pPr>
            <a:r>
              <a:rPr lang="en-US"/>
              <a:t>However identifying and setting up that exact same situation and exact same inputs is tricky</a:t>
            </a:r>
            <a:endParaRPr/>
          </a:p>
          <a:p>
            <a:pPr indent="-228600" lvl="0" marL="228600" rtl="0" algn="just">
              <a:lnSpc>
                <a:spcPct val="90000"/>
              </a:lnSpc>
              <a:spcBef>
                <a:spcPts val="1800"/>
              </a:spcBef>
              <a:spcAft>
                <a:spcPts val="0"/>
              </a:spcAft>
              <a:buClr>
                <a:schemeClr val="dk1"/>
              </a:buClr>
              <a:buSzPct val="100000"/>
              <a:buChar char="▪"/>
            </a:pPr>
            <a:r>
              <a:rPr lang="en-US"/>
              <a:t>The difficulty is to try to isolate and reproduce what seems like </a:t>
            </a:r>
            <a:endParaRPr/>
          </a:p>
          <a:p>
            <a:pPr indent="-228600" lvl="1" marL="685800" rtl="0" algn="just">
              <a:lnSpc>
                <a:spcPct val="90000"/>
              </a:lnSpc>
              <a:spcBef>
                <a:spcPts val="600"/>
              </a:spcBef>
              <a:spcAft>
                <a:spcPts val="0"/>
              </a:spcAft>
              <a:buClr>
                <a:schemeClr val="dk1"/>
              </a:buClr>
              <a:buSzPct val="100000"/>
              <a:buChar char="▪"/>
            </a:pPr>
            <a:r>
              <a:rPr lang="en-US" sz="2000"/>
              <a:t>Random software behavior</a:t>
            </a:r>
            <a:endParaRPr/>
          </a:p>
          <a:p>
            <a:pPr indent="-228600" lvl="1" marL="685800" rtl="0" algn="just">
              <a:lnSpc>
                <a:spcPct val="90000"/>
              </a:lnSpc>
              <a:spcBef>
                <a:spcPts val="600"/>
              </a:spcBef>
              <a:spcAft>
                <a:spcPts val="0"/>
              </a:spcAft>
              <a:buClr>
                <a:schemeClr val="dk1"/>
              </a:buClr>
              <a:buSzPct val="100000"/>
              <a:buChar char="▪"/>
            </a:pPr>
            <a:r>
              <a:rPr lang="en-US" sz="2000"/>
              <a:t>Occasional crashes</a:t>
            </a:r>
            <a:endParaRPr/>
          </a:p>
          <a:p>
            <a:pPr indent="-228600" lvl="1" marL="685800" rtl="0" algn="just">
              <a:lnSpc>
                <a:spcPct val="90000"/>
              </a:lnSpc>
              <a:spcBef>
                <a:spcPts val="600"/>
              </a:spcBef>
              <a:spcAft>
                <a:spcPts val="0"/>
              </a:spcAft>
              <a:buClr>
                <a:schemeClr val="dk1"/>
              </a:buClr>
              <a:buSzPct val="100000"/>
              <a:buChar char="▪"/>
            </a:pPr>
            <a:r>
              <a:rPr lang="en-US" sz="2000"/>
              <a:t>By chance data corruption and so on</a:t>
            </a:r>
            <a:endParaRPr/>
          </a:p>
          <a:p>
            <a:pPr indent="-228600" lvl="0" marL="228600" rtl="0" algn="just">
              <a:lnSpc>
                <a:spcPct val="90000"/>
              </a:lnSpc>
              <a:spcBef>
                <a:spcPts val="1800"/>
              </a:spcBef>
              <a:spcAft>
                <a:spcPts val="0"/>
              </a:spcAft>
              <a:buClr>
                <a:schemeClr val="dk1"/>
              </a:buClr>
              <a:buSzPct val="100000"/>
              <a:buChar char="▪"/>
            </a:pPr>
            <a:r>
              <a:rPr lang="en-US"/>
              <a:t>However, if you cannot replicate it again after many trials, finally submit the report for further investigation, stating that you are unable to reproduce the defect anymore and provide any evidence of the defect if you had gathered.</a:t>
            </a:r>
            <a:endParaRPr/>
          </a:p>
        </p:txBody>
      </p:sp>
      <p:sp>
        <p:nvSpPr>
          <p:cNvPr id="265" name="Google Shape;265;p1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Fundamental Principles for Reporting Bugs</a:t>
            </a:r>
            <a:endParaRPr/>
          </a:p>
        </p:txBody>
      </p:sp>
      <p:grpSp>
        <p:nvGrpSpPr>
          <p:cNvPr id="271" name="Google Shape;271;p16"/>
          <p:cNvGrpSpPr/>
          <p:nvPr/>
        </p:nvGrpSpPr>
        <p:grpSpPr>
          <a:xfrm>
            <a:off x="3413755" y="1601455"/>
            <a:ext cx="5364488" cy="4569488"/>
            <a:chOff x="2308855" y="1255"/>
            <a:chExt cx="5364488" cy="4569488"/>
          </a:xfrm>
        </p:grpSpPr>
        <p:sp>
          <p:nvSpPr>
            <p:cNvPr id="272" name="Google Shape;272;p16"/>
            <p:cNvSpPr/>
            <p:nvPr/>
          </p:nvSpPr>
          <p:spPr>
            <a:xfrm>
              <a:off x="2308855" y="1255"/>
              <a:ext cx="5364488" cy="761581"/>
            </a:xfrm>
            <a:prstGeom prst="roundRect">
              <a:avLst>
                <a:gd fmla="val 10000"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6"/>
            <p:cNvSpPr txBox="1"/>
            <p:nvPr/>
          </p:nvSpPr>
          <p:spPr>
            <a:xfrm>
              <a:off x="2331161" y="23561"/>
              <a:ext cx="5319876" cy="716969"/>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Fundamental principles for reporting bugs</a:t>
              </a:r>
              <a:endParaRPr b="0" i="0" sz="2000" u="none" cap="none" strike="noStrike">
                <a:solidFill>
                  <a:schemeClr val="lt1"/>
                </a:solidFill>
                <a:latin typeface="Arial"/>
                <a:ea typeface="Arial"/>
                <a:cs typeface="Arial"/>
                <a:sym typeface="Arial"/>
              </a:endParaRPr>
            </a:p>
          </p:txBody>
        </p:sp>
        <p:sp>
          <p:nvSpPr>
            <p:cNvPr id="274" name="Google Shape;274;p16"/>
            <p:cNvSpPr/>
            <p:nvPr/>
          </p:nvSpPr>
          <p:spPr>
            <a:xfrm>
              <a:off x="2845304" y="762837"/>
              <a:ext cx="536448" cy="571186"/>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275" name="Google Shape;275;p16"/>
            <p:cNvSpPr/>
            <p:nvPr/>
          </p:nvSpPr>
          <p:spPr>
            <a:xfrm>
              <a:off x="3381753" y="953232"/>
              <a:ext cx="4248003" cy="761581"/>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txBox="1"/>
            <p:nvPr/>
          </p:nvSpPr>
          <p:spPr>
            <a:xfrm>
              <a:off x="3404059" y="975538"/>
              <a:ext cx="4203391" cy="716969"/>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Report bug as soon as possible</a:t>
              </a:r>
              <a:endParaRPr b="0" i="0" sz="2000" u="none" cap="none" strike="noStrike">
                <a:solidFill>
                  <a:schemeClr val="dk1"/>
                </a:solidFill>
                <a:latin typeface="Arial"/>
                <a:ea typeface="Arial"/>
                <a:cs typeface="Arial"/>
                <a:sym typeface="Arial"/>
              </a:endParaRPr>
            </a:p>
          </p:txBody>
        </p:sp>
        <p:sp>
          <p:nvSpPr>
            <p:cNvPr id="277" name="Google Shape;277;p16"/>
            <p:cNvSpPr/>
            <p:nvPr/>
          </p:nvSpPr>
          <p:spPr>
            <a:xfrm>
              <a:off x="2845304" y="762837"/>
              <a:ext cx="536448" cy="1523162"/>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278" name="Google Shape;278;p16"/>
            <p:cNvSpPr/>
            <p:nvPr/>
          </p:nvSpPr>
          <p:spPr>
            <a:xfrm>
              <a:off x="3381753" y="1905209"/>
              <a:ext cx="4248003" cy="761581"/>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txBox="1"/>
            <p:nvPr/>
          </p:nvSpPr>
          <p:spPr>
            <a:xfrm>
              <a:off x="3404059" y="1927515"/>
              <a:ext cx="4203391" cy="716969"/>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Effectively describe the bugs</a:t>
              </a:r>
              <a:endParaRPr b="0" i="0" sz="2000" u="none" cap="none" strike="noStrike">
                <a:solidFill>
                  <a:schemeClr val="dk1"/>
                </a:solidFill>
                <a:latin typeface="Arial"/>
                <a:ea typeface="Arial"/>
                <a:cs typeface="Arial"/>
                <a:sym typeface="Arial"/>
              </a:endParaRPr>
            </a:p>
          </p:txBody>
        </p:sp>
        <p:sp>
          <p:nvSpPr>
            <p:cNvPr id="280" name="Google Shape;280;p16"/>
            <p:cNvSpPr/>
            <p:nvPr/>
          </p:nvSpPr>
          <p:spPr>
            <a:xfrm>
              <a:off x="2845304" y="762837"/>
              <a:ext cx="536448" cy="2475139"/>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281" name="Google Shape;281;p16"/>
            <p:cNvSpPr/>
            <p:nvPr/>
          </p:nvSpPr>
          <p:spPr>
            <a:xfrm>
              <a:off x="3381753" y="2857186"/>
              <a:ext cx="4248003" cy="761581"/>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
            <p:cNvSpPr txBox="1"/>
            <p:nvPr/>
          </p:nvSpPr>
          <p:spPr>
            <a:xfrm>
              <a:off x="3404059" y="2879492"/>
              <a:ext cx="4203391" cy="716969"/>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Be non-judgmental in reporting bugs</a:t>
              </a:r>
              <a:endParaRPr b="0" i="0" sz="2000" u="none" cap="none" strike="noStrike">
                <a:solidFill>
                  <a:schemeClr val="dk1"/>
                </a:solidFill>
                <a:latin typeface="Arial"/>
                <a:ea typeface="Arial"/>
                <a:cs typeface="Arial"/>
                <a:sym typeface="Arial"/>
              </a:endParaRPr>
            </a:p>
          </p:txBody>
        </p:sp>
        <p:sp>
          <p:nvSpPr>
            <p:cNvPr id="283" name="Google Shape;283;p16"/>
            <p:cNvSpPr/>
            <p:nvPr/>
          </p:nvSpPr>
          <p:spPr>
            <a:xfrm>
              <a:off x="2845304" y="762837"/>
              <a:ext cx="536448" cy="3427116"/>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284" name="Google Shape;284;p16"/>
            <p:cNvSpPr/>
            <p:nvPr/>
          </p:nvSpPr>
          <p:spPr>
            <a:xfrm>
              <a:off x="3381753" y="3809162"/>
              <a:ext cx="4248003" cy="761581"/>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txBox="1"/>
            <p:nvPr/>
          </p:nvSpPr>
          <p:spPr>
            <a:xfrm>
              <a:off x="3404059" y="3831468"/>
              <a:ext cx="4203391" cy="716969"/>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Follow up on your bug reports</a:t>
              </a:r>
              <a:endParaRPr b="0" i="0" sz="2000" u="none" cap="none" strike="noStrike">
                <a:solidFill>
                  <a:schemeClr val="dk1"/>
                </a:solidFill>
                <a:latin typeface="Arial"/>
                <a:ea typeface="Arial"/>
                <a:cs typeface="Arial"/>
                <a:sym typeface="Arial"/>
              </a:endParaRPr>
            </a:p>
          </p:txBody>
        </p:sp>
      </p:grpSp>
      <p:sp>
        <p:nvSpPr>
          <p:cNvPr id="286" name="Google Shape;286;p1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Fundamental Principles for Reporting Bugs</a:t>
            </a:r>
            <a:endParaRPr/>
          </a:p>
        </p:txBody>
      </p:sp>
      <p:sp>
        <p:nvSpPr>
          <p:cNvPr id="292" name="Google Shape;292;p1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None/>
            </a:pPr>
            <a:r>
              <a:rPr b="1" lang="en-US"/>
              <a:t>Report bug as soon as possible</a:t>
            </a:r>
            <a:endParaRPr/>
          </a:p>
          <a:p>
            <a:pPr indent="-228600" lvl="0" marL="228600" rtl="0" algn="just">
              <a:lnSpc>
                <a:spcPct val="90000"/>
              </a:lnSpc>
              <a:spcBef>
                <a:spcPts val="1800"/>
              </a:spcBef>
              <a:spcAft>
                <a:spcPts val="0"/>
              </a:spcAft>
              <a:buClr>
                <a:schemeClr val="dk1"/>
              </a:buClr>
              <a:buSzPts val="2000"/>
              <a:buChar char="▪"/>
            </a:pPr>
            <a:r>
              <a:rPr lang="en-US"/>
              <a:t>The earlier you find a bug, the more time it remains in the schedule to get it fixed</a:t>
            </a:r>
            <a:endParaRPr/>
          </a:p>
          <a:p>
            <a:pPr indent="-228600" lvl="0" marL="228600" rtl="0" algn="just">
              <a:lnSpc>
                <a:spcPct val="90000"/>
              </a:lnSpc>
              <a:spcBef>
                <a:spcPts val="1800"/>
              </a:spcBef>
              <a:spcAft>
                <a:spcPts val="0"/>
              </a:spcAft>
              <a:buClr>
                <a:schemeClr val="dk1"/>
              </a:buClr>
              <a:buSzPts val="2000"/>
              <a:buChar char="▪"/>
            </a:pPr>
            <a:r>
              <a:rPr b="1" lang="en-US"/>
              <a:t>Example- </a:t>
            </a:r>
            <a:r>
              <a:rPr lang="en-US"/>
              <a:t>Suppose that you find misspelling in a help file a few months before the software is released. That bug has a very likelihood of being fixed. If you find the same bug a few hours before the release, odds are it won’t be fixed.</a:t>
            </a:r>
            <a:endParaRPr/>
          </a:p>
          <a:p>
            <a:pPr indent="-228600" lvl="0" marL="228600" rtl="0" algn="just">
              <a:lnSpc>
                <a:spcPct val="90000"/>
              </a:lnSpc>
              <a:spcBef>
                <a:spcPts val="1800"/>
              </a:spcBef>
              <a:spcAft>
                <a:spcPts val="0"/>
              </a:spcAft>
              <a:buClr>
                <a:schemeClr val="dk1"/>
              </a:buClr>
              <a:buSzPts val="2000"/>
              <a:buChar char="▪"/>
            </a:pPr>
            <a:r>
              <a:rPr lang="en-US"/>
              <a:t>The bug is still the same bug whether you find it today or three months from now</a:t>
            </a:r>
            <a:endParaRPr/>
          </a:p>
          <a:p>
            <a:pPr indent="-228600" lvl="0" marL="228600" rtl="0" algn="just">
              <a:lnSpc>
                <a:spcPct val="90000"/>
              </a:lnSpc>
              <a:spcBef>
                <a:spcPts val="1800"/>
              </a:spcBef>
              <a:spcAft>
                <a:spcPts val="0"/>
              </a:spcAft>
              <a:buClr>
                <a:schemeClr val="dk1"/>
              </a:buClr>
              <a:buSzPts val="2000"/>
              <a:buChar char="▪"/>
            </a:pPr>
            <a:r>
              <a:rPr lang="en-US"/>
              <a:t>The risk of fixing the bug go up over time</a:t>
            </a:r>
            <a:endParaRPr/>
          </a:p>
          <a:p>
            <a:pPr indent="-101600" lvl="0" marL="228600" rtl="0" algn="just">
              <a:lnSpc>
                <a:spcPct val="90000"/>
              </a:lnSpc>
              <a:spcBef>
                <a:spcPts val="1800"/>
              </a:spcBef>
              <a:spcAft>
                <a:spcPts val="0"/>
              </a:spcAft>
              <a:buClr>
                <a:schemeClr val="dk1"/>
              </a:buClr>
              <a:buSzPts val="2000"/>
              <a:buNone/>
            </a:pPr>
            <a:r>
              <a:t/>
            </a:r>
            <a:endParaRPr/>
          </a:p>
        </p:txBody>
      </p:sp>
      <p:sp>
        <p:nvSpPr>
          <p:cNvPr id="293" name="Google Shape;293;p1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Report bug as soon as possible</a:t>
            </a:r>
            <a:endParaRPr/>
          </a:p>
        </p:txBody>
      </p:sp>
      <p:sp>
        <p:nvSpPr>
          <p:cNvPr id="300" name="Google Shape;300;p1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101600" lvl="0" marL="228600" rtl="0" algn="l">
              <a:lnSpc>
                <a:spcPct val="90000"/>
              </a:lnSpc>
              <a:spcBef>
                <a:spcPts val="0"/>
              </a:spcBef>
              <a:spcAft>
                <a:spcPts val="0"/>
              </a:spcAft>
              <a:buClr>
                <a:schemeClr val="dk1"/>
              </a:buClr>
              <a:buSzPts val="2000"/>
              <a:buNone/>
            </a:pPr>
            <a:r>
              <a:t/>
            </a:r>
            <a:endParaRPr/>
          </a:p>
        </p:txBody>
      </p:sp>
      <p:pic>
        <p:nvPicPr>
          <p:cNvPr descr="C:\Users\uos\Documents\My Received Files\IMG_20160506_083706.jpg" id="301" name="Google Shape;301;p18"/>
          <p:cNvPicPr preferRelativeResize="0"/>
          <p:nvPr/>
        </p:nvPicPr>
        <p:blipFill rotWithShape="1">
          <a:blip r:embed="rId3">
            <a:alphaModFix/>
          </a:blip>
          <a:srcRect b="0" l="0" r="0" t="0"/>
          <a:stretch/>
        </p:blipFill>
        <p:spPr>
          <a:xfrm>
            <a:off x="2743201" y="1447800"/>
            <a:ext cx="6518177" cy="5012788"/>
          </a:xfrm>
          <a:prstGeom prst="rect">
            <a:avLst/>
          </a:prstGeom>
          <a:noFill/>
          <a:ln>
            <a:noFill/>
          </a:ln>
        </p:spPr>
      </p:pic>
      <p:sp>
        <p:nvSpPr>
          <p:cNvPr id="302" name="Google Shape;302;p1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Fundamental Principles for Reporting Bugs</a:t>
            </a:r>
            <a:endParaRPr/>
          </a:p>
        </p:txBody>
      </p:sp>
      <p:sp>
        <p:nvSpPr>
          <p:cNvPr id="308" name="Google Shape;308;p19"/>
          <p:cNvSpPr txBox="1"/>
          <p:nvPr>
            <p:ph idx="1" type="body"/>
          </p:nvPr>
        </p:nvSpPr>
        <p:spPr>
          <a:xfrm>
            <a:off x="1097280" y="1600200"/>
            <a:ext cx="9966960" cy="48768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None/>
            </a:pPr>
            <a:r>
              <a:rPr b="1" lang="en-US"/>
              <a:t>Effectively describe the bugs</a:t>
            </a:r>
            <a:endParaRPr/>
          </a:p>
          <a:p>
            <a:pPr indent="-228600" lvl="0" marL="228600" rtl="0" algn="just">
              <a:lnSpc>
                <a:spcPct val="90000"/>
              </a:lnSpc>
              <a:spcBef>
                <a:spcPts val="1800"/>
              </a:spcBef>
              <a:spcAft>
                <a:spcPts val="0"/>
              </a:spcAft>
              <a:buClr>
                <a:schemeClr val="dk1"/>
              </a:buClr>
              <a:buSzPts val="2000"/>
              <a:buChar char="▪"/>
            </a:pPr>
            <a:r>
              <a:rPr b="1" lang="en-US"/>
              <a:t>Example-</a:t>
            </a:r>
            <a:r>
              <a:rPr lang="en-US"/>
              <a:t> Suppose that you were a programmer and received the following bug report from a tester</a:t>
            </a:r>
            <a:endParaRPr/>
          </a:p>
          <a:p>
            <a:pPr indent="-101600" lvl="0" marL="228600" rtl="0" algn="just">
              <a:lnSpc>
                <a:spcPct val="90000"/>
              </a:lnSpc>
              <a:spcBef>
                <a:spcPts val="1800"/>
              </a:spcBef>
              <a:spcAft>
                <a:spcPts val="0"/>
              </a:spcAft>
              <a:buClr>
                <a:schemeClr val="dk1"/>
              </a:buClr>
              <a:buSzPts val="2000"/>
              <a:buNone/>
            </a:pPr>
            <a:r>
              <a:t/>
            </a:r>
            <a:endParaRPr/>
          </a:p>
          <a:p>
            <a:pPr indent="-101600" lvl="0" marL="228600" rtl="0" algn="just">
              <a:lnSpc>
                <a:spcPct val="90000"/>
              </a:lnSpc>
              <a:spcBef>
                <a:spcPts val="1800"/>
              </a:spcBef>
              <a:spcAft>
                <a:spcPts val="0"/>
              </a:spcAft>
              <a:buClr>
                <a:schemeClr val="dk1"/>
              </a:buClr>
              <a:buSzPts val="2000"/>
              <a:buNone/>
            </a:pPr>
            <a:r>
              <a:t/>
            </a:r>
            <a:endParaRPr/>
          </a:p>
          <a:p>
            <a:pPr indent="-228600" lvl="0" marL="228600" rtl="0" algn="just">
              <a:lnSpc>
                <a:spcPct val="90000"/>
              </a:lnSpc>
              <a:spcBef>
                <a:spcPts val="1800"/>
              </a:spcBef>
              <a:spcAft>
                <a:spcPts val="0"/>
              </a:spcAft>
              <a:buClr>
                <a:schemeClr val="dk1"/>
              </a:buClr>
              <a:buSzPts val="2000"/>
              <a:buChar char="▪"/>
            </a:pPr>
            <a:r>
              <a:rPr lang="en-US"/>
              <a:t>How would you begin to fix it without knowing</a:t>
            </a:r>
            <a:endParaRPr/>
          </a:p>
          <a:p>
            <a:pPr indent="0" lvl="0" marL="0" rtl="0" algn="just">
              <a:lnSpc>
                <a:spcPct val="90000"/>
              </a:lnSpc>
              <a:spcBef>
                <a:spcPts val="1800"/>
              </a:spcBef>
              <a:spcAft>
                <a:spcPts val="0"/>
              </a:spcAft>
              <a:buClr>
                <a:schemeClr val="dk1"/>
              </a:buClr>
              <a:buSzPts val="2000"/>
              <a:buNone/>
            </a:pPr>
            <a:r>
              <a:t/>
            </a:r>
            <a:endParaRPr/>
          </a:p>
        </p:txBody>
      </p:sp>
      <p:sp>
        <p:nvSpPr>
          <p:cNvPr id="309" name="Google Shape;309;p1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10" name="Google Shape;310;p19"/>
          <p:cNvGrpSpPr/>
          <p:nvPr/>
        </p:nvGrpSpPr>
        <p:grpSpPr>
          <a:xfrm>
            <a:off x="1118622" y="2767555"/>
            <a:ext cx="9966960" cy="961165"/>
            <a:chOff x="0" y="73739"/>
            <a:chExt cx="9966960" cy="1119690"/>
          </a:xfrm>
        </p:grpSpPr>
        <p:sp>
          <p:nvSpPr>
            <p:cNvPr id="311" name="Google Shape;311;p19"/>
            <p:cNvSpPr/>
            <p:nvPr/>
          </p:nvSpPr>
          <p:spPr>
            <a:xfrm>
              <a:off x="0" y="73739"/>
              <a:ext cx="9966960" cy="1119690"/>
            </a:xfrm>
            <a:prstGeom prst="roundRect">
              <a:avLst>
                <a:gd fmla="val 16667"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9"/>
            <p:cNvSpPr/>
            <p:nvPr/>
          </p:nvSpPr>
          <p:spPr>
            <a:xfrm>
              <a:off x="54659" y="128398"/>
              <a:ext cx="9857642" cy="1010372"/>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None/>
              </a:pPr>
              <a:r>
                <a:rPr b="0" i="0" lang="en-US" sz="2400" u="none" cap="none" strike="noStrike">
                  <a:solidFill>
                    <a:schemeClr val="lt1"/>
                  </a:solidFill>
                  <a:latin typeface="Arial"/>
                  <a:ea typeface="Arial"/>
                  <a:cs typeface="Arial"/>
                  <a:sym typeface="Arial"/>
                </a:rPr>
                <a:t>‘Whenever I type a bunch of random characters in the login box, the software starts to do weird stuff’.</a:t>
              </a:r>
              <a:endParaRPr b="0" i="0" sz="2400" u="none" cap="none" strike="noStrike">
                <a:solidFill>
                  <a:schemeClr val="lt1"/>
                </a:solidFill>
                <a:latin typeface="Arial"/>
                <a:ea typeface="Arial"/>
                <a:cs typeface="Arial"/>
                <a:sym typeface="Arial"/>
              </a:endParaRPr>
            </a:p>
          </p:txBody>
        </p:sp>
      </p:grpSp>
      <p:grpSp>
        <p:nvGrpSpPr>
          <p:cNvPr id="313" name="Google Shape;313;p19"/>
          <p:cNvGrpSpPr/>
          <p:nvPr/>
        </p:nvGrpSpPr>
        <p:grpSpPr>
          <a:xfrm>
            <a:off x="1107951" y="4383015"/>
            <a:ext cx="6085329" cy="550458"/>
            <a:chOff x="0" y="1276950"/>
            <a:chExt cx="9966960" cy="1119690"/>
          </a:xfrm>
        </p:grpSpPr>
        <p:sp>
          <p:nvSpPr>
            <p:cNvPr id="314" name="Google Shape;314;p19"/>
            <p:cNvSpPr/>
            <p:nvPr/>
          </p:nvSpPr>
          <p:spPr>
            <a:xfrm>
              <a:off x="0" y="1276950"/>
              <a:ext cx="9966960" cy="1119690"/>
            </a:xfrm>
            <a:prstGeom prst="roundRect">
              <a:avLst>
                <a:gd fmla="val 16667"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9"/>
            <p:cNvSpPr/>
            <p:nvPr/>
          </p:nvSpPr>
          <p:spPr>
            <a:xfrm>
              <a:off x="54659" y="1331609"/>
              <a:ext cx="9857642" cy="1010372"/>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None/>
              </a:pPr>
              <a:r>
                <a:rPr b="0" i="0" lang="en-US" sz="2400" u="none" cap="none" strike="noStrike">
                  <a:solidFill>
                    <a:schemeClr val="lt1"/>
                  </a:solidFill>
                  <a:latin typeface="Arial"/>
                  <a:ea typeface="Arial"/>
                  <a:cs typeface="Arial"/>
                  <a:sym typeface="Arial"/>
                </a:rPr>
                <a:t>What random characters were entered?</a:t>
              </a:r>
              <a:endParaRPr b="0" i="0" sz="2400" u="none" cap="none" strike="noStrike">
                <a:solidFill>
                  <a:schemeClr val="lt1"/>
                </a:solidFill>
                <a:latin typeface="Arial"/>
                <a:ea typeface="Arial"/>
                <a:cs typeface="Arial"/>
                <a:sym typeface="Arial"/>
              </a:endParaRPr>
            </a:p>
          </p:txBody>
        </p:sp>
      </p:grpSp>
      <p:grpSp>
        <p:nvGrpSpPr>
          <p:cNvPr id="316" name="Google Shape;316;p19"/>
          <p:cNvGrpSpPr/>
          <p:nvPr/>
        </p:nvGrpSpPr>
        <p:grpSpPr>
          <a:xfrm>
            <a:off x="1118622" y="4992412"/>
            <a:ext cx="6084000" cy="550800"/>
            <a:chOff x="0" y="2480160"/>
            <a:chExt cx="9966960" cy="1119690"/>
          </a:xfrm>
        </p:grpSpPr>
        <p:sp>
          <p:nvSpPr>
            <p:cNvPr id="317" name="Google Shape;317;p19"/>
            <p:cNvSpPr/>
            <p:nvPr/>
          </p:nvSpPr>
          <p:spPr>
            <a:xfrm>
              <a:off x="0" y="2480160"/>
              <a:ext cx="9966960" cy="1119690"/>
            </a:xfrm>
            <a:prstGeom prst="roundRect">
              <a:avLst>
                <a:gd fmla="val 16667"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9"/>
            <p:cNvSpPr/>
            <p:nvPr/>
          </p:nvSpPr>
          <p:spPr>
            <a:xfrm>
              <a:off x="54659" y="2534819"/>
              <a:ext cx="9857642" cy="1010372"/>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None/>
              </a:pPr>
              <a:r>
                <a:rPr b="0" i="0" lang="en-US" sz="2400" u="none" cap="none" strike="noStrike">
                  <a:solidFill>
                    <a:schemeClr val="lt1"/>
                  </a:solidFill>
                  <a:latin typeface="Arial"/>
                  <a:ea typeface="Arial"/>
                  <a:cs typeface="Arial"/>
                  <a:sym typeface="Arial"/>
                </a:rPr>
                <a:t>How big a bunch was?</a:t>
              </a:r>
              <a:endParaRPr b="0" i="0" sz="2400" u="none" cap="none" strike="noStrike">
                <a:solidFill>
                  <a:schemeClr val="lt1"/>
                </a:solidFill>
                <a:latin typeface="Arial"/>
                <a:ea typeface="Arial"/>
                <a:cs typeface="Arial"/>
                <a:sym typeface="Arial"/>
              </a:endParaRPr>
            </a:p>
          </p:txBody>
        </p:sp>
      </p:grpSp>
      <p:grpSp>
        <p:nvGrpSpPr>
          <p:cNvPr id="319" name="Google Shape;319;p19"/>
          <p:cNvGrpSpPr/>
          <p:nvPr/>
        </p:nvGrpSpPr>
        <p:grpSpPr>
          <a:xfrm>
            <a:off x="1118622" y="5608364"/>
            <a:ext cx="6084000" cy="550800"/>
            <a:chOff x="0" y="3683370"/>
            <a:chExt cx="9966960" cy="1119690"/>
          </a:xfrm>
        </p:grpSpPr>
        <p:sp>
          <p:nvSpPr>
            <p:cNvPr id="320" name="Google Shape;320;p19"/>
            <p:cNvSpPr/>
            <p:nvPr/>
          </p:nvSpPr>
          <p:spPr>
            <a:xfrm>
              <a:off x="0" y="3683370"/>
              <a:ext cx="9966960" cy="1119690"/>
            </a:xfrm>
            <a:prstGeom prst="roundRect">
              <a:avLst>
                <a:gd fmla="val 16667"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9"/>
            <p:cNvSpPr/>
            <p:nvPr/>
          </p:nvSpPr>
          <p:spPr>
            <a:xfrm>
              <a:off x="54659" y="3738030"/>
              <a:ext cx="9857642" cy="1010373"/>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None/>
              </a:pPr>
              <a:r>
                <a:rPr b="0" i="0" lang="en-US" sz="2400" u="none" cap="none" strike="noStrike">
                  <a:solidFill>
                    <a:schemeClr val="lt1"/>
                  </a:solidFill>
                  <a:latin typeface="Arial"/>
                  <a:ea typeface="Arial"/>
                  <a:cs typeface="Arial"/>
                  <a:sym typeface="Arial"/>
                </a:rPr>
                <a:t>What kind of weird stuff was happening?</a:t>
              </a:r>
              <a:endParaRPr b="0" i="0" sz="2400" u="none" cap="none" strike="noStrike">
                <a:solidFill>
                  <a:schemeClr val="lt1"/>
                </a:solidFill>
                <a:latin typeface="Arial"/>
                <a:ea typeface="Arial"/>
                <a:cs typeface="Arial"/>
                <a:sym typeface="Arial"/>
              </a:endParaRPr>
            </a:p>
          </p:txBody>
        </p:sp>
      </p:gr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Fundamental Principles for Reporting Bugs</a:t>
            </a:r>
            <a:endParaRPr/>
          </a:p>
        </p:txBody>
      </p:sp>
      <p:sp>
        <p:nvSpPr>
          <p:cNvPr id="328" name="Google Shape;328;p20"/>
          <p:cNvSpPr txBox="1"/>
          <p:nvPr>
            <p:ph idx="1" type="body"/>
          </p:nvPr>
        </p:nvSpPr>
        <p:spPr>
          <a:xfrm>
            <a:off x="1084217" y="1345474"/>
            <a:ext cx="9966960" cy="5512526"/>
          </a:xfrm>
          <a:prstGeom prst="rect">
            <a:avLst/>
          </a:prstGeom>
          <a:noFill/>
          <a:ln>
            <a:noFill/>
          </a:ln>
        </p:spPr>
        <p:txBody>
          <a:bodyPr anchorCtr="0" anchor="t" bIns="45700" lIns="0" spcFirstLastPara="1" rIns="0" wrap="square" tIns="45700">
            <a:noAutofit/>
          </a:bodyPr>
          <a:lstStyle/>
          <a:p>
            <a:pPr indent="-228600" lvl="0" marL="228600" rtl="0" algn="l">
              <a:lnSpc>
                <a:spcPct val="90000"/>
              </a:lnSpc>
              <a:spcBef>
                <a:spcPts val="0"/>
              </a:spcBef>
              <a:spcAft>
                <a:spcPts val="0"/>
              </a:spcAft>
              <a:buClr>
                <a:schemeClr val="dk1"/>
              </a:buClr>
              <a:buSzPts val="2000"/>
              <a:buNone/>
            </a:pPr>
            <a:r>
              <a:rPr b="1" lang="en-US"/>
              <a:t>Be non-judgmental in reporting bugs</a:t>
            </a:r>
            <a:endParaRPr/>
          </a:p>
          <a:p>
            <a:pPr indent="-228600" lvl="0" marL="228600" rtl="0" algn="l">
              <a:lnSpc>
                <a:spcPct val="90000"/>
              </a:lnSpc>
              <a:spcBef>
                <a:spcPts val="1800"/>
              </a:spcBef>
              <a:spcAft>
                <a:spcPts val="0"/>
              </a:spcAft>
              <a:buClr>
                <a:schemeClr val="dk1"/>
              </a:buClr>
              <a:buSzPts val="1800"/>
              <a:buChar char="▪"/>
            </a:pPr>
            <a:r>
              <a:rPr lang="en-US" sz="1800"/>
              <a:t>Bug reports can be viewed by the programmers and others on the development team.</a:t>
            </a:r>
            <a:endParaRPr/>
          </a:p>
          <a:p>
            <a:pPr indent="-228600" lvl="0" marL="228600" rtl="0" algn="l">
              <a:lnSpc>
                <a:spcPct val="90000"/>
              </a:lnSpc>
              <a:spcBef>
                <a:spcPts val="1800"/>
              </a:spcBef>
              <a:spcAft>
                <a:spcPts val="0"/>
              </a:spcAft>
              <a:buClr>
                <a:schemeClr val="dk1"/>
              </a:buClr>
              <a:buSzPts val="1800"/>
              <a:buChar char="▪"/>
            </a:pPr>
            <a:r>
              <a:rPr lang="en-US" sz="1800"/>
              <a:t>Tester’s need to be</a:t>
            </a:r>
            <a:endParaRPr/>
          </a:p>
          <a:p>
            <a:pPr indent="-228600" lvl="1" marL="685800" rtl="0" algn="l">
              <a:lnSpc>
                <a:spcPct val="90000"/>
              </a:lnSpc>
              <a:spcBef>
                <a:spcPts val="600"/>
              </a:spcBef>
              <a:spcAft>
                <a:spcPts val="0"/>
              </a:spcAft>
              <a:buClr>
                <a:schemeClr val="dk1"/>
              </a:buClr>
              <a:buSzPts val="1800"/>
              <a:buChar char="▪"/>
            </a:pPr>
            <a:r>
              <a:rPr lang="en-US" sz="1800"/>
              <a:t>non-judgmental</a:t>
            </a:r>
            <a:endParaRPr/>
          </a:p>
          <a:p>
            <a:pPr indent="-228600" lvl="1" marL="685800" rtl="0" algn="l">
              <a:lnSpc>
                <a:spcPct val="90000"/>
              </a:lnSpc>
              <a:spcBef>
                <a:spcPts val="600"/>
              </a:spcBef>
              <a:spcAft>
                <a:spcPts val="0"/>
              </a:spcAft>
              <a:buClr>
                <a:schemeClr val="dk1"/>
              </a:buClr>
              <a:buSzPts val="1800"/>
              <a:buChar char="▪"/>
            </a:pPr>
            <a:r>
              <a:rPr lang="en-US" sz="1800"/>
              <a:t>non-personal</a:t>
            </a:r>
            <a:endParaRPr/>
          </a:p>
          <a:p>
            <a:pPr indent="-228600" lvl="1" marL="685800" rtl="0" algn="l">
              <a:lnSpc>
                <a:spcPct val="90000"/>
              </a:lnSpc>
              <a:spcBef>
                <a:spcPts val="600"/>
              </a:spcBef>
              <a:spcAft>
                <a:spcPts val="0"/>
              </a:spcAft>
              <a:buClr>
                <a:schemeClr val="dk1"/>
              </a:buClr>
              <a:buSzPts val="1800"/>
              <a:buChar char="▪"/>
            </a:pPr>
            <a:r>
              <a:rPr lang="en-US" sz="1800"/>
              <a:t>non-inflammatory</a:t>
            </a:r>
            <a:endParaRPr/>
          </a:p>
          <a:p>
            <a:pPr indent="-228600" lvl="0" marL="228600" rtl="0" algn="l">
              <a:lnSpc>
                <a:spcPct val="90000"/>
              </a:lnSpc>
              <a:spcBef>
                <a:spcPts val="1800"/>
              </a:spcBef>
              <a:spcAft>
                <a:spcPts val="0"/>
              </a:spcAft>
              <a:buClr>
                <a:schemeClr val="dk1"/>
              </a:buClr>
              <a:buSzPts val="1800"/>
              <a:buChar char="▪"/>
            </a:pPr>
            <a:r>
              <a:rPr lang="en-US" sz="1800"/>
              <a:t>Bug reports should be written against the product, not the person</a:t>
            </a:r>
            <a:endParaRPr/>
          </a:p>
          <a:p>
            <a:pPr indent="-228600" lvl="0" marL="228600" rtl="0" algn="l">
              <a:lnSpc>
                <a:spcPct val="90000"/>
              </a:lnSpc>
              <a:spcBef>
                <a:spcPts val="1800"/>
              </a:spcBef>
              <a:spcAft>
                <a:spcPts val="0"/>
              </a:spcAft>
              <a:buClr>
                <a:schemeClr val="dk1"/>
              </a:buClr>
              <a:buSzPts val="1800"/>
              <a:buChar char="▪"/>
            </a:pPr>
            <a:r>
              <a:rPr lang="en-US" sz="1800"/>
              <a:t>State only the facts</a:t>
            </a:r>
            <a:endParaRPr/>
          </a:p>
          <a:p>
            <a:pPr indent="-228600" lvl="0" marL="228600" rtl="0" algn="l">
              <a:lnSpc>
                <a:spcPct val="90000"/>
              </a:lnSpc>
              <a:spcBef>
                <a:spcPts val="1800"/>
              </a:spcBef>
              <a:spcAft>
                <a:spcPts val="0"/>
              </a:spcAft>
              <a:buClr>
                <a:schemeClr val="dk1"/>
              </a:buClr>
              <a:buSzPts val="1800"/>
              <a:buChar char="▪"/>
            </a:pPr>
            <a:r>
              <a:rPr lang="en-US" sz="1800"/>
              <a:t>There should be </a:t>
            </a:r>
            <a:endParaRPr/>
          </a:p>
          <a:p>
            <a:pPr indent="-228600" lvl="1" marL="685800" rtl="0" algn="l">
              <a:lnSpc>
                <a:spcPct val="90000"/>
              </a:lnSpc>
              <a:spcBef>
                <a:spcPts val="600"/>
              </a:spcBef>
              <a:spcAft>
                <a:spcPts val="0"/>
              </a:spcAft>
              <a:buClr>
                <a:schemeClr val="dk1"/>
              </a:buClr>
              <a:buSzPts val="1800"/>
              <a:buChar char="▪"/>
            </a:pPr>
            <a:r>
              <a:rPr lang="en-US" sz="1800"/>
              <a:t>No gloating</a:t>
            </a:r>
            <a:endParaRPr/>
          </a:p>
          <a:p>
            <a:pPr indent="-228600" lvl="1" marL="685800" rtl="0" algn="l">
              <a:lnSpc>
                <a:spcPct val="90000"/>
              </a:lnSpc>
              <a:spcBef>
                <a:spcPts val="600"/>
              </a:spcBef>
              <a:spcAft>
                <a:spcPts val="0"/>
              </a:spcAft>
              <a:buClr>
                <a:schemeClr val="dk1"/>
              </a:buClr>
              <a:buSzPts val="1800"/>
              <a:buChar char="▪"/>
            </a:pPr>
            <a:r>
              <a:rPr lang="en-US" sz="1800"/>
              <a:t>No egos</a:t>
            </a:r>
            <a:endParaRPr/>
          </a:p>
          <a:p>
            <a:pPr indent="-228600" lvl="1" marL="685800" rtl="0" algn="l">
              <a:lnSpc>
                <a:spcPct val="90000"/>
              </a:lnSpc>
              <a:spcBef>
                <a:spcPts val="600"/>
              </a:spcBef>
              <a:spcAft>
                <a:spcPts val="0"/>
              </a:spcAft>
              <a:buClr>
                <a:schemeClr val="dk1"/>
              </a:buClr>
              <a:buSzPts val="1800"/>
              <a:buChar char="▪"/>
            </a:pPr>
            <a:r>
              <a:rPr lang="en-US" sz="1800"/>
              <a:t>No accusations</a:t>
            </a:r>
            <a:endParaRPr/>
          </a:p>
          <a:p>
            <a:pPr indent="-228600" lvl="0" marL="228600" rtl="0" algn="l">
              <a:lnSpc>
                <a:spcPct val="90000"/>
              </a:lnSpc>
              <a:spcBef>
                <a:spcPts val="1800"/>
              </a:spcBef>
              <a:spcAft>
                <a:spcPts val="0"/>
              </a:spcAft>
              <a:buClr>
                <a:schemeClr val="dk1"/>
              </a:buClr>
              <a:buSzPts val="1800"/>
              <a:buChar char="▪"/>
            </a:pPr>
            <a:r>
              <a:rPr lang="en-US" sz="1800"/>
              <a:t>Tact and diplomacy are what matters</a:t>
            </a:r>
            <a:endParaRPr/>
          </a:p>
        </p:txBody>
      </p:sp>
      <p:sp>
        <p:nvSpPr>
          <p:cNvPr id="329" name="Google Shape;329;p2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Fundamental Principles for Reporting Bugs</a:t>
            </a:r>
            <a:endParaRPr/>
          </a:p>
        </p:txBody>
      </p:sp>
      <p:sp>
        <p:nvSpPr>
          <p:cNvPr id="335" name="Google Shape;335;p21"/>
          <p:cNvSpPr txBox="1"/>
          <p:nvPr>
            <p:ph idx="1" type="body"/>
          </p:nvPr>
        </p:nvSpPr>
        <p:spPr>
          <a:xfrm>
            <a:off x="1103382" y="1418371"/>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None/>
            </a:pPr>
            <a:r>
              <a:rPr b="1" lang="en-US"/>
              <a:t>Follow up on your bug reports</a:t>
            </a:r>
            <a:endParaRPr/>
          </a:p>
          <a:p>
            <a:pPr indent="-228600" lvl="0" marL="228600" rtl="0" algn="just">
              <a:lnSpc>
                <a:spcPct val="90000"/>
              </a:lnSpc>
              <a:spcBef>
                <a:spcPts val="1800"/>
              </a:spcBef>
              <a:spcAft>
                <a:spcPts val="0"/>
              </a:spcAft>
              <a:buClr>
                <a:schemeClr val="dk1"/>
              </a:buClr>
              <a:buSzPts val="2000"/>
              <a:buChar char="▪"/>
            </a:pPr>
            <a:r>
              <a:rPr lang="en-US"/>
              <a:t>The worst thing is finding a bug, reporting it and then forgetting about it or losing track of it.</a:t>
            </a:r>
            <a:endParaRPr/>
          </a:p>
          <a:p>
            <a:pPr indent="-228600" lvl="0" marL="228600" rtl="0" algn="just">
              <a:lnSpc>
                <a:spcPct val="90000"/>
              </a:lnSpc>
              <a:spcBef>
                <a:spcPts val="1800"/>
              </a:spcBef>
              <a:spcAft>
                <a:spcPts val="0"/>
              </a:spcAft>
              <a:buClr>
                <a:schemeClr val="dk1"/>
              </a:buClr>
              <a:buSzPts val="2000"/>
              <a:buChar char="▪"/>
            </a:pPr>
            <a:r>
              <a:rPr lang="en-US"/>
              <a:t>Don’t let the results of your labor and the bugs you find  become neglected.</a:t>
            </a:r>
            <a:endParaRPr/>
          </a:p>
          <a:p>
            <a:pPr indent="-228600" lvl="0" marL="228600" rtl="0" algn="just">
              <a:lnSpc>
                <a:spcPct val="90000"/>
              </a:lnSpc>
              <a:spcBef>
                <a:spcPts val="1800"/>
              </a:spcBef>
              <a:spcAft>
                <a:spcPts val="0"/>
              </a:spcAft>
              <a:buClr>
                <a:schemeClr val="dk1"/>
              </a:buClr>
              <a:buSzPts val="2000"/>
              <a:buChar char="▪"/>
            </a:pPr>
            <a:r>
              <a:rPr lang="en-US"/>
              <a:t>A good tester finds and logs lots of bugs</a:t>
            </a:r>
            <a:endParaRPr/>
          </a:p>
          <a:p>
            <a:pPr indent="-228600" lvl="0" marL="228600" rtl="0" algn="just">
              <a:lnSpc>
                <a:spcPct val="90000"/>
              </a:lnSpc>
              <a:spcBef>
                <a:spcPts val="1800"/>
              </a:spcBef>
              <a:spcAft>
                <a:spcPts val="0"/>
              </a:spcAft>
              <a:buClr>
                <a:schemeClr val="dk1"/>
              </a:buClr>
              <a:buSzPts val="2000"/>
              <a:buChar char="▪"/>
            </a:pPr>
            <a:r>
              <a:rPr lang="en-US"/>
              <a:t>A great tester finds and logs lots of bugs but also continues to monitor them trough the process of getting them fixed.</a:t>
            </a:r>
            <a:endParaRPr/>
          </a:p>
        </p:txBody>
      </p:sp>
      <p:sp>
        <p:nvSpPr>
          <p:cNvPr id="336" name="Google Shape;336;p2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Isolating and Reproducing Bugs</a:t>
            </a:r>
            <a:endParaRPr/>
          </a:p>
        </p:txBody>
      </p:sp>
      <p:sp>
        <p:nvSpPr>
          <p:cNvPr id="343" name="Google Shape;343;p22"/>
          <p:cNvSpPr txBox="1"/>
          <p:nvPr>
            <p:ph idx="1" type="body"/>
          </p:nvPr>
        </p:nvSpPr>
        <p:spPr>
          <a:xfrm>
            <a:off x="1084216" y="1600201"/>
            <a:ext cx="9993087" cy="5061856"/>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In situations where bug isolating or reproducing is difficult, try following suggestions </a:t>
            </a:r>
            <a:endParaRPr/>
          </a:p>
          <a:p>
            <a:pPr indent="-514350" lvl="0" marL="514350" rtl="0" algn="just">
              <a:lnSpc>
                <a:spcPct val="90000"/>
              </a:lnSpc>
              <a:spcBef>
                <a:spcPts val="1800"/>
              </a:spcBef>
              <a:spcAft>
                <a:spcPts val="0"/>
              </a:spcAft>
              <a:buClr>
                <a:schemeClr val="dk1"/>
              </a:buClr>
              <a:buSzPts val="2000"/>
              <a:buFont typeface="Arial"/>
              <a:buAutoNum type="arabicPeriod"/>
            </a:pPr>
            <a:r>
              <a:rPr lang="en-US"/>
              <a:t>Keep </a:t>
            </a:r>
            <a:r>
              <a:rPr b="1" lang="en-US"/>
              <a:t>notes</a:t>
            </a:r>
            <a:r>
              <a:rPr lang="en-US"/>
              <a:t> of everything you do-every step, every pause, everything</a:t>
            </a:r>
            <a:endParaRPr/>
          </a:p>
          <a:p>
            <a:pPr indent="-514350" lvl="0" marL="514350" rtl="0" algn="just">
              <a:lnSpc>
                <a:spcPct val="90000"/>
              </a:lnSpc>
              <a:spcBef>
                <a:spcPts val="1800"/>
              </a:spcBef>
              <a:spcAft>
                <a:spcPts val="0"/>
              </a:spcAft>
              <a:buClr>
                <a:schemeClr val="dk1"/>
              </a:buClr>
              <a:buSzPts val="2000"/>
              <a:buFont typeface="Arial"/>
              <a:buAutoNum type="arabicPeriod"/>
            </a:pPr>
            <a:r>
              <a:rPr lang="en-US"/>
              <a:t>Look for </a:t>
            </a:r>
            <a:r>
              <a:rPr b="1" lang="en-US"/>
              <a:t>time- dependent</a:t>
            </a:r>
            <a:r>
              <a:rPr lang="en-US"/>
              <a:t> and </a:t>
            </a:r>
            <a:r>
              <a:rPr b="1" lang="en-US"/>
              <a:t>race condition </a:t>
            </a:r>
            <a:r>
              <a:rPr lang="en-US"/>
              <a:t>problems.</a:t>
            </a:r>
            <a:endParaRPr/>
          </a:p>
          <a:p>
            <a:pPr indent="-514350" lvl="0" marL="514350" rtl="0" algn="just">
              <a:lnSpc>
                <a:spcPct val="90000"/>
              </a:lnSpc>
              <a:spcBef>
                <a:spcPts val="1800"/>
              </a:spcBef>
              <a:spcAft>
                <a:spcPts val="0"/>
              </a:spcAft>
              <a:buClr>
                <a:schemeClr val="dk1"/>
              </a:buClr>
              <a:buSzPts val="2000"/>
              <a:buFont typeface="Arial"/>
              <a:buAutoNum type="arabicPeriod"/>
            </a:pPr>
            <a:r>
              <a:rPr lang="en-US"/>
              <a:t>White box issues of boundary condition bugs, memory leaks and data over-flows can be slow to reveal themselves.</a:t>
            </a:r>
            <a:endParaRPr/>
          </a:p>
          <a:p>
            <a:pPr indent="-514350" lvl="0" marL="514350" rtl="0" algn="just">
              <a:lnSpc>
                <a:spcPct val="90000"/>
              </a:lnSpc>
              <a:spcBef>
                <a:spcPts val="1800"/>
              </a:spcBef>
              <a:spcAft>
                <a:spcPts val="0"/>
              </a:spcAft>
              <a:buClr>
                <a:schemeClr val="dk1"/>
              </a:buClr>
              <a:buSzPts val="2000"/>
              <a:buFont typeface="Arial"/>
              <a:buAutoNum type="arabicPeriod"/>
            </a:pPr>
            <a:r>
              <a:rPr lang="en-US"/>
              <a:t>State bugs show up only in certain states of the software. These bugs may look like a time-dependent or race condition problem but you'll find that time is unimportant. It is the order in which the things happen not when they happen</a:t>
            </a:r>
            <a:endParaRPr/>
          </a:p>
          <a:p>
            <a:pPr indent="-514350" lvl="0" marL="514350" rtl="0" algn="just">
              <a:lnSpc>
                <a:spcPct val="90000"/>
              </a:lnSpc>
              <a:spcBef>
                <a:spcPts val="1800"/>
              </a:spcBef>
              <a:spcAft>
                <a:spcPts val="0"/>
              </a:spcAft>
              <a:buClr>
                <a:schemeClr val="dk1"/>
              </a:buClr>
              <a:buSzPts val="2000"/>
              <a:buFont typeface="Arial"/>
              <a:buAutoNum type="arabicPeriod"/>
            </a:pPr>
            <a:r>
              <a:rPr lang="en-US"/>
              <a:t>Consider resource dependencies and interactions with memory, network, and hardware sharing</a:t>
            </a:r>
            <a:endParaRPr/>
          </a:p>
          <a:p>
            <a:pPr indent="-514350" lvl="0" marL="514350" rtl="0" algn="just">
              <a:lnSpc>
                <a:spcPct val="90000"/>
              </a:lnSpc>
              <a:spcBef>
                <a:spcPts val="1800"/>
              </a:spcBef>
              <a:spcAft>
                <a:spcPts val="0"/>
              </a:spcAft>
              <a:buClr>
                <a:schemeClr val="dk1"/>
              </a:buClr>
              <a:buSzPts val="2000"/>
              <a:buFont typeface="Arial"/>
              <a:buAutoNum type="arabicPeriod"/>
            </a:pPr>
            <a:r>
              <a:rPr lang="en-US"/>
              <a:t>Do not ignore the hardware. Hardware can degrade and act unpredictably. A loose card, a bad memory chip, or an overhead CPU can cause failures that look like software bugs but really are not.</a:t>
            </a:r>
            <a:endParaRPr/>
          </a:p>
        </p:txBody>
      </p:sp>
      <p:sp>
        <p:nvSpPr>
          <p:cNvPr id="344" name="Google Shape;344;p2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Bug’s Severity</a:t>
            </a:r>
            <a:endParaRPr/>
          </a:p>
        </p:txBody>
      </p:sp>
      <p:grpSp>
        <p:nvGrpSpPr>
          <p:cNvPr id="351" name="Google Shape;351;p23"/>
          <p:cNvGrpSpPr/>
          <p:nvPr/>
        </p:nvGrpSpPr>
        <p:grpSpPr>
          <a:xfrm>
            <a:off x="968180" y="2986475"/>
            <a:ext cx="9953798" cy="2833425"/>
            <a:chOff x="48" y="6739"/>
            <a:chExt cx="9953798" cy="2833425"/>
          </a:xfrm>
        </p:grpSpPr>
        <p:sp>
          <p:nvSpPr>
            <p:cNvPr id="352" name="Google Shape;352;p23"/>
            <p:cNvSpPr/>
            <p:nvPr/>
          </p:nvSpPr>
          <p:spPr>
            <a:xfrm>
              <a:off x="48" y="6739"/>
              <a:ext cx="4651307" cy="1008000"/>
            </a:xfrm>
            <a:prstGeom prst="rect">
              <a:avLst/>
            </a:prstGeom>
            <a:solidFill>
              <a:schemeClr val="accent1"/>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3"/>
            <p:cNvSpPr txBox="1"/>
            <p:nvPr/>
          </p:nvSpPr>
          <p:spPr>
            <a:xfrm>
              <a:off x="48" y="6739"/>
              <a:ext cx="4651307" cy="1008000"/>
            </a:xfrm>
            <a:prstGeom prst="rect">
              <a:avLst/>
            </a:prstGeom>
            <a:noFill/>
            <a:ln>
              <a:noFill/>
            </a:ln>
          </p:spPr>
          <p:txBody>
            <a:bodyPr anchorCtr="0" anchor="ctr" bIns="81275" lIns="142225" spcFirstLastPara="1" rIns="142225" wrap="square" tIns="81275">
              <a:noAutofit/>
            </a:bodyPr>
            <a:lstStyle/>
            <a:p>
              <a:pPr indent="0" lvl="0" marL="0" marR="0" rtl="0" algn="ctr">
                <a:lnSpc>
                  <a:spcPct val="90000"/>
                </a:lnSpc>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Impact</a:t>
              </a:r>
              <a:endParaRPr b="0" i="0" sz="2000" u="none" cap="none" strike="noStrike">
                <a:solidFill>
                  <a:schemeClr val="lt1"/>
                </a:solidFill>
                <a:latin typeface="Arial"/>
                <a:ea typeface="Arial"/>
                <a:cs typeface="Arial"/>
                <a:sym typeface="Arial"/>
              </a:endParaRPr>
            </a:p>
          </p:txBody>
        </p:sp>
        <p:sp>
          <p:nvSpPr>
            <p:cNvPr id="354" name="Google Shape;354;p23"/>
            <p:cNvSpPr/>
            <p:nvPr/>
          </p:nvSpPr>
          <p:spPr>
            <a:xfrm>
              <a:off x="48" y="1014739"/>
              <a:ext cx="4651307" cy="1825425"/>
            </a:xfrm>
            <a:prstGeom prst="rect">
              <a:avLst/>
            </a:prstGeom>
            <a:solidFill>
              <a:srgbClr val="CFCECD">
                <a:alpha val="89803"/>
              </a:srgbClr>
            </a:solidFill>
            <a:ln cap="flat" cmpd="thickThin" w="48000">
              <a:solidFill>
                <a:srgbClr val="CFCECD">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3"/>
            <p:cNvSpPr txBox="1"/>
            <p:nvPr/>
          </p:nvSpPr>
          <p:spPr>
            <a:xfrm>
              <a:off x="48" y="1014739"/>
              <a:ext cx="4651307" cy="1825425"/>
            </a:xfrm>
            <a:prstGeom prst="rect">
              <a:avLst/>
            </a:prstGeom>
            <a:noFill/>
            <a:ln>
              <a:noFill/>
            </a:ln>
          </p:spPr>
          <p:txBody>
            <a:bodyPr anchorCtr="0" anchor="t" bIns="160000" lIns="106675" spcFirstLastPara="1" rIns="142225" wrap="square" tIns="106675">
              <a:noAutofit/>
            </a:bodyPr>
            <a:lstStyle/>
            <a:p>
              <a:pPr indent="-228600" lvl="1" marL="2286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Is the measure of </a:t>
              </a:r>
              <a:r>
                <a:rPr b="1" i="0" lang="en-US" sz="2000" u="none" cap="none" strike="noStrike">
                  <a:solidFill>
                    <a:schemeClr val="dk1"/>
                  </a:solidFill>
                  <a:latin typeface="Arial"/>
                  <a:ea typeface="Arial"/>
                  <a:cs typeface="Arial"/>
                  <a:sym typeface="Arial"/>
                </a:rPr>
                <a:t>seriousness</a:t>
              </a:r>
              <a:r>
                <a:rPr b="0" i="0" lang="en-US" sz="2000" u="none" cap="none" strike="noStrike">
                  <a:solidFill>
                    <a:schemeClr val="dk1"/>
                  </a:solidFill>
                  <a:latin typeface="Arial"/>
                  <a:ea typeface="Arial"/>
                  <a:cs typeface="Arial"/>
                  <a:sym typeface="Arial"/>
                </a:rPr>
                <a:t> of the bug</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Can be classed as high or low</a:t>
              </a:r>
              <a:endParaRPr b="0" i="0" sz="2000" u="none" cap="none" strike="noStrike">
                <a:solidFill>
                  <a:schemeClr val="dk1"/>
                </a:solidFill>
                <a:latin typeface="Arial"/>
                <a:ea typeface="Arial"/>
                <a:cs typeface="Arial"/>
                <a:sym typeface="Arial"/>
              </a:endParaRPr>
            </a:p>
          </p:txBody>
        </p:sp>
        <p:sp>
          <p:nvSpPr>
            <p:cNvPr id="356" name="Google Shape;356;p23"/>
            <p:cNvSpPr/>
            <p:nvPr/>
          </p:nvSpPr>
          <p:spPr>
            <a:xfrm>
              <a:off x="5302539" y="6739"/>
              <a:ext cx="4651307" cy="1008000"/>
            </a:xfrm>
            <a:prstGeom prst="rect">
              <a:avLst/>
            </a:prstGeom>
            <a:solidFill>
              <a:schemeClr val="accent1"/>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3"/>
            <p:cNvSpPr txBox="1"/>
            <p:nvPr/>
          </p:nvSpPr>
          <p:spPr>
            <a:xfrm>
              <a:off x="5302539" y="6739"/>
              <a:ext cx="4651307" cy="1008000"/>
            </a:xfrm>
            <a:prstGeom prst="rect">
              <a:avLst/>
            </a:prstGeom>
            <a:noFill/>
            <a:ln>
              <a:noFill/>
            </a:ln>
          </p:spPr>
          <p:txBody>
            <a:bodyPr anchorCtr="0" anchor="ctr" bIns="81275" lIns="142225" spcFirstLastPara="1" rIns="142225" wrap="square" tIns="81275">
              <a:noAutofit/>
            </a:bodyPr>
            <a:lstStyle/>
            <a:p>
              <a:pPr indent="0" lvl="0" marL="0" marR="0" rtl="0" algn="ctr">
                <a:lnSpc>
                  <a:spcPct val="90000"/>
                </a:lnSpc>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Probability</a:t>
              </a:r>
              <a:endParaRPr b="0" i="0" sz="2000" u="none" cap="none" strike="noStrike">
                <a:solidFill>
                  <a:schemeClr val="lt1"/>
                </a:solidFill>
                <a:latin typeface="Arial"/>
                <a:ea typeface="Arial"/>
                <a:cs typeface="Arial"/>
                <a:sym typeface="Arial"/>
              </a:endParaRPr>
            </a:p>
          </p:txBody>
        </p:sp>
        <p:sp>
          <p:nvSpPr>
            <p:cNvPr id="358" name="Google Shape;358;p23"/>
            <p:cNvSpPr/>
            <p:nvPr/>
          </p:nvSpPr>
          <p:spPr>
            <a:xfrm>
              <a:off x="5302539" y="1014739"/>
              <a:ext cx="4651307" cy="1825425"/>
            </a:xfrm>
            <a:prstGeom prst="rect">
              <a:avLst/>
            </a:prstGeom>
            <a:solidFill>
              <a:srgbClr val="CFCECD">
                <a:alpha val="89803"/>
              </a:srgbClr>
            </a:solidFill>
            <a:ln cap="flat" cmpd="thickThin" w="48000">
              <a:solidFill>
                <a:srgbClr val="CFCECD">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3"/>
            <p:cNvSpPr txBox="1"/>
            <p:nvPr/>
          </p:nvSpPr>
          <p:spPr>
            <a:xfrm>
              <a:off x="5302539" y="1014739"/>
              <a:ext cx="4651307" cy="1825425"/>
            </a:xfrm>
            <a:prstGeom prst="rect">
              <a:avLst/>
            </a:prstGeom>
            <a:noFill/>
            <a:ln>
              <a:noFill/>
            </a:ln>
          </p:spPr>
          <p:txBody>
            <a:bodyPr anchorCtr="0" anchor="t" bIns="160000" lIns="106675" spcFirstLastPara="1" rIns="142225" wrap="square" tIns="106675">
              <a:noAutofit/>
            </a:bodyPr>
            <a:lstStyle/>
            <a:p>
              <a:pPr indent="-228600" lvl="1" marL="2286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Probability is a measure of </a:t>
              </a:r>
              <a:r>
                <a:rPr b="1" i="0" lang="en-US" sz="2000" u="none" cap="none" strike="noStrike">
                  <a:solidFill>
                    <a:schemeClr val="dk1"/>
                  </a:solidFill>
                  <a:latin typeface="Arial"/>
                  <a:ea typeface="Arial"/>
                  <a:cs typeface="Arial"/>
                  <a:sym typeface="Arial"/>
                </a:rPr>
                <a:t>how likely </a:t>
              </a:r>
              <a:r>
                <a:rPr b="0" i="0" lang="en-US" sz="2000" u="none" cap="none" strike="noStrike">
                  <a:solidFill>
                    <a:schemeClr val="dk1"/>
                  </a:solidFill>
                  <a:latin typeface="Arial"/>
                  <a:ea typeface="Arial"/>
                  <a:cs typeface="Arial"/>
                  <a:sym typeface="Arial"/>
                </a:rPr>
                <a:t>the bug is to occur </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Again is assigned either “Low” or “High”.</a:t>
              </a:r>
              <a:endParaRPr b="0" i="0" sz="2000" u="none" cap="none" strike="noStrike">
                <a:solidFill>
                  <a:schemeClr val="dk1"/>
                </a:solidFill>
                <a:latin typeface="Arial"/>
                <a:ea typeface="Arial"/>
                <a:cs typeface="Arial"/>
                <a:sym typeface="Arial"/>
              </a:endParaRPr>
            </a:p>
          </p:txBody>
        </p:sp>
      </p:grpSp>
      <p:sp>
        <p:nvSpPr>
          <p:cNvPr id="360" name="Google Shape;360;p23"/>
          <p:cNvSpPr txBox="1"/>
          <p:nvPr/>
        </p:nvSpPr>
        <p:spPr>
          <a:xfrm>
            <a:off x="1104900" y="1810109"/>
            <a:ext cx="9953896" cy="1674962"/>
          </a:xfrm>
          <a:prstGeom prst="rect">
            <a:avLst/>
          </a:prstGeom>
          <a:noFill/>
          <a:ln>
            <a:noFill/>
          </a:ln>
        </p:spPr>
        <p:txBody>
          <a:bodyPr anchorCtr="0" anchor="t" bIns="45700" lIns="0" spcFirstLastPara="1" rIns="0" wrap="square" tIns="45700">
            <a:normAutofit/>
          </a:bodyPr>
          <a:lstStyle/>
          <a:p>
            <a:pPr indent="-228600" lvl="0" marL="228600" marR="0" rtl="0" algn="just">
              <a:lnSpc>
                <a:spcPct val="9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Bug’s severity should be assessed in terms of </a:t>
            </a:r>
            <a:r>
              <a:rPr b="1" i="0" lang="en-US" sz="2000" u="none" cap="none" strike="noStrike">
                <a:solidFill>
                  <a:schemeClr val="dk1"/>
                </a:solidFill>
                <a:latin typeface="Arial"/>
                <a:ea typeface="Arial"/>
                <a:cs typeface="Arial"/>
                <a:sym typeface="Arial"/>
              </a:rPr>
              <a:t>Impact</a:t>
            </a:r>
            <a:r>
              <a:rPr b="0" i="0" lang="en-US" sz="2000" u="none" cap="none" strike="noStrike">
                <a:solidFill>
                  <a:schemeClr val="dk1"/>
                </a:solidFill>
                <a:latin typeface="Arial"/>
                <a:ea typeface="Arial"/>
                <a:cs typeface="Arial"/>
                <a:sym typeface="Arial"/>
              </a:rPr>
              <a:t> and </a:t>
            </a:r>
            <a:r>
              <a:rPr b="1" i="0" lang="en-US" sz="2000" u="none" cap="none" strike="noStrike">
                <a:solidFill>
                  <a:schemeClr val="dk1"/>
                </a:solidFill>
                <a:latin typeface="Arial"/>
                <a:ea typeface="Arial"/>
                <a:cs typeface="Arial"/>
                <a:sym typeface="Arial"/>
              </a:rPr>
              <a:t>Probability</a:t>
            </a:r>
            <a:endParaRPr/>
          </a:p>
        </p:txBody>
      </p:sp>
      <p:sp>
        <p:nvSpPr>
          <p:cNvPr id="361" name="Google Shape;361;p2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Bug’s Severity</a:t>
            </a:r>
            <a:endParaRPr/>
          </a:p>
        </p:txBody>
      </p:sp>
      <p:pic>
        <p:nvPicPr>
          <p:cNvPr id="368" name="Google Shape;368;p24"/>
          <p:cNvPicPr preferRelativeResize="0"/>
          <p:nvPr>
            <p:ph idx="1" type="body"/>
          </p:nvPr>
        </p:nvPicPr>
        <p:blipFill rotWithShape="1">
          <a:blip r:embed="rId3">
            <a:alphaModFix/>
          </a:blip>
          <a:srcRect b="0" l="0" r="0" t="0"/>
          <a:stretch/>
        </p:blipFill>
        <p:spPr>
          <a:xfrm>
            <a:off x="2635792" y="1611085"/>
            <a:ext cx="7016749" cy="4822938"/>
          </a:xfrm>
          <a:prstGeom prst="rect">
            <a:avLst/>
          </a:prstGeom>
          <a:noFill/>
          <a:ln>
            <a:noFill/>
          </a:ln>
        </p:spPr>
      </p:pic>
      <p:sp>
        <p:nvSpPr>
          <p:cNvPr id="369" name="Google Shape;369;p2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Bug’s Severity and Priority</a:t>
            </a:r>
            <a:endParaRPr/>
          </a:p>
        </p:txBody>
      </p:sp>
      <p:sp>
        <p:nvSpPr>
          <p:cNvPr id="376" name="Google Shape;376;p25"/>
          <p:cNvSpPr txBox="1"/>
          <p:nvPr>
            <p:ph idx="1" type="body"/>
          </p:nvPr>
        </p:nvSpPr>
        <p:spPr>
          <a:xfrm>
            <a:off x="1110344" y="1447800"/>
            <a:ext cx="9966960"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b="1" lang="en-US"/>
              <a:t>Do you agree?</a:t>
            </a:r>
            <a:endParaRPr/>
          </a:p>
          <a:p>
            <a:pPr indent="-228600" lvl="1" marL="685800" rtl="0" algn="just">
              <a:lnSpc>
                <a:spcPct val="90000"/>
              </a:lnSpc>
              <a:spcBef>
                <a:spcPts val="600"/>
              </a:spcBef>
              <a:spcAft>
                <a:spcPts val="0"/>
              </a:spcAft>
              <a:buClr>
                <a:schemeClr val="dk1"/>
              </a:buClr>
              <a:buSzPts val="2000"/>
              <a:buChar char="▪"/>
            </a:pPr>
            <a:r>
              <a:rPr lang="en-US" sz="2000"/>
              <a:t>A bug that corrupts a user’s data is more severe than one that’s a simple misspelling</a:t>
            </a:r>
            <a:endParaRPr/>
          </a:p>
          <a:p>
            <a:pPr indent="-228600" lvl="0" marL="228600" rtl="0" algn="just">
              <a:lnSpc>
                <a:spcPct val="90000"/>
              </a:lnSpc>
              <a:spcBef>
                <a:spcPts val="1800"/>
              </a:spcBef>
              <a:spcAft>
                <a:spcPts val="0"/>
              </a:spcAft>
              <a:buClr>
                <a:schemeClr val="dk1"/>
              </a:buClr>
              <a:buSzPts val="2000"/>
              <a:buChar char="▪"/>
            </a:pPr>
            <a:r>
              <a:rPr b="1" lang="en-US"/>
              <a:t>What if?</a:t>
            </a:r>
            <a:endParaRPr/>
          </a:p>
          <a:p>
            <a:pPr indent="-228600" lvl="1" marL="685800" rtl="0" algn="just">
              <a:lnSpc>
                <a:spcPct val="90000"/>
              </a:lnSpc>
              <a:spcBef>
                <a:spcPts val="600"/>
              </a:spcBef>
              <a:spcAft>
                <a:spcPts val="0"/>
              </a:spcAft>
              <a:buClr>
                <a:schemeClr val="dk1"/>
              </a:buClr>
              <a:buSzPts val="2000"/>
              <a:buChar char="▪"/>
            </a:pPr>
            <a:r>
              <a:rPr lang="en-US" sz="2000"/>
              <a:t>Data corruption occurs very rarely and the misspelling causes every user to have problems installing the software</a:t>
            </a:r>
            <a:endParaRPr/>
          </a:p>
          <a:p>
            <a:pPr indent="-228600" lvl="0" marL="228600" rtl="0" algn="just">
              <a:lnSpc>
                <a:spcPct val="90000"/>
              </a:lnSpc>
              <a:spcBef>
                <a:spcPts val="1800"/>
              </a:spcBef>
              <a:spcAft>
                <a:spcPts val="0"/>
              </a:spcAft>
              <a:buClr>
                <a:schemeClr val="dk1"/>
              </a:buClr>
              <a:buSzPts val="2000"/>
              <a:buChar char="▪"/>
            </a:pPr>
            <a:r>
              <a:rPr b="1" lang="en-US"/>
              <a:t>Severity indicates:</a:t>
            </a:r>
            <a:endParaRPr/>
          </a:p>
          <a:p>
            <a:pPr indent="-228600" lvl="1" marL="685800" rtl="0" algn="just">
              <a:lnSpc>
                <a:spcPct val="90000"/>
              </a:lnSpc>
              <a:spcBef>
                <a:spcPts val="600"/>
              </a:spcBef>
              <a:spcAft>
                <a:spcPts val="0"/>
              </a:spcAft>
              <a:buClr>
                <a:schemeClr val="dk1"/>
              </a:buClr>
              <a:buSzPts val="2000"/>
              <a:buChar char="▪"/>
            </a:pPr>
            <a:r>
              <a:rPr lang="en-US" sz="2000"/>
              <a:t>How bad the bug is and reflects its impact to the product and to the user</a:t>
            </a:r>
            <a:endParaRPr/>
          </a:p>
          <a:p>
            <a:pPr indent="-228600" lvl="0" marL="228600" rtl="0" algn="just">
              <a:lnSpc>
                <a:spcPct val="90000"/>
              </a:lnSpc>
              <a:spcBef>
                <a:spcPts val="1800"/>
              </a:spcBef>
              <a:spcAft>
                <a:spcPts val="0"/>
              </a:spcAft>
              <a:buClr>
                <a:schemeClr val="dk1"/>
              </a:buClr>
              <a:buSzPts val="2000"/>
              <a:buChar char="▪"/>
            </a:pPr>
            <a:r>
              <a:rPr b="1" lang="en-US"/>
              <a:t>Priority indicates </a:t>
            </a:r>
            <a:endParaRPr/>
          </a:p>
          <a:p>
            <a:pPr indent="-228600" lvl="1" marL="685800" rtl="0" algn="just">
              <a:lnSpc>
                <a:spcPct val="90000"/>
              </a:lnSpc>
              <a:spcBef>
                <a:spcPts val="600"/>
              </a:spcBef>
              <a:spcAft>
                <a:spcPts val="0"/>
              </a:spcAft>
              <a:buClr>
                <a:schemeClr val="dk1"/>
              </a:buClr>
              <a:buSzPts val="2000"/>
              <a:buChar char="▪"/>
            </a:pPr>
            <a:r>
              <a:rPr lang="en-US" sz="2000"/>
              <a:t>How important it is to fix the bug and when it should be fixed</a:t>
            </a:r>
            <a:endParaRPr/>
          </a:p>
          <a:p>
            <a:pPr indent="-101600" lvl="1" marL="685800" rtl="0" algn="just">
              <a:lnSpc>
                <a:spcPct val="90000"/>
              </a:lnSpc>
              <a:spcBef>
                <a:spcPts val="600"/>
              </a:spcBef>
              <a:spcAft>
                <a:spcPts val="0"/>
              </a:spcAft>
              <a:buClr>
                <a:schemeClr val="dk1"/>
              </a:buClr>
              <a:buSzPts val="2000"/>
              <a:buNone/>
            </a:pPr>
            <a:r>
              <a:t/>
            </a:r>
            <a:endParaRPr sz="2000"/>
          </a:p>
        </p:txBody>
      </p:sp>
      <p:sp>
        <p:nvSpPr>
          <p:cNvPr id="377" name="Google Shape;377;p2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Bug’s Severity and Priority</a:t>
            </a:r>
            <a:endParaRPr/>
          </a:p>
        </p:txBody>
      </p:sp>
      <p:grpSp>
        <p:nvGrpSpPr>
          <p:cNvPr id="384" name="Google Shape;384;p26"/>
          <p:cNvGrpSpPr/>
          <p:nvPr/>
        </p:nvGrpSpPr>
        <p:grpSpPr>
          <a:xfrm>
            <a:off x="1185708" y="1536556"/>
            <a:ext cx="8641695" cy="4569096"/>
            <a:chOff x="0" y="0"/>
            <a:chExt cx="8641695" cy="4569096"/>
          </a:xfrm>
        </p:grpSpPr>
        <p:sp>
          <p:nvSpPr>
            <p:cNvPr id="385" name="Google Shape;385;p26"/>
            <p:cNvSpPr/>
            <p:nvPr/>
          </p:nvSpPr>
          <p:spPr>
            <a:xfrm>
              <a:off x="2465749" y="0"/>
              <a:ext cx="637379" cy="582282"/>
            </a:xfrm>
            <a:prstGeom prst="roundRect">
              <a:avLst>
                <a:gd fmla="val 16667"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6"/>
            <p:cNvSpPr txBox="1"/>
            <p:nvPr/>
          </p:nvSpPr>
          <p:spPr>
            <a:xfrm>
              <a:off x="2494174" y="28425"/>
              <a:ext cx="580529" cy="525432"/>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Severity</a:t>
              </a:r>
              <a:endParaRPr b="0" i="0" sz="2400" u="none" cap="none" strike="noStrike">
                <a:solidFill>
                  <a:schemeClr val="lt1"/>
                </a:solidFill>
                <a:latin typeface="Arial"/>
                <a:ea typeface="Arial"/>
                <a:cs typeface="Arial"/>
                <a:sym typeface="Arial"/>
              </a:endParaRPr>
            </a:p>
          </p:txBody>
        </p:sp>
        <p:sp>
          <p:nvSpPr>
            <p:cNvPr id="387" name="Google Shape;387;p26"/>
            <p:cNvSpPr/>
            <p:nvPr/>
          </p:nvSpPr>
          <p:spPr>
            <a:xfrm>
              <a:off x="0" y="586410"/>
              <a:ext cx="8641695" cy="14264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6"/>
            <p:cNvSpPr txBox="1"/>
            <p:nvPr/>
          </p:nvSpPr>
          <p:spPr>
            <a:xfrm>
              <a:off x="0" y="586410"/>
              <a:ext cx="8641695" cy="1426420"/>
            </a:xfrm>
            <a:prstGeom prst="rect">
              <a:avLst/>
            </a:prstGeom>
            <a:noFill/>
            <a:ln>
              <a:noFill/>
            </a:ln>
          </p:spPr>
          <p:txBody>
            <a:bodyPr anchorCtr="0" anchor="t" bIns="25400" lIns="274350" spcFirstLastPara="1" rIns="142225" wrap="square" tIns="25400">
              <a:noAutofit/>
            </a:bodyPr>
            <a:lstStyle/>
            <a:p>
              <a:pPr indent="-228600" lvl="1" marL="2286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1- System crash, data loss, data corruption</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2- Operational error, wrong result, loss of functionality</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3- Minor problem, misspelling, UI layout, rare occurrence</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4- Suggestion</a:t>
              </a:r>
              <a:endParaRPr b="0" i="0" sz="2000" u="none" cap="none" strike="noStrike">
                <a:solidFill>
                  <a:schemeClr val="dk1"/>
                </a:solidFill>
                <a:latin typeface="Arial"/>
                <a:ea typeface="Arial"/>
                <a:cs typeface="Arial"/>
                <a:sym typeface="Arial"/>
              </a:endParaRPr>
            </a:p>
          </p:txBody>
        </p:sp>
        <p:sp>
          <p:nvSpPr>
            <p:cNvPr id="389" name="Google Shape;389;p26"/>
            <p:cNvSpPr/>
            <p:nvPr/>
          </p:nvSpPr>
          <p:spPr>
            <a:xfrm>
              <a:off x="2522773" y="1996655"/>
              <a:ext cx="637379" cy="582282"/>
            </a:xfrm>
            <a:prstGeom prst="roundRect">
              <a:avLst>
                <a:gd fmla="val 16667"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6"/>
            <p:cNvSpPr txBox="1"/>
            <p:nvPr/>
          </p:nvSpPr>
          <p:spPr>
            <a:xfrm>
              <a:off x="2551198" y="2025080"/>
              <a:ext cx="580529" cy="525432"/>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Priority</a:t>
              </a:r>
              <a:endParaRPr b="0" i="0" sz="2400" u="none" cap="none" strike="noStrike">
                <a:solidFill>
                  <a:schemeClr val="lt1"/>
                </a:solidFill>
                <a:latin typeface="Arial"/>
                <a:ea typeface="Arial"/>
                <a:cs typeface="Arial"/>
                <a:sym typeface="Arial"/>
              </a:endParaRPr>
            </a:p>
          </p:txBody>
        </p:sp>
        <p:sp>
          <p:nvSpPr>
            <p:cNvPr id="391" name="Google Shape;391;p26"/>
            <p:cNvSpPr/>
            <p:nvPr/>
          </p:nvSpPr>
          <p:spPr>
            <a:xfrm>
              <a:off x="0" y="2595113"/>
              <a:ext cx="8641695" cy="14264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6"/>
            <p:cNvSpPr txBox="1"/>
            <p:nvPr/>
          </p:nvSpPr>
          <p:spPr>
            <a:xfrm>
              <a:off x="0" y="2595113"/>
              <a:ext cx="8641695" cy="1426420"/>
            </a:xfrm>
            <a:prstGeom prst="rect">
              <a:avLst/>
            </a:prstGeom>
            <a:noFill/>
            <a:ln>
              <a:noFill/>
            </a:ln>
          </p:spPr>
          <p:txBody>
            <a:bodyPr anchorCtr="0" anchor="t" bIns="25400" lIns="274350" spcFirstLastPara="1" rIns="142225" wrap="square" tIns="25400">
              <a:noAutofit/>
            </a:bodyPr>
            <a:lstStyle/>
            <a:p>
              <a:pPr indent="-228600" lvl="1" marL="2286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1- Immediate fix, blocks further testing, very visible</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2- Must fix before the product is released</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3- Should fix if time permits</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4- Would likely to be fixed but can be released as is</a:t>
              </a:r>
              <a:endParaRPr b="0" i="0" sz="2000" u="none" cap="none" strike="noStrike">
                <a:solidFill>
                  <a:schemeClr val="dk1"/>
                </a:solidFill>
                <a:latin typeface="Arial"/>
                <a:ea typeface="Arial"/>
                <a:cs typeface="Arial"/>
                <a:sym typeface="Arial"/>
              </a:endParaRPr>
            </a:p>
          </p:txBody>
        </p:sp>
        <p:sp>
          <p:nvSpPr>
            <p:cNvPr id="393" name="Google Shape;393;p26"/>
            <p:cNvSpPr/>
            <p:nvPr/>
          </p:nvSpPr>
          <p:spPr>
            <a:xfrm>
              <a:off x="706178" y="3986814"/>
              <a:ext cx="5963309" cy="582282"/>
            </a:xfrm>
            <a:prstGeom prst="roundRect">
              <a:avLst>
                <a:gd fmla="val 16667"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6"/>
            <p:cNvSpPr txBox="1"/>
            <p:nvPr/>
          </p:nvSpPr>
          <p:spPr>
            <a:xfrm>
              <a:off x="734603" y="4015239"/>
              <a:ext cx="5906459" cy="525432"/>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Note: A bug’s priority can change over the course of a project</a:t>
              </a:r>
              <a:endParaRPr b="0" i="0" sz="2000" u="none" cap="none" strike="noStrike">
                <a:solidFill>
                  <a:schemeClr val="lt1"/>
                </a:solidFill>
                <a:latin typeface="Arial"/>
                <a:ea typeface="Arial"/>
                <a:cs typeface="Arial"/>
                <a:sym typeface="Arial"/>
              </a:endParaRPr>
            </a:p>
          </p:txBody>
        </p:sp>
      </p:grpSp>
      <p:sp>
        <p:nvSpPr>
          <p:cNvPr id="395" name="Google Shape;395;p2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96" name="Google Shape;396;p26"/>
          <p:cNvPicPr preferRelativeResize="0"/>
          <p:nvPr/>
        </p:nvPicPr>
        <p:blipFill rotWithShape="1">
          <a:blip r:embed="rId3">
            <a:alphaModFix/>
          </a:blip>
          <a:srcRect b="0" l="0" r="0" t="0"/>
          <a:stretch/>
        </p:blipFill>
        <p:spPr>
          <a:xfrm>
            <a:off x="8599875" y="1433830"/>
            <a:ext cx="2258387" cy="2395760"/>
          </a:xfrm>
          <a:prstGeom prst="rect">
            <a:avLst/>
          </a:prstGeom>
          <a:noFill/>
          <a:ln>
            <a:noFill/>
          </a:ln>
        </p:spPr>
      </p:pic>
      <p:pic>
        <p:nvPicPr>
          <p:cNvPr id="397" name="Google Shape;397;p26"/>
          <p:cNvPicPr preferRelativeResize="0"/>
          <p:nvPr/>
        </p:nvPicPr>
        <p:blipFill rotWithShape="1">
          <a:blip r:embed="rId4">
            <a:alphaModFix/>
          </a:blip>
          <a:srcRect b="0" l="0" r="0" t="0"/>
          <a:stretch/>
        </p:blipFill>
        <p:spPr>
          <a:xfrm>
            <a:off x="8525192" y="3829590"/>
            <a:ext cx="2674631" cy="26082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Bug’s Severity and Priority</a:t>
            </a:r>
            <a:endParaRPr/>
          </a:p>
        </p:txBody>
      </p:sp>
      <p:sp>
        <p:nvSpPr>
          <p:cNvPr id="404" name="Google Shape;404;p27"/>
          <p:cNvSpPr txBox="1"/>
          <p:nvPr>
            <p:ph idx="1" type="body"/>
          </p:nvPr>
        </p:nvSpPr>
        <p:spPr>
          <a:xfrm>
            <a:off x="1110344" y="1447800"/>
            <a:ext cx="9966960" cy="5029200"/>
          </a:xfrm>
          <a:prstGeom prst="rect">
            <a:avLst/>
          </a:prstGeom>
          <a:noFill/>
          <a:ln>
            <a:noFill/>
          </a:ln>
        </p:spPr>
        <p:txBody>
          <a:bodyPr anchorCtr="0" anchor="t" bIns="45700" lIns="0" spcFirstLastPara="1" rIns="0" wrap="square" tIns="45700">
            <a:normAutofit/>
          </a:bodyPr>
          <a:lstStyle/>
          <a:p>
            <a:pPr indent="-228600" lvl="0" marL="228600" rtl="0" algn="l">
              <a:lnSpc>
                <a:spcPct val="90000"/>
              </a:lnSpc>
              <a:spcBef>
                <a:spcPts val="0"/>
              </a:spcBef>
              <a:spcAft>
                <a:spcPts val="0"/>
              </a:spcAft>
              <a:buClr>
                <a:schemeClr val="dk1"/>
              </a:buClr>
              <a:buSzPts val="2000"/>
              <a:buChar char="▪"/>
            </a:pPr>
            <a:r>
              <a:rPr b="1" lang="en-US"/>
              <a:t>Low Priority, Low Severity:</a:t>
            </a:r>
            <a:r>
              <a:rPr lang="en-US"/>
              <a:t> Any cosmetic or spelling issues which is within a paragraph or in the report</a:t>
            </a:r>
            <a:endParaRPr/>
          </a:p>
          <a:p>
            <a:pPr indent="-228600" lvl="0" marL="228600" rtl="0" algn="l">
              <a:lnSpc>
                <a:spcPct val="90000"/>
              </a:lnSpc>
              <a:spcBef>
                <a:spcPts val="1800"/>
              </a:spcBef>
              <a:spcAft>
                <a:spcPts val="0"/>
              </a:spcAft>
              <a:buClr>
                <a:schemeClr val="dk1"/>
              </a:buClr>
              <a:buSzPts val="2000"/>
              <a:buChar char="▪"/>
            </a:pPr>
            <a:r>
              <a:rPr b="1" lang="en-US"/>
              <a:t>Low Priority, High Severity:</a:t>
            </a:r>
            <a:r>
              <a:rPr lang="en-US"/>
              <a:t> Web page not found when user clicks on a link (user does not visit that page generally)</a:t>
            </a:r>
            <a:endParaRPr/>
          </a:p>
          <a:p>
            <a:pPr indent="-228600" lvl="0" marL="228600" rtl="0" algn="l">
              <a:lnSpc>
                <a:spcPct val="90000"/>
              </a:lnSpc>
              <a:spcBef>
                <a:spcPts val="1800"/>
              </a:spcBef>
              <a:spcAft>
                <a:spcPts val="0"/>
              </a:spcAft>
              <a:buClr>
                <a:schemeClr val="dk1"/>
              </a:buClr>
              <a:buSzPts val="2000"/>
              <a:buChar char="▪"/>
            </a:pPr>
            <a:r>
              <a:rPr b="1" lang="en-US"/>
              <a:t>High Priority, Low Severity:</a:t>
            </a:r>
            <a:r>
              <a:rPr lang="en-US"/>
              <a:t> When the company’s name is misspelled in the home page of the website.</a:t>
            </a:r>
            <a:endParaRPr/>
          </a:p>
          <a:p>
            <a:pPr indent="-228600" lvl="0" marL="228600" rtl="0" algn="l">
              <a:lnSpc>
                <a:spcPct val="90000"/>
              </a:lnSpc>
              <a:spcBef>
                <a:spcPts val="1800"/>
              </a:spcBef>
              <a:spcAft>
                <a:spcPts val="0"/>
              </a:spcAft>
              <a:buClr>
                <a:schemeClr val="dk1"/>
              </a:buClr>
              <a:buSzPts val="2000"/>
              <a:buChar char="▪"/>
            </a:pPr>
            <a:r>
              <a:rPr b="1" lang="en-US"/>
              <a:t>High Priority, High Severity:</a:t>
            </a:r>
            <a:r>
              <a:rPr lang="en-US"/>
              <a:t> An error which occurs on the basic functionality of the application and will not allow the user to use the system (E.g. user is not able to login to the application)</a:t>
            </a:r>
            <a:endParaRPr/>
          </a:p>
          <a:p>
            <a:pPr indent="-101600" lvl="1" marL="685800" rtl="0" algn="just">
              <a:lnSpc>
                <a:spcPct val="90000"/>
              </a:lnSpc>
              <a:spcBef>
                <a:spcPts val="600"/>
              </a:spcBef>
              <a:spcAft>
                <a:spcPts val="0"/>
              </a:spcAft>
              <a:buClr>
                <a:schemeClr val="dk1"/>
              </a:buClr>
              <a:buSzPts val="2000"/>
              <a:buNone/>
            </a:pPr>
            <a:r>
              <a:t/>
            </a:r>
            <a:endParaRPr sz="2000"/>
          </a:p>
        </p:txBody>
      </p:sp>
      <p:sp>
        <p:nvSpPr>
          <p:cNvPr id="405" name="Google Shape;405;p2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06" name="Google Shape;406;p27"/>
          <p:cNvPicPr preferRelativeResize="0"/>
          <p:nvPr/>
        </p:nvPicPr>
        <p:blipFill rotWithShape="1">
          <a:blip r:embed="rId3">
            <a:alphaModFix/>
          </a:blip>
          <a:srcRect b="0" l="0" r="0" t="0"/>
          <a:stretch/>
        </p:blipFill>
        <p:spPr>
          <a:xfrm>
            <a:off x="4167147" y="4450080"/>
            <a:ext cx="6440916" cy="227139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Test Incident Reporting</a:t>
            </a:r>
            <a:endParaRPr/>
          </a:p>
        </p:txBody>
      </p:sp>
      <p:sp>
        <p:nvSpPr>
          <p:cNvPr id="413" name="Google Shape;413;p28"/>
          <p:cNvSpPr txBox="1"/>
          <p:nvPr>
            <p:ph idx="1" type="body"/>
          </p:nvPr>
        </p:nvSpPr>
        <p:spPr>
          <a:xfrm>
            <a:off x="1097280" y="1447800"/>
            <a:ext cx="10006149"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Test incident report is used to document any event that occurs during the testing process which requires investigation. In short, to log a bug.</a:t>
            </a:r>
            <a:endParaRPr/>
          </a:p>
        </p:txBody>
      </p:sp>
      <p:sp>
        <p:nvSpPr>
          <p:cNvPr id="414" name="Google Shape;414;p2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9"/>
          <p:cNvSpPr txBox="1"/>
          <p:nvPr>
            <p:ph type="ctrTitle"/>
          </p:nvPr>
        </p:nvSpPr>
        <p:spPr>
          <a:xfrm>
            <a:off x="347254" y="2292094"/>
            <a:ext cx="4812575" cy="2219691"/>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MANUAL BUG REPORTING AND TRACKING</a:t>
            </a:r>
            <a:endParaRPr/>
          </a:p>
        </p:txBody>
      </p:sp>
      <p:sp>
        <p:nvSpPr>
          <p:cNvPr id="421" name="Google Shape;421;p29"/>
          <p:cNvSpPr/>
          <p:nvPr>
            <p:ph idx="2" type="pic"/>
          </p:nvPr>
        </p:nvSpPr>
        <p:spPr>
          <a:xfrm>
            <a:off x="6981063" y="1310656"/>
            <a:ext cx="5210937" cy="4208604"/>
          </a:xfrm>
          <a:prstGeom prst="rect">
            <a:avLst/>
          </a:prstGeom>
          <a:solidFill>
            <a:srgbClr val="DED9D6"/>
          </a:solidFill>
          <a:ln>
            <a:noFill/>
          </a:ln>
        </p:spPr>
      </p:sp>
      <p:pic>
        <p:nvPicPr>
          <p:cNvPr id="422" name="Google Shape;422;p29"/>
          <p:cNvPicPr preferRelativeResize="0"/>
          <p:nvPr/>
        </p:nvPicPr>
        <p:blipFill rotWithShape="1">
          <a:blip r:embed="rId3">
            <a:alphaModFix/>
          </a:blip>
          <a:srcRect b="0" l="0" r="0" t="0"/>
          <a:stretch/>
        </p:blipFill>
        <p:spPr>
          <a:xfrm>
            <a:off x="5396862" y="5376"/>
            <a:ext cx="6771368" cy="6818920"/>
          </a:xfrm>
          <a:prstGeom prst="rect">
            <a:avLst/>
          </a:prstGeom>
          <a:noFill/>
          <a:ln>
            <a:noFill/>
          </a:ln>
        </p:spPr>
      </p:pic>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References</a:t>
            </a:r>
            <a:endParaRPr/>
          </a:p>
        </p:txBody>
      </p:sp>
      <p:sp>
        <p:nvSpPr>
          <p:cNvPr id="429" name="Google Shape;429;p30"/>
          <p:cNvSpPr txBox="1"/>
          <p:nvPr>
            <p:ph idx="1" type="body"/>
          </p:nvPr>
        </p:nvSpPr>
        <p:spPr>
          <a:xfrm>
            <a:off x="1097280" y="1447800"/>
            <a:ext cx="10006149"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Chapter #19</a:t>
            </a:r>
            <a:endParaRPr/>
          </a:p>
          <a:p>
            <a:pPr indent="-228600" lvl="0" marL="228600" rtl="0" algn="just">
              <a:lnSpc>
                <a:spcPct val="90000"/>
              </a:lnSpc>
              <a:spcBef>
                <a:spcPts val="1800"/>
              </a:spcBef>
              <a:spcAft>
                <a:spcPts val="0"/>
              </a:spcAft>
              <a:buClr>
                <a:schemeClr val="dk1"/>
              </a:buClr>
              <a:buSzPts val="2000"/>
              <a:buChar char="▪"/>
            </a:pPr>
            <a:r>
              <a:rPr lang="en-US"/>
              <a:t>Software Testing by Ron Patton Second Edition</a:t>
            </a:r>
            <a:endParaRPr/>
          </a:p>
        </p:txBody>
      </p:sp>
      <p:sp>
        <p:nvSpPr>
          <p:cNvPr id="430" name="Google Shape;430;p3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f03431380">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2017-08-27T16:09:37Z</dcterms:created>
  <dc:creator>sabeen amjad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