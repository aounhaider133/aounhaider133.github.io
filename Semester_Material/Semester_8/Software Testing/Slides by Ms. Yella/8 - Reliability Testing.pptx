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85" r:id="rId5"/>
    <p:sldId id="286" r:id="rId6"/>
    <p:sldId id="256" r:id="rId7"/>
    <p:sldId id="284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9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43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pPr/>
              <a:t>10/20/2021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pPr/>
              <a:t>10/20/2021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4839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lang="en-US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10/20/2021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10/20/2021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10/20/2021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10/20/2021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10/20/2021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10/20/2021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10/20/2021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10/20/2021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10/20/2021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10/20/2021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10/20/2021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10/20/2021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822798" y="1310656"/>
            <a:ext cx="5734050" cy="2219691"/>
          </a:xfrm>
        </p:spPr>
        <p:txBody>
          <a:bodyPr anchor="ctr"/>
          <a:lstStyle/>
          <a:p>
            <a:r>
              <a:rPr lang="en-US" dirty="0" smtClean="0"/>
              <a:t>CSE 455</a:t>
            </a:r>
            <a:br>
              <a:rPr lang="en-US" dirty="0" smtClean="0"/>
            </a:br>
            <a:r>
              <a:rPr lang="en-US" dirty="0" smtClean="0"/>
              <a:t>Software Testing</a:t>
            </a:r>
            <a:endParaRPr lang="en-US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This course is offered to the students of students of BS Software Engineering who are enrolled in 8</a:t>
            </a:r>
            <a:r>
              <a:rPr lang="en-US" baseline="30000" dirty="0" smtClean="0"/>
              <a:t>th</a:t>
            </a:r>
            <a:r>
              <a:rPr lang="en-US" dirty="0" smtClean="0"/>
              <a:t> semester</a:t>
            </a:r>
          </a:p>
        </p:txBody>
      </p:sp>
      <p:pic>
        <p:nvPicPr>
          <p:cNvPr id="4" name="Picture Placeholder 3" descr="Open book on table, blurred shelves of books in background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  <p:sp>
        <p:nvSpPr>
          <p:cNvPr id="5" name="Subtitle 6"/>
          <p:cNvSpPr txBox="1">
            <a:spLocks/>
          </p:cNvSpPr>
          <p:nvPr/>
        </p:nvSpPr>
        <p:spPr>
          <a:xfrm>
            <a:off x="1466850" y="3655068"/>
            <a:ext cx="1045441" cy="45460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Lecture </a:t>
            </a:r>
            <a:r>
              <a:rPr lang="en-US" dirty="0"/>
              <a:t>8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1085" y="0"/>
            <a:ext cx="1090915" cy="1089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453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06618" y="1830275"/>
            <a:ext cx="5301673" cy="2219691"/>
          </a:xfr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000" dirty="0" smtClean="0">
                <a:latin typeface="Castellar" panose="020A0402060406010301" pitchFamily="18" charset="0"/>
              </a:rPr>
              <a:t>   Course instructor</a:t>
            </a:r>
            <a:br>
              <a:rPr lang="en-US" sz="3000" dirty="0" smtClean="0">
                <a:latin typeface="Castellar" panose="020A0402060406010301" pitchFamily="18" charset="0"/>
              </a:rPr>
            </a:br>
            <a:r>
              <a:rPr lang="en-US" sz="3000" dirty="0" smtClean="0">
                <a:latin typeface="Castellar" panose="020A0402060406010301" pitchFamily="18" charset="0"/>
              </a:rPr>
              <a:t/>
            </a:r>
            <a:br>
              <a:rPr lang="en-US" sz="3000" dirty="0" smtClean="0">
                <a:latin typeface="Castellar" panose="020A0402060406010301" pitchFamily="18" charset="0"/>
              </a:rPr>
            </a:br>
            <a:r>
              <a:rPr lang="en-US" sz="3000" dirty="0" smtClean="0">
                <a:latin typeface="Castellar" panose="020A0402060406010301" pitchFamily="18" charset="0"/>
              </a:rPr>
              <a:t>          Yella </a:t>
            </a:r>
            <a:r>
              <a:rPr lang="en-US" sz="3000" dirty="0" err="1" smtClean="0">
                <a:latin typeface="Castellar" panose="020A0402060406010301" pitchFamily="18" charset="0"/>
              </a:rPr>
              <a:t>mehroze</a:t>
            </a:r>
            <a:endParaRPr lang="en-US" sz="3000" dirty="0">
              <a:latin typeface="Castellar" panose="020A0402060406010301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46765" y="4230255"/>
            <a:ext cx="4895272" cy="112683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>
                <a:latin typeface="Castellar" panose="020A0402060406010301" pitchFamily="18" charset="0"/>
              </a:rPr>
              <a:t> </a:t>
            </a:r>
            <a:r>
              <a:rPr lang="en-US" dirty="0" smtClean="0">
                <a:latin typeface="Castellar" panose="020A0402060406010301" pitchFamily="18" charset="0"/>
              </a:rPr>
              <a:t>   </a:t>
            </a:r>
          </a:p>
          <a:p>
            <a:r>
              <a:rPr lang="en-US" dirty="0" smtClean="0">
                <a:latin typeface="Castellar" panose="020A0402060406010301" pitchFamily="18" charset="0"/>
              </a:rPr>
              <a:t>yellamehroze@cuilahore.edu.pk</a:t>
            </a:r>
            <a:endParaRPr lang="en-US" dirty="0">
              <a:latin typeface="Castellar" panose="020A0402060406010301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632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/>
          <a:lstStyle/>
          <a:p>
            <a:r>
              <a:rPr lang="en-US" dirty="0" smtClean="0"/>
              <a:t>Reliability Testing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/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96017" y="915762"/>
            <a:ext cx="5309046" cy="4953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Outline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Reliability</a:t>
            </a:r>
          </a:p>
          <a:p>
            <a:r>
              <a:rPr lang="en-GB" dirty="0" smtClean="0"/>
              <a:t>Reliability Testing</a:t>
            </a:r>
          </a:p>
          <a:p>
            <a:r>
              <a:rPr lang="en-US" dirty="0" smtClean="0"/>
              <a:t>Reliability and Other Quality Factors</a:t>
            </a:r>
          </a:p>
          <a:p>
            <a:r>
              <a:rPr lang="en-US" dirty="0" smtClean="0"/>
              <a:t>Reliability Testing Effect on Memory</a:t>
            </a:r>
          </a:p>
          <a:p>
            <a:r>
              <a:rPr lang="en-US" dirty="0" smtClean="0"/>
              <a:t>Ways to Express Reliability Defects</a:t>
            </a:r>
          </a:p>
          <a:p>
            <a:r>
              <a:rPr lang="en-US" dirty="0" smtClean="0"/>
              <a:t>Selection of Operations </a:t>
            </a:r>
            <a:r>
              <a:rPr lang="en-US" smtClean="0"/>
              <a:t>for Reliability</a:t>
            </a:r>
          </a:p>
          <a:p>
            <a:r>
              <a:rPr lang="en-US" smtClean="0"/>
              <a:t>Reliability Tested Products Characteristics</a:t>
            </a:r>
            <a:endParaRPr lang="en-US" dirty="0" smtClean="0"/>
          </a:p>
          <a:p>
            <a:endParaRPr lang="en-GB" dirty="0" smtClean="0"/>
          </a:p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Reliability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3407" y="1600201"/>
            <a:ext cx="9940834" cy="4525963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Reliability testing is done to evaluate the product’s ability to perform its </a:t>
            </a:r>
            <a:r>
              <a:rPr lang="en-US" b="1" dirty="0" smtClean="0"/>
              <a:t>required functions</a:t>
            </a:r>
            <a:r>
              <a:rPr lang="en-US" dirty="0" smtClean="0"/>
              <a:t> under stated conditions for a </a:t>
            </a:r>
            <a:r>
              <a:rPr lang="en-US" b="1" dirty="0" smtClean="0"/>
              <a:t>specified period of time</a:t>
            </a:r>
            <a:r>
              <a:rPr lang="en-US" dirty="0" smtClean="0"/>
              <a:t> for a </a:t>
            </a:r>
            <a:r>
              <a:rPr lang="en-US" b="1" dirty="0" smtClean="0"/>
              <a:t>large no of iterations</a:t>
            </a:r>
          </a:p>
          <a:p>
            <a:pPr algn="just"/>
            <a:r>
              <a:rPr lang="en-US" dirty="0" smtClean="0"/>
              <a:t>Reliability of a product should not be confused </a:t>
            </a:r>
            <a:r>
              <a:rPr lang="en-US" dirty="0"/>
              <a:t>w</a:t>
            </a:r>
            <a:r>
              <a:rPr lang="en-US" dirty="0" smtClean="0"/>
              <a:t>ith reliability testing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Reliability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600200"/>
            <a:ext cx="9980023" cy="4648200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The product reliability can be achieved by focusing on the following activities </a:t>
            </a:r>
          </a:p>
          <a:p>
            <a:pPr lvl="1" algn="just"/>
            <a:r>
              <a:rPr lang="en-US" sz="2000" b="1" dirty="0" smtClean="0"/>
              <a:t>Defined Engineering process</a:t>
            </a:r>
          </a:p>
          <a:p>
            <a:pPr lvl="2" algn="just"/>
            <a:r>
              <a:rPr lang="en-US" sz="2000" dirty="0" smtClean="0"/>
              <a:t>Follow clearly defined processes</a:t>
            </a:r>
          </a:p>
          <a:p>
            <a:pPr lvl="2" algn="just"/>
            <a:r>
              <a:rPr lang="en-US" sz="2000" dirty="0" smtClean="0"/>
              <a:t>Team should understand requirements for reliability from beginning</a:t>
            </a:r>
          </a:p>
          <a:p>
            <a:pPr lvl="2" algn="just"/>
            <a:r>
              <a:rPr lang="en-US" sz="2000" dirty="0" smtClean="0"/>
              <a:t>All activities (design, coding, testing, documentation) are planned considering reliability</a:t>
            </a:r>
          </a:p>
          <a:p>
            <a:pPr lvl="1" algn="just"/>
            <a:r>
              <a:rPr lang="en-US" sz="2000" b="1" dirty="0" smtClean="0"/>
              <a:t>Review of </a:t>
            </a:r>
            <a:r>
              <a:rPr lang="en-US" sz="2000" b="1" smtClean="0"/>
              <a:t>work products  at </a:t>
            </a:r>
            <a:r>
              <a:rPr lang="en-US" sz="2000" b="1" dirty="0" smtClean="0"/>
              <a:t>each stage </a:t>
            </a:r>
            <a:endParaRPr lang="en-US" sz="2000" dirty="0" smtClean="0"/>
          </a:p>
          <a:p>
            <a:pPr lvl="2" algn="just"/>
            <a:r>
              <a:rPr lang="en-US" sz="2000" dirty="0" smtClean="0"/>
              <a:t>Products are reviewed at the end of each stage of the product development life cycle</a:t>
            </a:r>
          </a:p>
          <a:p>
            <a:pPr lvl="2" algn="just"/>
            <a:r>
              <a:rPr lang="en-US" sz="2000" dirty="0" smtClean="0"/>
              <a:t>This ensures early detection of errors and their fixes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Reliability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/>
            <a:r>
              <a:rPr lang="en-US" sz="2000" b="1" dirty="0" smtClean="0"/>
              <a:t>Change management procedures</a:t>
            </a:r>
          </a:p>
          <a:p>
            <a:pPr lvl="2" algn="just"/>
            <a:r>
              <a:rPr lang="en-US" sz="2000" dirty="0" smtClean="0"/>
              <a:t>Many errors appear in the product due to improper impact analysis of changes made to the product</a:t>
            </a:r>
          </a:p>
          <a:p>
            <a:pPr lvl="2" algn="just"/>
            <a:r>
              <a:rPr lang="en-US" sz="2000" dirty="0" smtClean="0"/>
              <a:t>Changes received late can prove harmful</a:t>
            </a:r>
          </a:p>
          <a:p>
            <a:pPr lvl="2" algn="just"/>
            <a:r>
              <a:rPr lang="en-US" sz="2000" dirty="0" smtClean="0"/>
              <a:t>A clearly defined change management procedure is necessary</a:t>
            </a:r>
          </a:p>
          <a:p>
            <a:pPr lvl="1" algn="just"/>
            <a:r>
              <a:rPr lang="en-US" sz="2000" b="1" dirty="0" smtClean="0"/>
              <a:t>Review of testing coverage </a:t>
            </a:r>
            <a:endParaRPr lang="en-US" sz="2000" dirty="0" smtClean="0"/>
          </a:p>
          <a:p>
            <a:pPr lvl="2" algn="just"/>
            <a:r>
              <a:rPr lang="en-US" sz="2000" dirty="0" smtClean="0"/>
              <a:t>Allocating time for different phases and testing types can help in catching errors</a:t>
            </a:r>
          </a:p>
          <a:p>
            <a:pPr lvl="2" algn="just"/>
            <a:r>
              <a:rPr lang="en-US" sz="2000" dirty="0" smtClean="0"/>
              <a:t>All testing activities are reviewed for adequacy, time allotted, test cases and effort spent for each type of testing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Reliability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/>
            <a:r>
              <a:rPr lang="en-US" sz="2000" b="1" dirty="0" smtClean="0"/>
              <a:t>Ongoing Monitoring of the product </a:t>
            </a:r>
          </a:p>
          <a:p>
            <a:pPr lvl="2" algn="just"/>
            <a:r>
              <a:rPr lang="en-US" sz="2000" dirty="0" smtClean="0"/>
              <a:t>Once the product has been delivered, it is analyzed for any possibly missed errors</a:t>
            </a:r>
          </a:p>
          <a:p>
            <a:pPr lvl="2" algn="just"/>
            <a:r>
              <a:rPr lang="en-US" sz="2000" dirty="0" smtClean="0"/>
              <a:t>The product is fixed for missed defects</a:t>
            </a:r>
          </a:p>
          <a:p>
            <a:pPr lvl="2" algn="just"/>
            <a:r>
              <a:rPr lang="en-US" sz="2000" dirty="0" smtClean="0"/>
              <a:t>This prevents the same types of defects from reappearing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Reliability Testing is performed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Performing reliability testing does not ensure a reliable product as there are various other factors to be considered</a:t>
            </a:r>
          </a:p>
          <a:p>
            <a:pPr algn="just"/>
            <a:r>
              <a:rPr lang="en-US" dirty="0" smtClean="0"/>
              <a:t>At beginning, a criteria is set to allow maximum no of defects</a:t>
            </a:r>
          </a:p>
          <a:p>
            <a:pPr algn="just"/>
            <a:r>
              <a:rPr lang="en-US" dirty="0" smtClean="0"/>
              <a:t>Newly found defects are compared with previously found and analyzed for why they were not caught earlier</a:t>
            </a:r>
          </a:p>
          <a:p>
            <a:pPr algn="just"/>
            <a:r>
              <a:rPr lang="en-US" dirty="0" smtClean="0"/>
              <a:t>Defects tracked to determine the feasibility of release of the software</a:t>
            </a:r>
          </a:p>
          <a:p>
            <a:pPr algn="just"/>
            <a:r>
              <a:rPr lang="en-US" dirty="0" smtClean="0"/>
              <a:t>Defects found are compared with criteria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Reliability Criteria Showing Smooth Progress and Spikes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00000" y="1631223"/>
            <a:ext cx="9996659" cy="463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Reliability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Spikes indicate that defect fixing is creating new defects</a:t>
            </a:r>
          </a:p>
          <a:p>
            <a:pPr algn="just"/>
            <a:r>
              <a:rPr lang="en-US" dirty="0" smtClean="0"/>
              <a:t>Action is taken to avoid spikes both from the process and product perspective to meet reliability criteria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Reliability and Other Quality Factors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600200"/>
            <a:ext cx="9953897" cy="4648200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Reliability should not be achieved at cost of some other quality factor</a:t>
            </a:r>
          </a:p>
          <a:p>
            <a:pPr algn="just"/>
            <a:r>
              <a:rPr lang="en-US" dirty="0" smtClean="0"/>
              <a:t>Collecting and analyzing the data of reliability testing should also include other quality factors to analyze the impact in a holistic manner </a:t>
            </a:r>
          </a:p>
          <a:p>
            <a:pPr algn="just"/>
            <a:r>
              <a:rPr lang="en-US" dirty="0" smtClean="0"/>
              <a:t>Reliability testing brings out those errors which arise because of certain operations being repeated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Reliability Impact on Performance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C:\Users\uos\Documents\My Received Files\IMG_20160421_2307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5619" y="1575860"/>
            <a:ext cx="11511581" cy="3300940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Reliability Testing Effect on Memory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0342" y="1600201"/>
            <a:ext cx="9940835" cy="4525963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At the end of repeated operations</a:t>
            </a:r>
          </a:p>
          <a:p>
            <a:pPr lvl="1" algn="just"/>
            <a:r>
              <a:rPr lang="en-US" sz="2000" dirty="0" smtClean="0"/>
              <a:t>The CPU may not get released</a:t>
            </a:r>
          </a:p>
          <a:p>
            <a:pPr lvl="1" algn="just"/>
            <a:r>
              <a:rPr lang="en-US" sz="2000" dirty="0" smtClean="0"/>
              <a:t>Disk and network activity may continue</a:t>
            </a:r>
          </a:p>
          <a:p>
            <a:pPr algn="just"/>
            <a:r>
              <a:rPr lang="en-US" dirty="0" smtClean="0"/>
              <a:t>Collect data regarding various resources used in the system before, during and after reliability test execution and analyze the results</a:t>
            </a:r>
          </a:p>
          <a:p>
            <a:pPr algn="just"/>
            <a:r>
              <a:rPr lang="en-US" dirty="0" smtClean="0"/>
              <a:t>Upon reliability test completion, the resource utilization should drop down to the pre-test level of resource utilization</a:t>
            </a:r>
          </a:p>
          <a:p>
            <a:pPr algn="just"/>
            <a:r>
              <a:rPr lang="en-US" dirty="0" smtClean="0"/>
              <a:t>Memory problems are common among most server </a:t>
            </a:r>
            <a:r>
              <a:rPr lang="en-US" smtClean="0"/>
              <a:t>software errors</a:t>
            </a:r>
            <a:endParaRPr lang="en-US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Resource Utilization Over a Period of Time the Reliability Tests are Executed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 descr="C:\Users\uos\Documents\My Received Files\IMG_20160421_231425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2800" y="1600200"/>
            <a:ext cx="10693208" cy="4902880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Table giving an idea on collection of reliability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 descr="C:\Users\uos\Documents\My Received Files\IMG_20160421_23172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1" y="1577110"/>
            <a:ext cx="11504556" cy="5052290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Ways to Express Reliability Defects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3406" y="1600201"/>
            <a:ext cx="9914708" cy="4826725"/>
          </a:xfrm>
        </p:spPr>
        <p:txBody>
          <a:bodyPr>
            <a:normAutofit/>
          </a:bodyPr>
          <a:lstStyle/>
          <a:p>
            <a:pPr algn="just"/>
            <a:r>
              <a:rPr lang="en-US" b="1" dirty="0" smtClean="0"/>
              <a:t>Mean Time Between Failures- </a:t>
            </a:r>
            <a:r>
              <a:rPr lang="en-US" dirty="0" smtClean="0"/>
              <a:t>Average time elapsed from between successive product failures</a:t>
            </a:r>
          </a:p>
          <a:p>
            <a:pPr lvl="1" algn="just"/>
            <a:r>
              <a:rPr lang="en-US" sz="2000" dirty="0" smtClean="0"/>
              <a:t>The details on the time a product fails need to be maintained to understand its reliability for a specified time frame.</a:t>
            </a:r>
          </a:p>
          <a:p>
            <a:pPr lvl="1" algn="just"/>
            <a:r>
              <a:rPr lang="en-US" sz="2000" dirty="0" smtClean="0"/>
              <a:t>For example, if the product fails, say, for every 72 hours, then appropriate decisions may have to be taken to correct code, fixing the issue, and then deploying the same.</a:t>
            </a:r>
          </a:p>
          <a:p>
            <a:pPr algn="just"/>
            <a:r>
              <a:rPr lang="en-US" b="1" dirty="0" smtClean="0"/>
              <a:t>Failure Rate- </a:t>
            </a:r>
            <a:r>
              <a:rPr lang="en-US" dirty="0" smtClean="0"/>
              <a:t>is provided as a function that gives the number of failures occurring per unit time</a:t>
            </a:r>
          </a:p>
          <a:p>
            <a:pPr algn="just"/>
            <a:r>
              <a:rPr lang="en-US" b="1" dirty="0" smtClean="0"/>
              <a:t>Mean Time to Discover the Next K Faults- </a:t>
            </a:r>
            <a:r>
              <a:rPr lang="en-US" dirty="0" smtClean="0"/>
              <a:t>is the measure used to predict the average length of time until the next K faults are encountered</a:t>
            </a:r>
          </a:p>
          <a:p>
            <a:pPr lvl="1" algn="just"/>
            <a:r>
              <a:rPr lang="en-US" sz="2000" dirty="0" smtClean="0"/>
              <a:t>When the product is unstable,  the time taken to find K faults will be less</a:t>
            </a:r>
          </a:p>
          <a:p>
            <a:pPr lvl="1" algn="just"/>
            <a:r>
              <a:rPr lang="en-US" sz="2000" dirty="0" smtClean="0"/>
              <a:t>When the product becomes more stable,  the time taken to find K faults will be increased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Selection of Operations for Reliability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All operations need not to be repeated</a:t>
            </a:r>
          </a:p>
          <a:p>
            <a:pPr algn="just"/>
            <a:r>
              <a:rPr lang="en-US" dirty="0" smtClean="0"/>
              <a:t>Configuration, restore and back up operations are rarely performed and should not be selected for reliability</a:t>
            </a:r>
          </a:p>
          <a:p>
            <a:pPr algn="just"/>
            <a:r>
              <a:rPr lang="en-US" dirty="0" smtClean="0"/>
              <a:t>Highly and most frequently used operations should be considered for reliability testing</a:t>
            </a:r>
          </a:p>
          <a:p>
            <a:pPr algn="just"/>
            <a:r>
              <a:rPr lang="en-US" dirty="0" smtClean="0"/>
              <a:t>Operations that reflect customer daily activities should be considered for testing</a:t>
            </a:r>
          </a:p>
          <a:p>
            <a:pPr lvl="1" algn="just"/>
            <a:r>
              <a:rPr lang="en-US" sz="2000" dirty="0" smtClean="0"/>
              <a:t>For example login and logout operations are important operations that need to be reliability tested</a:t>
            </a:r>
          </a:p>
          <a:p>
            <a:pPr algn="just"/>
            <a:r>
              <a:rPr lang="en-US" dirty="0" smtClean="0"/>
              <a:t>Scenarios closer to the real usage of the product should be selected for testing</a:t>
            </a:r>
            <a:endParaRPr lang="en-US" dirty="0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Reliability Tested Products Characteristics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No errors or very few errors from repeated transactions</a:t>
            </a:r>
          </a:p>
          <a:p>
            <a:pPr algn="just"/>
            <a:r>
              <a:rPr lang="en-US" dirty="0" smtClean="0"/>
              <a:t>Zero downtime</a:t>
            </a:r>
          </a:p>
          <a:p>
            <a:pPr algn="just"/>
            <a:r>
              <a:rPr lang="en-US" dirty="0" smtClean="0"/>
              <a:t>Optimum utilization of resources</a:t>
            </a:r>
          </a:p>
          <a:p>
            <a:pPr algn="just"/>
            <a:r>
              <a:rPr lang="en-US" dirty="0" smtClean="0"/>
              <a:t>Consistent performance and response time of the product for repeated transactions for a specified time duration</a:t>
            </a:r>
          </a:p>
          <a:p>
            <a:pPr algn="just"/>
            <a:r>
              <a:rPr lang="en-US" dirty="0" smtClean="0"/>
              <a:t>No side-effects after the repeated transactions are executed</a:t>
            </a:r>
            <a:endParaRPr lang="en-US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Reliability Testing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Reliability Testing</Template>
  <TotalTime>193</TotalTime>
  <Words>847</Words>
  <Application>Microsoft Office PowerPoint</Application>
  <PresentationFormat>Widescreen</PresentationFormat>
  <Paragraphs>90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Castellar</vt:lpstr>
      <vt:lpstr>Euphemia</vt:lpstr>
      <vt:lpstr>Plantagenet Cherokee</vt:lpstr>
      <vt:lpstr>Wingdings</vt:lpstr>
      <vt:lpstr>Reliability Testing</vt:lpstr>
      <vt:lpstr>CSE 455 Software Testing</vt:lpstr>
      <vt:lpstr>   Course instructor            Yella mehroze</vt:lpstr>
      <vt:lpstr>Reliability Testing</vt:lpstr>
      <vt:lpstr>Outline</vt:lpstr>
      <vt:lpstr>Reliability Testing</vt:lpstr>
      <vt:lpstr>Reliability</vt:lpstr>
      <vt:lpstr>Reliability</vt:lpstr>
      <vt:lpstr>Reliability</vt:lpstr>
      <vt:lpstr>How Reliability Testing is performed</vt:lpstr>
      <vt:lpstr>Reliability Criteria Showing Smooth Progress and Spikes</vt:lpstr>
      <vt:lpstr>Reliability Testing</vt:lpstr>
      <vt:lpstr>Reliability and Other Quality Factors</vt:lpstr>
      <vt:lpstr>Reliability Impact on Performance</vt:lpstr>
      <vt:lpstr>Reliability Testing Effect on Memory</vt:lpstr>
      <vt:lpstr>Resource Utilization Over a Period of Time the Reliability Tests are Executed</vt:lpstr>
      <vt:lpstr>Table giving an idea on collection of reliability data</vt:lpstr>
      <vt:lpstr>Ways to Express Reliability Defects</vt:lpstr>
      <vt:lpstr>Selection of Operations for Reliability</vt:lpstr>
      <vt:lpstr>Reliability Tested Products Characteristics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With Picture Layout</dc:title>
  <dc:creator>sabeen amjad</dc:creator>
  <cp:lastModifiedBy>Yella</cp:lastModifiedBy>
  <cp:revision>35</cp:revision>
  <dcterms:created xsi:type="dcterms:W3CDTF">2017-08-13T16:45:36Z</dcterms:created>
  <dcterms:modified xsi:type="dcterms:W3CDTF">2021-10-20T14:46:58Z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