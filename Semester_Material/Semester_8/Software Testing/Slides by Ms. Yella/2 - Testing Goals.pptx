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6"/>
  </p:notesMasterIdLst>
  <p:handoutMasterIdLst>
    <p:handoutMasterId r:id="rId57"/>
  </p:handoutMasterIdLst>
  <p:sldIdLst>
    <p:sldId id="256" r:id="rId5"/>
    <p:sldId id="340" r:id="rId6"/>
    <p:sldId id="295" r:id="rId7"/>
    <p:sldId id="303" r:id="rId8"/>
    <p:sldId id="279" r:id="rId9"/>
    <p:sldId id="280" r:id="rId10"/>
    <p:sldId id="281" r:id="rId11"/>
    <p:sldId id="282" r:id="rId12"/>
    <p:sldId id="304" r:id="rId13"/>
    <p:sldId id="305" r:id="rId14"/>
    <p:sldId id="283" r:id="rId15"/>
    <p:sldId id="306" r:id="rId16"/>
    <p:sldId id="284" r:id="rId17"/>
    <p:sldId id="285" r:id="rId18"/>
    <p:sldId id="286" r:id="rId19"/>
    <p:sldId id="287" r:id="rId20"/>
    <p:sldId id="337" r:id="rId21"/>
    <p:sldId id="293" r:id="rId22"/>
    <p:sldId id="307" r:id="rId23"/>
    <p:sldId id="336" r:id="rId24"/>
    <p:sldId id="272" r:id="rId25"/>
    <p:sldId id="273" r:id="rId26"/>
    <p:sldId id="274" r:id="rId27"/>
    <p:sldId id="296"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3" r:id="rId53"/>
    <p:sldId id="334" r:id="rId54"/>
    <p:sldId id="335"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5699" autoAdjust="0"/>
  </p:normalViewPr>
  <p:slideViewPr>
    <p:cSldViewPr snapToGrid="0" showGuides="1">
      <p:cViewPr varScale="1">
        <p:scale>
          <a:sx n="82" d="100"/>
          <a:sy n="82" d="100"/>
        </p:scale>
        <p:origin x="768" y="90"/>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3/8/2025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3/8/2025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pPr/>
              <a:t>7</a:t>
            </a:fld>
            <a:endParaRPr lang="en-US"/>
          </a:p>
        </p:txBody>
      </p:sp>
    </p:spTree>
    <p:extLst>
      <p:ext uri="{BB962C8B-B14F-4D97-AF65-F5344CB8AC3E}">
        <p14:creationId xmlns:p14="http://schemas.microsoft.com/office/powerpoint/2010/main" val="458930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dirty="0" smtClean="0"/>
              <a:t>Incredulous-&gt; doubtful</a:t>
            </a: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10</a:t>
            </a:fld>
            <a:endParaRPr lang="en-GB"/>
          </a:p>
        </p:txBody>
      </p:sp>
    </p:spTree>
    <p:extLst>
      <p:ext uri="{BB962C8B-B14F-4D97-AF65-F5344CB8AC3E}">
        <p14:creationId xmlns:p14="http://schemas.microsoft.com/office/powerpoint/2010/main" val="833262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17</a:t>
            </a:fld>
            <a:endParaRPr lang="en-US"/>
          </a:p>
        </p:txBody>
      </p:sp>
    </p:spTree>
    <p:extLst>
      <p:ext uri="{BB962C8B-B14F-4D97-AF65-F5344CB8AC3E}">
        <p14:creationId xmlns:p14="http://schemas.microsoft.com/office/powerpoint/2010/main" val="2714174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18</a:t>
            </a:fld>
            <a:endParaRPr lang="en-US"/>
          </a:p>
        </p:txBody>
      </p:sp>
    </p:spTree>
    <p:extLst>
      <p:ext uri="{BB962C8B-B14F-4D97-AF65-F5344CB8AC3E}">
        <p14:creationId xmlns:p14="http://schemas.microsoft.com/office/powerpoint/2010/main" val="364124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manifested[-&gt; visible, evidence</a:t>
            </a: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23</a:t>
            </a:fld>
            <a:endParaRPr lang="en-GB"/>
          </a:p>
        </p:txBody>
      </p:sp>
    </p:spTree>
    <p:extLst>
      <p:ext uri="{BB962C8B-B14F-4D97-AF65-F5344CB8AC3E}">
        <p14:creationId xmlns:p14="http://schemas.microsoft.com/office/powerpoint/2010/main" val="873764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24</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mtClean="0"/>
              <a:t>Dismiss -&gt;</a:t>
            </a:r>
            <a:r>
              <a:rPr lang="en-GB" baseline="0" smtClean="0"/>
              <a:t> leave</a:t>
            </a:r>
            <a:endParaRPr lang="en-GB"/>
          </a:p>
        </p:txBody>
      </p:sp>
      <p:sp>
        <p:nvSpPr>
          <p:cNvPr id="4" name="Slide Number Placeholder 3"/>
          <p:cNvSpPr>
            <a:spLocks noGrp="1"/>
          </p:cNvSpPr>
          <p:nvPr>
            <p:ph type="sldNum" sz="quarter" idx="10"/>
          </p:nvPr>
        </p:nvSpPr>
        <p:spPr/>
        <p:txBody>
          <a:bodyPr/>
          <a:lstStyle/>
          <a:p>
            <a:fld id="{0A3C37BE-C303-496D-B5CD-85F2937540FC}" type="slidenum">
              <a:rPr lang="en-GB" smtClean="0"/>
              <a:pPr/>
              <a:t>36</a:t>
            </a:fld>
            <a:endParaRPr lang="en-GB"/>
          </a:p>
        </p:txBody>
      </p:sp>
    </p:spTree>
    <p:extLst>
      <p:ext uri="{BB962C8B-B14F-4D97-AF65-F5344CB8AC3E}">
        <p14:creationId xmlns:p14="http://schemas.microsoft.com/office/powerpoint/2010/main" val="3077860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47</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48</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49</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50</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51</a:t>
            </a:fld>
            <a:endParaRPr lang="en-US"/>
          </a:p>
        </p:txBody>
      </p:sp>
    </p:spTree>
    <p:extLst>
      <p:ext uri="{BB962C8B-B14F-4D97-AF65-F5344CB8AC3E}">
        <p14:creationId xmlns:p14="http://schemas.microsoft.com/office/powerpoint/2010/main" val="188508488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3/8/2025</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smtClean="0"/>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3/8/2025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pPr/>
              <a:t>3/8/2025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pPr/>
              <a:t>3/8/2025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pPr/>
              <a:t>3/8/2025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3/8/2025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pPr/>
              <a:t>3/8/2025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3/8/2025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3/8/2025</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smtClean="0"/>
              <a:t>CSE 455</a:t>
            </a:r>
            <a:br>
              <a:rPr lang="en-US" dirty="0" smtClean="0"/>
            </a:br>
            <a:r>
              <a:rPr lang="en-US" dirty="0" smtClean="0"/>
              <a:t>Software Testing</a:t>
            </a:r>
            <a:endParaRPr lang="en-US" dirty="0"/>
          </a:p>
        </p:txBody>
      </p:sp>
      <p:sp>
        <p:nvSpPr>
          <p:cNvPr id="7" name="Subtitle 6"/>
          <p:cNvSpPr>
            <a:spLocks noGrp="1"/>
          </p:cNvSpPr>
          <p:nvPr>
            <p:ph type="subTitle" idx="1"/>
          </p:nvPr>
        </p:nvSpPr>
        <p:spPr/>
        <p:txBody>
          <a:bodyPr/>
          <a:lstStyle/>
          <a:p>
            <a:r>
              <a:rPr lang="en-US" dirty="0" smtClean="0"/>
              <a:t>This course is offered to the </a:t>
            </a:r>
            <a:r>
              <a:rPr lang="en-US" dirty="0" smtClean="0"/>
              <a:t>students </a:t>
            </a:r>
            <a:r>
              <a:rPr lang="en-US" dirty="0" smtClean="0"/>
              <a:t>of BS Software Engineering who are enrolled in 8</a:t>
            </a:r>
            <a:r>
              <a:rPr lang="en-US" baseline="30000" dirty="0" smtClean="0"/>
              <a:t>th</a:t>
            </a:r>
            <a:r>
              <a:rPr lang="en-US" dirty="0" smtClean="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smtClean="0"/>
              <a:t>Lecture 2</a:t>
            </a:r>
            <a:endParaRPr lang="en-US"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smtClean="0">
                <a:latin typeface="Castellar" panose="020A0402060406010301" pitchFamily="18" charset="0"/>
              </a:rPr>
              <a:t>   Course instructor</a:t>
            </a:r>
            <a:br>
              <a:rPr lang="en-US" sz="3000" dirty="0" smtClean="0">
                <a:latin typeface="Castellar" panose="020A0402060406010301" pitchFamily="18" charset="0"/>
              </a:rPr>
            </a:br>
            <a:r>
              <a:rPr lang="en-US" sz="3000" dirty="0" smtClean="0">
                <a:latin typeface="Castellar" panose="020A0402060406010301" pitchFamily="18" charset="0"/>
              </a:rPr>
              <a:t/>
            </a:r>
            <a:br>
              <a:rPr lang="en-US" sz="3000" dirty="0" smtClean="0">
                <a:latin typeface="Castellar" panose="020A0402060406010301" pitchFamily="18" charset="0"/>
              </a:rPr>
            </a:br>
            <a:r>
              <a:rPr lang="en-US" sz="3000" dirty="0" smtClean="0">
                <a:latin typeface="Castellar" panose="020A0402060406010301" pitchFamily="18" charset="0"/>
              </a:rPr>
              <a:t>          Yella </a:t>
            </a:r>
            <a:r>
              <a:rPr lang="en-US" sz="3000" dirty="0" err="1" smtClean="0">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smtClean="0"/>
          </a:p>
          <a:p>
            <a:r>
              <a:rPr lang="en-US" dirty="0">
                <a:latin typeface="Castellar" panose="020A0402060406010301" pitchFamily="18" charset="0"/>
              </a:rPr>
              <a:t> </a:t>
            </a:r>
            <a:r>
              <a:rPr lang="en-US" dirty="0" smtClean="0">
                <a:latin typeface="Castellar" panose="020A0402060406010301" pitchFamily="18" charset="0"/>
              </a:rPr>
              <a:t>   </a:t>
            </a:r>
          </a:p>
          <a:p>
            <a:r>
              <a:rPr lang="en-US" dirty="0" smtClean="0">
                <a:latin typeface="Castellar" panose="020A0402060406010301" pitchFamily="18" charset="0"/>
              </a:rPr>
              <a:t>yellamehroze@cuilahore.edu.pk</a:t>
            </a:r>
            <a:endParaRPr lang="en-US" dirty="0">
              <a:latin typeface="Castellar" panose="020A0402060406010301" pitchFamily="18" charset="0"/>
            </a:endParaRPr>
          </a:p>
        </p:txBody>
      </p:sp>
    </p:spTree>
    <p:extLst>
      <p:ext uri="{BB962C8B-B14F-4D97-AF65-F5344CB8AC3E}">
        <p14:creationId xmlns:p14="http://schemas.microsoft.com/office/powerpoint/2010/main" val="3403208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lstStyle/>
          <a:p>
            <a:r>
              <a:rPr lang="en-US" altLang="en-US" dirty="0" smtClean="0"/>
              <a:t>Why Software Testing? Motivation</a:t>
            </a:r>
          </a:p>
          <a:p>
            <a:r>
              <a:rPr lang="en-US" dirty="0" smtClean="0"/>
              <a:t>What we do</a:t>
            </a:r>
          </a:p>
          <a:p>
            <a:r>
              <a:rPr lang="en-US" altLang="en-US" dirty="0" smtClean="0"/>
              <a:t>What does a Software Tester Do?</a:t>
            </a:r>
          </a:p>
          <a:p>
            <a:r>
              <a:rPr lang="en-US" altLang="en-US" dirty="0" smtClean="0"/>
              <a:t>What Makes a Good Software Tester?</a:t>
            </a:r>
          </a:p>
          <a:p>
            <a:r>
              <a:rPr lang="en-US" dirty="0" smtClean="0"/>
              <a:t>Goals for Testing</a:t>
            </a:r>
          </a:p>
          <a:p>
            <a:r>
              <a:rPr lang="en-US" dirty="0" smtClean="0"/>
              <a:t>Testing Methodologies</a:t>
            </a:r>
          </a:p>
          <a:p>
            <a:r>
              <a:rPr lang="en-US" altLang="en-US" dirty="0" smtClean="0"/>
              <a:t>Testing Axioms</a:t>
            </a:r>
          </a:p>
          <a:p>
            <a:r>
              <a:rPr lang="en-US" altLang="en-US" dirty="0" smtClean="0"/>
              <a:t>7 Principals of Software Testing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lstStyle/>
          <a:p>
            <a:pPr algn="just"/>
            <a:r>
              <a:rPr lang="en-GB" dirty="0" smtClean="0"/>
              <a:t>Back in 1947, the Mark II computer required programmers to constantly maintain it.</a:t>
            </a:r>
          </a:p>
          <a:p>
            <a:pPr algn="just"/>
            <a:r>
              <a:rPr lang="en-GB" dirty="0" smtClean="0"/>
              <a:t>The average person never conceived of having his own computer in his home.</a:t>
            </a:r>
          </a:p>
          <a:p>
            <a:pPr algn="just"/>
            <a:r>
              <a:rPr lang="en-GB" dirty="0" smtClean="0"/>
              <a:t>Now software available in CD’s or online</a:t>
            </a:r>
          </a:p>
          <a:p>
            <a:pPr algn="just"/>
            <a:r>
              <a:rPr lang="en-GB" dirty="0" smtClean="0"/>
              <a:t>More software in our kids’ video games than on the space shuttle</a:t>
            </a:r>
          </a:p>
          <a:p>
            <a:pPr algn="just"/>
            <a:r>
              <a:rPr lang="en-GB" dirty="0" smtClean="0"/>
              <a:t>What once were techie gadgets, such as cell phones, have become commonplace.</a:t>
            </a:r>
          </a:p>
          <a:p>
            <a:pPr algn="just"/>
            <a:r>
              <a:rPr lang="en-GB" dirty="0" smtClean="0"/>
              <a:t>Most of us now can’t go a day without logging on to the Internet and checking our email</a:t>
            </a:r>
          </a:p>
          <a:p>
            <a:pPr algn="just"/>
            <a:r>
              <a:rPr lang="en-GB" dirty="0" smtClean="0"/>
              <a:t>Software is everywhere</a:t>
            </a:r>
          </a:p>
          <a:p>
            <a:pPr algn="just"/>
            <a:r>
              <a:rPr lang="en-GB" dirty="0" smtClean="0"/>
              <a:t>However, it’s written by people—so it’s not perfect</a:t>
            </a:r>
          </a:p>
          <a:p>
            <a:pPr algn="just"/>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Why Software Testing? </a:t>
            </a:r>
            <a:r>
              <a:rPr lang="en-US" altLang="en-US" dirty="0" smtClean="0"/>
              <a:t>Motivation I</a:t>
            </a:r>
            <a:endParaRPr lang="en-US" altLang="en-US" dirty="0"/>
          </a:p>
        </p:txBody>
      </p:sp>
      <p:sp>
        <p:nvSpPr>
          <p:cNvPr id="395267" name="Rectangle 3"/>
          <p:cNvSpPr>
            <a:spLocks noGrp="1" noChangeArrowheads="1"/>
          </p:cNvSpPr>
          <p:nvPr>
            <p:ph idx="1"/>
          </p:nvPr>
        </p:nvSpPr>
        <p:spPr>
          <a:xfrm>
            <a:off x="1110344" y="1447800"/>
            <a:ext cx="9993086" cy="4800600"/>
          </a:xfrm>
        </p:spPr>
        <p:txBody>
          <a:bodyPr>
            <a:normAutofit/>
          </a:bodyPr>
          <a:lstStyle/>
          <a:p>
            <a:r>
              <a:rPr lang="en-US" altLang="en-US" b="1" i="1" dirty="0"/>
              <a:t>The Lion King Animated Storybook, Fall 1994</a:t>
            </a:r>
            <a:r>
              <a:rPr lang="en-US" b="1" dirty="0" smtClean="0">
                <a:cs typeface="Times New Roman" pitchFamily="18" charset="0"/>
              </a:rPr>
              <a:t> </a:t>
            </a:r>
          </a:p>
          <a:p>
            <a:pPr marL="759270" lvl="1" indent="-457200" fontAlgn="auto">
              <a:spcAft>
                <a:spcPts val="0"/>
              </a:spcAft>
              <a:buSzPct val="60000"/>
              <a:buFont typeface="Courier New" panose="02070309020205020404" pitchFamily="49" charset="0"/>
              <a:buChar char="o"/>
              <a:defRPr/>
            </a:pPr>
            <a:r>
              <a:rPr lang="en-US" altLang="en-US" sz="2000" dirty="0"/>
              <a:t>Disney’s first multimedia CD-ROM game for children</a:t>
            </a:r>
            <a:r>
              <a:rPr lang="en-US" altLang="en-US" sz="2000" dirty="0" smtClean="0"/>
              <a:t>.</a:t>
            </a:r>
          </a:p>
          <a:p>
            <a:pPr marL="759270" lvl="1" indent="-457200" fontAlgn="auto">
              <a:spcAft>
                <a:spcPts val="0"/>
              </a:spcAft>
              <a:buSzPct val="60000"/>
              <a:buFont typeface="Courier New" panose="02070309020205020404" pitchFamily="49" charset="0"/>
              <a:buChar char="o"/>
              <a:defRPr/>
            </a:pPr>
            <a:r>
              <a:rPr lang="en-US" sz="2000" dirty="0" smtClean="0"/>
              <a:t>Highly promoted and advertised</a:t>
            </a:r>
          </a:p>
          <a:p>
            <a:pPr marL="759270" lvl="1" indent="-457200" fontAlgn="auto">
              <a:spcAft>
                <a:spcPts val="0"/>
              </a:spcAft>
              <a:buSzPct val="60000"/>
              <a:buFont typeface="Courier New" panose="02070309020205020404" pitchFamily="49" charset="0"/>
              <a:buChar char="o"/>
              <a:defRPr/>
            </a:pPr>
            <a:r>
              <a:rPr lang="en-US" altLang="en-US" sz="2000" dirty="0"/>
              <a:t>Sales were </a:t>
            </a:r>
            <a:r>
              <a:rPr lang="en-US" altLang="en-US" sz="2000" dirty="0" smtClean="0"/>
              <a:t>huge</a:t>
            </a:r>
            <a:endParaRPr lang="en-US" sz="2000" dirty="0">
              <a:cs typeface="Times New Roman" pitchFamily="18" charset="0"/>
            </a:endParaRPr>
          </a:p>
          <a:p>
            <a:pPr marL="759270" lvl="1" indent="-457200" fontAlgn="auto">
              <a:spcAft>
                <a:spcPts val="0"/>
              </a:spcAft>
              <a:buSzPct val="60000"/>
              <a:buFont typeface="Courier New" panose="02070309020205020404" pitchFamily="49" charset="0"/>
              <a:buChar char="o"/>
              <a:defRPr/>
            </a:pPr>
            <a:r>
              <a:rPr lang="en-US" altLang="en-US" sz="2000" dirty="0"/>
              <a:t>The game to buy </a:t>
            </a:r>
            <a:r>
              <a:rPr lang="en-US" altLang="en-US" sz="2000" dirty="0" smtClean="0"/>
              <a:t>for children </a:t>
            </a:r>
            <a:r>
              <a:rPr lang="en-US" altLang="en-US" sz="2000" dirty="0"/>
              <a:t>that </a:t>
            </a:r>
            <a:endParaRPr lang="en-US" altLang="en-US" sz="2000" dirty="0" smtClean="0"/>
          </a:p>
          <a:p>
            <a:pPr marL="759270" lvl="1" indent="-457200" fontAlgn="auto">
              <a:spcAft>
                <a:spcPts val="0"/>
              </a:spcAft>
              <a:buSzPct val="60000"/>
              <a:buNone/>
              <a:defRPr/>
            </a:pPr>
            <a:r>
              <a:rPr lang="en-US" altLang="en-US" sz="2000" dirty="0" smtClean="0"/>
              <a:t>	holiday season</a:t>
            </a:r>
          </a:p>
        </p:txBody>
      </p:sp>
      <p:pic>
        <p:nvPicPr>
          <p:cNvPr id="1026" name="Picture 2" descr="Image result for Lion King Animated Storybook, Fall 19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4105" y="2155374"/>
            <a:ext cx="4997682" cy="450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636893"/>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Why Software Testing? </a:t>
            </a:r>
            <a:r>
              <a:rPr lang="en-US" altLang="en-US" dirty="0" smtClean="0"/>
              <a:t>Motivation I</a:t>
            </a:r>
            <a:endParaRPr lang="en-US" altLang="en-US" dirty="0"/>
          </a:p>
        </p:txBody>
      </p:sp>
      <p:sp>
        <p:nvSpPr>
          <p:cNvPr id="395267" name="Rectangle 3"/>
          <p:cNvSpPr>
            <a:spLocks noGrp="1" noChangeArrowheads="1"/>
          </p:cNvSpPr>
          <p:nvPr>
            <p:ph idx="1"/>
          </p:nvPr>
        </p:nvSpPr>
        <p:spPr>
          <a:xfrm>
            <a:off x="1097281" y="1447800"/>
            <a:ext cx="10006148" cy="4800600"/>
          </a:xfrm>
        </p:spPr>
        <p:txBody>
          <a:bodyPr>
            <a:normAutofit/>
          </a:bodyPr>
          <a:lstStyle/>
          <a:p>
            <a:r>
              <a:rPr lang="en-US" altLang="en-US" b="1" i="1" dirty="0"/>
              <a:t>The Lion King Animated Storybook, Fall 1994</a:t>
            </a:r>
            <a:r>
              <a:rPr lang="en-US" b="1" dirty="0" smtClean="0">
                <a:cs typeface="Times New Roman" pitchFamily="18" charset="0"/>
              </a:rPr>
              <a:t> </a:t>
            </a:r>
          </a:p>
          <a:p>
            <a:pPr lvl="1" algn="just"/>
            <a:r>
              <a:rPr lang="en-US" altLang="en-US" sz="2000" dirty="0" smtClean="0"/>
              <a:t>On </a:t>
            </a:r>
            <a:r>
              <a:rPr lang="en-US" altLang="en-US" sz="2000" dirty="0"/>
              <a:t>December 26, Disney's customer support phones began to ring, and ring, and ring….from angry parents with crying children who couldn't get the software to work. </a:t>
            </a:r>
            <a:endParaRPr lang="en-US" altLang="en-US" sz="2000" dirty="0" smtClean="0"/>
          </a:p>
          <a:p>
            <a:pPr lvl="1" algn="just"/>
            <a:r>
              <a:rPr lang="en-US" altLang="en-US" sz="2000" dirty="0" smtClean="0"/>
              <a:t>Numerous </a:t>
            </a:r>
            <a:r>
              <a:rPr lang="en-US" altLang="en-US" sz="2000" dirty="0"/>
              <a:t>stories appeared in newspapers and on TV </a:t>
            </a:r>
            <a:r>
              <a:rPr lang="en-US" altLang="en-US" sz="2000" dirty="0" smtClean="0"/>
              <a:t>news.</a:t>
            </a:r>
          </a:p>
          <a:p>
            <a:pPr lvl="1" algn="just"/>
            <a:r>
              <a:rPr lang="en-GB" sz="2000" dirty="0" smtClean="0"/>
              <a:t>Disney failed to properly test the </a:t>
            </a:r>
            <a:r>
              <a:rPr lang="en-GB" sz="2000" smtClean="0"/>
              <a:t>software on </a:t>
            </a:r>
            <a:r>
              <a:rPr lang="en-GB" sz="2000" dirty="0" smtClean="0"/>
              <a:t>many different PC models available on the market.</a:t>
            </a:r>
            <a:endParaRPr lang="en-US" altLang="en-US" sz="2000" dirty="0" smtClean="0"/>
          </a:p>
          <a:p>
            <a:pPr lvl="1" algn="just"/>
            <a:r>
              <a:rPr lang="en-US" altLang="en-US" sz="2000" dirty="0" smtClean="0"/>
              <a:t>The </a:t>
            </a:r>
            <a:r>
              <a:rPr lang="en-US" altLang="en-US" sz="2000" dirty="0"/>
              <a:t>software </a:t>
            </a:r>
            <a:r>
              <a:rPr lang="en-US" altLang="en-US" sz="2000" dirty="0" smtClean="0"/>
              <a:t>worked on a few systems and failed </a:t>
            </a:r>
            <a:r>
              <a:rPr lang="en-US" altLang="en-US" sz="2000" dirty="0"/>
              <a:t>on many very popular PC platforms!</a:t>
            </a:r>
            <a:endParaRPr lang="en-US" sz="2000" dirty="0" smtClean="0"/>
          </a:p>
        </p:txBody>
      </p:sp>
    </p:spTree>
    <p:extLst>
      <p:ext uri="{BB962C8B-B14F-4D97-AF65-F5344CB8AC3E}">
        <p14:creationId xmlns:p14="http://schemas.microsoft.com/office/powerpoint/2010/main" val="1452439306"/>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Why Software Testing? </a:t>
            </a:r>
            <a:r>
              <a:rPr lang="en-US" altLang="en-US" dirty="0" smtClean="0"/>
              <a:t>Motivation II</a:t>
            </a:r>
            <a:endParaRPr lang="en-US" altLang="en-US" dirty="0"/>
          </a:p>
        </p:txBody>
      </p:sp>
      <p:sp>
        <p:nvSpPr>
          <p:cNvPr id="395267" name="Rectangle 3"/>
          <p:cNvSpPr>
            <a:spLocks noGrp="1" noChangeArrowheads="1"/>
          </p:cNvSpPr>
          <p:nvPr>
            <p:ph idx="1"/>
          </p:nvPr>
        </p:nvSpPr>
        <p:spPr>
          <a:xfrm>
            <a:off x="1097281" y="1447800"/>
            <a:ext cx="9993085" cy="4800600"/>
          </a:xfrm>
        </p:spPr>
        <p:txBody>
          <a:bodyPr>
            <a:normAutofit/>
          </a:bodyPr>
          <a:lstStyle/>
          <a:p>
            <a:r>
              <a:rPr lang="en-US" altLang="en-US" b="1" i="1" dirty="0"/>
              <a:t>Intel Pentium Floating-Point Division Bug, </a:t>
            </a:r>
            <a:r>
              <a:rPr lang="en-US" altLang="en-US" b="1" i="1" dirty="0" smtClean="0"/>
              <a:t>1994</a:t>
            </a:r>
          </a:p>
          <a:p>
            <a:pPr lvl="1"/>
            <a:r>
              <a:rPr lang="en-US" altLang="en-US" sz="2000" dirty="0" smtClean="0"/>
              <a:t>Enter </a:t>
            </a:r>
            <a:r>
              <a:rPr lang="en-US" altLang="en-US" sz="2000" dirty="0"/>
              <a:t>the following equation into your PC's calculator</a:t>
            </a:r>
            <a:r>
              <a:rPr lang="en-US" altLang="en-US" sz="2000" dirty="0" smtClean="0"/>
              <a:t>:</a:t>
            </a:r>
          </a:p>
          <a:p>
            <a:pPr lvl="1"/>
            <a:r>
              <a:rPr lang="en-US" altLang="en-US" sz="2000" dirty="0" smtClean="0"/>
              <a:t>(</a:t>
            </a:r>
            <a:r>
              <a:rPr lang="en-US" altLang="en-US" sz="2000" dirty="0"/>
              <a:t>4195835 / 3145727) * </a:t>
            </a:r>
            <a:r>
              <a:rPr lang="en-US" altLang="en-US" sz="2000" dirty="0" smtClean="0"/>
              <a:t>3145727 – 4195835</a:t>
            </a:r>
          </a:p>
          <a:p>
            <a:pPr lvl="1"/>
            <a:r>
              <a:rPr lang="en-US" altLang="en-US" sz="2000" dirty="0" smtClean="0"/>
              <a:t>What is the result?</a:t>
            </a:r>
            <a:endParaRPr lang="en-US" altLang="en-US" sz="2000" dirty="0"/>
          </a:p>
          <a:p>
            <a:pPr marL="302070" lvl="1" indent="0" fontAlgn="auto">
              <a:spcAft>
                <a:spcPts val="0"/>
              </a:spcAft>
              <a:buSzPct val="60000"/>
              <a:buNone/>
              <a:defRPr/>
            </a:pPr>
            <a:endParaRPr lang="en-US"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49144" y="2599508"/>
            <a:ext cx="3962400" cy="2971800"/>
          </a:xfrm>
          <a:prstGeom prst="rect">
            <a:avLst/>
          </a:prstGeom>
        </p:spPr>
      </p:pic>
    </p:spTree>
    <p:extLst>
      <p:ext uri="{BB962C8B-B14F-4D97-AF65-F5344CB8AC3E}">
        <p14:creationId xmlns:p14="http://schemas.microsoft.com/office/powerpoint/2010/main" val="3517144314"/>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Why Software Testing? </a:t>
            </a:r>
            <a:r>
              <a:rPr lang="en-US" altLang="en-US" dirty="0" smtClean="0"/>
              <a:t>Motivation II</a:t>
            </a:r>
            <a:endParaRPr lang="en-US" altLang="en-US" dirty="0"/>
          </a:p>
        </p:txBody>
      </p:sp>
      <p:sp>
        <p:nvSpPr>
          <p:cNvPr id="395267" name="Rectangle 3"/>
          <p:cNvSpPr>
            <a:spLocks noGrp="1" noChangeArrowheads="1"/>
          </p:cNvSpPr>
          <p:nvPr>
            <p:ph idx="1"/>
          </p:nvPr>
        </p:nvSpPr>
        <p:spPr>
          <a:xfrm>
            <a:off x="1110344" y="1447800"/>
            <a:ext cx="10006148" cy="4800600"/>
          </a:xfrm>
        </p:spPr>
        <p:txBody>
          <a:bodyPr>
            <a:normAutofit/>
          </a:bodyPr>
          <a:lstStyle/>
          <a:p>
            <a:r>
              <a:rPr lang="en-US" altLang="en-US" b="1" i="1" dirty="0"/>
              <a:t>Intel Pentium Floating-Point Division Bug, </a:t>
            </a:r>
            <a:r>
              <a:rPr lang="en-US" altLang="en-US" b="1" i="1" dirty="0" smtClean="0"/>
              <a:t>1994</a:t>
            </a:r>
          </a:p>
          <a:p>
            <a:pPr lvl="1" algn="just"/>
            <a:r>
              <a:rPr lang="en-US" altLang="en-US" sz="2000" dirty="0" smtClean="0"/>
              <a:t>If </a:t>
            </a:r>
            <a:r>
              <a:rPr lang="en-US" altLang="en-US" sz="2000" dirty="0"/>
              <a:t>you get anything </a:t>
            </a:r>
            <a:r>
              <a:rPr lang="en-US" altLang="en-US" sz="2000" dirty="0" smtClean="0"/>
              <a:t>else except zero, </a:t>
            </a:r>
            <a:r>
              <a:rPr lang="en-US" altLang="en-US" sz="2000" dirty="0"/>
              <a:t>you have an old Intel Pentium CPU with a floating-point division bug, a software bug burned into a computer </a:t>
            </a:r>
            <a:r>
              <a:rPr lang="en-US" altLang="en-US" sz="2000" dirty="0" smtClean="0"/>
              <a:t>chip.</a:t>
            </a:r>
          </a:p>
          <a:p>
            <a:pPr lvl="1" algn="just"/>
            <a:r>
              <a:rPr lang="en-GB" sz="2000" dirty="0" smtClean="0"/>
              <a:t>It is reproduced over and over in the manufacturing process</a:t>
            </a:r>
            <a:endParaRPr lang="en-US" altLang="en-US" sz="2000" dirty="0" smtClean="0"/>
          </a:p>
          <a:p>
            <a:pPr lvl="1" algn="just"/>
            <a:r>
              <a:rPr lang="en-US" altLang="en-US" sz="2000" dirty="0" smtClean="0"/>
              <a:t>On </a:t>
            </a:r>
            <a:r>
              <a:rPr lang="en-US" altLang="en-US" sz="2000" dirty="0"/>
              <a:t>October 30, 1994, Dr. Thomas R. Nicely of Lynchburg (Virginia) College traced an unexpected result from one of his experiments to an incorrect answer by a division problem solved on his Pentium </a:t>
            </a:r>
            <a:r>
              <a:rPr lang="en-US" altLang="en-US" sz="2000" dirty="0" smtClean="0"/>
              <a:t>PC.</a:t>
            </a:r>
          </a:p>
          <a:p>
            <a:pPr lvl="1" algn="just"/>
            <a:r>
              <a:rPr lang="en-US" altLang="en-US" sz="2000" dirty="0" smtClean="0"/>
              <a:t>He </a:t>
            </a:r>
            <a:r>
              <a:rPr lang="en-US" altLang="en-US" sz="2000" dirty="0"/>
              <a:t>posted </a:t>
            </a:r>
            <a:r>
              <a:rPr lang="en-US" altLang="en-US" sz="2000"/>
              <a:t>his </a:t>
            </a:r>
            <a:r>
              <a:rPr lang="en-US" altLang="en-US" sz="2000" smtClean="0"/>
              <a:t>findings </a:t>
            </a:r>
            <a:r>
              <a:rPr lang="en-US" altLang="en-US" sz="2000" dirty="0"/>
              <a:t>on the Internet and soon afterward a firestorm erupted as numerous other people duplicated his problem and found additional situations that resulted in wrong </a:t>
            </a:r>
            <a:r>
              <a:rPr lang="en-US" altLang="en-US" sz="2000" dirty="0" smtClean="0"/>
              <a:t>answers.</a:t>
            </a:r>
          </a:p>
          <a:p>
            <a:pPr lvl="1" algn="just"/>
            <a:r>
              <a:rPr lang="en-GB" sz="2000" dirty="0" smtClean="0"/>
              <a:t>Fortunately, these cases were rare and resulted in wrong answers only for extremely math-intensive, scientific, and engineering calculations</a:t>
            </a:r>
            <a:endParaRPr lang="en-US" sz="2000" dirty="0" smtClean="0"/>
          </a:p>
          <a:p>
            <a:pPr lvl="1" algn="just"/>
            <a:r>
              <a:rPr lang="en-US" sz="2000" dirty="0" smtClean="0"/>
              <a:t>Other people </a:t>
            </a:r>
            <a:r>
              <a:rPr lang="en-GB" sz="2000" dirty="0" smtClean="0"/>
              <a:t>never encounter them doing their taxes or running their businesses.</a:t>
            </a:r>
            <a:endParaRPr lang="en-US" sz="2000" dirty="0"/>
          </a:p>
        </p:txBody>
      </p:sp>
    </p:spTree>
    <p:extLst>
      <p:ext uri="{BB962C8B-B14F-4D97-AF65-F5344CB8AC3E}">
        <p14:creationId xmlns:p14="http://schemas.microsoft.com/office/powerpoint/2010/main" val="1972132109"/>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Why Software Testing? Motivation II</a:t>
            </a:r>
            <a:endParaRPr lang="en-GB" dirty="0"/>
          </a:p>
        </p:txBody>
      </p:sp>
      <p:sp>
        <p:nvSpPr>
          <p:cNvPr id="3" name="Content Placeholder 2"/>
          <p:cNvSpPr>
            <a:spLocks noGrp="1"/>
          </p:cNvSpPr>
          <p:nvPr>
            <p:ph idx="1"/>
          </p:nvPr>
        </p:nvSpPr>
        <p:spPr>
          <a:xfrm>
            <a:off x="1078774" y="1430383"/>
            <a:ext cx="9982200" cy="5257800"/>
          </a:xfrm>
        </p:spPr>
        <p:txBody>
          <a:bodyPr>
            <a:normAutofit/>
          </a:bodyPr>
          <a:lstStyle/>
          <a:p>
            <a:pPr algn="just"/>
            <a:r>
              <a:rPr lang="en-US" altLang="en-US" b="1" i="1" dirty="0" smtClean="0"/>
              <a:t>Intel Pentium Floating-Point Division Bug, 1994</a:t>
            </a:r>
          </a:p>
          <a:p>
            <a:pPr lvl="1" algn="just"/>
            <a:r>
              <a:rPr lang="en-GB" sz="2000" dirty="0" smtClean="0"/>
              <a:t>What makes this story notable is the way Intel handled the situation:</a:t>
            </a:r>
          </a:p>
          <a:p>
            <a:pPr lvl="2" algn="just"/>
            <a:r>
              <a:rPr lang="en-GB" sz="2000" dirty="0" smtClean="0"/>
              <a:t>Their software test engineers had found the problem while performing their own tests before the chip was released. Intel’s management decided that the problem wasn’t severe enough to warrant fixing it, or even publicizing it.</a:t>
            </a:r>
          </a:p>
          <a:p>
            <a:pPr lvl="2" algn="just"/>
            <a:r>
              <a:rPr lang="en-GB" sz="2000" dirty="0" smtClean="0"/>
              <a:t>Once the bug was found, Intel attempted to diminish its perceived severity through press releases and public statements.</a:t>
            </a:r>
          </a:p>
          <a:p>
            <a:pPr lvl="2" algn="just"/>
            <a:r>
              <a:rPr lang="en-GB" sz="2000" dirty="0" smtClean="0"/>
              <a:t>When pressured, Intel offered to replace the faulty chips, but only if a user could prove that he was affected by the bug.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Why Software Testing? Motivation II</a:t>
            </a:r>
            <a:endParaRPr lang="en-GB" dirty="0"/>
          </a:p>
        </p:txBody>
      </p:sp>
      <p:sp>
        <p:nvSpPr>
          <p:cNvPr id="3" name="Content Placeholder 2"/>
          <p:cNvSpPr>
            <a:spLocks noGrp="1"/>
          </p:cNvSpPr>
          <p:nvPr>
            <p:ph idx="1"/>
          </p:nvPr>
        </p:nvSpPr>
        <p:spPr/>
        <p:txBody>
          <a:bodyPr/>
          <a:lstStyle/>
          <a:p>
            <a:pPr algn="just"/>
            <a:r>
              <a:rPr lang="en-US" altLang="en-US" b="1" i="1" dirty="0" smtClean="0"/>
              <a:t>Intel Pentium Floating-Point Division Bug, 1994</a:t>
            </a:r>
            <a:endParaRPr lang="en-GB" sz="2000" dirty="0" smtClean="0"/>
          </a:p>
          <a:p>
            <a:pPr lvl="1" algn="just"/>
            <a:r>
              <a:rPr lang="en-GB" sz="2000" dirty="0" smtClean="0"/>
              <a:t>Internet newsgroups were jammed with customers demanding that Intel fix the problem</a:t>
            </a:r>
          </a:p>
          <a:p>
            <a:pPr lvl="1" algn="just"/>
            <a:r>
              <a:rPr lang="en-GB" sz="2000" dirty="0" smtClean="0"/>
              <a:t>News stories painted the company as uncaring and incredulous</a:t>
            </a:r>
          </a:p>
          <a:p>
            <a:pPr lvl="1" algn="just"/>
            <a:r>
              <a:rPr lang="en-GB" sz="2000" dirty="0" smtClean="0"/>
              <a:t>Intel apologized for the way it handled the bug and took a charge of over $400 million to cover the costs of replacing bad chips</a:t>
            </a:r>
          </a:p>
          <a:p>
            <a:pPr lvl="1" algn="just"/>
            <a:r>
              <a:rPr lang="en-GB" sz="2000" dirty="0" smtClean="0"/>
              <a:t>Intel now reports known problems on its Web site and carefully monitors customer feedback on Internet newsgroups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Why Software Testing? </a:t>
            </a:r>
            <a:r>
              <a:rPr lang="en-US" altLang="en-US" dirty="0" smtClean="0"/>
              <a:t>Motivation III</a:t>
            </a:r>
            <a:endParaRPr lang="en-US" altLang="en-US" dirty="0"/>
          </a:p>
        </p:txBody>
      </p:sp>
      <p:sp>
        <p:nvSpPr>
          <p:cNvPr id="395267" name="Rectangle 3"/>
          <p:cNvSpPr>
            <a:spLocks noGrp="1" noChangeArrowheads="1"/>
          </p:cNvSpPr>
          <p:nvPr>
            <p:ph idx="1"/>
          </p:nvPr>
        </p:nvSpPr>
        <p:spPr>
          <a:xfrm>
            <a:off x="1110343" y="1447800"/>
            <a:ext cx="9953897" cy="4267200"/>
          </a:xfrm>
        </p:spPr>
        <p:txBody>
          <a:bodyPr>
            <a:normAutofit/>
          </a:bodyPr>
          <a:lstStyle/>
          <a:p>
            <a:r>
              <a:rPr lang="en-US" altLang="en-US" b="1" i="1" dirty="0"/>
              <a:t>NASA Mars Polar Lander, </a:t>
            </a:r>
            <a:r>
              <a:rPr lang="en-US" altLang="en-US" b="1" i="1" dirty="0" smtClean="0"/>
              <a:t>1999</a:t>
            </a:r>
          </a:p>
          <a:p>
            <a:pPr lvl="1" algn="just"/>
            <a:r>
              <a:rPr lang="en-US" altLang="en-US" sz="2000" dirty="0" smtClean="0"/>
              <a:t>On </a:t>
            </a:r>
            <a:r>
              <a:rPr lang="en-US" altLang="en-US" sz="2000" dirty="0"/>
              <a:t>December 3, 1999, NASA's Mars Polar Lander disappeared during its landing attempt on the Martian </a:t>
            </a:r>
            <a:r>
              <a:rPr lang="en-US" altLang="en-US" sz="2000" dirty="0" smtClean="0"/>
              <a:t>surface.</a:t>
            </a:r>
          </a:p>
          <a:p>
            <a:pPr lvl="1" algn="just"/>
            <a:r>
              <a:rPr lang="en-US" altLang="en-US" sz="2000" dirty="0" smtClean="0"/>
              <a:t>A </a:t>
            </a:r>
            <a:r>
              <a:rPr lang="en-US" altLang="en-US" sz="2000" dirty="0"/>
              <a:t>Failure Review Board investigated the failure and determined that the most likely reason for the malfunction was the unexpected setting of a single data </a:t>
            </a:r>
            <a:r>
              <a:rPr lang="en-US" altLang="en-US" sz="2000" dirty="0" smtClean="0"/>
              <a:t>bit.</a:t>
            </a:r>
            <a:endParaRPr lang="en-US" altLang="en-US" sz="2000" dirty="0"/>
          </a:p>
          <a:p>
            <a:pPr lvl="1" algn="just"/>
            <a:r>
              <a:rPr lang="en-US" altLang="en-US" sz="2000" dirty="0" smtClean="0"/>
              <a:t>Most </a:t>
            </a:r>
            <a:r>
              <a:rPr lang="en-US" altLang="en-US" sz="2000" dirty="0"/>
              <a:t>alarming was why the problem wasn't caught by internal tests</a:t>
            </a:r>
            <a:r>
              <a:rPr lang="en-US" altLang="en-US" sz="2000" dirty="0" smtClean="0"/>
              <a:t>.</a:t>
            </a:r>
          </a:p>
        </p:txBody>
      </p:sp>
      <p:pic>
        <p:nvPicPr>
          <p:cNvPr id="4" name="Picture 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21587" y="5185597"/>
            <a:ext cx="2270413" cy="1672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TextBox 1"/>
          <p:cNvSpPr txBox="1"/>
          <p:nvPr/>
        </p:nvSpPr>
        <p:spPr>
          <a:xfrm>
            <a:off x="6604000" y="6477001"/>
            <a:ext cx="3048000" cy="246221"/>
          </a:xfrm>
          <a:prstGeom prst="rect">
            <a:avLst/>
          </a:prstGeom>
          <a:noFill/>
        </p:spPr>
        <p:txBody>
          <a:bodyPr wrap="square" rtlCol="0">
            <a:spAutoFit/>
          </a:bodyPr>
          <a:lstStyle/>
          <a:p>
            <a:r>
              <a:rPr lang="en-US" altLang="en-US" sz="1000" i="1" dirty="0"/>
              <a:t>NASA Mars Polar </a:t>
            </a:r>
            <a:r>
              <a:rPr lang="en-US" altLang="en-US" sz="1000" i="1" dirty="0" smtClean="0"/>
              <a:t>Lander Crash Site</a:t>
            </a:r>
            <a:endParaRPr lang="en-US" sz="1000" dirty="0"/>
          </a:p>
        </p:txBody>
      </p:sp>
    </p:spTree>
    <p:extLst>
      <p:ext uri="{BB962C8B-B14F-4D97-AF65-F5344CB8AC3E}">
        <p14:creationId xmlns:p14="http://schemas.microsoft.com/office/powerpoint/2010/main" val="6539288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Why Software Testing? Motivation III</a:t>
            </a:r>
            <a:endParaRPr lang="en-GB" dirty="0"/>
          </a:p>
        </p:txBody>
      </p:sp>
      <p:sp>
        <p:nvSpPr>
          <p:cNvPr id="3" name="Content Placeholder 2"/>
          <p:cNvSpPr>
            <a:spLocks noGrp="1"/>
          </p:cNvSpPr>
          <p:nvPr>
            <p:ph idx="1"/>
          </p:nvPr>
        </p:nvSpPr>
        <p:spPr/>
        <p:txBody>
          <a:bodyPr>
            <a:normAutofit/>
          </a:bodyPr>
          <a:lstStyle/>
          <a:p>
            <a:pPr algn="just"/>
            <a:r>
              <a:rPr lang="en-US" altLang="en-US" b="1" i="1" dirty="0" smtClean="0"/>
              <a:t>NASA Mars Polar Lander, 1999</a:t>
            </a:r>
            <a:endParaRPr lang="en-US" altLang="en-US" dirty="0" smtClean="0"/>
          </a:p>
          <a:p>
            <a:pPr lvl="1" algn="just"/>
            <a:r>
              <a:rPr lang="en-US" altLang="en-US" sz="2000" dirty="0" smtClean="0"/>
              <a:t>The plan for landing was decided in theory</a:t>
            </a:r>
          </a:p>
          <a:p>
            <a:pPr lvl="1" algn="just"/>
            <a:r>
              <a:rPr lang="en-GB" sz="2000" dirty="0" smtClean="0"/>
              <a:t>To save money, NASA simplified the mechanism</a:t>
            </a:r>
          </a:p>
          <a:p>
            <a:pPr lvl="1" algn="just"/>
            <a:r>
              <a:rPr lang="en-GB" sz="2000" dirty="0" smtClean="0"/>
              <a:t>The Failure Review Board discovered in their tests identified the fatal bit</a:t>
            </a:r>
          </a:p>
          <a:p>
            <a:pPr lvl="1" algn="just"/>
            <a:r>
              <a:rPr lang="en-GB" sz="2000" dirty="0" smtClean="0"/>
              <a:t>The result was catastrophic, but the reason behind it was simple</a:t>
            </a:r>
          </a:p>
          <a:p>
            <a:pPr lvl="1" algn="just"/>
            <a:r>
              <a:rPr lang="en-GB" sz="2000" dirty="0" smtClean="0"/>
              <a:t>The </a:t>
            </a:r>
            <a:r>
              <a:rPr lang="en-GB" sz="2000" dirty="0" err="1" smtClean="0"/>
              <a:t>lander</a:t>
            </a:r>
            <a:r>
              <a:rPr lang="en-GB" sz="2000" dirty="0" smtClean="0"/>
              <a:t> was tested by multiple teams</a:t>
            </a:r>
          </a:p>
          <a:p>
            <a:pPr lvl="2"/>
            <a:r>
              <a:rPr lang="en-GB" sz="2000" dirty="0" smtClean="0"/>
              <a:t>The first team never looked to see if the fatal bit was set—it wasn’t their area</a:t>
            </a:r>
          </a:p>
          <a:p>
            <a:pPr lvl="2"/>
            <a:r>
              <a:rPr lang="en-GB" sz="2000" dirty="0" smtClean="0"/>
              <a:t>The second team always reset the computer, clearing the bit, before it started its testing</a:t>
            </a:r>
          </a:p>
          <a:p>
            <a:pPr lvl="1"/>
            <a:r>
              <a:rPr lang="en-GB" sz="2000" dirty="0" smtClean="0"/>
              <a:t>Both pieces worked perfectly individually, but not when put together.</a:t>
            </a:r>
            <a:endParaRPr lang="en-US" altLang="en-US" sz="2000" dirty="0" smtClean="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116633" y="0"/>
            <a:ext cx="10176933" cy="1143000"/>
          </a:xfrm>
        </p:spPr>
        <p:txBody>
          <a:bodyPr>
            <a:normAutofit/>
          </a:bodyPr>
          <a:lstStyle/>
          <a:p>
            <a:r>
              <a:rPr lang="en-US" altLang="en-US" dirty="0"/>
              <a:t>Why Software Testing? </a:t>
            </a:r>
            <a:r>
              <a:rPr lang="en-US" altLang="en-US" dirty="0" smtClean="0"/>
              <a:t>Motivation IV</a:t>
            </a:r>
            <a:endParaRPr lang="en-US" altLang="en-US" dirty="0"/>
          </a:p>
        </p:txBody>
      </p:sp>
      <p:sp>
        <p:nvSpPr>
          <p:cNvPr id="395267" name="Rectangle 3"/>
          <p:cNvSpPr>
            <a:spLocks noGrp="1" noChangeArrowheads="1"/>
          </p:cNvSpPr>
          <p:nvPr>
            <p:ph idx="1"/>
          </p:nvPr>
        </p:nvSpPr>
        <p:spPr>
          <a:xfrm>
            <a:off x="1123407" y="1447800"/>
            <a:ext cx="9953896" cy="4724400"/>
          </a:xfrm>
        </p:spPr>
        <p:txBody>
          <a:bodyPr>
            <a:normAutofit/>
          </a:bodyPr>
          <a:lstStyle/>
          <a:p>
            <a:r>
              <a:rPr lang="en-US" altLang="en-US" b="1" dirty="0"/>
              <a:t>Malaysia Airlines jetliner, August </a:t>
            </a:r>
            <a:r>
              <a:rPr lang="en-US" altLang="en-US" b="1" dirty="0" smtClean="0"/>
              <a:t>2005</a:t>
            </a:r>
          </a:p>
          <a:p>
            <a:pPr lvl="1" algn="just"/>
            <a:r>
              <a:rPr lang="en-US" altLang="en-US" sz="2000" dirty="0" smtClean="0"/>
              <a:t>As </a:t>
            </a:r>
            <a:r>
              <a:rPr lang="en-US" altLang="en-US" sz="2000" dirty="0"/>
              <a:t>a Malaysia Airlines jetliner </a:t>
            </a:r>
            <a:r>
              <a:rPr lang="en-US" altLang="en-US" sz="2000" dirty="0" smtClean="0"/>
              <a:t>started journey </a:t>
            </a:r>
            <a:r>
              <a:rPr lang="en-US" altLang="en-US" sz="2000" dirty="0"/>
              <a:t>from Perth, Australia, to Kuala Lumpur, Malaysia, it suddenly took on a mind of its own and zoomed 3,000 feet </a:t>
            </a:r>
            <a:r>
              <a:rPr lang="en-US" altLang="en-US" sz="2000" dirty="0" smtClean="0"/>
              <a:t>upward.</a:t>
            </a:r>
          </a:p>
          <a:p>
            <a:pPr lvl="1" algn="just"/>
            <a:r>
              <a:rPr lang="en-US" altLang="en-US" sz="2000" dirty="0" smtClean="0"/>
              <a:t>The </a:t>
            </a:r>
            <a:r>
              <a:rPr lang="en-US" altLang="en-US" sz="2000" dirty="0"/>
              <a:t>captain disconnected the autopilot and pointed the Boeing 777’s nose down to avoid </a:t>
            </a:r>
            <a:r>
              <a:rPr lang="en-US" altLang="en-US" sz="2000" dirty="0" smtClean="0"/>
              <a:t>stalling, </a:t>
            </a:r>
            <a:r>
              <a:rPr lang="en-US" altLang="en-US" sz="2000" dirty="0"/>
              <a:t>but was jerked into a steep dive. He throttled back sharply on both engines, trying to slow the plane. Instead, the jet raced into another </a:t>
            </a:r>
            <a:r>
              <a:rPr lang="en-US" altLang="en-US" sz="2000" dirty="0" smtClean="0"/>
              <a:t>climb.</a:t>
            </a:r>
          </a:p>
          <a:p>
            <a:pPr lvl="1" algn="just"/>
            <a:r>
              <a:rPr lang="en-US" altLang="en-US" sz="2000" dirty="0" smtClean="0"/>
              <a:t>The </a:t>
            </a:r>
            <a:r>
              <a:rPr lang="en-US" altLang="en-US" sz="2000" dirty="0"/>
              <a:t>crew eventually regained control and manually flew their 177 passengers safely back to </a:t>
            </a:r>
            <a:r>
              <a:rPr lang="en-US" altLang="en-US" sz="2000" dirty="0" smtClean="0"/>
              <a:t>Australia.</a:t>
            </a:r>
          </a:p>
          <a:p>
            <a:pPr lvl="1" algn="just"/>
            <a:r>
              <a:rPr lang="en-US" altLang="en-US" sz="2000" dirty="0" smtClean="0"/>
              <a:t>Investigators </a:t>
            </a:r>
            <a:r>
              <a:rPr lang="en-US" altLang="en-US" sz="2000" dirty="0"/>
              <a:t>quickly discovered the reason for the plane’s roller-coaster ride 38,000 feet above the Indian Ocean. A defective software program had provided incorrect data about the aircraft’s speed and acceleration, confusing flight computers. The computers had also failed, at first, to respond to the pilot’s commands.</a:t>
            </a:r>
            <a:endParaRPr lang="en-US" altLang="en-US" sz="2000" dirty="0" smtClean="0"/>
          </a:p>
          <a:p>
            <a:pPr marL="759270" lvl="1" indent="-457200" fontAlgn="auto">
              <a:spcAft>
                <a:spcPts val="0"/>
              </a:spcAft>
              <a:buSzPct val="60000"/>
              <a:buFont typeface="Courier New" panose="02070309020205020404" pitchFamily="49" charset="0"/>
              <a:buChar char="o"/>
              <a:defRPr/>
            </a:pPr>
            <a:endParaRPr lang="en-US" altLang="en-US" dirty="0"/>
          </a:p>
          <a:p>
            <a:pPr marL="302070" lvl="1" indent="0" fontAlgn="auto">
              <a:spcAft>
                <a:spcPts val="0"/>
              </a:spcAft>
              <a:buSzPct val="60000"/>
              <a:buNone/>
              <a:defRPr/>
            </a:pPr>
            <a:endParaRPr lang="en-US" dirty="0"/>
          </a:p>
        </p:txBody>
      </p:sp>
    </p:spTree>
    <p:extLst>
      <p:ext uri="{BB962C8B-B14F-4D97-AF65-F5344CB8AC3E}">
        <p14:creationId xmlns:p14="http://schemas.microsoft.com/office/powerpoint/2010/main" val="3823467615"/>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116632" y="0"/>
            <a:ext cx="10176933" cy="1143000"/>
          </a:xfrm>
        </p:spPr>
        <p:txBody>
          <a:bodyPr>
            <a:normAutofit/>
          </a:bodyPr>
          <a:lstStyle/>
          <a:p>
            <a:r>
              <a:rPr lang="en-US" altLang="en-US" dirty="0"/>
              <a:t>Why Software Testing? </a:t>
            </a:r>
            <a:r>
              <a:rPr lang="en-US" altLang="en-US" dirty="0" smtClean="0"/>
              <a:t>Motivation V</a:t>
            </a:r>
            <a:endParaRPr lang="en-US" altLang="en-US" dirty="0"/>
          </a:p>
        </p:txBody>
      </p:sp>
      <p:sp>
        <p:nvSpPr>
          <p:cNvPr id="395267" name="Rectangle 3"/>
          <p:cNvSpPr>
            <a:spLocks noGrp="1" noChangeArrowheads="1"/>
          </p:cNvSpPr>
          <p:nvPr>
            <p:ph idx="1"/>
          </p:nvPr>
        </p:nvSpPr>
        <p:spPr>
          <a:xfrm>
            <a:off x="1110343" y="1447800"/>
            <a:ext cx="9980023" cy="4724400"/>
          </a:xfrm>
        </p:spPr>
        <p:txBody>
          <a:bodyPr>
            <a:normAutofit/>
          </a:bodyPr>
          <a:lstStyle/>
          <a:p>
            <a:r>
              <a:rPr lang="en-US" altLang="en-US" b="1" dirty="0" smtClean="0"/>
              <a:t>Patriot Missile Defense System, 1991</a:t>
            </a:r>
          </a:p>
          <a:p>
            <a:pPr lvl="1" algn="just"/>
            <a:r>
              <a:rPr lang="en-US" sz="2000" dirty="0"/>
              <a:t>U.S. Patriot missile defense system is a scaled-back version of the Strategic </a:t>
            </a:r>
            <a:r>
              <a:rPr lang="en-US" sz="2000" dirty="0" smtClean="0"/>
              <a:t>Defense Initiative.</a:t>
            </a:r>
          </a:p>
          <a:p>
            <a:pPr lvl="1" algn="just"/>
            <a:r>
              <a:rPr lang="en-US" sz="2000" dirty="0" smtClean="0"/>
              <a:t>Used in Gulf </a:t>
            </a:r>
            <a:r>
              <a:rPr lang="en-US" sz="2000" dirty="0"/>
              <a:t>War as a defense for Iraqi Scud </a:t>
            </a:r>
            <a:r>
              <a:rPr lang="en-US" sz="2000" dirty="0" smtClean="0"/>
              <a:t>missiles.</a:t>
            </a:r>
          </a:p>
          <a:p>
            <a:pPr lvl="1" algn="just"/>
            <a:r>
              <a:rPr lang="en-US" sz="2000" dirty="0" smtClean="0"/>
              <a:t>It failed </a:t>
            </a:r>
            <a:r>
              <a:rPr lang="en-US" sz="2000" dirty="0"/>
              <a:t>to defend against several missiles, including </a:t>
            </a:r>
            <a:r>
              <a:rPr lang="en-US" sz="2000" dirty="0" smtClean="0"/>
              <a:t>one that </a:t>
            </a:r>
            <a:r>
              <a:rPr lang="en-US" sz="2000" dirty="0"/>
              <a:t>killed 28 </a:t>
            </a:r>
            <a:r>
              <a:rPr lang="en-US" sz="2000" dirty="0" smtClean="0"/>
              <a:t>U.S. Soldiers.</a:t>
            </a:r>
          </a:p>
          <a:p>
            <a:pPr lvl="1" algn="just"/>
            <a:r>
              <a:rPr lang="en-US" sz="2000" dirty="0"/>
              <a:t>A small timing error in the system’s clock accumulated to the point that after </a:t>
            </a:r>
            <a:r>
              <a:rPr lang="en-US" sz="2000" dirty="0" smtClean="0"/>
              <a:t>14 hours</a:t>
            </a:r>
            <a:r>
              <a:rPr lang="en-US" sz="2000" dirty="0"/>
              <a:t>, the tracking system was no longer accurate</a:t>
            </a:r>
            <a:r>
              <a:rPr lang="en-US" sz="2000" dirty="0" smtClean="0"/>
              <a:t>. And during that incident the system was working for more than 100 hours.</a:t>
            </a:r>
            <a:endParaRPr lang="en-US" altLang="en-US" sz="2000" dirty="0" smtClean="0"/>
          </a:p>
          <a:p>
            <a:pPr marL="759270" lvl="1" indent="-457200" fontAlgn="auto">
              <a:spcAft>
                <a:spcPts val="0"/>
              </a:spcAft>
              <a:buSzPct val="60000"/>
              <a:buFont typeface="Courier New" panose="02070309020205020404" pitchFamily="49" charset="0"/>
              <a:buChar char="o"/>
              <a:defRPr/>
            </a:pPr>
            <a:endParaRPr lang="en-US" altLang="en-US" dirty="0"/>
          </a:p>
          <a:p>
            <a:pPr marL="302070" lvl="1" indent="0" fontAlgn="auto">
              <a:spcAft>
                <a:spcPts val="0"/>
              </a:spcAft>
              <a:buSzPct val="60000"/>
              <a:buNone/>
              <a:defRPr/>
            </a:pPr>
            <a:endParaRPr lang="en-US" dirty="0"/>
          </a:p>
        </p:txBody>
      </p:sp>
      <p:pic>
        <p:nvPicPr>
          <p:cNvPr id="1026" name="Picture 2" descr="Patriot miss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2077" y="4158347"/>
            <a:ext cx="3471853" cy="1913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149796"/>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116633" y="0"/>
            <a:ext cx="10176933" cy="1143000"/>
          </a:xfrm>
        </p:spPr>
        <p:txBody>
          <a:bodyPr>
            <a:normAutofit/>
          </a:bodyPr>
          <a:lstStyle/>
          <a:p>
            <a:r>
              <a:rPr lang="en-US" altLang="en-US" dirty="0"/>
              <a:t>Why Software Testing? </a:t>
            </a:r>
            <a:r>
              <a:rPr lang="en-US" altLang="en-US" dirty="0" smtClean="0"/>
              <a:t>Motivation VI</a:t>
            </a:r>
            <a:endParaRPr lang="en-US" altLang="en-US" dirty="0"/>
          </a:p>
        </p:txBody>
      </p:sp>
      <p:sp>
        <p:nvSpPr>
          <p:cNvPr id="395267" name="Rectangle 3"/>
          <p:cNvSpPr>
            <a:spLocks noGrp="1" noChangeArrowheads="1"/>
          </p:cNvSpPr>
          <p:nvPr>
            <p:ph idx="1"/>
          </p:nvPr>
        </p:nvSpPr>
        <p:spPr>
          <a:xfrm>
            <a:off x="1123407" y="1447800"/>
            <a:ext cx="9953896" cy="4724400"/>
          </a:xfrm>
        </p:spPr>
        <p:txBody>
          <a:bodyPr>
            <a:normAutofit/>
          </a:bodyPr>
          <a:lstStyle/>
          <a:p>
            <a:r>
              <a:rPr lang="en-US" b="1" i="1" dirty="0"/>
              <a:t>The Y2K (Year 2000) </a:t>
            </a:r>
            <a:r>
              <a:rPr lang="en-US" b="1" i="1" dirty="0" smtClean="0"/>
              <a:t>Bug</a:t>
            </a:r>
            <a:endParaRPr lang="en-US" b="1" i="1" dirty="0"/>
          </a:p>
          <a:p>
            <a:pPr lvl="1" algn="just"/>
            <a:r>
              <a:rPr lang="en-US" sz="2000" dirty="0" smtClean="0"/>
              <a:t>In early 1970s a programmer (lets say Mr. Dave) developed a system (Payroll System) while little memory for storage was available.</a:t>
            </a:r>
            <a:endParaRPr lang="en-US" sz="2000" dirty="0"/>
          </a:p>
          <a:p>
            <a:pPr lvl="1" algn="just"/>
            <a:r>
              <a:rPr lang="en-US" sz="2000" dirty="0" smtClean="0"/>
              <a:t>One </a:t>
            </a:r>
            <a:r>
              <a:rPr lang="en-US" sz="2000" dirty="0"/>
              <a:t>method he used was to shorten </a:t>
            </a:r>
            <a:r>
              <a:rPr lang="en-US" sz="2000" dirty="0" smtClean="0"/>
              <a:t>dates from </a:t>
            </a:r>
            <a:r>
              <a:rPr lang="en-US" sz="2000" dirty="0"/>
              <a:t>their 4-digit </a:t>
            </a:r>
            <a:r>
              <a:rPr lang="en-US" sz="2000" dirty="0" smtClean="0"/>
              <a:t>format, to </a:t>
            </a:r>
            <a:r>
              <a:rPr lang="en-US" sz="2000" dirty="0"/>
              <a:t>a 2-digit </a:t>
            </a:r>
            <a:r>
              <a:rPr lang="en-US" sz="2000" dirty="0" smtClean="0"/>
              <a:t>format (1973 to 73).</a:t>
            </a:r>
          </a:p>
          <a:p>
            <a:pPr lvl="1" algn="just"/>
            <a:r>
              <a:rPr lang="en-US" altLang="en-US" sz="2000" dirty="0" smtClean="0"/>
              <a:t>He considered the problems when the current year will be 2000. But assumed that system will be replaced by then. </a:t>
            </a:r>
          </a:p>
          <a:p>
            <a:pPr lvl="1" algn="just"/>
            <a:r>
              <a:rPr lang="en-US" altLang="en-US" sz="2000" dirty="0" smtClean="0"/>
              <a:t>In late 1990s his program was still used but Dave was retired and no one knows if the program is Y2K compliant or not.</a:t>
            </a:r>
          </a:p>
          <a:p>
            <a:pPr lvl="1" algn="just"/>
            <a:r>
              <a:rPr lang="en-US" sz="2000" dirty="0"/>
              <a:t>It’s estimated that several hundred billion dollars were spent, worldwide, to replace </a:t>
            </a:r>
            <a:r>
              <a:rPr lang="en-US" sz="2000" dirty="0" smtClean="0"/>
              <a:t>computer programs </a:t>
            </a:r>
            <a:r>
              <a:rPr lang="en-US" sz="2000" dirty="0"/>
              <a:t>such as Dave’s</a:t>
            </a:r>
            <a:endParaRPr lang="en-US" altLang="en-US" sz="2000" dirty="0" smtClean="0"/>
          </a:p>
          <a:p>
            <a:pPr marL="759270" lvl="1" indent="-457200" fontAlgn="auto">
              <a:spcAft>
                <a:spcPts val="0"/>
              </a:spcAft>
              <a:buSzPct val="60000"/>
              <a:buFont typeface="Courier New" panose="02070309020205020404" pitchFamily="49" charset="0"/>
              <a:buChar char="o"/>
              <a:defRPr/>
            </a:pPr>
            <a:endParaRPr lang="en-US" altLang="en-US" dirty="0"/>
          </a:p>
          <a:p>
            <a:pPr marL="302070" lvl="1" indent="0" fontAlgn="auto">
              <a:spcAft>
                <a:spcPts val="0"/>
              </a:spcAft>
              <a:buSzPct val="60000"/>
              <a:buNone/>
              <a:defRPr/>
            </a:pPr>
            <a:endParaRPr lang="en-US" dirty="0"/>
          </a:p>
        </p:txBody>
      </p:sp>
    </p:spTree>
    <p:extLst>
      <p:ext uri="{BB962C8B-B14F-4D97-AF65-F5344CB8AC3E}">
        <p14:creationId xmlns:p14="http://schemas.microsoft.com/office/powerpoint/2010/main" val="3634462873"/>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129696" y="0"/>
            <a:ext cx="10176933" cy="1143000"/>
          </a:xfrm>
        </p:spPr>
        <p:txBody>
          <a:bodyPr>
            <a:normAutofit/>
          </a:bodyPr>
          <a:lstStyle/>
          <a:p>
            <a:r>
              <a:rPr lang="en-US" altLang="en-US" dirty="0" smtClean="0"/>
              <a:t>Question?</a:t>
            </a:r>
            <a:endParaRPr lang="en-US" altLang="en-US" dirty="0"/>
          </a:p>
        </p:txBody>
      </p:sp>
      <p:sp>
        <p:nvSpPr>
          <p:cNvPr id="395267" name="Rectangle 3"/>
          <p:cNvSpPr>
            <a:spLocks noGrp="1" noChangeArrowheads="1"/>
          </p:cNvSpPr>
          <p:nvPr>
            <p:ph idx="1"/>
          </p:nvPr>
        </p:nvSpPr>
        <p:spPr>
          <a:xfrm>
            <a:off x="1136470" y="1447800"/>
            <a:ext cx="9966960" cy="4724400"/>
          </a:xfrm>
        </p:spPr>
        <p:txBody>
          <a:bodyPr>
            <a:normAutofit/>
          </a:bodyPr>
          <a:lstStyle/>
          <a:p>
            <a:r>
              <a:rPr lang="en-US" dirty="0"/>
              <a:t>In the Year 2000 bug example, did Dave do anything wrong?</a:t>
            </a:r>
          </a:p>
        </p:txBody>
      </p:sp>
      <p:pic>
        <p:nvPicPr>
          <p:cNvPr id="2050" name="Picture 2" descr="Image result for y2k bu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934610"/>
            <a:ext cx="7179158" cy="3363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340685"/>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3" y="0"/>
            <a:ext cx="10176933" cy="1143000"/>
          </a:xfrm>
        </p:spPr>
        <p:txBody>
          <a:bodyPr>
            <a:normAutofit/>
          </a:bodyPr>
          <a:lstStyle/>
          <a:p>
            <a:r>
              <a:rPr lang="en-US" altLang="en-US" dirty="0"/>
              <a:t>What Makes a Good Software Tester?</a:t>
            </a:r>
          </a:p>
        </p:txBody>
      </p:sp>
      <p:sp>
        <p:nvSpPr>
          <p:cNvPr id="395267" name="Rectangle 3"/>
          <p:cNvSpPr>
            <a:spLocks noGrp="1" noChangeArrowheads="1"/>
          </p:cNvSpPr>
          <p:nvPr>
            <p:ph idx="1"/>
          </p:nvPr>
        </p:nvSpPr>
        <p:spPr>
          <a:xfrm>
            <a:off x="1110343" y="1341120"/>
            <a:ext cx="9980023" cy="5410200"/>
          </a:xfrm>
        </p:spPr>
        <p:txBody>
          <a:bodyPr>
            <a:normAutofit/>
          </a:bodyPr>
          <a:lstStyle/>
          <a:p>
            <a:pPr algn="just"/>
            <a:r>
              <a:rPr lang="en-US" altLang="en-US" b="1" dirty="0"/>
              <a:t>They are </a:t>
            </a:r>
            <a:r>
              <a:rPr lang="en-US" altLang="en-US" b="1" dirty="0" smtClean="0"/>
              <a:t>explorers</a:t>
            </a:r>
          </a:p>
          <a:p>
            <a:pPr algn="just"/>
            <a:r>
              <a:rPr lang="en-US" altLang="en-US" b="1" dirty="0" smtClean="0"/>
              <a:t>They </a:t>
            </a:r>
            <a:r>
              <a:rPr lang="en-US" altLang="en-US" b="1" dirty="0"/>
              <a:t>are </a:t>
            </a:r>
            <a:r>
              <a:rPr lang="en-US" altLang="en-US" b="1" dirty="0" smtClean="0"/>
              <a:t>troubleshooters</a:t>
            </a:r>
          </a:p>
          <a:p>
            <a:pPr algn="just"/>
            <a:r>
              <a:rPr lang="en-US" altLang="en-US" b="1" dirty="0" smtClean="0"/>
              <a:t>They </a:t>
            </a:r>
            <a:r>
              <a:rPr lang="en-US" altLang="en-US" b="1" dirty="0"/>
              <a:t>are </a:t>
            </a:r>
            <a:r>
              <a:rPr lang="en-US" altLang="en-US" b="1" dirty="0" smtClean="0"/>
              <a:t>relentless (continuous)</a:t>
            </a:r>
          </a:p>
          <a:p>
            <a:pPr algn="just"/>
            <a:r>
              <a:rPr lang="en-US" altLang="en-US" b="1" dirty="0" smtClean="0"/>
              <a:t>They </a:t>
            </a:r>
            <a:r>
              <a:rPr lang="en-US" altLang="en-US" b="1" dirty="0"/>
              <a:t>are </a:t>
            </a:r>
            <a:r>
              <a:rPr lang="en-US" altLang="en-US" b="1" dirty="0" smtClean="0"/>
              <a:t>creative</a:t>
            </a:r>
          </a:p>
          <a:p>
            <a:r>
              <a:rPr lang="en-US" altLang="en-US" b="1" dirty="0" smtClean="0"/>
              <a:t>They are (mellowed) perfectionists they </a:t>
            </a:r>
            <a:r>
              <a:rPr lang="en-US" altLang="en-US" b="1" dirty="0"/>
              <a:t>exercise good judgment</a:t>
            </a:r>
          </a:p>
          <a:p>
            <a:r>
              <a:rPr lang="en-US" altLang="en-US" b="1" dirty="0" smtClean="0"/>
              <a:t>They </a:t>
            </a:r>
            <a:r>
              <a:rPr lang="en-US" altLang="en-US" b="1" dirty="0"/>
              <a:t>are tactful and diplomatic</a:t>
            </a:r>
          </a:p>
          <a:p>
            <a:r>
              <a:rPr lang="en-US" altLang="en-US" b="1" dirty="0" smtClean="0"/>
              <a:t>They </a:t>
            </a:r>
            <a:r>
              <a:rPr lang="en-US" altLang="en-US" b="1"/>
              <a:t>are </a:t>
            </a:r>
            <a:r>
              <a:rPr lang="en-US" altLang="en-US" b="1" smtClean="0"/>
              <a:t>convincing</a:t>
            </a:r>
            <a:endParaRPr lang="en-US" altLang="en-US" b="1" dirty="0"/>
          </a:p>
        </p:txBody>
      </p:sp>
    </p:spTree>
    <p:extLst>
      <p:ext uri="{BB962C8B-B14F-4D97-AF65-F5344CB8AC3E}">
        <p14:creationId xmlns:p14="http://schemas.microsoft.com/office/powerpoint/2010/main" val="1063470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1096313" y="0"/>
            <a:ext cx="10176933" cy="1143000"/>
          </a:xfrm>
        </p:spPr>
        <p:txBody>
          <a:bodyPr>
            <a:normAutofit/>
          </a:bodyPr>
          <a:lstStyle/>
          <a:p>
            <a:r>
              <a:rPr lang="en-US" altLang="en-US" dirty="0"/>
              <a:t>What Makes a Good Software Tester?</a:t>
            </a:r>
          </a:p>
        </p:txBody>
      </p:sp>
      <p:sp>
        <p:nvSpPr>
          <p:cNvPr id="395267" name="Rectangle 3"/>
          <p:cNvSpPr>
            <a:spLocks noGrp="1" noChangeArrowheads="1"/>
          </p:cNvSpPr>
          <p:nvPr>
            <p:ph idx="1"/>
          </p:nvPr>
        </p:nvSpPr>
        <p:spPr>
          <a:xfrm>
            <a:off x="1110343" y="1341120"/>
            <a:ext cx="9980023" cy="5410200"/>
          </a:xfrm>
        </p:spPr>
        <p:txBody>
          <a:bodyPr>
            <a:normAutofit/>
          </a:bodyPr>
          <a:lstStyle/>
          <a:p>
            <a:pPr algn="just"/>
            <a:r>
              <a:rPr lang="en-US" altLang="en-US" b="1" dirty="0"/>
              <a:t>They are </a:t>
            </a:r>
            <a:r>
              <a:rPr lang="en-US" altLang="en-US" b="1" dirty="0" smtClean="0"/>
              <a:t>explorers</a:t>
            </a:r>
          </a:p>
          <a:p>
            <a:pPr lvl="1" algn="just"/>
            <a:r>
              <a:rPr lang="en-GB" sz="2000" dirty="0" smtClean="0"/>
              <a:t>They love to get a new piece of software, install it on their PC, and see what happens</a:t>
            </a:r>
            <a:endParaRPr lang="en-US" altLang="en-US" sz="2000" dirty="0"/>
          </a:p>
          <a:p>
            <a:pPr algn="just"/>
            <a:r>
              <a:rPr lang="en-US" altLang="en-US" b="1" dirty="0"/>
              <a:t>They are </a:t>
            </a:r>
            <a:r>
              <a:rPr lang="en-US" altLang="en-US" b="1" dirty="0" smtClean="0"/>
              <a:t>troubleshooters</a:t>
            </a:r>
          </a:p>
          <a:p>
            <a:pPr lvl="1" algn="just"/>
            <a:r>
              <a:rPr lang="en-GB" sz="2000" dirty="0" smtClean="0"/>
              <a:t>Software testers are good at figuring out why something doesn’t work. </a:t>
            </a:r>
            <a:r>
              <a:rPr lang="en-US" altLang="en-US" sz="2000" dirty="0" smtClean="0"/>
              <a:t>They </a:t>
            </a:r>
            <a:r>
              <a:rPr lang="en-US" altLang="en-US" sz="2000" dirty="0"/>
              <a:t>love puzzles.</a:t>
            </a:r>
          </a:p>
          <a:p>
            <a:pPr algn="just"/>
            <a:r>
              <a:rPr lang="en-US" altLang="en-US" b="1" dirty="0"/>
              <a:t>They are </a:t>
            </a:r>
            <a:r>
              <a:rPr lang="en-US" altLang="en-US" b="1" dirty="0" smtClean="0"/>
              <a:t>relentless (continuous)</a:t>
            </a:r>
          </a:p>
          <a:p>
            <a:pPr lvl="1" algn="just"/>
            <a:r>
              <a:rPr lang="en-US" altLang="en-US" sz="2000" dirty="0" smtClean="0"/>
              <a:t>Software </a:t>
            </a:r>
            <a:r>
              <a:rPr lang="en-US" altLang="en-US" sz="2000" dirty="0"/>
              <a:t>testers keep trying. </a:t>
            </a:r>
            <a:r>
              <a:rPr lang="en-GB" sz="2000" dirty="0" smtClean="0"/>
              <a:t>They may see a bug that quickly vanishes or is difficult to re-create.</a:t>
            </a:r>
            <a:endParaRPr lang="en-US" altLang="en-US" sz="2000" dirty="0"/>
          </a:p>
          <a:p>
            <a:pPr algn="just"/>
            <a:r>
              <a:rPr lang="en-US" altLang="en-US" b="1" dirty="0"/>
              <a:t>They are </a:t>
            </a:r>
            <a:r>
              <a:rPr lang="en-US" altLang="en-US" b="1" dirty="0" smtClean="0"/>
              <a:t>creative</a:t>
            </a:r>
          </a:p>
          <a:p>
            <a:pPr lvl="1" algn="just"/>
            <a:r>
              <a:rPr lang="en-GB" sz="2000" dirty="0" smtClean="0"/>
              <a:t>Their job is to think up creative and even off-the-wall approaches to find bugs</a:t>
            </a:r>
          </a:p>
          <a:p>
            <a:r>
              <a:rPr lang="en-US" altLang="en-US" b="1" dirty="0" smtClean="0"/>
              <a:t>They are (mellowed) perfectionists</a:t>
            </a:r>
          </a:p>
          <a:p>
            <a:pPr lvl="1" algn="just"/>
            <a:r>
              <a:rPr lang="en-GB" sz="2000" dirty="0" smtClean="0"/>
              <a:t>They strive for perfection, but they know when it becomes unattainable and they’re OK with getting as close as they can</a:t>
            </a:r>
            <a:endParaRPr lang="en-US" altLang="en-US" sz="2000" dirty="0" smtClean="0"/>
          </a:p>
        </p:txBody>
      </p:sp>
    </p:spTree>
    <p:extLst>
      <p:ext uri="{BB962C8B-B14F-4D97-AF65-F5344CB8AC3E}">
        <p14:creationId xmlns:p14="http://schemas.microsoft.com/office/powerpoint/2010/main" val="1593759917"/>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What Makes a Good Software Tester?</a:t>
            </a:r>
            <a:endParaRPr lang="en-GB" dirty="0"/>
          </a:p>
        </p:txBody>
      </p:sp>
      <p:sp>
        <p:nvSpPr>
          <p:cNvPr id="3" name="Content Placeholder 2"/>
          <p:cNvSpPr>
            <a:spLocks noGrp="1"/>
          </p:cNvSpPr>
          <p:nvPr>
            <p:ph idx="1"/>
          </p:nvPr>
        </p:nvSpPr>
        <p:spPr/>
        <p:txBody>
          <a:bodyPr>
            <a:normAutofit/>
          </a:bodyPr>
          <a:lstStyle/>
          <a:p>
            <a:r>
              <a:rPr lang="en-US" altLang="en-US" b="1" dirty="0" smtClean="0"/>
              <a:t>They exercise good judgment</a:t>
            </a:r>
          </a:p>
          <a:p>
            <a:pPr lvl="1"/>
            <a:r>
              <a:rPr lang="en-GB" sz="2000" dirty="0" smtClean="0"/>
              <a:t>Software testers need to make decisions about what they will test, how long it will take, and if the problem they’re looking at is really a bug</a:t>
            </a:r>
            <a:endParaRPr lang="en-US" altLang="en-US" sz="2000" b="1" dirty="0" smtClean="0"/>
          </a:p>
          <a:p>
            <a:r>
              <a:rPr lang="en-US" altLang="en-US" b="1" dirty="0" smtClean="0"/>
              <a:t>They are tactful and diplomatic</a:t>
            </a:r>
          </a:p>
          <a:p>
            <a:pPr lvl="1"/>
            <a:r>
              <a:rPr lang="en-GB" sz="2000" dirty="0" smtClean="0"/>
              <a:t>Software testers are always the bearers of bad news. They have to tell the programmers that their baby is ugly. Good software testers know how to do so tactfully and professionally</a:t>
            </a:r>
            <a:endParaRPr lang="en-US" altLang="en-US" sz="2000" b="1" dirty="0" smtClean="0"/>
          </a:p>
          <a:p>
            <a:r>
              <a:rPr lang="en-US" altLang="en-US" b="1" dirty="0" smtClean="0"/>
              <a:t>They are convincing</a:t>
            </a:r>
          </a:p>
          <a:p>
            <a:pPr lvl="1"/>
            <a:r>
              <a:rPr lang="en-GB" sz="2000" dirty="0" smtClean="0"/>
              <a:t>Bugs that testers find won’t always be viewed as severe enough to be fixed. Testers need to be good at making their points clear, demonstrating why the bug does indeed need to be fixed</a:t>
            </a:r>
            <a:endParaRPr lang="en-US" sz="2000" dirty="0" smtClean="0"/>
          </a:p>
          <a:p>
            <a:endParaRPr lang="en-GB" b="1" dirty="0"/>
          </a:p>
        </p:txBody>
      </p:sp>
      <p:sp>
        <p:nvSpPr>
          <p:cNvPr id="5" name="Text Box 4"/>
          <p:cNvSpPr txBox="1">
            <a:spLocks noChangeArrowheads="1"/>
          </p:cNvSpPr>
          <p:nvPr/>
        </p:nvSpPr>
        <p:spPr bwMode="auto">
          <a:xfrm>
            <a:off x="3081141" y="5482954"/>
            <a:ext cx="625991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400" dirty="0">
                <a:latin typeface="+mn-lt"/>
              </a:rPr>
              <a:t>Software Testing is Fun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a:xfrm>
            <a:off x="1075765" y="381001"/>
            <a:ext cx="10031505" cy="487997"/>
          </a:xfrm>
        </p:spPr>
        <p:txBody>
          <a:bodyPr>
            <a:normAutofit fontScale="90000"/>
          </a:bodyPr>
          <a:lstStyle/>
          <a:p>
            <a:pPr algn="l"/>
            <a:r>
              <a:rPr lang="en-US" sz="4000" dirty="0">
                <a:latin typeface="Arial" panose="020B0604020202020204" pitchFamily="34" charset="0"/>
                <a:cs typeface="Arial" panose="020B0604020202020204" pitchFamily="34" charset="0"/>
              </a:rPr>
              <a:t>What Exactly Does a Software Tester Do? </a:t>
            </a:r>
          </a:p>
        </p:txBody>
      </p:sp>
      <p:sp>
        <p:nvSpPr>
          <p:cNvPr id="3" name="Content Placeholder 2"/>
          <p:cNvSpPr>
            <a:spLocks noGrp="1"/>
          </p:cNvSpPr>
          <p:nvPr>
            <p:ph idx="1"/>
          </p:nvPr>
        </p:nvSpPr>
        <p:spPr>
          <a:xfrm>
            <a:off x="1075765" y="1371601"/>
            <a:ext cx="10031505" cy="4953001"/>
          </a:xfrm>
        </p:spPr>
        <p:txBody>
          <a:bodyPr>
            <a:normAutofit/>
          </a:bodyPr>
          <a:lstStyle/>
          <a:p>
            <a:pPr algn="just">
              <a:buFont typeface="Wingdings" panose="05000000000000000000" pitchFamily="2" charset="2"/>
              <a:buChar char="§"/>
            </a:pPr>
            <a:r>
              <a:rPr lang="en-US" sz="3000" dirty="0">
                <a:latin typeface="Arial" panose="020B0604020202020204" pitchFamily="34" charset="0"/>
                <a:cs typeface="Arial" panose="020B0604020202020204" pitchFamily="34" charset="0"/>
              </a:rPr>
              <a:t>The goal of a software tester is to find bugs.</a:t>
            </a:r>
          </a:p>
          <a:p>
            <a:pPr algn="just">
              <a:buFont typeface="Wingdings" panose="05000000000000000000" pitchFamily="2" charset="2"/>
              <a:buChar char="§"/>
            </a:pPr>
            <a:r>
              <a:rPr lang="en-US" sz="3000" dirty="0">
                <a:latin typeface="Arial" panose="020B0604020202020204" pitchFamily="34" charset="0"/>
                <a:cs typeface="Arial" panose="020B0604020202020204" pitchFamily="34" charset="0"/>
              </a:rPr>
              <a:t>The goal of a software tester is to find bugs, and find them as early as possible.</a:t>
            </a:r>
          </a:p>
          <a:p>
            <a:pPr algn="just">
              <a:buFont typeface="Wingdings" panose="05000000000000000000" pitchFamily="2" charset="2"/>
              <a:buChar char="§"/>
            </a:pPr>
            <a:r>
              <a:rPr lang="en-US" sz="3000" dirty="0">
                <a:latin typeface="Arial" panose="020B0604020202020204" pitchFamily="34" charset="0"/>
                <a:cs typeface="Arial" panose="020B0604020202020204" pitchFamily="34" charset="0"/>
              </a:rPr>
              <a:t>The goal of a software tester is to find bugs, find them as early as possible, and make sure they get fixed.</a:t>
            </a:r>
          </a:p>
        </p:txBody>
      </p:sp>
    </p:spTree>
    <p:extLst>
      <p:ext uri="{BB962C8B-B14F-4D97-AF65-F5344CB8AC3E}">
        <p14:creationId xmlns:p14="http://schemas.microsoft.com/office/powerpoint/2010/main" val="428889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for Testing</a:t>
            </a:r>
            <a:endParaRPr lang="en-US" dirty="0"/>
          </a:p>
        </p:txBody>
      </p:sp>
      <p:sp>
        <p:nvSpPr>
          <p:cNvPr id="3" name="Content Placeholder 2"/>
          <p:cNvSpPr>
            <a:spLocks noGrp="1"/>
          </p:cNvSpPr>
          <p:nvPr>
            <p:ph idx="1"/>
          </p:nvPr>
        </p:nvSpPr>
        <p:spPr/>
        <p:txBody>
          <a:bodyPr/>
          <a:lstStyle/>
          <a:p>
            <a:pPr algn="just"/>
            <a:r>
              <a:rPr lang="en-US" dirty="0" smtClean="0"/>
              <a:t>The main focus of testing and test design should be bug prevention</a:t>
            </a:r>
          </a:p>
          <a:p>
            <a:pPr algn="just"/>
            <a:r>
              <a:rPr lang="en-US" dirty="0" smtClean="0"/>
              <a:t>If bugs not prevented, testing and test design should be able to discover symptoms caused by bugs</a:t>
            </a:r>
          </a:p>
          <a:p>
            <a:pPr algn="just"/>
            <a:r>
              <a:rPr lang="en-US" dirty="0" smtClean="0"/>
              <a:t>Finally there should be clear diagnoses so that bugs can be easily corrected</a:t>
            </a:r>
            <a:endParaRPr lang="en-US"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for Testing</a:t>
            </a:r>
            <a:endParaRPr lang="en-US" dirty="0"/>
          </a:p>
        </p:txBody>
      </p:sp>
      <p:sp>
        <p:nvSpPr>
          <p:cNvPr id="3" name="Content Placeholder 2"/>
          <p:cNvSpPr>
            <a:spLocks noGrp="1"/>
          </p:cNvSpPr>
          <p:nvPr>
            <p:ph idx="1"/>
          </p:nvPr>
        </p:nvSpPr>
        <p:spPr/>
        <p:txBody>
          <a:bodyPr>
            <a:normAutofit/>
          </a:bodyPr>
          <a:lstStyle/>
          <a:p>
            <a:r>
              <a:rPr lang="en-US" b="1" dirty="0" smtClean="0"/>
              <a:t>Prevention:</a:t>
            </a:r>
          </a:p>
          <a:p>
            <a:r>
              <a:rPr lang="en-US" dirty="0" smtClean="0"/>
              <a:t>A prevented bug is better than a detected and corrected bug</a:t>
            </a:r>
          </a:p>
          <a:p>
            <a:r>
              <a:rPr lang="en-US" dirty="0" smtClean="0"/>
              <a:t>If bug is prevented</a:t>
            </a:r>
          </a:p>
          <a:p>
            <a:pPr lvl="1"/>
            <a:r>
              <a:rPr lang="en-US" sz="2000" dirty="0" smtClean="0"/>
              <a:t>No code to correct</a:t>
            </a:r>
          </a:p>
          <a:p>
            <a:pPr lvl="1"/>
            <a:r>
              <a:rPr lang="en-US" sz="2000" dirty="0" smtClean="0"/>
              <a:t>No retesting is needed</a:t>
            </a:r>
          </a:p>
          <a:p>
            <a:pPr lvl="1"/>
            <a:r>
              <a:rPr lang="en-US" sz="2000" dirty="0" smtClean="0"/>
              <a:t>No one is embarrassed</a:t>
            </a:r>
          </a:p>
          <a:p>
            <a:pPr lvl="1"/>
            <a:r>
              <a:rPr lang="en-US" sz="2000" dirty="0" smtClean="0"/>
              <a:t>No memory is consumed</a:t>
            </a:r>
          </a:p>
          <a:p>
            <a:pPr lvl="1"/>
            <a:r>
              <a:rPr lang="en-US" sz="2000" dirty="0" smtClean="0"/>
              <a:t>No delays in schedule</a:t>
            </a:r>
          </a:p>
          <a:p>
            <a:pPr algn="just"/>
            <a:r>
              <a:rPr lang="en-US" dirty="0" smtClean="0"/>
              <a:t>Designing tests is one of the best preventers</a:t>
            </a:r>
          </a:p>
          <a:p>
            <a:pPr lvl="1" algn="just"/>
            <a:r>
              <a:rPr lang="en-US" sz="2000" dirty="0" smtClean="0"/>
              <a:t>Test design eliminates bugs at every stage in the creation of software, from conception to specification, to design, coding and rest</a:t>
            </a:r>
          </a:p>
          <a:p>
            <a:pPr lvl="1"/>
            <a:endParaRPr lang="en-US" sz="2000" dirty="0" smtClean="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for Testing</a:t>
            </a:r>
            <a:endParaRPr lang="en-US" dirty="0"/>
          </a:p>
        </p:txBody>
      </p:sp>
      <p:sp>
        <p:nvSpPr>
          <p:cNvPr id="3" name="Content Placeholder 2"/>
          <p:cNvSpPr>
            <a:spLocks noGrp="1"/>
          </p:cNvSpPr>
          <p:nvPr>
            <p:ph idx="1"/>
          </p:nvPr>
        </p:nvSpPr>
        <p:spPr>
          <a:xfrm>
            <a:off x="1119051" y="1547949"/>
            <a:ext cx="9971315" cy="4876800"/>
          </a:xfrm>
        </p:spPr>
        <p:txBody>
          <a:bodyPr>
            <a:normAutofit/>
          </a:bodyPr>
          <a:lstStyle/>
          <a:p>
            <a:pPr algn="just"/>
            <a:r>
              <a:rPr lang="en-US" b="1" dirty="0" smtClean="0"/>
              <a:t>Discovery:</a:t>
            </a:r>
          </a:p>
          <a:p>
            <a:pPr algn="just"/>
            <a:r>
              <a:rPr lang="en-US" dirty="0" smtClean="0"/>
              <a:t>This is the secondary goal of testing</a:t>
            </a:r>
          </a:p>
          <a:p>
            <a:pPr algn="just"/>
            <a:r>
              <a:rPr lang="en-US" dirty="0" smtClean="0"/>
              <a:t>A bug is manifested in deviation from excepted behavior</a:t>
            </a:r>
          </a:p>
          <a:p>
            <a:pPr algn="just"/>
            <a:r>
              <a:rPr lang="en-US" dirty="0" smtClean="0"/>
              <a:t>A test design must document expectations, test procedure and results of actual test</a:t>
            </a:r>
          </a:p>
          <a:p>
            <a:pPr algn="just"/>
            <a:r>
              <a:rPr lang="en-US" dirty="0" smtClean="0"/>
              <a:t>Different bugs can have same manifestations and one bug can have many symptoms</a:t>
            </a:r>
          </a:p>
          <a:p>
            <a:endParaRPr lang="en-US"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dirty="0" smtClean="0"/>
              <a:t>Testing </a:t>
            </a:r>
            <a:r>
              <a:rPr lang="en-US" dirty="0"/>
              <a:t>Methodologies</a:t>
            </a:r>
          </a:p>
        </p:txBody>
      </p:sp>
      <p:sp>
        <p:nvSpPr>
          <p:cNvPr id="395267" name="Rectangle 3"/>
          <p:cNvSpPr>
            <a:spLocks noGrp="1" noChangeArrowheads="1"/>
          </p:cNvSpPr>
          <p:nvPr>
            <p:ph idx="1"/>
          </p:nvPr>
        </p:nvSpPr>
        <p:spPr>
          <a:xfrm>
            <a:off x="1110343" y="1447800"/>
            <a:ext cx="9980023" cy="4800600"/>
          </a:xfrm>
        </p:spPr>
        <p:txBody>
          <a:bodyPr>
            <a:normAutofit/>
          </a:bodyPr>
          <a:lstStyle/>
          <a:p>
            <a:pPr>
              <a:spcBef>
                <a:spcPct val="50000"/>
              </a:spcBef>
            </a:pPr>
            <a:r>
              <a:rPr lang="en-US" dirty="0"/>
              <a:t>Black box testing</a:t>
            </a:r>
            <a:endParaRPr lang="en-US" dirty="0" smtClean="0"/>
          </a:p>
          <a:p>
            <a:pPr lvl="1">
              <a:spcBef>
                <a:spcPct val="50000"/>
              </a:spcBef>
            </a:pPr>
            <a:r>
              <a:rPr lang="en-US" sz="2000" dirty="0"/>
              <a:t>No knowledge of internal program design or code required.</a:t>
            </a:r>
          </a:p>
          <a:p>
            <a:pPr lvl="1">
              <a:spcBef>
                <a:spcPct val="50000"/>
              </a:spcBef>
            </a:pPr>
            <a:r>
              <a:rPr lang="en-US" sz="2000" dirty="0"/>
              <a:t>Tests are based on requirements and functionality</a:t>
            </a:r>
            <a:r>
              <a:rPr lang="en-US" sz="2000" dirty="0" smtClean="0"/>
              <a:t>.</a:t>
            </a:r>
          </a:p>
          <a:p>
            <a:pPr>
              <a:spcBef>
                <a:spcPct val="50000"/>
              </a:spcBef>
            </a:pPr>
            <a:r>
              <a:rPr lang="en-US" dirty="0"/>
              <a:t>White box testing</a:t>
            </a:r>
          </a:p>
          <a:p>
            <a:pPr lvl="1">
              <a:spcBef>
                <a:spcPct val="50000"/>
              </a:spcBef>
            </a:pPr>
            <a:r>
              <a:rPr lang="en-US" sz="2000" dirty="0"/>
              <a:t>Knowledge of the internal program design and code required.</a:t>
            </a:r>
          </a:p>
          <a:p>
            <a:pPr lvl="1">
              <a:spcBef>
                <a:spcPct val="50000"/>
              </a:spcBef>
            </a:pPr>
            <a:r>
              <a:rPr lang="en-US" sz="2000" dirty="0"/>
              <a:t>Tests are based on coverage of </a:t>
            </a:r>
            <a:r>
              <a:rPr lang="en-US" sz="2000" dirty="0" smtClean="0"/>
              <a:t>code statements</a:t>
            </a:r>
            <a:r>
              <a:rPr lang="en-US" sz="2000" dirty="0"/>
              <a:t>, branches, paths, conditions.</a:t>
            </a:r>
          </a:p>
        </p:txBody>
      </p:sp>
      <p:sp>
        <p:nvSpPr>
          <p:cNvPr id="2" name="Date Placeholder 1"/>
          <p:cNvSpPr>
            <a:spLocks noGrp="1"/>
          </p:cNvSpPr>
          <p:nvPr>
            <p:ph type="dt" sz="half" idx="10"/>
          </p:nvPr>
        </p:nvSpPr>
        <p:spPr/>
        <p:txBody>
          <a:bodyPr/>
          <a:lstStyle/>
          <a:p>
            <a:pPr>
              <a:defRPr/>
            </a:pPr>
            <a:fld id="{DE28B208-F5BA-4B2E-942C-CF8A003EC258}" type="datetime8">
              <a:rPr lang="en-US" smtClean="0"/>
              <a:pPr>
                <a:defRPr/>
              </a:pPr>
              <a:t>3/8/2025 3:26 PM</a:t>
            </a:fld>
            <a:endParaRPr lang="en-US"/>
          </a:p>
        </p:txBody>
      </p:sp>
    </p:spTree>
    <p:extLst>
      <p:ext uri="{BB962C8B-B14F-4D97-AF65-F5344CB8AC3E}">
        <p14:creationId xmlns:p14="http://schemas.microsoft.com/office/powerpoint/2010/main" val="541792476"/>
      </p:ext>
    </p:extLst>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Testing Axioms</a:t>
            </a:r>
            <a:endParaRPr lang="en-GB" dirty="0"/>
          </a:p>
        </p:txBody>
      </p:sp>
      <p:sp>
        <p:nvSpPr>
          <p:cNvPr id="3" name="Content Placeholder 2"/>
          <p:cNvSpPr>
            <a:spLocks noGrp="1"/>
          </p:cNvSpPr>
          <p:nvPr>
            <p:ph idx="1"/>
          </p:nvPr>
        </p:nvSpPr>
        <p:spPr/>
        <p:txBody>
          <a:bodyPr/>
          <a:lstStyle/>
          <a:p>
            <a:r>
              <a:rPr lang="en-GB" dirty="0" smtClean="0"/>
              <a:t>Following are testing axioms</a:t>
            </a:r>
          </a:p>
          <a:p>
            <a:pPr lvl="1"/>
            <a:r>
              <a:rPr lang="en-GB" sz="2000" dirty="0" smtClean="0"/>
              <a:t>It’s Impossible to Test a Program Completely</a:t>
            </a:r>
          </a:p>
          <a:p>
            <a:pPr lvl="1"/>
            <a:r>
              <a:rPr lang="en-GB" sz="2000" dirty="0" smtClean="0"/>
              <a:t>Software Testing Is a Risk-Based Exercise</a:t>
            </a:r>
          </a:p>
          <a:p>
            <a:pPr lvl="1"/>
            <a:r>
              <a:rPr lang="en-GB" sz="2000" dirty="0" smtClean="0"/>
              <a:t>Testing Can’t Show That Bugs Don’t Exist</a:t>
            </a:r>
          </a:p>
          <a:p>
            <a:pPr lvl="1"/>
            <a:r>
              <a:rPr lang="en-GB" sz="2000" dirty="0" smtClean="0"/>
              <a:t>The More Bugs You Find, the More Bugs There Are</a:t>
            </a:r>
          </a:p>
          <a:p>
            <a:pPr lvl="1"/>
            <a:r>
              <a:rPr lang="en-GB" sz="2000" dirty="0" smtClean="0"/>
              <a:t>The Pesticide Paradox</a:t>
            </a:r>
          </a:p>
          <a:p>
            <a:pPr lvl="1"/>
            <a:r>
              <a:rPr lang="en-GB" sz="2000" dirty="0" smtClean="0"/>
              <a:t>Not All the Bugs You Find Will Be Fixed</a:t>
            </a:r>
          </a:p>
          <a:p>
            <a:pPr lvl="1"/>
            <a:r>
              <a:rPr lang="en-GB" sz="2000" dirty="0" smtClean="0"/>
              <a:t>When a Bug’s a Bug Is Difficult to Say</a:t>
            </a:r>
          </a:p>
          <a:p>
            <a:pPr lvl="1"/>
            <a:r>
              <a:rPr lang="en-GB" sz="2000" dirty="0" smtClean="0"/>
              <a:t>Product Specifications Are Never Final</a:t>
            </a:r>
          </a:p>
          <a:p>
            <a:pPr lvl="1"/>
            <a:r>
              <a:rPr lang="en-GB" sz="2000" dirty="0" smtClean="0"/>
              <a:t>Software Testers Aren’t the Most Popular Members of a Project Team</a:t>
            </a:r>
          </a:p>
          <a:p>
            <a:pPr lvl="1"/>
            <a:r>
              <a:rPr lang="en-GB" sz="2000" dirty="0" smtClean="0"/>
              <a:t>Software Testing Is a Disciplined Technical Profession</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GB" sz="2800" dirty="0" smtClean="0">
                <a:latin typeface="+mj-lt"/>
              </a:rPr>
              <a:t>It’s Impossible to Test a Program Completely</a:t>
            </a:r>
            <a:endParaRPr lang="en-GB" sz="2800" dirty="0"/>
          </a:p>
        </p:txBody>
      </p:sp>
      <p:sp>
        <p:nvSpPr>
          <p:cNvPr id="3" name="Content Placeholder 2"/>
          <p:cNvSpPr>
            <a:spLocks noGrp="1"/>
          </p:cNvSpPr>
          <p:nvPr>
            <p:ph idx="1"/>
          </p:nvPr>
        </p:nvSpPr>
        <p:spPr/>
        <p:txBody>
          <a:bodyPr>
            <a:normAutofit/>
          </a:bodyPr>
          <a:lstStyle/>
          <a:p>
            <a:pPr algn="just"/>
            <a:r>
              <a:rPr lang="en-GB" dirty="0" smtClean="0"/>
              <a:t>This is due to the following four reasons</a:t>
            </a:r>
          </a:p>
          <a:p>
            <a:pPr lvl="1" algn="just"/>
            <a:r>
              <a:rPr lang="en-GB" sz="2000" dirty="0" smtClean="0"/>
              <a:t>The number of possible inputs is very large.</a:t>
            </a:r>
          </a:p>
          <a:p>
            <a:pPr lvl="1" algn="just"/>
            <a:r>
              <a:rPr lang="en-GB" sz="2000" dirty="0" smtClean="0"/>
              <a:t>The number of possible outputs is very large.</a:t>
            </a:r>
          </a:p>
          <a:p>
            <a:pPr lvl="1" algn="just"/>
            <a:r>
              <a:rPr lang="en-GB" sz="2000" dirty="0" smtClean="0"/>
              <a:t>The number of paths through the software is very large.</a:t>
            </a:r>
          </a:p>
          <a:p>
            <a:pPr lvl="1" algn="just"/>
            <a:r>
              <a:rPr lang="en-GB" sz="2000" dirty="0" smtClean="0"/>
              <a:t>The software specification is subjective. You might say that a bug is in the eye of the beholder.</a:t>
            </a:r>
          </a:p>
          <a:p>
            <a:pPr algn="just"/>
            <a:r>
              <a:rPr lang="en-GB" dirty="0" smtClean="0"/>
              <a:t>Multiply all these “very large” possibilities</a:t>
            </a:r>
          </a:p>
          <a:p>
            <a:pPr algn="just"/>
            <a:r>
              <a:rPr lang="en-GB" dirty="0" smtClean="0"/>
              <a:t>You get a set of test conditions that’s too large to attempt</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It’s Impossible to Test a Program Completely</a:t>
            </a:r>
            <a:endParaRPr lang="en-GB" dirty="0"/>
          </a:p>
        </p:txBody>
      </p:sp>
      <p:sp>
        <p:nvSpPr>
          <p:cNvPr id="3" name="Content Placeholder 2"/>
          <p:cNvSpPr>
            <a:spLocks noGrp="1"/>
          </p:cNvSpPr>
          <p:nvPr>
            <p:ph idx="1"/>
          </p:nvPr>
        </p:nvSpPr>
        <p:spPr/>
        <p:txBody>
          <a:bodyPr>
            <a:normAutofit/>
          </a:bodyPr>
          <a:lstStyle/>
          <a:p>
            <a:pPr algn="just"/>
            <a:r>
              <a:rPr lang="en-GB" dirty="0" smtClean="0"/>
              <a:t>Even a simple program such as the Windows Calculator is too complex to completely test.</a:t>
            </a:r>
          </a:p>
          <a:p>
            <a:pPr algn="just"/>
            <a:r>
              <a:rPr lang="en-GB" dirty="0" smtClean="0"/>
              <a:t>If you decide to eliminate any of the test conditions due to following reasons, you’ve decided not to test the program completely</a:t>
            </a:r>
          </a:p>
          <a:p>
            <a:pPr lvl="1" algn="just"/>
            <a:r>
              <a:rPr lang="en-GB" sz="2000" dirty="0" smtClean="0"/>
              <a:t>They’re redundant </a:t>
            </a:r>
          </a:p>
          <a:p>
            <a:pPr lvl="1" algn="just"/>
            <a:r>
              <a:rPr lang="en-GB" sz="2000" dirty="0" smtClean="0"/>
              <a:t>They’re unnecessary</a:t>
            </a:r>
          </a:p>
          <a:p>
            <a:pPr lvl="1" algn="just"/>
            <a:r>
              <a:rPr lang="en-GB" sz="2000" dirty="0" smtClean="0"/>
              <a:t>or just to save time</a:t>
            </a:r>
          </a:p>
        </p:txBody>
      </p:sp>
      <p:pic>
        <p:nvPicPr>
          <p:cNvPr id="63490" name="Picture 2"/>
          <p:cNvPicPr>
            <a:picLocks noChangeAspect="1" noChangeArrowheads="1"/>
          </p:cNvPicPr>
          <p:nvPr/>
        </p:nvPicPr>
        <p:blipFill>
          <a:blip r:embed="rId2"/>
          <a:srcRect/>
          <a:stretch>
            <a:fillRect/>
          </a:stretch>
        </p:blipFill>
        <p:spPr bwMode="auto">
          <a:xfrm>
            <a:off x="7446488" y="2965619"/>
            <a:ext cx="3256703" cy="3156497"/>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GB" sz="2800" dirty="0" smtClean="0">
                <a:latin typeface="+mj-lt"/>
              </a:rPr>
              <a:t>Software Testing Is a Risk-Based Exercise</a:t>
            </a:r>
            <a:endParaRPr lang="en-GB" sz="2800" dirty="0">
              <a:latin typeface="+mj-lt"/>
            </a:endParaRPr>
          </a:p>
        </p:txBody>
      </p:sp>
      <p:sp>
        <p:nvSpPr>
          <p:cNvPr id="3" name="Content Placeholder 2"/>
          <p:cNvSpPr>
            <a:spLocks noGrp="1"/>
          </p:cNvSpPr>
          <p:nvPr>
            <p:ph idx="1"/>
          </p:nvPr>
        </p:nvSpPr>
        <p:spPr/>
        <p:txBody>
          <a:bodyPr>
            <a:normAutofit/>
          </a:bodyPr>
          <a:lstStyle/>
          <a:p>
            <a:pPr algn="just"/>
            <a:r>
              <a:rPr lang="en-GB" dirty="0" smtClean="0"/>
              <a:t>If you decide not to test every possible test scenario, you’ve chosen to take on risk</a:t>
            </a:r>
          </a:p>
          <a:p>
            <a:pPr algn="just"/>
            <a:r>
              <a:rPr lang="en-GB" dirty="0" smtClean="0"/>
              <a:t>When the product has to be released, so you will need to stop testing, but if you stop too soon, there will still be areas untested</a:t>
            </a:r>
          </a:p>
          <a:p>
            <a:r>
              <a:rPr lang="en-GB" dirty="0" smtClean="0"/>
              <a:t>A customer will still use the untested areas of the product, and he or she will discover the bug</a:t>
            </a:r>
          </a:p>
          <a:p>
            <a:r>
              <a:rPr lang="en-GB" dirty="0" smtClean="0"/>
              <a:t>It’ll be a costly bug then</a:t>
            </a:r>
          </a:p>
          <a:p>
            <a:pPr algn="just"/>
            <a:r>
              <a:rPr lang="en-GB" dirty="0" smtClean="0"/>
              <a:t>Testers need to learn</a:t>
            </a:r>
          </a:p>
          <a:p>
            <a:pPr lvl="1" algn="just"/>
            <a:r>
              <a:rPr lang="en-GB" sz="2000" dirty="0" smtClean="0"/>
              <a:t>How to reduce the huge domain of possible tests into a manageable set</a:t>
            </a:r>
          </a:p>
          <a:p>
            <a:pPr lvl="1" algn="just"/>
            <a:r>
              <a:rPr lang="en-GB" sz="2000" dirty="0" smtClean="0"/>
              <a:t>How to make wise risk-based decisions on what’s important to test and what’s not</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Software Testing Is a Risk-Based Exercise</a:t>
            </a:r>
            <a:endParaRPr lang="en-GB" dirty="0"/>
          </a:p>
        </p:txBody>
      </p:sp>
      <p:sp>
        <p:nvSpPr>
          <p:cNvPr id="3" name="Content Placeholder 2"/>
          <p:cNvSpPr>
            <a:spLocks noGrp="1"/>
          </p:cNvSpPr>
          <p:nvPr>
            <p:ph idx="1"/>
          </p:nvPr>
        </p:nvSpPr>
        <p:spPr/>
        <p:txBody>
          <a:bodyPr/>
          <a:lstStyle/>
          <a:p>
            <a:r>
              <a:rPr lang="en-GB" i="1" dirty="0" smtClean="0"/>
              <a:t>Every software project has </a:t>
            </a:r>
          </a:p>
          <a:p>
            <a:pPr>
              <a:buNone/>
            </a:pPr>
            <a:r>
              <a:rPr lang="en-GB" i="1" dirty="0" smtClean="0"/>
              <a:t>	an optimal test effort.</a:t>
            </a:r>
            <a:endParaRPr lang="en-GB" dirty="0"/>
          </a:p>
        </p:txBody>
      </p:sp>
      <p:pic>
        <p:nvPicPr>
          <p:cNvPr id="64514" name="Picture 2"/>
          <p:cNvPicPr>
            <a:picLocks noChangeAspect="1" noChangeArrowheads="1"/>
          </p:cNvPicPr>
          <p:nvPr/>
        </p:nvPicPr>
        <p:blipFill>
          <a:blip r:embed="rId2"/>
          <a:srcRect/>
          <a:stretch>
            <a:fillRect/>
          </a:stretch>
        </p:blipFill>
        <p:spPr bwMode="auto">
          <a:xfrm>
            <a:off x="5452066" y="1471400"/>
            <a:ext cx="5191125" cy="5086350"/>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Testing Can’t Show That Bugs Don’t Exist</a:t>
            </a:r>
            <a:endParaRPr lang="en-GB" dirty="0"/>
          </a:p>
        </p:txBody>
      </p:sp>
      <p:sp>
        <p:nvSpPr>
          <p:cNvPr id="3" name="Content Placeholder 2"/>
          <p:cNvSpPr>
            <a:spLocks noGrp="1"/>
          </p:cNvSpPr>
          <p:nvPr>
            <p:ph idx="1"/>
          </p:nvPr>
        </p:nvSpPr>
        <p:spPr/>
        <p:txBody>
          <a:bodyPr/>
          <a:lstStyle/>
          <a:p>
            <a:pPr algn="just"/>
            <a:r>
              <a:rPr lang="en-GB" dirty="0" smtClean="0"/>
              <a:t>Software testing can show that bugs exist, but it can’t show that bugs don’t exist</a:t>
            </a:r>
          </a:p>
          <a:p>
            <a:pPr algn="just"/>
            <a:r>
              <a:rPr lang="en-GB" dirty="0" smtClean="0"/>
              <a:t>You can perform your tests, find and report bugs, but at no point you can guarantee that there are no longer any bugs to find</a:t>
            </a:r>
          </a:p>
          <a:p>
            <a:pPr algn="just"/>
            <a:r>
              <a:rPr lang="en-GB" dirty="0" smtClean="0"/>
              <a:t>You can only continue your testing and possibly find more and more bugs</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More Bugs You Find, the More Bugs There Are</a:t>
            </a:r>
            <a:endParaRPr lang="en-GB" dirty="0"/>
          </a:p>
        </p:txBody>
      </p:sp>
      <p:sp>
        <p:nvSpPr>
          <p:cNvPr id="3" name="Content Placeholder 2"/>
          <p:cNvSpPr>
            <a:spLocks noGrp="1"/>
          </p:cNvSpPr>
          <p:nvPr>
            <p:ph idx="1"/>
          </p:nvPr>
        </p:nvSpPr>
        <p:spPr/>
        <p:txBody>
          <a:bodyPr>
            <a:normAutofit/>
          </a:bodyPr>
          <a:lstStyle/>
          <a:p>
            <a:pPr algn="just"/>
            <a:r>
              <a:rPr lang="en-GB" dirty="0" smtClean="0"/>
              <a:t>There are even more similarities between real bugs and software bugs</a:t>
            </a:r>
          </a:p>
          <a:p>
            <a:pPr algn="just"/>
            <a:r>
              <a:rPr lang="en-GB" dirty="0" smtClean="0"/>
              <a:t>If you see one, odds are there will be more nearby.</a:t>
            </a:r>
          </a:p>
          <a:p>
            <a:pPr algn="just"/>
            <a:r>
              <a:rPr lang="en-GB" dirty="0" smtClean="0"/>
              <a:t>There are several reasons for this</a:t>
            </a:r>
          </a:p>
          <a:p>
            <a:pPr lvl="1" algn="just"/>
            <a:r>
              <a:rPr lang="en-GB" sz="2000" b="1" dirty="0" smtClean="0"/>
              <a:t>Programmers have bad days: </a:t>
            </a:r>
          </a:p>
          <a:p>
            <a:pPr lvl="2" algn="just"/>
            <a:r>
              <a:rPr lang="en-GB" sz="2000" dirty="0" smtClean="0"/>
              <a:t>Like all of us, programmers can have off days. </a:t>
            </a:r>
          </a:p>
          <a:p>
            <a:pPr lvl="2" algn="just"/>
            <a:r>
              <a:rPr lang="en-GB" sz="2000" dirty="0" smtClean="0"/>
              <a:t>Code written one day may be perfect; </a:t>
            </a:r>
          </a:p>
          <a:p>
            <a:pPr lvl="2" algn="just"/>
            <a:r>
              <a:rPr lang="en-GB" sz="2000" dirty="0" smtClean="0"/>
              <a:t>Code written another may be sloppy.</a:t>
            </a:r>
          </a:p>
          <a:p>
            <a:pPr lvl="2" algn="just"/>
            <a:r>
              <a:rPr lang="en-GB" sz="2000" dirty="0" smtClean="0"/>
              <a:t>One bug can be a tell-tale sign that there are more nearby.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More Bugs You Find, the More Bugs There Are</a:t>
            </a:r>
            <a:endParaRPr lang="en-GB" dirty="0"/>
          </a:p>
        </p:txBody>
      </p:sp>
      <p:sp>
        <p:nvSpPr>
          <p:cNvPr id="3" name="Content Placeholder 2"/>
          <p:cNvSpPr>
            <a:spLocks noGrp="1"/>
          </p:cNvSpPr>
          <p:nvPr>
            <p:ph idx="1"/>
          </p:nvPr>
        </p:nvSpPr>
        <p:spPr/>
        <p:txBody>
          <a:bodyPr>
            <a:normAutofit/>
          </a:bodyPr>
          <a:lstStyle/>
          <a:p>
            <a:pPr lvl="1" algn="just"/>
            <a:r>
              <a:rPr lang="en-GB" sz="2000" b="1" dirty="0" smtClean="0"/>
              <a:t>Programmers often make the same mistake:</a:t>
            </a:r>
          </a:p>
          <a:p>
            <a:pPr lvl="2" algn="just"/>
            <a:r>
              <a:rPr lang="en-GB" sz="2000" dirty="0" smtClean="0"/>
              <a:t> Everyone has habits. A programmer who is prone to a certain error will often repeat it.</a:t>
            </a:r>
            <a:endParaRPr lang="en-GB" sz="2000" b="1" dirty="0" smtClean="0"/>
          </a:p>
          <a:p>
            <a:pPr lvl="1" algn="just"/>
            <a:r>
              <a:rPr lang="en-GB" sz="2000" b="1" dirty="0" smtClean="0"/>
              <a:t>Some bugs are really just the tip of the iceberg:</a:t>
            </a:r>
          </a:p>
          <a:p>
            <a:pPr lvl="2" algn="just"/>
            <a:r>
              <a:rPr lang="en-GB" sz="2000" dirty="0" smtClean="0"/>
              <a:t>Very often the software’s design or architecture has a fundamental problem.</a:t>
            </a:r>
          </a:p>
          <a:p>
            <a:pPr lvl="2" algn="just"/>
            <a:r>
              <a:rPr lang="en-GB" sz="2000" dirty="0" smtClean="0"/>
              <a:t>A tester will find several bugs that at first may seem unrelated but eventually are discovered to have one primary serious cause.</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Pesticide Paradox</a:t>
            </a:r>
            <a:endParaRPr lang="en-GB" dirty="0"/>
          </a:p>
        </p:txBody>
      </p:sp>
      <p:sp>
        <p:nvSpPr>
          <p:cNvPr id="3" name="Content Placeholder 2"/>
          <p:cNvSpPr>
            <a:spLocks noGrp="1"/>
          </p:cNvSpPr>
          <p:nvPr>
            <p:ph idx="1"/>
          </p:nvPr>
        </p:nvSpPr>
        <p:spPr/>
        <p:txBody>
          <a:bodyPr>
            <a:normAutofit/>
          </a:bodyPr>
          <a:lstStyle/>
          <a:p>
            <a:pPr algn="just"/>
            <a:r>
              <a:rPr lang="en-GB" dirty="0" smtClean="0"/>
              <a:t>The more you test software, the more immune it becomes to your tests</a:t>
            </a:r>
          </a:p>
          <a:p>
            <a:pPr algn="just"/>
            <a:r>
              <a:rPr lang="en-GB" dirty="0" smtClean="0"/>
              <a:t>The same thing happens to insects with pesticides</a:t>
            </a:r>
          </a:p>
          <a:p>
            <a:pPr algn="just"/>
            <a:r>
              <a:rPr lang="en-GB" dirty="0" smtClean="0"/>
              <a:t>If you keep applying the same pesticide, the insects eventually build up resistance and the pesticide no longer works.</a:t>
            </a:r>
          </a:p>
          <a:p>
            <a:pPr algn="just"/>
            <a:r>
              <a:rPr lang="en-GB" dirty="0" smtClean="0"/>
              <a:t>The test process repeats each time around the loop just like spiral model of development</a:t>
            </a:r>
          </a:p>
          <a:p>
            <a:pPr algn="just"/>
            <a:r>
              <a:rPr lang="en-GB" dirty="0" smtClean="0"/>
              <a:t>After several passes, all the bugs that those tests would find are exposed, continuing to run them won’t reveal anything new</a:t>
            </a:r>
          </a:p>
          <a:p>
            <a:pPr algn="just"/>
            <a:r>
              <a:rPr lang="en-GB" dirty="0" smtClean="0"/>
              <a:t>To overcome this, software testers must continually write new and different tests to exercise and find more bugs.</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Pesticide Paradox</a:t>
            </a:r>
            <a:endParaRPr lang="en-GB" dirty="0"/>
          </a:p>
        </p:txBody>
      </p:sp>
      <p:sp>
        <p:nvSpPr>
          <p:cNvPr id="3" name="Content Placeholder 2"/>
          <p:cNvSpPr>
            <a:spLocks noGrp="1"/>
          </p:cNvSpPr>
          <p:nvPr>
            <p:ph idx="1"/>
          </p:nvPr>
        </p:nvSpPr>
        <p:spPr/>
        <p:txBody>
          <a:bodyPr/>
          <a:lstStyle/>
          <a:p>
            <a:pPr algn="just"/>
            <a:r>
              <a:rPr lang="en-GB" dirty="0" smtClean="0"/>
              <a:t>Software undergoing the same repetitive tests eventually builds up resistance to them.</a:t>
            </a:r>
            <a:endParaRPr lang="en-GB" dirty="0"/>
          </a:p>
        </p:txBody>
      </p:sp>
      <p:pic>
        <p:nvPicPr>
          <p:cNvPr id="4" name="Picture 2"/>
          <p:cNvPicPr>
            <a:picLocks noChangeAspect="1" noChangeArrowheads="1"/>
          </p:cNvPicPr>
          <p:nvPr/>
        </p:nvPicPr>
        <p:blipFill>
          <a:blip r:embed="rId2"/>
          <a:srcRect/>
          <a:stretch>
            <a:fillRect/>
          </a:stretch>
        </p:blipFill>
        <p:spPr bwMode="auto">
          <a:xfrm>
            <a:off x="3876533" y="2299293"/>
            <a:ext cx="4639596" cy="3824305"/>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Not All the Bugs You Find Will Be Fixed</a:t>
            </a:r>
            <a:endParaRPr lang="en-GB" dirty="0"/>
          </a:p>
        </p:txBody>
      </p:sp>
      <p:sp>
        <p:nvSpPr>
          <p:cNvPr id="3" name="Content Placeholder 2"/>
          <p:cNvSpPr>
            <a:spLocks noGrp="1"/>
          </p:cNvSpPr>
          <p:nvPr>
            <p:ph idx="1"/>
          </p:nvPr>
        </p:nvSpPr>
        <p:spPr/>
        <p:txBody>
          <a:bodyPr/>
          <a:lstStyle/>
          <a:p>
            <a:r>
              <a:rPr lang="en-GB" dirty="0" smtClean="0"/>
              <a:t>One of the sad realities of software testing is that not every bug you find will be fixed</a:t>
            </a:r>
          </a:p>
          <a:p>
            <a:r>
              <a:rPr lang="en-GB" dirty="0" smtClean="0"/>
              <a:t>Don’t be disappointed</a:t>
            </a:r>
          </a:p>
          <a:p>
            <a:r>
              <a:rPr lang="en-GB" dirty="0" smtClean="0"/>
              <a:t>This doesn’t mean that you’ve failed in achieving your goal as a software tester</a:t>
            </a:r>
          </a:p>
          <a:p>
            <a:r>
              <a:rPr lang="en-GB" dirty="0" smtClean="0"/>
              <a:t>It also does not mean that you or your team will release a poor quality product</a:t>
            </a:r>
          </a:p>
          <a:p>
            <a:r>
              <a:rPr lang="en-GB" dirty="0" smtClean="0"/>
              <a:t>It does mean that you need to exercise good judgment and know when perfection isn’t reasonably attainable</a:t>
            </a:r>
          </a:p>
          <a:p>
            <a:r>
              <a:rPr lang="en-GB" dirty="0" smtClean="0"/>
              <a:t>You need to decide which bugs will be fixed and which ones won’t.</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Not All the Bugs You Find Will Be Fixed</a:t>
            </a:r>
            <a:endParaRPr lang="en-GB" dirty="0"/>
          </a:p>
        </p:txBody>
      </p:sp>
      <p:sp>
        <p:nvSpPr>
          <p:cNvPr id="3" name="Content Placeholder 2"/>
          <p:cNvSpPr>
            <a:spLocks noGrp="1"/>
          </p:cNvSpPr>
          <p:nvPr>
            <p:ph idx="1"/>
          </p:nvPr>
        </p:nvSpPr>
        <p:spPr/>
        <p:txBody>
          <a:bodyPr>
            <a:noAutofit/>
          </a:bodyPr>
          <a:lstStyle/>
          <a:p>
            <a:pPr algn="just"/>
            <a:r>
              <a:rPr lang="en-GB" dirty="0" smtClean="0"/>
              <a:t>There are following reasons why you might choose not to fix a bug:</a:t>
            </a:r>
          </a:p>
          <a:p>
            <a:pPr lvl="1" algn="just"/>
            <a:r>
              <a:rPr lang="en-GB" sz="2000" b="1" dirty="0" smtClean="0"/>
              <a:t>There’s not enough time. </a:t>
            </a:r>
          </a:p>
          <a:p>
            <a:pPr lvl="2" algn="just"/>
            <a:r>
              <a:rPr lang="en-GB" sz="2000" dirty="0" smtClean="0"/>
              <a:t>In every project there are always too many software features, too few people to code and test them. They do not find enough room left in the schedule to finish.</a:t>
            </a:r>
          </a:p>
          <a:p>
            <a:pPr lvl="2" algn="just"/>
            <a:r>
              <a:rPr lang="en-GB" sz="2000" b="1" dirty="0" smtClean="0"/>
              <a:t>Example: </a:t>
            </a:r>
            <a:r>
              <a:rPr lang="en-GB" sz="2000" dirty="0" smtClean="0"/>
              <a:t>If you’re working on a tax preparation program, April 15 isn’t going to move</a:t>
            </a:r>
          </a:p>
          <a:p>
            <a:pPr lvl="1" algn="just"/>
            <a:r>
              <a:rPr lang="en-GB" sz="2000" b="1" dirty="0" smtClean="0"/>
              <a:t>It’s really not a bug:</a:t>
            </a:r>
          </a:p>
          <a:p>
            <a:pPr lvl="2" algn="just"/>
            <a:r>
              <a:rPr lang="en-GB" sz="2000" dirty="0" smtClean="0"/>
              <a:t>“It’s not a bug, it’s a feature!” It’s not uncommon for misunderstandings, test errors, or spec changes to result in would-be bugs being dismissed as features.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Not All the Bugs You Find Will Be Fixed</a:t>
            </a:r>
            <a:endParaRPr lang="en-GB" dirty="0"/>
          </a:p>
        </p:txBody>
      </p:sp>
      <p:sp>
        <p:nvSpPr>
          <p:cNvPr id="3" name="Content Placeholder 2"/>
          <p:cNvSpPr>
            <a:spLocks noGrp="1"/>
          </p:cNvSpPr>
          <p:nvPr>
            <p:ph idx="1"/>
          </p:nvPr>
        </p:nvSpPr>
        <p:spPr>
          <a:xfrm>
            <a:off x="1104900" y="1450072"/>
            <a:ext cx="9982200" cy="5257800"/>
          </a:xfrm>
        </p:spPr>
        <p:txBody>
          <a:bodyPr>
            <a:normAutofit/>
          </a:bodyPr>
          <a:lstStyle/>
          <a:p>
            <a:pPr lvl="1" algn="just"/>
            <a:r>
              <a:rPr lang="en-GB" sz="2000" b="1" dirty="0" smtClean="0"/>
              <a:t>It’s too risky to fix:</a:t>
            </a:r>
          </a:p>
          <a:p>
            <a:pPr lvl="2" algn="just"/>
            <a:r>
              <a:rPr lang="en-GB" sz="2000" dirty="0" smtClean="0"/>
              <a:t>Software is fragile, intertwined, and sometimes like spaghetti. You might make a bug fix that causes other bugs to appear. </a:t>
            </a:r>
          </a:p>
          <a:p>
            <a:pPr lvl="2" algn="just"/>
            <a:r>
              <a:rPr lang="en-GB" sz="2000" dirty="0" smtClean="0"/>
              <a:t>Under the pressure to release a product under a tight schedule, it might be better to leave in the known bug to avoid the risk of creating new, unknown ones.</a:t>
            </a:r>
          </a:p>
          <a:p>
            <a:pPr lvl="1" algn="just"/>
            <a:r>
              <a:rPr lang="en-GB" sz="2000" b="1" dirty="0" smtClean="0"/>
              <a:t>It’s just not worth it:</a:t>
            </a:r>
          </a:p>
          <a:p>
            <a:pPr lvl="1" algn="just"/>
            <a:r>
              <a:rPr lang="en-GB" sz="2000" dirty="0" smtClean="0"/>
              <a:t>Following types of bugs are not removed</a:t>
            </a:r>
          </a:p>
          <a:p>
            <a:pPr lvl="2" algn="just"/>
            <a:r>
              <a:rPr lang="en-GB" sz="2000" dirty="0" smtClean="0"/>
              <a:t>Bugs that would occur infrequently </a:t>
            </a:r>
          </a:p>
          <a:p>
            <a:pPr lvl="2" algn="just"/>
            <a:r>
              <a:rPr lang="en-GB" sz="2000" dirty="0" smtClean="0"/>
              <a:t>Bugs that appear in little-used features.</a:t>
            </a:r>
          </a:p>
          <a:p>
            <a:pPr lvl="2" algn="just"/>
            <a:r>
              <a:rPr lang="en-GB" sz="2000" dirty="0" smtClean="0"/>
              <a:t>Bugs that have, work-around ways that a user can prevent or avoid the bug</a:t>
            </a:r>
          </a:p>
          <a:p>
            <a:r>
              <a:rPr lang="en-GB" dirty="0" smtClean="0"/>
              <a:t>The decision-making process usually involves </a:t>
            </a:r>
          </a:p>
          <a:p>
            <a:pPr lvl="1"/>
            <a:r>
              <a:rPr lang="en-GB" sz="2000" dirty="0" smtClean="0"/>
              <a:t>software testers</a:t>
            </a:r>
          </a:p>
          <a:p>
            <a:pPr lvl="1"/>
            <a:r>
              <a:rPr lang="en-GB" sz="2000" dirty="0" smtClean="0"/>
              <a:t>project managers</a:t>
            </a:r>
          </a:p>
          <a:p>
            <a:pPr lvl="1"/>
            <a:r>
              <a:rPr lang="en-GB" sz="2000" dirty="0" smtClean="0"/>
              <a:t>programmers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When a Bug’s a Bug Is Difficult to Say</a:t>
            </a:r>
            <a:endParaRPr lang="en-GB" dirty="0"/>
          </a:p>
        </p:txBody>
      </p:sp>
      <p:sp>
        <p:nvSpPr>
          <p:cNvPr id="3" name="Content Placeholder 2"/>
          <p:cNvSpPr>
            <a:spLocks noGrp="1"/>
          </p:cNvSpPr>
          <p:nvPr>
            <p:ph idx="1"/>
          </p:nvPr>
        </p:nvSpPr>
        <p:spPr/>
        <p:txBody>
          <a:bodyPr/>
          <a:lstStyle/>
          <a:p>
            <a:pPr algn="just"/>
            <a:r>
              <a:rPr lang="en-GB" dirty="0" smtClean="0"/>
              <a:t>If there’s a problem in the software but no one ever discovers it—not programmers, not testers, and not even a single customer—is it a bug?</a:t>
            </a:r>
          </a:p>
          <a:p>
            <a:endParaRPr lang="en-GB" dirty="0" smtClean="0"/>
          </a:p>
          <a:p>
            <a:pPr>
              <a:buNone/>
            </a:pPr>
            <a:endParaRPr lang="en-GB" dirty="0" smtClean="0"/>
          </a:p>
          <a:p>
            <a:pPr algn="ctr">
              <a:buNone/>
            </a:pPr>
            <a:r>
              <a:rPr lang="en-GB" sz="9600" b="1" dirty="0" smtClean="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When a Bug’s a Bug Is Difficult to Say</a:t>
            </a:r>
            <a:endParaRPr lang="en-GB" dirty="0"/>
          </a:p>
        </p:txBody>
      </p:sp>
      <p:sp>
        <p:nvSpPr>
          <p:cNvPr id="3" name="Content Placeholder 2"/>
          <p:cNvSpPr>
            <a:spLocks noGrp="1"/>
          </p:cNvSpPr>
          <p:nvPr>
            <p:ph idx="1"/>
          </p:nvPr>
        </p:nvSpPr>
        <p:spPr/>
        <p:txBody>
          <a:bodyPr>
            <a:normAutofit/>
          </a:bodyPr>
          <a:lstStyle/>
          <a:p>
            <a:r>
              <a:rPr lang="en-GB" dirty="0" smtClean="0"/>
              <a:t>The problem is that there’s no definitive answer</a:t>
            </a:r>
          </a:p>
          <a:p>
            <a:r>
              <a:rPr lang="en-GB" dirty="0" smtClean="0"/>
              <a:t>The answer is based on what you and your development team decide works best for you.</a:t>
            </a:r>
          </a:p>
          <a:p>
            <a:r>
              <a:rPr lang="en-GB" dirty="0" smtClean="0"/>
              <a:t>Recall the rules discussed earlier for the bugs to be called bugs</a:t>
            </a:r>
          </a:p>
          <a:p>
            <a:r>
              <a:rPr lang="en-GB" b="1" dirty="0" smtClean="0"/>
              <a:t>One opinion </a:t>
            </a:r>
            <a:r>
              <a:rPr lang="en-GB" dirty="0" smtClean="0"/>
              <a:t>is to claim that the software does or doesn’t do “something” implies that the software was run and that “something” or the lack of “something” was witnessed</a:t>
            </a:r>
          </a:p>
          <a:p>
            <a:r>
              <a:rPr lang="en-GB" dirty="0" smtClean="0"/>
              <a:t>You can’t report on what you didn’t see</a:t>
            </a:r>
          </a:p>
          <a:p>
            <a:r>
              <a:rPr lang="en-GB" dirty="0" smtClean="0"/>
              <a:t>You can’t claim that a bug exists if you didn’t see 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When a Bug’s a Bug Is Difficult to Say</a:t>
            </a:r>
            <a:endParaRPr lang="en-GB" dirty="0"/>
          </a:p>
        </p:txBody>
      </p:sp>
      <p:sp>
        <p:nvSpPr>
          <p:cNvPr id="3" name="Content Placeholder 2"/>
          <p:cNvSpPr>
            <a:spLocks noGrp="1"/>
          </p:cNvSpPr>
          <p:nvPr>
            <p:ph idx="1"/>
          </p:nvPr>
        </p:nvSpPr>
        <p:spPr/>
        <p:txBody>
          <a:bodyPr/>
          <a:lstStyle/>
          <a:p>
            <a:pPr algn="just"/>
            <a:r>
              <a:rPr lang="en-GB" b="1" dirty="0" smtClean="0"/>
              <a:t>The other opinion </a:t>
            </a:r>
            <a:r>
              <a:rPr lang="en-GB" dirty="0" smtClean="0"/>
              <a:t>is it’s not uncommon for two people to have completely different opinions on the quality of a software product</a:t>
            </a:r>
          </a:p>
          <a:p>
            <a:pPr algn="just"/>
            <a:r>
              <a:rPr lang="en-GB" dirty="0" smtClean="0"/>
              <a:t>One may say that the program is incredibly buggy and the other may say that it’s perfect</a:t>
            </a:r>
          </a:p>
          <a:p>
            <a:pPr algn="just"/>
            <a:r>
              <a:rPr lang="en-GB" dirty="0" smtClean="0"/>
              <a:t>How can both be right?</a:t>
            </a:r>
          </a:p>
          <a:p>
            <a:pPr algn="just">
              <a:buNone/>
            </a:pPr>
            <a:r>
              <a:rPr lang="en-GB" b="1" dirty="0" smtClean="0"/>
              <a:t>						</a:t>
            </a:r>
            <a:r>
              <a:rPr lang="en-GB" sz="9600" b="1" dirty="0" smtClean="0"/>
              <a:t>???</a:t>
            </a:r>
          </a:p>
          <a:p>
            <a:pPr algn="just"/>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When a Bug’s a Bug Is Difficult to Say</a:t>
            </a:r>
            <a:endParaRPr lang="en-GB" dirty="0"/>
          </a:p>
        </p:txBody>
      </p:sp>
      <p:sp>
        <p:nvSpPr>
          <p:cNvPr id="3" name="Content Placeholder 2"/>
          <p:cNvSpPr>
            <a:spLocks noGrp="1"/>
          </p:cNvSpPr>
          <p:nvPr>
            <p:ph idx="1"/>
          </p:nvPr>
        </p:nvSpPr>
        <p:spPr/>
        <p:txBody>
          <a:bodyPr/>
          <a:lstStyle/>
          <a:p>
            <a:pPr algn="just"/>
            <a:r>
              <a:rPr lang="en-GB" b="1" dirty="0" smtClean="0"/>
              <a:t>Answer:</a:t>
            </a:r>
          </a:p>
          <a:p>
            <a:pPr algn="just"/>
            <a:r>
              <a:rPr lang="en-GB" dirty="0" smtClean="0"/>
              <a:t>One has used the product in a way that reveals lots of bugs. The other hasn’t.</a:t>
            </a:r>
          </a:p>
          <a:p>
            <a:pPr algn="just"/>
            <a:r>
              <a:rPr lang="en-GB" dirty="0" smtClean="0"/>
              <a:t>It is just like:</a:t>
            </a:r>
          </a:p>
          <a:p>
            <a:pPr algn="just"/>
            <a:r>
              <a:rPr lang="en-GB" i="1" dirty="0" smtClean="0"/>
              <a:t>“If a tree falls in the forest and there’s no one there to hear it, does it make a sound?”</a:t>
            </a:r>
            <a:endParaRPr lang="en-GB" i="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Product Specifications Are Never Final</a:t>
            </a:r>
            <a:endParaRPr lang="en-GB" dirty="0"/>
          </a:p>
        </p:txBody>
      </p:sp>
      <p:sp>
        <p:nvSpPr>
          <p:cNvPr id="3" name="Content Placeholder 2"/>
          <p:cNvSpPr>
            <a:spLocks noGrp="1"/>
          </p:cNvSpPr>
          <p:nvPr>
            <p:ph idx="1"/>
          </p:nvPr>
        </p:nvSpPr>
        <p:spPr/>
        <p:txBody>
          <a:bodyPr>
            <a:normAutofit/>
          </a:bodyPr>
          <a:lstStyle/>
          <a:p>
            <a:pPr algn="just"/>
            <a:r>
              <a:rPr lang="en-GB" dirty="0" smtClean="0"/>
              <a:t>The industry is moving so fast that last year’s cutting-edge products are obsolete this year</a:t>
            </a:r>
          </a:p>
          <a:p>
            <a:pPr algn="just"/>
            <a:r>
              <a:rPr lang="en-GB" dirty="0" smtClean="0"/>
              <a:t>Software is getting larger and gaining more features and complexity, resulting in longer and longer development schedules</a:t>
            </a:r>
          </a:p>
          <a:p>
            <a:pPr algn="just"/>
            <a:r>
              <a:rPr lang="en-GB" dirty="0" smtClean="0"/>
              <a:t>The result is a constantly changing product specification</a:t>
            </a:r>
          </a:p>
          <a:p>
            <a:pPr algn="just"/>
            <a:r>
              <a:rPr lang="en-GB" dirty="0" smtClean="0"/>
              <a:t>There’s no other way to respond to the rapid changes</a:t>
            </a:r>
          </a:p>
          <a:p>
            <a:pPr algn="just"/>
            <a:r>
              <a:rPr lang="en-GB" b="1" dirty="0" smtClean="0"/>
              <a:t>Example:</a:t>
            </a:r>
          </a:p>
          <a:p>
            <a:pPr lvl="1" algn="just"/>
            <a:r>
              <a:rPr lang="en-GB" sz="2000" dirty="0" smtClean="0"/>
              <a:t>You’re halfway through the planned two year development cycle, and your main competitor releases a product very similar to yours but with several desirable features that your product doesn’t have. </a:t>
            </a:r>
          </a:p>
          <a:p>
            <a:pPr lvl="1" algn="just"/>
            <a:r>
              <a:rPr lang="en-GB" sz="2000" dirty="0" smtClean="0"/>
              <a:t>Do you continue with your spec as is and release an inferior product in another year?</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Product Specifications Are Never Final</a:t>
            </a:r>
            <a:endParaRPr lang="en-GB" dirty="0"/>
          </a:p>
        </p:txBody>
      </p:sp>
      <p:sp>
        <p:nvSpPr>
          <p:cNvPr id="3" name="Content Placeholder 2"/>
          <p:cNvSpPr>
            <a:spLocks noGrp="1"/>
          </p:cNvSpPr>
          <p:nvPr>
            <p:ph idx="1"/>
          </p:nvPr>
        </p:nvSpPr>
        <p:spPr/>
        <p:txBody>
          <a:bodyPr/>
          <a:lstStyle/>
          <a:p>
            <a:pPr algn="just"/>
            <a:r>
              <a:rPr lang="en-GB" dirty="0" smtClean="0"/>
              <a:t>As a software tester, you will observe that features will be added that you didn’t plan to test. </a:t>
            </a:r>
          </a:p>
          <a:p>
            <a:pPr algn="just"/>
            <a:r>
              <a:rPr lang="en-GB" dirty="0" smtClean="0"/>
              <a:t>Features will be changed or even deleted that you had already tested and reported bugs on</a:t>
            </a:r>
          </a:p>
          <a:p>
            <a:pPr algn="just"/>
            <a:r>
              <a:rPr lang="en-GB" dirty="0" smtClean="0"/>
              <a:t>You need to be flexible in your test planning and test execution</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Software Testers Aren’t the Most Popular Members of a</a:t>
            </a:r>
            <a:br>
              <a:rPr lang="en-GB" dirty="0" smtClean="0"/>
            </a:br>
            <a:r>
              <a:rPr lang="en-GB" dirty="0" smtClean="0"/>
              <a:t>Project Team</a:t>
            </a:r>
            <a:endParaRPr lang="en-GB" dirty="0"/>
          </a:p>
        </p:txBody>
      </p:sp>
      <p:sp>
        <p:nvSpPr>
          <p:cNvPr id="3" name="Content Placeholder 2"/>
          <p:cNvSpPr>
            <a:spLocks noGrp="1"/>
          </p:cNvSpPr>
          <p:nvPr>
            <p:ph idx="1"/>
          </p:nvPr>
        </p:nvSpPr>
        <p:spPr/>
        <p:txBody>
          <a:bodyPr>
            <a:noAutofit/>
          </a:bodyPr>
          <a:lstStyle/>
          <a:p>
            <a:pPr algn="just"/>
            <a:r>
              <a:rPr lang="en-GB" dirty="0" smtClean="0"/>
              <a:t>Recall the job of a software tester</a:t>
            </a:r>
          </a:p>
          <a:p>
            <a:pPr lvl="1" algn="just"/>
            <a:r>
              <a:rPr lang="en-GB" sz="2000" dirty="0" smtClean="0"/>
              <a:t>Inspect and critique peer’s work</a:t>
            </a:r>
          </a:p>
          <a:p>
            <a:pPr lvl="1" algn="just"/>
            <a:r>
              <a:rPr lang="en-GB" sz="2000" dirty="0" smtClean="0"/>
              <a:t>Find problems with it</a:t>
            </a:r>
          </a:p>
          <a:p>
            <a:pPr lvl="1" algn="just"/>
            <a:r>
              <a:rPr lang="en-GB" sz="2000" dirty="0" smtClean="0"/>
              <a:t>Publicize what you’ve found</a:t>
            </a:r>
          </a:p>
          <a:p>
            <a:pPr algn="just"/>
            <a:r>
              <a:rPr lang="en-GB" dirty="0" smtClean="0"/>
              <a:t>Can you win a popularity contest doing this job???</a:t>
            </a:r>
          </a:p>
          <a:p>
            <a:pPr algn="just"/>
            <a:r>
              <a:rPr lang="en-GB" dirty="0" smtClean="0"/>
              <a:t>Following are the tips to keep the peace with your fellow teammates:</a:t>
            </a:r>
          </a:p>
          <a:p>
            <a:pPr lvl="1" algn="just"/>
            <a:r>
              <a:rPr lang="en-GB" sz="2000" b="1" dirty="0" smtClean="0"/>
              <a:t>Find bugs early: </a:t>
            </a:r>
          </a:p>
          <a:p>
            <a:pPr lvl="2" algn="just"/>
            <a:r>
              <a:rPr lang="en-GB" sz="2000" dirty="0" smtClean="0"/>
              <a:t>It will be more appreciated if you find a serious bug three months before, rather than one day before, a product’s scheduled release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Software Testers Aren’t the Most Popular Members of a</a:t>
            </a:r>
            <a:br>
              <a:rPr lang="en-GB" dirty="0" smtClean="0"/>
            </a:br>
            <a:r>
              <a:rPr lang="en-GB" dirty="0" smtClean="0"/>
              <a:t>Project Team</a:t>
            </a:r>
            <a:endParaRPr lang="en-GB" dirty="0"/>
          </a:p>
        </p:txBody>
      </p:sp>
      <p:sp>
        <p:nvSpPr>
          <p:cNvPr id="3" name="Content Placeholder 2"/>
          <p:cNvSpPr>
            <a:spLocks noGrp="1"/>
          </p:cNvSpPr>
          <p:nvPr>
            <p:ph idx="1"/>
          </p:nvPr>
        </p:nvSpPr>
        <p:spPr/>
        <p:txBody>
          <a:bodyPr>
            <a:normAutofit/>
          </a:bodyPr>
          <a:lstStyle/>
          <a:p>
            <a:pPr lvl="1" algn="just"/>
            <a:r>
              <a:rPr lang="en-GB" sz="2000" b="1" dirty="0" smtClean="0"/>
              <a:t>Temper your enthusiasm</a:t>
            </a:r>
          </a:p>
          <a:p>
            <a:pPr lvl="2" algn="just"/>
            <a:r>
              <a:rPr lang="en-GB" sz="2000" dirty="0" smtClean="0"/>
              <a:t>You get really excited when you find a terrible bug. But, if you bounce into a programmer’s cubicle with a huge grin on your face and tell her that you just found the nastiest bug of your career and it’s in her code, she won’t be happy.</a:t>
            </a:r>
          </a:p>
          <a:p>
            <a:pPr lvl="1" algn="just"/>
            <a:r>
              <a:rPr lang="en-GB" sz="2000" b="1" dirty="0" smtClean="0"/>
              <a:t>Don’t always report bad news:</a:t>
            </a:r>
          </a:p>
          <a:p>
            <a:pPr lvl="2" algn="just"/>
            <a:r>
              <a:rPr lang="en-GB" sz="2000" dirty="0" smtClean="0"/>
              <a:t>If you find a piece of code surprisingly bug free, tell the world.</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Software Testing Is a Disciplined Technical Profession</a:t>
            </a:r>
            <a:endParaRPr lang="en-GB" dirty="0"/>
          </a:p>
        </p:txBody>
      </p:sp>
      <p:sp>
        <p:nvSpPr>
          <p:cNvPr id="3" name="Content Placeholder 2"/>
          <p:cNvSpPr>
            <a:spLocks noGrp="1"/>
          </p:cNvSpPr>
          <p:nvPr>
            <p:ph idx="1"/>
          </p:nvPr>
        </p:nvSpPr>
        <p:spPr/>
        <p:txBody>
          <a:bodyPr/>
          <a:lstStyle/>
          <a:p>
            <a:pPr algn="just"/>
            <a:r>
              <a:rPr lang="en-GB" dirty="0" smtClean="0"/>
              <a:t>Software industry has progressed to the point where professional software testers are mandatory.</a:t>
            </a:r>
          </a:p>
          <a:p>
            <a:pPr algn="just"/>
            <a:r>
              <a:rPr lang="en-GB" dirty="0" smtClean="0"/>
              <a:t>It’s now too costly to build bad software</a:t>
            </a:r>
          </a:p>
          <a:p>
            <a:pPr algn="just"/>
            <a:r>
              <a:rPr lang="en-GB" dirty="0" smtClean="0"/>
              <a:t>To be fair, not every company is on board yet</a:t>
            </a:r>
          </a:p>
          <a:p>
            <a:pPr algn="just"/>
            <a:r>
              <a:rPr lang="en-GB" dirty="0" smtClean="0"/>
              <a:t>But most software is now developed with a disciplined approach that has software testers as core, vital members of their staff</a:t>
            </a:r>
          </a:p>
          <a:p>
            <a:pPr algn="just"/>
            <a:r>
              <a:rPr lang="en-GB" dirty="0" smtClean="0"/>
              <a:t>It is now a career choice—a job that requires training and discipline, and allows for advancement</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7 Principals of Software Testing</a:t>
            </a:r>
          </a:p>
        </p:txBody>
      </p:sp>
      <p:sp>
        <p:nvSpPr>
          <p:cNvPr id="395267" name="Rectangle 3"/>
          <p:cNvSpPr>
            <a:spLocks noGrp="1" noChangeArrowheads="1"/>
          </p:cNvSpPr>
          <p:nvPr>
            <p:ph idx="1"/>
          </p:nvPr>
        </p:nvSpPr>
        <p:spPr>
          <a:xfrm>
            <a:off x="1110344" y="1447799"/>
            <a:ext cx="9966960" cy="5096691"/>
          </a:xfrm>
        </p:spPr>
        <p:txBody>
          <a:bodyPr>
            <a:normAutofit/>
          </a:bodyPr>
          <a:lstStyle/>
          <a:p>
            <a:pPr algn="just"/>
            <a:r>
              <a:rPr lang="en-US" b="1" dirty="0" smtClean="0">
                <a:solidFill>
                  <a:schemeClr val="accent1"/>
                </a:solidFill>
              </a:rPr>
              <a:t>Principal 1: </a:t>
            </a:r>
          </a:p>
          <a:p>
            <a:pPr lvl="1" algn="just"/>
            <a:r>
              <a:rPr lang="en-US" sz="2000" b="1" dirty="0" smtClean="0"/>
              <a:t>Exhaustive testing </a:t>
            </a:r>
            <a:r>
              <a:rPr lang="en-US" sz="2000" b="1" dirty="0"/>
              <a:t>is </a:t>
            </a:r>
            <a:r>
              <a:rPr lang="en-US" sz="2000" b="1" dirty="0" smtClean="0"/>
              <a:t>impossible.</a:t>
            </a:r>
          </a:p>
          <a:p>
            <a:pPr lvl="1" algn="just"/>
            <a:r>
              <a:rPr lang="en-US" sz="2000" dirty="0"/>
              <a:t>Unless the application under test has a very simple logical structure and limited input, it is not possible to test all possible combinations of data and scenarios</a:t>
            </a:r>
            <a:endParaRPr lang="en-US" sz="2000" dirty="0" smtClean="0"/>
          </a:p>
          <a:p>
            <a:pPr lvl="1" algn="just"/>
            <a:r>
              <a:rPr lang="en-US" sz="2000" dirty="0"/>
              <a:t>W</a:t>
            </a:r>
            <a:r>
              <a:rPr lang="en-US" sz="2000" dirty="0" smtClean="0"/>
              <a:t>e </a:t>
            </a:r>
            <a:r>
              <a:rPr lang="en-US" sz="2000" dirty="0"/>
              <a:t>need an optimal amount of testing based on the risk assessment of the </a:t>
            </a:r>
            <a:r>
              <a:rPr lang="en-US" sz="2000" dirty="0" smtClean="0"/>
              <a:t>application</a:t>
            </a:r>
          </a:p>
          <a:p>
            <a:pPr algn="just"/>
            <a:r>
              <a:rPr lang="en-US" b="1" dirty="0" smtClean="0">
                <a:solidFill>
                  <a:schemeClr val="accent1"/>
                </a:solidFill>
              </a:rPr>
              <a:t>Principal 2: </a:t>
            </a:r>
          </a:p>
          <a:p>
            <a:pPr lvl="1" algn="just"/>
            <a:r>
              <a:rPr lang="en-US" sz="2000" b="1" dirty="0" smtClean="0"/>
              <a:t>Defect Clustering</a:t>
            </a:r>
          </a:p>
          <a:p>
            <a:pPr lvl="1" algn="just"/>
            <a:r>
              <a:rPr lang="en-US" sz="2000" dirty="0" smtClean="0"/>
              <a:t>Most of the reported defects are related to small number of modules within a system</a:t>
            </a:r>
          </a:p>
          <a:p>
            <a:pPr lvl="1" algn="just"/>
            <a:r>
              <a:rPr lang="en-US" sz="2000" dirty="0" smtClean="0"/>
              <a:t>Approximately 80% of the problems are found in 20% of the modules.</a:t>
            </a:r>
          </a:p>
        </p:txBody>
      </p:sp>
      <p:sp>
        <p:nvSpPr>
          <p:cNvPr id="2" name="Date Placeholder 1"/>
          <p:cNvSpPr>
            <a:spLocks noGrp="1"/>
          </p:cNvSpPr>
          <p:nvPr>
            <p:ph type="dt" sz="half" idx="10"/>
          </p:nvPr>
        </p:nvSpPr>
        <p:spPr>
          <a:xfrm>
            <a:off x="0" y="6492875"/>
            <a:ext cx="1829559" cy="365125"/>
          </a:xfrm>
        </p:spPr>
        <p:txBody>
          <a:bodyPr/>
          <a:lstStyle/>
          <a:p>
            <a:pPr>
              <a:defRPr/>
            </a:pPr>
            <a:fld id="{9233A13B-684D-45B4-A435-E32A2E4B313F}" type="datetime8">
              <a:rPr lang="en-US" smtClean="0"/>
              <a:pPr>
                <a:defRPr/>
              </a:pPr>
              <a:t>3/8/2025 3:26 PM</a:t>
            </a:fld>
            <a:endParaRPr lang="en-US"/>
          </a:p>
        </p:txBody>
      </p:sp>
    </p:spTree>
    <p:extLst>
      <p:ext uri="{BB962C8B-B14F-4D97-AF65-F5344CB8AC3E}">
        <p14:creationId xmlns:p14="http://schemas.microsoft.com/office/powerpoint/2010/main" val="251601937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Effect transition="in" filter="fade">
                                      <p:cBhvr>
                                        <p:cTn id="7" dur="500"/>
                                        <p:tgtEl>
                                          <p:spTgt spid="39526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5267">
                                            <p:txEl>
                                              <p:pRg st="1" end="1"/>
                                            </p:txEl>
                                          </p:spTgt>
                                        </p:tgtEl>
                                        <p:attrNameLst>
                                          <p:attrName>style.visibility</p:attrName>
                                        </p:attrNameLst>
                                      </p:cBhvr>
                                      <p:to>
                                        <p:strVal val="visible"/>
                                      </p:to>
                                    </p:set>
                                    <p:animEffect transition="in" filter="fade">
                                      <p:cBhvr>
                                        <p:cTn id="10" dur="500"/>
                                        <p:tgtEl>
                                          <p:spTgt spid="39526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5267">
                                            <p:txEl>
                                              <p:pRg st="2" end="2"/>
                                            </p:txEl>
                                          </p:spTgt>
                                        </p:tgtEl>
                                        <p:attrNameLst>
                                          <p:attrName>style.visibility</p:attrName>
                                        </p:attrNameLst>
                                      </p:cBhvr>
                                      <p:to>
                                        <p:strVal val="visible"/>
                                      </p:to>
                                    </p:set>
                                    <p:animEffect transition="in" filter="fade">
                                      <p:cBhvr>
                                        <p:cTn id="13" dur="500"/>
                                        <p:tgtEl>
                                          <p:spTgt spid="39526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5267">
                                            <p:txEl>
                                              <p:pRg st="3" end="3"/>
                                            </p:txEl>
                                          </p:spTgt>
                                        </p:tgtEl>
                                        <p:attrNameLst>
                                          <p:attrName>style.visibility</p:attrName>
                                        </p:attrNameLst>
                                      </p:cBhvr>
                                      <p:to>
                                        <p:strVal val="visible"/>
                                      </p:to>
                                    </p:set>
                                    <p:animEffect transition="in" filter="fade">
                                      <p:cBhvr>
                                        <p:cTn id="16" dur="500"/>
                                        <p:tgtEl>
                                          <p:spTgt spid="39526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95267">
                                            <p:txEl>
                                              <p:pRg st="4" end="4"/>
                                            </p:txEl>
                                          </p:spTgt>
                                        </p:tgtEl>
                                        <p:attrNameLst>
                                          <p:attrName>style.visibility</p:attrName>
                                        </p:attrNameLst>
                                      </p:cBhvr>
                                      <p:to>
                                        <p:strVal val="visible"/>
                                      </p:to>
                                    </p:set>
                                    <p:animEffect transition="in" filter="fade">
                                      <p:cBhvr>
                                        <p:cTn id="21" dur="500"/>
                                        <p:tgtEl>
                                          <p:spTgt spid="395267">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95267">
                                            <p:txEl>
                                              <p:pRg st="5" end="5"/>
                                            </p:txEl>
                                          </p:spTgt>
                                        </p:tgtEl>
                                        <p:attrNameLst>
                                          <p:attrName>style.visibility</p:attrName>
                                        </p:attrNameLst>
                                      </p:cBhvr>
                                      <p:to>
                                        <p:strVal val="visible"/>
                                      </p:to>
                                    </p:set>
                                    <p:animEffect transition="in" filter="fade">
                                      <p:cBhvr>
                                        <p:cTn id="24" dur="500"/>
                                        <p:tgtEl>
                                          <p:spTgt spid="395267">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95267">
                                            <p:txEl>
                                              <p:pRg st="6" end="6"/>
                                            </p:txEl>
                                          </p:spTgt>
                                        </p:tgtEl>
                                        <p:attrNameLst>
                                          <p:attrName>style.visibility</p:attrName>
                                        </p:attrNameLst>
                                      </p:cBhvr>
                                      <p:to>
                                        <p:strVal val="visible"/>
                                      </p:to>
                                    </p:set>
                                    <p:animEffect transition="in" filter="fade">
                                      <p:cBhvr>
                                        <p:cTn id="27" dur="500"/>
                                        <p:tgtEl>
                                          <p:spTgt spid="395267">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5267">
                                            <p:txEl>
                                              <p:pRg st="7" end="7"/>
                                            </p:txEl>
                                          </p:spTgt>
                                        </p:tgtEl>
                                        <p:attrNameLst>
                                          <p:attrName>style.visibility</p:attrName>
                                        </p:attrNameLst>
                                      </p:cBhvr>
                                      <p:to>
                                        <p:strVal val="visible"/>
                                      </p:to>
                                    </p:set>
                                    <p:animEffect transition="in" filter="fade">
                                      <p:cBhvr>
                                        <p:cTn id="30" dur="500"/>
                                        <p:tgtEl>
                                          <p:spTgt spid="395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7 Principals of Software Testing</a:t>
            </a:r>
          </a:p>
        </p:txBody>
      </p:sp>
      <p:sp>
        <p:nvSpPr>
          <p:cNvPr id="395267" name="Rectangle 3"/>
          <p:cNvSpPr>
            <a:spLocks noGrp="1" noChangeArrowheads="1"/>
          </p:cNvSpPr>
          <p:nvPr>
            <p:ph idx="1"/>
          </p:nvPr>
        </p:nvSpPr>
        <p:spPr>
          <a:xfrm>
            <a:off x="1123407" y="1447800"/>
            <a:ext cx="10006147" cy="4800600"/>
          </a:xfrm>
        </p:spPr>
        <p:txBody>
          <a:bodyPr>
            <a:normAutofit/>
          </a:bodyPr>
          <a:lstStyle/>
          <a:p>
            <a:r>
              <a:rPr lang="en-US" b="1" dirty="0" smtClean="0">
                <a:solidFill>
                  <a:schemeClr val="accent1"/>
                </a:solidFill>
              </a:rPr>
              <a:t>Principal 3: </a:t>
            </a:r>
          </a:p>
          <a:p>
            <a:pPr lvl="1"/>
            <a:r>
              <a:rPr lang="en-US" sz="2000" b="1" dirty="0" smtClean="0"/>
              <a:t>Pesticide Paradox</a:t>
            </a:r>
          </a:p>
          <a:p>
            <a:pPr lvl="1"/>
            <a:r>
              <a:rPr lang="en-US" sz="2000" dirty="0" smtClean="0"/>
              <a:t>If the same tests are repeated over and over again, eventually the same test cases will no longer find new bugs.</a:t>
            </a:r>
          </a:p>
          <a:p>
            <a:pPr lvl="1"/>
            <a:r>
              <a:rPr lang="en-US" sz="2000" dirty="0" smtClean="0"/>
              <a:t>How to overcome</a:t>
            </a:r>
          </a:p>
          <a:p>
            <a:pPr lvl="2"/>
            <a:r>
              <a:rPr lang="en-US" sz="2000" dirty="0" smtClean="0"/>
              <a:t>Test cases need to be regularly reviewed &amp; revised</a:t>
            </a:r>
          </a:p>
          <a:p>
            <a:pPr lvl="2"/>
            <a:r>
              <a:rPr lang="en-US" sz="2000" dirty="0" smtClean="0"/>
              <a:t>Adding new &amp; different test cases</a:t>
            </a:r>
          </a:p>
          <a:p>
            <a:pPr algn="just"/>
            <a:r>
              <a:rPr lang="en-US" b="1" dirty="0" smtClean="0">
                <a:solidFill>
                  <a:schemeClr val="accent1"/>
                </a:solidFill>
              </a:rPr>
              <a:t>Principal 4: </a:t>
            </a:r>
          </a:p>
          <a:p>
            <a:pPr lvl="1" algn="just"/>
            <a:r>
              <a:rPr lang="en-US" sz="2000" b="1" dirty="0" smtClean="0"/>
              <a:t>Testing shows presence of defects</a:t>
            </a:r>
          </a:p>
          <a:p>
            <a:pPr lvl="1" algn="just"/>
            <a:r>
              <a:rPr lang="en-US" sz="2000" dirty="0" smtClean="0"/>
              <a:t>Software Testing reduces the probability of undiscovered defects remaining in the software</a:t>
            </a:r>
          </a:p>
          <a:p>
            <a:pPr lvl="1" algn="just"/>
            <a:r>
              <a:rPr lang="en-US" sz="2000" dirty="0" smtClean="0"/>
              <a:t>Even if no defects are found, it is not a proof of correctness.</a:t>
            </a:r>
          </a:p>
          <a:p>
            <a:pPr lvl="1" algn="just"/>
            <a:r>
              <a:rPr lang="en-US" sz="2000" dirty="0" smtClean="0"/>
              <a:t>What if software doesn’t meet the needs &amp; requirements of clients.</a:t>
            </a:r>
          </a:p>
        </p:txBody>
      </p:sp>
      <p:sp>
        <p:nvSpPr>
          <p:cNvPr id="2" name="Date Placeholder 1"/>
          <p:cNvSpPr>
            <a:spLocks noGrp="1"/>
          </p:cNvSpPr>
          <p:nvPr>
            <p:ph type="dt" sz="half" idx="10"/>
          </p:nvPr>
        </p:nvSpPr>
        <p:spPr/>
        <p:txBody>
          <a:bodyPr/>
          <a:lstStyle/>
          <a:p>
            <a:pPr>
              <a:defRPr/>
            </a:pPr>
            <a:fld id="{608A13A0-63DB-4DA8-83CE-B45AAF93E109}" type="datetime8">
              <a:rPr lang="en-US" smtClean="0"/>
              <a:pPr>
                <a:defRPr/>
              </a:pPr>
              <a:t>3/8/2025 3:26 PM</a:t>
            </a:fld>
            <a:endParaRPr lang="en-US"/>
          </a:p>
        </p:txBody>
      </p:sp>
    </p:spTree>
    <p:extLst>
      <p:ext uri="{BB962C8B-B14F-4D97-AF65-F5344CB8AC3E}">
        <p14:creationId xmlns:p14="http://schemas.microsoft.com/office/powerpoint/2010/main" val="10603919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Effect transition="in" filter="fade">
                                      <p:cBhvr>
                                        <p:cTn id="7" dur="500"/>
                                        <p:tgtEl>
                                          <p:spTgt spid="39526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5267">
                                            <p:txEl>
                                              <p:pRg st="1" end="1"/>
                                            </p:txEl>
                                          </p:spTgt>
                                        </p:tgtEl>
                                        <p:attrNameLst>
                                          <p:attrName>style.visibility</p:attrName>
                                        </p:attrNameLst>
                                      </p:cBhvr>
                                      <p:to>
                                        <p:strVal val="visible"/>
                                      </p:to>
                                    </p:set>
                                    <p:animEffect transition="in" filter="fade">
                                      <p:cBhvr>
                                        <p:cTn id="10" dur="500"/>
                                        <p:tgtEl>
                                          <p:spTgt spid="39526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5267">
                                            <p:txEl>
                                              <p:pRg st="2" end="2"/>
                                            </p:txEl>
                                          </p:spTgt>
                                        </p:tgtEl>
                                        <p:attrNameLst>
                                          <p:attrName>style.visibility</p:attrName>
                                        </p:attrNameLst>
                                      </p:cBhvr>
                                      <p:to>
                                        <p:strVal val="visible"/>
                                      </p:to>
                                    </p:set>
                                    <p:animEffect transition="in" filter="fade">
                                      <p:cBhvr>
                                        <p:cTn id="13" dur="500"/>
                                        <p:tgtEl>
                                          <p:spTgt spid="39526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5267">
                                            <p:txEl>
                                              <p:pRg st="3" end="3"/>
                                            </p:txEl>
                                          </p:spTgt>
                                        </p:tgtEl>
                                        <p:attrNameLst>
                                          <p:attrName>style.visibility</p:attrName>
                                        </p:attrNameLst>
                                      </p:cBhvr>
                                      <p:to>
                                        <p:strVal val="visible"/>
                                      </p:to>
                                    </p:set>
                                    <p:animEffect transition="in" filter="fade">
                                      <p:cBhvr>
                                        <p:cTn id="16" dur="500"/>
                                        <p:tgtEl>
                                          <p:spTgt spid="395267">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95267">
                                            <p:txEl>
                                              <p:pRg st="4" end="4"/>
                                            </p:txEl>
                                          </p:spTgt>
                                        </p:tgtEl>
                                        <p:attrNameLst>
                                          <p:attrName>style.visibility</p:attrName>
                                        </p:attrNameLst>
                                      </p:cBhvr>
                                      <p:to>
                                        <p:strVal val="visible"/>
                                      </p:to>
                                    </p:set>
                                    <p:animEffect transition="in" filter="fade">
                                      <p:cBhvr>
                                        <p:cTn id="19" dur="500"/>
                                        <p:tgtEl>
                                          <p:spTgt spid="395267">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95267">
                                            <p:txEl>
                                              <p:pRg st="5" end="5"/>
                                            </p:txEl>
                                          </p:spTgt>
                                        </p:tgtEl>
                                        <p:attrNameLst>
                                          <p:attrName>style.visibility</p:attrName>
                                        </p:attrNameLst>
                                      </p:cBhvr>
                                      <p:to>
                                        <p:strVal val="visible"/>
                                      </p:to>
                                    </p:set>
                                    <p:animEffect transition="in" filter="fade">
                                      <p:cBhvr>
                                        <p:cTn id="22" dur="500"/>
                                        <p:tgtEl>
                                          <p:spTgt spid="39526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5267">
                                            <p:txEl>
                                              <p:pRg st="6" end="6"/>
                                            </p:txEl>
                                          </p:spTgt>
                                        </p:tgtEl>
                                        <p:attrNameLst>
                                          <p:attrName>style.visibility</p:attrName>
                                        </p:attrNameLst>
                                      </p:cBhvr>
                                      <p:to>
                                        <p:strVal val="visible"/>
                                      </p:to>
                                    </p:set>
                                    <p:animEffect transition="in" filter="fade">
                                      <p:cBhvr>
                                        <p:cTn id="27" dur="500"/>
                                        <p:tgtEl>
                                          <p:spTgt spid="395267">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5267">
                                            <p:txEl>
                                              <p:pRg st="7" end="7"/>
                                            </p:txEl>
                                          </p:spTgt>
                                        </p:tgtEl>
                                        <p:attrNameLst>
                                          <p:attrName>style.visibility</p:attrName>
                                        </p:attrNameLst>
                                      </p:cBhvr>
                                      <p:to>
                                        <p:strVal val="visible"/>
                                      </p:to>
                                    </p:set>
                                    <p:animEffect transition="in" filter="fade">
                                      <p:cBhvr>
                                        <p:cTn id="30" dur="500"/>
                                        <p:tgtEl>
                                          <p:spTgt spid="395267">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5267">
                                            <p:txEl>
                                              <p:pRg st="8" end="8"/>
                                            </p:txEl>
                                          </p:spTgt>
                                        </p:tgtEl>
                                        <p:attrNameLst>
                                          <p:attrName>style.visibility</p:attrName>
                                        </p:attrNameLst>
                                      </p:cBhvr>
                                      <p:to>
                                        <p:strVal val="visible"/>
                                      </p:to>
                                    </p:set>
                                    <p:animEffect transition="in" filter="fade">
                                      <p:cBhvr>
                                        <p:cTn id="33" dur="500"/>
                                        <p:tgtEl>
                                          <p:spTgt spid="395267">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95267">
                                            <p:txEl>
                                              <p:pRg st="9" end="9"/>
                                            </p:txEl>
                                          </p:spTgt>
                                        </p:tgtEl>
                                        <p:attrNameLst>
                                          <p:attrName>style.visibility</p:attrName>
                                        </p:attrNameLst>
                                      </p:cBhvr>
                                      <p:to>
                                        <p:strVal val="visible"/>
                                      </p:to>
                                    </p:set>
                                    <p:animEffect transition="in" filter="fade">
                                      <p:cBhvr>
                                        <p:cTn id="36" dur="500"/>
                                        <p:tgtEl>
                                          <p:spTgt spid="395267">
                                            <p:txEl>
                                              <p:pRg st="9" end="9"/>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5267">
                                            <p:txEl>
                                              <p:pRg st="10" end="10"/>
                                            </p:txEl>
                                          </p:spTgt>
                                        </p:tgtEl>
                                        <p:attrNameLst>
                                          <p:attrName>style.visibility</p:attrName>
                                        </p:attrNameLst>
                                      </p:cBhvr>
                                      <p:to>
                                        <p:strVal val="visible"/>
                                      </p:to>
                                    </p:set>
                                    <p:animEffect transition="in" filter="fade">
                                      <p:cBhvr>
                                        <p:cTn id="39" dur="500"/>
                                        <p:tgtEl>
                                          <p:spTgt spid="3952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7 Principals of Software Testing</a:t>
            </a:r>
          </a:p>
        </p:txBody>
      </p:sp>
      <p:sp>
        <p:nvSpPr>
          <p:cNvPr id="395267" name="Rectangle 3"/>
          <p:cNvSpPr>
            <a:spLocks noGrp="1" noChangeArrowheads="1"/>
          </p:cNvSpPr>
          <p:nvPr>
            <p:ph idx="1"/>
          </p:nvPr>
        </p:nvSpPr>
        <p:spPr>
          <a:xfrm>
            <a:off x="1123407" y="1461448"/>
            <a:ext cx="9953896" cy="4789230"/>
          </a:xfrm>
        </p:spPr>
        <p:txBody>
          <a:bodyPr>
            <a:noAutofit/>
          </a:bodyPr>
          <a:lstStyle/>
          <a:p>
            <a:pPr algn="just"/>
            <a:r>
              <a:rPr lang="en-US" b="1" dirty="0" smtClean="0">
                <a:solidFill>
                  <a:schemeClr val="accent1"/>
                </a:solidFill>
              </a:rPr>
              <a:t>Principal 5: </a:t>
            </a:r>
          </a:p>
          <a:p>
            <a:pPr lvl="1" algn="just"/>
            <a:r>
              <a:rPr lang="en-US" sz="2000" b="1" dirty="0" smtClean="0"/>
              <a:t>Absence of Error is a Fallacy</a:t>
            </a:r>
          </a:p>
          <a:p>
            <a:pPr lvl="1" algn="just"/>
            <a:r>
              <a:rPr lang="en-US" altLang="en-US" sz="2000" dirty="0" smtClean="0"/>
              <a:t>Finding and fixing defects does not help if the system build is unusable and does not fulfill the users needs &amp; requirements</a:t>
            </a:r>
          </a:p>
          <a:p>
            <a:pPr algn="just"/>
            <a:r>
              <a:rPr lang="en-US" b="1" dirty="0" smtClean="0">
                <a:solidFill>
                  <a:schemeClr val="accent1"/>
                </a:solidFill>
              </a:rPr>
              <a:t>Principal 6: </a:t>
            </a:r>
          </a:p>
          <a:p>
            <a:pPr lvl="1" algn="just"/>
            <a:r>
              <a:rPr lang="en-US" sz="2000" b="1" dirty="0" smtClean="0"/>
              <a:t>Early Testing</a:t>
            </a:r>
          </a:p>
          <a:p>
            <a:pPr lvl="1" algn="just"/>
            <a:r>
              <a:rPr lang="en-US" altLang="en-US" sz="2000" dirty="0" smtClean="0"/>
              <a:t>Testing should start as early as possible in the Software Development Life Cycle.</a:t>
            </a:r>
          </a:p>
          <a:p>
            <a:pPr lvl="1" algn="just"/>
            <a:r>
              <a:rPr lang="en-US" sz="2000" dirty="0" smtClean="0"/>
              <a:t>We can start testing as soon as requirements and design documents are available.</a:t>
            </a:r>
            <a:endParaRPr lang="en-US" altLang="en-US" sz="2000" dirty="0" smtClean="0"/>
          </a:p>
          <a:p>
            <a:pPr lvl="1" algn="just"/>
            <a:r>
              <a:rPr lang="en-US" altLang="en-US" sz="2000" dirty="0" smtClean="0"/>
              <a:t>So that any defects in the requirements or design phase are captured as well.</a:t>
            </a:r>
          </a:p>
          <a:p>
            <a:pPr lvl="1" algn="just"/>
            <a:r>
              <a:rPr lang="en-US" sz="2000" dirty="0" smtClean="0"/>
              <a:t>When defects are found earlier in the lifecycle, they are much easier and cheaper to fix.</a:t>
            </a:r>
          </a:p>
        </p:txBody>
      </p:sp>
      <p:sp>
        <p:nvSpPr>
          <p:cNvPr id="2" name="Date Placeholder 1"/>
          <p:cNvSpPr>
            <a:spLocks noGrp="1"/>
          </p:cNvSpPr>
          <p:nvPr>
            <p:ph type="dt" sz="half" idx="10"/>
          </p:nvPr>
        </p:nvSpPr>
        <p:spPr>
          <a:xfrm>
            <a:off x="559559" y="6233521"/>
            <a:ext cx="1829559" cy="365125"/>
          </a:xfrm>
        </p:spPr>
        <p:txBody>
          <a:bodyPr/>
          <a:lstStyle/>
          <a:p>
            <a:pPr>
              <a:defRPr/>
            </a:pPr>
            <a:fld id="{1A541C94-4ED9-4631-86B6-486D6593F697}" type="datetime8">
              <a:rPr lang="en-US" smtClean="0"/>
              <a:pPr>
                <a:defRPr/>
              </a:pPr>
              <a:t>3/8/2025 3:26 PM</a:t>
            </a:fld>
            <a:endParaRPr lang="en-US" dirty="0"/>
          </a:p>
        </p:txBody>
      </p:sp>
    </p:spTree>
    <p:extLst>
      <p:ext uri="{BB962C8B-B14F-4D97-AF65-F5344CB8AC3E}">
        <p14:creationId xmlns:p14="http://schemas.microsoft.com/office/powerpoint/2010/main" val="3417627450"/>
      </p:ext>
    </p:extLst>
  </p:cSld>
  <p:clrMapOvr>
    <a:masterClrMapping/>
  </p:clrMapOvr>
  <p:transition spd="med">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7 Principals of Software Testing</a:t>
            </a:r>
          </a:p>
        </p:txBody>
      </p:sp>
      <p:sp>
        <p:nvSpPr>
          <p:cNvPr id="395267" name="Rectangle 3"/>
          <p:cNvSpPr>
            <a:spLocks noGrp="1" noChangeArrowheads="1"/>
          </p:cNvSpPr>
          <p:nvPr>
            <p:ph idx="1"/>
          </p:nvPr>
        </p:nvSpPr>
        <p:spPr>
          <a:xfrm>
            <a:off x="1110344" y="1447800"/>
            <a:ext cx="9993086" cy="4800600"/>
          </a:xfrm>
        </p:spPr>
        <p:txBody>
          <a:bodyPr/>
          <a:lstStyle/>
          <a:p>
            <a:pPr algn="just"/>
            <a:r>
              <a:rPr lang="en-US" b="1" dirty="0" smtClean="0">
                <a:solidFill>
                  <a:schemeClr val="accent1"/>
                </a:solidFill>
              </a:rPr>
              <a:t>Principal 7: </a:t>
            </a:r>
          </a:p>
          <a:p>
            <a:pPr lvl="1" algn="just"/>
            <a:r>
              <a:rPr lang="en-US" sz="2000" b="1" dirty="0" smtClean="0"/>
              <a:t>Testing is context dependent </a:t>
            </a:r>
          </a:p>
          <a:p>
            <a:pPr lvl="1" algn="just"/>
            <a:r>
              <a:rPr lang="en-US" altLang="en-US" sz="2000" dirty="0" smtClean="0"/>
              <a:t>The way you test an e-commerce site will be different from the way you test a commercial off the shelf application.</a:t>
            </a:r>
            <a:endParaRPr lang="en-US" sz="2000" dirty="0" smtClean="0"/>
          </a:p>
        </p:txBody>
      </p:sp>
      <p:sp>
        <p:nvSpPr>
          <p:cNvPr id="2" name="Date Placeholder 1"/>
          <p:cNvSpPr>
            <a:spLocks noGrp="1"/>
          </p:cNvSpPr>
          <p:nvPr>
            <p:ph type="dt" sz="half" idx="10"/>
          </p:nvPr>
        </p:nvSpPr>
        <p:spPr/>
        <p:txBody>
          <a:bodyPr/>
          <a:lstStyle/>
          <a:p>
            <a:pPr>
              <a:defRPr/>
            </a:pPr>
            <a:fld id="{D868D258-5D94-4ED7-A660-A9CD507B201E}" type="datetime8">
              <a:rPr lang="en-US" smtClean="0"/>
              <a:pPr>
                <a:defRPr/>
              </a:pPr>
              <a:t>3/8/2025 3:26 PM</a:t>
            </a:fld>
            <a:endParaRPr lang="en-US"/>
          </a:p>
        </p:txBody>
      </p:sp>
    </p:spTree>
    <p:extLst>
      <p:ext uri="{BB962C8B-B14F-4D97-AF65-F5344CB8AC3E}">
        <p14:creationId xmlns:p14="http://schemas.microsoft.com/office/powerpoint/2010/main" val="3339316621"/>
      </p:ext>
    </p:extLst>
  </p:cSld>
  <p:clrMapOvr>
    <a:masterClrMapping/>
  </p:clrMapOvr>
  <p:transition spd="med">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7 Principals of Software Testing</a:t>
            </a:r>
          </a:p>
        </p:txBody>
      </p:sp>
      <p:graphicFrame>
        <p:nvGraphicFramePr>
          <p:cNvPr id="4" name="Table 3"/>
          <p:cNvGraphicFramePr>
            <a:graphicFrameLocks noGrp="1"/>
          </p:cNvGraphicFramePr>
          <p:nvPr>
            <p:extLst>
              <p:ext uri="{D42A27DB-BD31-4B8C-83A1-F6EECF244321}">
                <p14:modId xmlns:p14="http://schemas.microsoft.com/office/powerpoint/2010/main" val="3741222290"/>
              </p:ext>
            </p:extLst>
          </p:nvPr>
        </p:nvGraphicFramePr>
        <p:xfrm>
          <a:off x="1188714" y="1600201"/>
          <a:ext cx="9855202" cy="4419597"/>
        </p:xfrm>
        <a:graphic>
          <a:graphicData uri="http://schemas.openxmlformats.org/drawingml/2006/table">
            <a:tbl>
              <a:tblPr bandRow="1">
                <a:tableStyleId>{5C22544A-7EE6-4342-B048-85BDC9FD1C3A}</a:tableStyleId>
              </a:tblPr>
              <a:tblGrid>
                <a:gridCol w="2586991">
                  <a:extLst>
                    <a:ext uri="{9D8B030D-6E8A-4147-A177-3AD203B41FA5}">
                      <a16:colId xmlns:a16="http://schemas.microsoft.com/office/drawing/2014/main" val="20000"/>
                    </a:ext>
                  </a:extLst>
                </a:gridCol>
                <a:gridCol w="7268211">
                  <a:extLst>
                    <a:ext uri="{9D8B030D-6E8A-4147-A177-3AD203B41FA5}">
                      <a16:colId xmlns:a16="http://schemas.microsoft.com/office/drawing/2014/main" val="20001"/>
                    </a:ext>
                  </a:extLst>
                </a:gridCol>
              </a:tblGrid>
              <a:tr h="631371">
                <a:tc>
                  <a:txBody>
                    <a:bodyPr/>
                    <a:lstStyle/>
                    <a:p>
                      <a:r>
                        <a:rPr lang="en-US" sz="2000" b="1" dirty="0" smtClean="0">
                          <a:effectLst/>
                        </a:rPr>
                        <a:t> Principle </a:t>
                      </a:r>
                      <a:r>
                        <a:rPr lang="en-US" sz="2000" b="1" dirty="0">
                          <a:effectLst/>
                        </a:rPr>
                        <a:t>1 </a:t>
                      </a:r>
                    </a:p>
                  </a:txBody>
                  <a:tcPr marL="0" marR="0" marT="0" marB="0" anchor="ctr"/>
                </a:tc>
                <a:tc>
                  <a:txBody>
                    <a:bodyPr/>
                    <a:lstStyle/>
                    <a:p>
                      <a:r>
                        <a:rPr lang="en-US" sz="2000" dirty="0" smtClean="0"/>
                        <a:t> Testing </a:t>
                      </a:r>
                      <a:r>
                        <a:rPr lang="en-US" sz="2000" dirty="0"/>
                        <a:t>shows presence of defects </a:t>
                      </a:r>
                    </a:p>
                  </a:txBody>
                  <a:tcPr marL="0" marR="0" marT="0" marB="0" anchor="ctr"/>
                </a:tc>
                <a:extLst>
                  <a:ext uri="{0D108BD9-81ED-4DB2-BD59-A6C34878D82A}">
                    <a16:rowId xmlns:a16="http://schemas.microsoft.com/office/drawing/2014/main" val="10000"/>
                  </a:ext>
                </a:extLst>
              </a:tr>
              <a:tr h="631371">
                <a:tc>
                  <a:txBody>
                    <a:bodyPr/>
                    <a:lstStyle/>
                    <a:p>
                      <a:r>
                        <a:rPr lang="en-US" sz="2000" b="1" dirty="0" smtClean="0"/>
                        <a:t> Principle </a:t>
                      </a:r>
                      <a:r>
                        <a:rPr lang="en-US" sz="2000" b="1" dirty="0"/>
                        <a:t>2 </a:t>
                      </a:r>
                    </a:p>
                  </a:txBody>
                  <a:tcPr marL="0" marR="0" marT="0" marB="0" anchor="ctr"/>
                </a:tc>
                <a:tc>
                  <a:txBody>
                    <a:bodyPr/>
                    <a:lstStyle/>
                    <a:p>
                      <a:r>
                        <a:rPr lang="en-US" sz="2000" dirty="0" smtClean="0"/>
                        <a:t> Exhaustive </a:t>
                      </a:r>
                      <a:r>
                        <a:rPr lang="en-US" sz="2000" dirty="0"/>
                        <a:t>testing is impossible </a:t>
                      </a:r>
                    </a:p>
                  </a:txBody>
                  <a:tcPr marL="0" marR="0" marT="0" marB="0" anchor="ctr"/>
                </a:tc>
                <a:extLst>
                  <a:ext uri="{0D108BD9-81ED-4DB2-BD59-A6C34878D82A}">
                    <a16:rowId xmlns:a16="http://schemas.microsoft.com/office/drawing/2014/main" val="10001"/>
                  </a:ext>
                </a:extLst>
              </a:tr>
              <a:tr h="631371">
                <a:tc>
                  <a:txBody>
                    <a:bodyPr/>
                    <a:lstStyle/>
                    <a:p>
                      <a:r>
                        <a:rPr lang="en-US" sz="2000" b="1" dirty="0" smtClean="0"/>
                        <a:t> Principle </a:t>
                      </a:r>
                      <a:r>
                        <a:rPr lang="en-US" sz="2000" b="1" dirty="0"/>
                        <a:t>3 </a:t>
                      </a:r>
                    </a:p>
                  </a:txBody>
                  <a:tcPr marL="0" marR="0" marT="0" marB="0" anchor="ctr"/>
                </a:tc>
                <a:tc>
                  <a:txBody>
                    <a:bodyPr/>
                    <a:lstStyle/>
                    <a:p>
                      <a:r>
                        <a:rPr lang="en-US" sz="2000" dirty="0" smtClean="0"/>
                        <a:t> Early </a:t>
                      </a:r>
                      <a:r>
                        <a:rPr lang="en-US" sz="2000" dirty="0"/>
                        <a:t>Testing </a:t>
                      </a:r>
                    </a:p>
                  </a:txBody>
                  <a:tcPr marL="0" marR="0" marT="0" marB="0" anchor="ctr"/>
                </a:tc>
                <a:extLst>
                  <a:ext uri="{0D108BD9-81ED-4DB2-BD59-A6C34878D82A}">
                    <a16:rowId xmlns:a16="http://schemas.microsoft.com/office/drawing/2014/main" val="10002"/>
                  </a:ext>
                </a:extLst>
              </a:tr>
              <a:tr h="631371">
                <a:tc>
                  <a:txBody>
                    <a:bodyPr/>
                    <a:lstStyle/>
                    <a:p>
                      <a:r>
                        <a:rPr lang="en-US" sz="2000" b="1" dirty="0" smtClean="0"/>
                        <a:t> Principle </a:t>
                      </a:r>
                      <a:r>
                        <a:rPr lang="en-US" sz="2000" b="1" dirty="0"/>
                        <a:t>4 </a:t>
                      </a:r>
                    </a:p>
                  </a:txBody>
                  <a:tcPr marL="0" marR="0" marT="0" marB="0" anchor="ctr"/>
                </a:tc>
                <a:tc>
                  <a:txBody>
                    <a:bodyPr/>
                    <a:lstStyle/>
                    <a:p>
                      <a:r>
                        <a:rPr lang="en-US" sz="2000" dirty="0" smtClean="0"/>
                        <a:t> Defect </a:t>
                      </a:r>
                      <a:r>
                        <a:rPr lang="en-US" sz="2000" dirty="0"/>
                        <a:t>Clustering </a:t>
                      </a:r>
                    </a:p>
                  </a:txBody>
                  <a:tcPr marL="0" marR="0" marT="0" marB="0" anchor="ctr"/>
                </a:tc>
                <a:extLst>
                  <a:ext uri="{0D108BD9-81ED-4DB2-BD59-A6C34878D82A}">
                    <a16:rowId xmlns:a16="http://schemas.microsoft.com/office/drawing/2014/main" val="10003"/>
                  </a:ext>
                </a:extLst>
              </a:tr>
              <a:tr h="631371">
                <a:tc>
                  <a:txBody>
                    <a:bodyPr/>
                    <a:lstStyle/>
                    <a:p>
                      <a:r>
                        <a:rPr lang="en-US" sz="2000" b="1" dirty="0" smtClean="0"/>
                        <a:t> Principle </a:t>
                      </a:r>
                      <a:r>
                        <a:rPr lang="en-US" sz="2000" b="1" dirty="0"/>
                        <a:t>5 </a:t>
                      </a:r>
                    </a:p>
                  </a:txBody>
                  <a:tcPr marL="0" marR="0" marT="0" marB="0" anchor="ctr"/>
                </a:tc>
                <a:tc>
                  <a:txBody>
                    <a:bodyPr/>
                    <a:lstStyle/>
                    <a:p>
                      <a:r>
                        <a:rPr lang="en-US" sz="2000" dirty="0" smtClean="0"/>
                        <a:t> Pesticide </a:t>
                      </a:r>
                      <a:r>
                        <a:rPr lang="en-US" sz="2000" dirty="0"/>
                        <a:t>Paradox </a:t>
                      </a:r>
                    </a:p>
                  </a:txBody>
                  <a:tcPr marL="0" marR="0" marT="0" marB="0" anchor="ctr"/>
                </a:tc>
                <a:extLst>
                  <a:ext uri="{0D108BD9-81ED-4DB2-BD59-A6C34878D82A}">
                    <a16:rowId xmlns:a16="http://schemas.microsoft.com/office/drawing/2014/main" val="10004"/>
                  </a:ext>
                </a:extLst>
              </a:tr>
              <a:tr h="631371">
                <a:tc>
                  <a:txBody>
                    <a:bodyPr/>
                    <a:lstStyle/>
                    <a:p>
                      <a:r>
                        <a:rPr lang="en-US" sz="2000" b="1" dirty="0" smtClean="0"/>
                        <a:t> Principle </a:t>
                      </a:r>
                      <a:r>
                        <a:rPr lang="en-US" sz="2000" b="1" dirty="0"/>
                        <a:t>6 </a:t>
                      </a:r>
                    </a:p>
                  </a:txBody>
                  <a:tcPr marL="0" marR="0" marT="0" marB="0" anchor="ctr"/>
                </a:tc>
                <a:tc>
                  <a:txBody>
                    <a:bodyPr/>
                    <a:lstStyle/>
                    <a:p>
                      <a:r>
                        <a:rPr lang="en-US" sz="2000" dirty="0" smtClean="0"/>
                        <a:t> Testing </a:t>
                      </a:r>
                      <a:r>
                        <a:rPr lang="en-US" sz="2000" dirty="0"/>
                        <a:t>is context dependent </a:t>
                      </a:r>
                    </a:p>
                  </a:txBody>
                  <a:tcPr marL="0" marR="0" marT="0" marB="0" anchor="ctr"/>
                </a:tc>
                <a:extLst>
                  <a:ext uri="{0D108BD9-81ED-4DB2-BD59-A6C34878D82A}">
                    <a16:rowId xmlns:a16="http://schemas.microsoft.com/office/drawing/2014/main" val="10005"/>
                  </a:ext>
                </a:extLst>
              </a:tr>
              <a:tr h="631371">
                <a:tc>
                  <a:txBody>
                    <a:bodyPr/>
                    <a:lstStyle/>
                    <a:p>
                      <a:r>
                        <a:rPr lang="en-US" sz="2000" b="1" dirty="0" smtClean="0"/>
                        <a:t> Principle </a:t>
                      </a:r>
                      <a:r>
                        <a:rPr lang="en-US" sz="2000" b="1" dirty="0"/>
                        <a:t>7 </a:t>
                      </a:r>
                    </a:p>
                  </a:txBody>
                  <a:tcPr marL="0" marR="0" marT="0" marB="0" anchor="ctr"/>
                </a:tc>
                <a:tc>
                  <a:txBody>
                    <a:bodyPr/>
                    <a:lstStyle/>
                    <a:p>
                      <a:r>
                        <a:rPr lang="en-US" sz="2000" dirty="0" smtClean="0"/>
                        <a:t> Absence </a:t>
                      </a:r>
                      <a:r>
                        <a:rPr lang="en-US" sz="2000" dirty="0"/>
                        <a:t>of errors - fallacy </a:t>
                      </a:r>
                    </a:p>
                  </a:txBody>
                  <a:tcPr marL="0" marR="0" marT="0" marB="0" anchor="ct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fld id="{5782FED3-0131-47F9-BE20-37B39E28EADA}" type="datetime8">
              <a:rPr lang="en-US" smtClean="0"/>
              <a:pPr>
                <a:defRPr/>
              </a:pPr>
              <a:t>3/8/2025 3:26 PM</a:t>
            </a:fld>
            <a:endParaRPr lang="en-US"/>
          </a:p>
        </p:txBody>
      </p:sp>
    </p:spTree>
    <p:extLst>
      <p:ext uri="{BB962C8B-B14F-4D97-AF65-F5344CB8AC3E}">
        <p14:creationId xmlns:p14="http://schemas.microsoft.com/office/powerpoint/2010/main" val="1432223600"/>
      </p:ext>
    </p:extLst>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tf03431380">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tf03431380</Template>
  <TotalTime>1188</TotalTime>
  <Words>3917</Words>
  <Application>Microsoft Office PowerPoint</Application>
  <PresentationFormat>Widescreen</PresentationFormat>
  <Paragraphs>377</Paragraphs>
  <Slides>51</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Castellar</vt:lpstr>
      <vt:lpstr>Courier New</vt:lpstr>
      <vt:lpstr>Euphemia</vt:lpstr>
      <vt:lpstr>Plantagenet Cherokee</vt:lpstr>
      <vt:lpstr>Times New Roman</vt:lpstr>
      <vt:lpstr>Wingdings</vt:lpstr>
      <vt:lpstr>tf03431380</vt:lpstr>
      <vt:lpstr>CSE 455 Software Testing</vt:lpstr>
      <vt:lpstr>   Course instructor            Yella mehroze</vt:lpstr>
      <vt:lpstr>Outline</vt:lpstr>
      <vt:lpstr>Introduction</vt:lpstr>
      <vt:lpstr>Why Software Testing? Motivation I</vt:lpstr>
      <vt:lpstr>Why Software Testing? Motivation I</vt:lpstr>
      <vt:lpstr>Why Software Testing? Motivation II</vt:lpstr>
      <vt:lpstr>Why Software Testing? Motivation II</vt:lpstr>
      <vt:lpstr>Why Software Testing? Motivation II</vt:lpstr>
      <vt:lpstr>Why Software Testing? Motivation II</vt:lpstr>
      <vt:lpstr>Why Software Testing? Motivation III</vt:lpstr>
      <vt:lpstr>Why Software Testing? Motivation III</vt:lpstr>
      <vt:lpstr>Why Software Testing? Motivation IV</vt:lpstr>
      <vt:lpstr>Why Software Testing? Motivation V</vt:lpstr>
      <vt:lpstr>Why Software Testing? Motivation VI</vt:lpstr>
      <vt:lpstr>Question?</vt:lpstr>
      <vt:lpstr>What Makes a Good Software Tester?</vt:lpstr>
      <vt:lpstr>What Makes a Good Software Tester?</vt:lpstr>
      <vt:lpstr>What Makes a Good Software Tester?</vt:lpstr>
      <vt:lpstr>What Exactly Does a Software Tester Do? </vt:lpstr>
      <vt:lpstr>Goals for Testing</vt:lpstr>
      <vt:lpstr>Goals for Testing</vt:lpstr>
      <vt:lpstr>Goals for Testing</vt:lpstr>
      <vt:lpstr>Testing Methodologies</vt:lpstr>
      <vt:lpstr>Testing Axioms</vt:lpstr>
      <vt:lpstr>It’s Impossible to Test a Program Completely</vt:lpstr>
      <vt:lpstr>It’s Impossible to Test a Program Completely</vt:lpstr>
      <vt:lpstr>Software Testing Is a Risk-Based Exercise</vt:lpstr>
      <vt:lpstr>Software Testing Is a Risk-Based Exercise</vt:lpstr>
      <vt:lpstr>Testing Can’t Show That Bugs Don’t Exist</vt:lpstr>
      <vt:lpstr>The More Bugs You Find, the More Bugs There Are</vt:lpstr>
      <vt:lpstr>The More Bugs You Find, the More Bugs There Are</vt:lpstr>
      <vt:lpstr>The Pesticide Paradox</vt:lpstr>
      <vt:lpstr>The Pesticide Paradox</vt:lpstr>
      <vt:lpstr>Not All the Bugs You Find Will Be Fixed</vt:lpstr>
      <vt:lpstr>Not All the Bugs You Find Will Be Fixed</vt:lpstr>
      <vt:lpstr>Not All the Bugs You Find Will Be Fixed</vt:lpstr>
      <vt:lpstr>When a Bug’s a Bug Is Difficult to Say</vt:lpstr>
      <vt:lpstr>When a Bug’s a Bug Is Difficult to Say</vt:lpstr>
      <vt:lpstr>When a Bug’s a Bug Is Difficult to Say</vt:lpstr>
      <vt:lpstr>When a Bug’s a Bug Is Difficult to Say</vt:lpstr>
      <vt:lpstr>Product Specifications Are Never Final</vt:lpstr>
      <vt:lpstr>Product Specifications Are Never Final</vt:lpstr>
      <vt:lpstr>Software Testers Aren’t the Most Popular Members of a Project Team</vt:lpstr>
      <vt:lpstr>Software Testers Aren’t the Most Popular Members of a Project Team</vt:lpstr>
      <vt:lpstr>Software Testing Is a Disciplined Technical Profession</vt:lpstr>
      <vt:lpstr>7 Principals of Software Testing</vt:lpstr>
      <vt:lpstr>7 Principals of Software Testing</vt:lpstr>
      <vt:lpstr>7 Principals of Software Testing</vt:lpstr>
      <vt:lpstr>7 Principals of Software Testing</vt:lpstr>
      <vt:lpstr>7 Principals of Software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sabeen amjad</dc:creator>
  <cp:lastModifiedBy>aounhaidersandhu@gmail.com</cp:lastModifiedBy>
  <cp:revision>179</cp:revision>
  <dcterms:created xsi:type="dcterms:W3CDTF">2017-08-14T06:19:14Z</dcterms:created>
  <dcterms:modified xsi:type="dcterms:W3CDTF">2025-03-08T10:26:38Z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