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308" r:id="rId5"/>
    <p:sldId id="309" r:id="rId6"/>
    <p:sldId id="256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3" r:id="rId35"/>
    <p:sldId id="292" r:id="rId36"/>
    <p:sldId id="294" r:id="rId37"/>
    <p:sldId id="29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11/28/2021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11/28/2021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8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37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37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04587F-79A6-4172-A9D5-AFC62B48230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37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11/28/2021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22798" y="1310656"/>
            <a:ext cx="5734050" cy="2219691"/>
          </a:xfrm>
        </p:spPr>
        <p:txBody>
          <a:bodyPr anchor="ctr"/>
          <a:lstStyle/>
          <a:p>
            <a:r>
              <a:rPr lang="en-US" dirty="0"/>
              <a:t>CSE 455</a:t>
            </a:r>
            <a:br>
              <a:rPr lang="en-US" dirty="0"/>
            </a:br>
            <a:r>
              <a:rPr lang="en-US" dirty="0"/>
              <a:t>Software Testing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course is offered to the students of students of BS Software Engineering who are enrolled in 8</a:t>
            </a:r>
            <a:r>
              <a:rPr lang="en-US" baseline="30000" dirty="0"/>
              <a:t>th</a:t>
            </a:r>
            <a:r>
              <a:rPr lang="en-US" dirty="0"/>
              <a:t> semester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5" name="Subtitle 6"/>
          <p:cNvSpPr txBox="1">
            <a:spLocks/>
          </p:cNvSpPr>
          <p:nvPr/>
        </p:nvSpPr>
        <p:spPr>
          <a:xfrm>
            <a:off x="1466850" y="3655068"/>
            <a:ext cx="1045441" cy="454605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Lecture 11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085" y="0"/>
            <a:ext cx="1090915" cy="108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3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6618" y="1830275"/>
            <a:ext cx="5301673" cy="2219691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000" dirty="0">
                <a:latin typeface="Castellar" panose="020A0402060406010301" pitchFamily="18" charset="0"/>
              </a:rPr>
              <a:t>   Course instructor</a:t>
            </a:r>
            <a:br>
              <a:rPr lang="en-US" sz="3000" dirty="0">
                <a:latin typeface="Castellar" panose="020A0402060406010301" pitchFamily="18" charset="0"/>
              </a:rPr>
            </a:br>
            <a:br>
              <a:rPr lang="en-US" sz="3000" dirty="0">
                <a:latin typeface="Castellar" panose="020A0402060406010301" pitchFamily="18" charset="0"/>
              </a:rPr>
            </a:br>
            <a:r>
              <a:rPr lang="en-US" sz="3000" dirty="0">
                <a:latin typeface="Castellar" panose="020A0402060406010301" pitchFamily="18" charset="0"/>
              </a:rPr>
              <a:t>          Yella </a:t>
            </a:r>
            <a:r>
              <a:rPr lang="en-US" sz="3000" dirty="0" err="1">
                <a:latin typeface="Castellar" panose="020A0402060406010301" pitchFamily="18" charset="0"/>
              </a:rPr>
              <a:t>mehroze</a:t>
            </a:r>
            <a:endParaRPr lang="en-US" sz="3000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6765" y="4230255"/>
            <a:ext cx="4895272" cy="112683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latin typeface="Castellar" panose="020A0402060406010301" pitchFamily="18" charset="0"/>
              </a:rPr>
              <a:t>    </a:t>
            </a:r>
          </a:p>
          <a:p>
            <a:r>
              <a:rPr lang="en-US" dirty="0">
                <a:latin typeface="Castellar" panose="020A0402060406010301" pitchFamily="18" charset="0"/>
              </a:rPr>
              <a:t>yellamehroze@cuilahore.edu.pk</a:t>
            </a:r>
          </a:p>
        </p:txBody>
      </p:sp>
    </p:spTree>
    <p:extLst>
      <p:ext uri="{BB962C8B-B14F-4D97-AF65-F5344CB8AC3E}">
        <p14:creationId xmlns:p14="http://schemas.microsoft.com/office/powerpoint/2010/main" val="336191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3676106" cy="2219691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Unit, </a:t>
            </a:r>
            <a:br>
              <a:rPr lang="en-US" dirty="0"/>
            </a:br>
            <a:r>
              <a:rPr lang="en-US" dirty="0"/>
              <a:t>integration 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system test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1013" y="1300570"/>
            <a:ext cx="6825791" cy="423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A0C216A-CC18-4502-BC93-2075AC99A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Unit  Testing</a:t>
            </a:r>
            <a:r>
              <a:rPr lang="en-US" dirty="0"/>
              <a:t> is a software development process in which the smallest testable parts of an application, called units, are individually and independently examined for proper operation. </a:t>
            </a:r>
            <a:r>
              <a:rPr lang="en-US" b="1" dirty="0"/>
              <a:t>Unit testing</a:t>
            </a:r>
            <a:r>
              <a:rPr lang="en-US" dirty="0"/>
              <a:t> is often automated but it can also be done manually.</a:t>
            </a:r>
          </a:p>
          <a:p>
            <a:pPr algn="just"/>
            <a:r>
              <a:rPr lang="en-US" dirty="0"/>
              <a:t>Usually performed by the programmer who writes the program unit</a:t>
            </a:r>
          </a:p>
          <a:p>
            <a:r>
              <a:rPr lang="en-US" dirty="0"/>
              <a:t>Unit testing is conducted in two phases: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Static unit testing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Dynamic unit testing 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Static  Unit  Testing-</a:t>
            </a:r>
            <a:r>
              <a:rPr lang="en-US" dirty="0"/>
              <a:t>in which a programmer does not execute the unit; instead, the code is examined over all possible behaviors that might arise during run time.</a:t>
            </a:r>
          </a:p>
          <a:p>
            <a:pPr lvl="1" algn="just"/>
            <a:r>
              <a:rPr lang="en-US" sz="2000" dirty="0"/>
              <a:t>In static unit testing, code is reviewed by applying following  techniques</a:t>
            </a:r>
          </a:p>
          <a:p>
            <a:pPr lvl="2" algn="just"/>
            <a:r>
              <a:rPr lang="en-US" sz="2000" dirty="0"/>
              <a:t>Inspection</a:t>
            </a:r>
          </a:p>
          <a:p>
            <a:pPr lvl="2" algn="just"/>
            <a:r>
              <a:rPr lang="en-US" sz="2000" dirty="0"/>
              <a:t>Walkthrough</a:t>
            </a:r>
          </a:p>
          <a:p>
            <a:pPr algn="just"/>
            <a:r>
              <a:rPr lang="en-US" b="1" dirty="0"/>
              <a:t>Dynamic  Unit  Testing- </a:t>
            </a:r>
            <a:r>
              <a:rPr lang="en-US" dirty="0"/>
              <a:t>Selection of test data is broadly based on the following techniques:</a:t>
            </a:r>
          </a:p>
          <a:p>
            <a:pPr lvl="1" algn="just"/>
            <a:r>
              <a:rPr lang="en-US" sz="2000" dirty="0"/>
              <a:t>Control Flow Testing (Path Testing)</a:t>
            </a:r>
          </a:p>
          <a:p>
            <a:pPr lvl="1" algn="just"/>
            <a:r>
              <a:rPr lang="en-US" sz="2000" dirty="0"/>
              <a:t>Data Flow Testing</a:t>
            </a:r>
          </a:p>
          <a:p>
            <a:pPr lvl="1" algn="just"/>
            <a:r>
              <a:rPr lang="en-US" sz="2000" dirty="0"/>
              <a:t>Domain Testing</a:t>
            </a:r>
          </a:p>
          <a:p>
            <a:pPr lvl="1" algn="just"/>
            <a:r>
              <a:rPr lang="en-US" sz="2000" dirty="0"/>
              <a:t>Functional Program Testing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 algn="just"/>
            <a:r>
              <a:rPr lang="en-US" sz="2000" b="1" dirty="0"/>
              <a:t>Control Flow Testing (Path Testing) </a:t>
            </a:r>
          </a:p>
          <a:p>
            <a:pPr marL="800100" lvl="2" indent="-342900" algn="just"/>
            <a:r>
              <a:rPr lang="en-US" sz="2000" dirty="0"/>
              <a:t>These techniques are based on selecting a set of </a:t>
            </a:r>
            <a:r>
              <a:rPr lang="en-US" sz="2000" b="1" dirty="0"/>
              <a:t>test</a:t>
            </a:r>
            <a:r>
              <a:rPr lang="en-US" sz="2000" dirty="0"/>
              <a:t> paths through the program. E.g., pick enough paths to assure that every source statement is executed at least once.</a:t>
            </a:r>
          </a:p>
          <a:p>
            <a:pPr marL="342900" lvl="1" indent="-342900" algn="just"/>
            <a:r>
              <a:rPr lang="en-US" sz="2000" b="1" dirty="0"/>
              <a:t>Data flow testing</a:t>
            </a:r>
            <a:r>
              <a:rPr lang="en-US" sz="2000" dirty="0"/>
              <a:t> </a:t>
            </a:r>
          </a:p>
          <a:p>
            <a:pPr marL="800100" lvl="2" indent="-342900" algn="just"/>
            <a:r>
              <a:rPr lang="en-US" sz="2000" dirty="0"/>
              <a:t>It is a family of </a:t>
            </a:r>
            <a:r>
              <a:rPr lang="en-US" sz="2000" b="1" dirty="0"/>
              <a:t>test</a:t>
            </a:r>
            <a:r>
              <a:rPr lang="en-US" sz="2000" dirty="0"/>
              <a:t> strategies based on selecting paths through the program's control </a:t>
            </a:r>
            <a:r>
              <a:rPr lang="en-US" sz="2000" b="1" dirty="0"/>
              <a:t>flow</a:t>
            </a:r>
            <a:r>
              <a:rPr lang="en-US" sz="2000" dirty="0"/>
              <a:t> in order to explore sequences of events related to the status of variables or </a:t>
            </a:r>
            <a:r>
              <a:rPr lang="en-US" sz="2000" b="1" dirty="0"/>
              <a:t>data</a:t>
            </a:r>
            <a:r>
              <a:rPr lang="en-US" sz="2000" dirty="0"/>
              <a:t> objects. </a:t>
            </a:r>
            <a:r>
              <a:rPr lang="en-US" sz="2000" b="1" dirty="0"/>
              <a:t>Dataflow Testing</a:t>
            </a:r>
            <a:r>
              <a:rPr lang="en-US" sz="2000" dirty="0"/>
              <a:t> focuses on the points at which variables receive values and the points at which these values are used.</a:t>
            </a:r>
          </a:p>
          <a:p>
            <a:pPr algn="just"/>
            <a:r>
              <a:rPr lang="en-US" b="1" dirty="0"/>
              <a:t>Domain testing</a:t>
            </a:r>
            <a:r>
              <a:rPr lang="en-US" dirty="0"/>
              <a:t> </a:t>
            </a:r>
          </a:p>
          <a:p>
            <a:pPr lvl="1" algn="just"/>
            <a:r>
              <a:rPr lang="en-US" sz="2000" dirty="0"/>
              <a:t>It is a software </a:t>
            </a:r>
            <a:r>
              <a:rPr lang="en-US" sz="2000" b="1" dirty="0"/>
              <a:t>testing </a:t>
            </a:r>
            <a:r>
              <a:rPr lang="en-US" sz="2000" dirty="0"/>
              <a:t>technique in which </a:t>
            </a:r>
            <a:r>
              <a:rPr lang="en-US" sz="2000"/>
              <a:t>we select a </a:t>
            </a:r>
            <a:r>
              <a:rPr lang="en-US" sz="2000" dirty="0"/>
              <a:t>small number of </a:t>
            </a:r>
            <a:r>
              <a:rPr lang="en-US" sz="2000" b="1" dirty="0"/>
              <a:t>test</a:t>
            </a:r>
            <a:r>
              <a:rPr lang="en-US" sz="2000" dirty="0"/>
              <a:t> cases from a nearly infinite group of </a:t>
            </a:r>
            <a:r>
              <a:rPr lang="en-US" sz="2000" b="1" dirty="0"/>
              <a:t>test</a:t>
            </a:r>
            <a:r>
              <a:rPr lang="en-US" sz="2000" dirty="0"/>
              <a:t> cases. In </a:t>
            </a:r>
            <a:r>
              <a:rPr lang="en-US" sz="2000" b="1" dirty="0"/>
              <a:t>Domain Testing</a:t>
            </a:r>
            <a:r>
              <a:rPr lang="en-US" sz="2000" dirty="0"/>
              <a:t>, we partition a domain into sub-domains (equivalence classes) and then test using values from each sub-domain. </a:t>
            </a:r>
          </a:p>
          <a:p>
            <a:pPr marL="800100" lvl="2" indent="-342900" algn="just"/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Unit Testing - Example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422401" y="1447800"/>
            <a:ext cx="10490201" cy="5029200"/>
          </a:xfrm>
        </p:spPr>
        <p:txBody>
          <a:bodyPr>
            <a:normAutofit fontScale="70000" lnSpcReduction="20000"/>
          </a:bodyPr>
          <a:lstStyle/>
          <a:p>
            <a:pPr marL="82550" indent="0">
              <a:buNone/>
            </a:pPr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A(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  <a:p>
            <a:pPr marL="82550" indent="0">
              <a:buNone/>
            </a:pPr>
            <a:r>
              <a:rPr lang="en-US" dirty="0"/>
              <a:t>{</a:t>
            </a:r>
          </a:p>
          <a:p>
            <a:pPr marL="82550" indent="0">
              <a:buNone/>
            </a:pPr>
            <a:r>
              <a:rPr lang="en-US" dirty="0"/>
              <a:t>if (a%2==0) </a:t>
            </a:r>
          </a:p>
          <a:p>
            <a:pPr marL="82550" indent="0">
              <a:buNone/>
            </a:pPr>
            <a:r>
              <a:rPr lang="en-US" dirty="0"/>
              <a:t>	return a;</a:t>
            </a:r>
          </a:p>
          <a:p>
            <a:pPr marL="82550" indent="0">
              <a:buNone/>
            </a:pPr>
            <a:r>
              <a:rPr lang="en-US" dirty="0"/>
              <a:t>else </a:t>
            </a:r>
          </a:p>
          <a:p>
            <a:pPr marL="82550" indent="0">
              <a:buNone/>
            </a:pPr>
            <a:r>
              <a:rPr lang="en-US" dirty="0"/>
              <a:t>	return b;</a:t>
            </a:r>
          </a:p>
          <a:p>
            <a:pPr marL="82550" indent="0">
              <a:buNone/>
            </a:pPr>
            <a:r>
              <a:rPr lang="en-US" dirty="0"/>
              <a:t>}</a:t>
            </a:r>
          </a:p>
          <a:p>
            <a:pPr marL="82550" indent="0">
              <a:buNone/>
            </a:pPr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B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</a:t>
            </a:r>
            <a:r>
              <a:rPr lang="en-US" dirty="0" err="1"/>
              <a:t>b,int</a:t>
            </a:r>
            <a:r>
              <a:rPr lang="en-US" dirty="0"/>
              <a:t> c)</a:t>
            </a:r>
          </a:p>
          <a:p>
            <a:pPr marL="82550" indent="0">
              <a:buNone/>
            </a:pPr>
            <a:r>
              <a:rPr lang="en-US" dirty="0"/>
              <a:t>{</a:t>
            </a:r>
          </a:p>
          <a:p>
            <a:pPr marL="8255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val</a:t>
            </a:r>
            <a:r>
              <a:rPr lang="en-US" dirty="0"/>
              <a:t>=A(</a:t>
            </a:r>
            <a:r>
              <a:rPr lang="en-US" dirty="0" err="1"/>
              <a:t>a,b</a:t>
            </a:r>
            <a:r>
              <a:rPr lang="en-US" dirty="0"/>
              <a:t>);	</a:t>
            </a:r>
          </a:p>
          <a:p>
            <a:pPr marL="82550" indent="0">
              <a:buNone/>
            </a:pPr>
            <a:r>
              <a:rPr lang="en-US" dirty="0"/>
              <a:t>	</a:t>
            </a:r>
            <a:r>
              <a:rPr lang="en-US" dirty="0" err="1"/>
              <a:t>val</a:t>
            </a:r>
            <a:r>
              <a:rPr lang="en-US" dirty="0"/>
              <a:t>=A(</a:t>
            </a:r>
            <a:r>
              <a:rPr lang="en-US" dirty="0" err="1"/>
              <a:t>val,c</a:t>
            </a:r>
            <a:r>
              <a:rPr lang="en-US" dirty="0"/>
              <a:t>);</a:t>
            </a:r>
          </a:p>
          <a:p>
            <a:pPr marL="82550" indent="0">
              <a:buNone/>
            </a:pPr>
            <a:r>
              <a:rPr lang="en-US" dirty="0"/>
              <a:t>}</a:t>
            </a:r>
            <a:endParaRPr lang="en-US" altLang="en-US" dirty="0"/>
          </a:p>
          <a:p>
            <a:pPr marL="82550" indent="0">
              <a:buNone/>
            </a:pPr>
            <a:r>
              <a:rPr lang="en-US" dirty="0"/>
              <a:t>Perform UT for function A &amp; B so that the coverage is100%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741396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Unit Testing - Example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215619"/>
              </p:ext>
            </p:extLst>
          </p:nvPr>
        </p:nvGraphicFramePr>
        <p:xfrm>
          <a:off x="1158241" y="1905000"/>
          <a:ext cx="9932127" cy="2161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8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2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9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3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Test Case ID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Input Data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Expected Results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Actual Results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Pass / Fail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Remarks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2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UT-01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 test A function when a is even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2 , 3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2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UT-02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 test A function when a is odd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1 , 2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32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UT-03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 test B function providing any 3 values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2 , 3 , 4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Pass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88721" y="4724400"/>
            <a:ext cx="9888582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82575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550" indent="0" algn="just">
              <a:buFont typeface="Wingdings 2" pitchFamily="18" charset="2"/>
              <a:buNone/>
            </a:pPr>
            <a:r>
              <a:rPr lang="en-US" altLang="en-US" sz="2000" dirty="0"/>
              <a:t>If only UT for function B is done then the coverage of function A is 50%. </a:t>
            </a:r>
            <a:r>
              <a:rPr lang="en-US" altLang="en-US" sz="2000" b="1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2558842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406" y="1489166"/>
            <a:ext cx="9953897" cy="5064034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Integration Testing- </a:t>
            </a:r>
            <a:r>
              <a:rPr lang="en-US" dirty="0"/>
              <a:t>testing the interaction between the modules and interaction with other systems is called integration testing</a:t>
            </a:r>
          </a:p>
          <a:p>
            <a:pPr algn="just"/>
            <a:r>
              <a:rPr lang="en-US" dirty="0"/>
              <a:t>It starts when two of the product components are available</a:t>
            </a:r>
          </a:p>
          <a:p>
            <a:pPr algn="just"/>
            <a:r>
              <a:rPr lang="en-US" dirty="0"/>
              <a:t>It ends when all component interfaces have been tested</a:t>
            </a:r>
          </a:p>
          <a:p>
            <a:pPr algn="just"/>
            <a:r>
              <a:rPr lang="en-US" dirty="0"/>
              <a:t>The final round of integration involving all components is called </a:t>
            </a:r>
            <a:r>
              <a:rPr lang="en-US" b="1" dirty="0"/>
              <a:t>Final Integration Testing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1463040"/>
            <a:ext cx="9980024" cy="50901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Integration testing means testing of interfaces</a:t>
            </a:r>
          </a:p>
          <a:p>
            <a:pPr algn="just"/>
            <a:r>
              <a:rPr lang="en-US" dirty="0"/>
              <a:t>Interfaces are of following two types</a:t>
            </a:r>
          </a:p>
          <a:p>
            <a:pPr lvl="1" algn="just"/>
            <a:r>
              <a:rPr lang="en-US" sz="2000" b="1" dirty="0"/>
              <a:t>Internal Interface- </a:t>
            </a:r>
            <a:r>
              <a:rPr lang="en-US" sz="2000" dirty="0"/>
              <a:t>are those that provide communication across two modules with in a product and not exposed to customers</a:t>
            </a:r>
          </a:p>
          <a:p>
            <a:pPr lvl="2" algn="just"/>
            <a:r>
              <a:rPr lang="en-US" sz="2000" dirty="0"/>
              <a:t>One method is by providing Application Programming Interfaces (APIs)</a:t>
            </a:r>
          </a:p>
          <a:p>
            <a:pPr lvl="2" algn="just"/>
            <a:r>
              <a:rPr lang="en-US" sz="2000" dirty="0"/>
              <a:t>Other means of integration may include function calls, public functions, global variables</a:t>
            </a:r>
          </a:p>
          <a:p>
            <a:pPr lvl="2" algn="just"/>
            <a:r>
              <a:rPr lang="en-US" sz="2000" dirty="0"/>
              <a:t>Some other means may be operating system constructs like </a:t>
            </a:r>
            <a:r>
              <a:rPr lang="en-US" sz="2000"/>
              <a:t>semaphores (abstract </a:t>
            </a:r>
            <a:r>
              <a:rPr lang="en-US" sz="2000" dirty="0"/>
              <a:t>data type) and shared memory</a:t>
            </a:r>
          </a:p>
          <a:p>
            <a:pPr lvl="2" algn="just"/>
            <a:r>
              <a:rPr lang="en-US" sz="2000" dirty="0"/>
              <a:t>All interfaces may not be available at the same time for testing purposes</a:t>
            </a:r>
          </a:p>
          <a:p>
            <a:pPr lvl="2"/>
            <a:r>
              <a:rPr lang="en-US" sz="2000" dirty="0"/>
              <a:t>To test interfaces, when the full functionality of the component is not available, stubs are provided</a:t>
            </a:r>
          </a:p>
          <a:p>
            <a:pPr lvl="2"/>
            <a:r>
              <a:rPr lang="en-US" sz="2000" b="1" dirty="0"/>
              <a:t>Stub </a:t>
            </a:r>
            <a:r>
              <a:rPr lang="en-US" sz="2000" dirty="0"/>
              <a:t>simulates the interface by providing the appropriate values in the appropriate format as would be provided by the actual component being integrated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0"/>
            <a:ext cx="9993086" cy="5029200"/>
          </a:xfrm>
        </p:spPr>
        <p:txBody>
          <a:bodyPr>
            <a:normAutofit/>
          </a:bodyPr>
          <a:lstStyle/>
          <a:p>
            <a:pPr lvl="1" algn="just"/>
            <a:r>
              <a:rPr lang="en-US" sz="2000" b="1" dirty="0"/>
              <a:t>External (Exported) Interfaces- </a:t>
            </a:r>
            <a:r>
              <a:rPr lang="en-US" sz="2000" dirty="0"/>
              <a:t>are for third party developers or other users outside the group</a:t>
            </a:r>
          </a:p>
          <a:p>
            <a:pPr lvl="2" algn="just"/>
            <a:r>
              <a:rPr lang="en-US" sz="2000" dirty="0"/>
              <a:t>Initially external interfaces were provided through API’s and Software Development Kit (SDK) </a:t>
            </a:r>
          </a:p>
          <a:p>
            <a:pPr lvl="2" algn="just"/>
            <a:r>
              <a:rPr lang="en-US" sz="2000" dirty="0"/>
              <a:t>Now testing of the various scenarios of usage of interface has increased significantly because of the widespread implementation of the interfaces</a:t>
            </a:r>
          </a:p>
          <a:p>
            <a:pPr lvl="2" algn="just"/>
            <a:r>
              <a:rPr lang="en-US" sz="2000" dirty="0"/>
              <a:t>Now the interfaces are available through scripting languages without the need for SDK</a:t>
            </a:r>
          </a:p>
          <a:p>
            <a:pPr algn="just"/>
            <a:r>
              <a:rPr lang="en-US" dirty="0"/>
              <a:t>All interactions between modules are not known and explained through interfaces</a:t>
            </a:r>
          </a:p>
          <a:p>
            <a:pPr algn="just"/>
            <a:r>
              <a:rPr lang="en-US" dirty="0"/>
              <a:t>Some of the interfaces are documented and some are not. According to this concept there are two classifications of interfaces</a:t>
            </a:r>
          </a:p>
          <a:p>
            <a:pPr lvl="1" algn="just"/>
            <a:r>
              <a:rPr lang="en-US" sz="2000" b="1" dirty="0"/>
              <a:t>Explicit Interfaces- </a:t>
            </a:r>
            <a:r>
              <a:rPr lang="en-US" sz="2000" dirty="0"/>
              <a:t>documented interfaces</a:t>
            </a:r>
          </a:p>
          <a:p>
            <a:pPr lvl="1" algn="just"/>
            <a:r>
              <a:rPr lang="en-US" sz="2000" b="1" dirty="0"/>
              <a:t>Implicit Interface- </a:t>
            </a:r>
            <a:r>
              <a:rPr lang="en-US" sz="2000" dirty="0"/>
              <a:t>known internally to software engineers but are not documented</a:t>
            </a:r>
          </a:p>
          <a:p>
            <a:endParaRPr lang="en-US" sz="26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of Modules and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48006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Solid lines represent explicit interfaces</a:t>
            </a:r>
          </a:p>
          <a:p>
            <a:r>
              <a:rPr lang="en-US" dirty="0"/>
              <a:t>Dotted lines represent implicit interfaces</a:t>
            </a:r>
          </a:p>
          <a:p>
            <a:r>
              <a:rPr lang="en-US" dirty="0"/>
              <a:t>There are 12 interface in the diagram (9 explicit and 3 implicit)</a:t>
            </a:r>
          </a:p>
        </p:txBody>
      </p:sp>
      <p:pic>
        <p:nvPicPr>
          <p:cNvPr id="1026" name="Picture 2" descr="C:\Users\uos\Documents\My Received Files\IMG_20160329_08543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1849" y="1650275"/>
            <a:ext cx="9801124" cy="3163113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To decide, in what order the interfaces need to be tested, there are following methodologies</a:t>
            </a:r>
          </a:p>
          <a:p>
            <a:pPr lvl="1" algn="just"/>
            <a:r>
              <a:rPr lang="en-US" altLang="en-US" sz="2000" dirty="0"/>
              <a:t>Big bang approach</a:t>
            </a:r>
            <a:endParaRPr lang="en-US" sz="2000" dirty="0"/>
          </a:p>
          <a:p>
            <a:pPr lvl="1" algn="just"/>
            <a:r>
              <a:rPr lang="en-US" sz="2000" dirty="0"/>
              <a:t>Top-down Integration</a:t>
            </a:r>
          </a:p>
          <a:p>
            <a:pPr lvl="1" algn="just"/>
            <a:r>
              <a:rPr lang="en-US" sz="2000" dirty="0"/>
              <a:t>Bottom-up Integration</a:t>
            </a:r>
          </a:p>
          <a:p>
            <a:pPr lvl="1" algn="just"/>
            <a:r>
              <a:rPr lang="en-US" sz="2000" dirty="0"/>
              <a:t>Bi-directional Integration</a:t>
            </a:r>
          </a:p>
          <a:p>
            <a:pPr lvl="1" algn="just"/>
            <a:r>
              <a:rPr lang="en-US" sz="2000" dirty="0"/>
              <a:t>System Integration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Big bang Integration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1123407" y="1460863"/>
            <a:ext cx="9966960" cy="5029200"/>
          </a:xfrm>
        </p:spPr>
        <p:txBody>
          <a:bodyPr>
            <a:normAutofit/>
          </a:bodyPr>
          <a:lstStyle/>
          <a:p>
            <a:r>
              <a:rPr lang="en-US" altLang="en-US" dirty="0"/>
              <a:t>Non incremental</a:t>
            </a:r>
          </a:p>
        </p:txBody>
      </p:sp>
      <p:sp>
        <p:nvSpPr>
          <p:cNvPr id="2" name="Oval 1"/>
          <p:cNvSpPr/>
          <p:nvPr/>
        </p:nvSpPr>
        <p:spPr>
          <a:xfrm>
            <a:off x="3304899" y="2344057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1</a:t>
            </a:r>
          </a:p>
        </p:txBody>
      </p:sp>
      <p:sp>
        <p:nvSpPr>
          <p:cNvPr id="6" name="Oval 5"/>
          <p:cNvSpPr/>
          <p:nvPr/>
        </p:nvSpPr>
        <p:spPr>
          <a:xfrm>
            <a:off x="6962499" y="2286000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2</a:t>
            </a:r>
          </a:p>
        </p:txBody>
      </p:sp>
      <p:sp>
        <p:nvSpPr>
          <p:cNvPr id="7" name="Oval 6"/>
          <p:cNvSpPr/>
          <p:nvPr/>
        </p:nvSpPr>
        <p:spPr>
          <a:xfrm>
            <a:off x="8515527" y="3733800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3</a:t>
            </a:r>
          </a:p>
        </p:txBody>
      </p:sp>
      <p:sp>
        <p:nvSpPr>
          <p:cNvPr id="8" name="Oval 7"/>
          <p:cNvSpPr/>
          <p:nvPr/>
        </p:nvSpPr>
        <p:spPr>
          <a:xfrm>
            <a:off x="7060914" y="5029200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4</a:t>
            </a:r>
          </a:p>
        </p:txBody>
      </p:sp>
      <p:sp>
        <p:nvSpPr>
          <p:cNvPr id="9" name="Oval 8"/>
          <p:cNvSpPr/>
          <p:nvPr/>
        </p:nvSpPr>
        <p:spPr>
          <a:xfrm>
            <a:off x="3280708" y="5029200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5</a:t>
            </a:r>
          </a:p>
        </p:txBody>
      </p:sp>
      <p:sp>
        <p:nvSpPr>
          <p:cNvPr id="10" name="Oval 9"/>
          <p:cNvSpPr/>
          <p:nvPr/>
        </p:nvSpPr>
        <p:spPr>
          <a:xfrm>
            <a:off x="1577699" y="3733800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Module 6</a:t>
            </a:r>
          </a:p>
        </p:txBody>
      </p:sp>
      <p:sp>
        <p:nvSpPr>
          <p:cNvPr id="11" name="Oval 10"/>
          <p:cNvSpPr/>
          <p:nvPr/>
        </p:nvSpPr>
        <p:spPr>
          <a:xfrm>
            <a:off x="5153051" y="3726543"/>
            <a:ext cx="22352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System</a:t>
            </a:r>
          </a:p>
        </p:txBody>
      </p:sp>
      <p:cxnSp>
        <p:nvCxnSpPr>
          <p:cNvPr id="4" name="Straight Arrow Connector 3"/>
          <p:cNvCxnSpPr>
            <a:stCxn id="2" idx="4"/>
            <a:endCxn id="11" idx="1"/>
          </p:cNvCxnSpPr>
          <p:nvPr/>
        </p:nvCxnSpPr>
        <p:spPr>
          <a:xfrm>
            <a:off x="4422500" y="3182257"/>
            <a:ext cx="1057889" cy="6670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4"/>
            <a:endCxn id="11" idx="7"/>
          </p:cNvCxnSpPr>
          <p:nvPr/>
        </p:nvCxnSpPr>
        <p:spPr>
          <a:xfrm flipH="1">
            <a:off x="7060915" y="3124201"/>
            <a:ext cx="1019185" cy="7250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  <a:endCxn id="11" idx="6"/>
          </p:cNvCxnSpPr>
          <p:nvPr/>
        </p:nvCxnSpPr>
        <p:spPr>
          <a:xfrm flipH="1" flipV="1">
            <a:off x="7388252" y="4145644"/>
            <a:ext cx="1127276" cy="7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  <a:endCxn id="11" idx="5"/>
          </p:cNvCxnSpPr>
          <p:nvPr/>
        </p:nvCxnSpPr>
        <p:spPr>
          <a:xfrm flipH="1" flipV="1">
            <a:off x="7060914" y="4441992"/>
            <a:ext cx="1117600" cy="5872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0"/>
            <a:endCxn id="11" idx="3"/>
          </p:cNvCxnSpPr>
          <p:nvPr/>
        </p:nvCxnSpPr>
        <p:spPr>
          <a:xfrm flipV="1">
            <a:off x="4398308" y="4441992"/>
            <a:ext cx="1082080" cy="5872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6"/>
            <a:endCxn id="11" idx="2"/>
          </p:cNvCxnSpPr>
          <p:nvPr/>
        </p:nvCxnSpPr>
        <p:spPr>
          <a:xfrm flipV="1">
            <a:off x="3812899" y="4145644"/>
            <a:ext cx="1340152" cy="7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04825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integration testing involves testing topmost component interface with other components in the same order as you navigate from top to bottom, till you cover all the components</a:t>
            </a:r>
          </a:p>
          <a:p>
            <a:pPr algn="just"/>
            <a:r>
              <a:rPr lang="en-US" dirty="0"/>
              <a:t>If a set of components and their related interfaces can deliver functionality without expecting the presence of other components and their interfaces then it is called </a:t>
            </a:r>
            <a:r>
              <a:rPr lang="en-US" b="1" dirty="0"/>
              <a:t>sub-system</a:t>
            </a:r>
          </a:p>
          <a:p>
            <a:pPr algn="just"/>
            <a:r>
              <a:rPr lang="en-US" dirty="0"/>
              <a:t>In top-down testing, the first module tested is the main module, the highest level module in the software structure; the last modules to be tested are the lowest level modules.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Top-down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1" y="1371600"/>
            <a:ext cx="9229969" cy="50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of testing interfaces for the example Horizontally Covered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2" y="1600200"/>
            <a:ext cx="9993087" cy="4800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Stage 1: Unit tests of module 11.</a:t>
            </a:r>
          </a:p>
          <a:p>
            <a:pPr algn="just"/>
            <a:r>
              <a:rPr lang="en-US" dirty="0"/>
              <a:t>Stage 2: Integration test A of module 11 integrated with modules 9 and 10, developed in the current stage.</a:t>
            </a:r>
          </a:p>
          <a:p>
            <a:pPr algn="just"/>
            <a:r>
              <a:rPr lang="en-US" dirty="0"/>
              <a:t>Stage 3: Integration test B of A integrated with module 8, developed in</a:t>
            </a:r>
          </a:p>
          <a:p>
            <a:pPr algn="just">
              <a:buNone/>
            </a:pPr>
            <a:r>
              <a:rPr lang="en-US" dirty="0"/>
              <a:t>	the current stage.</a:t>
            </a:r>
          </a:p>
          <a:p>
            <a:pPr algn="just"/>
            <a:r>
              <a:rPr lang="en-US" dirty="0"/>
              <a:t>Stage 4: Integration test C of B integrated with modules 6 and 7, developed in the current stage.</a:t>
            </a:r>
          </a:p>
          <a:p>
            <a:pPr algn="just"/>
            <a:r>
              <a:rPr lang="en-US" dirty="0"/>
              <a:t>Stage 5: Integration test D of C integrated with modules 1 and 2, developed in the current stage.</a:t>
            </a:r>
          </a:p>
          <a:p>
            <a:pPr algn="just"/>
            <a:r>
              <a:rPr lang="en-US" dirty="0"/>
              <a:t>Stage 6: System test of D integrated with modules 3, 4 and 5, developed in the current stage.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of testing interfaces for the example Vertically Covered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0"/>
            <a:ext cx="9993086" cy="4953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Stage 1: Unit tests of module 11.</a:t>
            </a:r>
          </a:p>
          <a:p>
            <a:pPr algn="just"/>
            <a:r>
              <a:rPr lang="en-US" dirty="0"/>
              <a:t>Stage 2: Integration test A of the integration of module 11 with module 9, developed in the current stage.</a:t>
            </a:r>
          </a:p>
          <a:p>
            <a:pPr algn="just"/>
            <a:r>
              <a:rPr lang="en-US" dirty="0"/>
              <a:t>Stage 3: Integration test B of A with module 8, developed in the current stage.</a:t>
            </a:r>
          </a:p>
          <a:p>
            <a:pPr algn="just"/>
            <a:r>
              <a:rPr lang="en-US" dirty="0"/>
              <a:t>Stage 4: Integration test C of B with modules 1 and 2, developed in the current stage.</a:t>
            </a:r>
          </a:p>
          <a:p>
            <a:pPr algn="just"/>
            <a:r>
              <a:rPr lang="en-US" dirty="0"/>
              <a:t>Stage 5: Integration test D of C with module 10, developed in the current stage.</a:t>
            </a:r>
          </a:p>
          <a:p>
            <a:pPr algn="just"/>
            <a:r>
              <a:rPr lang="en-US" dirty="0"/>
              <a:t>Stage 6: Integration test E of integration D with modules 6 and 7, developed in the current stage.</a:t>
            </a:r>
          </a:p>
          <a:p>
            <a:pPr algn="just"/>
            <a:r>
              <a:rPr lang="en-US" dirty="0"/>
              <a:t>Stage 7: System test is performed after E has been integrated with modules 3, 4 and 5, developed in the current stage.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case of incremental product development, integration testing methodology pertains only to those interfaces that are added</a:t>
            </a:r>
          </a:p>
          <a:p>
            <a:pPr algn="just"/>
            <a:r>
              <a:rPr lang="en-US" dirty="0"/>
              <a:t>All steps need not to be repeated</a:t>
            </a:r>
          </a:p>
          <a:p>
            <a:pPr algn="just"/>
            <a:r>
              <a:rPr lang="en-US" dirty="0"/>
              <a:t>Some steps can be combined but this does not mean reduction in the number of test cases tested</a:t>
            </a:r>
          </a:p>
          <a:p>
            <a:pPr algn="just"/>
            <a:r>
              <a:rPr lang="en-US" dirty="0"/>
              <a:t>It just means an optimization in the elapsed time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for a new product development become available starting from the bottom</a:t>
            </a:r>
          </a:p>
          <a:p>
            <a:r>
              <a:rPr lang="en-US" dirty="0"/>
              <a:t>In bottom-up testing, the order of testing is reversed: the lowest level modules are tested first, with the main module tested last.</a:t>
            </a:r>
          </a:p>
          <a:p>
            <a:r>
              <a:rPr lang="en-US" dirty="0"/>
              <a:t>These lower level units are frequently referred to as </a:t>
            </a:r>
            <a:r>
              <a:rPr lang="en-US" b="1" dirty="0"/>
              <a:t>utility modules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Integration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5018" y="1630681"/>
            <a:ext cx="9903267" cy="4155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Stage 1: Unit tests of modules 1 to 7.</a:t>
            </a:r>
          </a:p>
          <a:p>
            <a:pPr algn="just"/>
            <a:r>
              <a:rPr lang="en-US" dirty="0"/>
              <a:t>Stage 2: Integration test A of modules 1 and 2, developed and tested in stage 1, and integrated with module 8, developed in the current stage.</a:t>
            </a:r>
          </a:p>
          <a:p>
            <a:pPr algn="just"/>
            <a:r>
              <a:rPr lang="en-US" dirty="0"/>
              <a:t>Stage 3: Two separate integration tests, B, on modules 3, 4, 5 and 8, integrated with module 9, and C, for modules 6 and 7, integrated with module 10.</a:t>
            </a:r>
          </a:p>
          <a:p>
            <a:pPr algn="just"/>
            <a:r>
              <a:rPr lang="en-US" dirty="0"/>
              <a:t>Stage 4: System test is performed after B and C have been integrated with module 11, developed in the current stage.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Bi-Directional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It is a combination of the top-down and bottom-up integration approaches used together to derive integration steps</a:t>
            </a:r>
          </a:p>
          <a:p>
            <a:pPr algn="just"/>
            <a:r>
              <a:rPr lang="en-US" altLang="en-US" dirty="0"/>
              <a:t>A target layer is defined in the middle of the program and testing is carried out from the top and bottom layers to converge at this target layer.</a:t>
            </a:r>
          </a:p>
          <a:p>
            <a:pPr algn="just"/>
            <a:r>
              <a:rPr lang="en-US" altLang="en-US" dirty="0"/>
              <a:t>However, it can be more complex to plan and selecting the </a:t>
            </a:r>
            <a:r>
              <a:rPr lang="en-US" altLang="en-US" b="1" dirty="0"/>
              <a:t>best</a:t>
            </a:r>
            <a:r>
              <a:rPr lang="en-US" altLang="en-US" dirty="0"/>
              <a:t> target layer can be difficult.</a:t>
            </a:r>
            <a:endParaRPr lang="en-US" dirty="0"/>
          </a:p>
          <a:p>
            <a:pPr algn="just"/>
            <a:r>
              <a:rPr lang="en-US" dirty="0"/>
              <a:t>It is performed initially with the use of stubs and drivers</a:t>
            </a:r>
          </a:p>
          <a:p>
            <a:pPr algn="just"/>
            <a:r>
              <a:rPr lang="en-US" dirty="0"/>
              <a:t>Stubs and drivers are software replacement simulators required for modules not available when performing a unit or integration test</a:t>
            </a:r>
          </a:p>
          <a:p>
            <a:pPr algn="just"/>
            <a:r>
              <a:rPr lang="en-US" b="1" dirty="0"/>
              <a:t>Stubs </a:t>
            </a:r>
            <a:r>
              <a:rPr lang="en-US" dirty="0"/>
              <a:t> provide down stream connectivity and  stimulate the behavior of a missing component</a:t>
            </a:r>
          </a:p>
          <a:p>
            <a:pPr algn="just"/>
            <a:r>
              <a:rPr lang="en-US" dirty="0"/>
              <a:t>Stubs are required for top down testing of incomplete systems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Down Tests (Stage 3 of the previous example)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110342" y="1600201"/>
            <a:ext cx="4884057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Upper module 9 which activates module 8, is available; it has been tested and corrected at stage 2 of the testing.</a:t>
            </a:r>
          </a:p>
          <a:p>
            <a:pPr algn="just"/>
            <a:r>
              <a:rPr lang="en-US" dirty="0"/>
              <a:t>Stubs are required to substitute for the subroutine level modules 1 and 2, which have not been completed.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4378" y="1595123"/>
            <a:ext cx="4922282" cy="359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Bi-Directional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Drivers </a:t>
            </a:r>
            <a:r>
              <a:rPr lang="en-US" dirty="0"/>
              <a:t>are used to provide upstream connectivity. </a:t>
            </a:r>
          </a:p>
          <a:p>
            <a:pPr algn="just"/>
            <a:r>
              <a:rPr lang="en-US" dirty="0"/>
              <a:t>A driver is a substitute module but of the upper level module that activates the module tested</a:t>
            </a:r>
          </a:p>
          <a:p>
            <a:pPr algn="just"/>
            <a:r>
              <a:rPr lang="en-US" dirty="0"/>
              <a:t>The driver is passing the test data on to the tested module and accepting the results calculated by it</a:t>
            </a:r>
          </a:p>
          <a:p>
            <a:pPr algn="just"/>
            <a:r>
              <a:rPr lang="en-US" dirty="0"/>
              <a:t>Required in bottom up testing until the upper level modules are developed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Bi-Directional Integration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At stage 2 lower level modules 1 and 2 are available; they have been tested and corrected at stage 1 of testing</a:t>
            </a:r>
          </a:p>
          <a:p>
            <a:pPr algn="just"/>
            <a:r>
              <a:rPr lang="en-US" dirty="0"/>
              <a:t>A driver is required to substitute for upper level module 9, which has not been completed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6472" y="1631403"/>
            <a:ext cx="4867064" cy="3083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Bi-Directional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After the functionality of these integrated components is tested, the drivers and stubs are discarded</a:t>
            </a:r>
          </a:p>
          <a:p>
            <a:pPr algn="just"/>
            <a:r>
              <a:rPr lang="en-US" dirty="0"/>
              <a:t>This approach is also </a:t>
            </a:r>
            <a:r>
              <a:rPr lang="en-US"/>
              <a:t>called </a:t>
            </a:r>
            <a:r>
              <a:rPr lang="en-US" b="1"/>
              <a:t>sandwich  integration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Bi-Directional Integration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 descr="H:\CIIT\software testing\Final Slides\softwar-tetesting-basic-1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1" y="1625011"/>
            <a:ext cx="9846648" cy="4531696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Steps for integration using sandwich testing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10342" y="1750423"/>
          <a:ext cx="9940836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0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Interfaces</a:t>
                      </a:r>
                      <a:r>
                        <a:rPr lang="en-US" baseline="0" dirty="0"/>
                        <a:t> Tested</a:t>
                      </a:r>
                      <a:endParaRPr lang="en-US" dirty="0"/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2-6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3-4-7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5-8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(1-6-2)- (1-7-3-4)- (1-8-5)</a:t>
                      </a:r>
                    </a:p>
                  </a:txBody>
                  <a:tcPr marL="121920" marR="121920">
                    <a:gradFill>
                      <a:gsLst>
                        <a:gs pos="0">
                          <a:srgbClr val="8488C4"/>
                        </a:gs>
                        <a:gs pos="53000">
                          <a:srgbClr val="D4DEFF"/>
                        </a:gs>
                        <a:gs pos="83000">
                          <a:srgbClr val="D4DEFF"/>
                        </a:gs>
                        <a:gs pos="100000">
                          <a:srgbClr val="96AB94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Bottom-up versus top-down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Advantage of the bottom-up strategy</a:t>
            </a:r>
            <a:r>
              <a:rPr lang="en-US" dirty="0"/>
              <a:t> is the relative ease of its performance, whereas the main </a:t>
            </a:r>
            <a:r>
              <a:rPr lang="en-US" b="1" dirty="0"/>
              <a:t>disadvantage</a:t>
            </a:r>
            <a:r>
              <a:rPr lang="en-US" dirty="0"/>
              <a:t> is the lateness at which the program as a whole can be observed (that is, at the stage following testing of the last module)</a:t>
            </a:r>
          </a:p>
          <a:p>
            <a:pPr algn="just"/>
            <a:r>
              <a:rPr lang="en-US" dirty="0"/>
              <a:t>The main </a:t>
            </a:r>
            <a:r>
              <a:rPr lang="en-US" b="1" dirty="0"/>
              <a:t>advantage of the top-down strategy </a:t>
            </a:r>
            <a:r>
              <a:rPr lang="en-US" dirty="0"/>
              <a:t>is the possibilities it offers to demonstrate the entire program functions shortly after activation of the upper-level modules has been completed</a:t>
            </a:r>
          </a:p>
          <a:p>
            <a:pPr lvl="1" algn="just"/>
            <a:r>
              <a:rPr lang="en-US" sz="2000" dirty="0"/>
              <a:t>In many cases, this characteristic allows for early identification of analysis and design errors related to algorithms, functional requirements, and the like.</a:t>
            </a:r>
          </a:p>
          <a:p>
            <a:pPr lvl="1" algn="just"/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Bottom-up versus top-down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main </a:t>
            </a:r>
            <a:r>
              <a:rPr lang="en-US" b="1" dirty="0"/>
              <a:t>disadvantage</a:t>
            </a:r>
            <a:r>
              <a:rPr lang="en-US" dirty="0"/>
              <a:t> of top down strategy is the relative difficulty of preparing the required stubs, which often require very complicated programming</a:t>
            </a:r>
          </a:p>
          <a:p>
            <a:pPr algn="just"/>
            <a:r>
              <a:rPr lang="en-US" dirty="0"/>
              <a:t>It is relatively difficult to analyze the results of the tests</a:t>
            </a:r>
          </a:p>
          <a:p>
            <a:pPr algn="just"/>
            <a:r>
              <a:rPr lang="en-US" dirty="0"/>
              <a:t>Top down integration leaves utility modules until the end, so that problems with these won't be detected early. If bottom-up integration is used then these might be found soon after integration testing begins.</a:t>
            </a:r>
          </a:p>
          <a:p>
            <a:pPr algn="just"/>
            <a:r>
              <a:rPr lang="en-US" dirty="0"/>
              <a:t>Top down integration also has disadvantage when the lower layers are finally added the upper layers may need to be retested.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00200"/>
            <a:ext cx="10032273" cy="4953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All the components of the system are integrated and tested as a single unit as per SRS</a:t>
            </a:r>
          </a:p>
          <a:p>
            <a:pPr algn="just"/>
            <a:r>
              <a:rPr lang="en-US" altLang="en-US" dirty="0"/>
              <a:t>System testing enables us to test, verify and validate both the business requirements and application architecture.</a:t>
            </a:r>
            <a:endParaRPr lang="en-US" dirty="0"/>
          </a:p>
          <a:p>
            <a:pPr algn="just"/>
            <a:r>
              <a:rPr lang="en-US" dirty="0"/>
              <a:t>Integration testing can be divided into</a:t>
            </a:r>
          </a:p>
          <a:p>
            <a:pPr lvl="1" algn="just"/>
            <a:r>
              <a:rPr lang="en-US" sz="2000" dirty="0"/>
              <a:t>Components or sub-system integration</a:t>
            </a:r>
          </a:p>
          <a:p>
            <a:pPr lvl="1" algn="just"/>
            <a:r>
              <a:rPr lang="en-US" sz="2000" dirty="0"/>
              <a:t>Final integration testing or system integration</a:t>
            </a:r>
          </a:p>
          <a:p>
            <a:pPr algn="just"/>
            <a:r>
              <a:rPr lang="en-US" dirty="0"/>
              <a:t>Complete system integration is covered as the last step</a:t>
            </a:r>
          </a:p>
          <a:p>
            <a:pPr algn="just"/>
            <a:r>
              <a:rPr lang="en-US" dirty="0"/>
              <a:t>This approach waits till all components arrive and one round of integration testing is done. This approach is called big-bang integration</a:t>
            </a:r>
          </a:p>
          <a:p>
            <a:pPr algn="just"/>
            <a:r>
              <a:rPr lang="en-US" dirty="0"/>
              <a:t>It reduces testing effort and removes duplication in testing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090" y="1600201"/>
            <a:ext cx="10019213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Some disadvantages of system integration are</a:t>
            </a:r>
          </a:p>
          <a:p>
            <a:pPr lvl="1" algn="just"/>
            <a:r>
              <a:rPr lang="en-US" sz="2000" dirty="0"/>
              <a:t>When a failure or defect is encountered during system integration, it is very difficult to locate the problem</a:t>
            </a:r>
          </a:p>
          <a:p>
            <a:pPr lvl="1" algn="just"/>
            <a:r>
              <a:rPr lang="en-US" sz="2000" dirty="0"/>
              <a:t>The ownership for correcting the root cause of the defect may be a difficult issue to pinpoint</a:t>
            </a:r>
          </a:p>
          <a:p>
            <a:pPr lvl="1" algn="just"/>
            <a:r>
              <a:rPr lang="en-US" sz="2000" dirty="0"/>
              <a:t>When integration testing happens in the end, the pressure from approaching the release date is very high</a:t>
            </a:r>
          </a:p>
          <a:p>
            <a:pPr lvl="1" algn="just"/>
            <a:r>
              <a:rPr lang="en-US" sz="2000" dirty="0"/>
              <a:t>A certain component may take an excessive amount of time to be ready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Integration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Top-down approach is best suited for the waterfall and V</a:t>
            </a:r>
          </a:p>
          <a:p>
            <a:pPr algn="just"/>
            <a:r>
              <a:rPr lang="en-US" dirty="0"/>
              <a:t>Bottom-up approach is best for iterative and agile methodologies</a:t>
            </a:r>
          </a:p>
          <a:p>
            <a:pPr algn="just"/>
            <a:r>
              <a:rPr lang="en-US" dirty="0"/>
              <a:t>The selection of integration approach needs to consider availability of components, technology used, process, testing skills, and resource availability</a:t>
            </a:r>
          </a:p>
          <a:p>
            <a:pPr lvl="1" algn="just"/>
            <a:r>
              <a:rPr lang="en-US" sz="2000" dirty="0"/>
              <a:t>Strategy chosen is actually determined in most cases by the developers’ choice of development – not test strategy, that is, bottom-up or top-down.</a:t>
            </a:r>
          </a:p>
          <a:p>
            <a:pPr lvl="1" algn="just"/>
            <a:r>
              <a:rPr lang="en-US" sz="2000" dirty="0"/>
              <a:t>Testers should follow the developers’ approach because it is crucial that testing will be performed immediately after a module has been coded</a:t>
            </a:r>
          </a:p>
          <a:p>
            <a:pPr lvl="1" algn="just"/>
            <a:r>
              <a:rPr lang="en-US" sz="2000" dirty="0"/>
              <a:t>Implementation of a testing strategy that differs from the development strategy will cause substantial delays in scheduling of the tests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f03431380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tf03431380</Template>
  <TotalTime>549</TotalTime>
  <Words>2308</Words>
  <Application>Microsoft Office PowerPoint</Application>
  <PresentationFormat>Widescreen</PresentationFormat>
  <Paragraphs>236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Castellar</vt:lpstr>
      <vt:lpstr>Euphemia</vt:lpstr>
      <vt:lpstr>Plantagenet Cherokee</vt:lpstr>
      <vt:lpstr>Times New Roman</vt:lpstr>
      <vt:lpstr>Wingdings</vt:lpstr>
      <vt:lpstr>Wingdings 2</vt:lpstr>
      <vt:lpstr>tf03431380</vt:lpstr>
      <vt:lpstr>CSE 455 Software Testing</vt:lpstr>
      <vt:lpstr>   Course instructor            Yella mehroze</vt:lpstr>
      <vt:lpstr>Unit,  integration  and  system test</vt:lpstr>
      <vt:lpstr>Unit Testing</vt:lpstr>
      <vt:lpstr>Unit Testing</vt:lpstr>
      <vt:lpstr>Unit Testing</vt:lpstr>
      <vt:lpstr>Unit Testing - Example</vt:lpstr>
      <vt:lpstr>Unit Testing - Example</vt:lpstr>
      <vt:lpstr>Integration Testing</vt:lpstr>
      <vt:lpstr>Integration Testing</vt:lpstr>
      <vt:lpstr>Integration Testing</vt:lpstr>
      <vt:lpstr>Set of Modules and Interfaces</vt:lpstr>
      <vt:lpstr>Integration Testing</vt:lpstr>
      <vt:lpstr>Big bang Integration</vt:lpstr>
      <vt:lpstr>Top-down Integration</vt:lpstr>
      <vt:lpstr>Example of Top-down Integration</vt:lpstr>
      <vt:lpstr>Order of testing interfaces for the example Horizontally Covered </vt:lpstr>
      <vt:lpstr>Order of testing interfaces for the example Vertically Covered </vt:lpstr>
      <vt:lpstr>Top-down Integration</vt:lpstr>
      <vt:lpstr>Bottom-up Integration</vt:lpstr>
      <vt:lpstr>Bottom-up Integration Example</vt:lpstr>
      <vt:lpstr>Bottom-up Integration</vt:lpstr>
      <vt:lpstr>Bi-Directional Integration</vt:lpstr>
      <vt:lpstr>Top Down Tests (Stage 3 of the previous example)</vt:lpstr>
      <vt:lpstr>Bi-Directional Integration</vt:lpstr>
      <vt:lpstr>Bi-Directional Integration</vt:lpstr>
      <vt:lpstr>Bi-Directional Integration</vt:lpstr>
      <vt:lpstr>Bi-Directional Integration Example</vt:lpstr>
      <vt:lpstr>Steps for integration using sandwich testing</vt:lpstr>
      <vt:lpstr>Bottom-up versus top-down strategies</vt:lpstr>
      <vt:lpstr>Bottom-up versus top-down strategies</vt:lpstr>
      <vt:lpstr>System Integration</vt:lpstr>
      <vt:lpstr>System Integration</vt:lpstr>
      <vt:lpstr>Choosing Integration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sabeen amjad</dc:creator>
  <cp:lastModifiedBy>Yella</cp:lastModifiedBy>
  <cp:revision>78</cp:revision>
  <dcterms:created xsi:type="dcterms:W3CDTF">2017-08-27T07:51:55Z</dcterms:created>
  <dcterms:modified xsi:type="dcterms:W3CDTF">2021-11-28T13:27:51Z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