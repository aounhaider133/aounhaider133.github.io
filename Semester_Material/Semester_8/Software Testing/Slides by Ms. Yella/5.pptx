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7"/>
  </p:notesMasterIdLst>
  <p:handoutMasterIdLst>
    <p:handoutMasterId r:id="rId48"/>
  </p:handoutMasterIdLst>
  <p:sldIdLst>
    <p:sldId id="317" r:id="rId5"/>
    <p:sldId id="318" r:id="rId6"/>
    <p:sldId id="256" r:id="rId7"/>
    <p:sldId id="315" r:id="rId8"/>
    <p:sldId id="270" r:id="rId9"/>
    <p:sldId id="269"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8" r:id="rId27"/>
    <p:sldId id="290" r:id="rId28"/>
    <p:sldId id="291" r:id="rId29"/>
    <p:sldId id="316" r:id="rId30"/>
    <p:sldId id="293" r:id="rId31"/>
    <p:sldId id="295" r:id="rId32"/>
    <p:sldId id="296" r:id="rId33"/>
    <p:sldId id="297" r:id="rId34"/>
    <p:sldId id="299" r:id="rId35"/>
    <p:sldId id="300" r:id="rId36"/>
    <p:sldId id="301" r:id="rId37"/>
    <p:sldId id="302" r:id="rId38"/>
    <p:sldId id="304" r:id="rId39"/>
    <p:sldId id="305" r:id="rId40"/>
    <p:sldId id="306" r:id="rId41"/>
    <p:sldId id="308" r:id="rId42"/>
    <p:sldId id="310" r:id="rId43"/>
    <p:sldId id="311" r:id="rId44"/>
    <p:sldId id="313" r:id="rId45"/>
    <p:sldId id="31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81362" autoAdjust="0"/>
  </p:normalViewPr>
  <p:slideViewPr>
    <p:cSldViewPr snapToGrid="0" showGuides="1">
      <p:cViewPr varScale="1">
        <p:scale>
          <a:sx n="83" d="100"/>
          <a:sy n="83" d="100"/>
        </p:scale>
        <p:origin x="643" y="77"/>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9/19/2021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9/19/2021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en.wikipedia.org/wiki/Computing" TargetMode="External"/><Relationship Id="rId2" Type="http://schemas.openxmlformats.org/officeDocument/2006/relationships/slide" Target="../slides/slide34.xml"/><Relationship Id="rId1" Type="http://schemas.openxmlformats.org/officeDocument/2006/relationships/notesMaster" Target="../notesMasters/notesMaster1.xml"/><Relationship Id="rId5" Type="http://schemas.openxmlformats.org/officeDocument/2006/relationships/hyperlink" Target="https://en.wikipedia.org/wiki/Computer_file" TargetMode="External"/><Relationship Id="rId4" Type="http://schemas.openxmlformats.org/officeDocument/2006/relationships/hyperlink" Target="https://en.wikipedia.org/wiki/Computer_data_storag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val="2645691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pPr/>
              <a:t>3</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smtClean="0">
                <a:solidFill>
                  <a:schemeClr val="tx1"/>
                </a:solidFill>
                <a:effectLst/>
                <a:latin typeface="+mn-lt"/>
                <a:ea typeface="+mn-ea"/>
                <a:cs typeface="+mn-cs"/>
              </a:rPr>
              <a:t>performance tests reveal how a system behaves and responds during various situations. A system may run very well with only 1,000 concurrent users, but how would it run with 100,000? </a:t>
            </a:r>
            <a:r>
              <a:rPr lang="en-US" sz="1200" b="1" kern="1200" dirty="0" smtClean="0">
                <a:solidFill>
                  <a:schemeClr val="tx1"/>
                </a:solidFill>
                <a:effectLst/>
                <a:latin typeface="+mn-lt"/>
                <a:ea typeface="+mn-ea"/>
                <a:cs typeface="+mn-cs"/>
              </a:rPr>
              <a:t>In terms of performance, we wish to achieve high speed, scalability, and stability of the system</a:t>
            </a:r>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5</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7</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8</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9</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Traffic shaping (also known as packet shaping) is a computer network traffic management technique which delays some or all datagrams to bring them into compliance with a desired traffic profile.</a:t>
            </a:r>
            <a:r>
              <a:rPr lang="en-US" baseline="0" dirty="0" smtClean="0"/>
              <a:t> </a:t>
            </a:r>
            <a:r>
              <a:rPr lang="en-US" dirty="0" smtClean="0"/>
              <a:t>Traffic shaping is used to optimize or guarantee performance, improve latency, and/or increase usable bandwidth for some kinds of packets by delaying other kinds. It is often confused with traffic policing, the distinct but related practice of packet dropping and packet marking.</a:t>
            </a:r>
          </a:p>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10</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11</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12</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04587F-79A6-4172-A9D5-AFC62B482304}" type="slidenum">
              <a:rPr lang="en-US" smtClean="0"/>
              <a:pPr/>
              <a:t>13</a:t>
            </a:fld>
            <a:endParaRPr lang="en-US"/>
          </a:p>
        </p:txBody>
      </p:sp>
    </p:spTree>
    <p:extLst>
      <p:ext uri="{BB962C8B-B14F-4D97-AF65-F5344CB8AC3E}">
        <p14:creationId xmlns:p14="http://schemas.microsoft.com/office/powerpoint/2010/main" val="1810937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above example it can be noticed that initially the throughput keeps</a:t>
            </a:r>
            <a:r>
              <a:rPr lang="en-US" baseline="0" dirty="0" smtClean="0"/>
              <a:t> increasing as the user load increases. This is the ideal situation for any product and indicates that the product is capable of delivering more when there are more users trying to use the product. In the second part of the graph, beyond certain user load conditions, it can be noticed that throughput comes down. This is the period when the users of the system notice a lack of satisfactory response and the system starts taking more time to complete business transactions. The optimum throughput is represented by the saturation point and is the one that represents the maximum throughput for the product.</a:t>
            </a:r>
            <a:endParaRPr lang="en-US" dirty="0" smtClean="0"/>
          </a:p>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14</a:t>
            </a:fld>
            <a:endParaRPr lang="en-GB"/>
          </a:p>
        </p:txBody>
      </p:sp>
    </p:spTree>
    <p:extLst>
      <p:ext uri="{BB962C8B-B14F-4D97-AF65-F5344CB8AC3E}">
        <p14:creationId xmlns:p14="http://schemas.microsoft.com/office/powerpoint/2010/main" val="1657186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i="0" kern="1200" dirty="0" smtClean="0">
                <a:solidFill>
                  <a:schemeClr val="tx1"/>
                </a:solidFill>
                <a:latin typeface="+mn-lt"/>
                <a:ea typeface="+mn-ea"/>
                <a:cs typeface="+mn-cs"/>
              </a:rPr>
              <a:t>A </a:t>
            </a:r>
            <a:r>
              <a:rPr lang="en-GB" sz="1200" b="1" i="0" kern="1200" dirty="0" smtClean="0">
                <a:solidFill>
                  <a:schemeClr val="tx1"/>
                </a:solidFill>
                <a:latin typeface="+mn-lt"/>
                <a:ea typeface="+mn-ea"/>
                <a:cs typeface="+mn-cs"/>
              </a:rPr>
              <a:t>page</a:t>
            </a:r>
            <a:r>
              <a:rPr lang="en-GB" sz="1200" b="0" i="0" kern="1200" dirty="0" smtClean="0">
                <a:solidFill>
                  <a:schemeClr val="tx1"/>
                </a:solidFill>
                <a:latin typeface="+mn-lt"/>
                <a:ea typeface="+mn-ea"/>
                <a:cs typeface="+mn-cs"/>
              </a:rPr>
              <a:t>, </a:t>
            </a:r>
            <a:r>
              <a:rPr lang="en-GB" sz="1200" b="1" i="0" kern="1200" dirty="0" smtClean="0">
                <a:solidFill>
                  <a:schemeClr val="tx1"/>
                </a:solidFill>
                <a:latin typeface="+mn-lt"/>
                <a:ea typeface="+mn-ea"/>
                <a:cs typeface="+mn-cs"/>
              </a:rPr>
              <a:t>memory page</a:t>
            </a:r>
            <a:r>
              <a:rPr lang="en-GB" sz="1200" b="0" i="0" kern="1200" dirty="0" smtClean="0">
                <a:solidFill>
                  <a:schemeClr val="tx1"/>
                </a:solidFill>
                <a:latin typeface="+mn-lt"/>
                <a:ea typeface="+mn-ea"/>
                <a:cs typeface="+mn-cs"/>
              </a:rPr>
              <a:t>, or virtual </a:t>
            </a:r>
            <a:r>
              <a:rPr lang="en-GB" sz="1200" b="1" i="0" kern="1200" dirty="0" smtClean="0">
                <a:solidFill>
                  <a:schemeClr val="tx1"/>
                </a:solidFill>
                <a:latin typeface="+mn-lt"/>
                <a:ea typeface="+mn-ea"/>
                <a:cs typeface="+mn-cs"/>
              </a:rPr>
              <a:t>page</a:t>
            </a:r>
            <a:r>
              <a:rPr lang="en-GB" sz="1200" b="0" i="0" kern="1200" dirty="0" smtClean="0">
                <a:solidFill>
                  <a:schemeClr val="tx1"/>
                </a:solidFill>
                <a:latin typeface="+mn-lt"/>
                <a:ea typeface="+mn-ea"/>
                <a:cs typeface="+mn-cs"/>
              </a:rPr>
              <a:t> is a fixed-length contiguous block of virtual </a:t>
            </a:r>
            <a:r>
              <a:rPr lang="en-GB" sz="1200" b="1" i="0" kern="1200" dirty="0" smtClean="0">
                <a:solidFill>
                  <a:schemeClr val="tx1"/>
                </a:solidFill>
                <a:latin typeface="+mn-lt"/>
                <a:ea typeface="+mn-ea"/>
                <a:cs typeface="+mn-cs"/>
              </a:rPr>
              <a:t>memory</a:t>
            </a:r>
            <a:r>
              <a:rPr lang="en-GB" sz="1200" b="0" i="0" kern="1200" dirty="0" smtClean="0">
                <a:solidFill>
                  <a:schemeClr val="tx1"/>
                </a:solidFill>
                <a:latin typeface="+mn-lt"/>
                <a:ea typeface="+mn-ea"/>
                <a:cs typeface="+mn-cs"/>
              </a:rPr>
              <a:t>, described by a single entry in the </a:t>
            </a:r>
            <a:r>
              <a:rPr lang="en-GB" sz="1200" b="1" i="0" kern="1200" dirty="0" smtClean="0">
                <a:solidFill>
                  <a:schemeClr val="tx1"/>
                </a:solidFill>
                <a:latin typeface="+mn-lt"/>
                <a:ea typeface="+mn-ea"/>
                <a:cs typeface="+mn-cs"/>
              </a:rPr>
              <a:t>page</a:t>
            </a:r>
            <a:r>
              <a:rPr lang="en-GB" sz="1200" b="0" i="0" kern="1200" dirty="0" smtClean="0">
                <a:solidFill>
                  <a:schemeClr val="tx1"/>
                </a:solidFill>
                <a:latin typeface="+mn-lt"/>
                <a:ea typeface="+mn-ea"/>
                <a:cs typeface="+mn-cs"/>
              </a:rPr>
              <a:t> table.  </a:t>
            </a:r>
          </a:p>
          <a:p>
            <a:r>
              <a:rPr lang="en-GB" sz="1200" b="0" i="0" kern="1200" dirty="0" smtClean="0">
                <a:solidFill>
                  <a:schemeClr val="tx1"/>
                </a:solidFill>
                <a:latin typeface="+mn-lt"/>
                <a:ea typeface="+mn-ea"/>
                <a:cs typeface="+mn-cs"/>
              </a:rPr>
              <a:t>In </a:t>
            </a:r>
            <a:r>
              <a:rPr lang="en-GB" sz="1200" b="0" i="0" u="none" strike="noStrike" kern="1200" dirty="0" smtClean="0">
                <a:solidFill>
                  <a:schemeClr val="tx1"/>
                </a:solidFill>
                <a:latin typeface="+mn-lt"/>
                <a:ea typeface="+mn-ea"/>
                <a:cs typeface="+mn-cs"/>
                <a:hlinkClick r:id="rId3" tooltip="Computing"/>
              </a:rPr>
              <a:t>computing</a:t>
            </a:r>
            <a:r>
              <a:rPr lang="en-GB" sz="1200" b="0" i="0" kern="1200" dirty="0" smtClean="0">
                <a:solidFill>
                  <a:schemeClr val="tx1"/>
                </a:solidFill>
                <a:latin typeface="+mn-lt"/>
                <a:ea typeface="+mn-ea"/>
                <a:cs typeface="+mn-cs"/>
              </a:rPr>
              <a:t>, a </a:t>
            </a:r>
            <a:r>
              <a:rPr lang="en-GB" sz="1200" b="1" i="0" kern="1200" dirty="0" smtClean="0">
                <a:solidFill>
                  <a:schemeClr val="tx1"/>
                </a:solidFill>
                <a:latin typeface="+mn-lt"/>
                <a:ea typeface="+mn-ea"/>
                <a:cs typeface="+mn-cs"/>
              </a:rPr>
              <a:t>file system</a:t>
            </a:r>
            <a:r>
              <a:rPr lang="en-GB" sz="1200" b="0" i="0" kern="1200" dirty="0" smtClean="0">
                <a:solidFill>
                  <a:schemeClr val="tx1"/>
                </a:solidFill>
                <a:latin typeface="+mn-lt"/>
                <a:ea typeface="+mn-ea"/>
                <a:cs typeface="+mn-cs"/>
              </a:rPr>
              <a:t> or </a:t>
            </a:r>
            <a:r>
              <a:rPr lang="en-GB" sz="1200" b="1" i="0" kern="1200" dirty="0" err="1" smtClean="0">
                <a:solidFill>
                  <a:schemeClr val="tx1"/>
                </a:solidFill>
                <a:latin typeface="+mn-lt"/>
                <a:ea typeface="+mn-ea"/>
                <a:cs typeface="+mn-cs"/>
              </a:rPr>
              <a:t>filesystem</a:t>
            </a:r>
            <a:r>
              <a:rPr lang="en-GB" sz="1200" b="0" i="0" kern="1200" dirty="0" smtClean="0">
                <a:solidFill>
                  <a:schemeClr val="tx1"/>
                </a:solidFill>
                <a:latin typeface="+mn-lt"/>
                <a:ea typeface="+mn-ea"/>
                <a:cs typeface="+mn-cs"/>
              </a:rPr>
              <a:t> (often abbreviated to </a:t>
            </a:r>
            <a:r>
              <a:rPr lang="en-GB" sz="1200" b="1" i="0" kern="1200" dirty="0" err="1" smtClean="0">
                <a:solidFill>
                  <a:schemeClr val="tx1"/>
                </a:solidFill>
                <a:latin typeface="+mn-lt"/>
                <a:ea typeface="+mn-ea"/>
                <a:cs typeface="+mn-cs"/>
              </a:rPr>
              <a:t>fs</a:t>
            </a:r>
            <a:r>
              <a:rPr lang="en-GB" sz="1200" b="0" i="0" kern="1200" dirty="0" smtClean="0">
                <a:solidFill>
                  <a:schemeClr val="tx1"/>
                </a:solidFill>
                <a:latin typeface="+mn-lt"/>
                <a:ea typeface="+mn-ea"/>
                <a:cs typeface="+mn-cs"/>
              </a:rPr>
              <a:t>), controls how data is </a:t>
            </a:r>
            <a:r>
              <a:rPr lang="en-GB" sz="1200" b="0" i="0" u="none" strike="noStrike" kern="1200" dirty="0" smtClean="0">
                <a:solidFill>
                  <a:schemeClr val="tx1"/>
                </a:solidFill>
                <a:latin typeface="+mn-lt"/>
                <a:ea typeface="+mn-ea"/>
                <a:cs typeface="+mn-cs"/>
                <a:hlinkClick r:id="rId4" tooltip="Computer data storage"/>
              </a:rPr>
              <a:t>stored</a:t>
            </a:r>
            <a:r>
              <a:rPr lang="en-GB" sz="1200" b="0" i="0" kern="1200" dirty="0" smtClean="0">
                <a:solidFill>
                  <a:schemeClr val="tx1"/>
                </a:solidFill>
                <a:latin typeface="+mn-lt"/>
                <a:ea typeface="+mn-ea"/>
                <a:cs typeface="+mn-cs"/>
              </a:rPr>
              <a:t> and retrieved. Without a file system, information placed in a storage medium would be one large body of data with no way to tell where one piece of information stops and the next begins. By separating the data into pieces and giving each piece a name, the information is easily isolated and identified. Taking its name from the way paper-based information systems are named, each group of data is called a "</a:t>
            </a:r>
            <a:r>
              <a:rPr lang="en-GB" sz="1200" b="0" i="0" u="none" strike="noStrike" kern="1200" dirty="0" smtClean="0">
                <a:solidFill>
                  <a:schemeClr val="tx1"/>
                </a:solidFill>
                <a:latin typeface="+mn-lt"/>
                <a:ea typeface="+mn-ea"/>
                <a:cs typeface="+mn-cs"/>
                <a:hlinkClick r:id="rId5" tooltip="Computer file"/>
              </a:rPr>
              <a:t>file</a:t>
            </a:r>
            <a:r>
              <a:rPr lang="en-GB" sz="1200" b="0" i="0" kern="1200" dirty="0" smtClean="0">
                <a:solidFill>
                  <a:schemeClr val="tx1"/>
                </a:solidFill>
                <a:latin typeface="+mn-lt"/>
                <a:ea typeface="+mn-ea"/>
                <a:cs typeface="+mn-cs"/>
              </a:rPr>
              <a:t>".</a:t>
            </a:r>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34</a:t>
            </a:fld>
            <a:endParaRPr lang="en-GB"/>
          </a:p>
        </p:txBody>
      </p:sp>
    </p:spTree>
    <p:extLst>
      <p:ext uri="{BB962C8B-B14F-4D97-AF65-F5344CB8AC3E}">
        <p14:creationId xmlns:p14="http://schemas.microsoft.com/office/powerpoint/2010/main" val="344744038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9/19/2021</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9/19/2021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smtClean="0"/>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smtClean="0"/>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pPr/>
              <a:t>9/19/2021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9/19/2021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pPr/>
              <a:t>9/19/2021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pPr/>
              <a:t>9/19/2021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pPr/>
              <a:t>9/19/2021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smtClean="0"/>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pPr/>
              <a:t>9/19/2021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smtClean="0"/>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pPr/>
              <a:t>9/19/2021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9/19/2021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pPr/>
              <a:t>9/19/2021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9/19/2021</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822798" y="1310656"/>
            <a:ext cx="5734050" cy="2219691"/>
          </a:xfrm>
        </p:spPr>
        <p:txBody>
          <a:bodyPr anchor="ctr"/>
          <a:lstStyle/>
          <a:p>
            <a:r>
              <a:rPr lang="en-US" dirty="0" smtClean="0"/>
              <a:t>CSE 455</a:t>
            </a:r>
            <a:br>
              <a:rPr lang="en-US" dirty="0" smtClean="0"/>
            </a:br>
            <a:r>
              <a:rPr lang="en-US" dirty="0" smtClean="0"/>
              <a:t>Software Testing</a:t>
            </a:r>
            <a:endParaRPr lang="en-US" dirty="0"/>
          </a:p>
        </p:txBody>
      </p:sp>
      <p:sp>
        <p:nvSpPr>
          <p:cNvPr id="7" name="Subtitle 6"/>
          <p:cNvSpPr>
            <a:spLocks noGrp="1"/>
          </p:cNvSpPr>
          <p:nvPr>
            <p:ph type="subTitle" idx="1"/>
          </p:nvPr>
        </p:nvSpPr>
        <p:spPr/>
        <p:txBody>
          <a:bodyPr/>
          <a:lstStyle/>
          <a:p>
            <a:r>
              <a:rPr lang="en-US" dirty="0" smtClean="0"/>
              <a:t>This course is offered to the students of students of BS Software Engineering who are enrolled in 8</a:t>
            </a:r>
            <a:r>
              <a:rPr lang="en-US" baseline="30000" dirty="0" smtClean="0"/>
              <a:t>th</a:t>
            </a:r>
            <a:r>
              <a:rPr lang="en-US" dirty="0" smtClean="0"/>
              <a:t> semester</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5" name="Subtitle 6"/>
          <p:cNvSpPr txBox="1">
            <a:spLocks/>
          </p:cNvSpPr>
          <p:nvPr/>
        </p:nvSpPr>
        <p:spPr>
          <a:xfrm>
            <a:off x="1466850" y="3655068"/>
            <a:ext cx="1045441" cy="454605"/>
          </a:xfrm>
          <a:prstGeom prst="rect">
            <a:avLst/>
          </a:prstGeom>
        </p:spPr>
        <p:txBody>
          <a:bodyPr vert="horz" lIns="0" tIns="45720" rIns="0" bIns="45720" rtlCol="0">
            <a:normAutofit/>
          </a:bodyPr>
          <a:lstStyle>
            <a:lvl1pPr marL="0" indent="0" algn="l" defTabSz="914400" rtl="0" eaLnBrk="1" latinLnBrk="0" hangingPunct="1">
              <a:lnSpc>
                <a:spcPct val="90000"/>
              </a:lnSpc>
              <a:spcBef>
                <a:spcPts val="0"/>
              </a:spcBef>
              <a:buFont typeface="Wingdings" panose="05000000000000000000" pitchFamily="2" charset="2"/>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9pPr>
          </a:lstStyle>
          <a:p>
            <a:r>
              <a:rPr lang="en-US" dirty="0" smtClean="0"/>
              <a:t>Lecture </a:t>
            </a:r>
            <a:r>
              <a:rPr lang="en-US" dirty="0" smtClean="0"/>
              <a:t>5</a:t>
            </a:r>
            <a:endParaRPr lang="en-US" dirty="0"/>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01085" y="0"/>
            <a:ext cx="1090915" cy="1089498"/>
          </a:xfrm>
          <a:prstGeom prst="rect">
            <a:avLst/>
          </a:prstGeom>
        </p:spPr>
      </p:pic>
    </p:spTree>
    <p:extLst>
      <p:ext uri="{BB962C8B-B14F-4D97-AF65-F5344CB8AC3E}">
        <p14:creationId xmlns:p14="http://schemas.microsoft.com/office/powerpoint/2010/main" val="307346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6618" y="1830275"/>
            <a:ext cx="5301673" cy="2219691"/>
          </a:xfrm>
        </p:spPr>
        <p:style>
          <a:lnRef idx="3">
            <a:schemeClr val="lt1"/>
          </a:lnRef>
          <a:fillRef idx="1">
            <a:schemeClr val="accent3"/>
          </a:fillRef>
          <a:effectRef idx="1">
            <a:schemeClr val="accent3"/>
          </a:effectRef>
          <a:fontRef idx="minor">
            <a:schemeClr val="lt1"/>
          </a:fontRef>
        </p:style>
        <p:txBody>
          <a:bodyPr>
            <a:normAutofit/>
          </a:bodyPr>
          <a:lstStyle/>
          <a:p>
            <a:r>
              <a:rPr lang="en-US" sz="3000" dirty="0" smtClean="0">
                <a:latin typeface="Castellar" panose="020A0402060406010301" pitchFamily="18" charset="0"/>
              </a:rPr>
              <a:t>   Course instructor</a:t>
            </a:r>
            <a:br>
              <a:rPr lang="en-US" sz="3000" dirty="0" smtClean="0">
                <a:latin typeface="Castellar" panose="020A0402060406010301" pitchFamily="18" charset="0"/>
              </a:rPr>
            </a:br>
            <a:r>
              <a:rPr lang="en-US" sz="3000" dirty="0" smtClean="0">
                <a:latin typeface="Castellar" panose="020A0402060406010301" pitchFamily="18" charset="0"/>
              </a:rPr>
              <a:t/>
            </a:r>
            <a:br>
              <a:rPr lang="en-US" sz="3000" dirty="0" smtClean="0">
                <a:latin typeface="Castellar" panose="020A0402060406010301" pitchFamily="18" charset="0"/>
              </a:rPr>
            </a:br>
            <a:r>
              <a:rPr lang="en-US" sz="3000" dirty="0" smtClean="0">
                <a:latin typeface="Castellar" panose="020A0402060406010301" pitchFamily="18" charset="0"/>
              </a:rPr>
              <a:t>          Yella </a:t>
            </a:r>
            <a:r>
              <a:rPr lang="en-US" sz="3000" dirty="0" err="1" smtClean="0">
                <a:latin typeface="Castellar" panose="020A0402060406010301" pitchFamily="18" charset="0"/>
              </a:rPr>
              <a:t>mehroze</a:t>
            </a:r>
            <a:endParaRPr lang="en-US" sz="3000" dirty="0">
              <a:latin typeface="Castellar" panose="020A0402060406010301" pitchFamily="18" charset="0"/>
            </a:endParaRPr>
          </a:p>
        </p:txBody>
      </p:sp>
      <p:sp>
        <p:nvSpPr>
          <p:cNvPr id="3" name="Subtitle 2"/>
          <p:cNvSpPr>
            <a:spLocks noGrp="1"/>
          </p:cNvSpPr>
          <p:nvPr>
            <p:ph type="subTitle" idx="1"/>
          </p:nvPr>
        </p:nvSpPr>
        <p:spPr>
          <a:xfrm>
            <a:off x="3546765" y="4230255"/>
            <a:ext cx="4895272" cy="1126835"/>
          </a:xfrm>
        </p:spPr>
        <p:style>
          <a:lnRef idx="1">
            <a:schemeClr val="accent3"/>
          </a:lnRef>
          <a:fillRef idx="2">
            <a:schemeClr val="accent3"/>
          </a:fillRef>
          <a:effectRef idx="1">
            <a:schemeClr val="accent3"/>
          </a:effectRef>
          <a:fontRef idx="minor">
            <a:schemeClr val="dk1"/>
          </a:fontRef>
        </p:style>
        <p:txBody>
          <a:bodyPr>
            <a:normAutofit/>
          </a:bodyPr>
          <a:lstStyle/>
          <a:p>
            <a:endParaRPr lang="en-US" dirty="0" smtClean="0"/>
          </a:p>
          <a:p>
            <a:r>
              <a:rPr lang="en-US" dirty="0">
                <a:latin typeface="Castellar" panose="020A0402060406010301" pitchFamily="18" charset="0"/>
              </a:rPr>
              <a:t> </a:t>
            </a:r>
            <a:r>
              <a:rPr lang="en-US" dirty="0" smtClean="0">
                <a:latin typeface="Castellar" panose="020A0402060406010301" pitchFamily="18" charset="0"/>
              </a:rPr>
              <a:t>   </a:t>
            </a:r>
          </a:p>
          <a:p>
            <a:r>
              <a:rPr lang="en-US" dirty="0" smtClean="0">
                <a:latin typeface="Castellar" panose="020A0402060406010301" pitchFamily="18" charset="0"/>
              </a:rPr>
              <a:t>yellamehroze@cuilahore.edu.pk</a:t>
            </a:r>
            <a:endParaRPr lang="en-US" dirty="0">
              <a:latin typeface="Castellar" panose="020A0402060406010301" pitchFamily="18" charset="0"/>
            </a:endParaRPr>
          </a:p>
        </p:txBody>
      </p:sp>
    </p:spTree>
    <p:extLst>
      <p:ext uri="{BB962C8B-B14F-4D97-AF65-F5344CB8AC3E}">
        <p14:creationId xmlns:p14="http://schemas.microsoft.com/office/powerpoint/2010/main" val="589865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en-US" dirty="0" smtClean="0"/>
              <a:t>Performance Testing</a:t>
            </a:r>
            <a:endParaRPr lang="en-US" dirty="0"/>
          </a:p>
        </p:txBody>
      </p:sp>
      <p:sp>
        <p:nvSpPr>
          <p:cNvPr id="7" name="Subtitle 6"/>
          <p:cNvSpPr>
            <a:spLocks noGrp="1"/>
          </p:cNvSpPr>
          <p:nvPr>
            <p:ph type="subTitle" idx="1"/>
          </p:nvPr>
        </p:nvSpPr>
        <p:spPr/>
        <p:txBody>
          <a:bodyPr/>
          <a:lstStyle/>
          <a:p>
            <a:endParaRPr lang="en-US" dirty="0"/>
          </a:p>
        </p:txBody>
      </p:sp>
      <p:sp>
        <p:nvSpPr>
          <p:cNvPr id="5" name="Picture Placeholder 4"/>
          <p:cNvSpPr>
            <a:spLocks noGrp="1"/>
          </p:cNvSpPr>
          <p:nvPr>
            <p:ph type="pic" sz="quarter" idx="13"/>
          </p:nvPr>
        </p:nvSpPr>
        <p:spPr/>
      </p:sp>
      <p:pic>
        <p:nvPicPr>
          <p:cNvPr id="1026" name="Picture 2" descr="H:\CIIT\software testing\Final Slides\ic838830.png"/>
          <p:cNvPicPr>
            <a:picLocks noChangeAspect="1" noChangeArrowheads="1"/>
          </p:cNvPicPr>
          <p:nvPr/>
        </p:nvPicPr>
        <p:blipFill>
          <a:blip r:embed="rId3"/>
          <a:srcRect/>
          <a:stretch>
            <a:fillRect/>
          </a:stretch>
        </p:blipFill>
        <p:spPr bwMode="auto">
          <a:xfrm>
            <a:off x="6454942" y="1670218"/>
            <a:ext cx="6015082" cy="3310187"/>
          </a:xfrm>
          <a:prstGeom prst="rect">
            <a:avLst/>
          </a:prstGeom>
          <a:no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Outline</a:t>
            </a:r>
            <a:endParaRPr lang="en-GB" dirty="0"/>
          </a:p>
        </p:txBody>
      </p:sp>
      <p:sp>
        <p:nvSpPr>
          <p:cNvPr id="3" name="Content Placeholder 2"/>
          <p:cNvSpPr>
            <a:spLocks noGrp="1"/>
          </p:cNvSpPr>
          <p:nvPr>
            <p:ph idx="1"/>
          </p:nvPr>
        </p:nvSpPr>
        <p:spPr/>
        <p:txBody>
          <a:bodyPr/>
          <a:lstStyle/>
          <a:p>
            <a:r>
              <a:rPr lang="en-GB" dirty="0" smtClean="0"/>
              <a:t>Introduction</a:t>
            </a:r>
          </a:p>
          <a:p>
            <a:r>
              <a:rPr lang="en-GB" dirty="0" smtClean="0"/>
              <a:t>Types of performance testing</a:t>
            </a:r>
          </a:p>
          <a:p>
            <a:r>
              <a:rPr lang="en-GB" dirty="0" smtClean="0"/>
              <a:t>Factors governing performance testing</a:t>
            </a:r>
          </a:p>
          <a:p>
            <a:r>
              <a:rPr lang="en-GB" dirty="0" smtClean="0"/>
              <a:t>Methodology for performance testing</a:t>
            </a:r>
          </a:p>
          <a:p>
            <a:r>
              <a:rPr lang="en-GB" dirty="0" smtClean="0"/>
              <a:t>Tools for Performance Testing</a:t>
            </a:r>
          </a:p>
          <a:p>
            <a:endParaRPr lang="en-GB"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smtClean="0"/>
              <a:t>Performance Testing</a:t>
            </a:r>
            <a:endParaRPr lang="en-US" altLang="en-US" dirty="0"/>
          </a:p>
        </p:txBody>
      </p:sp>
      <p:sp>
        <p:nvSpPr>
          <p:cNvPr id="395267" name="Rectangle 3"/>
          <p:cNvSpPr>
            <a:spLocks noGrp="1" noChangeArrowheads="1"/>
          </p:cNvSpPr>
          <p:nvPr>
            <p:ph idx="1"/>
          </p:nvPr>
        </p:nvSpPr>
        <p:spPr>
          <a:xfrm>
            <a:off x="1117602" y="1463842"/>
            <a:ext cx="9983536" cy="5029200"/>
          </a:xfrm>
        </p:spPr>
        <p:txBody>
          <a:bodyPr>
            <a:normAutofit/>
          </a:bodyPr>
          <a:lstStyle/>
          <a:p>
            <a:r>
              <a:rPr lang="en-US" altLang="en-US" dirty="0" smtClean="0"/>
              <a:t>Why we need to have performance testing?</a:t>
            </a:r>
          </a:p>
          <a:p>
            <a:r>
              <a:rPr lang="en-US" altLang="en-US" dirty="0" smtClean="0"/>
              <a:t>What we want to achieve?</a:t>
            </a:r>
          </a:p>
          <a:p>
            <a:pPr lvl="1"/>
            <a:r>
              <a:rPr lang="en-US" altLang="en-US" sz="2000" dirty="0" smtClean="0"/>
              <a:t>High speed</a:t>
            </a:r>
          </a:p>
          <a:p>
            <a:pPr lvl="1"/>
            <a:r>
              <a:rPr lang="en-US" altLang="en-US" sz="2000" dirty="0" smtClean="0"/>
              <a:t>Scalability</a:t>
            </a:r>
          </a:p>
          <a:p>
            <a:pPr lvl="1"/>
            <a:r>
              <a:rPr lang="en-US" altLang="en-US" sz="2000" dirty="0"/>
              <a:t>S</a:t>
            </a:r>
            <a:r>
              <a:rPr lang="en-US" altLang="en-US" sz="2000" dirty="0" smtClean="0"/>
              <a:t>tability</a:t>
            </a:r>
            <a:endParaRPr lang="en-US" altLang="en-US" sz="2000" dirty="0"/>
          </a:p>
        </p:txBody>
      </p:sp>
    </p:spTree>
    <p:extLst>
      <p:ext uri="{BB962C8B-B14F-4D97-AF65-F5344CB8AC3E}">
        <p14:creationId xmlns:p14="http://schemas.microsoft.com/office/powerpoint/2010/main" val="27939360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5267">
                                            <p:txEl>
                                              <p:pRg st="1" end="1"/>
                                            </p:txEl>
                                          </p:spTgt>
                                        </p:tgtEl>
                                        <p:attrNameLst>
                                          <p:attrName>style.visibility</p:attrName>
                                        </p:attrNameLst>
                                      </p:cBhvr>
                                      <p:to>
                                        <p:strVal val="visible"/>
                                      </p:to>
                                    </p:set>
                                    <p:animEffect transition="in" filter="fade">
                                      <p:cBhvr>
                                        <p:cTn id="7" dur="500"/>
                                        <p:tgtEl>
                                          <p:spTgt spid="39526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5267">
                                            <p:txEl>
                                              <p:pRg st="2" end="2"/>
                                            </p:txEl>
                                          </p:spTgt>
                                        </p:tgtEl>
                                        <p:attrNameLst>
                                          <p:attrName>style.visibility</p:attrName>
                                        </p:attrNameLst>
                                      </p:cBhvr>
                                      <p:to>
                                        <p:strVal val="visible"/>
                                      </p:to>
                                    </p:set>
                                    <p:animEffect transition="in" filter="fade">
                                      <p:cBhvr>
                                        <p:cTn id="10" dur="500"/>
                                        <p:tgtEl>
                                          <p:spTgt spid="39526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5267">
                                            <p:txEl>
                                              <p:pRg st="3" end="3"/>
                                            </p:txEl>
                                          </p:spTgt>
                                        </p:tgtEl>
                                        <p:attrNameLst>
                                          <p:attrName>style.visibility</p:attrName>
                                        </p:attrNameLst>
                                      </p:cBhvr>
                                      <p:to>
                                        <p:strVal val="visible"/>
                                      </p:to>
                                    </p:set>
                                    <p:animEffect transition="in" filter="fade">
                                      <p:cBhvr>
                                        <p:cTn id="13" dur="500"/>
                                        <p:tgtEl>
                                          <p:spTgt spid="39526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5267">
                                            <p:txEl>
                                              <p:pRg st="4" end="4"/>
                                            </p:txEl>
                                          </p:spTgt>
                                        </p:tgtEl>
                                        <p:attrNameLst>
                                          <p:attrName>style.visibility</p:attrName>
                                        </p:attrNameLst>
                                      </p:cBhvr>
                                      <p:to>
                                        <p:strVal val="visible"/>
                                      </p:to>
                                    </p:set>
                                    <p:animEffect transition="in" filter="fade">
                                      <p:cBhvr>
                                        <p:cTn id="16" dur="500"/>
                                        <p:tgtEl>
                                          <p:spTgt spid="3952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Testing</a:t>
            </a:r>
            <a:endParaRPr lang="en-US" dirty="0"/>
          </a:p>
        </p:txBody>
      </p:sp>
      <p:sp>
        <p:nvSpPr>
          <p:cNvPr id="3" name="Content Placeholder 2"/>
          <p:cNvSpPr>
            <a:spLocks noGrp="1"/>
          </p:cNvSpPr>
          <p:nvPr>
            <p:ph idx="1"/>
          </p:nvPr>
        </p:nvSpPr>
        <p:spPr>
          <a:xfrm>
            <a:off x="1112253" y="1600201"/>
            <a:ext cx="10004926" cy="4525963"/>
          </a:xfrm>
        </p:spPr>
        <p:txBody>
          <a:bodyPr>
            <a:normAutofit/>
          </a:bodyPr>
          <a:lstStyle/>
          <a:p>
            <a:pPr algn="just"/>
            <a:r>
              <a:rPr lang="en-US" dirty="0" smtClean="0"/>
              <a:t>In software engineering, performance testing is a practice performed to determine how a system performs in terms of responsiveness and stability under a particular workload.</a:t>
            </a:r>
          </a:p>
          <a:p>
            <a:pPr algn="just"/>
            <a:r>
              <a:rPr lang="en-US" dirty="0" smtClean="0"/>
              <a:t>It can also serve to investigate, measure, validate or verify other quality attributes of the system, such as scalability, reliability and resource usage.</a:t>
            </a:r>
            <a:endParaRPr lang="en-US"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smtClean="0"/>
              <a:t>Types of Performance Testing</a:t>
            </a:r>
            <a:endParaRPr lang="en-US" altLang="en-US" dirty="0"/>
          </a:p>
        </p:txBody>
      </p:sp>
      <p:sp>
        <p:nvSpPr>
          <p:cNvPr id="395267" name="Rectangle 3"/>
          <p:cNvSpPr>
            <a:spLocks noGrp="1" noChangeArrowheads="1"/>
          </p:cNvSpPr>
          <p:nvPr>
            <p:ph idx="1"/>
          </p:nvPr>
        </p:nvSpPr>
        <p:spPr>
          <a:xfrm>
            <a:off x="1117602" y="1479884"/>
            <a:ext cx="9935410" cy="5029200"/>
          </a:xfrm>
        </p:spPr>
        <p:txBody>
          <a:bodyPr>
            <a:normAutofit/>
          </a:bodyPr>
          <a:lstStyle/>
          <a:p>
            <a:pPr algn="just"/>
            <a:r>
              <a:rPr lang="en-US" altLang="en-US" b="1" dirty="0"/>
              <a:t>Load Test</a:t>
            </a:r>
          </a:p>
          <a:p>
            <a:pPr lvl="1" algn="just"/>
            <a:r>
              <a:rPr lang="en-US" altLang="en-US" sz="2000" dirty="0"/>
              <a:t>Meant to simulate the maximum use of the </a:t>
            </a:r>
            <a:r>
              <a:rPr lang="en-US" altLang="en-US" sz="2000" dirty="0" smtClean="0"/>
              <a:t>system</a:t>
            </a:r>
          </a:p>
          <a:p>
            <a:pPr lvl="1" algn="just"/>
            <a:r>
              <a:rPr lang="en-US" altLang="en-US" sz="2000" dirty="0" smtClean="0"/>
              <a:t>We </a:t>
            </a:r>
            <a:r>
              <a:rPr lang="en-US" altLang="en-US" sz="2000" dirty="0"/>
              <a:t>must analyze </a:t>
            </a:r>
            <a:endParaRPr lang="en-US" altLang="en-US" sz="2000" dirty="0" smtClean="0"/>
          </a:p>
          <a:p>
            <a:pPr lvl="2" algn="just"/>
            <a:r>
              <a:rPr lang="en-US" altLang="en-US" sz="2000" dirty="0"/>
              <a:t>T</a:t>
            </a:r>
            <a:r>
              <a:rPr lang="en-US" altLang="en-US" sz="2000" dirty="0" smtClean="0"/>
              <a:t>he </a:t>
            </a:r>
            <a:r>
              <a:rPr lang="en-US" altLang="en-US" sz="2000" dirty="0"/>
              <a:t>number of users that will have </a:t>
            </a:r>
            <a:r>
              <a:rPr lang="en-US" altLang="en-US" sz="2000" dirty="0" smtClean="0"/>
              <a:t>access</a:t>
            </a:r>
          </a:p>
          <a:p>
            <a:pPr lvl="2" algn="just"/>
            <a:r>
              <a:rPr lang="en-US" altLang="en-US" sz="2000" dirty="0"/>
              <a:t>T</a:t>
            </a:r>
            <a:r>
              <a:rPr lang="en-US" altLang="en-US" sz="2000" dirty="0" smtClean="0"/>
              <a:t>he </a:t>
            </a:r>
            <a:r>
              <a:rPr lang="en-US" altLang="en-US" sz="2000" dirty="0"/>
              <a:t>operations that will be </a:t>
            </a:r>
            <a:r>
              <a:rPr lang="en-US" altLang="en-US" sz="2000" dirty="0" smtClean="0"/>
              <a:t>executed</a:t>
            </a:r>
            <a:endParaRPr lang="en-US" altLang="en-US" sz="20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4572000"/>
            <a:ext cx="4521200" cy="197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0673787"/>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smtClean="0"/>
              <a:t>Types of Performance Testing</a:t>
            </a:r>
            <a:endParaRPr lang="en-US" altLang="en-US" dirty="0"/>
          </a:p>
        </p:txBody>
      </p:sp>
      <p:sp>
        <p:nvSpPr>
          <p:cNvPr id="395267" name="Rectangle 3"/>
          <p:cNvSpPr>
            <a:spLocks noGrp="1" noChangeArrowheads="1"/>
          </p:cNvSpPr>
          <p:nvPr>
            <p:ph idx="1"/>
          </p:nvPr>
        </p:nvSpPr>
        <p:spPr>
          <a:xfrm>
            <a:off x="1165728" y="1463842"/>
            <a:ext cx="9935410" cy="2971800"/>
          </a:xfrm>
        </p:spPr>
        <p:txBody>
          <a:bodyPr>
            <a:normAutofit/>
          </a:bodyPr>
          <a:lstStyle/>
          <a:p>
            <a:pPr algn="just"/>
            <a:r>
              <a:rPr lang="en-US" altLang="en-US" b="1" dirty="0"/>
              <a:t>Stress test</a:t>
            </a:r>
          </a:p>
          <a:p>
            <a:pPr lvl="1" algn="just"/>
            <a:r>
              <a:rPr lang="en-US" altLang="en-US" sz="2000" dirty="0"/>
              <a:t>The purpose is to find the stepping up breaking point </a:t>
            </a:r>
            <a:endParaRPr lang="en-US" altLang="en-US" sz="2000" dirty="0" smtClean="0"/>
          </a:p>
          <a:p>
            <a:pPr lvl="1" algn="just"/>
            <a:r>
              <a:rPr lang="en-US" altLang="en-US" sz="2000" dirty="0" smtClean="0"/>
              <a:t>It is achieved by </a:t>
            </a:r>
            <a:r>
              <a:rPr lang="en-US" altLang="en-US" sz="2000" dirty="0"/>
              <a:t>executing the most accessed transactions </a:t>
            </a:r>
            <a:r>
              <a:rPr lang="en-US" altLang="en-US" sz="2000" dirty="0" smtClean="0"/>
              <a:t>in </a:t>
            </a:r>
            <a:r>
              <a:rPr lang="en-US" altLang="en-US" sz="2000" dirty="0"/>
              <a:t>an incremental manner as to the number of users, until the system </a:t>
            </a:r>
            <a:r>
              <a:rPr lang="en-US" altLang="en-US" sz="2000" dirty="0" smtClean="0"/>
              <a:t>fails</a:t>
            </a:r>
          </a:p>
          <a:p>
            <a:pPr lvl="1" algn="just"/>
            <a:r>
              <a:rPr lang="en-US" altLang="en-US" sz="2000" dirty="0" smtClean="0"/>
              <a:t>This </a:t>
            </a:r>
            <a:r>
              <a:rPr lang="en-US" altLang="en-US" sz="2000" dirty="0"/>
              <a:t>will indicate </a:t>
            </a:r>
            <a:endParaRPr lang="en-US" altLang="en-US" sz="2000" dirty="0" smtClean="0"/>
          </a:p>
          <a:p>
            <a:pPr lvl="2" algn="just"/>
            <a:r>
              <a:rPr lang="en-US" altLang="en-US" sz="2000" dirty="0"/>
              <a:t>T</a:t>
            </a:r>
            <a:r>
              <a:rPr lang="en-US" altLang="en-US" sz="2000" dirty="0" smtClean="0"/>
              <a:t>he </a:t>
            </a:r>
            <a:r>
              <a:rPr lang="en-US" altLang="en-US" sz="2000" dirty="0"/>
              <a:t>maximum number of users that the system can support, with the infrastructure in which it is </a:t>
            </a:r>
            <a:r>
              <a:rPr lang="en-US" altLang="en-US" sz="2000" dirty="0" smtClean="0"/>
              <a:t>installed</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1649" y="4605528"/>
            <a:ext cx="4356100" cy="192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3"/>
          <p:cNvSpPr txBox="1">
            <a:spLocks noChangeArrowheads="1"/>
          </p:cNvSpPr>
          <p:nvPr/>
        </p:nvSpPr>
        <p:spPr bwMode="auto">
          <a:xfrm>
            <a:off x="1138988" y="4451684"/>
            <a:ext cx="5053265" cy="1147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lvl="2" algn="just">
              <a:buNone/>
            </a:pPr>
            <a:r>
              <a:rPr lang="en-US" altLang="en-US" sz="2000" dirty="0" smtClean="0"/>
              <a:t>How long it takes to recover regular functioning after the system has been down for a period</a:t>
            </a:r>
            <a:endParaRPr lang="en-US" altLang="en-US" sz="2000" dirty="0"/>
          </a:p>
        </p:txBody>
      </p:sp>
    </p:spTree>
    <p:extLst>
      <p:ext uri="{BB962C8B-B14F-4D97-AF65-F5344CB8AC3E}">
        <p14:creationId xmlns:p14="http://schemas.microsoft.com/office/powerpoint/2010/main" val="2996468756"/>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smtClean="0"/>
              <a:t>Types of Performance Testing</a:t>
            </a:r>
            <a:endParaRPr lang="en-US" altLang="en-US" dirty="0"/>
          </a:p>
        </p:txBody>
      </p:sp>
      <p:sp>
        <p:nvSpPr>
          <p:cNvPr id="395267" name="Rectangle 3"/>
          <p:cNvSpPr>
            <a:spLocks noGrp="1" noChangeArrowheads="1"/>
          </p:cNvSpPr>
          <p:nvPr>
            <p:ph idx="1"/>
          </p:nvPr>
        </p:nvSpPr>
        <p:spPr>
          <a:xfrm>
            <a:off x="1117602" y="1431757"/>
            <a:ext cx="9951452" cy="5029200"/>
          </a:xfrm>
        </p:spPr>
        <p:txBody>
          <a:bodyPr>
            <a:normAutofit/>
          </a:bodyPr>
          <a:lstStyle/>
          <a:p>
            <a:pPr algn="just"/>
            <a:r>
              <a:rPr lang="en-US" altLang="en-US" b="1" dirty="0"/>
              <a:t>Endurance test</a:t>
            </a:r>
          </a:p>
          <a:p>
            <a:pPr lvl="1" algn="just"/>
            <a:r>
              <a:rPr lang="en-US" altLang="en-US" sz="2000" dirty="0"/>
              <a:t>Meant to test the system during longer periods of time, in order to reveal other types of </a:t>
            </a:r>
            <a:r>
              <a:rPr lang="en-US" altLang="en-US" sz="2000" dirty="0" smtClean="0"/>
              <a:t>problems</a:t>
            </a:r>
          </a:p>
          <a:p>
            <a:pPr lvl="1" algn="just"/>
            <a:r>
              <a:rPr lang="en-US" altLang="en-US" sz="2000" dirty="0" smtClean="0"/>
              <a:t>It may result in increased number of problems.</a:t>
            </a:r>
          </a:p>
          <a:p>
            <a:pPr lvl="2" algn="just"/>
            <a:r>
              <a:rPr lang="en-US" altLang="en-US" sz="2000" dirty="0" smtClean="0"/>
              <a:t>In </a:t>
            </a:r>
            <a:r>
              <a:rPr lang="en-US" altLang="en-US" sz="2000" dirty="0"/>
              <a:t>the case of a memory leak </a:t>
            </a:r>
            <a:endParaRPr lang="en-US" altLang="en-US" sz="2000" dirty="0" smtClean="0"/>
          </a:p>
          <a:p>
            <a:pPr lvl="1" algn="just"/>
            <a:r>
              <a:rPr lang="en-US" altLang="en-US" sz="2000" dirty="0" smtClean="0"/>
              <a:t>Analyze </a:t>
            </a:r>
            <a:r>
              <a:rPr lang="en-US" altLang="en-US" sz="2000" dirty="0"/>
              <a:t>the system’s behavior following a specific period in </a:t>
            </a:r>
            <a:r>
              <a:rPr lang="en-US" altLang="en-US" sz="2000" dirty="0" smtClean="0"/>
              <a:t>operation</a:t>
            </a:r>
            <a:endParaRPr lang="en-US" altLang="en-US" sz="2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1" y="4291267"/>
            <a:ext cx="4686300"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8041725"/>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smtClean="0"/>
              <a:t>Types of Performance Testing</a:t>
            </a:r>
            <a:endParaRPr lang="en-US" altLang="en-US" dirty="0"/>
          </a:p>
        </p:txBody>
      </p:sp>
      <p:sp>
        <p:nvSpPr>
          <p:cNvPr id="395267" name="Rectangle 3"/>
          <p:cNvSpPr>
            <a:spLocks noGrp="1" noChangeArrowheads="1"/>
          </p:cNvSpPr>
          <p:nvPr>
            <p:ph idx="1"/>
          </p:nvPr>
        </p:nvSpPr>
        <p:spPr>
          <a:xfrm>
            <a:off x="1155032" y="1463842"/>
            <a:ext cx="9930063" cy="5029200"/>
          </a:xfrm>
        </p:spPr>
        <p:txBody>
          <a:bodyPr>
            <a:normAutofit/>
          </a:bodyPr>
          <a:lstStyle/>
          <a:p>
            <a:pPr algn="just"/>
            <a:r>
              <a:rPr lang="en-US" altLang="en-US" b="1" dirty="0"/>
              <a:t>Throttle test</a:t>
            </a:r>
          </a:p>
          <a:p>
            <a:pPr lvl="1" algn="just"/>
            <a:r>
              <a:rPr lang="en-US" altLang="en-US" sz="2000" dirty="0"/>
              <a:t>A simulation of the load, with limited speed of connection of </a:t>
            </a:r>
            <a:r>
              <a:rPr lang="en-US" altLang="en-US" sz="2000" dirty="0" smtClean="0"/>
              <a:t>users to </a:t>
            </a:r>
            <a:r>
              <a:rPr lang="en-US" altLang="en-US" sz="2000" dirty="0"/>
              <a:t>analyze the response </a:t>
            </a:r>
            <a:r>
              <a:rPr lang="en-US" altLang="en-US" sz="2000" dirty="0" smtClean="0"/>
              <a:t>time. </a:t>
            </a:r>
          </a:p>
          <a:p>
            <a:pPr lvl="1" algn="just"/>
            <a:r>
              <a:rPr lang="en-US" altLang="en-US" sz="2000" dirty="0" smtClean="0"/>
              <a:t>Speed </a:t>
            </a:r>
            <a:r>
              <a:rPr lang="en-US" altLang="en-US" sz="2000" dirty="0"/>
              <a:t>simulators or </a:t>
            </a:r>
            <a:r>
              <a:rPr lang="en-US" altLang="en-US" sz="2000" dirty="0" smtClean="0"/>
              <a:t>traffic shapers are </a:t>
            </a:r>
            <a:r>
              <a:rPr lang="en-US" altLang="en-US" sz="2000" dirty="0"/>
              <a:t>used in these </a:t>
            </a:r>
            <a:r>
              <a:rPr lang="en-US" altLang="en-US" sz="2000" dirty="0" smtClean="0"/>
              <a:t>tests.</a:t>
            </a:r>
            <a:endParaRPr lang="en-US" altLang="en-US" sz="2000" dirty="0"/>
          </a:p>
        </p:txBody>
      </p:sp>
    </p:spTree>
    <p:extLst>
      <p:ext uri="{BB962C8B-B14F-4D97-AF65-F5344CB8AC3E}">
        <p14:creationId xmlns:p14="http://schemas.microsoft.com/office/powerpoint/2010/main" val="2689492443"/>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smtClean="0"/>
              <a:t>Types of Performance Testing</a:t>
            </a:r>
            <a:endParaRPr lang="en-US" altLang="en-US" dirty="0"/>
          </a:p>
        </p:txBody>
      </p:sp>
      <p:sp>
        <p:nvSpPr>
          <p:cNvPr id="395267" name="Rectangle 3"/>
          <p:cNvSpPr>
            <a:spLocks noGrp="1" noChangeArrowheads="1"/>
          </p:cNvSpPr>
          <p:nvPr>
            <p:ph idx="1"/>
          </p:nvPr>
        </p:nvSpPr>
        <p:spPr>
          <a:xfrm>
            <a:off x="1155032" y="1463842"/>
            <a:ext cx="9930064" cy="5029200"/>
          </a:xfrm>
        </p:spPr>
        <p:txBody>
          <a:bodyPr>
            <a:normAutofit/>
          </a:bodyPr>
          <a:lstStyle/>
          <a:p>
            <a:pPr algn="just"/>
            <a:r>
              <a:rPr lang="en-US" altLang="en-US" b="1" dirty="0"/>
              <a:t>Peak test</a:t>
            </a:r>
          </a:p>
          <a:p>
            <a:pPr lvl="1" algn="just"/>
            <a:r>
              <a:rPr lang="en-US" altLang="en-US" sz="2000" dirty="0"/>
              <a:t>To analyze the system’s behavior when exposed to intensity peaks mixed with regular </a:t>
            </a:r>
            <a:r>
              <a:rPr lang="en-US" altLang="en-US" sz="2000" dirty="0" smtClean="0"/>
              <a:t>load</a:t>
            </a:r>
          </a:p>
          <a:p>
            <a:pPr lvl="1" algn="just"/>
            <a:r>
              <a:rPr lang="en-US" altLang="en-US" sz="2000" dirty="0" smtClean="0"/>
              <a:t>It shows the </a:t>
            </a:r>
            <a:r>
              <a:rPr lang="en-US" altLang="en-US" sz="2000" dirty="0"/>
              <a:t>recovery </a:t>
            </a:r>
            <a:r>
              <a:rPr lang="en-US" altLang="en-US" sz="2000" dirty="0" smtClean="0"/>
              <a:t>after </a:t>
            </a:r>
            <a:r>
              <a:rPr lang="en-US" altLang="en-US" sz="2000" dirty="0"/>
              <a:t>the increased </a:t>
            </a:r>
            <a:r>
              <a:rPr lang="en-US" altLang="en-US" sz="2000" dirty="0" smtClean="0"/>
              <a:t>load</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00" y="3886201"/>
            <a:ext cx="4368800"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0992185"/>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smtClean="0"/>
              <a:t>Types of Performance Testing</a:t>
            </a:r>
            <a:endParaRPr lang="en-US" altLang="en-US" dirty="0"/>
          </a:p>
        </p:txBody>
      </p:sp>
      <p:sp>
        <p:nvSpPr>
          <p:cNvPr id="395267" name="Rectangle 3"/>
          <p:cNvSpPr>
            <a:spLocks noGrp="1" noChangeArrowheads="1"/>
          </p:cNvSpPr>
          <p:nvPr>
            <p:ph idx="1"/>
          </p:nvPr>
        </p:nvSpPr>
        <p:spPr>
          <a:xfrm>
            <a:off x="1133644" y="1479884"/>
            <a:ext cx="9951452" cy="5029200"/>
          </a:xfrm>
        </p:spPr>
        <p:txBody>
          <a:bodyPr>
            <a:normAutofit/>
          </a:bodyPr>
          <a:lstStyle/>
          <a:p>
            <a:pPr algn="just"/>
            <a:r>
              <a:rPr lang="en-US" altLang="en-US" b="1" dirty="0"/>
              <a:t>Scalability test</a:t>
            </a:r>
          </a:p>
          <a:p>
            <a:pPr lvl="1" algn="just"/>
            <a:r>
              <a:rPr lang="en-US" altLang="en-US" sz="2000" dirty="0" smtClean="0"/>
              <a:t>It analyses that how </a:t>
            </a:r>
            <a:r>
              <a:rPr lang="en-US" altLang="en-US" sz="2000" dirty="0"/>
              <a:t>system </a:t>
            </a:r>
            <a:r>
              <a:rPr lang="en-US" altLang="en-US" sz="2000" dirty="0" smtClean="0"/>
              <a:t>escalates</a:t>
            </a:r>
          </a:p>
          <a:p>
            <a:pPr lvl="1" algn="just"/>
            <a:r>
              <a:rPr lang="en-US" altLang="en-US" sz="2000" dirty="0" smtClean="0"/>
              <a:t>It </a:t>
            </a:r>
            <a:r>
              <a:rPr lang="en-US" altLang="en-US" sz="2000" dirty="0"/>
              <a:t>indicates, for example, </a:t>
            </a:r>
            <a:endParaRPr lang="en-US" altLang="en-US" sz="2000" dirty="0" smtClean="0"/>
          </a:p>
          <a:p>
            <a:pPr lvl="2" algn="just"/>
            <a:r>
              <a:rPr lang="en-US" altLang="en-US" sz="2000" dirty="0" smtClean="0"/>
              <a:t>How </a:t>
            </a:r>
            <a:r>
              <a:rPr lang="en-US" altLang="en-US" sz="2000" dirty="0"/>
              <a:t>many more users we can support if another application server is </a:t>
            </a:r>
            <a:r>
              <a:rPr lang="en-US" altLang="en-US" sz="2000" dirty="0" smtClean="0"/>
              <a:t>added</a:t>
            </a:r>
          </a:p>
          <a:p>
            <a:pPr lvl="2" algn="just"/>
            <a:r>
              <a:rPr lang="en-US" altLang="en-US" sz="2000" dirty="0" smtClean="0"/>
              <a:t>Improvements </a:t>
            </a:r>
            <a:r>
              <a:rPr lang="en-US" altLang="en-US" sz="2000" dirty="0"/>
              <a:t>in timing when we add more CPU to the database </a:t>
            </a:r>
            <a:r>
              <a:rPr lang="en-US" altLang="en-US" sz="2000" dirty="0" smtClean="0"/>
              <a:t>server</a:t>
            </a:r>
            <a:endParaRPr lang="en-US" altLang="en-US" sz="2000" dirty="0"/>
          </a:p>
        </p:txBody>
      </p:sp>
    </p:spTree>
    <p:extLst>
      <p:ext uri="{BB962C8B-B14F-4D97-AF65-F5344CB8AC3E}">
        <p14:creationId xmlns:p14="http://schemas.microsoft.com/office/powerpoint/2010/main" val="4126614049"/>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normAutofit/>
          </a:bodyPr>
          <a:lstStyle/>
          <a:p>
            <a:r>
              <a:rPr lang="en-US" altLang="en-US" dirty="0"/>
              <a:t>Factors Governing Performance Testing</a:t>
            </a:r>
          </a:p>
        </p:txBody>
      </p:sp>
      <p:sp>
        <p:nvSpPr>
          <p:cNvPr id="395267" name="Rectangle 3"/>
          <p:cNvSpPr>
            <a:spLocks noGrp="1" noChangeArrowheads="1"/>
          </p:cNvSpPr>
          <p:nvPr>
            <p:ph idx="1"/>
          </p:nvPr>
        </p:nvSpPr>
        <p:spPr>
          <a:xfrm>
            <a:off x="1133643" y="1463843"/>
            <a:ext cx="10490201" cy="5029200"/>
          </a:xfrm>
        </p:spPr>
        <p:txBody>
          <a:bodyPr>
            <a:normAutofit/>
          </a:bodyPr>
          <a:lstStyle/>
          <a:p>
            <a:r>
              <a:rPr lang="en-US" altLang="en-US" dirty="0" smtClean="0"/>
              <a:t>Throughput</a:t>
            </a:r>
          </a:p>
          <a:p>
            <a:r>
              <a:rPr lang="en-US" altLang="en-US" dirty="0"/>
              <a:t>Response </a:t>
            </a:r>
            <a:r>
              <a:rPr lang="en-US" altLang="en-US" dirty="0" smtClean="0"/>
              <a:t>time</a:t>
            </a:r>
          </a:p>
          <a:p>
            <a:r>
              <a:rPr lang="en-US" altLang="en-US" dirty="0" smtClean="0"/>
              <a:t>Tuning</a:t>
            </a:r>
          </a:p>
          <a:p>
            <a:r>
              <a:rPr lang="en-US" altLang="en-US" dirty="0"/>
              <a:t>Competitive analysis / </a:t>
            </a:r>
            <a:r>
              <a:rPr lang="en-US" altLang="en-US" dirty="0" smtClean="0"/>
              <a:t>Benchmarking</a:t>
            </a:r>
          </a:p>
          <a:p>
            <a:r>
              <a:rPr lang="en-US" altLang="en-US" dirty="0"/>
              <a:t>Resource Availability / Capacity Planning</a:t>
            </a:r>
            <a:endParaRPr lang="en-US" altLang="en-US" dirty="0" smtClean="0"/>
          </a:p>
        </p:txBody>
      </p:sp>
    </p:spTree>
    <p:extLst>
      <p:ext uri="{BB962C8B-B14F-4D97-AF65-F5344CB8AC3E}">
        <p14:creationId xmlns:p14="http://schemas.microsoft.com/office/powerpoint/2010/main" val="1756942910"/>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Throughput</a:t>
            </a:r>
            <a:endParaRPr lang="en-US" dirty="0"/>
          </a:p>
        </p:txBody>
      </p:sp>
      <p:sp>
        <p:nvSpPr>
          <p:cNvPr id="3" name="Content Placeholder 2"/>
          <p:cNvSpPr>
            <a:spLocks noGrp="1"/>
          </p:cNvSpPr>
          <p:nvPr>
            <p:ph idx="1"/>
          </p:nvPr>
        </p:nvSpPr>
        <p:spPr>
          <a:xfrm>
            <a:off x="1106904" y="1524000"/>
            <a:ext cx="9978191" cy="4953000"/>
          </a:xfrm>
        </p:spPr>
        <p:txBody>
          <a:bodyPr>
            <a:normAutofit/>
          </a:bodyPr>
          <a:lstStyle/>
          <a:p>
            <a:pPr algn="just"/>
            <a:r>
              <a:rPr lang="en-US" b="1" dirty="0" smtClean="0"/>
              <a:t>Throughput </a:t>
            </a:r>
            <a:r>
              <a:rPr lang="en-US" dirty="0" smtClean="0"/>
              <a:t>The capacity of the system or the product in handling multiple transactions is called throughput</a:t>
            </a:r>
          </a:p>
          <a:p>
            <a:pPr lvl="1" algn="just"/>
            <a:r>
              <a:rPr lang="en-US" sz="2000" dirty="0" smtClean="0"/>
              <a:t>Number of requests or business transactions processed by the product in a specified time duration</a:t>
            </a:r>
          </a:p>
          <a:p>
            <a:pPr lvl="1" algn="just"/>
            <a:r>
              <a:rPr lang="en-US" sz="2000" dirty="0" smtClean="0"/>
              <a:t>The throughput varies according to the load the product is subjected to</a:t>
            </a:r>
          </a:p>
          <a:p>
            <a:pPr lvl="1" algn="just"/>
            <a:r>
              <a:rPr lang="en-US" sz="2000" dirty="0" smtClean="0"/>
              <a:t>The optimum throughput is represented by saturation point that is maximum throughput</a:t>
            </a:r>
          </a:p>
          <a:p>
            <a:pPr lvl="1" algn="just"/>
            <a:r>
              <a:rPr lang="en-US" sz="2000" dirty="0" smtClean="0"/>
              <a:t>The load to the product can be increased by increasing the number of users or by increasing the number of concurrent operations of the product</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8685" y="4479758"/>
            <a:ext cx="3773757" cy="2047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Response Time</a:t>
            </a:r>
            <a:endParaRPr lang="en-US" dirty="0"/>
          </a:p>
        </p:txBody>
      </p:sp>
      <p:sp>
        <p:nvSpPr>
          <p:cNvPr id="3" name="Content Placeholder 2"/>
          <p:cNvSpPr>
            <a:spLocks noGrp="1"/>
          </p:cNvSpPr>
          <p:nvPr>
            <p:ph idx="1"/>
          </p:nvPr>
        </p:nvSpPr>
        <p:spPr/>
        <p:txBody>
          <a:bodyPr>
            <a:normAutofit/>
          </a:bodyPr>
          <a:lstStyle/>
          <a:p>
            <a:pPr algn="just"/>
            <a:r>
              <a:rPr lang="en-US" b="1" dirty="0" smtClean="0"/>
              <a:t>Response Time- </a:t>
            </a:r>
            <a:r>
              <a:rPr lang="en-US" dirty="0" smtClean="0"/>
              <a:t>Delay between the point of request and the first response from the product</a:t>
            </a:r>
          </a:p>
          <a:p>
            <a:pPr lvl="1" algn="just"/>
            <a:r>
              <a:rPr lang="en-US" sz="2000" dirty="0" smtClean="0"/>
              <a:t>In a client-server environment, throughput represents the number of transactions that can be handled by the server and response time represents the delay between the request and response</a:t>
            </a:r>
          </a:p>
          <a:p>
            <a:pPr lvl="1" algn="just"/>
            <a:r>
              <a:rPr lang="en-US" sz="2000" dirty="0" smtClean="0"/>
              <a:t>Not all the delays between request and response are caused by products</a:t>
            </a:r>
          </a:p>
          <a:p>
            <a:pPr lvl="1" algn="just"/>
            <a:r>
              <a:rPr lang="en-US" sz="2000" dirty="0" smtClean="0"/>
              <a:t>Some delays are due to product while others may be due to environment</a:t>
            </a:r>
            <a:endParaRPr lang="en-US" dirty="0" smtClean="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Latency</a:t>
            </a:r>
            <a:endParaRPr lang="en-US" dirty="0"/>
          </a:p>
        </p:txBody>
      </p:sp>
      <p:sp>
        <p:nvSpPr>
          <p:cNvPr id="3" name="Content Placeholder 2"/>
          <p:cNvSpPr>
            <a:spLocks noGrp="1"/>
          </p:cNvSpPr>
          <p:nvPr>
            <p:ph idx="1"/>
          </p:nvPr>
        </p:nvSpPr>
        <p:spPr>
          <a:xfrm>
            <a:off x="1155032" y="1600200"/>
            <a:ext cx="9932068" cy="4572000"/>
          </a:xfrm>
        </p:spPr>
        <p:txBody>
          <a:bodyPr>
            <a:normAutofit/>
          </a:bodyPr>
          <a:lstStyle/>
          <a:p>
            <a:pPr algn="just"/>
            <a:r>
              <a:rPr lang="en-US" b="1" dirty="0" smtClean="0"/>
              <a:t>Latency- </a:t>
            </a:r>
            <a:r>
              <a:rPr lang="en-US" dirty="0" smtClean="0"/>
              <a:t>is a delay caused by the application, operating system and by the environment that are calculated separately</a:t>
            </a:r>
            <a:endParaRPr lang="en-US" b="1" dirty="0" smtClean="0"/>
          </a:p>
          <a:p>
            <a:pPr algn="just"/>
            <a:r>
              <a:rPr lang="en-US" dirty="0" smtClean="0"/>
              <a:t>In the following example latency and response time can be calculated as </a:t>
            </a:r>
          </a:p>
          <a:p>
            <a:pPr lvl="1" algn="just"/>
            <a:r>
              <a:rPr lang="en-US" sz="2000" dirty="0" smtClean="0"/>
              <a:t>Network Latency= N1 + N2 + N3 + N4</a:t>
            </a:r>
          </a:p>
          <a:p>
            <a:pPr lvl="1" algn="just"/>
            <a:r>
              <a:rPr lang="en-US" sz="2000" dirty="0" smtClean="0"/>
              <a:t>Product Latency= A1 + A2 + A3</a:t>
            </a:r>
          </a:p>
          <a:p>
            <a:pPr lvl="1" algn="just"/>
            <a:r>
              <a:rPr lang="en-US" sz="2000" dirty="0" smtClean="0"/>
              <a:t>Actual Response Time= Network Latency + 						Product Latency</a:t>
            </a:r>
            <a:endParaRPr lang="en-US" sz="2000" dirty="0"/>
          </a:p>
        </p:txBody>
      </p:sp>
      <p:pic>
        <p:nvPicPr>
          <p:cNvPr id="2050" name="Picture 2"/>
          <p:cNvPicPr>
            <a:picLocks noChangeAspect="1" noChangeArrowheads="1"/>
          </p:cNvPicPr>
          <p:nvPr/>
        </p:nvPicPr>
        <p:blipFill>
          <a:blip r:embed="rId2"/>
          <a:srcRect/>
          <a:stretch>
            <a:fillRect/>
          </a:stretch>
        </p:blipFill>
        <p:spPr bwMode="auto">
          <a:xfrm>
            <a:off x="6955836" y="4944973"/>
            <a:ext cx="4524375" cy="1304925"/>
          </a:xfrm>
          <a:prstGeom prst="rect">
            <a:avLst/>
          </a:prstGeom>
          <a:noFill/>
          <a:ln w="9525">
            <a:noFill/>
            <a:miter lim="800000"/>
            <a:headEnd/>
            <a:tailEnd/>
          </a:ln>
          <a:effectLst/>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Latency</a:t>
            </a:r>
            <a:endParaRPr lang="en-GB" dirty="0"/>
          </a:p>
        </p:txBody>
      </p:sp>
      <p:sp>
        <p:nvSpPr>
          <p:cNvPr id="3" name="Content Placeholder 2"/>
          <p:cNvSpPr>
            <a:spLocks noGrp="1"/>
          </p:cNvSpPr>
          <p:nvPr>
            <p:ph idx="1"/>
          </p:nvPr>
        </p:nvSpPr>
        <p:spPr>
          <a:xfrm>
            <a:off x="1122946" y="1600200"/>
            <a:ext cx="9964153" cy="4572000"/>
          </a:xfrm>
        </p:spPr>
        <p:txBody>
          <a:bodyPr/>
          <a:lstStyle/>
          <a:p>
            <a:pPr algn="just"/>
            <a:r>
              <a:rPr lang="en-US" dirty="0" smtClean="0"/>
              <a:t>Any improvement that is done in the product can only reduce the response time by the improvements made in A1, A2 and A3</a:t>
            </a:r>
          </a:p>
          <a:p>
            <a:pPr algn="just"/>
            <a:r>
              <a:rPr lang="en-US" dirty="0" smtClean="0"/>
              <a:t>If the network latency is more relative to the product latency, in such case it will be worthwhile looking at improving the network infrastructure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Tuning</a:t>
            </a:r>
            <a:endParaRPr lang="en-US" dirty="0"/>
          </a:p>
        </p:txBody>
      </p:sp>
      <p:sp>
        <p:nvSpPr>
          <p:cNvPr id="3" name="Content Placeholder 2"/>
          <p:cNvSpPr>
            <a:spLocks noGrp="1"/>
          </p:cNvSpPr>
          <p:nvPr>
            <p:ph idx="1"/>
          </p:nvPr>
        </p:nvSpPr>
        <p:spPr>
          <a:xfrm>
            <a:off x="1155032" y="1600200"/>
            <a:ext cx="9932068" cy="4572000"/>
          </a:xfrm>
        </p:spPr>
        <p:txBody>
          <a:bodyPr>
            <a:normAutofit/>
          </a:bodyPr>
          <a:lstStyle/>
          <a:p>
            <a:pPr algn="just"/>
            <a:r>
              <a:rPr lang="en-US" b="1" dirty="0" smtClean="0"/>
              <a:t>Tuning- </a:t>
            </a:r>
            <a:r>
              <a:rPr lang="en-US" dirty="0" smtClean="0"/>
              <a:t>is a procedure by which product performance is enhanced by setting different values to parameters of the product, operating system and other components</a:t>
            </a:r>
          </a:p>
          <a:p>
            <a:pPr lvl="1" algn="just"/>
            <a:r>
              <a:rPr lang="en-US" sz="2000" dirty="0" smtClean="0"/>
              <a:t>Tuning improves performance without touching the source code of the product</a:t>
            </a:r>
          </a:p>
          <a:p>
            <a:pPr lvl="1" algn="just"/>
            <a:r>
              <a:rPr lang="en-US" sz="2000" dirty="0" smtClean="0"/>
              <a:t>Product parameter or variable values need to be changed to get optimum performance for a particular configuration</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Benchmarking and Capacity Planning</a:t>
            </a:r>
            <a:endParaRPr lang="en-US" dirty="0"/>
          </a:p>
        </p:txBody>
      </p:sp>
      <p:sp>
        <p:nvSpPr>
          <p:cNvPr id="3" name="Content Placeholder 2"/>
          <p:cNvSpPr>
            <a:spLocks noGrp="1"/>
          </p:cNvSpPr>
          <p:nvPr>
            <p:ph idx="1"/>
          </p:nvPr>
        </p:nvSpPr>
        <p:spPr>
          <a:xfrm>
            <a:off x="1122946" y="1600201"/>
            <a:ext cx="10010275" cy="4525963"/>
          </a:xfrm>
        </p:spPr>
        <p:txBody>
          <a:bodyPr>
            <a:normAutofit/>
          </a:bodyPr>
          <a:lstStyle/>
          <a:p>
            <a:pPr algn="just"/>
            <a:r>
              <a:rPr lang="en-US" b="1" dirty="0" smtClean="0"/>
              <a:t>Competitive analysis / Benchmarking- </a:t>
            </a:r>
            <a:r>
              <a:rPr lang="en-US" dirty="0" smtClean="0"/>
              <a:t>Performance testing, where throughput and response time of competitive products are compared </a:t>
            </a:r>
          </a:p>
          <a:p>
            <a:pPr lvl="1" algn="just"/>
            <a:r>
              <a:rPr lang="en-US" sz="2000" dirty="0" smtClean="0"/>
              <a:t>Its not easy to decide which parameters must be compared</a:t>
            </a:r>
          </a:p>
          <a:p>
            <a:pPr lvl="1" algn="just"/>
            <a:r>
              <a:rPr lang="en-US" altLang="en-US" sz="2000" dirty="0" smtClean="0"/>
              <a:t>No two products are same in</a:t>
            </a:r>
          </a:p>
          <a:p>
            <a:pPr lvl="2" algn="just"/>
            <a:r>
              <a:rPr lang="en-US" altLang="en-US" sz="2000" dirty="0" smtClean="0"/>
              <a:t>Features</a:t>
            </a:r>
          </a:p>
          <a:p>
            <a:pPr lvl="2" algn="just"/>
            <a:r>
              <a:rPr lang="en-US" altLang="en-US" sz="2000" dirty="0" smtClean="0"/>
              <a:t>Cost </a:t>
            </a:r>
          </a:p>
          <a:p>
            <a:pPr lvl="2" algn="just"/>
            <a:r>
              <a:rPr lang="en-US" altLang="en-US" sz="2000" dirty="0" smtClean="0"/>
              <a:t>Functionality</a:t>
            </a:r>
            <a:endParaRPr lang="en-US" sz="2000" dirty="0" smtClean="0"/>
          </a:p>
          <a:p>
            <a:pPr lvl="1" algn="just"/>
            <a:r>
              <a:rPr lang="en-US" sz="2000" dirty="0" smtClean="0"/>
              <a:t>Careful analysis is required to chalk out list of transactions to be compared</a:t>
            </a:r>
          </a:p>
          <a:p>
            <a:pPr lvl="1" algn="just"/>
            <a:r>
              <a:rPr lang="en-US" sz="2000" dirty="0" smtClean="0"/>
              <a:t>This analysis will improve performance of the product</a:t>
            </a:r>
          </a:p>
          <a:p>
            <a:pPr algn="just"/>
            <a:r>
              <a:rPr lang="en-US" b="1" dirty="0" smtClean="0"/>
              <a:t>Resource Availability / Capacity Planning- </a:t>
            </a:r>
            <a:r>
              <a:rPr lang="en-US" dirty="0" smtClean="0"/>
              <a:t>The exercise to find out what resources and configurations are needed</a:t>
            </a:r>
          </a:p>
          <a:p>
            <a:pPr lvl="1" algn="just"/>
            <a:r>
              <a:rPr lang="en-US" sz="2000" dirty="0" smtClean="0"/>
              <a:t>The purpose is to help customers plan for the set of hardware and software resources prior to installation or up-gradation of the product</a:t>
            </a:r>
            <a:endParaRPr lang="en-US" sz="2000" dirty="0"/>
          </a:p>
        </p:txBody>
      </p:sp>
    </p:spTree>
  </p:cSld>
  <p:clrMapOvr>
    <a:masterClrMapping/>
  </p:clrMapOvr>
  <p:transition spd="med">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Methodology for Performance Testing</a:t>
            </a:r>
            <a:endParaRPr lang="en-US" dirty="0"/>
          </a:p>
        </p:txBody>
      </p:sp>
      <p:sp>
        <p:nvSpPr>
          <p:cNvPr id="3" name="Content Placeholder 2"/>
          <p:cNvSpPr>
            <a:spLocks noGrp="1"/>
          </p:cNvSpPr>
          <p:nvPr>
            <p:ph idx="1"/>
          </p:nvPr>
        </p:nvSpPr>
        <p:spPr/>
        <p:txBody>
          <a:bodyPr>
            <a:normAutofit/>
          </a:bodyPr>
          <a:lstStyle/>
          <a:p>
            <a:r>
              <a:rPr lang="en-US" dirty="0" smtClean="0"/>
              <a:t>It involves following steps</a:t>
            </a:r>
          </a:p>
          <a:p>
            <a:pPr marL="971550" lvl="1" indent="-514350">
              <a:buFont typeface="+mj-lt"/>
              <a:buAutoNum type="arabicPeriod"/>
            </a:pPr>
            <a:r>
              <a:rPr lang="en-US" sz="2000" dirty="0" smtClean="0"/>
              <a:t>Collecting requirements</a:t>
            </a:r>
          </a:p>
          <a:p>
            <a:pPr marL="971550" lvl="1" indent="-514350">
              <a:buFont typeface="+mj-lt"/>
              <a:buAutoNum type="arabicPeriod"/>
            </a:pPr>
            <a:r>
              <a:rPr lang="en-US" sz="2000" dirty="0" smtClean="0"/>
              <a:t>Writing test cases</a:t>
            </a:r>
          </a:p>
          <a:p>
            <a:pPr marL="971550" lvl="1" indent="-514350">
              <a:buFont typeface="+mj-lt"/>
              <a:buAutoNum type="arabicPeriod"/>
            </a:pPr>
            <a:r>
              <a:rPr lang="en-US" sz="2000" dirty="0" smtClean="0"/>
              <a:t>Automating performance test cases</a:t>
            </a:r>
          </a:p>
          <a:p>
            <a:pPr marL="971550" lvl="1" indent="-514350">
              <a:buFont typeface="+mj-lt"/>
              <a:buAutoNum type="arabicPeriod"/>
            </a:pPr>
            <a:r>
              <a:rPr lang="en-US" sz="2000" dirty="0" smtClean="0"/>
              <a:t>Executing performance test cases</a:t>
            </a:r>
          </a:p>
          <a:p>
            <a:pPr marL="971550" lvl="1" indent="-514350">
              <a:buFont typeface="+mj-lt"/>
              <a:buAutoNum type="arabicPeriod"/>
            </a:pPr>
            <a:r>
              <a:rPr lang="en-US" sz="2000" dirty="0" smtClean="0"/>
              <a:t>Analyzing performance test results</a:t>
            </a:r>
          </a:p>
          <a:p>
            <a:pPr marL="971550" lvl="1" indent="-514350">
              <a:buFont typeface="+mj-lt"/>
              <a:buAutoNum type="arabicPeriod"/>
            </a:pPr>
            <a:r>
              <a:rPr lang="en-US" sz="2000" dirty="0" smtClean="0"/>
              <a:t>Performance tuning</a:t>
            </a:r>
          </a:p>
          <a:p>
            <a:pPr marL="971550" lvl="1" indent="-514350">
              <a:buFont typeface="+mj-lt"/>
              <a:buAutoNum type="arabicPeriod"/>
            </a:pPr>
            <a:r>
              <a:rPr lang="en-US" sz="2000" dirty="0" smtClean="0"/>
              <a:t>Performance benchmarking</a:t>
            </a:r>
          </a:p>
          <a:p>
            <a:pPr marL="971550" lvl="1" indent="-514350">
              <a:buFont typeface="+mj-lt"/>
              <a:buAutoNum type="arabicPeriod"/>
            </a:pPr>
            <a:r>
              <a:rPr lang="en-US" sz="2000" dirty="0" smtClean="0"/>
              <a:t>Recommending right configuration for the customers</a:t>
            </a:r>
            <a:endParaRPr lang="en-US" sz="2000" dirty="0"/>
          </a:p>
        </p:txBody>
      </p:sp>
    </p:spTree>
  </p:cSld>
  <p:clrMapOvr>
    <a:masterClrMapping/>
  </p:clrMapOvr>
  <p:transition spd="med">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spcBef>
                <a:spcPct val="0"/>
              </a:spcBef>
            </a:pPr>
            <a:r>
              <a:rPr lang="en-US" sz="2800" dirty="0" smtClean="0">
                <a:solidFill>
                  <a:schemeClr val="tx1"/>
                </a:solidFill>
                <a:latin typeface="+mj-lt"/>
              </a:rPr>
              <a:t>1. Collecting </a:t>
            </a:r>
            <a:r>
              <a:rPr lang="en-US" sz="2800" dirty="0">
                <a:solidFill>
                  <a:schemeClr val="tx1"/>
                </a:solidFill>
                <a:latin typeface="+mj-lt"/>
              </a:rPr>
              <a:t>R</a:t>
            </a:r>
            <a:r>
              <a:rPr lang="en-US" sz="2800" dirty="0" smtClean="0">
                <a:solidFill>
                  <a:schemeClr val="tx1"/>
                </a:solidFill>
                <a:latin typeface="+mj-lt"/>
              </a:rPr>
              <a:t>equirements</a:t>
            </a:r>
            <a:endParaRPr lang="en-US" sz="2800" dirty="0">
              <a:solidFill>
                <a:schemeClr val="tx1"/>
              </a:solidFill>
              <a:latin typeface="+mj-lt"/>
            </a:endParaRPr>
          </a:p>
        </p:txBody>
      </p:sp>
      <p:sp>
        <p:nvSpPr>
          <p:cNvPr id="3" name="Content Placeholder 2"/>
          <p:cNvSpPr>
            <a:spLocks noGrp="1"/>
          </p:cNvSpPr>
          <p:nvPr>
            <p:ph idx="1"/>
          </p:nvPr>
        </p:nvSpPr>
        <p:spPr>
          <a:xfrm>
            <a:off x="1122946" y="1600200"/>
            <a:ext cx="9962149" cy="4953000"/>
          </a:xfrm>
        </p:spPr>
        <p:txBody>
          <a:bodyPr>
            <a:normAutofit/>
          </a:bodyPr>
          <a:lstStyle/>
          <a:p>
            <a:pPr algn="just"/>
            <a:r>
              <a:rPr lang="en-US" dirty="0" smtClean="0"/>
              <a:t>Performance testing needs elaborated in documentation and environment set up</a:t>
            </a:r>
          </a:p>
          <a:p>
            <a:pPr algn="just"/>
            <a:r>
              <a:rPr lang="en-US" dirty="0" smtClean="0"/>
              <a:t>Expected results may not well known in advance</a:t>
            </a:r>
          </a:p>
          <a:p>
            <a:pPr algn="just"/>
            <a:r>
              <a:rPr lang="en-US" dirty="0" smtClean="0"/>
              <a:t>Performance testing requirements collection may face following </a:t>
            </a:r>
            <a:r>
              <a:rPr lang="en-US" b="1" dirty="0" smtClean="0"/>
              <a:t>challenges</a:t>
            </a:r>
          </a:p>
          <a:p>
            <a:pPr lvl="1" algn="just"/>
            <a:r>
              <a:rPr lang="en-US" sz="2000" dirty="0" smtClean="0"/>
              <a:t>Requirement should be testable</a:t>
            </a:r>
          </a:p>
          <a:p>
            <a:pPr lvl="1" algn="just"/>
            <a:r>
              <a:rPr lang="en-US" sz="2000" dirty="0" smtClean="0"/>
              <a:t>Not all features / functionality can be performance tested. </a:t>
            </a:r>
          </a:p>
          <a:p>
            <a:pPr lvl="1" algn="just"/>
            <a:r>
              <a:rPr lang="en-US" sz="2000" dirty="0" smtClean="0"/>
              <a:t>A performance test can be carried out for a completely automated product</a:t>
            </a:r>
          </a:p>
          <a:p>
            <a:pPr lvl="1" algn="just"/>
            <a:r>
              <a:rPr lang="en-US" sz="2000" dirty="0" smtClean="0"/>
              <a:t>Requirement needs to clearly state what factors need to be measured and improved</a:t>
            </a:r>
          </a:p>
          <a:p>
            <a:pPr lvl="1" algn="just"/>
            <a:r>
              <a:rPr lang="en-US" sz="2000" dirty="0" smtClean="0"/>
              <a:t>Requirement needs to be associated with the actual number or percentage of improvement that is desired (Example: ATM money withdrawal shall be completed within two minutes)</a:t>
            </a:r>
            <a:endParaRPr lang="en-US" sz="2000" dirty="0"/>
          </a:p>
        </p:txBody>
      </p:sp>
    </p:spTree>
  </p:cSld>
  <p:clrMapOvr>
    <a:masterClrMapping/>
  </p:clrMapOvr>
  <p:transition spd="med">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Collecting Requirements</a:t>
            </a:r>
            <a:endParaRPr lang="en-US" dirty="0"/>
          </a:p>
        </p:txBody>
      </p:sp>
      <p:sp>
        <p:nvSpPr>
          <p:cNvPr id="3" name="Content Placeholder 2"/>
          <p:cNvSpPr>
            <a:spLocks noGrp="1"/>
          </p:cNvSpPr>
          <p:nvPr>
            <p:ph idx="1"/>
          </p:nvPr>
        </p:nvSpPr>
        <p:spPr>
          <a:xfrm>
            <a:off x="1106906" y="1600200"/>
            <a:ext cx="9978190" cy="4876800"/>
          </a:xfrm>
        </p:spPr>
        <p:txBody>
          <a:bodyPr>
            <a:normAutofit/>
          </a:bodyPr>
          <a:lstStyle/>
          <a:p>
            <a:pPr algn="just"/>
            <a:r>
              <a:rPr lang="en-US" b="1" dirty="0" smtClean="0"/>
              <a:t>Sources</a:t>
            </a:r>
            <a:r>
              <a:rPr lang="en-US" dirty="0" smtClean="0"/>
              <a:t> for driving performance testing requirements are:</a:t>
            </a:r>
          </a:p>
          <a:p>
            <a:pPr lvl="1" algn="just"/>
            <a:r>
              <a:rPr lang="en-US" sz="2000" dirty="0" smtClean="0"/>
              <a:t>Performance compared to the previous release of the same product</a:t>
            </a:r>
          </a:p>
          <a:p>
            <a:pPr lvl="2" algn="just"/>
            <a:r>
              <a:rPr lang="en-US" sz="2000" dirty="0" smtClean="0"/>
              <a:t>Example: ATM withdrawal transaction will be faster than the previous release by 10 %</a:t>
            </a:r>
          </a:p>
          <a:p>
            <a:pPr lvl="1" algn="just"/>
            <a:r>
              <a:rPr lang="en-US" sz="2000" dirty="0" smtClean="0"/>
              <a:t>Performance compared to the competitive products</a:t>
            </a:r>
          </a:p>
          <a:p>
            <a:pPr lvl="2" algn="just"/>
            <a:r>
              <a:rPr lang="en-US" sz="2000" dirty="0" smtClean="0"/>
              <a:t>Example: ATM withdrawal will be as fast as or faster than competitive product XYZ</a:t>
            </a:r>
          </a:p>
          <a:p>
            <a:pPr lvl="1" algn="just"/>
            <a:r>
              <a:rPr lang="en-US" sz="2000" dirty="0" smtClean="0"/>
              <a:t>Performance compared to absolute numbers derived from actual need</a:t>
            </a:r>
          </a:p>
          <a:p>
            <a:pPr lvl="2" algn="just"/>
            <a:r>
              <a:rPr lang="en-US" sz="2000" dirty="0" smtClean="0"/>
              <a:t>Example: ATM machine should be capable of handling 1000 transactions per day with each transaction not taking more than a minute</a:t>
            </a:r>
          </a:p>
          <a:p>
            <a:pPr lvl="1" algn="just"/>
            <a:r>
              <a:rPr lang="en-US" sz="2000" dirty="0" smtClean="0"/>
              <a:t>Performance numbers derived from architecture and design</a:t>
            </a:r>
          </a:p>
        </p:txBody>
      </p:sp>
    </p:spTree>
  </p:cSld>
  <p:clrMapOvr>
    <a:masterClrMapping/>
  </p:clrMapOvr>
  <p:transition spd="med">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1. Collecting Requirements</a:t>
            </a:r>
            <a:endParaRPr lang="en-US" dirty="0"/>
          </a:p>
        </p:txBody>
      </p:sp>
      <p:sp>
        <p:nvSpPr>
          <p:cNvPr id="3" name="Content Placeholder 2"/>
          <p:cNvSpPr>
            <a:spLocks noGrp="1"/>
          </p:cNvSpPr>
          <p:nvPr>
            <p:ph idx="1"/>
          </p:nvPr>
        </p:nvSpPr>
        <p:spPr/>
        <p:txBody>
          <a:bodyPr>
            <a:normAutofit/>
          </a:bodyPr>
          <a:lstStyle/>
          <a:p>
            <a:pPr algn="just">
              <a:buNone/>
            </a:pPr>
            <a:r>
              <a:rPr lang="en-US" b="1" dirty="0" smtClean="0"/>
              <a:t>Performance Testing Requirements Types </a:t>
            </a:r>
          </a:p>
          <a:p>
            <a:pPr algn="just"/>
            <a:r>
              <a:rPr lang="en-US" dirty="0" smtClean="0"/>
              <a:t>There are two types of performance testing requirements</a:t>
            </a:r>
          </a:p>
          <a:p>
            <a:pPr lvl="1" algn="just"/>
            <a:r>
              <a:rPr lang="en-US" sz="2000" b="1" dirty="0" smtClean="0"/>
              <a:t>Generic Requirements: </a:t>
            </a:r>
            <a:r>
              <a:rPr lang="en-US" sz="2000" dirty="0" smtClean="0"/>
              <a:t>Those requirements that are common across all products in the product domain area</a:t>
            </a:r>
            <a:endParaRPr lang="en-US" sz="2000" b="1" dirty="0" smtClean="0"/>
          </a:p>
          <a:p>
            <a:pPr lvl="2" algn="just"/>
            <a:r>
              <a:rPr lang="en-US" sz="2000" dirty="0" smtClean="0"/>
              <a:t>For some of the products they are mandated by SLAs (Service Level Agreements) and standards</a:t>
            </a:r>
          </a:p>
          <a:p>
            <a:pPr lvl="2" algn="just"/>
            <a:r>
              <a:rPr lang="en-US" sz="2000" dirty="0" smtClean="0"/>
              <a:t>For example, the time taken to load a page, initial response when a mouse is clicked and time taken to navigate between screens</a:t>
            </a:r>
          </a:p>
          <a:p>
            <a:pPr lvl="1" algn="just"/>
            <a:r>
              <a:rPr lang="en-US" sz="2000" b="1" dirty="0" smtClean="0"/>
              <a:t>Specific Requirements: </a:t>
            </a:r>
            <a:r>
              <a:rPr lang="en-US" sz="2000" dirty="0" smtClean="0"/>
              <a:t>Those requirements that depend on implementation for a particular product and differ from one product to another in a given domain</a:t>
            </a:r>
          </a:p>
          <a:p>
            <a:pPr lvl="2" algn="just"/>
            <a:r>
              <a:rPr lang="en-US" sz="2000" dirty="0" smtClean="0"/>
              <a:t>For example the time taken to withdraw cash in an ATM </a:t>
            </a:r>
          </a:p>
          <a:p>
            <a:pPr lvl="1" algn="just"/>
            <a:endParaRPr lang="en-US" dirty="0" smtClean="0"/>
          </a:p>
        </p:txBody>
      </p:sp>
    </p:spTree>
  </p:cSld>
  <p:clrMapOvr>
    <a:masterClrMapping/>
  </p:clrMapOvr>
  <p:transition spd="med">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Example of performance test requirements</a:t>
            </a:r>
            <a:endParaRPr lang="en-US" dirty="0"/>
          </a:p>
        </p:txBody>
      </p:sp>
      <p:sp>
        <p:nvSpPr>
          <p:cNvPr id="3" name="Content Placeholder 2"/>
          <p:cNvSpPr>
            <a:spLocks noGrp="1"/>
          </p:cNvSpPr>
          <p:nvPr>
            <p:ph idx="1"/>
          </p:nvPr>
        </p:nvSpPr>
        <p:spPr/>
        <p:txBody>
          <a:bodyPr/>
          <a:lstStyle/>
          <a:p>
            <a:endParaRPr lang="en-US" dirty="0"/>
          </a:p>
        </p:txBody>
      </p:sp>
      <p:graphicFrame>
        <p:nvGraphicFramePr>
          <p:cNvPr id="5" name="Content Placeholder 15"/>
          <p:cNvGraphicFramePr>
            <a:graphicFrameLocks/>
          </p:cNvGraphicFramePr>
          <p:nvPr>
            <p:extLst>
              <p:ext uri="{D42A27DB-BD31-4B8C-83A1-F6EECF244321}">
                <p14:modId xmlns:p14="http://schemas.microsoft.com/office/powerpoint/2010/main" val="1139291616"/>
              </p:ext>
            </p:extLst>
          </p:nvPr>
        </p:nvGraphicFramePr>
        <p:xfrm>
          <a:off x="1086850" y="1632284"/>
          <a:ext cx="10009812" cy="3879704"/>
        </p:xfrm>
        <a:graphic>
          <a:graphicData uri="http://schemas.openxmlformats.org/drawingml/2006/table">
            <a:tbl>
              <a:tblPr firstRow="1" bandRow="1">
                <a:tableStyleId>{5C22544A-7EE6-4342-B048-85BDC9FD1C3A}</a:tableStyleId>
              </a:tblPr>
              <a:tblGrid>
                <a:gridCol w="2502453">
                  <a:extLst>
                    <a:ext uri="{9D8B030D-6E8A-4147-A177-3AD203B41FA5}">
                      <a16:colId xmlns="" xmlns:a16="http://schemas.microsoft.com/office/drawing/2014/main" val="20000"/>
                    </a:ext>
                  </a:extLst>
                </a:gridCol>
                <a:gridCol w="2502453">
                  <a:extLst>
                    <a:ext uri="{9D8B030D-6E8A-4147-A177-3AD203B41FA5}">
                      <a16:colId xmlns="" xmlns:a16="http://schemas.microsoft.com/office/drawing/2014/main" val="20001"/>
                    </a:ext>
                  </a:extLst>
                </a:gridCol>
                <a:gridCol w="2502453">
                  <a:extLst>
                    <a:ext uri="{9D8B030D-6E8A-4147-A177-3AD203B41FA5}">
                      <a16:colId xmlns="" xmlns:a16="http://schemas.microsoft.com/office/drawing/2014/main" val="20002"/>
                    </a:ext>
                  </a:extLst>
                </a:gridCol>
                <a:gridCol w="2502453"/>
              </a:tblGrid>
              <a:tr h="678948">
                <a:tc>
                  <a:txBody>
                    <a:bodyPr/>
                    <a:lstStyle/>
                    <a:p>
                      <a:r>
                        <a:rPr lang="en-US" sz="1900" dirty="0" smtClean="0"/>
                        <a:t>Transaction</a:t>
                      </a:r>
                      <a:endParaRPr sz="1900" dirty="0"/>
                    </a:p>
                  </a:txBody>
                  <a:tcPr marL="96993" marR="96993" marT="48496" marB="48496" anchor="ctr"/>
                </a:tc>
                <a:tc>
                  <a:txBody>
                    <a:bodyPr/>
                    <a:lstStyle/>
                    <a:p>
                      <a:pPr algn="ctr"/>
                      <a:r>
                        <a:rPr lang="en-GB" sz="1900" dirty="0" smtClean="0"/>
                        <a:t>Expected Response Time</a:t>
                      </a:r>
                      <a:endParaRPr sz="1900" dirty="0"/>
                    </a:p>
                  </a:txBody>
                  <a:tcPr marL="96993" marR="96993" marT="48496" marB="48496" anchor="ctr"/>
                </a:tc>
                <a:tc>
                  <a:txBody>
                    <a:bodyPr/>
                    <a:lstStyle/>
                    <a:p>
                      <a:pPr algn="ctr"/>
                      <a:r>
                        <a:rPr lang="en-GB" sz="1900" dirty="0" smtClean="0"/>
                        <a:t>Loading</a:t>
                      </a:r>
                      <a:r>
                        <a:rPr lang="en-GB" sz="1900" baseline="0" dirty="0" smtClean="0"/>
                        <a:t> Pattern/ throughput</a:t>
                      </a:r>
                      <a:endParaRPr sz="1900" dirty="0"/>
                    </a:p>
                  </a:txBody>
                  <a:tcPr marL="96993" marR="96993" marT="48496" marB="48496" anchor="ctr"/>
                </a:tc>
                <a:tc>
                  <a:txBody>
                    <a:bodyPr/>
                    <a:lstStyle/>
                    <a:p>
                      <a:pPr algn="ctr"/>
                      <a:r>
                        <a:rPr lang="en-GB" sz="1900" dirty="0" smtClean="0"/>
                        <a:t>Machine Configuration</a:t>
                      </a:r>
                      <a:endParaRPr sz="1900" dirty="0"/>
                    </a:p>
                  </a:txBody>
                  <a:tcPr marL="96993" marR="96993" marT="48496" marB="48496" anchor="ctr"/>
                </a:tc>
                <a:extLst>
                  <a:ext uri="{0D108BD9-81ED-4DB2-BD59-A6C34878D82A}">
                    <a16:rowId xmlns="" xmlns:a16="http://schemas.microsoft.com/office/drawing/2014/main" val="10000"/>
                  </a:ext>
                </a:extLst>
              </a:tr>
              <a:tr h="969926">
                <a:tc>
                  <a:txBody>
                    <a:bodyPr/>
                    <a:lstStyle/>
                    <a:p>
                      <a:r>
                        <a:rPr lang="en-GB" sz="1900" dirty="0" smtClean="0"/>
                        <a:t>ATM</a:t>
                      </a:r>
                      <a:r>
                        <a:rPr lang="en-GB" sz="1900" baseline="0" dirty="0" smtClean="0"/>
                        <a:t> cash withdrawal</a:t>
                      </a:r>
                      <a:endParaRPr sz="1900" dirty="0"/>
                    </a:p>
                  </a:txBody>
                  <a:tcPr marL="96993" marR="96993" marT="48496" marB="48496" anchor="ctr"/>
                </a:tc>
                <a:tc>
                  <a:txBody>
                    <a:bodyPr/>
                    <a:lstStyle/>
                    <a:p>
                      <a:pPr algn="ctr"/>
                      <a:r>
                        <a:rPr lang="en-GB" sz="1900" dirty="0" smtClean="0"/>
                        <a:t>2</a:t>
                      </a:r>
                      <a:r>
                        <a:rPr lang="en-GB" sz="1900" baseline="0" dirty="0" smtClean="0"/>
                        <a:t> Sec</a:t>
                      </a:r>
                      <a:endParaRPr sz="1900" dirty="0"/>
                    </a:p>
                  </a:txBody>
                  <a:tcPr marL="96993" marR="96993" marT="48496" marB="48496" anchor="ctr"/>
                </a:tc>
                <a:tc>
                  <a:txBody>
                    <a:bodyPr/>
                    <a:lstStyle/>
                    <a:p>
                      <a:pPr algn="ctr"/>
                      <a:r>
                        <a:rPr lang="en-GB" sz="1900" dirty="0" smtClean="0"/>
                        <a:t>Up to</a:t>
                      </a:r>
                      <a:r>
                        <a:rPr lang="en-GB" sz="1900" baseline="0" dirty="0" smtClean="0"/>
                        <a:t> 10,000 simultaneous access by users</a:t>
                      </a:r>
                      <a:endParaRPr sz="1900"/>
                    </a:p>
                  </a:txBody>
                  <a:tcPr marL="96993" marR="96993" marT="48496" marB="48496" anchor="ctr"/>
                </a:tc>
                <a:tc>
                  <a:txBody>
                    <a:bodyPr/>
                    <a:lstStyle/>
                    <a:p>
                      <a:pPr algn="ctr"/>
                      <a:r>
                        <a:rPr lang="en-GB" sz="1900" dirty="0" smtClean="0"/>
                        <a:t>Pentium IV/512 MB RAM/</a:t>
                      </a:r>
                      <a:r>
                        <a:rPr lang="en-GB" sz="1900" baseline="0" dirty="0" smtClean="0"/>
                        <a:t> Broadband Network</a:t>
                      </a:r>
                      <a:endParaRPr sz="1900"/>
                    </a:p>
                  </a:txBody>
                  <a:tcPr marL="96993" marR="96993" marT="48496" marB="48496" anchor="ctr"/>
                </a:tc>
                <a:extLst>
                  <a:ext uri="{0D108BD9-81ED-4DB2-BD59-A6C34878D82A}">
                    <a16:rowId xmlns="" xmlns:a16="http://schemas.microsoft.com/office/drawing/2014/main" val="10001"/>
                  </a:ext>
                </a:extLst>
              </a:tr>
              <a:tr h="969926">
                <a:tc>
                  <a:txBody>
                    <a:bodyPr/>
                    <a:lstStyle/>
                    <a:p>
                      <a:r>
                        <a:rPr lang="en-GB" sz="1900" dirty="0" smtClean="0"/>
                        <a:t>ATM</a:t>
                      </a:r>
                      <a:r>
                        <a:rPr lang="en-GB" sz="1900" baseline="0" dirty="0" smtClean="0"/>
                        <a:t> cash withdrawal</a:t>
                      </a:r>
                      <a:endParaRPr lang="en-GB" sz="1900" dirty="0"/>
                    </a:p>
                  </a:txBody>
                  <a:tcPr marL="96993" marR="96993" marT="48496" marB="48496" anchor="ctr"/>
                </a:tc>
                <a:tc>
                  <a:txBody>
                    <a:bodyPr/>
                    <a:lstStyle/>
                    <a:p>
                      <a:pPr algn="ctr"/>
                      <a:r>
                        <a:rPr lang="en-GB" sz="1900" baseline="0" dirty="0" smtClean="0"/>
                        <a:t>40 Sec</a:t>
                      </a:r>
                      <a:endParaRPr lang="en-GB" sz="1900" dirty="0"/>
                    </a:p>
                  </a:txBody>
                  <a:tcPr marL="96993" marR="96993" marT="48496" marB="48496" anchor="ctr"/>
                </a:tc>
                <a:tc>
                  <a:txBody>
                    <a:bodyPr/>
                    <a:lstStyle/>
                    <a:p>
                      <a:pPr algn="ctr"/>
                      <a:r>
                        <a:rPr lang="en-GB" sz="1900" dirty="0" smtClean="0"/>
                        <a:t>Up to</a:t>
                      </a:r>
                      <a:r>
                        <a:rPr lang="en-GB" sz="1900" baseline="0" dirty="0" smtClean="0"/>
                        <a:t> 10,000 simultaneous access by users</a:t>
                      </a:r>
                      <a:endParaRPr lang="en-GB" sz="1900" dirty="0"/>
                    </a:p>
                  </a:txBody>
                  <a:tcPr marL="96993" marR="96993" marT="48496" marB="48496"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900" dirty="0" smtClean="0"/>
                        <a:t>Pentium IV/512 MB RAM/</a:t>
                      </a:r>
                      <a:r>
                        <a:rPr lang="en-GB" sz="1900" baseline="0" dirty="0" smtClean="0"/>
                        <a:t> Dial-up Network</a:t>
                      </a:r>
                      <a:endParaRPr lang="en-GB" sz="1900" dirty="0" smtClean="0"/>
                    </a:p>
                  </a:txBody>
                  <a:tcPr marL="96993" marR="96993" marT="48496" marB="48496" anchor="ctr"/>
                </a:tc>
                <a:extLst>
                  <a:ext uri="{0D108BD9-81ED-4DB2-BD59-A6C34878D82A}">
                    <a16:rowId xmlns="" xmlns:a16="http://schemas.microsoft.com/office/drawing/2014/main" val="10002"/>
                  </a:ext>
                </a:extLst>
              </a:tr>
              <a:tr h="1260904">
                <a:tc>
                  <a:txBody>
                    <a:bodyPr/>
                    <a:lstStyle/>
                    <a:p>
                      <a:r>
                        <a:rPr lang="en-GB" sz="1900" dirty="0" smtClean="0"/>
                        <a:t>ATM</a:t>
                      </a:r>
                      <a:r>
                        <a:rPr lang="en-GB" sz="1900" baseline="0" dirty="0" smtClean="0"/>
                        <a:t> cash withdrawal</a:t>
                      </a:r>
                      <a:endParaRPr lang="en-GB" sz="1900" dirty="0"/>
                    </a:p>
                  </a:txBody>
                  <a:tcPr marL="96993" marR="96993" marT="48496" marB="48496" anchor="ctr"/>
                </a:tc>
                <a:tc>
                  <a:txBody>
                    <a:bodyPr/>
                    <a:lstStyle/>
                    <a:p>
                      <a:pPr algn="ctr"/>
                      <a:r>
                        <a:rPr lang="en-GB" sz="1900" baseline="0" dirty="0" smtClean="0"/>
                        <a:t>4 Sec</a:t>
                      </a:r>
                      <a:endParaRPr lang="en-GB" sz="1900" dirty="0"/>
                    </a:p>
                  </a:txBody>
                  <a:tcPr marL="96993" marR="96993" marT="48496" marB="48496" anchor="ctr"/>
                </a:tc>
                <a:tc>
                  <a:txBody>
                    <a:bodyPr/>
                    <a:lstStyle/>
                    <a:p>
                      <a:pPr algn="ctr"/>
                      <a:r>
                        <a:rPr lang="en-GB" sz="1900" baseline="0" dirty="0" smtClean="0"/>
                        <a:t>More than 10,000 but below 20,000 simultaneous access by users</a:t>
                      </a:r>
                      <a:endParaRPr lang="en-GB" sz="1900" dirty="0"/>
                    </a:p>
                  </a:txBody>
                  <a:tcPr marL="96993" marR="96993" marT="48496" marB="48496"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900" dirty="0" smtClean="0"/>
                        <a:t>Pentium IV/512 MB RAM/</a:t>
                      </a:r>
                      <a:r>
                        <a:rPr lang="en-GB" sz="1900" baseline="0" dirty="0" smtClean="0"/>
                        <a:t> Broadband Network</a:t>
                      </a:r>
                      <a:endParaRPr lang="en-GB" sz="1900" dirty="0" smtClean="0"/>
                    </a:p>
                    <a:p>
                      <a:pPr algn="ctr"/>
                      <a:endParaRPr lang="en-GB" sz="1900" dirty="0"/>
                    </a:p>
                  </a:txBody>
                  <a:tcPr marL="96993" marR="96993" marT="48496" marB="48496" anchor="ctr"/>
                </a:tc>
                <a:extLst>
                  <a:ext uri="{0D108BD9-81ED-4DB2-BD59-A6C34878D82A}">
                    <a16:rowId xmlns="" xmlns:a16="http://schemas.microsoft.com/office/drawing/2014/main" val="10003"/>
                  </a:ext>
                </a:extLst>
              </a:tr>
            </a:tbl>
          </a:graphicData>
        </a:graphic>
      </p:graphicFrame>
    </p:spTree>
  </p:cSld>
  <p:clrMapOvr>
    <a:masterClrMapping/>
  </p:clrMapOvr>
  <p:transition spd="med">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Writing Test Cases</a:t>
            </a:r>
            <a:endParaRPr lang="en-US" dirty="0"/>
          </a:p>
        </p:txBody>
      </p:sp>
      <p:sp>
        <p:nvSpPr>
          <p:cNvPr id="3" name="Content Placeholder 2"/>
          <p:cNvSpPr>
            <a:spLocks noGrp="1"/>
          </p:cNvSpPr>
          <p:nvPr>
            <p:ph idx="1"/>
          </p:nvPr>
        </p:nvSpPr>
        <p:spPr>
          <a:xfrm>
            <a:off x="1106904" y="1600200"/>
            <a:ext cx="9994233" cy="4953000"/>
          </a:xfrm>
        </p:spPr>
        <p:txBody>
          <a:bodyPr>
            <a:normAutofit/>
          </a:bodyPr>
          <a:lstStyle/>
          <a:p>
            <a:pPr algn="just"/>
            <a:r>
              <a:rPr lang="en-US" dirty="0" smtClean="0"/>
              <a:t>Test cases for performance testing should have the following details defined</a:t>
            </a:r>
          </a:p>
          <a:p>
            <a:pPr lvl="1" algn="just"/>
            <a:r>
              <a:rPr lang="en-US" sz="2000" b="1" dirty="0" smtClean="0"/>
              <a:t>List of operations and business transactions </a:t>
            </a:r>
            <a:r>
              <a:rPr lang="en-US" sz="2000" dirty="0" smtClean="0"/>
              <a:t>to be tested</a:t>
            </a:r>
          </a:p>
          <a:p>
            <a:pPr lvl="1" algn="just"/>
            <a:r>
              <a:rPr lang="en-US" sz="2000" b="1" dirty="0" smtClean="0"/>
              <a:t>Steps for executing</a:t>
            </a:r>
            <a:r>
              <a:rPr lang="en-US" sz="2000" dirty="0" smtClean="0"/>
              <a:t> those operations/transactions</a:t>
            </a:r>
          </a:p>
          <a:p>
            <a:pPr lvl="1" algn="just"/>
            <a:r>
              <a:rPr lang="en-US" sz="2000" b="1" dirty="0" smtClean="0"/>
              <a:t>List of products, OS parameters </a:t>
            </a:r>
            <a:r>
              <a:rPr lang="en-US" sz="2000" dirty="0" smtClean="0"/>
              <a:t>that impact the performance testing and their values</a:t>
            </a:r>
          </a:p>
          <a:p>
            <a:pPr lvl="1" algn="just"/>
            <a:r>
              <a:rPr lang="en-US" sz="2000" b="1" dirty="0" smtClean="0"/>
              <a:t>Loading pattern</a:t>
            </a:r>
          </a:p>
          <a:p>
            <a:pPr lvl="1" algn="just"/>
            <a:r>
              <a:rPr lang="en-US" sz="2000" b="1" dirty="0" smtClean="0"/>
              <a:t>Resources and their configuration</a:t>
            </a:r>
          </a:p>
          <a:p>
            <a:pPr lvl="1" algn="just"/>
            <a:r>
              <a:rPr lang="en-US" sz="2000" dirty="0" smtClean="0"/>
              <a:t>The </a:t>
            </a:r>
            <a:r>
              <a:rPr lang="en-US" sz="2000" b="1" dirty="0" smtClean="0"/>
              <a:t>expected result</a:t>
            </a:r>
          </a:p>
          <a:p>
            <a:pPr lvl="1" algn="just"/>
            <a:r>
              <a:rPr lang="en-US" sz="2000" dirty="0" smtClean="0"/>
              <a:t>The </a:t>
            </a:r>
            <a:r>
              <a:rPr lang="en-US" sz="2000" b="1" dirty="0" smtClean="0"/>
              <a:t>product version/competitive products to be compared </a:t>
            </a:r>
            <a:r>
              <a:rPr lang="en-US" sz="2000" dirty="0" smtClean="0"/>
              <a:t>with and related information such as their corresponding fields</a:t>
            </a:r>
            <a:endParaRPr lang="en-US" sz="2000" dirty="0"/>
          </a:p>
        </p:txBody>
      </p:sp>
    </p:spTree>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3. Automating Performance Test Cases</a:t>
            </a:r>
            <a:endParaRPr lang="en-US" dirty="0"/>
          </a:p>
        </p:txBody>
      </p:sp>
      <p:sp>
        <p:nvSpPr>
          <p:cNvPr id="3" name="Content Placeholder 2"/>
          <p:cNvSpPr>
            <a:spLocks noGrp="1"/>
          </p:cNvSpPr>
          <p:nvPr>
            <p:ph idx="1"/>
          </p:nvPr>
        </p:nvSpPr>
        <p:spPr/>
        <p:txBody>
          <a:bodyPr>
            <a:normAutofit/>
          </a:bodyPr>
          <a:lstStyle/>
          <a:p>
            <a:pPr algn="just"/>
            <a:r>
              <a:rPr lang="en-US" dirty="0" smtClean="0"/>
              <a:t>Performance testing should be automated due to following characteristics</a:t>
            </a:r>
          </a:p>
          <a:p>
            <a:pPr lvl="1" algn="just"/>
            <a:r>
              <a:rPr lang="en-US" sz="2000" dirty="0" smtClean="0"/>
              <a:t>Performing testing is </a:t>
            </a:r>
            <a:r>
              <a:rPr lang="en-US" sz="2000" b="1" dirty="0" smtClean="0"/>
              <a:t>repetitive</a:t>
            </a:r>
          </a:p>
          <a:p>
            <a:pPr lvl="1" algn="just"/>
            <a:r>
              <a:rPr lang="en-US" sz="2000" dirty="0" smtClean="0"/>
              <a:t>Performance test cases cannot be </a:t>
            </a:r>
            <a:r>
              <a:rPr lang="en-US" sz="2000" b="1" dirty="0" smtClean="0"/>
              <a:t>effective</a:t>
            </a:r>
            <a:r>
              <a:rPr lang="en-US" sz="2000" dirty="0" smtClean="0"/>
              <a:t> without automation</a:t>
            </a:r>
          </a:p>
          <a:p>
            <a:pPr lvl="1" algn="just"/>
            <a:r>
              <a:rPr lang="en-US" sz="2000" dirty="0" smtClean="0"/>
              <a:t>The </a:t>
            </a:r>
            <a:r>
              <a:rPr lang="en-US" sz="2000" b="1" dirty="0" smtClean="0"/>
              <a:t>results</a:t>
            </a:r>
            <a:r>
              <a:rPr lang="en-US" sz="2000" dirty="0" smtClean="0"/>
              <a:t> of performance testing need to be </a:t>
            </a:r>
            <a:r>
              <a:rPr lang="en-US" sz="2000" b="1" dirty="0" smtClean="0"/>
              <a:t>accurate</a:t>
            </a:r>
            <a:r>
              <a:rPr lang="en-US" sz="2000" dirty="0" smtClean="0"/>
              <a:t>, and manual calculations can introduce inaccuracy</a:t>
            </a:r>
          </a:p>
          <a:p>
            <a:pPr lvl="1" algn="just"/>
            <a:r>
              <a:rPr lang="en-US" sz="2000" dirty="0" smtClean="0"/>
              <a:t>Performance testing takes into account </a:t>
            </a:r>
            <a:r>
              <a:rPr lang="en-US" sz="2000" b="1" dirty="0" smtClean="0"/>
              <a:t>several factors </a:t>
            </a:r>
            <a:r>
              <a:rPr lang="en-US" sz="2000" dirty="0" smtClean="0"/>
              <a:t>and it is </a:t>
            </a:r>
            <a:r>
              <a:rPr lang="en-US" sz="2000" b="1" dirty="0" smtClean="0"/>
              <a:t>difficult to remember and use </a:t>
            </a:r>
            <a:r>
              <a:rPr lang="en-US" sz="2000" dirty="0" smtClean="0"/>
              <a:t>them if tests are done </a:t>
            </a:r>
            <a:r>
              <a:rPr lang="en-US" sz="2000" b="1" dirty="0" smtClean="0"/>
              <a:t>manually</a:t>
            </a:r>
          </a:p>
          <a:p>
            <a:pPr lvl="1" algn="just"/>
            <a:r>
              <a:rPr lang="en-US" sz="2000" dirty="0" smtClean="0"/>
              <a:t>The analysis of </a:t>
            </a:r>
            <a:r>
              <a:rPr lang="en-US" sz="2000" b="1" dirty="0" smtClean="0"/>
              <a:t>performance results </a:t>
            </a:r>
            <a:r>
              <a:rPr lang="en-US" sz="2000" dirty="0" smtClean="0"/>
              <a:t>need to take into account </a:t>
            </a:r>
            <a:r>
              <a:rPr lang="en-US" sz="2000" b="1" dirty="0" smtClean="0"/>
              <a:t>related information </a:t>
            </a:r>
            <a:r>
              <a:rPr lang="en-US" sz="2000" dirty="0" smtClean="0"/>
              <a:t>that is impossible to do in case of manual testing</a:t>
            </a:r>
          </a:p>
        </p:txBody>
      </p:sp>
    </p:spTree>
  </p:cSld>
  <p:clrMapOvr>
    <a:masterClrMapping/>
  </p:clrMapOvr>
  <p:transition spd="med">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4. Executing Performance Test Cases</a:t>
            </a:r>
            <a:endParaRPr lang="en-US" dirty="0"/>
          </a:p>
        </p:txBody>
      </p:sp>
      <p:sp>
        <p:nvSpPr>
          <p:cNvPr id="3" name="Content Placeholder 2"/>
          <p:cNvSpPr>
            <a:spLocks noGrp="1"/>
          </p:cNvSpPr>
          <p:nvPr>
            <p:ph idx="1"/>
          </p:nvPr>
        </p:nvSpPr>
        <p:spPr/>
        <p:txBody>
          <a:bodyPr>
            <a:normAutofit/>
          </a:bodyPr>
          <a:lstStyle/>
          <a:p>
            <a:pPr algn="just"/>
            <a:r>
              <a:rPr lang="en-US" dirty="0" smtClean="0"/>
              <a:t>Performance testing involves less effort for execution but more effort for planning, data collection, and analysis</a:t>
            </a:r>
          </a:p>
          <a:p>
            <a:pPr algn="just"/>
            <a:r>
              <a:rPr lang="en-US" dirty="0" smtClean="0"/>
              <a:t>The most effort consuming aspect in execution is usually data collection</a:t>
            </a:r>
          </a:p>
          <a:p>
            <a:pPr algn="just"/>
            <a:r>
              <a:rPr lang="en-US" dirty="0" smtClean="0"/>
              <a:t>Data corresponding to following points need to be collected</a:t>
            </a:r>
          </a:p>
          <a:p>
            <a:pPr lvl="1" algn="just"/>
            <a:r>
              <a:rPr lang="en-US" sz="2000" b="1" dirty="0" smtClean="0"/>
              <a:t>Start and end time </a:t>
            </a:r>
            <a:r>
              <a:rPr lang="en-US" sz="2000" dirty="0" smtClean="0"/>
              <a:t>of test case execution</a:t>
            </a:r>
          </a:p>
          <a:p>
            <a:pPr lvl="1" algn="just"/>
            <a:r>
              <a:rPr lang="en-US" sz="2000" b="1" dirty="0" smtClean="0"/>
              <a:t>Log and trace/audit files </a:t>
            </a:r>
            <a:r>
              <a:rPr lang="en-US" sz="2000" dirty="0" smtClean="0"/>
              <a:t>of the product and operating system (for future debugging and repeatability process)</a:t>
            </a:r>
          </a:p>
          <a:p>
            <a:pPr lvl="1" algn="just"/>
            <a:r>
              <a:rPr lang="en-US" sz="2000" b="1" dirty="0" smtClean="0"/>
              <a:t>Utilization of resources </a:t>
            </a:r>
            <a:r>
              <a:rPr lang="en-US" sz="2000" dirty="0" smtClean="0"/>
              <a:t>(CPU,  Memory, disk, network utilization, and so on)on a periodic basis</a:t>
            </a:r>
          </a:p>
          <a:p>
            <a:pPr lvl="1" algn="just"/>
            <a:r>
              <a:rPr lang="en-US" sz="2000" b="1" dirty="0" smtClean="0"/>
              <a:t>Configuration of all environmental factors </a:t>
            </a:r>
            <a:r>
              <a:rPr lang="en-US" sz="2000" dirty="0" smtClean="0"/>
              <a:t>(hardware, software, and other components)</a:t>
            </a:r>
          </a:p>
          <a:p>
            <a:pPr lvl="1" algn="just"/>
            <a:r>
              <a:rPr lang="en-US" sz="2000" dirty="0" smtClean="0"/>
              <a:t>The </a:t>
            </a:r>
            <a:r>
              <a:rPr lang="en-US" sz="2000" b="1" dirty="0" smtClean="0"/>
              <a:t>response time, throughput, latency </a:t>
            </a:r>
            <a:r>
              <a:rPr lang="en-US" sz="2000" dirty="0" smtClean="0"/>
              <a:t>and so on as specified in the test case documentation</a:t>
            </a:r>
          </a:p>
        </p:txBody>
      </p:sp>
    </p:spTree>
  </p:cSld>
  <p:clrMapOvr>
    <a:masterClrMapping/>
  </p:clrMapOvr>
  <p:transition spd="med">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Plotting of Performance Test Results</a:t>
            </a:r>
            <a:endParaRPr lang="en-US" dirty="0"/>
          </a:p>
        </p:txBody>
      </p:sp>
      <p:sp>
        <p:nvSpPr>
          <p:cNvPr id="3" name="Content Placeholder 2"/>
          <p:cNvSpPr>
            <a:spLocks noGrp="1"/>
          </p:cNvSpPr>
          <p:nvPr>
            <p:ph idx="1"/>
          </p:nvPr>
        </p:nvSpPr>
        <p:spPr/>
        <p:txBody>
          <a:bodyPr/>
          <a:lstStyle/>
          <a:p>
            <a:endParaRPr lang="en-US"/>
          </a:p>
        </p:txBody>
      </p:sp>
      <p:pic>
        <p:nvPicPr>
          <p:cNvPr id="2051" name="Picture 3" descr="C:\Users\uos\Documents\My Received Files\IMG_20160325_102839.jpg"/>
          <p:cNvPicPr>
            <a:picLocks noChangeAspect="1" noChangeArrowheads="1"/>
          </p:cNvPicPr>
          <p:nvPr/>
        </p:nvPicPr>
        <p:blipFill>
          <a:blip r:embed="rId2"/>
          <a:srcRect/>
          <a:stretch>
            <a:fillRect/>
          </a:stretch>
        </p:blipFill>
        <p:spPr bwMode="auto">
          <a:xfrm>
            <a:off x="1727200" y="1257496"/>
            <a:ext cx="8362461" cy="5448105"/>
          </a:xfrm>
          <a:prstGeom prst="rect">
            <a:avLst/>
          </a:prstGeom>
          <a:noFill/>
        </p:spPr>
      </p:pic>
    </p:spTree>
  </p:cSld>
  <p:clrMapOvr>
    <a:masterClrMapping/>
  </p:clrMapOvr>
  <p:transition spd="med">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5. Analyzing the Performance Test Results</a:t>
            </a:r>
            <a:endParaRPr lang="en-US" dirty="0"/>
          </a:p>
        </p:txBody>
      </p:sp>
      <p:sp>
        <p:nvSpPr>
          <p:cNvPr id="3" name="Content Placeholder 2"/>
          <p:cNvSpPr>
            <a:spLocks noGrp="1"/>
          </p:cNvSpPr>
          <p:nvPr>
            <p:ph idx="1"/>
          </p:nvPr>
        </p:nvSpPr>
        <p:spPr>
          <a:xfrm>
            <a:off x="1122946" y="1600200"/>
            <a:ext cx="9994233" cy="4876800"/>
          </a:xfrm>
        </p:spPr>
        <p:txBody>
          <a:bodyPr>
            <a:normAutofit/>
          </a:bodyPr>
          <a:lstStyle/>
          <a:p>
            <a:pPr algn="just"/>
            <a:r>
              <a:rPr lang="en-US" dirty="0" smtClean="0"/>
              <a:t>Most complex part of performance testing</a:t>
            </a:r>
          </a:p>
          <a:p>
            <a:pPr algn="just"/>
            <a:r>
              <a:rPr lang="en-US" dirty="0" smtClean="0"/>
              <a:t>It requires product knowledge, analytical thinking and statistical background of analyst</a:t>
            </a:r>
          </a:p>
          <a:p>
            <a:pPr lvl="1" algn="just"/>
            <a:r>
              <a:rPr lang="en-US" sz="2000" dirty="0" smtClean="0"/>
              <a:t>Calculate the </a:t>
            </a:r>
            <a:r>
              <a:rPr lang="en-US" sz="2000" b="1" dirty="0" smtClean="0"/>
              <a:t>mean</a:t>
            </a:r>
            <a:r>
              <a:rPr lang="en-US" sz="2000" dirty="0" smtClean="0"/>
              <a:t> of performance test result</a:t>
            </a:r>
          </a:p>
          <a:p>
            <a:pPr lvl="1" algn="just"/>
            <a:r>
              <a:rPr lang="en-US" sz="2000" dirty="0" smtClean="0"/>
              <a:t>Calculate the </a:t>
            </a:r>
            <a:r>
              <a:rPr lang="en-US" sz="2000" b="1" dirty="0" smtClean="0"/>
              <a:t>standard deviation</a:t>
            </a:r>
          </a:p>
          <a:p>
            <a:pPr lvl="1" algn="just"/>
            <a:r>
              <a:rPr lang="en-US" sz="2000" dirty="0" smtClean="0"/>
              <a:t>Removing the </a:t>
            </a:r>
            <a:r>
              <a:rPr lang="en-US" sz="2000" b="1" dirty="0" smtClean="0"/>
              <a:t>noise</a:t>
            </a:r>
            <a:r>
              <a:rPr lang="en-US" sz="2000" dirty="0" smtClean="0"/>
              <a:t> and </a:t>
            </a:r>
            <a:r>
              <a:rPr lang="en-US" sz="2000" b="1" dirty="0" smtClean="0"/>
              <a:t>re-plotting</a:t>
            </a:r>
            <a:r>
              <a:rPr lang="en-US" sz="2000" dirty="0" smtClean="0"/>
              <a:t> and </a:t>
            </a:r>
            <a:r>
              <a:rPr lang="en-US" sz="2000" b="1" dirty="0" smtClean="0"/>
              <a:t>re-calculating</a:t>
            </a:r>
            <a:r>
              <a:rPr lang="en-US" sz="2000" dirty="0" smtClean="0"/>
              <a:t> the </a:t>
            </a:r>
            <a:r>
              <a:rPr lang="en-US" sz="2000" b="1" dirty="0" smtClean="0"/>
              <a:t>mean</a:t>
            </a:r>
            <a:r>
              <a:rPr lang="en-US" sz="2000" dirty="0" smtClean="0"/>
              <a:t> and </a:t>
            </a:r>
            <a:r>
              <a:rPr lang="en-US" sz="2000" b="1" dirty="0" smtClean="0"/>
              <a:t>standard</a:t>
            </a:r>
            <a:r>
              <a:rPr lang="en-US" sz="2000" dirty="0" smtClean="0"/>
              <a:t> </a:t>
            </a:r>
            <a:r>
              <a:rPr lang="en-US" sz="2000" b="1" dirty="0" smtClean="0"/>
              <a:t>deviation</a:t>
            </a:r>
          </a:p>
          <a:p>
            <a:pPr lvl="2" algn="just"/>
            <a:r>
              <a:rPr lang="en-US" sz="2000" dirty="0" smtClean="0"/>
              <a:t>When there are a set of performance numbers that come from multiple runs of the same test, in a few iterations there can be some errors committed by scripts, software or human. When these values plotted on a chart, one or two values that are out of range may prevent meaningful analysis. Such values can be removed and the process of removing these values is called </a:t>
            </a:r>
            <a:r>
              <a:rPr lang="en-US" sz="2000" b="1" dirty="0" smtClean="0"/>
              <a:t>noise removal</a:t>
            </a:r>
          </a:p>
          <a:p>
            <a:pPr lvl="2" algn="just"/>
            <a:r>
              <a:rPr lang="en-US" sz="2000" dirty="0" smtClean="0"/>
              <a:t>The </a:t>
            </a:r>
            <a:r>
              <a:rPr lang="en-US" sz="2000" b="1" dirty="0" smtClean="0"/>
              <a:t>mean</a:t>
            </a:r>
            <a:r>
              <a:rPr lang="en-US" sz="2000" dirty="0" smtClean="0"/>
              <a:t> and </a:t>
            </a:r>
            <a:r>
              <a:rPr lang="en-US" sz="2000" b="1" dirty="0" smtClean="0"/>
              <a:t>standard deviation </a:t>
            </a:r>
            <a:r>
              <a:rPr lang="en-US" sz="2000" dirty="0" smtClean="0"/>
              <a:t>needs to be </a:t>
            </a:r>
            <a:r>
              <a:rPr lang="en-US" sz="2000" b="1" dirty="0" smtClean="0"/>
              <a:t>recalculated</a:t>
            </a:r>
          </a:p>
        </p:txBody>
      </p:sp>
    </p:spTree>
  </p:cSld>
  <p:clrMapOvr>
    <a:masterClrMapping/>
  </p:clrMapOvr>
  <p:transition spd="med">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5. Analyzing the Performance Test Results</a:t>
            </a:r>
            <a:endParaRPr lang="en-US" dirty="0"/>
          </a:p>
        </p:txBody>
      </p:sp>
      <p:sp>
        <p:nvSpPr>
          <p:cNvPr id="3" name="Content Placeholder 2"/>
          <p:cNvSpPr>
            <a:spLocks noGrp="1"/>
          </p:cNvSpPr>
          <p:nvPr>
            <p:ph idx="1"/>
          </p:nvPr>
        </p:nvSpPr>
        <p:spPr/>
        <p:txBody>
          <a:bodyPr>
            <a:normAutofit/>
          </a:bodyPr>
          <a:lstStyle/>
          <a:p>
            <a:pPr algn="just"/>
            <a:r>
              <a:rPr lang="en-US" dirty="0" smtClean="0"/>
              <a:t>The data coming from </a:t>
            </a:r>
            <a:r>
              <a:rPr lang="en-US" b="1" dirty="0" smtClean="0"/>
              <a:t>cache</a:t>
            </a:r>
            <a:r>
              <a:rPr lang="en-US" dirty="0" smtClean="0"/>
              <a:t> need to be differentiated from the data that gets </a:t>
            </a:r>
            <a:r>
              <a:rPr lang="en-US" b="1" dirty="0" smtClean="0"/>
              <a:t>processed by the product</a:t>
            </a:r>
          </a:p>
          <a:p>
            <a:pPr algn="just"/>
            <a:r>
              <a:rPr lang="en-US" dirty="0" smtClean="0"/>
              <a:t>Differentiating the performance data when the </a:t>
            </a:r>
            <a:r>
              <a:rPr lang="en-US" b="1" dirty="0" smtClean="0"/>
              <a:t>resources are available </a:t>
            </a:r>
            <a:r>
              <a:rPr lang="en-US" dirty="0" smtClean="0"/>
              <a:t>completely as against when some </a:t>
            </a:r>
            <a:r>
              <a:rPr lang="en-US" b="1" dirty="0" smtClean="0"/>
              <a:t>background</a:t>
            </a:r>
            <a:r>
              <a:rPr lang="en-US" dirty="0" smtClean="0"/>
              <a:t> activities were going on</a:t>
            </a:r>
          </a:p>
          <a:p>
            <a:pPr algn="just"/>
            <a:r>
              <a:rPr lang="en-US" dirty="0" smtClean="0"/>
              <a:t>Performance </a:t>
            </a:r>
            <a:r>
              <a:rPr lang="en-US" b="1" dirty="0" smtClean="0"/>
              <a:t>numbers are to be reproducible </a:t>
            </a:r>
            <a:r>
              <a:rPr lang="en-US" dirty="0" smtClean="0"/>
              <a:t>for customers to ensure that performance tests are repeated multiple times</a:t>
            </a:r>
          </a:p>
          <a:p>
            <a:pPr algn="just"/>
            <a:r>
              <a:rPr lang="en-US" dirty="0" smtClean="0"/>
              <a:t>Standard deviation represents how much the data varies from the mean</a:t>
            </a:r>
          </a:p>
          <a:p>
            <a:pPr algn="just"/>
            <a:endParaRPr lang="en-US" dirty="0" smtClean="0"/>
          </a:p>
        </p:txBody>
      </p:sp>
    </p:spTree>
  </p:cSld>
  <p:clrMapOvr>
    <a:masterClrMapping/>
  </p:clrMapOvr>
  <p:transition spd="med">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5. Analyzing the Performance Test Results</a:t>
            </a:r>
            <a:endParaRPr lang="en-US" dirty="0"/>
          </a:p>
        </p:txBody>
      </p:sp>
      <p:sp>
        <p:nvSpPr>
          <p:cNvPr id="3" name="Content Placeholder 2"/>
          <p:cNvSpPr>
            <a:spLocks noGrp="1"/>
          </p:cNvSpPr>
          <p:nvPr>
            <p:ph idx="1"/>
          </p:nvPr>
        </p:nvSpPr>
        <p:spPr>
          <a:xfrm>
            <a:off x="1122946" y="1600200"/>
            <a:ext cx="9978191" cy="4953000"/>
          </a:xfrm>
        </p:spPr>
        <p:txBody>
          <a:bodyPr>
            <a:normAutofit/>
          </a:bodyPr>
          <a:lstStyle/>
          <a:p>
            <a:pPr algn="just"/>
            <a:r>
              <a:rPr lang="en-US" b="1" dirty="0" smtClean="0"/>
              <a:t>Performance Test Results Example </a:t>
            </a:r>
            <a:r>
              <a:rPr lang="en-US" dirty="0" smtClean="0"/>
              <a:t>If the average response time of 100 people withdrawing money from ATM is 100 seconds and the standard deviation is 2, then there is greater chance that this performance data is repeatable than in a case where the standard deviation is 30.</a:t>
            </a:r>
          </a:p>
          <a:p>
            <a:pPr algn="just"/>
            <a:r>
              <a:rPr lang="en-US" dirty="0" smtClean="0"/>
              <a:t>Standard deviation close to zero means the product performance is highly repeatable.</a:t>
            </a:r>
          </a:p>
          <a:p>
            <a:pPr algn="just"/>
            <a:endParaRPr lang="en-US" dirty="0"/>
          </a:p>
        </p:txBody>
      </p:sp>
    </p:spTree>
  </p:cSld>
  <p:clrMapOvr>
    <a:masterClrMapping/>
  </p:clrMapOvr>
  <p:transition spd="med">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Performance Tuning</a:t>
            </a:r>
            <a:endParaRPr lang="en-US" dirty="0"/>
          </a:p>
        </p:txBody>
      </p:sp>
      <p:sp>
        <p:nvSpPr>
          <p:cNvPr id="3" name="Content Placeholder 2"/>
          <p:cNvSpPr>
            <a:spLocks noGrp="1"/>
          </p:cNvSpPr>
          <p:nvPr>
            <p:ph idx="1"/>
          </p:nvPr>
        </p:nvSpPr>
        <p:spPr>
          <a:xfrm>
            <a:off x="1155032" y="1600200"/>
            <a:ext cx="9914021" cy="4953000"/>
          </a:xfrm>
        </p:spPr>
        <p:txBody>
          <a:bodyPr>
            <a:normAutofit/>
          </a:bodyPr>
          <a:lstStyle/>
          <a:p>
            <a:pPr algn="just"/>
            <a:r>
              <a:rPr lang="en-US" b="1" dirty="0" smtClean="0"/>
              <a:t>Narrow down the list of parameters </a:t>
            </a:r>
            <a:r>
              <a:rPr lang="en-US" dirty="0" smtClean="0"/>
              <a:t>that impact the performance</a:t>
            </a:r>
          </a:p>
          <a:p>
            <a:pPr algn="just"/>
            <a:r>
              <a:rPr lang="en-US" dirty="0" smtClean="0"/>
              <a:t>Performance </a:t>
            </a:r>
            <a:r>
              <a:rPr lang="en-US" b="1" dirty="0" smtClean="0"/>
              <a:t>test cases are repeated </a:t>
            </a:r>
            <a:r>
              <a:rPr lang="en-US" dirty="0" smtClean="0"/>
              <a:t>for different values of those parameters</a:t>
            </a:r>
          </a:p>
          <a:p>
            <a:pPr algn="just"/>
            <a:r>
              <a:rPr lang="en-US" b="1" dirty="0" smtClean="0"/>
              <a:t>Understanding each parameter and its impact </a:t>
            </a:r>
            <a:r>
              <a:rPr lang="en-US" dirty="0" smtClean="0"/>
              <a:t>on the product is not sufficient for performance tuning</a:t>
            </a:r>
          </a:p>
          <a:p>
            <a:pPr algn="just"/>
            <a:r>
              <a:rPr lang="en-US" b="1" dirty="0" smtClean="0"/>
              <a:t>Combination of parameters </a:t>
            </a:r>
            <a:r>
              <a:rPr lang="en-US" dirty="0" smtClean="0"/>
              <a:t>too causes changes in performance</a:t>
            </a:r>
          </a:p>
          <a:p>
            <a:pPr algn="just"/>
            <a:r>
              <a:rPr lang="en-US" dirty="0" smtClean="0"/>
              <a:t>The </a:t>
            </a:r>
            <a:r>
              <a:rPr lang="en-US" b="1" dirty="0" smtClean="0"/>
              <a:t>relationship among various parameters </a:t>
            </a:r>
            <a:r>
              <a:rPr lang="en-US" dirty="0" smtClean="0"/>
              <a:t>and their impact too is very important to performance tuning</a:t>
            </a:r>
            <a:endParaRPr lang="en-US" dirty="0"/>
          </a:p>
        </p:txBody>
      </p:sp>
    </p:spTree>
  </p:cSld>
  <p:clrMapOvr>
    <a:masterClrMapping/>
  </p:clrMapOvr>
  <p:transition spd="med">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Performance Tuning</a:t>
            </a:r>
            <a:endParaRPr lang="en-US" dirty="0"/>
          </a:p>
        </p:txBody>
      </p:sp>
      <p:sp>
        <p:nvSpPr>
          <p:cNvPr id="3" name="Content Placeholder 2"/>
          <p:cNvSpPr>
            <a:spLocks noGrp="1"/>
          </p:cNvSpPr>
          <p:nvPr>
            <p:ph idx="1"/>
          </p:nvPr>
        </p:nvSpPr>
        <p:spPr>
          <a:xfrm>
            <a:off x="1106904" y="1379621"/>
            <a:ext cx="9978191" cy="5257800"/>
          </a:xfrm>
        </p:spPr>
        <p:txBody>
          <a:bodyPr>
            <a:normAutofit/>
          </a:bodyPr>
          <a:lstStyle/>
          <a:p>
            <a:pPr algn="just"/>
            <a:r>
              <a:rPr lang="en-US" dirty="0" smtClean="0"/>
              <a:t>Steps involved in getting the optimum mileage are</a:t>
            </a:r>
          </a:p>
          <a:p>
            <a:pPr lvl="1" algn="just"/>
            <a:r>
              <a:rPr lang="en-US" sz="2000" b="1" dirty="0" smtClean="0"/>
              <a:t>Tuning the product parameters</a:t>
            </a:r>
          </a:p>
          <a:p>
            <a:pPr lvl="2" algn="just"/>
            <a:r>
              <a:rPr lang="en-US" sz="2000" dirty="0" smtClean="0"/>
              <a:t>Product parameters may be</a:t>
            </a:r>
          </a:p>
          <a:p>
            <a:pPr lvl="3" algn="just"/>
            <a:r>
              <a:rPr lang="en-US" sz="2000" dirty="0" smtClean="0"/>
              <a:t>Parallel transactions</a:t>
            </a:r>
          </a:p>
          <a:p>
            <a:pPr lvl="3" algn="just"/>
            <a:r>
              <a:rPr lang="en-US" sz="2000" dirty="0" smtClean="0"/>
              <a:t>Caching and memory size</a:t>
            </a:r>
          </a:p>
          <a:p>
            <a:pPr lvl="3" algn="just"/>
            <a:r>
              <a:rPr lang="en-US" sz="2000" dirty="0" smtClean="0"/>
              <a:t>Creating background activities</a:t>
            </a:r>
          </a:p>
          <a:p>
            <a:pPr lvl="3" algn="just"/>
            <a:r>
              <a:rPr lang="en-US" sz="2000" dirty="0" smtClean="0"/>
              <a:t>Providing better priority to highly used operations/transactions</a:t>
            </a:r>
          </a:p>
          <a:p>
            <a:pPr lvl="3" algn="just"/>
            <a:r>
              <a:rPr lang="en-US" sz="2000" dirty="0" smtClean="0"/>
              <a:t>Changing the sequence of a set of operations to suit the resource availability</a:t>
            </a:r>
          </a:p>
          <a:p>
            <a:pPr algn="just"/>
            <a:r>
              <a:rPr lang="en-US" dirty="0" smtClean="0"/>
              <a:t>Setting different values to these parameters enhances the product performance</a:t>
            </a:r>
            <a:endParaRPr lang="en-US" dirty="0"/>
          </a:p>
        </p:txBody>
      </p:sp>
    </p:spTree>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Performance Tuning</a:t>
            </a:r>
            <a:endParaRPr lang="en-US" dirty="0"/>
          </a:p>
        </p:txBody>
      </p:sp>
      <p:sp>
        <p:nvSpPr>
          <p:cNvPr id="3" name="Content Placeholder 2"/>
          <p:cNvSpPr>
            <a:spLocks noGrp="1"/>
          </p:cNvSpPr>
          <p:nvPr>
            <p:ph idx="1"/>
          </p:nvPr>
        </p:nvSpPr>
        <p:spPr>
          <a:xfrm>
            <a:off x="1106904" y="1600200"/>
            <a:ext cx="9994233" cy="5105400"/>
          </a:xfrm>
        </p:spPr>
        <p:txBody>
          <a:bodyPr>
            <a:normAutofit/>
          </a:bodyPr>
          <a:lstStyle/>
          <a:p>
            <a:pPr lvl="1" algn="just"/>
            <a:r>
              <a:rPr lang="en-US" sz="2000" b="1" dirty="0" smtClean="0"/>
              <a:t>Tuning the operating system and parameters</a:t>
            </a:r>
          </a:p>
          <a:p>
            <a:pPr lvl="2" algn="just"/>
            <a:r>
              <a:rPr lang="en-US" sz="2000" dirty="0" smtClean="0"/>
              <a:t>Operating system parameters may be</a:t>
            </a:r>
          </a:p>
          <a:p>
            <a:pPr lvl="3" algn="just"/>
            <a:r>
              <a:rPr lang="en-US" sz="2000" dirty="0" smtClean="0"/>
              <a:t>File system parameters (Number of open files permitted)</a:t>
            </a:r>
          </a:p>
          <a:p>
            <a:pPr lvl="3" algn="just"/>
            <a:r>
              <a:rPr lang="en-US" sz="2000" dirty="0" smtClean="0"/>
              <a:t>Disk management parameters (Simultaneous disk reads/ writes)</a:t>
            </a:r>
          </a:p>
          <a:p>
            <a:pPr lvl="3" algn="just"/>
            <a:r>
              <a:rPr lang="en-US" sz="2000" dirty="0" smtClean="0"/>
              <a:t>Memory management parameters (Virtual memory, page size and number of pages)</a:t>
            </a:r>
          </a:p>
          <a:p>
            <a:pPr lvl="3" algn="just"/>
            <a:r>
              <a:rPr lang="en-US" sz="2000" dirty="0" smtClean="0"/>
              <a:t>Processor management parameters (Enabling/ disabling processors in multiprocessor environment)</a:t>
            </a:r>
          </a:p>
          <a:p>
            <a:pPr lvl="3" algn="just"/>
            <a:r>
              <a:rPr lang="en-US" sz="2000" dirty="0" smtClean="0"/>
              <a:t>Network parameters (Setting TCP/ IP time out)</a:t>
            </a:r>
          </a:p>
          <a:p>
            <a:pPr algn="just"/>
            <a:r>
              <a:rPr lang="en-US" dirty="0" smtClean="0"/>
              <a:t>The OS parameters need to be tuned before application/product tuning is done</a:t>
            </a:r>
          </a:p>
          <a:p>
            <a:pPr algn="just"/>
            <a:r>
              <a:rPr lang="en-US" dirty="0" smtClean="0"/>
              <a:t>Results of performance tuning are published in the form of a guide called Performance Tuning Guide for customers so that they can get benefit from this exercise</a:t>
            </a:r>
          </a:p>
          <a:p>
            <a:pPr algn="just"/>
            <a:r>
              <a:rPr lang="en-US" dirty="0" smtClean="0"/>
              <a:t>The guide explains in detail the effect of each product and OS parameter on performance</a:t>
            </a:r>
          </a:p>
        </p:txBody>
      </p:sp>
    </p:spTree>
  </p:cSld>
  <p:clrMapOvr>
    <a:masterClrMapping/>
  </p:clrMapOvr>
  <p:transition spd="med">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Expected Results, Performance Results Without Tuning and Tuned Results</a:t>
            </a:r>
            <a:endParaRPr lang="en-US" dirty="0"/>
          </a:p>
        </p:txBody>
      </p:sp>
      <p:sp>
        <p:nvSpPr>
          <p:cNvPr id="3" name="Content Placeholder 2"/>
          <p:cNvSpPr>
            <a:spLocks noGrp="1"/>
          </p:cNvSpPr>
          <p:nvPr>
            <p:ph idx="1"/>
          </p:nvPr>
        </p:nvSpPr>
        <p:spPr/>
        <p:txBody>
          <a:bodyPr/>
          <a:lstStyle/>
          <a:p>
            <a:endParaRPr lang="en-US"/>
          </a:p>
        </p:txBody>
      </p:sp>
      <p:pic>
        <p:nvPicPr>
          <p:cNvPr id="4" name="Picture 2" descr="C:\Users\uos\Documents\My Received Files\IMG_20160325_102005.jpg"/>
          <p:cNvPicPr>
            <a:picLocks noChangeAspect="1" noChangeArrowheads="1"/>
          </p:cNvPicPr>
          <p:nvPr/>
        </p:nvPicPr>
        <p:blipFill>
          <a:blip r:embed="rId2"/>
          <a:srcRect/>
          <a:stretch>
            <a:fillRect/>
          </a:stretch>
        </p:blipFill>
        <p:spPr bwMode="auto">
          <a:xfrm>
            <a:off x="203200" y="1665514"/>
            <a:ext cx="11763160" cy="3668486"/>
          </a:xfrm>
          <a:prstGeom prst="rect">
            <a:avLst/>
          </a:prstGeom>
          <a:noFill/>
        </p:spPr>
      </p:pic>
    </p:spTree>
  </p:cSld>
  <p:clrMapOvr>
    <a:masterClrMapping/>
  </p:clrMapOvr>
  <p:transition spd="med">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Performance Benchmarking</a:t>
            </a:r>
            <a:endParaRPr lang="en-US" dirty="0"/>
          </a:p>
        </p:txBody>
      </p:sp>
      <p:sp>
        <p:nvSpPr>
          <p:cNvPr id="3" name="Content Placeholder 2"/>
          <p:cNvSpPr>
            <a:spLocks noGrp="1"/>
          </p:cNvSpPr>
          <p:nvPr>
            <p:ph idx="1"/>
          </p:nvPr>
        </p:nvSpPr>
        <p:spPr>
          <a:xfrm>
            <a:off x="1106904" y="1600200"/>
            <a:ext cx="9978191" cy="5029200"/>
          </a:xfrm>
        </p:spPr>
        <p:txBody>
          <a:bodyPr>
            <a:normAutofit/>
          </a:bodyPr>
          <a:lstStyle/>
          <a:p>
            <a:pPr algn="just"/>
            <a:r>
              <a:rPr lang="en-US" dirty="0" smtClean="0"/>
              <a:t>Performance benchmarking is about comparing the performance of product transactions with that of the competitors</a:t>
            </a:r>
          </a:p>
          <a:p>
            <a:pPr algn="just"/>
            <a:r>
              <a:rPr lang="en-US" dirty="0" smtClean="0"/>
              <a:t>No two products can have same architecture, design, functionality and code</a:t>
            </a:r>
          </a:p>
          <a:p>
            <a:pPr algn="just"/>
            <a:r>
              <a:rPr lang="en-US" dirty="0" smtClean="0"/>
              <a:t>Customers can also be different</a:t>
            </a:r>
          </a:p>
          <a:p>
            <a:pPr algn="just"/>
            <a:r>
              <a:rPr lang="en-US" dirty="0" smtClean="0"/>
              <a:t>An independent test team or an independent organization does performance benchmarking</a:t>
            </a:r>
          </a:p>
          <a:p>
            <a:pPr algn="just"/>
            <a:r>
              <a:rPr lang="en-US" dirty="0" smtClean="0"/>
              <a:t>The person doing performance benchmarking needs to have expertise in all products being compared</a:t>
            </a:r>
          </a:p>
        </p:txBody>
      </p:sp>
    </p:spTree>
  </p:cSld>
  <p:clrMapOvr>
    <a:masterClrMapping/>
  </p:clrMapOvr>
  <p:transition spd="med">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Performance Benchmarking</a:t>
            </a:r>
            <a:endParaRPr lang="en-US" dirty="0"/>
          </a:p>
        </p:txBody>
      </p:sp>
      <p:sp>
        <p:nvSpPr>
          <p:cNvPr id="3" name="Content Placeholder 2"/>
          <p:cNvSpPr>
            <a:spLocks noGrp="1"/>
          </p:cNvSpPr>
          <p:nvPr>
            <p:ph idx="1"/>
          </p:nvPr>
        </p:nvSpPr>
        <p:spPr>
          <a:xfrm>
            <a:off x="1106904" y="1600201"/>
            <a:ext cx="10010275" cy="4864767"/>
          </a:xfrm>
        </p:spPr>
        <p:txBody>
          <a:bodyPr>
            <a:normAutofit/>
          </a:bodyPr>
          <a:lstStyle/>
          <a:p>
            <a:r>
              <a:rPr lang="en-US" dirty="0" smtClean="0"/>
              <a:t>Steps involved in performance benchmarking are</a:t>
            </a:r>
          </a:p>
          <a:p>
            <a:pPr lvl="1"/>
            <a:r>
              <a:rPr lang="en-US" sz="2000" dirty="0" smtClean="0"/>
              <a:t>Identifying the transactions/scenarios and the test configuration</a:t>
            </a:r>
          </a:p>
          <a:p>
            <a:pPr lvl="1"/>
            <a:r>
              <a:rPr lang="en-US" sz="2000" dirty="0" smtClean="0"/>
              <a:t>Comparing the performance of different products</a:t>
            </a:r>
          </a:p>
          <a:p>
            <a:pPr lvl="1"/>
            <a:r>
              <a:rPr lang="en-US" sz="2000" dirty="0" smtClean="0"/>
              <a:t>Tuning the parameters of the products being compared fairly to deliver the best performance</a:t>
            </a:r>
          </a:p>
          <a:p>
            <a:pPr lvl="1"/>
            <a:r>
              <a:rPr lang="en-US" sz="2000" dirty="0" smtClean="0"/>
              <a:t>Publishing the results of performance benchmarking</a:t>
            </a:r>
          </a:p>
          <a:p>
            <a:r>
              <a:rPr lang="en-US" dirty="0" smtClean="0"/>
              <a:t>Tunable parameters for the various products may be different</a:t>
            </a:r>
          </a:p>
          <a:p>
            <a:r>
              <a:rPr lang="en-US" dirty="0" smtClean="0"/>
              <a:t>Understanding those parameters and their impact on performance is very important in doing comparison </a:t>
            </a:r>
          </a:p>
          <a:p>
            <a:r>
              <a:rPr lang="en-US" dirty="0" smtClean="0"/>
              <a:t>This is one place where bias can come in</a:t>
            </a:r>
          </a:p>
        </p:txBody>
      </p:sp>
    </p:spTree>
  </p:cSld>
  <p:clrMapOvr>
    <a:masterClrMapping/>
  </p:clrMapOvr>
  <p:transition spd="med">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Performance Benchmarking</a:t>
            </a:r>
            <a:endParaRPr lang="en-US" dirty="0"/>
          </a:p>
        </p:txBody>
      </p:sp>
      <p:sp>
        <p:nvSpPr>
          <p:cNvPr id="3" name="Content Placeholder 2"/>
          <p:cNvSpPr>
            <a:spLocks noGrp="1"/>
          </p:cNvSpPr>
          <p:nvPr>
            <p:ph idx="1"/>
          </p:nvPr>
        </p:nvSpPr>
        <p:spPr/>
        <p:txBody>
          <a:bodyPr>
            <a:normAutofit/>
          </a:bodyPr>
          <a:lstStyle/>
          <a:p>
            <a:pPr algn="just"/>
            <a:r>
              <a:rPr lang="en-US" dirty="0" smtClean="0"/>
              <a:t>There could be three outcomes</a:t>
            </a:r>
          </a:p>
          <a:p>
            <a:pPr lvl="1" algn="just"/>
            <a:r>
              <a:rPr lang="en-US" sz="2000" b="1" dirty="0" smtClean="0"/>
              <a:t>First outcome </a:t>
            </a:r>
            <a:r>
              <a:rPr lang="en-US" sz="2000" dirty="0" smtClean="0"/>
              <a:t>can be positive where a set of transactions or scenarios outperform with respect to competition</a:t>
            </a:r>
          </a:p>
          <a:p>
            <a:pPr lvl="1" algn="just"/>
            <a:r>
              <a:rPr lang="en-US" sz="2000" b="1" dirty="0" smtClean="0"/>
              <a:t>Second outcome </a:t>
            </a:r>
            <a:r>
              <a:rPr lang="en-US" sz="2000" dirty="0" smtClean="0"/>
              <a:t>can be neutral where a set of transactions are comparable with that of competition</a:t>
            </a:r>
          </a:p>
          <a:p>
            <a:pPr lvl="1" algn="just"/>
            <a:r>
              <a:rPr lang="en-US" sz="2000" dirty="0" smtClean="0"/>
              <a:t>The </a:t>
            </a:r>
            <a:r>
              <a:rPr lang="en-US" sz="2000" b="1" dirty="0" smtClean="0"/>
              <a:t>third outcome </a:t>
            </a:r>
            <a:r>
              <a:rPr lang="en-US" sz="2000" dirty="0" smtClean="0"/>
              <a:t>can be negative where a set of transaction under-perform compared to that of the competition. Performance tuning exercise need to be performed for this set of transactions</a:t>
            </a:r>
          </a:p>
          <a:p>
            <a:pPr algn="just"/>
            <a:r>
              <a:rPr lang="en-US" dirty="0" smtClean="0"/>
              <a:t>Two types of publications are involved to publish performance benchmarking results </a:t>
            </a:r>
          </a:p>
          <a:p>
            <a:pPr lvl="1" algn="just"/>
            <a:r>
              <a:rPr lang="en-US" sz="2000" b="1" dirty="0" smtClean="0"/>
              <a:t>Internal, confidential publication </a:t>
            </a:r>
            <a:r>
              <a:rPr lang="en-US" sz="2000" dirty="0" smtClean="0"/>
              <a:t>to product teams, containing all the three outcomes and recommended set of actions</a:t>
            </a:r>
          </a:p>
          <a:p>
            <a:pPr lvl="1" algn="just"/>
            <a:r>
              <a:rPr lang="en-US" sz="2000" dirty="0" smtClean="0"/>
              <a:t>Benchmarks conducted by independent organizations are published as </a:t>
            </a:r>
            <a:r>
              <a:rPr lang="en-US" sz="2000" b="1" dirty="0" smtClean="0"/>
              <a:t>audited benchmarks </a:t>
            </a:r>
          </a:p>
          <a:p>
            <a:pPr lvl="1" algn="just"/>
            <a:endParaRPr lang="en-US" dirty="0" smtClean="0"/>
          </a:p>
          <a:p>
            <a:pPr lvl="1" algn="just"/>
            <a:endParaRPr lang="en-US" dirty="0"/>
          </a:p>
        </p:txBody>
      </p:sp>
    </p:spTree>
  </p:cSld>
  <p:clrMapOvr>
    <a:masterClrMapping/>
  </p:clrMapOvr>
  <p:transition spd="med">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 Capacity Planning</a:t>
            </a:r>
            <a:endParaRPr lang="en-US" dirty="0"/>
          </a:p>
        </p:txBody>
      </p:sp>
      <p:sp>
        <p:nvSpPr>
          <p:cNvPr id="3" name="Content Placeholder 2"/>
          <p:cNvSpPr>
            <a:spLocks noGrp="1"/>
          </p:cNvSpPr>
          <p:nvPr>
            <p:ph idx="1"/>
          </p:nvPr>
        </p:nvSpPr>
        <p:spPr>
          <a:xfrm>
            <a:off x="1106904" y="1371600"/>
            <a:ext cx="9978191" cy="5257800"/>
          </a:xfrm>
        </p:spPr>
        <p:txBody>
          <a:bodyPr>
            <a:normAutofit/>
          </a:bodyPr>
          <a:lstStyle/>
          <a:p>
            <a:pPr algn="just"/>
            <a:r>
              <a:rPr lang="en-US" dirty="0" smtClean="0"/>
              <a:t>In capacity planning Performance requirements and performance results are taken as input requirements and the configuration needed to satisfy that set of requirements are derived.</a:t>
            </a:r>
          </a:p>
          <a:p>
            <a:pPr algn="just"/>
            <a:r>
              <a:rPr lang="en-US" dirty="0" smtClean="0"/>
              <a:t>You need to understand two types of requirements for capacity planning</a:t>
            </a:r>
          </a:p>
          <a:p>
            <a:pPr lvl="1" algn="just"/>
            <a:r>
              <a:rPr lang="en-US" sz="2000" b="1" dirty="0" smtClean="0"/>
              <a:t>Resource Requirements </a:t>
            </a:r>
            <a:r>
              <a:rPr lang="en-US" sz="2000" dirty="0" smtClean="0"/>
              <a:t>requires a clear understanding of resource requirements for transactions/scenarios</a:t>
            </a:r>
          </a:p>
          <a:p>
            <a:pPr lvl="1" algn="just"/>
            <a:r>
              <a:rPr lang="en-US" sz="2000" smtClean="0"/>
              <a:t>Transactions </a:t>
            </a:r>
            <a:r>
              <a:rPr lang="en-US" sz="2000" dirty="0" smtClean="0"/>
              <a:t>associated with load conditions can be  </a:t>
            </a:r>
          </a:p>
          <a:p>
            <a:pPr lvl="2" algn="just"/>
            <a:r>
              <a:rPr lang="en-US" sz="2000" dirty="0" smtClean="0"/>
              <a:t>Disk intensive</a:t>
            </a:r>
          </a:p>
          <a:p>
            <a:pPr lvl="2" algn="just"/>
            <a:r>
              <a:rPr lang="en-US" sz="2000" dirty="0" smtClean="0"/>
              <a:t>CPU intensive</a:t>
            </a:r>
          </a:p>
          <a:p>
            <a:pPr lvl="2" algn="just"/>
            <a:r>
              <a:rPr lang="en-US" sz="2000" dirty="0" smtClean="0"/>
              <a:t>Network intensive</a:t>
            </a:r>
          </a:p>
          <a:p>
            <a:pPr lvl="2" algn="just"/>
            <a:r>
              <a:rPr lang="en-US" sz="2000" dirty="0" smtClean="0"/>
              <a:t>Memory intensive</a:t>
            </a:r>
          </a:p>
          <a:p>
            <a:pPr lvl="2" algn="just"/>
            <a:r>
              <a:rPr lang="en-US" sz="2000" dirty="0" smtClean="0"/>
              <a:t>Or a combination of above</a:t>
            </a:r>
          </a:p>
        </p:txBody>
      </p:sp>
    </p:spTree>
  </p:cSld>
  <p:clrMapOvr>
    <a:masterClrMapping/>
  </p:clrMapOvr>
  <p:transition spd="med">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 Capacity Planning</a:t>
            </a:r>
            <a:endParaRPr lang="en-US" dirty="0"/>
          </a:p>
        </p:txBody>
      </p:sp>
      <p:sp>
        <p:nvSpPr>
          <p:cNvPr id="3" name="Content Placeholder 2"/>
          <p:cNvSpPr>
            <a:spLocks noGrp="1"/>
          </p:cNvSpPr>
          <p:nvPr>
            <p:ph idx="1"/>
          </p:nvPr>
        </p:nvSpPr>
        <p:spPr>
          <a:xfrm>
            <a:off x="1187116" y="1600200"/>
            <a:ext cx="9899984" cy="4572000"/>
          </a:xfrm>
        </p:spPr>
        <p:txBody>
          <a:bodyPr>
            <a:normAutofit/>
          </a:bodyPr>
          <a:lstStyle/>
          <a:p>
            <a:pPr lvl="1" algn="just"/>
            <a:r>
              <a:rPr lang="en-US" sz="2000" b="1" dirty="0" smtClean="0"/>
              <a:t>Load patterns</a:t>
            </a:r>
            <a:r>
              <a:rPr lang="en-US" sz="2000" dirty="0" smtClean="0"/>
              <a:t> can be decided on the following basis</a:t>
            </a:r>
          </a:p>
          <a:p>
            <a:pPr lvl="2" algn="just"/>
            <a:r>
              <a:rPr lang="en-US" sz="2000" dirty="0" smtClean="0"/>
              <a:t>Actual customer requirements for immediate need(</a:t>
            </a:r>
            <a:r>
              <a:rPr lang="en-US" sz="2000" b="1" dirty="0" smtClean="0"/>
              <a:t>short term</a:t>
            </a:r>
            <a:r>
              <a:rPr lang="en-US" sz="2000" dirty="0" smtClean="0"/>
              <a:t>)</a:t>
            </a:r>
          </a:p>
          <a:p>
            <a:pPr lvl="2" algn="just"/>
            <a:r>
              <a:rPr lang="en-US" sz="2000" dirty="0" smtClean="0"/>
              <a:t>Requirements for the next few months (</a:t>
            </a:r>
            <a:r>
              <a:rPr lang="en-US" sz="2000" b="1" dirty="0" smtClean="0"/>
              <a:t>medium term</a:t>
            </a:r>
            <a:r>
              <a:rPr lang="en-US" sz="2000" dirty="0" smtClean="0"/>
              <a:t>)</a:t>
            </a:r>
          </a:p>
          <a:p>
            <a:pPr lvl="2" algn="just"/>
            <a:r>
              <a:rPr lang="en-US" sz="2000" dirty="0" smtClean="0"/>
              <a:t>Requirements for the next few years (</a:t>
            </a:r>
            <a:r>
              <a:rPr lang="en-US" sz="2000" b="1" dirty="0" smtClean="0"/>
              <a:t>long term</a:t>
            </a:r>
            <a:r>
              <a:rPr lang="en-US" sz="2000" dirty="0" smtClean="0"/>
              <a:t>) </a:t>
            </a:r>
          </a:p>
          <a:p>
            <a:pPr lvl="1" algn="just"/>
            <a:r>
              <a:rPr lang="en-US" sz="2000" dirty="0" smtClean="0"/>
              <a:t>Consider future requirements during the capacity planning</a:t>
            </a:r>
          </a:p>
          <a:p>
            <a:pPr algn="just"/>
            <a:r>
              <a:rPr lang="en-US" dirty="0" smtClean="0"/>
              <a:t>Capacity planning corresponding to short, medium and long term requirements are</a:t>
            </a:r>
          </a:p>
          <a:p>
            <a:pPr lvl="1" algn="just"/>
            <a:r>
              <a:rPr lang="en-US" sz="2000" b="1" dirty="0" smtClean="0"/>
              <a:t>Minimum required configurations- </a:t>
            </a:r>
            <a:r>
              <a:rPr lang="en-US" sz="2000" dirty="0" smtClean="0"/>
              <a:t>denotes that with anything less than this configuration, the product may not work</a:t>
            </a:r>
          </a:p>
          <a:p>
            <a:pPr lvl="1" algn="just"/>
            <a:r>
              <a:rPr lang="en-US" sz="2000" b="1" dirty="0" smtClean="0"/>
              <a:t>Typical configuration- </a:t>
            </a:r>
            <a:r>
              <a:rPr lang="en-US" sz="2000" dirty="0" smtClean="0"/>
              <a:t>denotes that under that configuration, the product will work fine for meeting the performance requirements of the required load pattern and can also handle a slight increase in the load pattern</a:t>
            </a:r>
          </a:p>
          <a:p>
            <a:pPr lvl="1" algn="just"/>
            <a:r>
              <a:rPr lang="en-US" sz="2000" b="1" dirty="0" smtClean="0"/>
              <a:t>Special Configuration- </a:t>
            </a:r>
            <a:r>
              <a:rPr lang="en-US" sz="2000" dirty="0" smtClean="0"/>
              <a:t>denotes that capacity planning was done considering all future requirements</a:t>
            </a:r>
            <a:r>
              <a:rPr lang="en-US" sz="2000" b="1" dirty="0" smtClean="0"/>
              <a:t> </a:t>
            </a:r>
          </a:p>
        </p:txBody>
      </p:sp>
    </p:spTree>
  </p:cSld>
  <p:clrMapOvr>
    <a:masterClrMapping/>
  </p:clrMapOvr>
  <p:transition spd="med">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 Capacity Planning</a:t>
            </a:r>
            <a:endParaRPr lang="en-US" dirty="0"/>
          </a:p>
        </p:txBody>
      </p:sp>
      <p:sp>
        <p:nvSpPr>
          <p:cNvPr id="3" name="Content Placeholder 2"/>
          <p:cNvSpPr>
            <a:spLocks noGrp="1"/>
          </p:cNvSpPr>
          <p:nvPr>
            <p:ph idx="1"/>
          </p:nvPr>
        </p:nvSpPr>
        <p:spPr>
          <a:xfrm>
            <a:off x="1090862" y="1600200"/>
            <a:ext cx="9962149" cy="5029200"/>
          </a:xfrm>
        </p:spPr>
        <p:txBody>
          <a:bodyPr>
            <a:normAutofit/>
          </a:bodyPr>
          <a:lstStyle/>
          <a:p>
            <a:r>
              <a:rPr lang="en-US" dirty="0" smtClean="0"/>
              <a:t>Two techniques playing major role in capacity planning are</a:t>
            </a:r>
          </a:p>
          <a:p>
            <a:pPr lvl="1"/>
            <a:r>
              <a:rPr lang="en-US" sz="2000" b="1" dirty="0" smtClean="0"/>
              <a:t>Load balancing- </a:t>
            </a:r>
            <a:r>
              <a:rPr lang="en-US" sz="2000" dirty="0" smtClean="0"/>
              <a:t>This ensures that the multiple machines available are used equally to service the transactions. By adding more machines, more load can be handled by the product.</a:t>
            </a:r>
          </a:p>
          <a:p>
            <a:pPr lvl="1"/>
            <a:r>
              <a:rPr lang="en-US" sz="2000" b="1" dirty="0" smtClean="0"/>
              <a:t>High availability- </a:t>
            </a:r>
            <a:r>
              <a:rPr lang="en-US" sz="2000" dirty="0" smtClean="0"/>
              <a:t>Machine clusters are used to ensure availability. In a cluster there are multiple machines with shared data so that if one machine goes down, the transactions can be handled by another machine in cluster</a:t>
            </a:r>
          </a:p>
          <a:p>
            <a:endParaRPr lang="en-US" dirty="0" smtClean="0"/>
          </a:p>
          <a:p>
            <a:endParaRPr lang="en-US" dirty="0" smtClean="0"/>
          </a:p>
        </p:txBody>
      </p:sp>
    </p:spTree>
  </p:cSld>
  <p:clrMapOvr>
    <a:masterClrMapping/>
  </p:clrMapOvr>
  <p:transition spd="med">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Performance Testing</a:t>
            </a:r>
            <a:endParaRPr lang="en-US" dirty="0"/>
          </a:p>
        </p:txBody>
      </p:sp>
      <p:sp>
        <p:nvSpPr>
          <p:cNvPr id="3" name="Content Placeholder 2"/>
          <p:cNvSpPr>
            <a:spLocks noGrp="1"/>
          </p:cNvSpPr>
          <p:nvPr>
            <p:ph idx="1"/>
          </p:nvPr>
        </p:nvSpPr>
        <p:spPr/>
        <p:txBody>
          <a:bodyPr>
            <a:normAutofit/>
          </a:bodyPr>
          <a:lstStyle/>
          <a:p>
            <a:r>
              <a:rPr lang="en-US" b="1" dirty="0" smtClean="0"/>
              <a:t>Functional Performance Tools</a:t>
            </a:r>
          </a:p>
          <a:p>
            <a:pPr lvl="1"/>
            <a:r>
              <a:rPr lang="en-US" sz="2000" dirty="0" err="1" smtClean="0"/>
              <a:t>WinRunner</a:t>
            </a:r>
            <a:r>
              <a:rPr lang="en-US" sz="2000" dirty="0" smtClean="0"/>
              <a:t> from Mercury</a:t>
            </a:r>
          </a:p>
          <a:p>
            <a:pPr lvl="1"/>
            <a:r>
              <a:rPr lang="en-US" sz="2000" dirty="0" smtClean="0"/>
              <a:t>QA Partner from Compuware</a:t>
            </a:r>
          </a:p>
          <a:p>
            <a:pPr lvl="1"/>
            <a:r>
              <a:rPr lang="en-US" sz="2000" dirty="0" err="1" smtClean="0"/>
              <a:t>Silktest</a:t>
            </a:r>
            <a:r>
              <a:rPr lang="en-US" sz="2000" dirty="0" smtClean="0"/>
              <a:t> from Segue</a:t>
            </a:r>
          </a:p>
          <a:p>
            <a:r>
              <a:rPr lang="en-US" b="1" dirty="0" smtClean="0"/>
              <a:t>Load Testing Tools</a:t>
            </a:r>
          </a:p>
          <a:p>
            <a:pPr lvl="1"/>
            <a:r>
              <a:rPr lang="en-US" sz="2000" dirty="0" smtClean="0"/>
              <a:t>Load Runner from Mercury</a:t>
            </a:r>
          </a:p>
          <a:p>
            <a:pPr lvl="1"/>
            <a:r>
              <a:rPr lang="en-US" sz="2000" dirty="0" smtClean="0"/>
              <a:t>QA Load from Compuware</a:t>
            </a:r>
          </a:p>
          <a:p>
            <a:pPr lvl="1"/>
            <a:r>
              <a:rPr lang="en-US" sz="2000" dirty="0" smtClean="0"/>
              <a:t>Skill Performer from Segue</a:t>
            </a:r>
            <a:endParaRPr lang="en-US" sz="2000" dirty="0"/>
          </a:p>
        </p:txBody>
      </p:sp>
    </p:spTree>
  </p:cSld>
  <p:clrMapOvr>
    <a:masterClrMapping/>
  </p:clrMapOvr>
  <p:transition spd="med">
    <p:fade/>
  </p:transition>
  <p:timing>
    <p:tnLst>
      <p:par>
        <p:cTn id="1" dur="indefinite" restart="never" nodeType="tmRoot"/>
      </p:par>
    </p:tnLst>
  </p:timing>
</p:sld>
</file>

<file path=ppt/theme/theme1.xml><?xml version="1.0" encoding="utf-8"?>
<a:theme xmlns:a="http://schemas.openxmlformats.org/drawingml/2006/main" name="Performance Testing">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Performance Testing</Template>
  <TotalTime>736</TotalTime>
  <Words>2776</Words>
  <Application>Microsoft Office PowerPoint</Application>
  <PresentationFormat>Widescreen</PresentationFormat>
  <Paragraphs>295</Paragraphs>
  <Slides>42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Castellar</vt:lpstr>
      <vt:lpstr>Euphemia</vt:lpstr>
      <vt:lpstr>Plantagenet Cherokee</vt:lpstr>
      <vt:lpstr>Wingdings</vt:lpstr>
      <vt:lpstr>Wingdings 2</vt:lpstr>
      <vt:lpstr>Performance Testing</vt:lpstr>
      <vt:lpstr>CSE 455 Software Testing</vt:lpstr>
      <vt:lpstr>   Course instructor            Yella mehroze</vt:lpstr>
      <vt:lpstr>Performance Testing</vt:lpstr>
      <vt:lpstr>Outline</vt:lpstr>
      <vt:lpstr>Performance Testing</vt:lpstr>
      <vt:lpstr>Performance Testing</vt:lpstr>
      <vt:lpstr>Types of Performance Testing</vt:lpstr>
      <vt:lpstr>Types of Performance Testing</vt:lpstr>
      <vt:lpstr>Types of Performance Testing</vt:lpstr>
      <vt:lpstr>Types of Performance Testing</vt:lpstr>
      <vt:lpstr>Types of Performance Testing</vt:lpstr>
      <vt:lpstr>Types of Performance Testing</vt:lpstr>
      <vt:lpstr>Factors Governing Performance Testing</vt:lpstr>
      <vt:lpstr>Throughput</vt:lpstr>
      <vt:lpstr>Response Time</vt:lpstr>
      <vt:lpstr>Latency</vt:lpstr>
      <vt:lpstr>Latency</vt:lpstr>
      <vt:lpstr>Tuning</vt:lpstr>
      <vt:lpstr>Benchmarking and Capacity Planning</vt:lpstr>
      <vt:lpstr>Methodology for Performance Testing</vt:lpstr>
      <vt:lpstr>1. Collecting Requirements</vt:lpstr>
      <vt:lpstr>1. Collecting Requirements</vt:lpstr>
      <vt:lpstr>1. Collecting Requirements</vt:lpstr>
      <vt:lpstr>Example of performance test requirements</vt:lpstr>
      <vt:lpstr>2. Writing Test Cases</vt:lpstr>
      <vt:lpstr>3. Automating Performance Test Cases</vt:lpstr>
      <vt:lpstr>4. Executing Performance Test Cases</vt:lpstr>
      <vt:lpstr>Plotting of Performance Test Results</vt:lpstr>
      <vt:lpstr>5. Analyzing the Performance Test Results</vt:lpstr>
      <vt:lpstr>5. Analyzing the Performance Test Results</vt:lpstr>
      <vt:lpstr>5. Analyzing the Performance Test Results</vt:lpstr>
      <vt:lpstr>6. Performance Tuning</vt:lpstr>
      <vt:lpstr>6. Performance Tuning</vt:lpstr>
      <vt:lpstr>6. Performance Tuning</vt:lpstr>
      <vt:lpstr>Expected Results, Performance Results Without Tuning and Tuned Results</vt:lpstr>
      <vt:lpstr>7. Performance Benchmarking</vt:lpstr>
      <vt:lpstr>7. Performance Benchmarking</vt:lpstr>
      <vt:lpstr>7. Performance Benchmarking</vt:lpstr>
      <vt:lpstr>8. Capacity Planning</vt:lpstr>
      <vt:lpstr>8. Capacity Planning</vt:lpstr>
      <vt:lpstr>8. Capacity Planning</vt:lpstr>
      <vt:lpstr>Tools For Performance Testing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Testing</dc:title>
  <dc:creator>sabeen amjad</dc:creator>
  <cp:lastModifiedBy>Yella</cp:lastModifiedBy>
  <cp:revision>120</cp:revision>
  <dcterms:created xsi:type="dcterms:W3CDTF">2017-08-13T10:33:22Z</dcterms:created>
  <dcterms:modified xsi:type="dcterms:W3CDTF">2021-09-19T06:34:03Z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