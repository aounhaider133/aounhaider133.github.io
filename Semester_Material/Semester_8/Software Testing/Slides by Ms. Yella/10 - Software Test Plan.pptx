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308" r:id="rId5"/>
    <p:sldId id="309" r:id="rId6"/>
    <p:sldId id="256" r:id="rId7"/>
    <p:sldId id="269" r:id="rId8"/>
    <p:sldId id="271" r:id="rId9"/>
    <p:sldId id="30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307" r:id="rId24"/>
    <p:sldId id="285" r:id="rId25"/>
    <p:sldId id="286" r:id="rId26"/>
    <p:sldId id="303" r:id="rId27"/>
    <p:sldId id="287" r:id="rId28"/>
    <p:sldId id="301" r:id="rId29"/>
    <p:sldId id="288" r:id="rId30"/>
    <p:sldId id="289" r:id="rId31"/>
    <p:sldId id="290" r:id="rId32"/>
    <p:sldId id="292" r:id="rId33"/>
    <p:sldId id="293" r:id="rId34"/>
    <p:sldId id="294" r:id="rId35"/>
    <p:sldId id="302" r:id="rId36"/>
    <p:sldId id="295" r:id="rId37"/>
    <p:sldId id="304" r:id="rId38"/>
    <p:sldId id="305" r:id="rId39"/>
    <p:sldId id="306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86559" autoAdjust="0"/>
  </p:normalViewPr>
  <p:slideViewPr>
    <p:cSldViewPr snapToGrid="0" showGuides="1">
      <p:cViewPr varScale="1">
        <p:scale>
          <a:sx n="72" d="100"/>
          <a:sy n="72" d="100"/>
        </p:scale>
        <p:origin x="105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8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22798" y="1310656"/>
            <a:ext cx="5734050" cy="2219691"/>
          </a:xfrm>
        </p:spPr>
        <p:txBody>
          <a:bodyPr anchor="ctr"/>
          <a:lstStyle/>
          <a:p>
            <a:r>
              <a:rPr lang="en-US" dirty="0" smtClean="0"/>
              <a:t>CSE 455</a:t>
            </a:r>
            <a:br>
              <a:rPr lang="en-US" dirty="0" smtClean="0"/>
            </a:br>
            <a:r>
              <a:rPr lang="en-US" dirty="0" smtClean="0"/>
              <a:t>Software Testing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This course is offered to the students of students of BS Software Engineering who are enrolled in 8</a:t>
            </a:r>
            <a:r>
              <a:rPr lang="en-US" baseline="30000" dirty="0" smtClean="0"/>
              <a:t>th</a:t>
            </a:r>
            <a:r>
              <a:rPr lang="en-US" dirty="0" smtClean="0"/>
              <a:t> semester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5" name="Subtitle 6"/>
          <p:cNvSpPr txBox="1">
            <a:spLocks/>
          </p:cNvSpPr>
          <p:nvPr/>
        </p:nvSpPr>
        <p:spPr>
          <a:xfrm>
            <a:off x="1466850" y="3655068"/>
            <a:ext cx="1045441" cy="454605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Lecture </a:t>
            </a:r>
            <a:r>
              <a:rPr lang="en-US" dirty="0" smtClean="0"/>
              <a:t>10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085" y="0"/>
            <a:ext cx="1090915" cy="10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3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6618" y="1830275"/>
            <a:ext cx="5301673" cy="2219691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000" dirty="0" smtClean="0">
                <a:latin typeface="Castellar" panose="020A0402060406010301" pitchFamily="18" charset="0"/>
              </a:rPr>
              <a:t>   Course instructor</a:t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/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>          Yella </a:t>
            </a:r>
            <a:r>
              <a:rPr lang="en-US" sz="3000" dirty="0" err="1" smtClean="0">
                <a:latin typeface="Castellar" panose="020A0402060406010301" pitchFamily="18" charset="0"/>
              </a:rPr>
              <a:t>mehroze</a:t>
            </a:r>
            <a:endParaRPr lang="en-US" sz="30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6765" y="4230255"/>
            <a:ext cx="4895272" cy="112683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>
                <a:latin typeface="Castellar" panose="020A0402060406010301" pitchFamily="18" charset="0"/>
              </a:rPr>
              <a:t> </a:t>
            </a:r>
            <a:r>
              <a:rPr lang="en-US" dirty="0" smtClean="0">
                <a:latin typeface="Castellar" panose="020A0402060406010301" pitchFamily="18" charset="0"/>
              </a:rPr>
              <a:t>   </a:t>
            </a:r>
          </a:p>
          <a:p>
            <a:r>
              <a:rPr lang="en-US" dirty="0" smtClean="0">
                <a:latin typeface="Castellar" panose="020A0402060406010301" pitchFamily="18" charset="0"/>
              </a:rPr>
              <a:t>yellamehroze@cuilahore.edu.pk</a:t>
            </a:r>
            <a:endParaRPr lang="en-US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1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90500" y="2279031"/>
            <a:ext cx="5734050" cy="2219691"/>
          </a:xfrm>
        </p:spPr>
        <p:txBody>
          <a:bodyPr anchor="ctr"/>
          <a:lstStyle/>
          <a:p>
            <a:r>
              <a:rPr lang="en-US" dirty="0" smtClean="0"/>
              <a:t>Software test plan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6" name="Picture 2" descr="H:\CIIT\software testing\Final Slides\Test-plan-importance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96545" y="1251723"/>
            <a:ext cx="7186940" cy="4365730"/>
          </a:xfrm>
          <a:prstGeom prst="rect">
            <a:avLst/>
          </a:prstGeom>
          <a:noFill/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Software Test Plan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Test Plan Template</a:t>
            </a:r>
          </a:p>
          <a:p>
            <a:pPr lvl="1"/>
            <a:r>
              <a:rPr lang="en-US" altLang="en-US" sz="2000" dirty="0" smtClean="0"/>
              <a:t>IEEE 829 Format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39360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The goal of test planning</a:t>
            </a:r>
          </a:p>
          <a:p>
            <a:r>
              <a:rPr lang="en-US" dirty="0" smtClean="0"/>
              <a:t>Test planning topics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Test Plan Identifier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References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Introduction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Test Items (Functions)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Software Risk Issues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Features to be tested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Features not to be tested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 smtClean="0"/>
              <a:t>Approach (Strategy)</a:t>
            </a:r>
            <a:endParaRPr lang="en-US" sz="2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9137" y="1685109"/>
            <a:ext cx="4914900" cy="4702629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Item Pass/Fail Criteria 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Suspension Criteria and Resumption Requirements 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Test Deliverables 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Remaining Test Tasks</a:t>
            </a:r>
            <a:endParaRPr lang="en-US" sz="2000" dirty="0" smtClean="0"/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Environmental Needs 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Staffing and Training Needs 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Responsibilities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Schedule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Planning Risks and Contingencies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Approvals</a:t>
            </a:r>
          </a:p>
          <a:p>
            <a:pPr marL="914400" lvl="1" indent="-457200">
              <a:buFont typeface="+mj-lt"/>
              <a:buAutoNum type="arabicPeriod" startAt="9"/>
            </a:pPr>
            <a:r>
              <a:rPr lang="en-US" altLang="en-US" sz="2000" dirty="0" smtClean="0"/>
              <a:t>Glossary</a:t>
            </a:r>
          </a:p>
          <a:p>
            <a:pPr marL="914400" lvl="1" indent="-457200">
              <a:buFont typeface="+mj-lt"/>
              <a:buAutoNum type="arabicPeriod" startAt="9"/>
            </a:pPr>
            <a:endParaRPr lang="en-GB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most </a:t>
            </a:r>
            <a:r>
              <a:rPr lang="en-US" b="1" dirty="0" smtClean="0"/>
              <a:t>fundamental</a:t>
            </a:r>
            <a:r>
              <a:rPr lang="en-US" dirty="0" smtClean="0"/>
              <a:t> test document</a:t>
            </a:r>
          </a:p>
          <a:p>
            <a:r>
              <a:rPr lang="en-US" b="1" dirty="0" smtClean="0"/>
              <a:t>Test lead </a:t>
            </a:r>
            <a:r>
              <a:rPr lang="en-US" dirty="0" smtClean="0"/>
              <a:t>will be responsible to create comprehensive test plan</a:t>
            </a:r>
          </a:p>
          <a:p>
            <a:r>
              <a:rPr lang="en-US" b="1" dirty="0" smtClean="0"/>
              <a:t>Tester</a:t>
            </a:r>
            <a:r>
              <a:rPr lang="en-US" dirty="0" smtClean="0"/>
              <a:t> will assist in its creation</a:t>
            </a:r>
          </a:p>
          <a:p>
            <a:r>
              <a:rPr lang="en-US" dirty="0" smtClean="0"/>
              <a:t>Tester can use this information to </a:t>
            </a:r>
            <a:r>
              <a:rPr lang="en-US" b="1" dirty="0" smtClean="0"/>
              <a:t>organize his own testing tasks</a:t>
            </a:r>
            <a:endParaRPr lang="en-US" b="1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goal of test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The test plan </a:t>
            </a:r>
            <a:r>
              <a:rPr lang="en-US" dirty="0" smtClean="0"/>
              <a:t>is a by-product of the detailed planning process that is undertaken to create it. </a:t>
            </a:r>
          </a:p>
          <a:p>
            <a:pPr algn="just"/>
            <a:r>
              <a:rPr lang="en-US" dirty="0" smtClean="0"/>
              <a:t>It’s the planning process that matters, not the resulting document</a:t>
            </a:r>
          </a:p>
          <a:p>
            <a:pPr algn="just"/>
            <a:r>
              <a:rPr lang="en-US" dirty="0" smtClean="0"/>
              <a:t>The ultimate goal of the test planning process is communicating (not recording) </a:t>
            </a:r>
          </a:p>
          <a:p>
            <a:pPr lvl="1" algn="just"/>
            <a:r>
              <a:rPr lang="en-US" sz="2000" dirty="0" smtClean="0"/>
              <a:t>Test team’s </a:t>
            </a:r>
            <a:r>
              <a:rPr lang="en-US" sz="2000" b="1" dirty="0" smtClean="0"/>
              <a:t>intent</a:t>
            </a:r>
          </a:p>
          <a:p>
            <a:pPr lvl="1" algn="just"/>
            <a:r>
              <a:rPr lang="en-US" sz="2000" dirty="0" smtClean="0"/>
              <a:t>Test team’s </a:t>
            </a:r>
            <a:r>
              <a:rPr lang="en-US" sz="2000" b="1" dirty="0" smtClean="0"/>
              <a:t>expectations</a:t>
            </a:r>
          </a:p>
          <a:p>
            <a:pPr lvl="1" algn="just"/>
            <a:r>
              <a:rPr lang="en-US" sz="2000" dirty="0" smtClean="0"/>
              <a:t>Test team’s </a:t>
            </a:r>
            <a:r>
              <a:rPr lang="en-US" sz="2000" b="1" dirty="0" smtClean="0"/>
              <a:t>understanding</a:t>
            </a:r>
            <a:r>
              <a:rPr lang="en-US" sz="2000" dirty="0" smtClean="0"/>
              <a:t> of the testing that’s to be performed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planning topics vs. Test planning templates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Many software test plan templates are available</a:t>
            </a:r>
          </a:p>
          <a:p>
            <a:pPr algn="just"/>
            <a:r>
              <a:rPr lang="en-US" dirty="0" smtClean="0"/>
              <a:t>By using these templates a document can be easily prepared</a:t>
            </a:r>
          </a:p>
          <a:p>
            <a:pPr algn="just"/>
            <a:r>
              <a:rPr lang="en-US" dirty="0" smtClean="0"/>
              <a:t>Emphasis should be on the planning process and not the document </a:t>
            </a:r>
          </a:p>
          <a:p>
            <a:pPr algn="just"/>
            <a:r>
              <a:rPr lang="en-US" dirty="0" smtClean="0"/>
              <a:t>So the focus should be the topics that need to be covered in test plan</a:t>
            </a:r>
          </a:p>
          <a:p>
            <a:pPr algn="just"/>
            <a:r>
              <a:rPr lang="en-US" dirty="0" smtClean="0"/>
              <a:t>Planning is a dynamic process, so where you feel these topics do not cover your project feel free to adjust it accordingly 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Test planning topics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1- Test Plan Identifier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422401" y="1447800"/>
            <a:ext cx="10490201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U</a:t>
            </a:r>
            <a:r>
              <a:rPr lang="en-US" altLang="en-US" dirty="0" smtClean="0"/>
              <a:t>nique number to </a:t>
            </a:r>
            <a:r>
              <a:rPr lang="en-US" altLang="en-US" dirty="0"/>
              <a:t>identify </a:t>
            </a:r>
            <a:r>
              <a:rPr lang="en-US" altLang="en-US" dirty="0" smtClean="0"/>
              <a:t>the </a:t>
            </a:r>
            <a:r>
              <a:rPr lang="en-US" altLang="en-US" dirty="0"/>
              <a:t>test </a:t>
            </a:r>
            <a:r>
              <a:rPr lang="en-US" altLang="en-US" dirty="0" smtClean="0"/>
              <a:t>plan</a:t>
            </a:r>
          </a:p>
          <a:p>
            <a:r>
              <a:rPr lang="en-US" altLang="en-US" dirty="0" smtClean="0"/>
              <a:t>The </a:t>
            </a:r>
            <a:r>
              <a:rPr lang="en-US" altLang="en-US" dirty="0"/>
              <a:t>number may also identify whether the test plan </a:t>
            </a:r>
            <a:r>
              <a:rPr lang="en-US" altLang="en-US" dirty="0" smtClean="0"/>
              <a:t>is</a:t>
            </a:r>
          </a:p>
          <a:p>
            <a:pPr lvl="1"/>
            <a:r>
              <a:rPr lang="en-US" altLang="en-US" sz="2000" dirty="0" smtClean="0"/>
              <a:t>Master plan</a:t>
            </a:r>
          </a:p>
          <a:p>
            <a:pPr lvl="1"/>
            <a:r>
              <a:rPr lang="en-US" altLang="en-US" sz="2000" dirty="0" smtClean="0"/>
              <a:t>Level plan (Unit, Integration, System and acceptance test plan)</a:t>
            </a:r>
          </a:p>
          <a:p>
            <a:pPr lvl="1"/>
            <a:r>
              <a:rPr lang="en-GB" altLang="en-US" sz="2000" dirty="0" smtClean="0"/>
              <a:t>Testing Type Specific Test Plans (Performance, Security Test Plan etc)</a:t>
            </a:r>
            <a:endParaRPr lang="en-US" altLang="en-US" sz="2000" dirty="0"/>
          </a:p>
          <a:p>
            <a:r>
              <a:rPr lang="en-US" altLang="en-US" dirty="0"/>
              <a:t>Keep in </a:t>
            </a:r>
            <a:r>
              <a:rPr lang="en-US" altLang="en-US" dirty="0" smtClean="0"/>
              <a:t>mind</a:t>
            </a:r>
          </a:p>
          <a:p>
            <a:pPr lvl="1"/>
            <a:r>
              <a:rPr lang="en-US" altLang="en-US" sz="2000" dirty="0" smtClean="0"/>
              <a:t>Test </a:t>
            </a:r>
            <a:r>
              <a:rPr lang="en-US" altLang="en-US" sz="2000" dirty="0"/>
              <a:t>plans are like other software </a:t>
            </a:r>
            <a:r>
              <a:rPr lang="en-US" altLang="en-US" sz="2000" dirty="0" smtClean="0"/>
              <a:t>documentation</a:t>
            </a:r>
          </a:p>
          <a:p>
            <a:pPr lvl="1"/>
            <a:r>
              <a:rPr lang="en-US" altLang="en-US" sz="2000" dirty="0"/>
              <a:t>T</a:t>
            </a:r>
            <a:r>
              <a:rPr lang="en-US" altLang="en-US" sz="2000" dirty="0" smtClean="0"/>
              <a:t>hey </a:t>
            </a:r>
            <a:r>
              <a:rPr lang="en-US" altLang="en-US" sz="2000" dirty="0"/>
              <a:t>are dynamic in nature and must be kept up to </a:t>
            </a:r>
            <a:r>
              <a:rPr lang="en-US" altLang="en-US" sz="2000" dirty="0" smtClean="0"/>
              <a:t>date</a:t>
            </a:r>
          </a:p>
          <a:p>
            <a:pPr lvl="1"/>
            <a:r>
              <a:rPr lang="en-US" altLang="en-US" sz="2000" dirty="0" smtClean="0"/>
              <a:t>They have </a:t>
            </a:r>
            <a:r>
              <a:rPr lang="en-US" altLang="en-US" sz="2000" dirty="0"/>
              <a:t>revision </a:t>
            </a:r>
            <a:r>
              <a:rPr lang="en-US" altLang="en-US" sz="2000" dirty="0" smtClean="0"/>
              <a:t>numbers</a:t>
            </a:r>
            <a:endParaRPr lang="en-US" altLang="en-US" sz="2000" dirty="0"/>
          </a:p>
          <a:p>
            <a:r>
              <a:rPr lang="en-US" altLang="en-US" dirty="0"/>
              <a:t>You may </a:t>
            </a:r>
            <a:r>
              <a:rPr lang="en-US" altLang="en-US" dirty="0" smtClean="0"/>
              <a:t>include </a:t>
            </a:r>
          </a:p>
          <a:p>
            <a:pPr lvl="1"/>
            <a:r>
              <a:rPr lang="en-US" altLang="en-US" sz="2000" dirty="0" smtClean="0"/>
              <a:t>Author</a:t>
            </a:r>
          </a:p>
          <a:p>
            <a:pPr lvl="1"/>
            <a:r>
              <a:rPr lang="en-US" altLang="en-US" sz="2000" dirty="0" smtClean="0"/>
              <a:t>Contact </a:t>
            </a:r>
            <a:r>
              <a:rPr lang="en-US" altLang="en-US" sz="2000" dirty="0"/>
              <a:t>information </a:t>
            </a:r>
            <a:endParaRPr lang="en-US" altLang="en-US" sz="2000" dirty="0" smtClean="0"/>
          </a:p>
          <a:p>
            <a:pPr lvl="1"/>
            <a:r>
              <a:rPr lang="en-US" altLang="en-US" sz="2000" dirty="0" smtClean="0"/>
              <a:t>Revision </a:t>
            </a:r>
            <a:r>
              <a:rPr lang="en-US" altLang="en-US" sz="2000" dirty="0"/>
              <a:t>history </a:t>
            </a:r>
            <a:r>
              <a:rPr lang="en-US" altLang="en-US" sz="2000" dirty="0" smtClean="0"/>
              <a:t>information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974335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Document History and Distribution</a:t>
            </a:r>
            <a:endParaRPr lang="en-US" altLang="en-US" dirty="0"/>
          </a:p>
        </p:txBody>
      </p:sp>
      <p:graphicFrame>
        <p:nvGraphicFramePr>
          <p:cNvPr id="4" name="Group 2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9882581"/>
              </p:ext>
            </p:extLst>
          </p:nvPr>
        </p:nvGraphicFramePr>
        <p:xfrm>
          <a:off x="998583" y="1993538"/>
          <a:ext cx="10179050" cy="1838325"/>
        </p:xfrm>
        <a:graphic>
          <a:graphicData uri="http://schemas.openxmlformats.org/drawingml/2006/table">
            <a:tbl>
              <a:tblPr rtl="1"/>
              <a:tblGrid>
                <a:gridCol w="1612900"/>
                <a:gridCol w="4129617"/>
                <a:gridCol w="2520949"/>
                <a:gridCol w="1915584"/>
              </a:tblGrid>
              <a:tr h="466725">
                <a:tc>
                  <a:txBody>
                    <a:bodyPr/>
                    <a:lstStyle/>
                    <a:p>
                      <a:pPr marL="342900" marR="0" lvl="0" indent="-34290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Author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Description of Change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Revision Date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Revision #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000700" y="1458214"/>
            <a:ext cx="2601546" cy="4308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>
            <a:spAutoFit/>
          </a:bodyPr>
          <a:lstStyle/>
          <a:p>
            <a:pPr rtl="0">
              <a:buFontTx/>
              <a:buAutoNum type="arabicPeriod"/>
              <a:tabLst>
                <a:tab pos="228600" algn="l"/>
              </a:tabLst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Revision History</a:t>
            </a:r>
          </a:p>
        </p:txBody>
      </p:sp>
      <p:sp>
        <p:nvSpPr>
          <p:cNvPr id="6" name="Rectangle 202"/>
          <p:cNvSpPr>
            <a:spLocks noChangeArrowheads="1"/>
          </p:cNvSpPr>
          <p:nvPr/>
        </p:nvSpPr>
        <p:spPr bwMode="auto">
          <a:xfrm>
            <a:off x="1000700" y="4087451"/>
            <a:ext cx="2024913" cy="4308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>
            <a:spAutoFit/>
          </a:bodyPr>
          <a:lstStyle/>
          <a:p>
            <a:pPr marL="342900" indent="-342900" rtl="0">
              <a:tabLst>
                <a:tab pos="228600" algn="l"/>
              </a:tabLst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2. Distribution</a:t>
            </a:r>
          </a:p>
        </p:txBody>
      </p:sp>
      <p:graphicFrame>
        <p:nvGraphicFramePr>
          <p:cNvPr id="7" name="Group 2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618530"/>
              </p:ext>
            </p:extLst>
          </p:nvPr>
        </p:nvGraphicFramePr>
        <p:xfrm>
          <a:off x="1000700" y="4585925"/>
          <a:ext cx="10274300" cy="1649412"/>
        </p:xfrm>
        <a:graphic>
          <a:graphicData uri="http://schemas.openxmlformats.org/drawingml/2006/table">
            <a:tbl>
              <a:tblPr rtl="1"/>
              <a:tblGrid>
                <a:gridCol w="3448051"/>
                <a:gridCol w="3941233"/>
                <a:gridCol w="2885016"/>
              </a:tblGrid>
              <a:tr h="36583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Distribution Method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Recipient Organization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Recipient Name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87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87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charset="0"/>
                      </a:endParaRPr>
                    </a:p>
                  </a:txBody>
                  <a:tcPr marL="121920" marR="121920"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4250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2- References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List all </a:t>
            </a:r>
            <a:r>
              <a:rPr lang="en-US" altLang="en-US" b="1" dirty="0"/>
              <a:t>documents</a:t>
            </a:r>
            <a:r>
              <a:rPr lang="en-US" altLang="en-US" dirty="0"/>
              <a:t> that support this test </a:t>
            </a:r>
            <a:r>
              <a:rPr lang="en-US" altLang="en-US" dirty="0" smtClean="0"/>
              <a:t>plan</a:t>
            </a:r>
          </a:p>
          <a:p>
            <a:pPr algn="just"/>
            <a:r>
              <a:rPr lang="en-US" altLang="en-US" dirty="0" smtClean="0"/>
              <a:t>Refer </a:t>
            </a:r>
            <a:r>
              <a:rPr lang="en-US" altLang="en-US" dirty="0"/>
              <a:t>to the actual </a:t>
            </a:r>
            <a:r>
              <a:rPr lang="en-US" altLang="en-US" b="1" dirty="0"/>
              <a:t>version/release</a:t>
            </a:r>
            <a:r>
              <a:rPr lang="en-US" altLang="en-US" dirty="0"/>
              <a:t> number of the </a:t>
            </a:r>
            <a:r>
              <a:rPr lang="en-US" altLang="en-US" dirty="0" smtClean="0"/>
              <a:t>document</a:t>
            </a:r>
          </a:p>
          <a:p>
            <a:pPr lvl="1" algn="just"/>
            <a:r>
              <a:rPr lang="en-US" altLang="en-US" sz="2000" dirty="0" smtClean="0"/>
              <a:t>As </a:t>
            </a:r>
            <a:r>
              <a:rPr lang="en-US" altLang="en-US" sz="2000" dirty="0"/>
              <a:t>stored in the configuration management </a:t>
            </a:r>
            <a:r>
              <a:rPr lang="en-US" altLang="en-US" sz="2000" dirty="0" smtClean="0"/>
              <a:t>system</a:t>
            </a:r>
          </a:p>
          <a:p>
            <a:pPr algn="just"/>
            <a:r>
              <a:rPr lang="en-US" altLang="en-US" dirty="0" smtClean="0"/>
              <a:t>Do </a:t>
            </a:r>
            <a:r>
              <a:rPr lang="en-US" altLang="en-US" dirty="0"/>
              <a:t>not </a:t>
            </a:r>
            <a:r>
              <a:rPr lang="en-US" altLang="en-US" b="1" dirty="0"/>
              <a:t>duplicate the text </a:t>
            </a:r>
            <a:r>
              <a:rPr lang="en-US" altLang="en-US" dirty="0"/>
              <a:t>from other </a:t>
            </a:r>
            <a:r>
              <a:rPr lang="en-US" altLang="en-US" dirty="0" smtClean="0"/>
              <a:t>documents</a:t>
            </a:r>
          </a:p>
          <a:p>
            <a:pPr lvl="1" algn="just"/>
            <a:r>
              <a:rPr lang="en-US" altLang="en-US" sz="2000" dirty="0" smtClean="0"/>
              <a:t>It </a:t>
            </a:r>
            <a:r>
              <a:rPr lang="en-US" altLang="en-US" sz="2000" dirty="0"/>
              <a:t>will reduce the </a:t>
            </a:r>
            <a:r>
              <a:rPr lang="en-US" altLang="en-US" sz="2000" dirty="0" smtClean="0"/>
              <a:t>viability (practicality) </a:t>
            </a:r>
            <a:r>
              <a:rPr lang="en-US" altLang="en-US" sz="2000" dirty="0"/>
              <a:t>of this document and increase the maintenance </a:t>
            </a:r>
            <a:r>
              <a:rPr lang="en-US" altLang="en-US" sz="2000" dirty="0" smtClean="0"/>
              <a:t>effort</a:t>
            </a:r>
          </a:p>
          <a:p>
            <a:pPr algn="just"/>
            <a:r>
              <a:rPr lang="en-US" altLang="en-US" dirty="0" smtClean="0"/>
              <a:t>Documents </a:t>
            </a:r>
            <a:r>
              <a:rPr lang="en-US" altLang="en-US" dirty="0"/>
              <a:t>that can be </a:t>
            </a:r>
            <a:r>
              <a:rPr lang="en-US" altLang="en-US" b="1" dirty="0"/>
              <a:t>referenced</a:t>
            </a:r>
            <a:r>
              <a:rPr lang="en-US" altLang="en-US" dirty="0"/>
              <a:t> include:</a:t>
            </a:r>
          </a:p>
          <a:p>
            <a:pPr lvl="1" algn="just"/>
            <a:r>
              <a:rPr lang="en-US" altLang="en-US" sz="2000" dirty="0"/>
              <a:t>Project Plan</a:t>
            </a:r>
          </a:p>
          <a:p>
            <a:pPr lvl="1" algn="just"/>
            <a:r>
              <a:rPr lang="en-US" altLang="en-US" sz="2000" dirty="0"/>
              <a:t>Requirements </a:t>
            </a:r>
            <a:r>
              <a:rPr lang="en-US" altLang="en-US" sz="2000" dirty="0" smtClean="0"/>
              <a:t>specifications (Software / Business)</a:t>
            </a:r>
            <a:endParaRPr lang="en-US" altLang="en-US" sz="2000" dirty="0"/>
          </a:p>
          <a:p>
            <a:pPr lvl="1" algn="just"/>
            <a:r>
              <a:rPr lang="en-US" altLang="en-US" sz="2000" dirty="0"/>
              <a:t>High Level design document</a:t>
            </a:r>
          </a:p>
          <a:p>
            <a:pPr lvl="1" algn="just"/>
            <a:r>
              <a:rPr lang="en-US" altLang="en-US" sz="2000" dirty="0"/>
              <a:t>Detail design document</a:t>
            </a:r>
          </a:p>
          <a:p>
            <a:pPr lvl="1" algn="just"/>
            <a:r>
              <a:rPr lang="en-US" altLang="en-US" sz="2000" dirty="0"/>
              <a:t>Development and Test process standards</a:t>
            </a:r>
          </a:p>
          <a:p>
            <a:pPr lvl="1" algn="just"/>
            <a:r>
              <a:rPr lang="en-US" altLang="en-US" sz="2000" dirty="0"/>
              <a:t>Methodology guidelines and examples</a:t>
            </a:r>
          </a:p>
          <a:p>
            <a:pPr lvl="1" algn="just"/>
            <a:r>
              <a:rPr lang="en-US" altLang="en-US" sz="2000" dirty="0"/>
              <a:t>Corporate standards and guidelines</a:t>
            </a:r>
          </a:p>
        </p:txBody>
      </p:sp>
    </p:spTree>
    <p:extLst>
      <p:ext uri="{BB962C8B-B14F-4D97-AF65-F5344CB8AC3E}">
        <p14:creationId xmlns:p14="http://schemas.microsoft.com/office/powerpoint/2010/main" val="40937310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3- Introduction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97281" y="1447800"/>
            <a:ext cx="10006148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State the </a:t>
            </a:r>
            <a:r>
              <a:rPr lang="en-US" altLang="en-US" b="1" dirty="0"/>
              <a:t>purpose</a:t>
            </a:r>
            <a:r>
              <a:rPr lang="en-US" altLang="en-US" dirty="0"/>
              <a:t> of the </a:t>
            </a:r>
            <a:r>
              <a:rPr lang="en-US" altLang="en-US" dirty="0" smtClean="0"/>
              <a:t>Plan</a:t>
            </a:r>
          </a:p>
          <a:p>
            <a:pPr lvl="1"/>
            <a:r>
              <a:rPr lang="en-US" altLang="en-US" sz="2000" dirty="0"/>
              <a:t>P</a:t>
            </a:r>
            <a:r>
              <a:rPr lang="en-US" altLang="en-US" sz="2000" dirty="0" smtClean="0"/>
              <a:t>ossibly </a:t>
            </a:r>
            <a:r>
              <a:rPr lang="en-US" altLang="en-US" sz="2000" dirty="0"/>
              <a:t>identifying the </a:t>
            </a:r>
            <a:r>
              <a:rPr lang="en-US" altLang="en-US" sz="2000" b="1" dirty="0"/>
              <a:t>level of the plan </a:t>
            </a:r>
            <a:r>
              <a:rPr lang="en-US" altLang="en-US" sz="2000" dirty="0"/>
              <a:t>(master etc</a:t>
            </a:r>
            <a:r>
              <a:rPr lang="en-US" altLang="en-US" sz="2000" dirty="0" smtClean="0"/>
              <a:t>.)</a:t>
            </a:r>
          </a:p>
          <a:p>
            <a:pPr lvl="1"/>
            <a:r>
              <a:rPr lang="en-US" altLang="en-US" sz="2000" b="1" dirty="0" smtClean="0"/>
              <a:t>Executive </a:t>
            </a:r>
            <a:r>
              <a:rPr lang="en-US" altLang="en-US" sz="2000" b="1" dirty="0"/>
              <a:t>summary </a:t>
            </a:r>
            <a:r>
              <a:rPr lang="en-US" altLang="en-US" sz="2000" dirty="0"/>
              <a:t>part of the </a:t>
            </a:r>
            <a:r>
              <a:rPr lang="en-US" altLang="en-US" sz="2000" dirty="0" smtClean="0"/>
              <a:t>plan</a:t>
            </a:r>
            <a:endParaRPr lang="en-US" altLang="en-US" sz="2000" dirty="0"/>
          </a:p>
          <a:p>
            <a:r>
              <a:rPr lang="en-US" altLang="en-US" dirty="0" smtClean="0"/>
              <a:t>Identify </a:t>
            </a:r>
            <a:r>
              <a:rPr lang="en-US" altLang="en-US" dirty="0"/>
              <a:t>the </a:t>
            </a:r>
            <a:r>
              <a:rPr lang="en-US" altLang="en-US" b="1" dirty="0"/>
              <a:t>Scope</a:t>
            </a:r>
            <a:r>
              <a:rPr lang="en-US" altLang="en-US" dirty="0"/>
              <a:t> of the plan in relation to the Software Project </a:t>
            </a:r>
            <a:r>
              <a:rPr lang="en-US" altLang="en-US" dirty="0" smtClean="0"/>
              <a:t>plan</a:t>
            </a:r>
          </a:p>
          <a:p>
            <a:r>
              <a:rPr lang="en-US" altLang="en-US" dirty="0" smtClean="0"/>
              <a:t>Other </a:t>
            </a:r>
            <a:r>
              <a:rPr lang="en-US" altLang="en-US" dirty="0"/>
              <a:t>items may </a:t>
            </a:r>
            <a:r>
              <a:rPr lang="en-US" altLang="en-US" dirty="0" smtClean="0"/>
              <a:t>include</a:t>
            </a:r>
          </a:p>
          <a:p>
            <a:pPr lvl="1"/>
            <a:r>
              <a:rPr lang="en-US" altLang="en-US" sz="2000" dirty="0" smtClean="0"/>
              <a:t>Resource </a:t>
            </a:r>
            <a:r>
              <a:rPr lang="en-US" altLang="en-US" sz="2000" dirty="0"/>
              <a:t>and budget </a:t>
            </a:r>
            <a:r>
              <a:rPr lang="en-US" altLang="en-US" sz="2000" dirty="0" smtClean="0"/>
              <a:t>constraints</a:t>
            </a:r>
          </a:p>
          <a:p>
            <a:pPr lvl="1"/>
            <a:r>
              <a:rPr lang="en-US" altLang="en-US" sz="2000" dirty="0"/>
              <a:t>P</a:t>
            </a:r>
            <a:r>
              <a:rPr lang="en-US" altLang="en-US" sz="2000" dirty="0" smtClean="0"/>
              <a:t>rocess </a:t>
            </a:r>
            <a:r>
              <a:rPr lang="en-US" altLang="en-US" sz="2000" dirty="0"/>
              <a:t>to be used for change </a:t>
            </a:r>
            <a:r>
              <a:rPr lang="en-US" altLang="en-US" sz="2000" dirty="0" smtClean="0"/>
              <a:t>control</a:t>
            </a:r>
          </a:p>
          <a:p>
            <a:pPr lvl="1"/>
            <a:r>
              <a:rPr lang="en-US" altLang="en-US" sz="2000" dirty="0"/>
              <a:t>C</a:t>
            </a:r>
            <a:r>
              <a:rPr lang="en-US" altLang="en-US" sz="2000" dirty="0" smtClean="0"/>
              <a:t>ommunication </a:t>
            </a:r>
            <a:r>
              <a:rPr lang="en-US" altLang="en-US" sz="2000" dirty="0"/>
              <a:t>and coordination of key </a:t>
            </a:r>
            <a:r>
              <a:rPr lang="en-US" altLang="en-US" sz="2000" dirty="0" smtClean="0"/>
              <a:t>activities</a:t>
            </a:r>
            <a:endParaRPr lang="en-US" altLang="en-US" sz="2000" dirty="0"/>
          </a:p>
          <a:p>
            <a:r>
              <a:rPr lang="en-US" altLang="en-US" dirty="0"/>
              <a:t>As this is the “Executive Summary” keep information brief and to the point.</a:t>
            </a:r>
          </a:p>
        </p:txBody>
      </p:sp>
    </p:spTree>
    <p:extLst>
      <p:ext uri="{BB962C8B-B14F-4D97-AF65-F5344CB8AC3E}">
        <p14:creationId xmlns:p14="http://schemas.microsoft.com/office/powerpoint/2010/main" val="15252839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4- Test Items (Functions)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7800"/>
            <a:ext cx="9993086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smtClean="0"/>
              <a:t>Things you </a:t>
            </a:r>
            <a:r>
              <a:rPr lang="en-US" altLang="en-US" dirty="0"/>
              <a:t>intend to test within the scope of </a:t>
            </a:r>
            <a:r>
              <a:rPr lang="en-US" altLang="en-US" dirty="0" smtClean="0"/>
              <a:t>the test plan</a:t>
            </a:r>
          </a:p>
          <a:p>
            <a:pPr algn="just"/>
            <a:r>
              <a:rPr lang="en-US" altLang="en-US" dirty="0"/>
              <a:t>L</a:t>
            </a:r>
            <a:r>
              <a:rPr lang="en-US" altLang="en-US" dirty="0" smtClean="0"/>
              <a:t>ist </a:t>
            </a:r>
            <a:r>
              <a:rPr lang="en-US" altLang="en-US" dirty="0"/>
              <a:t>of what is to be </a:t>
            </a:r>
            <a:r>
              <a:rPr lang="en-US" altLang="en-US" dirty="0" smtClean="0"/>
              <a:t>tested</a:t>
            </a:r>
          </a:p>
          <a:p>
            <a:pPr algn="just"/>
            <a:r>
              <a:rPr lang="en-US" altLang="en-US" dirty="0" smtClean="0"/>
              <a:t>This </a:t>
            </a:r>
            <a:r>
              <a:rPr lang="en-US" altLang="en-US" dirty="0"/>
              <a:t>can be developed from the </a:t>
            </a:r>
            <a:r>
              <a:rPr lang="en-US" altLang="en-US" dirty="0" smtClean="0"/>
              <a:t>software application </a:t>
            </a:r>
            <a:r>
              <a:rPr lang="en-US" altLang="en-US" dirty="0"/>
              <a:t>inventories as well as other sources of documentation and information.</a:t>
            </a:r>
          </a:p>
          <a:p>
            <a:pPr algn="just"/>
            <a:r>
              <a:rPr lang="en-US" altLang="en-US" dirty="0" smtClean="0"/>
              <a:t>This </a:t>
            </a:r>
            <a:r>
              <a:rPr lang="en-US" altLang="en-US" dirty="0"/>
              <a:t>can be controlled and defined </a:t>
            </a:r>
            <a:r>
              <a:rPr lang="en-US" altLang="en-US" dirty="0" smtClean="0"/>
              <a:t>by </a:t>
            </a:r>
            <a:r>
              <a:rPr lang="en-US" altLang="en-US" dirty="0"/>
              <a:t>local Configuration Management (CM) </a:t>
            </a:r>
            <a:r>
              <a:rPr lang="en-US" altLang="en-US" dirty="0" smtClean="0"/>
              <a:t>process. </a:t>
            </a:r>
          </a:p>
          <a:p>
            <a:pPr algn="just"/>
            <a:r>
              <a:rPr lang="en-US" altLang="en-US" dirty="0" smtClean="0"/>
              <a:t>Remember</a:t>
            </a:r>
            <a:r>
              <a:rPr lang="en-US" altLang="en-US" dirty="0"/>
              <a:t>, what you are testing is what you intend to deliver to the Client.</a:t>
            </a:r>
          </a:p>
          <a:p>
            <a:pPr algn="just"/>
            <a:r>
              <a:rPr lang="en-US" altLang="en-US" dirty="0"/>
              <a:t>This section can be oriented to the level of the test </a:t>
            </a:r>
            <a:r>
              <a:rPr lang="en-US" altLang="en-US" dirty="0" smtClean="0"/>
              <a:t>plan</a:t>
            </a:r>
          </a:p>
          <a:p>
            <a:pPr lvl="1" algn="just"/>
            <a:r>
              <a:rPr lang="en-US" altLang="en-US" sz="2000" dirty="0" smtClean="0"/>
              <a:t>For </a:t>
            </a:r>
            <a:r>
              <a:rPr lang="en-US" altLang="en-US" sz="2000" dirty="0"/>
              <a:t>higher levels it may be </a:t>
            </a:r>
            <a:r>
              <a:rPr lang="en-US" altLang="en-US" sz="2000" dirty="0" smtClean="0"/>
              <a:t>by application </a:t>
            </a:r>
            <a:r>
              <a:rPr lang="en-US" altLang="en-US" sz="2000" dirty="0"/>
              <a:t>or functional </a:t>
            </a:r>
            <a:r>
              <a:rPr lang="en-US" altLang="en-US" sz="2000" dirty="0" smtClean="0"/>
              <a:t>area</a:t>
            </a:r>
          </a:p>
          <a:p>
            <a:pPr lvl="1" algn="just"/>
            <a:r>
              <a:rPr lang="en-US" altLang="en-US" sz="2000" dirty="0"/>
              <a:t>F</a:t>
            </a:r>
            <a:r>
              <a:rPr lang="en-US" altLang="en-US" sz="2000" dirty="0" smtClean="0"/>
              <a:t>or </a:t>
            </a:r>
            <a:r>
              <a:rPr lang="en-US" altLang="en-US" sz="2000" dirty="0"/>
              <a:t>lower levels it may be by program, unit, module or </a:t>
            </a:r>
            <a:r>
              <a:rPr lang="en-US" altLang="en-US" sz="2000" dirty="0" smtClean="0"/>
              <a:t>build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616696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5- Software Risk Issues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80022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Identify what software is to be tested and what the </a:t>
            </a:r>
            <a:r>
              <a:rPr lang="en-US" altLang="en-US" b="1" dirty="0"/>
              <a:t>critical areas </a:t>
            </a:r>
            <a:r>
              <a:rPr lang="en-US" altLang="en-US" dirty="0"/>
              <a:t>are, such as:</a:t>
            </a:r>
          </a:p>
          <a:p>
            <a:pPr lvl="1" algn="just"/>
            <a:r>
              <a:rPr lang="en-US" altLang="en-US" sz="2000" dirty="0"/>
              <a:t>Delivery of a third party product.</a:t>
            </a:r>
          </a:p>
          <a:p>
            <a:pPr lvl="1" algn="just"/>
            <a:r>
              <a:rPr lang="en-US" altLang="en-US" sz="2000" dirty="0"/>
              <a:t>New version of interfacing software</a:t>
            </a:r>
          </a:p>
          <a:p>
            <a:pPr lvl="1" algn="just"/>
            <a:r>
              <a:rPr lang="en-US" altLang="en-US" sz="2000" dirty="0"/>
              <a:t>Ability to use and understand a new package/tool, etc.</a:t>
            </a:r>
          </a:p>
          <a:p>
            <a:pPr lvl="1" algn="just"/>
            <a:r>
              <a:rPr lang="en-US" altLang="en-US" sz="2000" dirty="0"/>
              <a:t>Extremely complex functions</a:t>
            </a:r>
          </a:p>
          <a:p>
            <a:pPr lvl="1" algn="just"/>
            <a:r>
              <a:rPr lang="en-US" altLang="en-US" sz="2000" dirty="0"/>
              <a:t>Modifications to components with a past history of failure</a:t>
            </a:r>
          </a:p>
          <a:p>
            <a:pPr lvl="1" algn="just"/>
            <a:r>
              <a:rPr lang="en-US" altLang="en-US" sz="2000" dirty="0"/>
              <a:t>Poorly documented modules or change requests</a:t>
            </a:r>
          </a:p>
          <a:p>
            <a:pPr algn="just"/>
            <a:r>
              <a:rPr lang="en-US" altLang="en-US" dirty="0"/>
              <a:t>There are some </a:t>
            </a:r>
            <a:r>
              <a:rPr lang="en-US" altLang="en-US" b="1" dirty="0"/>
              <a:t>inherent software risks </a:t>
            </a:r>
            <a:r>
              <a:rPr lang="en-US" altLang="en-US" dirty="0"/>
              <a:t>such as complexity; these need to be </a:t>
            </a:r>
            <a:r>
              <a:rPr lang="en-US" altLang="en-US" dirty="0" smtClean="0"/>
              <a:t>identified</a:t>
            </a:r>
            <a:endParaRPr lang="en-US" altLang="en-US" dirty="0"/>
          </a:p>
          <a:p>
            <a:pPr lvl="1" algn="just"/>
            <a:r>
              <a:rPr lang="en-US" altLang="en-US" sz="2000" dirty="0" smtClean="0"/>
              <a:t>Safety</a:t>
            </a:r>
            <a:endParaRPr lang="en-US" altLang="en-US" sz="2000" dirty="0"/>
          </a:p>
          <a:p>
            <a:pPr lvl="1" algn="just"/>
            <a:r>
              <a:rPr lang="en-US" altLang="en-US" sz="2000" dirty="0"/>
              <a:t>Multiple interfaces</a:t>
            </a:r>
          </a:p>
          <a:p>
            <a:pPr lvl="1" algn="just"/>
            <a:r>
              <a:rPr lang="en-US" altLang="en-US" sz="2000" dirty="0" smtClean="0"/>
              <a:t>Impacts of operations </a:t>
            </a:r>
            <a:r>
              <a:rPr lang="en-US" altLang="en-US" sz="2000" dirty="0"/>
              <a:t>on Client</a:t>
            </a:r>
          </a:p>
          <a:p>
            <a:pPr lvl="1" algn="just"/>
            <a:r>
              <a:rPr lang="en-US" altLang="en-US" sz="2000" dirty="0"/>
              <a:t>Government regulations and rules</a:t>
            </a:r>
          </a:p>
        </p:txBody>
      </p:sp>
    </p:spTree>
    <p:extLst>
      <p:ext uri="{BB962C8B-B14F-4D97-AF65-F5344CB8AC3E}">
        <p14:creationId xmlns:p14="http://schemas.microsoft.com/office/powerpoint/2010/main" val="32901896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5- Software Risk Issues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M</a:t>
            </a:r>
            <a:r>
              <a:rPr lang="en-US" altLang="en-US" dirty="0" smtClean="0"/>
              <a:t>isunderstanding </a:t>
            </a:r>
            <a:r>
              <a:rPr lang="en-US" altLang="en-US" dirty="0"/>
              <a:t>of the original </a:t>
            </a:r>
            <a:r>
              <a:rPr lang="en-US" altLang="en-US" b="1" dirty="0" smtClean="0"/>
              <a:t>requirements</a:t>
            </a:r>
          </a:p>
          <a:p>
            <a:pPr lvl="1" algn="just"/>
            <a:r>
              <a:rPr lang="en-US" altLang="en-US" sz="2000" dirty="0" smtClean="0"/>
              <a:t>This </a:t>
            </a:r>
            <a:r>
              <a:rPr lang="en-US" altLang="en-US" sz="2000" dirty="0"/>
              <a:t>can occur </a:t>
            </a:r>
            <a:r>
              <a:rPr lang="en-US" altLang="en-US" sz="2000" dirty="0" smtClean="0"/>
              <a:t>at the </a:t>
            </a:r>
            <a:r>
              <a:rPr lang="en-US" altLang="en-US" sz="2000" dirty="0"/>
              <a:t>management, user and developer </a:t>
            </a:r>
            <a:r>
              <a:rPr lang="en-US" altLang="en-US" sz="2000" dirty="0" smtClean="0"/>
              <a:t>levels</a:t>
            </a:r>
            <a:endParaRPr lang="en-US" altLang="en-US" sz="2000" dirty="0"/>
          </a:p>
          <a:p>
            <a:pPr algn="just"/>
            <a:r>
              <a:rPr lang="en-US" altLang="en-US" dirty="0" smtClean="0"/>
              <a:t>The </a:t>
            </a:r>
            <a:r>
              <a:rPr lang="en-US" altLang="en-US" b="1" dirty="0"/>
              <a:t>past history </a:t>
            </a:r>
            <a:r>
              <a:rPr lang="en-US" altLang="en-US" dirty="0"/>
              <a:t>of defects </a:t>
            </a:r>
            <a:r>
              <a:rPr lang="en-US" altLang="en-US" dirty="0" smtClean="0"/>
              <a:t>will </a:t>
            </a:r>
            <a:r>
              <a:rPr lang="en-US" altLang="en-US" dirty="0"/>
              <a:t>help identify </a:t>
            </a:r>
            <a:r>
              <a:rPr lang="en-US" altLang="en-US" dirty="0" smtClean="0"/>
              <a:t>potential areas </a:t>
            </a:r>
            <a:r>
              <a:rPr lang="en-US" altLang="en-US" dirty="0"/>
              <a:t>within the software that are risky. </a:t>
            </a:r>
            <a:endParaRPr lang="en-US" altLang="en-US" dirty="0" smtClean="0"/>
          </a:p>
          <a:p>
            <a:pPr lvl="1" algn="just"/>
            <a:r>
              <a:rPr lang="en-US" altLang="en-US" sz="2000" dirty="0" smtClean="0"/>
              <a:t>It </a:t>
            </a:r>
            <a:r>
              <a:rPr lang="en-US" altLang="en-US" sz="2000" dirty="0"/>
              <a:t>is the nature of defects to cluster and clump together. </a:t>
            </a:r>
            <a:endParaRPr lang="en-US" altLang="en-US" sz="2000" dirty="0" smtClean="0"/>
          </a:p>
          <a:p>
            <a:pPr algn="just"/>
            <a:r>
              <a:rPr lang="en-US" altLang="en-US" b="1" dirty="0"/>
              <a:t>G</a:t>
            </a:r>
            <a:r>
              <a:rPr lang="en-US" altLang="en-US" b="1" dirty="0" smtClean="0"/>
              <a:t>ood </a:t>
            </a:r>
            <a:r>
              <a:rPr lang="en-US" altLang="en-US" b="1" dirty="0"/>
              <a:t>approach </a:t>
            </a:r>
            <a:r>
              <a:rPr lang="en-US" altLang="en-US" dirty="0"/>
              <a:t>to </a:t>
            </a:r>
            <a:r>
              <a:rPr lang="en-US" altLang="en-US" dirty="0" smtClean="0"/>
              <a:t>identify risks</a:t>
            </a:r>
          </a:p>
          <a:p>
            <a:pPr lvl="1" algn="just"/>
            <a:r>
              <a:rPr lang="en-US" altLang="en-US" sz="2000" dirty="0"/>
              <a:t>T</a:t>
            </a:r>
            <a:r>
              <a:rPr lang="en-US" altLang="en-US" sz="2000" dirty="0" smtClean="0"/>
              <a:t>o </a:t>
            </a:r>
            <a:r>
              <a:rPr lang="en-US" altLang="en-US" sz="2000" dirty="0"/>
              <a:t>have several brainstorming </a:t>
            </a:r>
            <a:r>
              <a:rPr lang="en-US" altLang="en-US" sz="2000" dirty="0" smtClean="0"/>
              <a:t>sessions</a:t>
            </a:r>
          </a:p>
          <a:p>
            <a:pPr lvl="1" algn="just"/>
            <a:r>
              <a:rPr lang="en-US" sz="2000" dirty="0" smtClean="0"/>
              <a:t>Identify them early so that they do not appear as surprise late in the project</a:t>
            </a:r>
            <a:endParaRPr lang="en-US" altLang="en-US" sz="2000" dirty="0"/>
          </a:p>
          <a:p>
            <a:pPr algn="just"/>
            <a:r>
              <a:rPr lang="en-US" b="1" dirty="0" smtClean="0"/>
              <a:t>Examples: </a:t>
            </a:r>
            <a:r>
              <a:rPr lang="en-US" dirty="0" smtClean="0"/>
              <a:t>Risks can be</a:t>
            </a:r>
          </a:p>
          <a:p>
            <a:pPr lvl="1" algn="just"/>
            <a:r>
              <a:rPr lang="en-US" sz="2000" dirty="0" smtClean="0"/>
              <a:t>A new tester assigned to test the software of a new nuclear power plant</a:t>
            </a:r>
          </a:p>
          <a:p>
            <a:pPr lvl="1" algn="just"/>
            <a:r>
              <a:rPr lang="en-US" sz="2000" dirty="0" smtClean="0"/>
              <a:t>Time to test a project is too short to meet the schedule</a:t>
            </a:r>
          </a:p>
          <a:p>
            <a:pPr lvl="1" algn="just">
              <a:buNone/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8453868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6- Features to be tested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7800"/>
            <a:ext cx="9966960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L</a:t>
            </a:r>
            <a:r>
              <a:rPr lang="en-US" altLang="en-US" dirty="0" smtClean="0"/>
              <a:t>isting </a:t>
            </a:r>
            <a:r>
              <a:rPr lang="en-US" altLang="en-US" dirty="0"/>
              <a:t>of what is to be tested from the </a:t>
            </a:r>
            <a:r>
              <a:rPr lang="en-US" altLang="en-US" b="1" dirty="0"/>
              <a:t>USERS</a:t>
            </a:r>
            <a:r>
              <a:rPr lang="en-US" altLang="en-US" dirty="0"/>
              <a:t> viewpoint of what the system does.</a:t>
            </a:r>
          </a:p>
          <a:p>
            <a:pPr algn="just"/>
            <a:r>
              <a:rPr lang="en-US" altLang="en-US" dirty="0"/>
              <a:t>This is </a:t>
            </a:r>
            <a:r>
              <a:rPr lang="en-US" altLang="en-US" b="1" dirty="0"/>
              <a:t>not a technical </a:t>
            </a:r>
            <a:r>
              <a:rPr lang="en-US" altLang="en-US" dirty="0"/>
              <a:t>description of the </a:t>
            </a:r>
            <a:r>
              <a:rPr lang="en-US" altLang="en-US" dirty="0" smtClean="0"/>
              <a:t>software</a:t>
            </a:r>
            <a:endParaRPr lang="en-US" altLang="en-US" dirty="0"/>
          </a:p>
          <a:p>
            <a:pPr algn="just"/>
            <a:r>
              <a:rPr lang="en-US" altLang="en-US" dirty="0"/>
              <a:t>Set the </a:t>
            </a:r>
            <a:r>
              <a:rPr lang="en-US" altLang="en-US" b="1" dirty="0"/>
              <a:t>level</a:t>
            </a:r>
            <a:r>
              <a:rPr lang="en-US" altLang="en-US" dirty="0"/>
              <a:t> of risk for each </a:t>
            </a:r>
            <a:r>
              <a:rPr lang="en-US" altLang="en-US" dirty="0" smtClean="0"/>
              <a:t>feature</a:t>
            </a:r>
          </a:p>
          <a:p>
            <a:pPr lvl="1" algn="just"/>
            <a:r>
              <a:rPr lang="en-US" altLang="en-US" sz="2000" dirty="0" smtClean="0"/>
              <a:t>Use </a:t>
            </a:r>
            <a:r>
              <a:rPr lang="en-US" altLang="en-US" sz="2000" dirty="0"/>
              <a:t>a simple rating scale such as (H, M, L): High, Medium and </a:t>
            </a:r>
            <a:r>
              <a:rPr lang="en-US" altLang="en-US" sz="2000" dirty="0" smtClean="0"/>
              <a:t>Low.</a:t>
            </a:r>
          </a:p>
          <a:p>
            <a:pPr lvl="1" algn="just"/>
            <a:r>
              <a:rPr lang="en-US" altLang="en-US" sz="2000" dirty="0" smtClean="0"/>
              <a:t>These </a:t>
            </a:r>
            <a:r>
              <a:rPr lang="en-US" altLang="en-US" sz="2000" dirty="0"/>
              <a:t>types of levels are understandable to a </a:t>
            </a:r>
            <a:r>
              <a:rPr lang="en-US" altLang="en-US" sz="2000" dirty="0" smtClean="0"/>
              <a:t>User.</a:t>
            </a:r>
          </a:p>
          <a:p>
            <a:pPr lvl="1" algn="just"/>
            <a:r>
              <a:rPr lang="en-US" altLang="en-US" sz="2000" dirty="0" smtClean="0"/>
              <a:t>Be </a:t>
            </a:r>
            <a:r>
              <a:rPr lang="en-US" altLang="en-US" sz="2000" dirty="0"/>
              <a:t>prepared to discuss why a particular level was </a:t>
            </a:r>
            <a:r>
              <a:rPr lang="en-US" altLang="en-US" sz="2000" dirty="0" smtClean="0"/>
              <a:t>chosen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112344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Test Items v/s Features to be tested (Section 4 v/s Section 6)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36470" y="1447800"/>
            <a:ext cx="9914708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Section 4 and Section 6 are very similar?</a:t>
            </a:r>
          </a:p>
          <a:p>
            <a:pPr lvl="1" algn="just"/>
            <a:r>
              <a:rPr lang="en-US" altLang="en-US" sz="2000" dirty="0"/>
              <a:t>The only true difference is the point of view. </a:t>
            </a:r>
          </a:p>
          <a:p>
            <a:pPr lvl="1" algn="just"/>
            <a:r>
              <a:rPr lang="en-US" altLang="en-US" sz="2000" dirty="0"/>
              <a:t>Section 4 is a technical type description including </a:t>
            </a:r>
            <a:r>
              <a:rPr lang="en-US" altLang="en-US" sz="2000" dirty="0" smtClean="0"/>
              <a:t>version </a:t>
            </a:r>
            <a:r>
              <a:rPr lang="en-US" altLang="en-US" sz="2000" dirty="0"/>
              <a:t>numbers and other technical information </a:t>
            </a:r>
          </a:p>
          <a:p>
            <a:pPr lvl="1" algn="just"/>
            <a:r>
              <a:rPr lang="en-US" altLang="en-US" sz="2000" dirty="0"/>
              <a:t>Section 6 is from the User’s viewpoint</a:t>
            </a:r>
          </a:p>
          <a:p>
            <a:pPr lvl="2" algn="just"/>
            <a:r>
              <a:rPr lang="en-US" altLang="en-US" sz="2000" dirty="0"/>
              <a:t>Users do not understand technical software terminology; they understand functions and processes as they relate to their jobs.</a:t>
            </a:r>
          </a:p>
        </p:txBody>
      </p:sp>
    </p:spTree>
    <p:extLst>
      <p:ext uri="{BB962C8B-B14F-4D97-AF65-F5344CB8AC3E}">
        <p14:creationId xmlns:p14="http://schemas.microsoft.com/office/powerpoint/2010/main" val="32116308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7</a:t>
            </a:r>
            <a:r>
              <a:rPr lang="en-US" altLang="en-US" dirty="0" smtClean="0"/>
              <a:t>- Features not to be tested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7800"/>
            <a:ext cx="9966960" cy="50292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Listing of </a:t>
            </a:r>
            <a:r>
              <a:rPr lang="en-US" altLang="en-US" dirty="0"/>
              <a:t>what is NOT to be tested from </a:t>
            </a:r>
            <a:r>
              <a:rPr lang="en-US" altLang="en-US" dirty="0" smtClean="0"/>
              <a:t>both</a:t>
            </a:r>
          </a:p>
          <a:p>
            <a:pPr lvl="1"/>
            <a:r>
              <a:rPr lang="en-US" altLang="en-US" sz="2000" dirty="0"/>
              <a:t>T</a:t>
            </a:r>
            <a:r>
              <a:rPr lang="en-US" altLang="en-US" sz="2000" dirty="0" smtClean="0"/>
              <a:t>he </a:t>
            </a:r>
            <a:r>
              <a:rPr lang="en-US" altLang="en-US" sz="2000" b="1" dirty="0"/>
              <a:t>Users viewpoint </a:t>
            </a:r>
            <a:r>
              <a:rPr lang="en-US" altLang="en-US" sz="2000" dirty="0"/>
              <a:t>of what the system </a:t>
            </a:r>
            <a:r>
              <a:rPr lang="en-US" altLang="en-US" sz="2000" dirty="0" smtClean="0"/>
              <a:t>does</a:t>
            </a:r>
          </a:p>
          <a:p>
            <a:pPr lvl="1"/>
            <a:r>
              <a:rPr lang="en-US" altLang="en-US" sz="2000" b="1" dirty="0" smtClean="0"/>
              <a:t>Configuration </a:t>
            </a:r>
            <a:r>
              <a:rPr lang="en-US" altLang="en-US" sz="2000" b="1" dirty="0"/>
              <a:t>management</a:t>
            </a:r>
            <a:r>
              <a:rPr lang="en-US" altLang="en-US" sz="2000" dirty="0"/>
              <a:t>/version control </a:t>
            </a:r>
            <a:r>
              <a:rPr lang="en-US" altLang="en-US" sz="2000" dirty="0" smtClean="0"/>
              <a:t>view</a:t>
            </a:r>
          </a:p>
          <a:p>
            <a:r>
              <a:rPr lang="en-US" altLang="en-US" dirty="0" smtClean="0"/>
              <a:t>Identify </a:t>
            </a:r>
            <a:r>
              <a:rPr lang="en-US" altLang="en-US" b="1" dirty="0"/>
              <a:t>WHY</a:t>
            </a:r>
            <a:r>
              <a:rPr lang="en-US" altLang="en-US" dirty="0"/>
              <a:t> the feature is not to be tested, there can be any number of </a:t>
            </a:r>
            <a:r>
              <a:rPr lang="en-US" altLang="en-US" b="1" dirty="0"/>
              <a:t>reasons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sz="2000" dirty="0" smtClean="0"/>
              <a:t>Not </a:t>
            </a:r>
            <a:r>
              <a:rPr lang="en-US" altLang="en-US" sz="2000" dirty="0"/>
              <a:t>to be included in this release of the </a:t>
            </a:r>
            <a:r>
              <a:rPr lang="en-US" altLang="en-US" sz="2000" dirty="0" smtClean="0"/>
              <a:t>Software</a:t>
            </a:r>
            <a:endParaRPr lang="en-US" altLang="en-US" sz="2000" dirty="0"/>
          </a:p>
          <a:p>
            <a:pPr lvl="1"/>
            <a:r>
              <a:rPr lang="en-US" altLang="en-US" sz="2000" dirty="0" smtClean="0"/>
              <a:t>Low </a:t>
            </a:r>
            <a:r>
              <a:rPr lang="en-US" altLang="en-US" sz="2000" dirty="0"/>
              <a:t>risk, has been used before and is considered </a:t>
            </a:r>
            <a:r>
              <a:rPr lang="en-US" altLang="en-US" sz="2000" dirty="0" smtClean="0"/>
              <a:t>stable</a:t>
            </a:r>
            <a:endParaRPr lang="en-US" altLang="en-US" sz="2000" dirty="0"/>
          </a:p>
          <a:p>
            <a:pPr lvl="1"/>
            <a:r>
              <a:rPr lang="en-US" altLang="en-US" sz="2000" dirty="0" smtClean="0"/>
              <a:t>Will </a:t>
            </a:r>
            <a:r>
              <a:rPr lang="en-US" altLang="en-US" sz="2000" dirty="0"/>
              <a:t>be released but not tested or documented as a functional part of the release of this version of the </a:t>
            </a:r>
            <a:r>
              <a:rPr lang="en-US" altLang="en-US" sz="2000" dirty="0" smtClean="0"/>
              <a:t>software</a:t>
            </a:r>
          </a:p>
          <a:p>
            <a:pPr lvl="1"/>
            <a:r>
              <a:rPr lang="en-US" sz="2000" dirty="0" smtClean="0"/>
              <a:t>Some components previously released are already tested</a:t>
            </a:r>
          </a:p>
          <a:p>
            <a:pPr lvl="1"/>
            <a:r>
              <a:rPr lang="en-US" sz="2000" dirty="0" smtClean="0"/>
              <a:t>An outsourcing company may supply pre-tested portion of the product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59955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7- Features not to be tested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Sections 6 and 7 are directly related to Sections 5</a:t>
            </a:r>
          </a:p>
          <a:p>
            <a:pPr lvl="1"/>
            <a:r>
              <a:rPr lang="en-US" altLang="en-US" sz="2000" dirty="0" smtClean="0"/>
              <a:t>What will and will not be tested are directly affected by the levels of acceptable risk within the project</a:t>
            </a:r>
          </a:p>
          <a:p>
            <a:pPr lvl="1"/>
            <a:r>
              <a:rPr lang="en-US" altLang="en-US" sz="2000" dirty="0" smtClean="0"/>
              <a:t>What does not get tested affects the level of risk of the project</a:t>
            </a:r>
          </a:p>
          <a:p>
            <a:pPr lvl="1"/>
            <a:r>
              <a:rPr lang="en-US" sz="2000" dirty="0" smtClean="0"/>
              <a:t>However a code slipped </a:t>
            </a:r>
            <a:r>
              <a:rPr lang="en-US" sz="2000" smtClean="0"/>
              <a:t>through the </a:t>
            </a:r>
            <a:r>
              <a:rPr lang="en-US" sz="2000" dirty="0" smtClean="0"/>
              <a:t>development cycle untested because of misunderstanding would be a disaster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8- Approach (Strategy)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84219" y="1436913"/>
            <a:ext cx="9980022" cy="5264331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 smtClean="0"/>
              <a:t>It </a:t>
            </a:r>
            <a:r>
              <a:rPr lang="en-US" altLang="en-US" dirty="0"/>
              <a:t>should be appropriate to the level of the plan (master, acceptance, etc</a:t>
            </a:r>
            <a:r>
              <a:rPr lang="en-US" altLang="en-US" dirty="0" smtClean="0"/>
              <a:t>.)</a:t>
            </a:r>
          </a:p>
          <a:p>
            <a:pPr algn="just"/>
            <a:r>
              <a:rPr lang="en-US" altLang="en-US" dirty="0" smtClean="0"/>
              <a:t>It should </a:t>
            </a:r>
            <a:r>
              <a:rPr lang="en-US" altLang="en-US" dirty="0"/>
              <a:t>be in agreement with all higher and lower levels of plans. 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Overall </a:t>
            </a:r>
            <a:r>
              <a:rPr lang="en-US" altLang="en-US" b="1" dirty="0"/>
              <a:t>rules and processes </a:t>
            </a:r>
            <a:r>
              <a:rPr lang="en-US" altLang="en-US" dirty="0"/>
              <a:t>should be identified.</a:t>
            </a:r>
          </a:p>
          <a:p>
            <a:pPr lvl="1" algn="just"/>
            <a:r>
              <a:rPr lang="en-US" sz="2000" dirty="0" smtClean="0"/>
              <a:t>Either you have to use black box testing or white box testing or a mixed </a:t>
            </a:r>
            <a:r>
              <a:rPr lang="en-US" sz="2000" b="1" dirty="0" smtClean="0"/>
              <a:t>approach</a:t>
            </a:r>
            <a:r>
              <a:rPr lang="en-US" sz="2000" dirty="0" smtClean="0"/>
              <a:t>?</a:t>
            </a:r>
          </a:p>
          <a:p>
            <a:pPr lvl="1" algn="just"/>
            <a:r>
              <a:rPr lang="en-US" sz="2000" b="1" dirty="0" smtClean="0"/>
              <a:t>When</a:t>
            </a:r>
            <a:r>
              <a:rPr lang="en-US" sz="2000" dirty="0" smtClean="0"/>
              <a:t> to apply each approach and to </a:t>
            </a:r>
            <a:r>
              <a:rPr lang="en-US" sz="2000" b="1" dirty="0" smtClean="0"/>
              <a:t>what part </a:t>
            </a:r>
            <a:r>
              <a:rPr lang="en-US" sz="2000" dirty="0" smtClean="0"/>
              <a:t>of the software?</a:t>
            </a:r>
          </a:p>
          <a:p>
            <a:pPr lvl="1" algn="just"/>
            <a:r>
              <a:rPr lang="en-US" sz="2000" dirty="0" smtClean="0"/>
              <a:t>Which part of code tested </a:t>
            </a:r>
            <a:r>
              <a:rPr lang="en-US" sz="2000" b="1" dirty="0" smtClean="0"/>
              <a:t>manually</a:t>
            </a:r>
            <a:r>
              <a:rPr lang="en-US" sz="2000" dirty="0" smtClean="0"/>
              <a:t> and which through </a:t>
            </a:r>
            <a:r>
              <a:rPr lang="en-US" sz="2000" b="1" dirty="0" smtClean="0"/>
              <a:t>automation</a:t>
            </a:r>
            <a:r>
              <a:rPr lang="en-US" sz="2000" dirty="0" smtClean="0"/>
              <a:t>?</a:t>
            </a:r>
            <a:endParaRPr lang="en-US" altLang="en-US" sz="2000" dirty="0" smtClean="0"/>
          </a:p>
          <a:p>
            <a:pPr lvl="1" algn="just"/>
            <a:r>
              <a:rPr lang="en-US" altLang="en-US" sz="2000" dirty="0" smtClean="0"/>
              <a:t>Are </a:t>
            </a:r>
            <a:r>
              <a:rPr lang="en-US" altLang="en-US" sz="2000" dirty="0"/>
              <a:t>any </a:t>
            </a:r>
            <a:r>
              <a:rPr lang="en-US" altLang="en-US" sz="2000" b="1" dirty="0"/>
              <a:t>special tools </a:t>
            </a:r>
            <a:r>
              <a:rPr lang="en-US" altLang="en-US" sz="2000" dirty="0"/>
              <a:t>to be </a:t>
            </a:r>
            <a:r>
              <a:rPr lang="en-US" altLang="en-US" sz="2000" dirty="0" smtClean="0"/>
              <a:t>used?</a:t>
            </a:r>
          </a:p>
          <a:p>
            <a:pPr lvl="1" algn="just"/>
            <a:r>
              <a:rPr lang="en-US" sz="2000" dirty="0" smtClean="0"/>
              <a:t>Whether the tools will be developed or </a:t>
            </a:r>
            <a:r>
              <a:rPr lang="en-US" sz="2000" b="1" dirty="0" smtClean="0"/>
              <a:t>existing tools </a:t>
            </a:r>
            <a:r>
              <a:rPr lang="en-US" sz="2000" dirty="0" smtClean="0"/>
              <a:t>will be purchased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Will </a:t>
            </a:r>
            <a:r>
              <a:rPr lang="en-US" altLang="en-US" sz="2000" dirty="0"/>
              <a:t>the tool require special </a:t>
            </a:r>
            <a:r>
              <a:rPr lang="en-US" altLang="en-US" sz="2000" b="1" dirty="0"/>
              <a:t>training</a:t>
            </a:r>
            <a:r>
              <a:rPr lang="en-US" altLang="en-US" sz="2000" dirty="0"/>
              <a:t>?</a:t>
            </a:r>
          </a:p>
          <a:p>
            <a:pPr lvl="1" algn="just"/>
            <a:r>
              <a:rPr lang="en-US" altLang="en-US" sz="2000" dirty="0" smtClean="0"/>
              <a:t>What </a:t>
            </a:r>
            <a:r>
              <a:rPr lang="en-US" altLang="en-US" sz="2000" b="1" dirty="0"/>
              <a:t>metrics</a:t>
            </a:r>
            <a:r>
              <a:rPr lang="en-US" altLang="en-US" sz="2000" dirty="0"/>
              <a:t> will be collected?</a:t>
            </a:r>
          </a:p>
          <a:p>
            <a:pPr lvl="1" algn="just"/>
            <a:r>
              <a:rPr lang="en-US" altLang="en-US" sz="2000" dirty="0" smtClean="0"/>
              <a:t>How </a:t>
            </a:r>
            <a:r>
              <a:rPr lang="en-US" altLang="en-US" sz="2000" dirty="0"/>
              <a:t>is </a:t>
            </a:r>
            <a:r>
              <a:rPr lang="en-US" altLang="en-US" sz="2000" b="1" dirty="0"/>
              <a:t>Configuration Management </a:t>
            </a:r>
            <a:r>
              <a:rPr lang="en-US" altLang="en-US" sz="2000" dirty="0"/>
              <a:t>to be handled</a:t>
            </a:r>
            <a:r>
              <a:rPr lang="en-US" altLang="en-US" sz="2000" dirty="0" smtClean="0"/>
              <a:t>?</a:t>
            </a:r>
          </a:p>
          <a:p>
            <a:pPr lvl="1" algn="just"/>
            <a:r>
              <a:rPr lang="en-US" altLang="en-US" sz="2000" b="1" dirty="0" smtClean="0"/>
              <a:t>How many </a:t>
            </a:r>
            <a:r>
              <a:rPr lang="en-US" altLang="en-US" sz="2000" dirty="0" smtClean="0"/>
              <a:t>different configurations will be tested?</a:t>
            </a:r>
          </a:p>
          <a:p>
            <a:pPr lvl="1" algn="just"/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062619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8- Approach (Strategy)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9978"/>
            <a:ext cx="9940834" cy="5107576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000" b="1" dirty="0" smtClean="0"/>
              <a:t>Combinations </a:t>
            </a:r>
            <a:r>
              <a:rPr lang="en-US" altLang="en-US" sz="2000" dirty="0" smtClean="0"/>
              <a:t>of HW, SW and other vendor packages</a:t>
            </a:r>
          </a:p>
          <a:p>
            <a:pPr lvl="1" algn="just"/>
            <a:r>
              <a:rPr lang="en-US" altLang="en-US" sz="2000" dirty="0" smtClean="0"/>
              <a:t>What levels of </a:t>
            </a:r>
            <a:r>
              <a:rPr lang="en-US" altLang="en-US" sz="2000" b="1" dirty="0" smtClean="0"/>
              <a:t>regression testing </a:t>
            </a:r>
            <a:r>
              <a:rPr lang="en-US" altLang="en-US" sz="2000" dirty="0" smtClean="0"/>
              <a:t>will be done and how much at each test level?</a:t>
            </a:r>
          </a:p>
          <a:p>
            <a:pPr lvl="1" algn="just"/>
            <a:r>
              <a:rPr lang="en-US" altLang="en-US" sz="2000" dirty="0" smtClean="0"/>
              <a:t>Will regression testing be based on </a:t>
            </a:r>
            <a:r>
              <a:rPr lang="en-US" altLang="en-US" sz="2000" b="1" dirty="0" smtClean="0"/>
              <a:t>severity of defects </a:t>
            </a:r>
            <a:r>
              <a:rPr lang="en-US" altLang="en-US" sz="2000" dirty="0" smtClean="0"/>
              <a:t>detected?</a:t>
            </a:r>
          </a:p>
          <a:p>
            <a:pPr lvl="1" algn="just"/>
            <a:r>
              <a:rPr lang="en-US" altLang="en-US" sz="2000" dirty="0" smtClean="0"/>
              <a:t>How will elements in the requirements and design that </a:t>
            </a:r>
            <a:r>
              <a:rPr lang="en-US" altLang="en-US" sz="2000" b="1" dirty="0" smtClean="0"/>
              <a:t>do not make sense </a:t>
            </a:r>
            <a:r>
              <a:rPr lang="en-US" altLang="en-US" sz="2000" dirty="0" smtClean="0"/>
              <a:t>or are un-testable to be processed?</a:t>
            </a:r>
          </a:p>
          <a:p>
            <a:pPr lvl="1" algn="just"/>
            <a:r>
              <a:rPr lang="en-US" sz="2000" dirty="0" smtClean="0"/>
              <a:t>Would it be better to </a:t>
            </a:r>
            <a:r>
              <a:rPr lang="en-US" sz="2000" b="1" dirty="0" smtClean="0"/>
              <a:t>outsource </a:t>
            </a:r>
            <a:r>
              <a:rPr lang="en-US" sz="2000" dirty="0" smtClean="0"/>
              <a:t>entire test effort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If </a:t>
            </a:r>
            <a:r>
              <a:rPr lang="en-US" altLang="en-US" dirty="0"/>
              <a:t>this is a </a:t>
            </a:r>
            <a:r>
              <a:rPr lang="en-US" altLang="en-US" b="1" dirty="0"/>
              <a:t>master test plan </a:t>
            </a:r>
            <a:endParaRPr lang="en-US" altLang="en-US" b="1" dirty="0" smtClean="0"/>
          </a:p>
          <a:p>
            <a:pPr lvl="1" algn="just"/>
            <a:r>
              <a:rPr lang="en-US" altLang="en-US" sz="2000" dirty="0"/>
              <a:t>O</a:t>
            </a:r>
            <a:r>
              <a:rPr lang="en-US" altLang="en-US" sz="2000" dirty="0" smtClean="0"/>
              <a:t>verall </a:t>
            </a:r>
            <a:r>
              <a:rPr lang="en-US" altLang="en-US" sz="2000" dirty="0"/>
              <a:t>project testing approach and coverage requirements must also be </a:t>
            </a:r>
            <a:r>
              <a:rPr lang="en-US" altLang="en-US" sz="2000" dirty="0" smtClean="0"/>
              <a:t>identified</a:t>
            </a:r>
            <a:endParaRPr lang="en-US" altLang="en-US" sz="2000" dirty="0"/>
          </a:p>
          <a:p>
            <a:pPr algn="just"/>
            <a:r>
              <a:rPr lang="en-US" altLang="en-US" dirty="0"/>
              <a:t>Specify if there are </a:t>
            </a:r>
            <a:r>
              <a:rPr lang="en-US" altLang="en-US" b="1" dirty="0"/>
              <a:t>special requirements </a:t>
            </a:r>
            <a:r>
              <a:rPr lang="en-US" altLang="en-US" dirty="0"/>
              <a:t>for the </a:t>
            </a:r>
            <a:r>
              <a:rPr lang="en-US" altLang="en-US" dirty="0" smtClean="0"/>
              <a:t>testing</a:t>
            </a:r>
            <a:endParaRPr lang="en-US" altLang="en-US" dirty="0"/>
          </a:p>
          <a:p>
            <a:pPr lvl="1" algn="just"/>
            <a:r>
              <a:rPr lang="en-US" altLang="en-US" sz="2000" dirty="0" smtClean="0"/>
              <a:t>Only </a:t>
            </a:r>
            <a:r>
              <a:rPr lang="en-US" altLang="en-US" sz="2000" dirty="0"/>
              <a:t>the full component will be </a:t>
            </a:r>
            <a:r>
              <a:rPr lang="en-US" altLang="en-US" sz="2000" dirty="0" smtClean="0"/>
              <a:t>tested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A </a:t>
            </a:r>
            <a:r>
              <a:rPr lang="en-US" altLang="en-US" sz="2000" dirty="0"/>
              <a:t>specified segment of grouping of features/components must be tested together.</a:t>
            </a:r>
          </a:p>
          <a:p>
            <a:pPr algn="just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2743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8- Approach (Strategy)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 smtClean="0"/>
              <a:t>Other information </a:t>
            </a:r>
            <a:r>
              <a:rPr lang="en-US" altLang="en-US" dirty="0" smtClean="0"/>
              <a:t>that may be useful in setting the approach are:</a:t>
            </a:r>
          </a:p>
          <a:p>
            <a:pPr lvl="1" algn="just"/>
            <a:r>
              <a:rPr lang="en-US" altLang="en-US" sz="2000" b="1" dirty="0" smtClean="0"/>
              <a:t>MTBF, Mean Time Between Failures - </a:t>
            </a:r>
            <a:r>
              <a:rPr lang="en-US" altLang="en-US" sz="2000" dirty="0" smtClean="0"/>
              <a:t>if this is a valid measurement for the test involved and if the data is available.</a:t>
            </a:r>
          </a:p>
          <a:p>
            <a:pPr lvl="1" algn="just"/>
            <a:r>
              <a:rPr lang="en-US" altLang="en-US" sz="2000" smtClean="0"/>
              <a:t>How </a:t>
            </a:r>
            <a:r>
              <a:rPr lang="en-US" altLang="en-US" sz="2000" dirty="0" smtClean="0"/>
              <a:t>will meetings and other </a:t>
            </a:r>
            <a:r>
              <a:rPr lang="en-US" altLang="en-US" sz="2000" b="1" dirty="0" smtClean="0"/>
              <a:t>organizational processes </a:t>
            </a:r>
            <a:r>
              <a:rPr lang="en-US" altLang="en-US" sz="2000" dirty="0" smtClean="0"/>
              <a:t>be handled?</a:t>
            </a:r>
          </a:p>
          <a:p>
            <a:r>
              <a:rPr lang="en-US" dirty="0" smtClean="0"/>
              <a:t>Test strategy needs to be made by experienced testers</a:t>
            </a:r>
          </a:p>
          <a:p>
            <a:r>
              <a:rPr lang="en-US" dirty="0" smtClean="0"/>
              <a:t>Everyone in the project team should understand and be in agreement with test strategy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9</a:t>
            </a:r>
            <a:r>
              <a:rPr lang="en-US" altLang="en-US" dirty="0" smtClean="0"/>
              <a:t>- Item Pass/Fail Criteria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97281" y="1447800"/>
            <a:ext cx="9993085" cy="5029200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/>
              <a:t>What are the Completion criteria for this plan? 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This </a:t>
            </a:r>
            <a:r>
              <a:rPr lang="en-US" altLang="en-US" dirty="0"/>
              <a:t>is a </a:t>
            </a:r>
            <a:r>
              <a:rPr lang="en-US" altLang="en-US" b="1" dirty="0"/>
              <a:t>critical</a:t>
            </a:r>
            <a:r>
              <a:rPr lang="en-US" altLang="en-US" dirty="0"/>
              <a:t> aspect of any test plan and should be appropriate to the level of the plan.</a:t>
            </a:r>
          </a:p>
          <a:p>
            <a:pPr lvl="1" algn="just"/>
            <a:r>
              <a:rPr lang="en-US" altLang="en-US" sz="2000" dirty="0" smtClean="0"/>
              <a:t>At </a:t>
            </a:r>
            <a:r>
              <a:rPr lang="en-US" altLang="en-US" sz="2000" dirty="0"/>
              <a:t>the </a:t>
            </a:r>
            <a:r>
              <a:rPr lang="en-US" altLang="en-US" sz="2000" b="1" dirty="0"/>
              <a:t>Unit test level </a:t>
            </a:r>
            <a:r>
              <a:rPr lang="en-US" altLang="en-US" sz="2000" dirty="0"/>
              <a:t>this could be items such as:</a:t>
            </a:r>
          </a:p>
          <a:p>
            <a:pPr lvl="2" algn="just"/>
            <a:r>
              <a:rPr lang="en-US" altLang="en-US" sz="2000" dirty="0" smtClean="0"/>
              <a:t>All </a:t>
            </a:r>
            <a:r>
              <a:rPr lang="en-US" altLang="en-US" sz="2000" dirty="0"/>
              <a:t>test cases completed.</a:t>
            </a:r>
          </a:p>
          <a:p>
            <a:pPr lvl="2" algn="just"/>
            <a:r>
              <a:rPr lang="en-US" altLang="en-US" sz="2000" dirty="0" smtClean="0"/>
              <a:t>A </a:t>
            </a:r>
            <a:r>
              <a:rPr lang="en-US" altLang="en-US" sz="2000" dirty="0"/>
              <a:t>specified percentage of cases completed with a percentage containing some number of minor defects.</a:t>
            </a:r>
          </a:p>
          <a:p>
            <a:pPr lvl="2" algn="just"/>
            <a:r>
              <a:rPr lang="en-US" altLang="en-US" sz="2000" dirty="0" smtClean="0"/>
              <a:t>Code </a:t>
            </a:r>
            <a:r>
              <a:rPr lang="en-US" altLang="en-US" sz="2000" dirty="0"/>
              <a:t>coverage tool indicates all code covered.</a:t>
            </a:r>
          </a:p>
          <a:p>
            <a:pPr lvl="1" algn="just"/>
            <a:r>
              <a:rPr lang="en-US" altLang="en-US" sz="2000" dirty="0" smtClean="0"/>
              <a:t>At </a:t>
            </a:r>
            <a:r>
              <a:rPr lang="en-US" altLang="en-US" sz="2000" dirty="0"/>
              <a:t>the </a:t>
            </a:r>
            <a:r>
              <a:rPr lang="en-US" altLang="en-US" sz="2000" b="1" dirty="0"/>
              <a:t>Master test plan level </a:t>
            </a:r>
            <a:r>
              <a:rPr lang="en-US" altLang="en-US" sz="2000" dirty="0"/>
              <a:t>this could be items such as:</a:t>
            </a:r>
          </a:p>
          <a:p>
            <a:pPr lvl="2" algn="just"/>
            <a:r>
              <a:rPr lang="en-US" altLang="en-US" sz="2000" dirty="0" smtClean="0"/>
              <a:t>All </a:t>
            </a:r>
            <a:r>
              <a:rPr lang="en-US" altLang="en-US" sz="2000" dirty="0"/>
              <a:t>lower level plans completed.</a:t>
            </a:r>
          </a:p>
          <a:p>
            <a:pPr lvl="2" algn="just"/>
            <a:r>
              <a:rPr lang="en-US" altLang="en-US" sz="2000" dirty="0" smtClean="0"/>
              <a:t>A </a:t>
            </a:r>
            <a:r>
              <a:rPr lang="en-US" altLang="en-US" sz="2000" dirty="0"/>
              <a:t>specified number of plans completed without errors and a percentage with minor defects</a:t>
            </a:r>
            <a:r>
              <a:rPr lang="en-US" altLang="en-US" sz="2000" dirty="0" smtClean="0"/>
              <a:t>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652794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9- Item Pass/Fail Criteria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This could be </a:t>
            </a:r>
          </a:p>
          <a:p>
            <a:pPr lvl="1"/>
            <a:r>
              <a:rPr lang="en-US" altLang="en-US" sz="2000" dirty="0" smtClean="0"/>
              <a:t>An individual test case level criterion </a:t>
            </a:r>
          </a:p>
          <a:p>
            <a:pPr lvl="1"/>
            <a:r>
              <a:rPr lang="en-US" altLang="en-US" sz="2000" dirty="0" smtClean="0"/>
              <a:t>A unit level plan </a:t>
            </a:r>
          </a:p>
          <a:p>
            <a:pPr lvl="1"/>
            <a:r>
              <a:rPr lang="en-US" altLang="en-US" sz="2000" dirty="0" smtClean="0"/>
              <a:t>General functional requirements for higher level plans</a:t>
            </a:r>
          </a:p>
          <a:p>
            <a:r>
              <a:rPr lang="en-US" altLang="en-US" dirty="0" smtClean="0"/>
              <a:t>What is the number and severity of defects located need to </a:t>
            </a:r>
            <a:r>
              <a:rPr lang="en-US" altLang="en-US" smtClean="0"/>
              <a:t>be considered?</a:t>
            </a:r>
            <a:endParaRPr lang="en-US" altLang="en-US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10- Suspension Criteria and Resumption Requirements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66959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Know when to pause in a series of tests.</a:t>
            </a:r>
          </a:p>
          <a:p>
            <a:pPr lvl="1" algn="just"/>
            <a:r>
              <a:rPr lang="en-US" altLang="en-US" sz="2000" dirty="0" smtClean="0"/>
              <a:t>If </a:t>
            </a:r>
            <a:r>
              <a:rPr lang="en-US" altLang="en-US" sz="2000" dirty="0"/>
              <a:t>the number or type of </a:t>
            </a:r>
            <a:r>
              <a:rPr lang="en-US" altLang="en-US" sz="2000" b="1" dirty="0"/>
              <a:t>defects reaches a </a:t>
            </a:r>
            <a:r>
              <a:rPr lang="en-US" altLang="en-US" sz="2000" b="1" dirty="0" smtClean="0"/>
              <a:t>point </a:t>
            </a:r>
            <a:r>
              <a:rPr lang="en-US" altLang="en-US" dirty="0" smtClean="0"/>
              <a:t>w</a:t>
            </a:r>
            <a:r>
              <a:rPr lang="en-US" altLang="en-US" sz="2000" dirty="0" smtClean="0"/>
              <a:t>here </a:t>
            </a:r>
            <a:r>
              <a:rPr lang="en-US" altLang="en-US" sz="2000" dirty="0"/>
              <a:t>the follow on testing has no </a:t>
            </a:r>
            <a:r>
              <a:rPr lang="en-US" altLang="en-US" sz="2000" dirty="0" smtClean="0"/>
              <a:t>value, it </a:t>
            </a:r>
            <a:r>
              <a:rPr lang="en-US" altLang="en-US" sz="2000" dirty="0"/>
              <a:t>makes no sense to continue the </a:t>
            </a:r>
            <a:r>
              <a:rPr lang="en-US" altLang="en-US" sz="2000" dirty="0" smtClean="0"/>
              <a:t>test</a:t>
            </a:r>
            <a:endParaRPr lang="en-US" altLang="en-US" sz="2000" dirty="0"/>
          </a:p>
          <a:p>
            <a:pPr algn="just"/>
            <a:r>
              <a:rPr lang="en-US" altLang="en-US" b="1" dirty="0"/>
              <a:t>Specify </a:t>
            </a:r>
            <a:endParaRPr lang="en-US" altLang="en-US" b="1" dirty="0" smtClean="0"/>
          </a:p>
          <a:p>
            <a:pPr lvl="1" algn="just"/>
            <a:r>
              <a:rPr lang="en-US" altLang="en-US" sz="2000" dirty="0"/>
              <a:t>W</a:t>
            </a:r>
            <a:r>
              <a:rPr lang="en-US" altLang="en-US" sz="2000" dirty="0" smtClean="0"/>
              <a:t>hat </a:t>
            </a:r>
            <a:r>
              <a:rPr lang="en-US" altLang="en-US" sz="2000" dirty="0"/>
              <a:t>constitutes stoppage for a test or series of </a:t>
            </a:r>
            <a:r>
              <a:rPr lang="en-US" altLang="en-US" sz="2000" dirty="0" smtClean="0"/>
              <a:t>tests</a:t>
            </a:r>
          </a:p>
          <a:p>
            <a:pPr lvl="1" algn="just"/>
            <a:r>
              <a:rPr lang="en-US" altLang="en-US" sz="2000" dirty="0"/>
              <a:t>W</a:t>
            </a:r>
            <a:r>
              <a:rPr lang="en-US" altLang="en-US" sz="2000" dirty="0" smtClean="0"/>
              <a:t>hat </a:t>
            </a:r>
            <a:r>
              <a:rPr lang="en-US" altLang="en-US" sz="2000" dirty="0"/>
              <a:t>is the acceptable level of defects that will allow the testing </a:t>
            </a:r>
            <a:r>
              <a:rPr lang="en-US" altLang="en-US" sz="2000"/>
              <a:t>to </a:t>
            </a:r>
            <a:r>
              <a:rPr lang="en-US" altLang="en-US" sz="2000" smtClean="0"/>
              <a:t>proceed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372857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11- Test Deliverables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40833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What is to be delivered as part of this plan?</a:t>
            </a:r>
          </a:p>
          <a:p>
            <a:pPr lvl="1" algn="just"/>
            <a:r>
              <a:rPr lang="en-US" altLang="en-US" sz="2000" dirty="0" smtClean="0"/>
              <a:t>Test </a:t>
            </a:r>
            <a:r>
              <a:rPr lang="en-US" altLang="en-US" sz="2000" dirty="0"/>
              <a:t>plan </a:t>
            </a:r>
            <a:r>
              <a:rPr lang="en-US" altLang="en-US" sz="2000" dirty="0" smtClean="0"/>
              <a:t>document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Test cases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Test </a:t>
            </a:r>
            <a:r>
              <a:rPr lang="en-US" altLang="en-US" sz="2000" dirty="0"/>
              <a:t>design </a:t>
            </a:r>
            <a:r>
              <a:rPr lang="en-US" altLang="en-US" sz="2000" dirty="0" smtClean="0"/>
              <a:t>specifications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Tools </a:t>
            </a:r>
            <a:r>
              <a:rPr lang="en-US" altLang="en-US" sz="2000" dirty="0"/>
              <a:t>and their </a:t>
            </a:r>
            <a:r>
              <a:rPr lang="en-US" altLang="en-US" sz="2000" dirty="0" smtClean="0"/>
              <a:t>outputs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Simulators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Static </a:t>
            </a:r>
            <a:r>
              <a:rPr lang="en-US" altLang="en-US" sz="2000" dirty="0"/>
              <a:t>and dynamic </a:t>
            </a:r>
            <a:r>
              <a:rPr lang="en-US" altLang="en-US" sz="2000" dirty="0" smtClean="0"/>
              <a:t>generators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Error </a:t>
            </a:r>
            <a:r>
              <a:rPr lang="en-US" altLang="en-US" sz="2000" dirty="0"/>
              <a:t>logs and execution </a:t>
            </a:r>
            <a:r>
              <a:rPr lang="en-US" altLang="en-US" sz="2000" dirty="0" smtClean="0"/>
              <a:t>logs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Problem </a:t>
            </a:r>
            <a:r>
              <a:rPr lang="en-US" altLang="en-US" sz="2000" dirty="0"/>
              <a:t>reports and corrective </a:t>
            </a:r>
            <a:r>
              <a:rPr lang="en-US" altLang="en-US" sz="2000" dirty="0" smtClean="0"/>
              <a:t>actions</a:t>
            </a:r>
            <a:endParaRPr lang="en-US" altLang="en-US" sz="2000" dirty="0"/>
          </a:p>
          <a:p>
            <a:pPr algn="just"/>
            <a:r>
              <a:rPr lang="en-US" altLang="en-US" dirty="0"/>
              <a:t>One thing that is </a:t>
            </a:r>
            <a:r>
              <a:rPr lang="en-US" altLang="en-US" b="1" dirty="0"/>
              <a:t>not a test deliverable </a:t>
            </a:r>
            <a:r>
              <a:rPr lang="en-US" altLang="en-US" dirty="0"/>
              <a:t>is </a:t>
            </a:r>
            <a:endParaRPr lang="en-US" altLang="en-US" dirty="0" smtClean="0"/>
          </a:p>
          <a:p>
            <a:pPr lvl="1" algn="just"/>
            <a:r>
              <a:rPr lang="en-US" altLang="en-US" sz="2000" dirty="0"/>
              <a:t>S</a:t>
            </a:r>
            <a:r>
              <a:rPr lang="en-US" altLang="en-US" sz="2000" dirty="0" smtClean="0"/>
              <a:t>oftware </a:t>
            </a:r>
            <a:r>
              <a:rPr lang="en-US" altLang="en-US" sz="2000" dirty="0"/>
              <a:t>itself that is listed under test items and is delivered by </a:t>
            </a:r>
            <a:r>
              <a:rPr lang="en-US" altLang="en-US" sz="2000" dirty="0" smtClean="0"/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17390299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12- Remaining Test Tasks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7800"/>
            <a:ext cx="10006148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If this is a </a:t>
            </a:r>
            <a:r>
              <a:rPr lang="en-US" altLang="en-US" b="1" dirty="0"/>
              <a:t>multi-phase</a:t>
            </a:r>
            <a:r>
              <a:rPr lang="en-US" altLang="en-US" dirty="0"/>
              <a:t> process or if the application is to be released in </a:t>
            </a:r>
            <a:r>
              <a:rPr lang="en-US" altLang="en-US" b="1" dirty="0"/>
              <a:t>increments </a:t>
            </a:r>
            <a:endParaRPr lang="en-US" altLang="en-US" b="1" dirty="0" smtClean="0"/>
          </a:p>
          <a:p>
            <a:pPr lvl="1" algn="just"/>
            <a:r>
              <a:rPr lang="en-US" altLang="en-US" sz="2000" dirty="0"/>
              <a:t>T</a:t>
            </a:r>
            <a:r>
              <a:rPr lang="en-US" altLang="en-US" sz="2000" dirty="0" smtClean="0"/>
              <a:t>here may be </a:t>
            </a:r>
            <a:r>
              <a:rPr lang="en-US" altLang="en-US" sz="2000" dirty="0"/>
              <a:t>parts of the application that this plan does not address. </a:t>
            </a:r>
            <a:endParaRPr lang="en-US" altLang="en-US" sz="2000" dirty="0" smtClean="0"/>
          </a:p>
          <a:p>
            <a:pPr lvl="1" algn="just"/>
            <a:r>
              <a:rPr lang="en-US" altLang="en-US" sz="2000" dirty="0" smtClean="0"/>
              <a:t>These </a:t>
            </a:r>
            <a:r>
              <a:rPr lang="en-US" altLang="en-US" sz="2000" dirty="0"/>
              <a:t>areas need to be identified </a:t>
            </a:r>
            <a:r>
              <a:rPr lang="en-US" altLang="en-US" sz="2000" dirty="0" smtClean="0"/>
              <a:t>to avoid </a:t>
            </a:r>
            <a:r>
              <a:rPr lang="en-US" altLang="en-US" sz="2000" dirty="0"/>
              <a:t>any </a:t>
            </a:r>
            <a:r>
              <a:rPr lang="en-US" altLang="en-US" sz="2000" dirty="0" smtClean="0"/>
              <a:t>confusion. Defects should not be </a:t>
            </a:r>
            <a:r>
              <a:rPr lang="en-US" altLang="en-US" sz="2000" dirty="0"/>
              <a:t>reported back on those future functions. </a:t>
            </a:r>
            <a:endParaRPr lang="en-US" altLang="en-US" sz="2000" dirty="0" smtClean="0"/>
          </a:p>
          <a:p>
            <a:pPr lvl="1" algn="just"/>
            <a:r>
              <a:rPr lang="en-US" altLang="en-US" sz="2000" dirty="0" smtClean="0"/>
              <a:t>This </a:t>
            </a:r>
            <a:r>
              <a:rPr lang="en-US" altLang="en-US" sz="2000" dirty="0"/>
              <a:t>will </a:t>
            </a:r>
            <a:r>
              <a:rPr lang="en-US" altLang="en-US" sz="2000" dirty="0" smtClean="0"/>
              <a:t>also allow </a:t>
            </a:r>
            <a:r>
              <a:rPr lang="en-US" altLang="en-US" sz="2000" dirty="0"/>
              <a:t>the users and testers to avoid incomplete functions and prevent waste of </a:t>
            </a:r>
            <a:r>
              <a:rPr lang="en-US" altLang="en-US" sz="2000" dirty="0" smtClean="0"/>
              <a:t>resources chasing </a:t>
            </a:r>
            <a:r>
              <a:rPr lang="en-US" altLang="en-US" sz="2000" dirty="0"/>
              <a:t>non-defects</a:t>
            </a:r>
            <a:r>
              <a:rPr lang="en-US" altLang="en-US" sz="2000" dirty="0" smtClean="0"/>
              <a:t>.</a:t>
            </a:r>
          </a:p>
          <a:p>
            <a:pPr algn="just"/>
            <a:r>
              <a:rPr lang="en-US" altLang="en-US" dirty="0" smtClean="0"/>
              <a:t>If the project is being developed as a </a:t>
            </a:r>
            <a:r>
              <a:rPr lang="en-US" altLang="en-US" b="1" dirty="0" smtClean="0"/>
              <a:t>multi-party</a:t>
            </a:r>
            <a:r>
              <a:rPr lang="en-US" altLang="en-US" dirty="0" smtClean="0"/>
              <a:t> process</a:t>
            </a:r>
          </a:p>
          <a:p>
            <a:pPr lvl="1" algn="just"/>
            <a:r>
              <a:rPr lang="en-US" altLang="en-US" sz="2000" dirty="0" smtClean="0"/>
              <a:t>This plan may only cover a portion of the total functions/features. </a:t>
            </a:r>
          </a:p>
          <a:p>
            <a:pPr lvl="1" algn="just"/>
            <a:r>
              <a:rPr lang="en-US" altLang="en-US" sz="2000" dirty="0" smtClean="0"/>
              <a:t>This status needs to be identified so that those other areas have plans developed for them </a:t>
            </a:r>
          </a:p>
          <a:p>
            <a:pPr lvl="1" algn="just"/>
            <a:r>
              <a:rPr lang="en-US" altLang="en-US" sz="2000" dirty="0" smtClean="0"/>
              <a:t>So to avoid wasting resources tracking defects that do not relate to this plan</a:t>
            </a:r>
            <a:r>
              <a:rPr lang="en-US" altLang="en-US" dirty="0" smtClean="0"/>
              <a:t>.</a:t>
            </a:r>
          </a:p>
          <a:p>
            <a:pPr algn="just"/>
            <a:r>
              <a:rPr lang="en-GB" dirty="0" smtClean="0"/>
              <a:t>When a </a:t>
            </a:r>
            <a:r>
              <a:rPr lang="en-GB" b="1" dirty="0" smtClean="0"/>
              <a:t>third party </a:t>
            </a:r>
            <a:r>
              <a:rPr lang="en-GB" dirty="0" smtClean="0"/>
              <a:t>is developing the software, this section may contain descriptions of those test tasks belonging to both the internal groups and the external groups.</a:t>
            </a:r>
            <a:endParaRPr lang="en-US" altLang="en-US" dirty="0" smtClean="0"/>
          </a:p>
          <a:p>
            <a:pPr lvl="1" algn="just">
              <a:buNone/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3425136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13- Environmental Needs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Are there any special </a:t>
            </a:r>
            <a:r>
              <a:rPr lang="en-US" altLang="en-US" b="1" dirty="0"/>
              <a:t>requirements</a:t>
            </a:r>
            <a:r>
              <a:rPr lang="en-US" altLang="en-US" dirty="0"/>
              <a:t> for this test plan, such as:</a:t>
            </a:r>
          </a:p>
          <a:p>
            <a:pPr lvl="1" algn="just"/>
            <a:r>
              <a:rPr lang="en-US" altLang="en-US" sz="2000" dirty="0" smtClean="0"/>
              <a:t>Special simulators, static generators etc. required</a:t>
            </a:r>
          </a:p>
          <a:p>
            <a:pPr lvl="1" algn="just"/>
            <a:r>
              <a:rPr lang="en-US" altLang="en-US" sz="2000" dirty="0" smtClean="0"/>
              <a:t>How </a:t>
            </a:r>
            <a:r>
              <a:rPr lang="en-US" altLang="en-US" sz="2000" dirty="0"/>
              <a:t>will </a:t>
            </a:r>
            <a:r>
              <a:rPr lang="en-US" altLang="en-US" sz="2000" b="1" dirty="0"/>
              <a:t>test data </a:t>
            </a:r>
            <a:r>
              <a:rPr lang="en-US" altLang="en-US" sz="2000" dirty="0"/>
              <a:t>be provided. </a:t>
            </a:r>
            <a:r>
              <a:rPr lang="en-US" altLang="en-US" sz="2000" dirty="0" smtClean="0"/>
              <a:t> </a:t>
            </a:r>
          </a:p>
          <a:p>
            <a:pPr lvl="2" algn="just"/>
            <a:r>
              <a:rPr lang="en-US" altLang="en-US" sz="2000" dirty="0" smtClean="0"/>
              <a:t>Are </a:t>
            </a:r>
            <a:r>
              <a:rPr lang="en-US" altLang="en-US" sz="2000" dirty="0"/>
              <a:t>there special collection requirements or specific ranges of data that must be provided?</a:t>
            </a:r>
          </a:p>
          <a:p>
            <a:pPr lvl="1" algn="just"/>
            <a:r>
              <a:rPr lang="en-US" altLang="en-US" sz="2000" b="1" dirty="0" smtClean="0"/>
              <a:t>How </a:t>
            </a:r>
            <a:r>
              <a:rPr lang="en-US" altLang="en-US" sz="2000" b="1" dirty="0"/>
              <a:t>much </a:t>
            </a:r>
            <a:r>
              <a:rPr lang="en-US" altLang="en-US" sz="2000" dirty="0"/>
              <a:t>testing will be done on each component of a </a:t>
            </a:r>
            <a:r>
              <a:rPr lang="en-US" altLang="en-US" sz="2000" b="1" dirty="0"/>
              <a:t>multi-part feature</a:t>
            </a:r>
            <a:r>
              <a:rPr lang="en-US" altLang="en-US" sz="2000" dirty="0" smtClean="0"/>
              <a:t>?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Specific </a:t>
            </a:r>
            <a:r>
              <a:rPr lang="en-US" altLang="en-US" sz="2000" dirty="0"/>
              <a:t>versions of other </a:t>
            </a:r>
            <a:r>
              <a:rPr lang="en-US" altLang="en-US" sz="2000" b="1" dirty="0"/>
              <a:t>supporting </a:t>
            </a:r>
            <a:r>
              <a:rPr lang="en-US" altLang="en-US" sz="2000" b="1" dirty="0" smtClean="0"/>
              <a:t>software</a:t>
            </a:r>
            <a:r>
              <a:rPr lang="en-US" altLang="en-US" sz="2000" dirty="0" smtClean="0"/>
              <a:t>?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344505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14- Staffing and Training Needs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6" y="1447800"/>
            <a:ext cx="9993085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Training on the </a:t>
            </a:r>
            <a:r>
              <a:rPr lang="en-US" altLang="en-US" b="1" dirty="0" smtClean="0"/>
              <a:t>application/system</a:t>
            </a:r>
            <a:endParaRPr lang="en-US" altLang="en-US" b="1" dirty="0"/>
          </a:p>
          <a:p>
            <a:r>
              <a:rPr lang="en-US" altLang="en-US" dirty="0"/>
              <a:t>Training for any </a:t>
            </a:r>
            <a:r>
              <a:rPr lang="en-US" altLang="en-US" b="1" dirty="0"/>
              <a:t>test tools </a:t>
            </a:r>
            <a:r>
              <a:rPr lang="en-US" altLang="en-US" dirty="0"/>
              <a:t>to be </a:t>
            </a:r>
            <a:r>
              <a:rPr lang="en-US" altLang="en-US" dirty="0" smtClean="0"/>
              <a:t>used</a:t>
            </a:r>
            <a:endParaRPr lang="en-US" altLang="en-US" dirty="0"/>
          </a:p>
          <a:p>
            <a:r>
              <a:rPr lang="en-US" altLang="en-US" dirty="0" smtClean="0"/>
              <a:t>What </a:t>
            </a:r>
            <a:r>
              <a:rPr lang="en-US" altLang="en-US" dirty="0"/>
              <a:t>is to be tested and </a:t>
            </a:r>
            <a:r>
              <a:rPr lang="en-US" altLang="en-US" b="1" dirty="0"/>
              <a:t>who is </a:t>
            </a:r>
            <a:r>
              <a:rPr lang="en-US" altLang="en-US" b="1" dirty="0" smtClean="0"/>
              <a:t>responsible </a:t>
            </a:r>
            <a:r>
              <a:rPr lang="en-US" altLang="en-US" dirty="0" smtClean="0"/>
              <a:t>for </a:t>
            </a:r>
            <a:r>
              <a:rPr lang="en-US" altLang="en-US" dirty="0"/>
              <a:t>the testing and </a:t>
            </a:r>
            <a:r>
              <a:rPr lang="en-US" altLang="en-US" dirty="0" smtClean="0"/>
              <a:t>training?</a:t>
            </a:r>
          </a:p>
          <a:p>
            <a:r>
              <a:rPr lang="en-US" altLang="en-US" dirty="0" smtClean="0"/>
              <a:t>What should be the </a:t>
            </a:r>
            <a:r>
              <a:rPr lang="en-US" altLang="en-US" b="1" dirty="0" smtClean="0"/>
              <a:t>skill level </a:t>
            </a:r>
            <a:r>
              <a:rPr lang="en-US" altLang="en-US" dirty="0" smtClean="0"/>
              <a:t>of the assigned staff?</a:t>
            </a:r>
          </a:p>
        </p:txBody>
      </p:sp>
    </p:spTree>
    <p:extLst>
      <p:ext uri="{BB962C8B-B14F-4D97-AF65-F5344CB8AC3E}">
        <p14:creationId xmlns:p14="http://schemas.microsoft.com/office/powerpoint/2010/main" val="30841237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15- Responsibilities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Who is in charge</a:t>
            </a:r>
            <a:r>
              <a:rPr lang="en-US" altLang="en-US" dirty="0" smtClean="0"/>
              <a:t>?</a:t>
            </a:r>
          </a:p>
          <a:p>
            <a:pPr algn="just"/>
            <a:r>
              <a:rPr lang="en-US" altLang="en-US" dirty="0" smtClean="0"/>
              <a:t>What assigned staff will do?</a:t>
            </a:r>
            <a:endParaRPr lang="en-US" altLang="en-US" dirty="0"/>
          </a:p>
          <a:p>
            <a:pPr algn="just"/>
            <a:r>
              <a:rPr lang="en-US" altLang="en-US" dirty="0"/>
              <a:t>This issue includes all areas of the </a:t>
            </a:r>
            <a:r>
              <a:rPr lang="en-US" altLang="en-US" dirty="0" smtClean="0"/>
              <a:t>plan</a:t>
            </a:r>
            <a:r>
              <a:rPr lang="en-US" altLang="en-US" dirty="0"/>
              <a:t> </a:t>
            </a:r>
            <a:r>
              <a:rPr lang="en-US" altLang="en-US" dirty="0" smtClean="0"/>
              <a:t>e.g.</a:t>
            </a:r>
            <a:endParaRPr lang="en-US" altLang="en-US" dirty="0"/>
          </a:p>
          <a:p>
            <a:pPr lvl="1" algn="just"/>
            <a:r>
              <a:rPr lang="en-US" altLang="en-US" sz="2000" dirty="0" smtClean="0"/>
              <a:t>Setting </a:t>
            </a:r>
            <a:r>
              <a:rPr lang="en-US" altLang="en-US" sz="2000" b="1" dirty="0" smtClean="0"/>
              <a:t>risks</a:t>
            </a:r>
            <a:endParaRPr lang="en-US" altLang="en-US" sz="2000" b="1" dirty="0"/>
          </a:p>
          <a:p>
            <a:pPr lvl="1" algn="just"/>
            <a:r>
              <a:rPr lang="en-US" altLang="en-US" sz="2000" dirty="0" smtClean="0"/>
              <a:t>Selecting </a:t>
            </a:r>
            <a:r>
              <a:rPr lang="en-US" altLang="en-US" sz="2000" b="1" dirty="0"/>
              <a:t>features to be tested and not </a:t>
            </a:r>
            <a:r>
              <a:rPr lang="en-US" altLang="en-US" sz="2000" b="1" dirty="0" smtClean="0"/>
              <a:t>tested</a:t>
            </a:r>
            <a:endParaRPr lang="en-US" altLang="en-US" sz="2000" b="1" dirty="0"/>
          </a:p>
          <a:p>
            <a:pPr lvl="1" algn="just"/>
            <a:r>
              <a:rPr lang="en-US" altLang="en-US" sz="2000" dirty="0" smtClean="0"/>
              <a:t>Setting </a:t>
            </a:r>
            <a:r>
              <a:rPr lang="en-US" altLang="en-US" sz="2000" dirty="0"/>
              <a:t>overall </a:t>
            </a:r>
            <a:r>
              <a:rPr lang="en-US" altLang="en-US" sz="2000" b="1" dirty="0"/>
              <a:t>strategy</a:t>
            </a:r>
            <a:r>
              <a:rPr lang="en-US" altLang="en-US" sz="2000" dirty="0"/>
              <a:t> for this level of </a:t>
            </a:r>
            <a:r>
              <a:rPr lang="en-US" altLang="en-US" sz="2000" dirty="0" smtClean="0"/>
              <a:t>plan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Ensuring </a:t>
            </a:r>
            <a:r>
              <a:rPr lang="en-US" altLang="en-US" sz="2000" dirty="0"/>
              <a:t>all </a:t>
            </a:r>
            <a:r>
              <a:rPr lang="en-US" altLang="en-US" sz="2000" b="1" dirty="0"/>
              <a:t>required elements </a:t>
            </a:r>
            <a:r>
              <a:rPr lang="en-US" altLang="en-US" sz="2000" dirty="0"/>
              <a:t>are in place for </a:t>
            </a:r>
            <a:r>
              <a:rPr lang="en-US" altLang="en-US" sz="2000" dirty="0" smtClean="0"/>
              <a:t>testing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Providing </a:t>
            </a:r>
            <a:r>
              <a:rPr lang="en-US" altLang="en-US" sz="2000" dirty="0"/>
              <a:t>for </a:t>
            </a:r>
            <a:r>
              <a:rPr lang="en-US" altLang="en-US" sz="2000" b="1" dirty="0"/>
              <a:t>resolution of scheduling </a:t>
            </a:r>
            <a:r>
              <a:rPr lang="en-US" altLang="en-US" sz="2000" b="1" dirty="0" smtClean="0"/>
              <a:t>conflicts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Who </a:t>
            </a:r>
            <a:r>
              <a:rPr lang="en-US" altLang="en-US" sz="2000" dirty="0"/>
              <a:t>provides the required </a:t>
            </a:r>
            <a:r>
              <a:rPr lang="en-US" altLang="en-US" sz="2000" b="1" dirty="0"/>
              <a:t>training</a:t>
            </a:r>
            <a:r>
              <a:rPr lang="en-US" altLang="en-US" sz="2000" dirty="0"/>
              <a:t>?</a:t>
            </a:r>
          </a:p>
          <a:p>
            <a:pPr lvl="1" algn="just"/>
            <a:r>
              <a:rPr lang="en-US" altLang="en-US" sz="2000" dirty="0" smtClean="0"/>
              <a:t>Who </a:t>
            </a:r>
            <a:r>
              <a:rPr lang="en-US" altLang="en-US" sz="2000" dirty="0"/>
              <a:t>makes the critical </a:t>
            </a:r>
            <a:r>
              <a:rPr lang="en-US" altLang="en-US" sz="2000" b="1" dirty="0"/>
              <a:t>go/no go decisions </a:t>
            </a:r>
            <a:r>
              <a:rPr lang="en-US" altLang="en-US" sz="2000" dirty="0"/>
              <a:t>for items not covered in the test plans?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8376615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15- Responsibilities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4900" y="1600200"/>
            <a:ext cx="6628311" cy="4572000"/>
          </a:xfrm>
        </p:spPr>
        <p:txBody>
          <a:bodyPr/>
          <a:lstStyle/>
          <a:p>
            <a:pPr marL="342900" lvl="1" indent="-342900" algn="just"/>
            <a:r>
              <a:rPr lang="en-US" sz="2000" dirty="0" smtClean="0"/>
              <a:t>The test team’s work is driven by many other functional groups- programmers, project managers, technical writers and so on</a:t>
            </a:r>
          </a:p>
          <a:p>
            <a:pPr marL="342900" lvl="1" indent="-342900" algn="just"/>
            <a:r>
              <a:rPr lang="en-US" sz="2000" dirty="0" smtClean="0"/>
              <a:t>If responsibilities are not planned, testing becomes a comedy show</a:t>
            </a:r>
          </a:p>
          <a:p>
            <a:pPr marL="342900" lvl="1" indent="-342900" algn="just"/>
            <a:r>
              <a:rPr lang="en-US" sz="2000" dirty="0" smtClean="0"/>
              <a:t>Deciding which tasks to list comes with experience. Each project is different, so you can question about the projects that which tasks are neglected</a:t>
            </a:r>
          </a:p>
          <a:p>
            <a:endParaRPr lang="en-GB" dirty="0"/>
          </a:p>
        </p:txBody>
      </p:sp>
      <p:pic>
        <p:nvPicPr>
          <p:cNvPr id="1026" name="Picture 2" descr="H:\CIIT\software testing\Final Slides\Untitled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53388" y="39985"/>
            <a:ext cx="3214710" cy="678151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16- Schedule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53897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Should be based on realistic and validated </a:t>
            </a:r>
            <a:r>
              <a:rPr lang="en-US" altLang="en-US" dirty="0" smtClean="0"/>
              <a:t>estimates</a:t>
            </a:r>
          </a:p>
          <a:p>
            <a:pPr algn="just"/>
            <a:r>
              <a:rPr lang="en-US" altLang="en-US" dirty="0" smtClean="0"/>
              <a:t>If </a:t>
            </a:r>
            <a:r>
              <a:rPr lang="en-US" altLang="en-US" dirty="0"/>
              <a:t>the estimates for the development </a:t>
            </a:r>
            <a:r>
              <a:rPr lang="en-US" altLang="en-US" dirty="0" smtClean="0"/>
              <a:t>of the </a:t>
            </a:r>
            <a:r>
              <a:rPr lang="en-US" altLang="en-US" dirty="0"/>
              <a:t>application are inaccurate, the entire project plan will </a:t>
            </a:r>
            <a:r>
              <a:rPr lang="en-US" altLang="en-US" dirty="0" smtClean="0"/>
              <a:t>slip</a:t>
            </a:r>
          </a:p>
          <a:p>
            <a:pPr lvl="1" algn="just"/>
            <a:r>
              <a:rPr lang="en-US" altLang="en-US" sz="2000" dirty="0" smtClean="0"/>
              <a:t>And </a:t>
            </a:r>
            <a:r>
              <a:rPr lang="en-US" altLang="en-US" sz="2000" dirty="0"/>
              <a:t>testing is part of </a:t>
            </a:r>
            <a:r>
              <a:rPr lang="en-US" altLang="en-US" sz="2000" dirty="0" smtClean="0"/>
              <a:t>the overall project plan</a:t>
            </a:r>
          </a:p>
          <a:p>
            <a:pPr algn="just"/>
            <a:r>
              <a:rPr lang="en-US" altLang="en-US" dirty="0" smtClean="0"/>
              <a:t>All </a:t>
            </a:r>
            <a:r>
              <a:rPr lang="en-US" altLang="en-US" dirty="0"/>
              <a:t>relevant milestones should be identified with their relationship to </a:t>
            </a:r>
            <a:r>
              <a:rPr lang="en-US" altLang="en-US" dirty="0" smtClean="0"/>
              <a:t>the </a:t>
            </a:r>
            <a:r>
              <a:rPr lang="en-US" altLang="en-US" smtClean="0"/>
              <a:t>development process. </a:t>
            </a:r>
            <a:endParaRPr lang="en-US" altLang="en-US" dirty="0" smtClean="0"/>
          </a:p>
          <a:p>
            <a:pPr lvl="1" algn="just"/>
            <a:r>
              <a:rPr lang="en-US" altLang="en-US" sz="2000" dirty="0" smtClean="0"/>
              <a:t>This </a:t>
            </a:r>
            <a:r>
              <a:rPr lang="en-US" altLang="en-US" sz="2000" dirty="0"/>
              <a:t>will also help in identifying and tracking </a:t>
            </a:r>
            <a:r>
              <a:rPr lang="en-US" altLang="en-US" sz="2000" dirty="0" smtClean="0"/>
              <a:t>potential slippage </a:t>
            </a:r>
            <a:r>
              <a:rPr lang="en-US" altLang="en-US" sz="2000" dirty="0"/>
              <a:t>in the schedule caused by the test </a:t>
            </a:r>
            <a:r>
              <a:rPr lang="en-US" altLang="en-US" sz="2000" dirty="0" smtClean="0"/>
              <a:t>process.</a:t>
            </a:r>
          </a:p>
          <a:p>
            <a:pPr algn="just"/>
            <a:r>
              <a:rPr lang="en-US" dirty="0" smtClean="0"/>
              <a:t>It is critical because the features, considered easy to design and code may be very time consuming to test</a:t>
            </a:r>
          </a:p>
          <a:p>
            <a:pPr algn="just"/>
            <a:r>
              <a:rPr lang="en-US" dirty="0" smtClean="0"/>
              <a:t>Some features may be postponed to a later release based on the test schedule</a:t>
            </a:r>
          </a:p>
          <a:p>
            <a:pPr algn="just"/>
            <a:endParaRPr lang="en-US" dirty="0" smtClean="0"/>
          </a:p>
          <a:p>
            <a:pPr lvl="1" algn="just">
              <a:buNone/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8541585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1"/>
            <a:ext cx="9953897" cy="4525963"/>
          </a:xfrm>
        </p:spPr>
        <p:txBody>
          <a:bodyPr/>
          <a:lstStyle/>
          <a:p>
            <a:pPr algn="just"/>
            <a:r>
              <a:rPr lang="en-US" dirty="0" smtClean="0"/>
              <a:t>Test work typically is not distributed evenly over the entire product development cycle</a:t>
            </a:r>
          </a:p>
          <a:p>
            <a:pPr algn="just"/>
            <a:r>
              <a:rPr lang="en-US" dirty="0" smtClean="0"/>
              <a:t>Some testing occurs early in the form of reviews</a:t>
            </a:r>
          </a:p>
          <a:p>
            <a:pPr algn="just"/>
            <a:r>
              <a:rPr lang="en-US" dirty="0" smtClean="0"/>
              <a:t>Number of testing tasks, number of people and amount of time spent often increases over course of project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666" y="3264604"/>
            <a:ext cx="5362746" cy="351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2" y="1600201"/>
            <a:ext cx="10006149" cy="4525963"/>
          </a:xfrm>
        </p:spPr>
        <p:txBody>
          <a:bodyPr/>
          <a:lstStyle/>
          <a:p>
            <a:pPr algn="just"/>
            <a:r>
              <a:rPr lang="en-US" dirty="0" smtClean="0"/>
              <a:t>When time allotted for application testing is limited, how can a test manager and team possibly organize, implement and manage ample test coverage, this is called </a:t>
            </a:r>
            <a:r>
              <a:rPr lang="en-US" b="1" dirty="0" smtClean="0"/>
              <a:t>schedule crunch</a:t>
            </a:r>
          </a:p>
          <a:p>
            <a:pPr algn="just"/>
            <a:r>
              <a:rPr lang="en-US" dirty="0" smtClean="0"/>
              <a:t>The solution is to avoid </a:t>
            </a:r>
            <a:r>
              <a:rPr lang="en-US" b="1" dirty="0" smtClean="0"/>
              <a:t>absolute dates </a:t>
            </a:r>
            <a:r>
              <a:rPr lang="en-US" dirty="0" smtClean="0"/>
              <a:t>for starting and stopping tasks in test schedule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9680" y="3280681"/>
            <a:ext cx="8188939" cy="334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 Schedule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test schedule uses </a:t>
            </a:r>
            <a:r>
              <a:rPr lang="en-US" b="1" dirty="0" smtClean="0"/>
              <a:t>relative dates </a:t>
            </a:r>
            <a:r>
              <a:rPr lang="en-US" dirty="0" smtClean="0"/>
              <a:t>based on entrance and exit criteria defined by testing phases, it becomes clear that the testing tasks rely on some other deliverables being completed first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1656" y="2576512"/>
            <a:ext cx="9723278" cy="385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17- Planning Risks and Contingencies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3" y="1447800"/>
            <a:ext cx="9980023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What are the overall risks to the project with an emphasis on the testing process?</a:t>
            </a:r>
          </a:p>
          <a:p>
            <a:pPr lvl="1" algn="just"/>
            <a:r>
              <a:rPr lang="en-US" altLang="en-US" sz="2000" dirty="0" smtClean="0"/>
              <a:t>Lack </a:t>
            </a:r>
            <a:r>
              <a:rPr lang="en-US" altLang="en-US" sz="2000" dirty="0"/>
              <a:t>of personnel resources when testing is to begin.</a:t>
            </a:r>
          </a:p>
          <a:p>
            <a:pPr lvl="1" algn="just"/>
            <a:r>
              <a:rPr lang="en-US" altLang="en-US" sz="2000" dirty="0" smtClean="0"/>
              <a:t>Lack </a:t>
            </a:r>
            <a:r>
              <a:rPr lang="en-US" altLang="en-US" sz="2000" dirty="0"/>
              <a:t>of availability of required hardware, software, data or tools.</a:t>
            </a:r>
          </a:p>
          <a:p>
            <a:pPr lvl="1" algn="just"/>
            <a:r>
              <a:rPr lang="en-US" altLang="en-US" sz="2000" dirty="0" smtClean="0"/>
              <a:t>Late </a:t>
            </a:r>
            <a:r>
              <a:rPr lang="en-US" altLang="en-US" sz="2000" dirty="0"/>
              <a:t>delivery of the software, hardware or tools.</a:t>
            </a:r>
          </a:p>
          <a:p>
            <a:pPr lvl="1" algn="just"/>
            <a:r>
              <a:rPr lang="en-US" altLang="en-US" sz="2000" dirty="0" smtClean="0"/>
              <a:t>Delays </a:t>
            </a:r>
            <a:r>
              <a:rPr lang="en-US" altLang="en-US" sz="2000" dirty="0"/>
              <a:t>in training on the application and/or tools.</a:t>
            </a:r>
          </a:p>
          <a:p>
            <a:pPr lvl="1" algn="just"/>
            <a:r>
              <a:rPr lang="en-US" altLang="en-US" sz="2000" dirty="0" smtClean="0"/>
              <a:t>Changes </a:t>
            </a:r>
            <a:r>
              <a:rPr lang="en-US" altLang="en-US" sz="2000" dirty="0"/>
              <a:t>to the original requirements or designs</a:t>
            </a:r>
            <a:r>
              <a:rPr lang="en-US" altLang="en-US" sz="2000" dirty="0" smtClean="0"/>
              <a:t>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567968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17- Planning Risks and Contingencies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53896" cy="5029200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 smtClean="0"/>
              <a:t>Specify </a:t>
            </a:r>
            <a:r>
              <a:rPr lang="en-US" altLang="en-US" dirty="0"/>
              <a:t>what will be done for various events, for example:</a:t>
            </a:r>
          </a:p>
          <a:p>
            <a:pPr lvl="1" algn="just"/>
            <a:r>
              <a:rPr lang="en-US" altLang="en-US" sz="2000" dirty="0" smtClean="0"/>
              <a:t>If the </a:t>
            </a:r>
            <a:r>
              <a:rPr lang="en-US" altLang="en-US" sz="2000" dirty="0"/>
              <a:t>requirements change after </a:t>
            </a:r>
            <a:r>
              <a:rPr lang="en-US" altLang="en-US" sz="2000" dirty="0" smtClean="0"/>
              <a:t>baselining, following </a:t>
            </a:r>
            <a:r>
              <a:rPr lang="en-US" altLang="en-US" sz="2000" dirty="0"/>
              <a:t>actions will be </a:t>
            </a:r>
            <a:r>
              <a:rPr lang="en-US" altLang="en-US" sz="2000" dirty="0" smtClean="0"/>
              <a:t>taken</a:t>
            </a:r>
          </a:p>
          <a:p>
            <a:pPr lvl="2" algn="just"/>
            <a:r>
              <a:rPr lang="en-US" altLang="en-US" sz="2000" dirty="0"/>
              <a:t>The test schedule and development schedule will move out an appropriate number </a:t>
            </a:r>
            <a:r>
              <a:rPr lang="en-US" altLang="en-US" sz="2000" dirty="0" smtClean="0"/>
              <a:t>of days</a:t>
            </a:r>
            <a:r>
              <a:rPr lang="en-US" altLang="en-US" sz="2000" dirty="0"/>
              <a:t>. This rarely occurs, as most projects tend to have fixed delivery dates.</a:t>
            </a:r>
          </a:p>
          <a:p>
            <a:pPr lvl="2" algn="just"/>
            <a:r>
              <a:rPr lang="en-US" altLang="en-US" sz="2000" dirty="0" smtClean="0"/>
              <a:t>The </a:t>
            </a:r>
            <a:r>
              <a:rPr lang="en-US" altLang="en-US" sz="2000" dirty="0"/>
              <a:t>number of test performed will be reduced.</a:t>
            </a:r>
          </a:p>
          <a:p>
            <a:pPr lvl="2" algn="just"/>
            <a:r>
              <a:rPr lang="en-US" altLang="en-US" sz="2000" dirty="0" smtClean="0"/>
              <a:t>The </a:t>
            </a:r>
            <a:r>
              <a:rPr lang="en-US" altLang="en-US" sz="2000" dirty="0"/>
              <a:t>number of acceptable defects will be increased.</a:t>
            </a:r>
          </a:p>
          <a:p>
            <a:pPr lvl="3" algn="just"/>
            <a:r>
              <a:rPr lang="en-US" altLang="en-US" sz="2000" dirty="0" smtClean="0"/>
              <a:t>The above </a:t>
            </a:r>
            <a:r>
              <a:rPr lang="en-US" altLang="en-US" sz="2000" dirty="0"/>
              <a:t>two items could lower the overall quality of the delivered </a:t>
            </a:r>
            <a:r>
              <a:rPr lang="en-US" altLang="en-US" sz="2000" dirty="0" smtClean="0"/>
              <a:t>product</a:t>
            </a:r>
            <a:endParaRPr lang="en-US" altLang="en-US" sz="2000" dirty="0"/>
          </a:p>
          <a:p>
            <a:pPr lvl="2" algn="just"/>
            <a:r>
              <a:rPr lang="en-US" altLang="en-US" sz="2000" dirty="0" smtClean="0"/>
              <a:t>Resources </a:t>
            </a:r>
            <a:r>
              <a:rPr lang="en-US" altLang="en-US" sz="2000" dirty="0"/>
              <a:t>will be added to the test </a:t>
            </a:r>
            <a:r>
              <a:rPr lang="en-US" altLang="en-US" sz="2000" dirty="0" smtClean="0"/>
              <a:t>team</a:t>
            </a:r>
            <a:endParaRPr lang="en-US" altLang="en-US" sz="2000" dirty="0"/>
          </a:p>
          <a:p>
            <a:pPr lvl="2" algn="just"/>
            <a:r>
              <a:rPr lang="en-US" altLang="en-US" sz="2000" dirty="0" smtClean="0"/>
              <a:t>The </a:t>
            </a:r>
            <a:r>
              <a:rPr lang="en-US" altLang="en-US" sz="2000" dirty="0"/>
              <a:t>test team will work </a:t>
            </a:r>
            <a:r>
              <a:rPr lang="en-US" altLang="en-US" sz="2000" dirty="0" smtClean="0"/>
              <a:t>overtime that </a:t>
            </a:r>
            <a:r>
              <a:rPr lang="en-US" altLang="en-US" sz="2000" dirty="0"/>
              <a:t>could affect </a:t>
            </a:r>
            <a:r>
              <a:rPr lang="en-US" altLang="en-US" sz="2000" dirty="0" smtClean="0"/>
              <a:t>the team morale</a:t>
            </a:r>
            <a:endParaRPr lang="en-US" altLang="en-US" sz="2000" dirty="0"/>
          </a:p>
          <a:p>
            <a:pPr lvl="2" algn="just"/>
            <a:r>
              <a:rPr lang="en-US" altLang="en-US" sz="2000" dirty="0" smtClean="0"/>
              <a:t>The </a:t>
            </a:r>
            <a:r>
              <a:rPr lang="en-US" altLang="en-US" sz="2000" dirty="0"/>
              <a:t>scope of the plan may be </a:t>
            </a:r>
            <a:r>
              <a:rPr lang="en-US" altLang="en-US" sz="2000" dirty="0" smtClean="0"/>
              <a:t>changed</a:t>
            </a:r>
            <a:endParaRPr lang="en-US" altLang="en-US" sz="2000" dirty="0"/>
          </a:p>
          <a:p>
            <a:pPr lvl="2" algn="just"/>
            <a:r>
              <a:rPr lang="en-US" altLang="en-US" sz="2000" dirty="0" smtClean="0"/>
              <a:t>There </a:t>
            </a:r>
            <a:r>
              <a:rPr lang="en-US" altLang="en-US" sz="2000" dirty="0"/>
              <a:t>may be some optimization of resources. This should be avoided, if </a:t>
            </a:r>
            <a:r>
              <a:rPr lang="en-US" altLang="en-US" sz="2000" dirty="0" smtClean="0"/>
              <a:t>possible</a:t>
            </a:r>
            <a:r>
              <a:rPr lang="en-GB" sz="2000" dirty="0" smtClean="0"/>
              <a:t>, for obvious reasons</a:t>
            </a:r>
            <a:endParaRPr lang="en-US" altLang="en-US" sz="2000" dirty="0" smtClean="0"/>
          </a:p>
          <a:p>
            <a:pPr lvl="2" algn="just"/>
            <a:r>
              <a:rPr lang="en-US" sz="2000" dirty="0" smtClean="0"/>
              <a:t>One </a:t>
            </a:r>
            <a:r>
              <a:rPr lang="en-US" sz="2000" dirty="0"/>
              <a:t>could just QUIT. A rather extreme option to say the least.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4645969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18- Approvals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97281" y="1447800"/>
            <a:ext cx="9993085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Who can approve the process as complete and allow the project to proceed to the next </a:t>
            </a:r>
            <a:r>
              <a:rPr lang="en-US" altLang="en-US" dirty="0" smtClean="0"/>
              <a:t>level?</a:t>
            </a:r>
            <a:endParaRPr lang="en-US" altLang="en-US" dirty="0"/>
          </a:p>
          <a:p>
            <a:pPr algn="just"/>
            <a:r>
              <a:rPr lang="en-US" altLang="en-US" dirty="0"/>
              <a:t>At the master test plan level, this may be all involved parties.</a:t>
            </a:r>
          </a:p>
          <a:p>
            <a:pPr algn="just"/>
            <a:r>
              <a:rPr lang="en-US" altLang="en-US" dirty="0"/>
              <a:t>When determining the approval process, keep in mind who the audience is.</a:t>
            </a:r>
          </a:p>
          <a:p>
            <a:pPr lvl="1" algn="just"/>
            <a:r>
              <a:rPr lang="en-US" altLang="en-US" sz="2000" dirty="0" smtClean="0"/>
              <a:t>The </a:t>
            </a:r>
            <a:r>
              <a:rPr lang="en-US" altLang="en-US" sz="2000" dirty="0"/>
              <a:t>audience for a unit test level plan is different than that of an integration, system </a:t>
            </a:r>
            <a:r>
              <a:rPr lang="en-US" altLang="en-US" sz="2000" dirty="0" smtClean="0"/>
              <a:t>or master </a:t>
            </a:r>
            <a:r>
              <a:rPr lang="en-US" altLang="en-US" sz="2000" dirty="0"/>
              <a:t>level plan.</a:t>
            </a:r>
          </a:p>
          <a:p>
            <a:pPr lvl="1" algn="just"/>
            <a:r>
              <a:rPr lang="en-US" altLang="en-US" sz="2000" dirty="0" smtClean="0"/>
              <a:t>The </a:t>
            </a:r>
            <a:r>
              <a:rPr lang="en-US" altLang="en-US" sz="2000" dirty="0"/>
              <a:t>levels and type of knowledge at the various levels will be different as well.</a:t>
            </a:r>
          </a:p>
          <a:p>
            <a:pPr lvl="1" algn="just"/>
            <a:r>
              <a:rPr lang="en-US" altLang="en-US" sz="2000" dirty="0" smtClean="0"/>
              <a:t>Programmers </a:t>
            </a:r>
            <a:r>
              <a:rPr lang="en-US" altLang="en-US" sz="2000" dirty="0"/>
              <a:t>are very technical but may not have a clear understanding of the </a:t>
            </a:r>
            <a:r>
              <a:rPr lang="en-US" altLang="en-US" sz="2000" dirty="0" smtClean="0"/>
              <a:t>overall business </a:t>
            </a:r>
            <a:r>
              <a:rPr lang="en-US" altLang="en-US" sz="2000" dirty="0"/>
              <a:t>process driving the project.</a:t>
            </a:r>
          </a:p>
          <a:p>
            <a:pPr lvl="1" algn="just"/>
            <a:r>
              <a:rPr lang="en-US" altLang="en-US" sz="2000" dirty="0" smtClean="0"/>
              <a:t>Users </a:t>
            </a:r>
            <a:r>
              <a:rPr lang="en-US" altLang="en-US" sz="2000" dirty="0"/>
              <a:t>may have varying levels of business </a:t>
            </a:r>
            <a:r>
              <a:rPr lang="en-US" altLang="en-US" sz="2000" dirty="0" smtClean="0"/>
              <a:t>insight </a:t>
            </a:r>
            <a:r>
              <a:rPr lang="en-US" altLang="en-US" sz="2000" dirty="0"/>
              <a:t>and very little technical skills.</a:t>
            </a:r>
          </a:p>
          <a:p>
            <a:pPr lvl="1" algn="just"/>
            <a:r>
              <a:rPr lang="en-US" altLang="en-US" sz="2000" dirty="0" smtClean="0"/>
              <a:t>Always </a:t>
            </a:r>
            <a:r>
              <a:rPr lang="en-US" altLang="en-US" sz="2000" dirty="0"/>
              <a:t>be wary of users who </a:t>
            </a:r>
            <a:r>
              <a:rPr lang="en-US" altLang="en-US" sz="2000" dirty="0" smtClean="0"/>
              <a:t>claim high </a:t>
            </a:r>
            <a:r>
              <a:rPr lang="en-US" altLang="en-US" sz="2000" dirty="0"/>
              <a:t>levels of technical skills and programmers </a:t>
            </a:r>
            <a:r>
              <a:rPr lang="en-US" altLang="en-US" sz="2000" dirty="0" smtClean="0"/>
              <a:t>that claim </a:t>
            </a:r>
            <a:r>
              <a:rPr lang="en-US" altLang="en-US" sz="2000" dirty="0"/>
              <a:t>to fully understand the business </a:t>
            </a:r>
            <a:r>
              <a:rPr lang="en-US" altLang="en-US" sz="2000" dirty="0" smtClean="0"/>
              <a:t>process.</a:t>
            </a:r>
          </a:p>
        </p:txBody>
      </p:sp>
    </p:spTree>
    <p:extLst>
      <p:ext uri="{BB962C8B-B14F-4D97-AF65-F5344CB8AC3E}">
        <p14:creationId xmlns:p14="http://schemas.microsoft.com/office/powerpoint/2010/main" val="28883978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19- Glossary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36469" y="1447800"/>
            <a:ext cx="9966960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Used to define terms and acronyms used in the document, and testing in </a:t>
            </a:r>
            <a:r>
              <a:rPr lang="en-US" altLang="en-US" dirty="0" smtClean="0"/>
              <a:t>general</a:t>
            </a:r>
          </a:p>
          <a:p>
            <a:pPr lvl="1" algn="just"/>
            <a:r>
              <a:rPr lang="en-US" altLang="en-US" sz="2000" dirty="0" smtClean="0"/>
              <a:t>To eliminate confusion </a:t>
            </a:r>
            <a:r>
              <a:rPr lang="en-US" altLang="en-US" sz="2000" dirty="0"/>
              <a:t>and promote consistent communications.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1337989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f03431380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tf03431380</Template>
  <TotalTime>673</TotalTime>
  <Words>2833</Words>
  <Application>Microsoft Office PowerPoint</Application>
  <PresentationFormat>Widescreen</PresentationFormat>
  <Paragraphs>316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Castellar</vt:lpstr>
      <vt:lpstr>Comic Sans MS</vt:lpstr>
      <vt:lpstr>Euphemia</vt:lpstr>
      <vt:lpstr>Plantagenet Cherokee</vt:lpstr>
      <vt:lpstr>Times New Roman</vt:lpstr>
      <vt:lpstr>Wingdings</vt:lpstr>
      <vt:lpstr>tf03431380</vt:lpstr>
      <vt:lpstr>CSE 455 Software Testing</vt:lpstr>
      <vt:lpstr>   Course instructor            Yella mehroze</vt:lpstr>
      <vt:lpstr>Software test plan</vt:lpstr>
      <vt:lpstr>Software Test Plan</vt:lpstr>
      <vt:lpstr>Outline</vt:lpstr>
      <vt:lpstr>Introduction</vt:lpstr>
      <vt:lpstr>The goal of test planning</vt:lpstr>
      <vt:lpstr>Test planning topics vs. Test planning templates </vt:lpstr>
      <vt:lpstr>Test planning topics</vt:lpstr>
      <vt:lpstr>1- Test Plan Identifier</vt:lpstr>
      <vt:lpstr>Document History and Distribution</vt:lpstr>
      <vt:lpstr>2- References</vt:lpstr>
      <vt:lpstr>3- Introduction</vt:lpstr>
      <vt:lpstr>4- Test Items (Functions)</vt:lpstr>
      <vt:lpstr>5- Software Risk Issues</vt:lpstr>
      <vt:lpstr>5- Software Risk Issues</vt:lpstr>
      <vt:lpstr>6- Features to be tested</vt:lpstr>
      <vt:lpstr>Test Items v/s Features to be tested (Section 4 v/s Section 6)</vt:lpstr>
      <vt:lpstr>7- Features not to be tested</vt:lpstr>
      <vt:lpstr>7- Features not to be tested</vt:lpstr>
      <vt:lpstr>8- Approach (Strategy)</vt:lpstr>
      <vt:lpstr>8- Approach (Strategy)</vt:lpstr>
      <vt:lpstr>8- Approach (Strategy)</vt:lpstr>
      <vt:lpstr>9- Item Pass/Fail Criteria</vt:lpstr>
      <vt:lpstr>9- Item Pass/Fail Criteria</vt:lpstr>
      <vt:lpstr>10- Suspension Criteria and Resumption Requirements</vt:lpstr>
      <vt:lpstr>11- Test Deliverables</vt:lpstr>
      <vt:lpstr>12- Remaining Test Tasks</vt:lpstr>
      <vt:lpstr>13- Environmental Needs</vt:lpstr>
      <vt:lpstr>14- Staffing and Training Needs</vt:lpstr>
      <vt:lpstr>15- Responsibilities</vt:lpstr>
      <vt:lpstr>15- Responsibilities</vt:lpstr>
      <vt:lpstr>16- Schedule</vt:lpstr>
      <vt:lpstr>16- Schedule</vt:lpstr>
      <vt:lpstr>16- Schedule</vt:lpstr>
      <vt:lpstr>16- Schedule</vt:lpstr>
      <vt:lpstr>17- Planning Risks and Contingencies</vt:lpstr>
      <vt:lpstr>17- Planning Risks and Contingencies</vt:lpstr>
      <vt:lpstr>18- Approvals</vt:lpstr>
      <vt:lpstr>19- Glossary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sabeen amjad</dc:creator>
  <cp:lastModifiedBy>Yella</cp:lastModifiedBy>
  <cp:revision>150</cp:revision>
  <dcterms:created xsi:type="dcterms:W3CDTF">2017-08-14T11:47:59Z</dcterms:created>
  <dcterms:modified xsi:type="dcterms:W3CDTF">2021-10-20T14:46:52Z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