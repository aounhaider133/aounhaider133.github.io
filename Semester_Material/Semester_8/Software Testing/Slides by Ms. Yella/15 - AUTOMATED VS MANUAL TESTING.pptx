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Jacques Francois Shadow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6" roundtripDataSignature="AMtx7mhRlLa7NnQnidrBO2ViJx9g+zm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CC122B-5E85-4D94-9BF2-CEEF8EE823DA}">
  <a:tblStyle styleId="{86CC122B-5E85-4D94-9BF2-CEEF8EE823DA}" styleName="Table_0">
    <a:wholeTbl>
      <a:tcTxStyle b="off" i="off">
        <a:font>
          <a:latin typeface="Euphemia"/>
          <a:ea typeface="Euphemia"/>
          <a:cs typeface="Euphem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8E8"/>
          </a:solidFill>
        </a:fill>
      </a:tcStyle>
    </a:wholeTbl>
    <a:band1H>
      <a:tcTxStyle/>
      <a:tcStyle>
        <a:fill>
          <a:solidFill>
            <a:srgbClr val="CFCECD"/>
          </a:solidFill>
        </a:fill>
      </a:tcStyle>
    </a:band1H>
    <a:band2H>
      <a:tcTxStyle/>
    </a:band2H>
    <a:band1V>
      <a:tcTxStyle/>
      <a:tcStyle>
        <a:fill>
          <a:solidFill>
            <a:srgbClr val="CFCECD"/>
          </a:solidFill>
        </a:fill>
      </a:tcStyle>
    </a:band1V>
    <a:band2V>
      <a:tcTxStyle/>
    </a:band2V>
    <a:lastCol>
      <a:tcTxStyle b="on" i="off">
        <a:font>
          <a:latin typeface="Euphemia"/>
          <a:ea typeface="Euphemia"/>
          <a:cs typeface="Euphem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Euphemia"/>
          <a:ea typeface="Euphemia"/>
          <a:cs typeface="Euphem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Euphemia"/>
          <a:ea typeface="Euphemia"/>
          <a:cs typeface="Euphem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Euphemia"/>
          <a:ea typeface="Euphemia"/>
          <a:cs typeface="Euphem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JacquesFrancoisShadow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latin typeface="Arial"/>
                <a:ea typeface="Arial"/>
                <a:cs typeface="Arial"/>
                <a:sym typeface="Arial"/>
              </a:rPr>
              <a:t>NOTE: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latin typeface="Arial"/>
                <a:ea typeface="Arial"/>
                <a:cs typeface="Arial"/>
                <a:sym typeface="Arial"/>
              </a:rPr>
              <a:t>To change the  image on this slide, select the picture and delete it. Then click the Pictures icon in the placeholder to insert your own image.</a:t>
            </a:r>
            <a:endParaRPr/>
          </a:p>
        </p:txBody>
      </p:sp>
      <p:sp>
        <p:nvSpPr>
          <p:cNvPr id="134" name="Google Shape;1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the code/software-&gt;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of the most important steps of a </a:t>
            </a: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build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is the compilation process, where source code files are converted into executable code.</a:t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Integration (CI) 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software development practice where members of a team integrate their work frequently - usually each person integrates at least daily - leading to multiple integrations per day. Each integration is verified by an automated build (including test) to detect integration errors as quickly as possible.</a:t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 objects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are instances of test-provided classes that simulate the behaviour of external components. </a:t>
            </a: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 objects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isolate the application code under test. They create conditions that are otherwise difficult to produce, such as a disk full exception.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Commit-&gt; Apply</a:t>
            </a:r>
            <a:endParaRPr/>
          </a:p>
        </p:txBody>
      </p:sp>
      <p:sp>
        <p:nvSpPr>
          <p:cNvPr id="210" name="Google Shape;2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icture" showMasterSp="0">
  <p:cSld name="Title Slide with Pictur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/>
          <p:nvPr>
            <p:ph type="ctrTitle"/>
          </p:nvPr>
        </p:nvSpPr>
        <p:spPr>
          <a:xfrm>
            <a:off x="1104900" y="2292094"/>
            <a:ext cx="5734050" cy="2219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" type="subTitle"/>
          </p:nvPr>
        </p:nvSpPr>
        <p:spPr>
          <a:xfrm>
            <a:off x="1104900" y="4511784"/>
            <a:ext cx="5734050" cy="955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descr="An empty placeholder to add an image. Click on the placeholder and select the image that you wish to add." id="21" name="Google Shape;21;p20"/>
          <p:cNvSpPr/>
          <p:nvPr>
            <p:ph idx="2" type="pic"/>
          </p:nvPr>
        </p:nvSpPr>
        <p:spPr>
          <a:xfrm>
            <a:off x="6981063" y="1310656"/>
            <a:ext cx="5210937" cy="4208604"/>
          </a:xfrm>
          <a:prstGeom prst="rect">
            <a:avLst/>
          </a:prstGeom>
          <a:solidFill>
            <a:srgbClr val="DED9D6"/>
          </a:solidFill>
          <a:ln>
            <a:noFill/>
          </a:ln>
        </p:spPr>
      </p:sp>
      <p:sp>
        <p:nvSpPr>
          <p:cNvPr id="22" name="Google Shape;22;p20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20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24" name="Google Shape;24;p20"/>
            <p:cNvCxnSpPr/>
            <p:nvPr/>
          </p:nvCxnSpPr>
          <p:spPr>
            <a:xfrm>
              <a:off x="507492" y="1564644"/>
              <a:ext cx="812901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20"/>
            <p:cNvCxnSpPr/>
            <p:nvPr/>
          </p:nvCxnSpPr>
          <p:spPr>
            <a:xfrm>
              <a:off x="507492" y="1501519"/>
              <a:ext cx="81290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20"/>
          <p:cNvGrpSpPr/>
          <p:nvPr/>
        </p:nvGrpSpPr>
        <p:grpSpPr>
          <a:xfrm rot="10800000">
            <a:off x="1" y="5645510"/>
            <a:ext cx="12192000" cy="63125"/>
            <a:chOff x="507492" y="1501519"/>
            <a:chExt cx="8129016" cy="63125"/>
          </a:xfrm>
        </p:grpSpPr>
        <p:cxnSp>
          <p:nvCxnSpPr>
            <p:cNvPr id="28" name="Google Shape;28;p20"/>
            <p:cNvCxnSpPr/>
            <p:nvPr/>
          </p:nvCxnSpPr>
          <p:spPr>
            <a:xfrm>
              <a:off x="507492" y="1564644"/>
              <a:ext cx="812901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" name="Google Shape;29;p20"/>
            <p:cNvCxnSpPr/>
            <p:nvPr/>
          </p:nvCxnSpPr>
          <p:spPr>
            <a:xfrm>
              <a:off x="507492" y="1501519"/>
              <a:ext cx="812901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0" name="Google Shape;30;p20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>
            <p:ph type="ctrTitle"/>
          </p:nvPr>
        </p:nvSpPr>
        <p:spPr>
          <a:xfrm>
            <a:off x="1104900" y="2292094"/>
            <a:ext cx="10096500" cy="2219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" type="subTitle"/>
          </p:nvPr>
        </p:nvSpPr>
        <p:spPr>
          <a:xfrm>
            <a:off x="1104898" y="4511784"/>
            <a:ext cx="10096501" cy="955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2" name="Google Shape;42;p22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ED9D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ED9D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DED9D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3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48" name="Google Shape;48;p23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49" name="Google Shape;49;p23"/>
              <p:cNvCxnSpPr/>
              <p:nvPr/>
            </p:nvCxnSpPr>
            <p:spPr>
              <a:xfrm>
                <a:off x="507492" y="1564644"/>
                <a:ext cx="8129016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23"/>
              <p:cNvCxnSpPr/>
              <p:nvPr/>
            </p:nvCxnSpPr>
            <p:spPr>
              <a:xfrm>
                <a:off x="507492" y="1501519"/>
                <a:ext cx="812901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1" name="Google Shape;51;p23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" name="Google Shape;52;p23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53" name="Google Shape;53;p23"/>
              <p:cNvCxnSpPr/>
              <p:nvPr/>
            </p:nvCxnSpPr>
            <p:spPr>
              <a:xfrm>
                <a:off x="507492" y="1564644"/>
                <a:ext cx="8129016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23"/>
              <p:cNvCxnSpPr/>
              <p:nvPr/>
            </p:nvCxnSpPr>
            <p:spPr>
              <a:xfrm>
                <a:off x="507492" y="1501519"/>
                <a:ext cx="812901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55" name="Google Shape;5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25880" y="0"/>
            <a:ext cx="1783188" cy="297180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3"/>
          <p:cNvSpPr txBox="1"/>
          <p:nvPr>
            <p:ph type="title"/>
          </p:nvPr>
        </p:nvSpPr>
        <p:spPr>
          <a:xfrm>
            <a:off x="1104899" y="2971806"/>
            <a:ext cx="10071099" cy="1684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" type="body"/>
          </p:nvPr>
        </p:nvSpPr>
        <p:spPr>
          <a:xfrm>
            <a:off x="1104899" y="4655956"/>
            <a:ext cx="10071099" cy="5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2000"/>
              <a:buNone/>
              <a:defRPr sz="2000">
                <a:solidFill>
                  <a:srgbClr val="9693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800"/>
              <a:buNone/>
              <a:defRPr sz="1800">
                <a:solidFill>
                  <a:srgbClr val="9693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69391"/>
              </a:buClr>
              <a:buSzPts val="1600"/>
              <a:buNone/>
              <a:defRPr sz="1600">
                <a:solidFill>
                  <a:srgbClr val="969391"/>
                </a:solidFill>
              </a:defRPr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" type="body"/>
          </p:nvPr>
        </p:nvSpPr>
        <p:spPr>
          <a:xfrm>
            <a:off x="1104900" y="1600200"/>
            <a:ext cx="4914900" cy="457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2" type="body"/>
          </p:nvPr>
        </p:nvSpPr>
        <p:spPr>
          <a:xfrm>
            <a:off x="6172200" y="1600200"/>
            <a:ext cx="4914900" cy="457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>
            <a:off x="1104900" y="1600200"/>
            <a:ext cx="491947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25"/>
          <p:cNvSpPr txBox="1"/>
          <p:nvPr>
            <p:ph idx="2" type="body"/>
          </p:nvPr>
        </p:nvSpPr>
        <p:spPr>
          <a:xfrm>
            <a:off x="1104900" y="2424112"/>
            <a:ext cx="4919472" cy="374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3" type="body"/>
          </p:nvPr>
        </p:nvSpPr>
        <p:spPr>
          <a:xfrm>
            <a:off x="6166110" y="1600200"/>
            <a:ext cx="491947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25"/>
          <p:cNvSpPr txBox="1"/>
          <p:nvPr>
            <p:ph idx="4" type="body"/>
          </p:nvPr>
        </p:nvSpPr>
        <p:spPr>
          <a:xfrm>
            <a:off x="6166110" y="2424112"/>
            <a:ext cx="4919472" cy="374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" type="body"/>
          </p:nvPr>
        </p:nvSpPr>
        <p:spPr>
          <a:xfrm>
            <a:off x="1104900" y="1600200"/>
            <a:ext cx="438454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28"/>
          <p:cNvSpPr txBox="1"/>
          <p:nvPr>
            <p:ph idx="2" type="body"/>
          </p:nvPr>
        </p:nvSpPr>
        <p:spPr>
          <a:xfrm>
            <a:off x="5641848" y="1600199"/>
            <a:ext cx="5445252" cy="4572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302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9pPr>
          </a:lstStyle>
          <a:p/>
        </p:txBody>
      </p:sp>
      <p:sp>
        <p:nvSpPr>
          <p:cNvPr id="90" name="Google Shape;90;p28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8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9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9"/>
          <p:cNvSpPr txBox="1"/>
          <p:nvPr>
            <p:ph idx="1" type="body"/>
          </p:nvPr>
        </p:nvSpPr>
        <p:spPr>
          <a:xfrm>
            <a:off x="1104900" y="1600200"/>
            <a:ext cx="339699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descr="An empty placeholder to add an image. Click on the placeholder and select the image that you wish to add." id="96" name="Google Shape;96;p29"/>
          <p:cNvSpPr/>
          <p:nvPr>
            <p:ph idx="2" type="pic"/>
          </p:nvPr>
        </p:nvSpPr>
        <p:spPr>
          <a:xfrm>
            <a:off x="4654671" y="1600199"/>
            <a:ext cx="6430912" cy="4572001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29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9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9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0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0"/>
          <p:cNvSpPr txBox="1"/>
          <p:nvPr>
            <p:ph idx="1" type="body"/>
          </p:nvPr>
        </p:nvSpPr>
        <p:spPr>
          <a:xfrm rot="5400000">
            <a:off x="3810000" y="-1104900"/>
            <a:ext cx="4572000" cy="99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103" name="Google Shape;103;p30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0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0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"/>
          <p:cNvSpPr txBox="1"/>
          <p:nvPr>
            <p:ph type="title"/>
          </p:nvPr>
        </p:nvSpPr>
        <p:spPr>
          <a:xfrm rot="5400000">
            <a:off x="7323931" y="2413794"/>
            <a:ext cx="5811838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1"/>
          <p:cNvSpPr txBox="1"/>
          <p:nvPr>
            <p:ph idx="1" type="body"/>
          </p:nvPr>
        </p:nvSpPr>
        <p:spPr>
          <a:xfrm rot="5400000">
            <a:off x="2248429" y="-778404"/>
            <a:ext cx="5811838" cy="809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109" name="Google Shape;109;p31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1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2" name="Google Shape;112;p31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113" name="Google Shape;113;p31"/>
            <p:cNvCxnSpPr/>
            <p:nvPr/>
          </p:nvCxnSpPr>
          <p:spPr>
            <a:xfrm rot="10800000">
              <a:off x="1073150" y="1219201"/>
              <a:ext cx="10058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31"/>
            <p:cNvCxnSpPr/>
            <p:nvPr/>
          </p:nvCxnSpPr>
          <p:spPr>
            <a:xfrm rot="10800000">
              <a:off x="1073150" y="1282326"/>
              <a:ext cx="100584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3C36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" name="Google Shape;15;p19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6" name="Google Shape;16;p19"/>
            <p:cNvCxnSpPr/>
            <p:nvPr/>
          </p:nvCxnSpPr>
          <p:spPr>
            <a:xfrm rot="10800000">
              <a:off x="1073150" y="1219201"/>
              <a:ext cx="10058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19"/>
            <p:cNvCxnSpPr/>
            <p:nvPr/>
          </p:nvCxnSpPr>
          <p:spPr>
            <a:xfrm rot="10800000">
              <a:off x="1073150" y="1282326"/>
              <a:ext cx="100584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/>
          <p:nvPr>
            <p:ph type="ctrTitle"/>
          </p:nvPr>
        </p:nvSpPr>
        <p:spPr>
          <a:xfrm>
            <a:off x="873848" y="1310656"/>
            <a:ext cx="5734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CSE 455</a:t>
            </a:r>
            <a:br>
              <a:rPr lang="en-US"/>
            </a:br>
            <a:r>
              <a:rPr lang="en-US"/>
              <a:t>SOFTWARE TESTING</a:t>
            </a:r>
            <a:endParaRPr/>
          </a:p>
        </p:txBody>
      </p:sp>
      <p:sp>
        <p:nvSpPr>
          <p:cNvPr id="121" name="Google Shape;121;p1"/>
          <p:cNvSpPr txBox="1"/>
          <p:nvPr>
            <p:ph idx="1" type="subTitle"/>
          </p:nvPr>
        </p:nvSpPr>
        <p:spPr>
          <a:xfrm>
            <a:off x="1104900" y="4511784"/>
            <a:ext cx="5734050" cy="955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This course is offered to the students of students of BS Software Engineering who are enrolled in 8</a:t>
            </a:r>
            <a:r>
              <a:rPr baseline="30000" lang="en-US"/>
              <a:t>th</a:t>
            </a:r>
            <a:r>
              <a:rPr lang="en-US"/>
              <a:t> semester</a:t>
            </a:r>
            <a:endParaRPr/>
          </a:p>
        </p:txBody>
      </p:sp>
      <p:pic>
        <p:nvPicPr>
          <p:cNvPr descr="Open book on table, blurred shelves of books in background" id="122" name="Google Shape;122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8890" r="8889" t="0"/>
          <a:stretch/>
        </p:blipFill>
        <p:spPr>
          <a:xfrm>
            <a:off x="6981063" y="1310656"/>
            <a:ext cx="5210937" cy="4208604"/>
          </a:xfrm>
          <a:prstGeom prst="rect">
            <a:avLst/>
          </a:prstGeom>
          <a:solidFill>
            <a:srgbClr val="DED9D6"/>
          </a:solidFill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1513200" y="3716843"/>
            <a:ext cx="10455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1</a:t>
            </a:r>
            <a:r>
              <a:rPr lang="en-US" sz="1800">
                <a:solidFill>
                  <a:schemeClr val="dk1"/>
                </a:solidFill>
              </a:rPr>
              <a:t>5</a:t>
            </a:r>
            <a:endParaRPr/>
          </a:p>
        </p:txBody>
      </p:sp>
      <p:pic>
        <p:nvPicPr>
          <p:cNvPr id="124" name="Google Shape;1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01085" y="0"/>
            <a:ext cx="1090915" cy="108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>
            <p:ph type="ctrTitle"/>
          </p:nvPr>
        </p:nvSpPr>
        <p:spPr>
          <a:xfrm>
            <a:off x="3306618" y="1830275"/>
            <a:ext cx="5301673" cy="2219691"/>
          </a:xfrm>
          <a:prstGeom prst="rect">
            <a:avLst/>
          </a:prstGeom>
          <a:solidFill>
            <a:schemeClr val="accent3"/>
          </a:solidFill>
          <a:ln cap="flat" cmpd="thickThin" w="48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5000" rotWithShape="0" dir="5400000" dist="25000">
              <a:srgbClr val="000000">
                <a:alpha val="37647"/>
              </a:srgbClr>
            </a:outerShdw>
          </a:effectLst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Jacques Francois Shadow"/>
              <a:buNone/>
            </a:pPr>
            <a:r>
              <a:rPr lang="en-US" sz="3000">
                <a:solidFill>
                  <a:schemeClr val="lt1"/>
                </a:solidFill>
                <a:latin typeface="Jacques Francois Shadow"/>
                <a:ea typeface="Jacques Francois Shadow"/>
                <a:cs typeface="Jacques Francois Shadow"/>
                <a:sym typeface="Jacques Francois Shadow"/>
              </a:rPr>
              <a:t>   COURSE INSTRUCTOR</a:t>
            </a:r>
            <a:br>
              <a:rPr lang="en-US" sz="3000">
                <a:solidFill>
                  <a:schemeClr val="lt1"/>
                </a:solidFill>
                <a:latin typeface="Jacques Francois Shadow"/>
                <a:ea typeface="Jacques Francois Shadow"/>
                <a:cs typeface="Jacques Francois Shadow"/>
                <a:sym typeface="Jacques Francois Shadow"/>
              </a:rPr>
            </a:br>
            <a:br>
              <a:rPr lang="en-US" sz="3000">
                <a:solidFill>
                  <a:schemeClr val="lt1"/>
                </a:solidFill>
                <a:latin typeface="Jacques Francois Shadow"/>
                <a:ea typeface="Jacques Francois Shadow"/>
                <a:cs typeface="Jacques Francois Shadow"/>
                <a:sym typeface="Jacques Francois Shadow"/>
              </a:rPr>
            </a:br>
            <a:r>
              <a:rPr lang="en-US" sz="3000">
                <a:solidFill>
                  <a:schemeClr val="lt1"/>
                </a:solidFill>
                <a:latin typeface="Jacques Francois Shadow"/>
                <a:ea typeface="Jacques Francois Shadow"/>
                <a:cs typeface="Jacques Francois Shadow"/>
                <a:sym typeface="Jacques Francois Shadow"/>
              </a:rPr>
              <a:t>          YELLA MEHROZE</a:t>
            </a:r>
            <a:endParaRPr sz="3000">
              <a:latin typeface="Jacques Francois Shadow"/>
              <a:ea typeface="Jacques Francois Shadow"/>
              <a:cs typeface="Jacques Francois Shadow"/>
              <a:sym typeface="Jacques Francois Shadow"/>
            </a:endParaRPr>
          </a:p>
        </p:txBody>
      </p:sp>
      <p:sp>
        <p:nvSpPr>
          <p:cNvPr id="130" name="Google Shape;130;p2"/>
          <p:cNvSpPr txBox="1"/>
          <p:nvPr>
            <p:ph idx="1" type="subTitle"/>
          </p:nvPr>
        </p:nvSpPr>
        <p:spPr>
          <a:xfrm>
            <a:off x="3546765" y="4230255"/>
            <a:ext cx="4895272" cy="1126835"/>
          </a:xfrm>
          <a:prstGeom prst="rect">
            <a:avLst/>
          </a:prstGeom>
          <a:gradFill>
            <a:gsLst>
              <a:gs pos="0">
                <a:srgbClr val="AFB2C1"/>
              </a:gs>
              <a:gs pos="100000">
                <a:srgbClr val="9AA3B4"/>
              </a:gs>
            </a:gsLst>
            <a:path path="circle">
              <a:fillToRect b="50%" l="50%" r="50%" t="50%"/>
            </a:path>
            <a:tileRect/>
          </a:gradFill>
          <a:ln cap="rnd" cmpd="sng" w="9525">
            <a:solidFill>
              <a:srgbClr val="4F5667"/>
            </a:solidFill>
            <a:prstDash val="solid"/>
            <a:round/>
            <a:headEnd len="sm" w="sm" type="none"/>
            <a:tailEnd len="sm" w="sm" type="none"/>
          </a:ln>
          <a:effectLst>
            <a:outerShdw blurRad="45000" rotWithShape="0" dir="5400000" dist="25000">
              <a:srgbClr val="000000">
                <a:alpha val="37647"/>
              </a:srgbClr>
            </a:outerShdw>
          </a:effectLst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  <a:latin typeface="Jacques Francois Shadow"/>
                <a:ea typeface="Jacques Francois Shadow"/>
                <a:cs typeface="Jacques Francois Shadow"/>
                <a:sym typeface="Jacques Francois Shadow"/>
              </a:rPr>
              <a:t>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solidFill>
                  <a:schemeClr val="dk1"/>
                </a:solidFill>
                <a:latin typeface="Jacques Francois Shadow"/>
                <a:ea typeface="Jacques Francois Shadow"/>
                <a:cs typeface="Jacques Francois Shadow"/>
                <a:sym typeface="Jacques Francois Shadow"/>
              </a:rPr>
              <a:t>yellamehroze@cuilahore.edu.pk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>
            <p:ph type="ctrTitle"/>
          </p:nvPr>
        </p:nvSpPr>
        <p:spPr>
          <a:xfrm>
            <a:off x="222070" y="2292094"/>
            <a:ext cx="3683724" cy="2219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AUTOMATED VS. MANUAL TESTING</a:t>
            </a:r>
            <a:endParaRPr/>
          </a:p>
        </p:txBody>
      </p:sp>
      <p:sp>
        <p:nvSpPr>
          <p:cNvPr id="137" name="Google Shape;137;p3"/>
          <p:cNvSpPr txBox="1"/>
          <p:nvPr>
            <p:ph idx="1" type="subTitle"/>
          </p:nvPr>
        </p:nvSpPr>
        <p:spPr>
          <a:xfrm>
            <a:off x="477883" y="4433407"/>
            <a:ext cx="2709454" cy="955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>
            <p:ph idx="2" type="pic"/>
          </p:nvPr>
        </p:nvSpPr>
        <p:spPr>
          <a:xfrm>
            <a:off x="7498080" y="1310656"/>
            <a:ext cx="4693920" cy="4208604"/>
          </a:xfrm>
          <a:prstGeom prst="rect">
            <a:avLst/>
          </a:prstGeom>
          <a:solidFill>
            <a:srgbClr val="DED9D6"/>
          </a:solidFill>
          <a:ln>
            <a:noFill/>
          </a:ln>
        </p:spPr>
      </p:sp>
      <p:pic>
        <p:nvPicPr>
          <p:cNvPr descr="H:\CIIT\software testing\Final Slides\ManualVsAutomation.jpg" id="139" name="Google Shape;1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1808" y="1251220"/>
            <a:ext cx="8270192" cy="427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Manual Tests</a:t>
            </a:r>
            <a:endParaRPr/>
          </a:p>
        </p:txBody>
      </p:sp>
      <p:sp>
        <p:nvSpPr>
          <p:cNvPr id="146" name="Google Shape;146;p4"/>
          <p:cNvSpPr txBox="1"/>
          <p:nvPr>
            <p:ph idx="1" type="body"/>
          </p:nvPr>
        </p:nvSpPr>
        <p:spPr>
          <a:xfrm>
            <a:off x="1136469" y="1447800"/>
            <a:ext cx="9940834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Coding Process with Manual Tests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Write code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Uploading the code to some place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Build it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Running the code manually (in many cases filling up forms etc. step by step)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Check Log files, Database, External Services, Values of variables, Output on the screen etc.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If it does not work, repeat the above process</a:t>
            </a:r>
            <a:endParaRPr/>
          </a:p>
        </p:txBody>
      </p:sp>
      <p:sp>
        <p:nvSpPr>
          <p:cNvPr id="147" name="Google Shape;147;p4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Automated Tests</a:t>
            </a:r>
            <a:endParaRPr/>
          </a:p>
        </p:txBody>
      </p:sp>
      <p:sp>
        <p:nvSpPr>
          <p:cNvPr id="154" name="Google Shape;154;p5"/>
          <p:cNvSpPr txBox="1"/>
          <p:nvPr>
            <p:ph idx="1" type="body"/>
          </p:nvPr>
        </p:nvSpPr>
        <p:spPr>
          <a:xfrm>
            <a:off x="1123407" y="1447800"/>
            <a:ext cx="9993084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Coding Process with Automated Unit Tests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Write one or more test cases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Auto-compile and run to see the tests fail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Write code to pass the tests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Auto-compile and run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If tests fail -&gt; make appropriate modifications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If tests pass -&gt; repeat for next method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Coding Process with Automated Functional Tests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Finish writing code (with all unit tests passing)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Write a Functional Test using any tool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Auto-compile and run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If tests fail -&gt; make appropriate modifications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If tests pass -&gt; move ahead</a:t>
            </a:r>
            <a:endParaRPr/>
          </a:p>
        </p:txBody>
      </p:sp>
      <p:sp>
        <p:nvSpPr>
          <p:cNvPr id="155" name="Google Shape;155;p5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Automated Tests vs Manual Tests</a:t>
            </a:r>
            <a:endParaRPr/>
          </a:p>
        </p:txBody>
      </p:sp>
      <p:sp>
        <p:nvSpPr>
          <p:cNvPr id="162" name="Google Shape;162;p6"/>
          <p:cNvSpPr txBox="1"/>
          <p:nvPr>
            <p:ph idx="1" type="body"/>
          </p:nvPr>
        </p:nvSpPr>
        <p:spPr>
          <a:xfrm>
            <a:off x="1123407" y="1447800"/>
            <a:ext cx="9966959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Effort and Cost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Lets assume 6 test cases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Effort required to run all 6 manually =&gt; 10 min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Effort required to write unit tests for all 6 cases =&gt; 10 min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Effort required to run unit tests for all 6 cases =&gt; &lt; 1 min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Number of testing iterations =&gt; 5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Total manual testing time =&gt; 50 min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Total unit testing time =&gt; 10 min</a:t>
            </a:r>
            <a:endParaRPr/>
          </a:p>
        </p:txBody>
      </p:sp>
      <p:graphicFrame>
        <p:nvGraphicFramePr>
          <p:cNvPr id="163" name="Google Shape;163;p6"/>
          <p:cNvGraphicFramePr/>
          <p:nvPr/>
        </p:nvGraphicFramePr>
        <p:xfrm>
          <a:off x="6908801" y="464344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{86CC122B-5E85-4D94-9BF2-CEEF8EE823DA}</a:tableStyleId>
              </a:tblPr>
              <a:tblGrid>
                <a:gridCol w="1084975"/>
                <a:gridCol w="1401400"/>
                <a:gridCol w="1084975"/>
                <a:gridCol w="1407075"/>
              </a:tblGrid>
              <a:tr h="381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Release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Manual Test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Auto Test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Manual Test</a:t>
                      </a:r>
                      <a:br>
                        <a:rPr lang="en-US" sz="1100" u="none" cap="none" strike="noStrike"/>
                      </a:br>
                      <a:r>
                        <a:rPr lang="en-US" sz="1100" u="none" cap="none" strike="noStrike"/>
                        <a:t>Cumulative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</a:tr>
              <a:tr h="293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</a:tr>
              <a:tr h="293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20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</a:tr>
              <a:tr h="293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30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</a:tr>
              <a:tr h="293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40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</a:tr>
              <a:tr h="293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10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50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12700" marL="12700" anchor="b"/>
                </a:tc>
              </a:tr>
            </a:tbl>
          </a:graphicData>
        </a:graphic>
      </p:graphicFrame>
      <p:sp>
        <p:nvSpPr>
          <p:cNvPr id="164" name="Google Shape;164;p6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Automated Tests vs Manual Tests</a:t>
            </a:r>
            <a:endParaRPr/>
          </a:p>
        </p:txBody>
      </p:sp>
      <p:sp>
        <p:nvSpPr>
          <p:cNvPr id="171" name="Google Shape;171;p7"/>
          <p:cNvSpPr txBox="1"/>
          <p:nvPr>
            <p:ph idx="1" type="body"/>
          </p:nvPr>
        </p:nvSpPr>
        <p:spPr>
          <a:xfrm>
            <a:off x="1123407" y="1447800"/>
            <a:ext cx="1001921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Effort and Cost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Adding incremental Unit test cases is cheaper than adding incremental Manual Test Cases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Manual Testing is boring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None wants to keep filling the same forms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People tend to neglect running manual tests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None maintains a list of the tests required to be run if they are manual tests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Automated Tests on the other hand are code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They are fun and challenging to write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They require analytical and reasoning skills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They represent contribution that is usable in the future</a:t>
            </a:r>
            <a:endParaRPr/>
          </a:p>
          <a:p>
            <a:pPr indent="-101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72" name="Google Shape;172;p7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Automated Tests vs Manual Tests</a:t>
            </a:r>
            <a:endParaRPr/>
          </a:p>
        </p:txBody>
      </p:sp>
      <p:sp>
        <p:nvSpPr>
          <p:cNvPr id="179" name="Google Shape;179;p8"/>
          <p:cNvSpPr txBox="1"/>
          <p:nvPr>
            <p:ph idx="1" type="body"/>
          </p:nvPr>
        </p:nvSpPr>
        <p:spPr>
          <a:xfrm>
            <a:off x="1110344" y="1447800"/>
            <a:ext cx="9993086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/>
              <a:t>Manual Testing is not reusable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The effort required is the same each time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	  Automated Tests are completely reusable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IMPORTANT: One needs to setup a </a:t>
            </a:r>
            <a:r>
              <a:rPr b="1" lang="en-US" sz="2000"/>
              <a:t>Continuous Integration Server</a:t>
            </a:r>
            <a:r>
              <a:rPr lang="en-US" sz="2000"/>
              <a:t>, a common Code Repository and an organization structure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Once written the Automated tests, they can be reused without any additional effort for the lifetime of the Project</a:t>
            </a:r>
            <a:endParaRPr/>
          </a:p>
        </p:txBody>
      </p:sp>
      <p:sp>
        <p:nvSpPr>
          <p:cNvPr id="180" name="Google Shape;180;p8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Automated Tests vs Manual Tests</a:t>
            </a:r>
            <a:endParaRPr/>
          </a:p>
        </p:txBody>
      </p:sp>
      <p:sp>
        <p:nvSpPr>
          <p:cNvPr id="187" name="Google Shape;187;p9"/>
          <p:cNvSpPr txBox="1"/>
          <p:nvPr>
            <p:ph idx="1" type="body"/>
          </p:nvPr>
        </p:nvSpPr>
        <p:spPr>
          <a:xfrm>
            <a:off x="1123407" y="1447800"/>
            <a:ext cx="999308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2"/>
            </a:pPr>
            <a:r>
              <a:rPr lang="en-US"/>
              <a:t>Manual Tests provide limited Visibility and have to be Repeated by all Stakeholders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Only the developer testing the code can see the results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Tests have to be repeated by each stakeholder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For eg Developer, Tech Lead, GM, Management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Automated Tests provide global visibility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Developers, Tech Leads and Management can login and see Test Results</a:t>
            </a:r>
            <a:endParaRPr/>
          </a:p>
        </p:txBody>
      </p:sp>
      <p:graphicFrame>
        <p:nvGraphicFramePr>
          <p:cNvPr id="188" name="Google Shape;188;p9"/>
          <p:cNvGraphicFramePr/>
          <p:nvPr/>
        </p:nvGraphicFramePr>
        <p:xfrm>
          <a:off x="164013" y="398417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{86CC122B-5E85-4D94-9BF2-CEEF8EE823DA}</a:tableStyleId>
              </a:tblPr>
              <a:tblGrid>
                <a:gridCol w="778900"/>
                <a:gridCol w="1006075"/>
                <a:gridCol w="1006075"/>
                <a:gridCol w="1006075"/>
                <a:gridCol w="1006075"/>
                <a:gridCol w="778900"/>
                <a:gridCol w="973625"/>
                <a:gridCol w="1038525"/>
              </a:tblGrid>
              <a:tr h="54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Release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Manual 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Testing by Dev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Manual 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Testing by Team Leads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Manual 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Testing by Mgmt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Total Manual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Testing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Auto Test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Dev Manual Test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Cumulative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Total Manual Test</a:t>
                      </a:r>
                      <a:br>
                        <a:rPr lang="en-US" sz="1000" u="none" cap="none" strike="noStrike"/>
                      </a:br>
                      <a:r>
                        <a:rPr lang="en-US" sz="1000" u="none" cap="none" strike="noStrike"/>
                        <a:t>Cumulative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36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54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72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</a:tr>
              <a:tr h="180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/>
                </a:tc>
              </a:tr>
            </a:tbl>
          </a:graphicData>
        </a:graphic>
      </p:graphicFrame>
      <p:pic>
        <p:nvPicPr>
          <p:cNvPr id="189" name="Google Shape;1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9113" y="4878387"/>
            <a:ext cx="4292887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Automated Tests vs Manual Tests</a:t>
            </a:r>
            <a:endParaRPr/>
          </a:p>
        </p:txBody>
      </p:sp>
      <p:sp>
        <p:nvSpPr>
          <p:cNvPr id="197" name="Google Shape;197;p10"/>
          <p:cNvSpPr txBox="1"/>
          <p:nvPr>
            <p:ph idx="1" type="body"/>
          </p:nvPr>
        </p:nvSpPr>
        <p:spPr>
          <a:xfrm>
            <a:off x="1135019" y="1434737"/>
            <a:ext cx="9994535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3"/>
            </a:pPr>
            <a:r>
              <a:rPr lang="en-US"/>
              <a:t>Manual Testing ends up being an Integration Test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In a typical manual test it is very difficult to test a single unit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In most circumstances you end up checking the unit along with backend services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	  Automated Tests can have varying scopes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One can test a unit (class / method), a module, a system etc.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4"/>
            </a:pPr>
            <a:r>
              <a:rPr lang="en-US"/>
              <a:t>Manual Testing has a high risk of missing out on something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	  Automated Tests have zero risk of missing out a pre-decided test</a:t>
            </a:r>
            <a:endParaRPr/>
          </a:p>
        </p:txBody>
      </p:sp>
      <p:sp>
        <p:nvSpPr>
          <p:cNvPr id="198" name="Google Shape;198;p10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Automated Tests vs Manual Tests</a:t>
            </a:r>
            <a:endParaRPr/>
          </a:p>
        </p:txBody>
      </p:sp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1149532" y="1447800"/>
            <a:ext cx="996696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5"/>
            </a:pPr>
            <a:r>
              <a:rPr lang="en-US"/>
              <a:t>Automated Tests and TDD / Test-First development drive design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Writing a Unit test first clarifies the requirement and influences design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5"/>
            </a:pPr>
            <a:r>
              <a:rPr lang="en-US"/>
              <a:t>Manual Tests have no training needs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5"/>
            </a:pPr>
            <a:r>
              <a:rPr lang="en-US"/>
              <a:t>Automated Tests act as documentation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They provide visibility into different use cases and expected results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 new developer can understand a piece of code much more by looking at Unit Tests than by looking at the code. Unit Tests define the expected behavior of the code</a:t>
            </a:r>
            <a:endParaRPr/>
          </a:p>
        </p:txBody>
      </p:sp>
      <p:sp>
        <p:nvSpPr>
          <p:cNvPr id="206" name="Google Shape;206;p11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Why do people not write Automated Tests</a:t>
            </a:r>
            <a:endParaRPr/>
          </a:p>
        </p:txBody>
      </p:sp>
      <p:sp>
        <p:nvSpPr>
          <p:cNvPr id="213" name="Google Shape;213;p12"/>
          <p:cNvSpPr txBox="1"/>
          <p:nvPr>
            <p:ph idx="1" type="body"/>
          </p:nvPr>
        </p:nvSpPr>
        <p:spPr>
          <a:xfrm>
            <a:off x="1149531" y="1447800"/>
            <a:ext cx="10006149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Initial learning curve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Understanding Unit Testing Frameworks and Functional Testing Frameworks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Understanding Continuous Integration and effective usage of it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Understanding and learning Code Coverage Tools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Figuring out how to organize the tests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How to create Mock Objects?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How to automate the running of the tests each time?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Where to commit/apply the tests?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Am I really going to be working on this same module again?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Will my tests be re-used?</a:t>
            </a:r>
            <a:endParaRPr/>
          </a:p>
        </p:txBody>
      </p:sp>
      <p:sp>
        <p:nvSpPr>
          <p:cNvPr id="214" name="Google Shape;214;p12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Why do people not write Automated Tests</a:t>
            </a:r>
            <a:endParaRPr/>
          </a:p>
        </p:txBody>
      </p:sp>
      <p:sp>
        <p:nvSpPr>
          <p:cNvPr id="221" name="Google Shape;221;p13"/>
          <p:cNvSpPr txBox="1"/>
          <p:nvPr>
            <p:ph idx="1" type="body"/>
          </p:nvPr>
        </p:nvSpPr>
        <p:spPr>
          <a:xfrm>
            <a:off x="1136469" y="1447800"/>
            <a:ext cx="995389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Solution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Spend time during First Release to design / implement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 Code Repository structure that incorporates Unit Tests and Functional Tests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 CI Server integrated with the release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Unit Testing Framework (any x Unit framework)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Functional Testing Tools (Sahi / Selenium / QTP etc)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Code Coverage Tools (Clover)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Testing guidelines and principles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Designate Responsibility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Each developer MUST write Unit tests for multiple use cases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Designate a specific Developer to write Functional Tests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The developer who writes the tests is also responsible for organizing them, committing them and linking them in CI</a:t>
            </a:r>
            <a:endParaRPr/>
          </a:p>
        </p:txBody>
      </p:sp>
      <p:sp>
        <p:nvSpPr>
          <p:cNvPr id="222" name="Google Shape;222;p13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Why do people not write Automated Tests</a:t>
            </a:r>
            <a:endParaRPr/>
          </a:p>
        </p:txBody>
      </p:sp>
      <p:sp>
        <p:nvSpPr>
          <p:cNvPr id="229" name="Google Shape;229;p14"/>
          <p:cNvSpPr txBox="1"/>
          <p:nvPr>
            <p:ph idx="1" type="body"/>
          </p:nvPr>
        </p:nvSpPr>
        <p:spPr>
          <a:xfrm>
            <a:off x="1136470" y="1447800"/>
            <a:ext cx="10006148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Don’t give up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If you come across a hurdle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Make sure you complete your testing responsibility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Check Code Coverage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Use code coverage tools while coding and post-coding to check parts of your code that are covered by tests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How do managers generally decide when to automate?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Decision is based on factors like: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Efforts required to run manual test 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Frequency of testing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Cost of third-party / in-house developed tool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Efforts required to write automated tests</a:t>
            </a:r>
            <a:endParaRPr/>
          </a:p>
        </p:txBody>
      </p:sp>
      <p:sp>
        <p:nvSpPr>
          <p:cNvPr id="230" name="Google Shape;230;p14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Simplistic Cost Model</a:t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1123406" y="1449978"/>
            <a:ext cx="9966960" cy="4605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cost benefit analysis of test automation, benefits of test automation are hard to quantify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estimates conducted in industrial projects are limited to considerations of cost only</a:t>
            </a:r>
            <a:endParaRPr/>
          </a:p>
          <a:p>
            <a:pPr indent="-342900" lvl="0" marL="342900" marR="0" rtl="0" algn="just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many cases the investigated costs include: </a:t>
            </a:r>
            <a:endParaRPr/>
          </a:p>
          <a:p>
            <a:pPr indent="-285750" lvl="1" marL="742950" marR="0" rtl="0" algn="just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costs for the testing tool or framework,</a:t>
            </a:r>
            <a:endParaRPr/>
          </a:p>
          <a:p>
            <a:pPr indent="-285750" lvl="1" marL="742950" marR="0" rtl="0" algn="just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labor costs associated with automating the tests</a:t>
            </a:r>
            <a:endParaRPr/>
          </a:p>
          <a:p>
            <a:pPr indent="-285750" lvl="1" marL="742950" marR="0" rtl="0" algn="just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labor costs associated with maintaining the automated tests</a:t>
            </a:r>
            <a:endParaRPr/>
          </a:p>
          <a:p>
            <a:pPr indent="-342900" lvl="0" marL="342900" marR="0" rtl="0" algn="just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costs are divided into </a:t>
            </a:r>
            <a:endParaRPr/>
          </a:p>
          <a:p>
            <a:pPr indent="-285750" lvl="1" marL="742950" marR="0" rtl="0" algn="just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costs</a:t>
            </a:r>
            <a:endParaRPr/>
          </a:p>
          <a:p>
            <a:pPr indent="-285750" lvl="1" marL="742950" marR="0" rtl="0" algn="just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costs</a:t>
            </a:r>
            <a:endParaRPr/>
          </a:p>
          <a:p>
            <a:pPr indent="-342900" lvl="0" marL="342900" marR="0" rtl="0" algn="just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costs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the upfront costs involved in test automation.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 costs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with the number of automated test executions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5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Simplistic Cost Model</a:t>
            </a:r>
            <a:endParaRPr/>
          </a:p>
        </p:txBody>
      </p:sp>
      <p:sp>
        <p:nvSpPr>
          <p:cNvPr id="243" name="Google Shape;243;p16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V = Expenditure for test specification implementation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D = Expenditure for single test execution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Costs for a single automated test (Aa) can be calculated as: 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Aa = Va + n * Da</a:t>
            </a:r>
            <a:endParaRPr sz="2000"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</a:t>
            </a:r>
            <a:r>
              <a:rPr baseline="-25000" lang="en-US" sz="2000"/>
              <a:t>a</a:t>
            </a:r>
            <a:r>
              <a:rPr lang="en-US" sz="2000"/>
              <a:t> = Overall cost of automated testing for some # of times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V</a:t>
            </a:r>
            <a:r>
              <a:rPr baseline="-25000" lang="en-US" sz="2000"/>
              <a:t>a</a:t>
            </a:r>
            <a:r>
              <a:rPr lang="en-US" sz="2000"/>
              <a:t> = Estimated Cost of designing automated tests (may also include cost of test tool)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Da= Expenditure for single automated test execution</a:t>
            </a:r>
            <a:endParaRPr sz="2000"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Cost for manual test execution of a single test case (Am) is calculated as 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Am = Vm + n *Dm</a:t>
            </a:r>
            <a:endParaRPr sz="2000"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A</a:t>
            </a:r>
            <a:r>
              <a:rPr baseline="-25000" lang="en-US" sz="2000"/>
              <a:t>m</a:t>
            </a:r>
            <a:r>
              <a:rPr lang="en-US" sz="2000"/>
              <a:t> = Overall cost of manual testing for some # of times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V</a:t>
            </a:r>
            <a:r>
              <a:rPr baseline="-25000" lang="en-US" sz="2000"/>
              <a:t>m</a:t>
            </a:r>
            <a:r>
              <a:rPr lang="en-US" sz="2000"/>
              <a:t> = Estimated Cost of designing manual tests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Dm= Expenditure for single manual test execution</a:t>
            </a:r>
            <a:endParaRPr sz="2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Simplistic Cost Model</a:t>
            </a:r>
            <a:endParaRPr/>
          </a:p>
        </p:txBody>
      </p:sp>
      <p:sp>
        <p:nvSpPr>
          <p:cNvPr id="249" name="Google Shape;249;p17"/>
          <p:cNvSpPr txBox="1"/>
          <p:nvPr>
            <p:ph idx="1" type="body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The break-even point for test automation can be calculated by comparing the cost for automated testing (</a:t>
            </a:r>
            <a:r>
              <a:rPr i="1" lang="en-US"/>
              <a:t>Aa) to the cost of </a:t>
            </a:r>
            <a:r>
              <a:rPr lang="en-US"/>
              <a:t>manual testing (</a:t>
            </a:r>
            <a:r>
              <a:rPr i="1" lang="en-US"/>
              <a:t>Am) as: 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i="1" lang="en-US" sz="2000"/>
              <a:t>E(n) = Aa / Am = (Va + n * Da )/ (Vm + n * Dm )</a:t>
            </a:r>
            <a:endParaRPr sz="2000"/>
          </a:p>
        </p:txBody>
      </p:sp>
      <p:pic>
        <p:nvPicPr>
          <p:cNvPr id="250" name="Google Shape;2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9208" y="2662806"/>
            <a:ext cx="6417145" cy="3771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/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Simplistic Cost Model - Flaws</a:t>
            </a:r>
            <a:endParaRPr/>
          </a:p>
        </p:txBody>
      </p:sp>
      <p:sp>
        <p:nvSpPr>
          <p:cNvPr id="257" name="Google Shape;257;p18"/>
          <p:cNvSpPr txBox="1"/>
          <p:nvPr>
            <p:ph idx="1" type="body"/>
          </p:nvPr>
        </p:nvSpPr>
        <p:spPr>
          <a:xfrm>
            <a:off x="1110344" y="1447800"/>
            <a:ext cx="9993086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Manual &amp; Automated Testing are not comparable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 sz="2000"/>
              <a:t>Exploring new functionality vs regression testing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Only costs are analyzed not benefits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Manual testing starts early in the process but some latency in automated testing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All test cases &amp; executions are considered equal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Project Context (budget, resources) not considered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</a:pPr>
            <a:r>
              <a:rPr lang="en-US"/>
              <a:t>Misses additional cost factors like training on the testing tool, new process adaptation</a:t>
            </a:r>
            <a:endParaRPr/>
          </a:p>
        </p:txBody>
      </p:sp>
      <p:sp>
        <p:nvSpPr>
          <p:cNvPr id="258" name="Google Shape;258;p18"/>
          <p:cNvSpPr txBox="1"/>
          <p:nvPr>
            <p:ph idx="10" type="dt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5:53 PM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tf03431380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2017-12-28T05:29:13Z</dcterms:created>
  <dc:creator>sabeen amjad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